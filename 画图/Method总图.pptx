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omments/modernComment_100_E04F3CE8.xml" ContentType="application/vnd.ms-powerpoint.comments+xml"/>
  <Override PartName="/ppt/notesSlides/notesSlide2.xml" ContentType="application/vnd.openxmlformats-officedocument.presentationml.notesSlide+xml"/>
  <Override PartName="/ppt/comments/modernComment_104_D1BA0CEE.xml" ContentType="application/vnd.ms-powerpoint.comments+xml"/>
  <Override PartName="/ppt/notesSlides/notesSlide3.xml" ContentType="application/vnd.openxmlformats-officedocument.presentationml.notesSlide+xml"/>
  <Override PartName="/ppt/comments/modernComment_10C_4274BE0E.xml" ContentType="application/vnd.ms-powerpoint.comments+xml"/>
  <Override PartName="/ppt/notesSlides/notesSlide4.xml" ContentType="application/vnd.openxmlformats-officedocument.presentationml.notesSlide+xml"/>
  <Override PartName="/ppt/comments/modernComment_10D_6D7857AA.xml" ContentType="application/vnd.ms-powerpoint.comments+xml"/>
  <Override PartName="/ppt/notesSlides/notesSlide5.xml" ContentType="application/vnd.openxmlformats-officedocument.presentationml.notesSlide+xml"/>
  <Override PartName="/ppt/comments/modernComment_10E_282FF2E8.xml" ContentType="application/vnd.ms-powerpoint.comments+xml"/>
  <Override PartName="/ppt/notesSlides/notesSlide6.xml" ContentType="application/vnd.openxmlformats-officedocument.presentationml.notesSlide+xml"/>
  <Override PartName="/ppt/comments/modernComment_10F_EB335C6F.xml" ContentType="application/vnd.ms-powerpoint.comments+xml"/>
  <Override PartName="/ppt/notesSlides/notesSlide7.xml" ContentType="application/vnd.openxmlformats-officedocument.presentationml.notesSlide+xml"/>
  <Override PartName="/ppt/comments/modernComment_110_C8F3BC68.xml" ContentType="application/vnd.ms-powerpoint.comments+xml"/>
  <Override PartName="/ppt/notesSlides/notesSlide8.xml" ContentType="application/vnd.openxmlformats-officedocument.presentationml.notesSlide+xml"/>
  <Override PartName="/ppt/comments/modernComment_107_B2520BCC.xml" ContentType="application/vnd.ms-powerpoint.comments+xml"/>
  <Override PartName="/ppt/notesSlides/notesSlide9.xml" ContentType="application/vnd.openxmlformats-officedocument.presentationml.notesSlide+xml"/>
  <Override PartName="/ppt/comments/modernComment_10A_9C66560.xml" ContentType="application/vnd.ms-powerpoint.comments+xml"/>
  <Override PartName="/ppt/notesSlides/notesSlide10.xml" ContentType="application/vnd.openxmlformats-officedocument.presentationml.notesSlide+xml"/>
  <Override PartName="/ppt/comments/modernComment_10B_DE9E33F8.xml" ContentType="application/vnd.ms-powerpoint.comments+xml"/>
  <Override PartName="/ppt/notesSlides/notesSlide11.xml" ContentType="application/vnd.openxmlformats-officedocument.presentationml.notesSlide+xml"/>
  <Override PartName="/ppt/comments/modernComment_111_A94679DB.xml" ContentType="application/vnd.ms-powerpoint.comments+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3"/>
  </p:notesMasterIdLst>
  <p:sldIdLst>
    <p:sldId id="256" r:id="rId2"/>
    <p:sldId id="260" r:id="rId3"/>
    <p:sldId id="268" r:id="rId4"/>
    <p:sldId id="269" r:id="rId5"/>
    <p:sldId id="270" r:id="rId6"/>
    <p:sldId id="271" r:id="rId7"/>
    <p:sldId id="272" r:id="rId8"/>
    <p:sldId id="263" r:id="rId9"/>
    <p:sldId id="266" r:id="rId10"/>
    <p:sldId id="267" r:id="rId11"/>
    <p:sldId id="273" r:id="rId12"/>
  </p:sldIdLst>
  <p:sldSz cx="6480175" cy="4468813"/>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D3F71A66-0C34-DF1A-5236-FECDBC820DCB}" name="Hongen Peng" initials="HP" userId="965de47efeb7ffa5" providerId="Windows Live"/>
</p188:authorLst>
</file>

<file path=ppt/presProps.xml><?xml version="1.0" encoding="utf-8"?>
<p:presentationPr xmlns:a="http://schemas.openxmlformats.org/drawingml/2006/main" xmlns:r="http://schemas.openxmlformats.org/officeDocument/2006/relationships" xmlns:p="http://schemas.openxmlformats.org/presentationml/2006/main">
  <p:clrMru>
    <a:srgbClr val="F4F6F7"/>
    <a:srgbClr val="BEC7CE"/>
    <a:srgbClr val="ECF1F8"/>
    <a:srgbClr val="E9EFF7"/>
    <a:srgbClr val="E3EAF1"/>
    <a:srgbClr val="D5E1EF"/>
    <a:srgbClr val="C8D7EA"/>
    <a:srgbClr val="A3BCDD"/>
    <a:srgbClr val="D0E0DA"/>
    <a:srgbClr val="AEC3DA"/>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66503" autoAdjust="0"/>
  </p:normalViewPr>
  <p:slideViewPr>
    <p:cSldViewPr snapToGrid="0">
      <p:cViewPr varScale="1">
        <p:scale>
          <a:sx n="107" d="100"/>
          <a:sy n="107" d="100"/>
        </p:scale>
        <p:origin x="1080" y="6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18" Type="http://schemas.microsoft.com/office/2018/10/relationships/authors" Target="author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comments/modernComment_10A_9C66560.xml><?xml version="1.0" encoding="utf-8"?>
<p188:cmLst xmlns:a="http://schemas.openxmlformats.org/drawingml/2006/main" xmlns:r="http://schemas.openxmlformats.org/officeDocument/2006/relationships" xmlns:p188="http://schemas.microsoft.com/office/powerpoint/2018/8/main">
  <p188:cm id="{E1E2E34D-6EED-48C7-BB40-5E89598F1CBB}" authorId="{D3F71A66-0C34-DF1A-5236-FECDBC820DCB}" created="2026-10-28T10:16:26.031Z">
    <pc:sldMkLst xmlns:pc="http://schemas.microsoft.com/office/powerpoint/2013/main/command">
      <pc:docMk/>
      <pc:sldMk cId="3763289320" sldId="265"/>
    </pc:sldMkLst>
    <p188:txBody>
      <a:bodyPr/>
      <a:lstStyle/>
      <a:p>
        <a:r>
          <a:rPr lang="zh-CN" altLang="en-US"/>
          <a:t>PROVENANCE v1
id: fig-method-ab-a4
source: 画图/画图代码/e2e/visualization/图表追溯.md
## fig-method-ab-a4｜a、b：灰色框线, 包括 Match 功能模块
**当前载体与选择。** 作者删除冗余页后的 `画图/Method总图.pptx` 共5页; 本图位于第4页。第3页是作者手动排定的位置基准, 原有灰色流程箭头与语义色保留。第4页将所有具名内部容器及 Match 功能模块的边框统一为灰色 `BEC7CE`, 分隔线为 `C8CFD4`, 内部填充沿用第3页。第5页使用同样框线及更浅的 `F4F6F7` 填充。蓝/绿大背景、选中身份、特征条、密度库、网络立体块、原子与分子图颜色保留。当前版本覆盖原 A4/A5 未纳入 Match 功能模块框的缺口, 不恢复作者删除的页面。
**共享关系与直接装配。** 本图与 `@@fig-method-ab-a1`、`@@fig-method-ab-a4`、`@@fig-method-ab-a5` 及 `@@fig-method-v9` 共享作者原生节点与媒体, 不共同计算新实验。`sync_selected.mjs` 从冻结五页作者文件的第3页复制完整对象树到第4/5页, 仅对具名容器与 `Op |` 功能模块框改色。第1–3页图形和全部备注保持原始字节; 页面图名沿用 A1/A4/A5。`render_native.ps1` 打开本次只读副本导出, `audit_selected.py` 按全部对象变换、文字、路径、尺寸、媒体与白名单颜色核对, `finalize.mjs selected` 完成五页包、画布、字体及一方导入验收。
**冻结输入与科学边界。** 配置为 `画图/画图代码/e2e/output/method-ab-variants/source/selected-layout.json`, 实际 PPT 为 `画图/画图代码/e2e/output/method-ab-variants/source/author-20261028-eca767b6.pptx`, SHA-256 为 `eca767b6a2fb86c615b7eecdb6e325acf81414ccae6b561d212a6d4a2223a097`。第3页包含作者最新保存的位置调整, 不能重新应用旧间距计算。每页508个原生对象, 所有坐标与图形均源自作者输入; 不预测构象、不更换图片、不修改数字。此前6版比较的历史五页基底和11页生成物仍独立保留, 已被作者删除的候选仅在历史留档登记。
**完整重建与验收。** 从仓库根执行 `python -X utf8 -B 转换工具/ops/rebuild_figures.py --figure fig-method-ab-a4 --generated-captions`。三个当前图名运行同一完整五页装配链, 指定图名仅选择主回执对象。输出 `candidate.pptx`、`selected_operations.json`、`native-render.json`、`audit.json` 和验收副本; 每次屏蔽旧 temp。仅第4/5页可改图形; 第3页对齐基准及第1/2页的原生导出必须逐像素一致。源批注与本记录同步, 图注内容保留。当前操作及发布证据见 `talk/method_ab_20261028/执行记录.md` 的五页版章节。</a:t>
        </a:r>
      </a:p>
    </p188:txBody>
  </p188:cm>
  <p188:cm id="{48AE5FFF-8DD9-4613-9BE0-DAB39C86B51D}" authorId="{D3F71A66-0C34-DF1A-5236-FECDBC820DCB}" created="2026-10-28T10:16:26.031Z">
    <pc:sldMkLst xmlns:pc="http://schemas.microsoft.com/office/powerpoint/2013/main/command">
      <pc:docMk/>
      <pc:sldMk cId="3763289320" sldId="265"/>
    </pc:sldMkLst>
    <p188:txBody>
      <a:bodyPr/>
      <a:lstStyle/>
      <a:p>
        <a:r>
          <a:rPr lang="zh-CN" altLang="en-US"/>
          <a:t>@@fig-method-color2</a:t>
        </a:r>
      </a:p>
    </p188:txBody>
  </p188:cm>
  <p188:cm id="{EE81874B-6341-4216-B851-EE69C4142859}" authorId="{D3F71A66-0C34-DF1A-5236-FECDBC820DCB}" created="2026-10-28T13:00:38.721">
    <pc:sldMkLst xmlns:pc="http://schemas.microsoft.com/office/powerpoint/2013/main/command">
      <pc:docMk/>
      <pc:sldMk cId="163997024" sldId="266"/>
    </pc:sldMkLst>
    <p188:txBody>
      <a:bodyPr/>
      <a:lstStyle/>
      <a:p>
        <a:r>
          <a:rPr lang="zh-CN" altLang="en-US"/>
          <a:t>边框灰</a:t>
        </a:r>
      </a:p>
    </p188:txBody>
  </p188:cm>
</p188:cmLst>
</file>

<file path=ppt/comments/modernComment_10B_DE9E33F8.xml><?xml version="1.0" encoding="utf-8"?>
<p188:cmLst xmlns:a="http://schemas.openxmlformats.org/drawingml/2006/main" xmlns:r="http://schemas.openxmlformats.org/officeDocument/2006/relationships" xmlns:p188="http://schemas.microsoft.com/office/powerpoint/2018/8/main">
  <p188:cm id="{2DA2594F-C2C5-42AD-8791-C423016A23B9}" authorId="{D3F71A66-0C34-DF1A-5236-FECDBC820DCB}" created="2026-10-28T10:16:26.065Z">
    <pc:sldMkLst xmlns:pc="http://schemas.microsoft.com/office/powerpoint/2013/main/command">
      <pc:docMk/>
      <pc:sldMk cId="3763289320" sldId="266"/>
    </pc:sldMkLst>
    <p188:txBody>
      <a:bodyPr/>
      <a:lstStyle/>
      <a:p>
        <a:r>
          <a:t>PROVENANCE v1</a:t>
        </a:r>
      </a:p>
      <a:p>
        <a:r>
          <a:t>id: fig-method-ab-a5</a:t>
        </a:r>
      </a:p>
      <a:p>
        <a:r>
          <a:t>source: 画图/画图代码/e2e/visualization/图表追溯.md</a:t>
        </a:r>
      </a:p>
      <a:p>
        <a:r>
          <a:t/>
        </a:r>
      </a:p>
      <a:p>
        <a:r>
          <a:t>## fig-method-ab-a5｜a、b：灰色框线与浅灰填充, 包括 Match 功能模块</a:t>
        </a:r>
      </a:p>
      <a:p>
        <a:r>
          <a:t/>
        </a:r>
      </a:p>
      <a:p>
        <a:r>
          <a:t>**当前载体与选择。** 作者删除冗余页后的 `画图/Method总图.pptx` 共5页; 本图位于第5页。第3页是作者手动排定的位置基准, 原有灰色流程箭头与语义色保留。第4页将所有具名内部容器及 Match 功能模块的边框统一为灰色 `BEC7CE`, 分隔线为 `C8CFD4`, 内部填充沿用第3页。第5页使用同样框线及更浅的 `F4F6F7` 填充。蓝/绿大背景、选中身份、特征条、密度库、网络立体块、原子与分子图颜色保留。当前版本覆盖原 A4/A5 未纳入 Match 功能模块框的缺口, 不恢复作者删除的页面。</a:t>
        </a:r>
      </a:p>
      <a:p>
        <a:r>
          <a:t/>
        </a:r>
      </a:p>
      <a:p>
        <a:r>
          <a:t>**共享关系与直接装配。** 本图与 `@@fig-method-ab-a1`、`@@fig-method-ab-a4`、`@@fig-method-ab-a5` 及 `@@fig-method-v9` 共享作者原生节点与媒体, 不共同计算新实验。`sync_selected.mjs` 从冻结五页作者文件的第3页复制完整对象树到第4/5页, 仅对具名容器与 `Op |` 功能模块框改色。第1–3页图形和全部备注保持原始字节; 页面图名沿用 A1/A4/A5。`render_native.ps1` 打开本次只读副本导出, `audit_selected.py` 按全部对象变换、文字、路径、尺寸、媒体与白名单颜色核对, `finalize.mjs selected` 完成五页包、画布、字体及一方导入验收。</a:t>
        </a:r>
      </a:p>
      <a:p>
        <a:r>
          <a:t/>
        </a:r>
      </a:p>
      <a:p>
        <a:r>
          <a:t>**冻结输入与科学边界。** 配置为 `画图/画图代码/e2e/output/method-ab-variants/source/selected-layout.json`, 实际 PPT 为 `画图/画图代码/e2e/output/method-ab-variants/source/author-20261028-eca767b6.pptx`, SHA-256 为 `eca767b6a2fb86c615b7eecdb6e325acf81414ccae6b561d212a6d4a2223a097`。第3页包含作者最新保存的位置调整, 不能重新应用旧间距计算。每页508个原生对象, 所有坐标与图形均源自作者输入; 不预测构象、不更换图片、不修改数字。此前6版比较的历史五页基底和11页生成物仍独立保留, 已被作者删除的候选仅在历史留档登记。</a:t>
        </a:r>
      </a:p>
      <a:p>
        <a:r>
          <a:t/>
        </a:r>
      </a:p>
      <a:p>
        <a:r>
          <a:t>**完整重建与验收。** 从仓库根执行 `python -X utf8 -B 转换工具/ops/rebuild_figures.py --figure fig-method-ab-a5 --generated-captions`。三个当前图名运行同一完整五页装配链, 指定图名仅选择主回执对象。输出 `candidate.pptx`、`selected_operations.json`、`native-render.json`、`audit.json` 和验收副本; 每次屏蔽旧 temp。仅第4/5页可改图形; 第3页对齐基准及第1/2页的原生导出必须逐像素一致。源批注与本记录同步, 图注内容保留。当前操作及发布证据见 `talk/method_ab_20261028/执行记录.md` 的五页版章节。</a:t>
        </a:r>
      </a:p>
    </p188:txBody>
  </p188:cm>
  <p188:cm id="{3859D3A7-BEDC-4BDE-A3EE-289D439D6F2A}" authorId="{D3F71A66-0C34-DF1A-5236-FECDBC820DCB}" created="2026-10-28T10:16:26.065Z">
    <pc:sldMkLst xmlns:pc="http://schemas.microsoft.com/office/powerpoint/2013/main/command">
      <pc:docMk/>
      <pc:sldMk cId="3763289320" sldId="266"/>
    </pc:sldMkLst>
    <p188:txBody>
      <a:bodyPr/>
      <a:lstStyle/>
      <a:p>
        <a:r>
          <a:rPr lang="zh-CN" altLang="en-US"/>
          <a:t>@@fig-method-color3</a:t>
        </a:r>
      </a:p>
    </p188:txBody>
  </p188:cm>
  <p188:cm id="{E6ACF603-0CA2-46EF-8FB1-52DD699DBA86}" authorId="{D3F71A66-0C34-DF1A-5236-FECDBC820DCB}" created="2026-10-28T13:00:01.060">
    <pc:sldMkLst xmlns:pc="http://schemas.microsoft.com/office/powerpoint/2013/main/command">
      <pc:docMk/>
      <pc:sldMk cId="3734909944" sldId="267"/>
    </pc:sldMkLst>
    <p188:txBody>
      <a:bodyPr/>
      <a:lstStyle/>
      <a:p>
        <a:r>
          <a:rPr lang="zh-CN" altLang="en-US"/>
          <a:t>全灰</a:t>
        </a:r>
      </a:p>
    </p188:txBody>
  </p188:cm>
</p188:cmLst>
</file>

<file path=ppt/comments/modernComment_10C_4274BE0E.xml><?xml version="1.0" encoding="utf-8"?>
<p188:cmLst xmlns:a="http://schemas.openxmlformats.org/drawingml/2006/main" xmlns:r="http://schemas.openxmlformats.org/officeDocument/2006/relationships" xmlns:p188="http://schemas.microsoft.com/office/powerpoint/2018/8/main">
  <p188:cm id="{F595CF03-2B82-4DDC-B96A-D92D781AD053}" authorId="{D3F71A66-0C34-DF1A-5236-FECDBC820DCB}" created="2026-10-28T14:22:27.986Z">
    <pc:sldMkLst xmlns:pc="http://schemas.microsoft.com/office/powerpoint/2013/main/command">
      <pc:docMk/>
      <pc:sldMk cId="3763289320" sldId="268"/>
    </pc:sldMkLst>
    <p188:txBody>
      <a:bodyPr/>
      <a:lstStyle/>
      <a:p>
        <a:r>
          <a:t>@@fig-method-build-context</a:t>
        </a:r>
      </a:p>
    </p188:txBody>
  </p188:cm>
  <p188:cm id="{8C98B4AE-663D-465C-A60B-3779720BD7C0}" authorId="{D3F71A66-0C34-DF1A-5236-FECDBC820DCB}" created="2026-10-28T14:22:27.986Z">
    <pc:sldMkLst xmlns:pc="http://schemas.microsoft.com/office/powerpoint/2013/main/command">
      <pc:docMk/>
      <pc:sldMk cId="3763289320" sldId="268"/>
    </pc:sldMkLst>
    <p188:txBody>
      <a:bodyPr/>
      <a:lstStyle/>
      <a:p>
        <a:r>
          <a:t>PROVENANCE v1</a:t>
        </a:r>
      </a:p>
      <a:p>
        <a:r>
          <a:t>id: fig-method-build-context</a:t>
        </a:r>
      </a:p>
      <a:p>
        <a:r>
          <a:t>source: 画图/画图代码/e2e/visualization/图表追溯.md</a:t>
        </a:r>
      </a:p>
      <a:p>
        <a:r>
          <a:t/>
        </a:r>
      </a:p>
      <a:p>
        <a:r>
          <a:t>## fig-method-build-context｜Build：整体与局部结构</a:t>
        </a:r>
      </a:p>
      <a:p>
        <a:r>
          <a:t/>
        </a:r>
      </a:p>
      <a:p>
        <a:r>
          <a:t>**共享及本页选择。** 本页与@@fig-method-build-conditioning、@@fig-method-build-poses、@@fig-method-build-denoising共用`画图/画图代码/e2e/visualization/method-build-variants`的四版生成链。第3页C1采用9BJJ的沉积受体及ATP参考坐标, 显示邻近完整受体链与相同复合物的局部视图; Zoom箭头只表示显示尺度变化, 输入Pocket同步为对应GT口袋。 原有CA2口袋风格从已保全的`source/author-output-9bjj.pse`恢复, 每次重新原生渲染, 不读取旧PNG或旧temp。原作者5页保留, 新4页插在第2页后, 原a/b顺延为第7至9页; 画布和c外框尺寸不变。</a:t>
        </a:r>
      </a:p>
      <a:p>
        <a:r>
          <a:t/>
        </a:r>
      </a:p>
      <a:p>
        <a:r>
          <a:t>**直接逻辑与冻结输入。** `render_native.py`由PyMOL读取`e2e/output/e2e-flow/views/9bjj/assets/`的gt_receptor.cif、ca2_receptor.cif、reference.sdf、prediction.sdf, 以及`e2e/output/e2e-flow/source/source/9bjj/poses.sdf`。三维视图来自真实原子坐标, 只有C4中间状态为明确的示意扰动。来源病例为9BJJ ATP B:901, occurrence_id=4、source_blob_index=0, 原模型首选sample_index=21。与e2e-flow-9bjj共用冻结输入, 不重跑模型或评价。原输入四项标签及SMILES列表为架构示意, 不声称列表中的示例字符串就是ATP。</a:t>
        </a:r>
      </a:p>
      <a:p>
        <a:r>
          <a:t/>
        </a:r>
      </a:p>
      <a:p>
        <a:r>
          <a:t>**原生装配和保全。** `build_deck.mjs`使用Artifact Tool构造新增的可编辑文字、框、箭头和机制图; 再从冻结作者基底插页, 原页、备注、批注及媒体原样保留。作者基底SHA-256为`ce373d2ea868981a82ec77fc7c883684aa49648092e5cf74586d90fe0f0a1f49`。分子PNG只在PyMOL原生导出, 同时保存PSE、逐图相机及坐标; Pocket与同页输出使用相同受体和视角。`audit.py`检查原件和逐像素预览、相机及原子数。</a:t>
        </a:r>
      </a:p>
      <a:p>
        <a:r>
          <a:t/>
        </a:r>
      </a:p>
      <a:p>
        <a:r>
          <a:t>**完整重建与核验边界。** 从仓库根运行`python -X utf8 -B 转换工具/ops/rebuild_figures.py --figure fig-method-build-context --generated-captions`, 一次构造完整9页候选。依次为PyMOL渲染、Artifact Tool组件与原生包合并、PowerPoint逐页导出、对象与像素检查、一方包和字体及导入验收。全部中间文件只写新的temp构建目录, 不读旧temp; 原作者基底和科学输入保持冻结。运行和发布证据见`talk/method_build_20261028/执行记录.md`。本页是方法示意, 不提供新的性能数字、真实采样轨迹或统计结论。</a:t>
        </a:r>
      </a:p>
    </p188:txBody>
  </p188:cm>
</p188:cmLst>
</file>

<file path=ppt/comments/modernComment_10D_6D7857AA.xml><?xml version="1.0" encoding="utf-8"?>
<p188:cmLst xmlns:a="http://schemas.openxmlformats.org/drawingml/2006/main" xmlns:r="http://schemas.openxmlformats.org/officeDocument/2006/relationships" xmlns:p188="http://schemas.microsoft.com/office/powerpoint/2018/8/main">
  <p188:cm id="{DCD4F034-B5A5-42D6-8DF0-F905940F7909}" authorId="{D3F71A66-0C34-DF1A-5236-FECDBC820DCB}" created="2026-10-28T14:22:28.082Z">
    <pc:sldMkLst xmlns:pc="http://schemas.microsoft.com/office/powerpoint/2013/main/command">
      <pc:docMk/>
      <pc:sldMk cId="3763289320" sldId="269"/>
    </pc:sldMkLst>
    <p188:txBody>
      <a:bodyPr/>
      <a:lstStyle/>
      <a:p>
        <a:r>
          <a:t>@@fig-method-build-conditioning</a:t>
        </a:r>
      </a:p>
    </p188:txBody>
  </p188:cm>
  <p188:cm id="{14C61FD8-44E5-4B2B-8166-774A8085CCE5}" authorId="{D3F71A66-0C34-DF1A-5236-FECDBC820DCB}" created="2026-10-28T14:22:28.082Z">
    <pc:sldMkLst xmlns:pc="http://schemas.microsoft.com/office/powerpoint/2013/main/command">
      <pc:docMk/>
      <pc:sldMk cId="3763289320" sldId="269"/>
    </pc:sldMkLst>
    <p188:txBody>
      <a:bodyPr/>
      <a:lstStyle/>
      <a:p>
        <a:r>
          <a:t>PROVENANCE v1</a:t>
        </a:r>
      </a:p>
      <a:p>
        <a:r>
          <a:t>id: fig-method-build-conditioning</a:t>
        </a:r>
      </a:p>
      <a:p>
        <a:r>
          <a:t>source: 画图/画图代码/e2e/visualization/图表追溯.md</a:t>
        </a:r>
      </a:p>
      <a:p>
        <a:r>
          <a:t/>
        </a:r>
      </a:p>
      <a:p>
        <a:r>
          <a:t>## fig-method-build-conditioning｜Build：简化密度接入机制</a:t>
        </a:r>
      </a:p>
      <a:p>
        <a:r>
          <a:t/>
        </a:r>
      </a:p>
      <a:p>
        <a:r>
          <a:t>**共享及本页选择。** 本页与@@fig-method-build-context、@@fig-method-build-poses、@@fig-method-build-denoising共用`画图/画图代码/e2e/visualization/method-build-variants`的四版生成链。第4页C2只展开密度与受体局部信号、3D CNN、FiLM和坐标更新。重复网络块折叠; 未新增科学机制。输出采用同一9BJJ ATP的原CA2首选构象。 原有CA2口袋风格从已保全的`source/author-output-9bjj.pse`恢复, 每次重新原生渲染, 不读取旧PNG或旧temp。原作者5页保留, 新4页插在第2页后, 原a/b顺延为第7至9页; 画布和c外框尺寸不变。</a:t>
        </a:r>
      </a:p>
      <a:p>
        <a:r>
          <a:t/>
        </a:r>
      </a:p>
      <a:p>
        <a:r>
          <a:t>**直接逻辑与冻结输入。** `render_native.py`由PyMOL读取`e2e/output/e2e-flow/views/9bjj/assets/`的gt_receptor.cif、ca2_receptor.cif、reference.sdf、prediction.sdf, 以及`e2e/output/e2e-flow/source/source/9bjj/poses.sdf`。三维视图来自真实原子坐标, 只有C4中间状态为明确的示意扰动。来源病例为9BJJ ATP B:901, occurrence_id=4、source_blob_index=0, 原模型首选sample_index=21。与e2e-flow-9bjj共用冻结输入, 不重跑模型或评价。原输入四项标签及SMILES列表为架构示意, 不声称列表中的示例字符串就是ATP。</a:t>
        </a:r>
      </a:p>
      <a:p>
        <a:r>
          <a:t/>
        </a:r>
      </a:p>
      <a:p>
        <a:r>
          <a:t>**原生装配和保全。** `build_deck.mjs`使用Artifact Tool构造新增的可编辑文字、框、箭头和机制图; 再从冻结作者基底插页, 原页、备注、批注及媒体原样保留。作者基底SHA-256为`ce373d2ea868981a82ec77fc7c883684aa49648092e5cf74586d90fe0f0a1f49`。分子PNG只在PyMOL原生导出, 同时保存PSE、逐图相机及坐标; Pocket与同页输出使用相同受体和视角。`audit.py`检查原件和逐像素预览、相机及原子数。</a:t>
        </a:r>
      </a:p>
      <a:p>
        <a:r>
          <a:t/>
        </a:r>
      </a:p>
      <a:p>
        <a:r>
          <a:t>**完整重建与核验边界。** 从仓库根运行`python -X utf8 -B 转换工具/ops/rebuild_figures.py --figure fig-method-build-conditioning --generated-captions`, 一次构造完整9页候选。依次为PyMOL渲染、Artifact Tool组件与原生包合并、PowerPoint逐页导出、对象与像素检查、一方包和字体及导入验收。全部中间文件只写新的temp构建目录, 不读旧temp; 原作者基底和科学输入保持冻结。运行和发布证据见`talk/method_build_20261028/执行记录.md`。本页是方法示意, 不提供新的性能数字、真实采样轨迹或统计结论。</a:t>
        </a:r>
      </a:p>
    </p188:txBody>
  </p188:cm>
</p188:cmLst>
</file>

<file path=ppt/comments/modernComment_10E_282FF2E8.xml><?xml version="1.0" encoding="utf-8"?>
<p188:cmLst xmlns:a="http://schemas.openxmlformats.org/drawingml/2006/main" xmlns:r="http://schemas.openxmlformats.org/officeDocument/2006/relationships" xmlns:p188="http://schemas.microsoft.com/office/powerpoint/2018/8/main">
  <p188:cm id="{8D0BA851-43D1-43C6-B8D9-AD4919E206EB}" authorId="{D3F71A66-0C34-DF1A-5236-FECDBC820DCB}" created="2026-10-28T14:22:28.158Z">
    <pc:sldMkLst xmlns:pc="http://schemas.microsoft.com/office/powerpoint/2013/main/command">
      <pc:docMk/>
      <pc:sldMk cId="3763289320" sldId="270"/>
    </pc:sldMkLst>
    <p188:txBody>
      <a:bodyPr/>
      <a:lstStyle/>
      <a:p>
        <a:r>
          <a:t>PROVENANCE v1</a:t>
        </a:r>
      </a:p>
      <a:p>
        <a:r>
          <a:t>id: fig-method-build-poses</a:t>
        </a:r>
      </a:p>
      <a:p>
        <a:r>
          <a:t>source: 画图/画图代码/e2e/visualization/图表追溯.md</a:t>
        </a:r>
      </a:p>
      <a:p>
        <a:r>
          <a:t/>
        </a:r>
      </a:p>
      <a:p>
        <a:r>
          <a:t>## fig-method-build-poses｜Build：多个输出构象</a:t>
        </a:r>
      </a:p>
      <a:p>
        <a:r>
          <a:t/>
        </a:r>
      </a:p>
      <a:p>
        <a:r>
          <a:t>**共享及本页选择。** 本页与@@fig-method-build-context、@@fig-method-build-conditioning、@@fig-method-build-denoising共用`画图/画图代码/e2e/visualization/method-build-variants`的四版生成链。第5页C3显示同一9BJJ ATP身份的三个原SDF候选。首项为原首选坐标对应项, 另两项按候选间坐标差异选择, 不用GT RMSD重排; 精确0基编号保存于render_manifest.json.selected_candidate_indices。三幅使用相同CA2受体、上下文和相机。 原有CA2口袋风格从已保全的`source/author-output-9bjj.pse`恢复, 每次重新原生渲染, 不读取旧PNG或旧temp。原作者5页保留, 新4页插在第2页后, 原a/b顺延为第7至9页; 画布和c外框尺寸不变。</a:t>
        </a:r>
      </a:p>
      <a:p>
        <a:r>
          <a:t/>
        </a:r>
      </a:p>
      <a:p>
        <a:r>
          <a:t>**直接逻辑与冻结输入。** `render_native.py`由PyMOL读取`e2e/output/e2e-flow/views/9bjj/assets/`的gt_receptor.cif、ca2_receptor.cif、reference.sdf、prediction.sdf, 以及`e2e/output/e2e-flow/source/source/9bjj/poses.sdf`。三维视图来自真实原子坐标, 只有C4中间状态为明确的示意扰动。来源病例为9BJJ ATP B:901, occurrence_id=4、source_blob_index=0, 原模型首选sample_index=21。与e2e-flow-9bjj共用冻结输入, 不重跑模型或评价。原输入四项标签及SMILES列表为架构示意, 不声称列表中的示例字符串就是ATP。</a:t>
        </a:r>
      </a:p>
      <a:p>
        <a:r>
          <a:t/>
        </a:r>
      </a:p>
      <a:p>
        <a:r>
          <a:t>**原生装配和保全。** `build_deck.mjs`使用Artifact Tool构造新增的可编辑文字、框、箭头和机制图; 再从冻结作者基底插页, 原页、备注、批注及媒体原样保留。作者基底SHA-256为`ce373d2ea868981a82ec77fc7c883684aa49648092e5cf74586d90fe0f0a1f49`。分子PNG只在PyMOL原生导出, 同时保存PSE、逐图相机及坐标; Pocket与同页输出使用相同受体和视角。`audit.py`检查原件和逐像素预览、相机及原子数。</a:t>
        </a:r>
      </a:p>
      <a:p>
        <a:r>
          <a:t/>
        </a:r>
      </a:p>
      <a:p>
        <a:r>
          <a:t>**完整重建与核验边界。** 从仓库根运行`python -X utf8 -B 转换工具/ops/rebuild_figures.py --figure fig-method-build-poses --generated-captions`, 一次构造完整9页候选。依次为PyMOL渲染、Artifact Tool组件与原生包合并、PowerPoint逐页导出、对象与像素检查、一方包和字体及导入验收。全部中间文件只写新的temp构建目录, 不读旧temp; 原作者基底和科学输入保持冻结。运行和发布证据见`talk/method_build_20261028/执行记录.md`。本页是方法示意, 不提供新的性能数字、真实采样轨迹或统计结论。</a:t>
        </a:r>
      </a:p>
    </p188:txBody>
  </p188:cm>
  <p188:cm id="{016FCB53-CBB3-4EE4-AA52-D06F2349D44A}" authorId="{D3F71A66-0C34-DF1A-5236-FECDBC820DCB}" created="2026-10-28T14:22:28.158Z">
    <pc:sldMkLst xmlns:pc="http://schemas.microsoft.com/office/powerpoint/2013/main/command">
      <pc:docMk/>
      <pc:sldMk cId="3763289320" sldId="270"/>
    </pc:sldMkLst>
    <p188:txBody>
      <a:bodyPr/>
      <a:lstStyle/>
      <a:p>
        <a:r>
          <a:t>@@fig-method-build-poses</a:t>
        </a:r>
      </a:p>
    </p188:txBody>
  </p188:cm>
</p188:cmLst>
</file>

<file path=ppt/comments/modernComment_10F_EB335C6F.xml><?xml version="1.0" encoding="utf-8"?>
<p188:cmLst xmlns:a="http://schemas.openxmlformats.org/drawingml/2006/main" xmlns:r="http://schemas.openxmlformats.org/officeDocument/2006/relationships" xmlns:p188="http://schemas.microsoft.com/office/powerpoint/2018/8/main">
  <p188:cm id="{F6F28A34-C203-4331-992D-057ADFED549B}" authorId="{D3F71A66-0C34-DF1A-5236-FECDBC820DCB}" created="2026-10-28T14:22:28.308Z">
    <pc:sldMkLst xmlns:pc="http://schemas.microsoft.com/office/powerpoint/2013/main/command">
      <pc:docMk/>
      <pc:sldMk cId="3763289320" sldId="271"/>
    </pc:sldMkLst>
    <p188:txBody>
      <a:bodyPr/>
      <a:lstStyle/>
      <a:p>
        <a:r>
          <a:t>@@fig-method-build-denoising</a:t>
        </a:r>
      </a:p>
    </p188:txBody>
  </p188:cm>
  <p188:cm id="{46B84889-29F4-428A-BCC1-C57985BF0EEA}" authorId="{D3F71A66-0C34-DF1A-5236-FECDBC820DCB}" created="2026-10-28T14:22:28.308Z">
    <pc:sldMkLst xmlns:pc="http://schemas.microsoft.com/office/powerpoint/2013/main/command">
      <pc:docMk/>
      <pc:sldMk cId="3763289320" sldId="271"/>
    </pc:sldMkLst>
    <p188:txBody>
      <a:bodyPr/>
      <a:lstStyle/>
      <a:p>
        <a:r>
          <a:t>PROVENANCE v1</a:t>
        </a:r>
      </a:p>
      <a:p>
        <a:r>
          <a:t>id: fig-method-build-denoising</a:t>
        </a:r>
      </a:p>
      <a:p>
        <a:r>
          <a:t>source: 画图/画图代码/e2e/visualization/图表追溯.md</a:t>
        </a:r>
      </a:p>
      <a:p>
        <a:r>
          <a:t/>
        </a:r>
      </a:p>
      <a:p>
        <a:r>
          <a:t>## fig-method-build-denoising｜Build：去噪过程</a:t>
        </a:r>
      </a:p>
      <a:p>
        <a:r>
          <a:t/>
        </a:r>
      </a:p>
      <a:p>
        <a:r>
          <a:t>**共享及本页选择。** 本页与@@fig-method-build-context、@@fig-method-build-conditioning、@@fig-method-build-poses共用`画图/画图代码/e2e/visualization/method-build-variants`的四版生成链。第6页C4显示高斯初始化、早中晚三个中间状态和最终pose。原子身份、拓扑和31个重原子数不变; 中间帧按种子20261028、sigma=[4.0,2.1,0.9,0.30,0.0]Å及结构比例[0.0,0.45,0.75,0.95,1.0]构造坐标扰动, 是去噪概念示意而非真实模型轨迹, 不标实际时间步。背景使用对应CA2受体。 原有CA2口袋风格从已保全的`source/author-output-9bjj.pse`恢复, 每次重新原生渲染, 不读取旧PNG或旧temp。原作者5页保留, 新4页插在第2页后, 原a/b顺延为第7至9页; 画布和c外框尺寸不变。</a:t>
        </a:r>
      </a:p>
      <a:p>
        <a:r>
          <a:t/>
        </a:r>
      </a:p>
      <a:p>
        <a:r>
          <a:t>**直接逻辑与冻结输入。** `render_native.py`由PyMOL读取`e2e/output/e2e-flow/views/9bjj/assets/`的gt_receptor.cif、ca2_receptor.cif、reference.sdf、prediction.sdf, 以及`e2e/output/e2e-flow/source/source/9bjj/poses.sdf`。三维视图来自真实原子坐标, 只有C4中间状态为明确的示意扰动。来源病例为9BJJ ATP B:901, occurrence_id=4、source_blob_index=0, 原模型首选sample_index=21。与e2e-flow-9bjj共用冻结输入, 不重跑模型或评价。原输入四项标签及SMILES列表为架构示意, 不声称列表中的示例字符串就是ATP。</a:t>
        </a:r>
      </a:p>
      <a:p>
        <a:r>
          <a:t/>
        </a:r>
      </a:p>
      <a:p>
        <a:r>
          <a:t>**原生装配和保全。** `build_deck.mjs`使用Artifact Tool构造新增的可编辑文字、框、箭头和机制图; 再从冻结作者基底插页, 原页、备注、批注及媒体原样保留。作者基底SHA-256为`ce373d2ea868981a82ec77fc7c883684aa49648092e5cf74586d90fe0f0a1f49`。分子PNG只在PyMOL原生导出, 同时保存PSE、逐图相机及坐标; Pocket与同页输出使用相同受体和视角。`audit.py`检查原件和逐像素预览、相机及原子数。</a:t>
        </a:r>
      </a:p>
      <a:p>
        <a:r>
          <a:t/>
        </a:r>
      </a:p>
      <a:p>
        <a:r>
          <a:t>**完整重建与核验边界。** 从仓库根运行`python -X utf8 -B 转换工具/ops/rebuild_figures.py --figure fig-method-build-denoising --generated-captions`, 一次构造完整9页候选。依次为PyMOL渲染、Artifact Tool组件与原生包合并、PowerPoint逐页导出、对象与像素检查、一方包和字体及导入验收。全部中间文件只写新的temp构建目录, 不读旧temp; 原作者基底和科学输入保持冻结。运行和发布证据见`talk/method_build_20261028/执行记录.md`。本页是方法示意, 不提供新的性能数字、真实采样轨迹或统计结论。</a:t>
        </a:r>
      </a:p>
    </p188:txBody>
  </p188:cm>
</p188:cmLst>
</file>

<file path=ppt/comments/modernComment_100_E04F3CE8.xml><?xml version="1.0" encoding="utf-8"?>
<p188:cmLst xmlns:a="http://schemas.openxmlformats.org/drawingml/2006/main" xmlns:r="http://schemas.openxmlformats.org/officeDocument/2006/relationships" xmlns:p188="http://schemas.microsoft.com/office/powerpoint/2018/8/main">
  <p188:cm id="{8E7938EA-5369-4EDF-8742-6BC1D724451B}" authorId="{D3F71A66-0C34-DF1A-5236-FECDBC820DCB}" created="2026-10-22T02:42:32.147">
    <pc:sldMkLst xmlns:pc="http://schemas.microsoft.com/office/powerpoint/2013/main/command">
      <pc:docMk/>
      <pc:sldMk cId="3763289320" sldId="256"/>
    </pc:sldMkLst>
    <p188:txBody>
      <a:bodyPr/>
      <a:lstStyle/>
      <a:p>
        <a:r>
          <a:t>@@fig-method-v9</a:t>
        </a:r>
      </a:p>
    </p188:txBody>
  </p188:cm>
  <p188:cm id="{7AA102D2-F700-4FF5-AB3B-402CA5D4531E}" authorId="{D3F71A66-0C34-DF1A-5236-FECDBC820DCB}" created="2026-10-26T07:11:39.638Z">
    <pc:sldMkLst xmlns:pc="http://schemas.microsoft.com/office/powerpoint/2013/main/command">
      <pc:docMk/>
      <pc:sldMk cId="3763289320" sldId="256"/>
    </pc:sldMkLst>
    <p188:txBody>
      <a:bodyPr/>
      <a:lstStyle/>
      <a:p>
        <a:r>
          <a:t>PROVENANCE v1</a:t>
        </a:r>
      </a:p>
      <a:p>
        <a:r>
          <a:t>id: fig-method-v9</a:t>
        </a:r>
      </a:p>
      <a:p>
        <a:r>
          <a:t>source: 画图/画图代码/e2e/visualization/图表追溯.md</a:t>
        </a:r>
      </a:p>
      <a:p>
        <a:r>
          <a:t/>
        </a:r>
      </a:p>
      <a:p>
        <a:r>
          <a:t>## fig-method-v9｜网络架构：text</a:t>
        </a:r>
      </a:p>
      <a:p>
        <a:r>
          <a:t/>
        </a:r>
      </a:p>
      <a:p>
        <a:r>
          <a:t>**共享关系与本页选择。** 本图与`@@fig-overview_v3`、`@@fig-overview_v3-original`、`@@fig-overview_v3-unified`、`@@fig-overview_v3-components`、`@@fig-method-v9-original`、`@@fig-method-v9-unified`、`@@fig-method-v9-components`共用 `画图/画图代码/e2e/visualization/fig12-revision`。作者删页后的当前图集中, 本页为 `画图/Method总图.pptx` 第1页；`variant_manifest.json` 的生成配色为 `text`。前三页只切换配色，Pocket固定为2B；第四页提供独立组件，不与配色做交叉总图。共享的是坐标渲染与原生对象装配，不共同计算新的模型结果。</a:t>
        </a:r>
      </a:p>
      <a:p>
        <a:r>
          <a:t/>
        </a:r>
      </a:p>
      <a:p>
        <a:r>
          <a:t>**直接绘图逻辑与边界。** `prepare_geometry.py` 读取合法SMILES及冻结blob体素中心；`render_structures.py` 按原首选坐标在PyMOL重渲染；`build_components.mjs` 仅构造授权的输入、化学身份、匹配直线、图示和组件页；`assemble.py` 直接复用作者的路径、节点、字体及媒体。保留原 embedding 邻域图、受体到体素/点云的输入拓扑、U-Net、PTv3和Match网络。只替换获认可的 density bank 图示。预处理、网络和输出平移分摊间距，Match整块平移；a/b左右边界及c上下边界对齐。Find三幅预览使用相同组件框。Build输入相同SMILES、圈出Cc1ccccc1并留上下间距；默认DG-PocketXMol及其他工具列表保留。 未授权的原生图形不重绘。原配色完整保留，text统一装饰文字，unified进一步收敛中性色和装饰背景；身份、特征和真实结构的元素色保留。</a:t>
        </a:r>
      </a:p>
      <a:p>
        <a:r>
          <a:t/>
        </a:r>
      </a:p>
      <a:p>
        <a:r>
          <a:t>**真实坐标、连接键和选择。** `source/candidate_cases.json` 固定16个病例键，连接 `stage3/output/stage3-cases-main/screening/assets/&lt;病例&gt;/arrays.npz` 与 `metadata.json`。`tuned` 是(N,3)的XYZ坐标，单位Å；`element`、`bonds`沿同一原子轴。`metrics.tuned.sample_index`保留原模型自评分首位，不按RMSD换序。四幅采用实例是9BJJ的A1AP0（E:1001）、9LLG的CLR（R:603）、30GA的ATP（L:401）、9WUP的FAD（A:1103），使用沉积受体；全部16例保留在备选页。公开CIF仅补充折叠背景，先与冻结口袋坐标核对，下载地址及散列在source_manifest.json。</a:t>
        </a:r>
      </a:p>
      <a:p>
        <a:r>
          <a:t/>
        </a:r>
      </a:p>
      <a:p>
        <a:r>
          <a:t>**方法图实例与显示。** 方法图输出为9BJJ、ATP（B:901）、occurrence_id=4、source_blob_index=0、sample_index=21的原首选，受体为CryoAtom2。两处Pocket分别保留Match的blob 10Å包络、Build的Find质心15Å球；sticks仅显示空腔附近的输入原子，外围cartoon提供结构背景。scheme1含辅助半透明surface，2B无surface，cartoon版从输出仅隐藏配体且关闭全部sticks。三种表示共用相机、1500×1100画布和透明裁边矩形。`render_manifest.json`保存原子选择、自排序下标、相机及坐标对应核对，`selection.json`保存四例选择和裁边。Fig1的9HJX背景与候选连线、Fig2全局blob是架构示意，真实pose的病例身份独立列明。</a:t>
        </a:r>
      </a:p>
      <a:p>
        <a:r>
          <a:t/>
        </a:r>
      </a:p>
      <a:p>
        <a:r>
          <a:t>**完整重建、版本与检查。** 本轮从仓库根执行 `D:/Anaconda/python.exe -X utf8 -B 转换工具/ops/rebuild_figures.py --figure fig-method-v9 --generated-captions`；新图注随本轮编号与实例更新。以后只重建图形时默认不加该选项，沿用正式PPT中的作者图注。运行依次准备几何、PyMOL原生重渲染、Artifact Tool组件和PPT装配，Python与Node屏蔽旧temp并禁止改写冻结输入。作者原始两页、两轮手绘及后续五张布局反馈保存在source。生成留档位于 `画图/画图代码/e2e/output/fig12-revision/regenerated`。检查覆盖540个原生组件、Match块内布局、编号与交叉直线、预览大小、面板边界、两份备选页一致性、PowerPoint逐页导出、正文实际宽度下字体、碰撞与PDF对齐；图内B标签叠加原生三维背景按作者要求单独审读。本轮完整重建与逐页审读已通过，实际发布及正文编译证据见 `talk/fig12_revision_20261026/执行记录.md`。</a:t>
        </a:r>
      </a:p>
    </p188:txBody>
  </p188:cm>
</p188:cmLst>
</file>

<file path=ppt/comments/modernComment_104_D1BA0CEE.xml><?xml version="1.0" encoding="utf-8"?>
<p188:cmLst xmlns:a="http://schemas.openxmlformats.org/drawingml/2006/main" xmlns:r="http://schemas.openxmlformats.org/officeDocument/2006/relationships" xmlns:p188="http://schemas.microsoft.com/office/powerpoint/2018/8/main">
  <p188:cm id="{FE712C0E-5422-4818-88D5-845D43010D84}" authorId="{D3F71A66-0C34-DF1A-5236-FECDBC820DCB}" created="2026-10-22T02:42:32.147">
    <pc:sldMkLst xmlns:pc="http://schemas.microsoft.com/office/powerpoint/2013/main/command">
      <pc:docMk/>
      <pc:sldMk cId="3763289320" sldId="256"/>
    </pc:sldMkLst>
    <p188:txBody>
      <a:bodyPr/>
      <a:lstStyle/>
      <a:p>
        <a:r>
          <a:t>@@fig-method-v9-EDITING-5</a:t>
        </a:r>
      </a:p>
    </p188:txBody>
  </p188:cm>
  <p188:cm id="{396A21D9-3035-47FC-B3FC-05DCEA3D31D3}" authorId="{D3F71A66-0C34-DF1A-5236-FECDBC820DCB}" created="2026-10-26T07:11:39.638Z">
    <pc:sldMkLst xmlns:pc="http://schemas.microsoft.com/office/powerpoint/2013/main/command">
      <pc:docMk/>
      <pc:sldMk cId="3763289320" sldId="256"/>
    </pc:sldMkLst>
    <p188:txBody>
      <a:bodyPr/>
      <a:lstStyle/>
      <a:p>
        <a:r>
          <a:t>编辑稿来源副本：fig-method-v9-EDITING-5。复制自 @@fig-method-v9；本页未选入正文。</a:t>
        </a:r>
      </a:p>
      <a:p>
        <a:r>
          <a:t/>
        </a:r>
      </a:p>
      <a:p>
        <a:r>
          <a:t>PROVENANCE v1</a:t>
        </a:r>
      </a:p>
      <a:p>
        <a:r>
          <a:t>id: fig-method-v9</a:t>
        </a:r>
      </a:p>
      <a:p>
        <a:r>
          <a:t>source: 画图/画图代码/e2e/visualization/图表追溯.md</a:t>
        </a:r>
      </a:p>
      <a:p>
        <a:r>
          <a:t/>
        </a:r>
      </a:p>
      <a:p>
        <a:r>
          <a:t>## fig-method-v9｜网络架构：text</a:t>
        </a:r>
      </a:p>
      <a:p>
        <a:r>
          <a:t/>
        </a:r>
      </a:p>
      <a:p>
        <a:r>
          <a:t>**共享关系与本页选择。** 本图与`@@fig-overview_v3`、`@@fig-overview_v3-original`、`@@fig-overview_v3-unified`、`@@fig-overview_v3-components`、`@@fig-method-v9-original`、`@@fig-method-v9-unified`、`@@fig-method-v9-components`共用 `画图/画图代码/e2e/visualization/fig12-revision`。`variant_manifest.json` 按稳定图名选择 `画图/Method总图.pptx` 第1页，配色为 `text`。前三页只切换配色，Pocket固定为2B；第四页提供独立组件，不与配色做交叉总图。共享的是坐标渲染与原生对象装配，不共同计算新的模型结果。</a:t>
        </a:r>
      </a:p>
      <a:p>
        <a:r>
          <a:t/>
        </a:r>
      </a:p>
      <a:p>
        <a:r>
          <a:t>**直接绘图逻辑与边界。** `prepare_geometry.py` 读取合法SMILES及冻结blob体素中心；`render_structures.py` 按原首选坐标在PyMOL重渲染；`build_components.mjs` 仅构造授权的输入、化学身份、匹配直线、图示和组件页；`assemble.py` 直接复用作者的路径、节点、字体及媒体。保留原 embedding 邻域图、受体到体素/点云的输入拓扑、U-Net、PTv3和Match网络。只替换获认可的 density bank 图示。预处理、网络和输出平移分摊间距，Match整块平移；a/b左右边界及c上下边界对齐。Find三幅预览使用相同组件框。Build输入相同SMILES、圈出Cc1ccccc1并留上下间距；默认DG-PocketXMol及其他工具列表保留。 未授权的原生图形不重绘。原配色完整保留，text统一装饰文字，unified进一步收敛中性色和装饰背景；身份、特征和真实结构的元素色保留。</a:t>
        </a:r>
      </a:p>
      <a:p>
        <a:r>
          <a:t/>
        </a:r>
      </a:p>
      <a:p>
        <a:r>
          <a:t>**真实坐标、连接键和选择。** `source/candidate_cases.json` 固定16个病例键，连接 `stage3/output/stage3-cases-main/screening/assets/&lt;病例&gt;/arrays.npz` 与 `metadata.json`。`tuned` 是(N,3)的XYZ坐标，单位Å；`element`、`bonds`沿同一原子轴。`metrics.tuned.sample_index`保留原模型自评分首位，不按RMSD换序。四幅采用实例是9BJJ的A1AP0（E:1001）、9LLG的CLR（R:603）、30GA的ATP（L:401）、9WUP的FAD（A:1103），使用沉积受体；全部16例保留在备选页。公开CIF仅补充折叠背景，先与冻结口袋坐标核对，下载地址及散列在source_manifest.json。</a:t>
        </a:r>
      </a:p>
      <a:p>
        <a:r>
          <a:t/>
        </a:r>
      </a:p>
      <a:p>
        <a:r>
          <a:t>**方法图实例与显示。** 方法图输出为9BJJ、ATP（B:901）、occurrence_id=4、source_blob_index=0、sample_index=21的原首选，受体为CryoAtom2。两处Pocket分别保留Match的blob 10Å包络、Build的Find质心15Å球；sticks仅显示空腔附近的输入原子，外围cartoon提供结构背景。scheme1含辅助半透明surface，2B无surface，cartoon版从输出仅隐藏配体且关闭全部sticks。三种表示共用相机、1500×1100画布和透明裁边矩形。`render_manifest.json`保存原子选择、自排序下标、相机及坐标对应核对，`selection.json`保存四例选择和裁边。Fig1的9HJX背景与候选连线、Fig2全局blob是架构示意，真实pose的病例身份独立列明。</a:t>
        </a:r>
      </a:p>
      <a:p>
        <a:r>
          <a:t/>
        </a:r>
      </a:p>
      <a:p>
        <a:r>
          <a:t>**完整重建、版本与检查。** 本轮从仓库根执行 `D:/Anaconda/python.exe -X utf8 -B 转换工具/ops/rebuild_figures.py --figure fig-method-v9 --generated-captions`；新图注随本轮编号与实例更新。以后只重建图形时默认不加该选项，沿用正式PPT中的作者图注。运行依次准备几何、PyMOL原生重渲染、Artifact Tool组件和PPT装配，Python与Node屏蔽旧temp并禁止改写冻结输入。作者原始两页、两轮手绘及后续五张布局反馈保存在source。生成留档位于 `画图/画图代码/e2e/output/fig12-revision/regenerated`。检查覆盖540个原生组件、Match块内布局、编号与交叉直线、预览大小、面板边界、两份备选页一致性、PowerPoint逐页导出、正文实际宽度下字体、碰撞与PDF对齐；图内B标签叠加原生三维背景按作者要求单独审读。本轮完整重建与逐页审读已通过，实际发布及正文编译证据见 `talk/fig12_revision_20261026/执行记录.md`。</a:t>
        </a:r>
      </a:p>
    </p188:txBody>
  </p188:cm>
</p188:cmLst>
</file>

<file path=ppt/comments/modernComment_107_B2520BCC.xml><?xml version="1.0" encoding="utf-8"?>
<p188:cmLst xmlns:a="http://schemas.openxmlformats.org/drawingml/2006/main" xmlns:r="http://schemas.openxmlformats.org/officeDocument/2006/relationships" xmlns:p188="http://schemas.microsoft.com/office/powerpoint/2018/8/main">
  <p188:cm id="{3740DCB0-CA21-47C4-A727-B6BA528B7974}" authorId="{D3F71A66-0C34-DF1A-5236-FECDBC820DCB}" created="2026-10-28T10:16:25.929Z">
    <pc:sldMkLst xmlns:pc="http://schemas.microsoft.com/office/powerpoint/2013/main/command">
      <pc:docMk/>
      <pc:sldMk cId="3763289320" sldId="262"/>
    </pc:sldMkLst>
    <p188:txBody>
      <a:bodyPr/>
      <a:lstStyle/>
      <a:p>
        <a:r>
          <a:rPr lang="zh-CN" altLang="en-US"/>
          <a:t>@@fig-method-color1</a:t>
        </a:r>
      </a:p>
    </p188:txBody>
  </p188:cm>
  <p188:cm id="{BE9B85D1-40C3-4A3C-B3EA-267F16B22331}" authorId="{D3F71A66-0C34-DF1A-5236-FECDBC820DCB}" created="2026-10-28T10:16:25.929Z">
    <pc:sldMkLst xmlns:pc="http://schemas.microsoft.com/office/powerpoint/2013/main/command">
      <pc:docMk/>
      <pc:sldMk cId="3763289320" sldId="262"/>
    </pc:sldMkLst>
    <p188:txBody>
      <a:bodyPr/>
      <a:lstStyle/>
      <a:p>
        <a:r>
          <a:t>PROVENANCE v1</a:t>
        </a:r>
      </a:p>
      <a:p>
        <a:r>
          <a:t>id: fig-method-ab-a1</a:t>
        </a:r>
      </a:p>
      <a:p>
        <a:r>
          <a:t>source: 画图/画图代码/e2e/visualization/图表追溯.md</a:t>
        </a:r>
      </a:p>
      <a:p>
        <a:r>
          <a:t/>
        </a:r>
      </a:p>
      <a:p>
        <a:r>
          <a:t>## fig-method-ab-a1｜a、b：作者位置基准</a:t>
        </a:r>
      </a:p>
      <a:p>
        <a:r>
          <a:t/>
        </a:r>
      </a:p>
      <a:p>
        <a:r>
          <a:t>**当前载体与选择。** 作者删除冗余页后的 `画图/Method总图.pptx` 共5页; 本图位于第3页。第3页是作者手动排定的位置基准, 原有灰色流程箭头与语义色保留。第4页将所有具名内部容器及 Match 功能模块的边框统一为灰色 `BEC7CE`, 分隔线为 `C8CFD4`, 内部填充沿用第3页。第5页使用同样框线及更浅的 `F4F6F7` 填充。蓝/绿大背景、选中身份、特征条、密度库、网络立体块、原子与分子图颜色保留。当前版本覆盖原 A4/A5 未纳入 Match 功能模块框的缺口, 不恢复作者删除的页面。</a:t>
        </a:r>
      </a:p>
      <a:p>
        <a:r>
          <a:t/>
        </a:r>
      </a:p>
      <a:p>
        <a:r>
          <a:t>**共享关系与直接装配。** 本图与 `@@fig-method-ab-a1`、`@@fig-method-ab-a4`、`@@fig-method-ab-a5` 及 `@@fig-method-v9` 共享作者原生节点与媒体, 不共同计算新实验。`sync_selected.mjs` 从冻结五页作者文件的第3页复制完整对象树到第4/5页, 仅对具名容器与 `Op |` 功能模块框改色。第1–3页图形和全部备注保持原始字节; 页面图名沿用 A1/A4/A5。`render_native.ps1` 打开本次只读副本导出, `audit_selected.py` 按全部对象变换、文字、路径、尺寸、媒体与白名单颜色核对, `finalize.mjs selected` 完成五页包、画布、字体及一方导入验收。</a:t>
        </a:r>
      </a:p>
      <a:p>
        <a:r>
          <a:t/>
        </a:r>
      </a:p>
      <a:p>
        <a:r>
          <a:t>**冻结输入与科学边界。** 配置为 `画图/画图代码/e2e/output/method-ab-variants/source/selected-layout.json`, 实际 PPT 为 `画图/画图代码/e2e/output/method-ab-variants/source/author-20261028-eca767b6.pptx`, SHA-256 为 `eca767b6a2fb86c615b7eecdb6e325acf81414ccae6b561d212a6d4a2223a097`。第3页包含作者最新保存的位置调整, 不能重新应用旧间距计算。每页508个原生对象, 所有坐标与图形均源自作者输入; 不预测构象、不更换图片、不修改数字。此前6版比较的历史五页基底和11页生成物仍独立保留, 已被作者删除的候选仅在历史留档登记。</a:t>
        </a:r>
      </a:p>
      <a:p>
        <a:r>
          <a:t/>
        </a:r>
      </a:p>
      <a:p>
        <a:r>
          <a:t>**完整重建与验收。** 从仓库根执行 `python -X utf8 -B 转换工具/ops/rebuild_figures.py --figure fig-method-ab-a1 --generated-captions`。三个当前图名运行同一完整五页装配链, 指定图名仅选择主回执对象。输出 `candidate.pptx`、`selected_operations.json`、`native-render.json`、`audit.json` 和验收副本; 每次屏蔽旧 temp。仅第4/5页可改图形; 第3页对齐基准及第1/2页的原生导出必须逐像素一致。源批注与本记录同步, 图注内容保留。当前操作及发布证据见 `talk/method_ab_20261028/执行记录.md` 的五页版章节。</a:t>
        </a:r>
      </a:p>
    </p188:txBody>
  </p188:cm>
  <p188:cm id="{DF2F8992-C7C0-4AC7-86A4-C9EF57AD1F8E}" authorId="{D3F71A66-0C34-DF1A-5236-FECDBC820DCB}" created="2026-10-28T12:59:08.879">
    <pc:sldMkLst xmlns:pc="http://schemas.microsoft.com/office/powerpoint/2013/main/command">
      <pc:docMk/>
      <pc:sldMk cId="2991721420" sldId="263"/>
    </pc:sldMkLst>
    <p188:txBody>
      <a:bodyPr/>
      <a:lstStyle/>
      <a:p>
        <a:r>
          <a:rPr lang="zh-CN" altLang="en-US"/>
          <a:t>无灰————组建相对位置用这一个</a:t>
        </a:r>
      </a:p>
    </p188:txBody>
  </p188:cm>
</p188:cmLst>
</file>

<file path=ppt/comments/modernComment_110_C8F3BC68.xml><?xml version="1.0" encoding="utf-8"?>
<p188:cmLst xmlns:a="http://schemas.openxmlformats.org/drawingml/2006/main" xmlns:r="http://schemas.openxmlformats.org/officeDocument/2006/relationships" xmlns:p188="http://schemas.microsoft.com/office/powerpoint/2018/8/main">
  <p188:cm id="{45EBC10B-0BDF-491D-AE72-04BFEB09F94B}" authorId="{D3F71A66-0C34-DF1A-5236-FECDBC820DCB}" created="2026-10-28T14:22:28.308Z">
    <pc:sldMkLst xmlns:pc="http://schemas.microsoft.com/office/powerpoint/2013/main/command">
      <pc:docMk/>
      <pc:sldMk cId="3763289320" sldId="271"/>
    </pc:sldMkLst>
    <p188:txBody>
      <a:bodyPr/>
      <a:lstStyle/>
      <a:p>
        <a:r>
          <a:t>@@fig-method-build-denoising-EDITING-7</a:t>
        </a:r>
      </a:p>
    </p188:txBody>
  </p188:cm>
  <p188:cm id="{7D9F8BBD-6E06-4061-8273-1B78C6333673}" authorId="{D3F71A66-0C34-DF1A-5236-FECDBC820DCB}" created="2026-10-28T14:22:28.308Z">
    <pc:sldMkLst xmlns:pc="http://schemas.microsoft.com/office/powerpoint/2013/main/command">
      <pc:docMk/>
      <pc:sldMk cId="3763289320" sldId="271"/>
    </pc:sldMkLst>
    <p188:txBody>
      <a:bodyPr/>
      <a:lstStyle/>
      <a:p>
        <a:r>
          <a:t>AUTHOR COPY SOURCE v1</a:t>
        </a:r>
      </a:p>
      <a:p>
        <a:r>
          <a:t>id: fig-method-build-denoising</a:t>
        </a:r>
      </a:p>
      <a:p>
        <a:r>
          <a:t>source: 画图/画图代码/e2e/visualization/图表追溯.md</a:t>
        </a:r>
      </a:p>
      <a:p>
        <a:r>
          <a:t/>
        </a:r>
      </a:p>
      <a:p>
        <a:r>
          <a:t>## fig-method-build-denoising｜Build：去噪过程</a:t>
        </a:r>
      </a:p>
      <a:p>
        <a:r>
          <a:t/>
        </a:r>
      </a:p>
      <a:p>
        <a:r>
          <a:t>**共享及本页选择。** 本页与@@fig-method-build-context、@@fig-method-build-conditioning、@@fig-method-build-poses共用`画图/画图代码/e2e/visualization/method-build-variants`的四版生成链。第6页C4显示高斯初始化、早中晚三个中间状态和最终pose。原子身份、拓扑和31个重原子数不变; 中间帧按种子20261028、sigma=[4.0,2.1,0.9,0.30,0.0]Å及结构比例[0.0,0.45,0.75,0.95,1.0]构造坐标扰动, 是去噪概念示意而非真实模型轨迹, 不标实际时间步。背景使用对应CA2受体。 原有CA2口袋风格从已保全的`source/author-output-9bjj.pse`恢复, 每次重新原生渲染, 不读取旧PNG或旧temp。原作者5页保留, 新4页插在第2页后, 原a/b顺延为第7至9页; 画布和c外框尺寸不变。</a:t>
        </a:r>
      </a:p>
      <a:p>
        <a:r>
          <a:t/>
        </a:r>
      </a:p>
      <a:p>
        <a:r>
          <a:t>**直接逻辑与冻结输入。** `render_native.py`由PyMOL读取`e2e/output/e2e-flow/views/9bjj/assets/`的gt_receptor.cif、ca2_receptor.cif、reference.sdf、prediction.sdf, 以及`e2e/output/e2e-flow/source/source/9bjj/poses.sdf`。三维视图来自真实原子坐标, 只有C4中间状态为明确的示意扰动。来源病例为9BJJ ATP B:901, occurrence_id=4、source_blob_index=0, 原模型首选sample_index=21。与e2e-flow-9bjj共用冻结输入, 不重跑模型或评价。原输入四项标签及SMILES列表为架构示意, 不声称列表中的示例字符串就是ATP。</a:t>
        </a:r>
      </a:p>
      <a:p>
        <a:r>
          <a:t/>
        </a:r>
      </a:p>
      <a:p>
        <a:r>
          <a:t>**原生装配和保全。** `build_deck.mjs`使用Artifact Tool构造新增的可编辑文字、框、箭头和机制图; 再从冻结作者基底插页, 原页、备注、批注及媒体原样保留。作者基底SHA-256为`ce373d2ea868981a82ec77fc7c883684aa49648092e5cf74586d90fe0f0a1f49`。分子PNG只在PyMOL原生导出, 同时保存PSE、逐图相机及坐标; Pocket与同页输出使用相同受体和视角。`audit.py`检查原件和逐像素预览、相机及原子数。</a:t>
        </a:r>
      </a:p>
      <a:p>
        <a:r>
          <a:t/>
        </a:r>
      </a:p>
      <a:p>
        <a:r>
          <a:t>**完整重建与核验边界。** 从仓库根运行`python -X utf8 -B 转换工具/ops/rebuild_figures.py --figure fig-method-build-denoising --generated-captions`, 一次构造完整9页候选。依次为PyMOL渲染、Artifact Tool组件与原生包合并、PowerPoint逐页导出、对象与像素检查、一方包和字体及导入验收。全部中间文件只写新的temp构建目录, 不读旧temp; 原作者基底和科学输入保持冻结。运行和发布证据见`talk/method_build_20261028/执行记录.md`。本页是方法示意, 不提供新的性能数字、真实采样轨迹或统计结论。</a:t>
        </a:r>
      </a:p>
    </p188:txBody>
  </p188:cm>
</p188:cmLst>
</file>

<file path=ppt/comments/modernComment_111_A94679DB.xml><?xml version="1.0" encoding="utf-8"?>
<p188:cmLst xmlns:a="http://schemas.openxmlformats.org/drawingml/2006/main" xmlns:r="http://schemas.openxmlformats.org/officeDocument/2006/relationships" xmlns:p188="http://schemas.microsoft.com/office/powerpoint/2018/8/main">
  <p188:cm id="{A3A3730F-3BF1-4608-A5FA-963EC25B7591}" authorId="{D3F71A66-0C34-DF1A-5236-FECDBC820DCB}" created="2026-10-28T10:16:26.065Z">
    <pc:sldMkLst xmlns:pc="http://schemas.microsoft.com/office/powerpoint/2013/main/command">
      <pc:docMk/>
      <pc:sldMk cId="3763289320" sldId="266"/>
    </pc:sldMkLst>
    <p188:txBody>
      <a:bodyPr/>
      <a:lstStyle/>
      <a:p>
        <a:r>
          <a:t>PROVENANCE v1</a:t>
        </a:r>
      </a:p>
      <a:p>
        <a:r>
          <a:t>id: fig-method-ab-a5</a:t>
        </a:r>
      </a:p>
      <a:p>
        <a:r>
          <a:t>source: 画图/画图代码/e2e/visualization/图表追溯.md</a:t>
        </a:r>
      </a:p>
      <a:p>
        <a:r>
          <a:t/>
        </a:r>
      </a:p>
      <a:p>
        <a:r>
          <a:t>## fig-method-ab-a5｜a、b：灰色框线与浅灰填充, 包括 Match 功能模块</a:t>
        </a:r>
      </a:p>
      <a:p>
        <a:r>
          <a:t/>
        </a:r>
      </a:p>
      <a:p>
        <a:r>
          <a:t>**当前载体与选择。** 作者删除冗余页后的 `画图/Method总图.pptx` 共5页; 本图位于第5页。第3页是作者手动排定的位置基准, 原有灰色流程箭头与语义色保留。第4页将所有具名内部容器及 Match 功能模块的边框统一为灰色 `BEC7CE`, 分隔线为 `C8CFD4`, 内部填充沿用第3页。第5页使用同样框线及更浅的 `F4F6F7` 填充。蓝/绿大背景、选中身份、特征条、密度库、网络立体块、原子与分子图颜色保留。当前版本覆盖原 A4/A5 未纳入 Match 功能模块框的缺口, 不恢复作者删除的页面。</a:t>
        </a:r>
      </a:p>
      <a:p>
        <a:r>
          <a:t/>
        </a:r>
      </a:p>
      <a:p>
        <a:r>
          <a:t>**共享关系与直接装配。** 本图与 `@@fig-method-ab-a1`、`@@fig-method-ab-a4`、`@@fig-method-ab-a5` 及 `@@fig-method-v9` 共享作者原生节点与媒体, 不共同计算新实验。`sync_selected.mjs` 从冻结五页作者文件的第3页复制完整对象树到第4/5页, 仅对具名容器与 `Op |` 功能模块框改色。第1–3页图形和全部备注保持原始字节; 页面图名沿用 A1/A4/A5。`render_native.ps1` 打开本次只读副本导出, `audit_selected.py` 按全部对象变换、文字、路径、尺寸、媒体与白名单颜色核对, `finalize.mjs selected` 完成五页包、画布、字体及一方导入验收。</a:t>
        </a:r>
      </a:p>
      <a:p>
        <a:r>
          <a:t/>
        </a:r>
      </a:p>
      <a:p>
        <a:r>
          <a:t>**冻结输入与科学边界。** 配置为 `画图/画图代码/e2e/output/method-ab-variants/source/selected-layout.json`, 实际 PPT 为 `画图/画图代码/e2e/output/method-ab-variants/source/author-20261028-eca767b6.pptx`, SHA-256 为 `eca767b6a2fb86c615b7eecdb6e325acf81414ccae6b561d212a6d4a2223a097`。第3页包含作者最新保存的位置调整, 不能重新应用旧间距计算。每页508个原生对象, 所有坐标与图形均源自作者输入; 不预测构象、不更换图片、不修改数字。此前6版比较的历史五页基底和11页生成物仍独立保留, 已被作者删除的候选仅在历史留档登记。</a:t>
        </a:r>
      </a:p>
      <a:p>
        <a:r>
          <a:t/>
        </a:r>
      </a:p>
      <a:p>
        <a:r>
          <a:t>**完整重建与验收。** 从仓库根执行 `python -X utf8 -B 转换工具/ops/rebuild_figures.py --figure fig-method-ab-a5 --generated-captions`。三个当前图名运行同一完整五页装配链, 指定图名仅选择主回执对象。输出 `candidate.pptx`、`selected_operations.json`、`native-render.json`、`audit.json` 和验收副本; 每次屏蔽旧 temp。仅第4/5页可改图形; 第3页对齐基准及第1/2页的原生导出必须逐像素一致。源批注与本记录同步, 图注内容保留。当前操作及发布证据见 `talk/method_ab_20261028/执行记录.md` 的五页版章节。</a:t>
        </a:r>
      </a:p>
    </p188:txBody>
  </p188:cm>
  <p188:cm id="{753C7A6F-E80E-48E3-B8EB-24D90D982524}" authorId="{D3F71A66-0C34-DF1A-5236-FECDBC820DCB}" created="2026-10-28T10:16:26.065Z">
    <pc:sldMkLst xmlns:pc="http://schemas.microsoft.com/office/powerpoint/2013/main/command">
      <pc:docMk/>
      <pc:sldMk cId="3763289320" sldId="266"/>
    </pc:sldMkLst>
    <p188:txBody>
      <a:bodyPr/>
      <a:lstStyle/>
      <a:p>
        <a:r>
          <a:rPr lang="zh-CN" altLang="en-US"/>
          <a:t>@@fig-method-color4</a:t>
        </a:r>
      </a:p>
    </p188:txBody>
  </p188:cm>
  <p188:cm id="{2ED125C9-7B0C-4552-B16E-5EDEFFE09B78}" authorId="{D3F71A66-0C34-DF1A-5236-FECDBC820DCB}" created="2026-10-28T13:00:01.060">
    <pc:sldMkLst xmlns:pc="http://schemas.microsoft.com/office/powerpoint/2013/main/command">
      <pc:docMk/>
      <pc:sldMk cId="3734909944" sldId="267"/>
    </pc:sldMkLst>
    <p188:txBody>
      <a:bodyPr/>
      <a:lstStyle/>
      <a:p>
        <a:r>
          <a:rPr lang="zh-CN" altLang="en-US"/>
          <a:t>全灰</a:t>
        </a:r>
      </a:p>
    </p188:txBody>
  </p188:cm>
</p188: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F4FE49-5DA4-F327-2341-5C6C9A47D63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3E64168-A7DD-66D7-17F1-61CBA01325E8}"/>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1BCD1279-D9F3-0200-5439-F3BEE5F15F1C}"/>
              </a:ext>
            </a:extLst>
          </p:cNvPr>
          <p:cNvSpPr>
            <a:spLocks noGrp="1"/>
          </p:cNvSpPr>
          <p:nvPr>
            <p:ph type="body" sz="quarter" idx="3"/>
          </p:nvPr>
        </p:nvSpPr>
        <p:spPr/>
        <p:txBody>
          <a:bodyPr/>
          <a:lstStyle/>
          <a:p>
            <a:r>
              <a:rPr lang="en-US" altLang="zh-CN" dirty="0" err="1"/>
              <a:t>LigandSeek</a:t>
            </a:r>
            <a:r>
              <a:rPr lang="en-US" altLang="zh-CN" dirty="0"/>
              <a:t> Find–Match–Build </a:t>
            </a:r>
            <a:r>
              <a:rPr lang="zh-CN" altLang="en-US" dirty="0"/>
              <a:t>框架的网络架构和数据流。</a:t>
            </a:r>
          </a:p>
          <a:p>
            <a:r>
              <a:rPr lang="en-US" altLang="zh-CN" dirty="0"/>
              <a:t>a</a:t>
            </a:r>
            <a:r>
              <a:rPr lang="zh-CN" altLang="en-US" dirty="0"/>
              <a:t>，</a:t>
            </a:r>
            <a:r>
              <a:rPr lang="en-US" altLang="zh-CN" dirty="0"/>
              <a:t>Find </a:t>
            </a:r>
            <a:r>
              <a:rPr lang="zh-CN" altLang="en-US" dirty="0"/>
              <a:t>部分对密度和受体信息进行编码，生成候选配体区域（</a:t>
            </a:r>
            <a:r>
              <a:rPr lang="en-US" altLang="zh-CN" dirty="0"/>
              <a:t>$\</a:t>
            </a:r>
            <a:r>
              <a:rPr lang="en-US" altLang="zh-CN" dirty="0" err="1"/>
              <a:t>mathbb</a:t>
            </a:r>
            <a:r>
              <a:rPr lang="en-US" altLang="zh-CN" dirty="0"/>
              <a:t>{R}^3$ </a:t>
            </a:r>
            <a:r>
              <a:rPr lang="zh-CN" altLang="en-US" dirty="0"/>
              <a:t>中的 </a:t>
            </a:r>
            <a:r>
              <a:rPr lang="en-US" altLang="zh-CN" dirty="0"/>
              <a:t>blob</a:t>
            </a:r>
            <a:r>
              <a:rPr lang="zh-CN" altLang="en-US" dirty="0"/>
              <a:t>）和辅助特征。受体嵌入头对原子表示进行编码并提供它。</a:t>
            </a:r>
            <a:r>
              <a:rPr lang="en-US" altLang="zh-CN" dirty="0"/>
              <a:t>3D </a:t>
            </a:r>
            <a:r>
              <a:rPr lang="zh-CN" altLang="en-US" dirty="0"/>
              <a:t>体素 </a:t>
            </a:r>
            <a:r>
              <a:rPr lang="en-US" altLang="zh-CN" dirty="0"/>
              <a:t>U-Net </a:t>
            </a:r>
            <a:r>
              <a:rPr lang="zh-CN" altLang="en-US" dirty="0"/>
              <a:t>和 </a:t>
            </a:r>
            <a:r>
              <a:rPr lang="en-US" altLang="zh-CN" dirty="0"/>
              <a:t>Point Transformer V3 </a:t>
            </a:r>
            <a:r>
              <a:rPr lang="zh-CN" altLang="en-US" dirty="0"/>
              <a:t>结合密度和受体原子特征，并对其进行进一步编码。</a:t>
            </a:r>
            <a:r>
              <a:rPr lang="en-US" altLang="zh-CN" dirty="0"/>
              <a:t>AlphaFold3 </a:t>
            </a:r>
            <a:r>
              <a:rPr lang="zh-CN" altLang="en-US" dirty="0"/>
              <a:t>式的循环机制迭代地优化两个分支的预测结果。</a:t>
            </a:r>
          </a:p>
          <a:p>
            <a:r>
              <a:rPr lang="en-US" altLang="zh-CN" dirty="0"/>
              <a:t>b</a:t>
            </a:r>
            <a:r>
              <a:rPr lang="zh-CN" altLang="en-US" dirty="0"/>
              <a:t>，</a:t>
            </a:r>
            <a:r>
              <a:rPr lang="en-US" altLang="zh-CN" dirty="0"/>
              <a:t>Match </a:t>
            </a:r>
            <a:r>
              <a:rPr lang="zh-CN" altLang="en-US" dirty="0"/>
              <a:t>部分将候选配体分类为前景或背景，并分配配体身份。</a:t>
            </a:r>
            <a:r>
              <a:rPr lang="en-US" altLang="zh-CN" dirty="0"/>
              <a:t>3D U-Net </a:t>
            </a:r>
            <a:r>
              <a:rPr lang="zh-CN" altLang="en-US" dirty="0"/>
              <a:t>对局部体素区域进行编码。池化、交叉注意力机制和 </a:t>
            </a:r>
            <a:r>
              <a:rPr lang="en-US" altLang="zh-CN" dirty="0" err="1"/>
              <a:t>FiLM</a:t>
            </a:r>
            <a:r>
              <a:rPr lang="en-US" altLang="zh-CN" dirty="0"/>
              <a:t> </a:t>
            </a:r>
            <a:r>
              <a:rPr lang="zh-CN" altLang="en-US" dirty="0"/>
              <a:t>将口袋和 </a:t>
            </a:r>
            <a:r>
              <a:rPr lang="en-US" altLang="zh-CN" dirty="0"/>
              <a:t>blob </a:t>
            </a:r>
            <a:r>
              <a:rPr lang="zh-CN" altLang="en-US" dirty="0"/>
              <a:t>信息与 </a:t>
            </a:r>
            <a:r>
              <a:rPr lang="en-US" altLang="zh-CN" dirty="0"/>
              <a:t>Find </a:t>
            </a:r>
            <a:r>
              <a:rPr lang="zh-CN" altLang="en-US" dirty="0"/>
              <a:t>部分的辅助特征整合到候选配体表示中。身份编码器将分子图特征、</a:t>
            </a:r>
            <a:r>
              <a:rPr lang="en-US" altLang="zh-CN" dirty="0"/>
              <a:t>SMI-TED </a:t>
            </a:r>
            <a:r>
              <a:rPr lang="zh-CN" altLang="en-US" dirty="0"/>
              <a:t>语言表示和身份上下文整合到同一个 </a:t>
            </a:r>
            <a:r>
              <a:rPr lang="en-US" altLang="zh-CN" dirty="0"/>
              <a:t>PDB </a:t>
            </a:r>
            <a:r>
              <a:rPr lang="zh-CN" altLang="en-US" dirty="0"/>
              <a:t>条目中。前景头部预测前景概率，余弦评分生成候选配体与身份匹配分数。</a:t>
            </a:r>
          </a:p>
          <a:p>
            <a:r>
              <a:rPr lang="en-US" altLang="zh-CN" dirty="0"/>
              <a:t>c</a:t>
            </a:r>
            <a:r>
              <a:rPr lang="zh-CN" altLang="en-US" dirty="0"/>
              <a:t>，构建过程利用结合位点、</a:t>
            </a:r>
            <a:r>
              <a:rPr lang="en-US" altLang="zh-CN" dirty="0"/>
              <a:t>SMILES </a:t>
            </a:r>
            <a:r>
              <a:rPr lang="zh-CN" altLang="en-US" dirty="0"/>
              <a:t>标识符、口袋和密度信息以及下游对接工具，重建全原子配体姿态。默认选项为 </a:t>
            </a:r>
            <a:r>
              <a:rPr lang="en-US" altLang="zh-CN" dirty="0" err="1"/>
              <a:t>PocketXMol</a:t>
            </a:r>
            <a:r>
              <a:rPr lang="en-US" altLang="zh-CN" dirty="0"/>
              <a:t>-tuned</a:t>
            </a:r>
            <a:r>
              <a:rPr lang="zh-CN" altLang="en-US" dirty="0"/>
              <a:t>。</a:t>
            </a:r>
            <a:endParaRPr lang="en-US" altLang="zh-CN" dirty="0"/>
          </a:p>
          <a:p>
            <a:endParaRPr lang="en-US" altLang="zh-CN" dirty="0"/>
          </a:p>
          <a:p>
            <a:r>
              <a:rPr lang="en-US" altLang="zh-CN" b="1" dirty="0"/>
              <a:t>ENGLISH:</a:t>
            </a:r>
          </a:p>
          <a:p>
            <a:r>
              <a:rPr lang="en-US" altLang="zh-CN" dirty="0"/>
              <a:t>Network architecture and data flow of the </a:t>
            </a:r>
            <a:r>
              <a:rPr lang="en-US" altLang="zh-CN" dirty="0" err="1"/>
              <a:t>LigandSeek</a:t>
            </a:r>
            <a:r>
              <a:rPr lang="en-US" altLang="zh-CN" dirty="0"/>
              <a:t> Find–Match–Build framework.</a:t>
            </a:r>
          </a:p>
          <a:p>
            <a:r>
              <a:rPr lang="en-US" altLang="zh-CN" b="1" dirty="0"/>
              <a:t>a, </a:t>
            </a:r>
            <a:r>
              <a:rPr lang="en-US" altLang="zh-CN" dirty="0"/>
              <a:t>Find encodes density and receptor information to produce candidate ligand regions (blobs in $\</a:t>
            </a:r>
            <a:r>
              <a:rPr lang="en-US" altLang="zh-CN" dirty="0" err="1"/>
              <a:t>mathbb</a:t>
            </a:r>
            <a:r>
              <a:rPr lang="en-US" altLang="zh-CN" dirty="0"/>
              <a:t>{R}^3$) and auxiliary features. The receptor embedding head encodes and supplies atom representations. A 3D voxel U-Net and Point Transformer V3 combine density and receptor-atom features and further encode them. An AlphaFold3-style recycling mechanism iteratively refines predictions across both branches.</a:t>
            </a:r>
          </a:p>
          <a:p>
            <a:r>
              <a:rPr lang="en-US" altLang="zh-CN" sz="1200" b="1" kern="1200" dirty="0"/>
              <a:t>b, </a:t>
            </a:r>
            <a:r>
              <a:rPr lang="en-US" altLang="zh-CN" dirty="0"/>
              <a:t>Match classifies candidates as foreground or background and assigns ligand identities. A 3D U-Net encodes a local voxel crop. Pooling, cross-attention and </a:t>
            </a:r>
            <a:r>
              <a:rPr lang="en-US" altLang="zh-CN" dirty="0" err="1"/>
              <a:t>FiLM</a:t>
            </a:r>
            <a:r>
              <a:rPr lang="en-US" altLang="zh-CN" dirty="0"/>
              <a:t> integrate pocket and blob information with auxiliary features from Find into the candidate representation. The identity encoder combines molecular graph features, SMI-TED language representations and identity context within the same PDB entry. A foreground head predicts foreground probability, and cosine scoring produces candidate-to-identity matching scores.</a:t>
            </a:r>
          </a:p>
          <a:p>
            <a:r>
              <a:rPr lang="en-US" altLang="zh-CN" sz="1200" b="1" kern="1200" dirty="0"/>
              <a:t>c, </a:t>
            </a:r>
            <a:r>
              <a:rPr lang="en-US" altLang="zh-CN" dirty="0"/>
              <a:t>Build uses the binding site, SMILES identity, pocket and density information with downstream docking tools to reconstruct an all-atom ligand pose. </a:t>
            </a:r>
            <a:r>
              <a:rPr lang="en-US" altLang="zh-CN" dirty="0" err="1"/>
              <a:t>PocketXMol</a:t>
            </a:r>
            <a:r>
              <a:rPr lang="en-US" altLang="zh-CN" dirty="0"/>
              <a:t>-tuned is the default option.</a:t>
            </a:r>
          </a:p>
        </p:txBody>
      </p:sp>
      <p:sp>
        <p:nvSpPr>
          <p:cNvPr id="4" name="Slide Number Placeholder 3">
            <a:extLst>
              <a:ext uri="{FF2B5EF4-FFF2-40B4-BE49-F238E27FC236}">
                <a16:creationId xmlns:a16="http://schemas.microsoft.com/office/drawing/2014/main" id="{B32967F6-10B3-385E-E2B8-A13B6962FBA5}"/>
              </a:ext>
            </a:extLst>
          </p:cNvPr>
          <p:cNvSpPr>
            <a:spLocks noGrp="1"/>
          </p:cNvSpPr>
          <p:nvPr>
            <p:ph type="sldNum" sz="quarter" idx="5"/>
          </p:nvPr>
        </p:nvSpPr>
        <p:spPr/>
      </p:sp>
    </p:spTree>
    <p:extLst>
      <p:ext uri="{BB962C8B-B14F-4D97-AF65-F5344CB8AC3E}">
        <p14:creationId xmlns:p14="http://schemas.microsoft.com/office/powerpoint/2010/main" val="218823217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2FF6BC-628B-87E4-3031-4A559211E4D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E27DE87-09EC-2A47-EC1B-A7BB908DF3DE}"/>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990EE821-D0FD-3BBB-5363-C6BD85C6C2EC}"/>
              </a:ext>
            </a:extLst>
          </p:cNvPr>
          <p:cNvSpPr>
            <a:spLocks noGrp="1"/>
          </p:cNvSpPr>
          <p:nvPr>
            <p:ph type="body" sz="quarter" idx="3"/>
          </p:nvPr>
        </p:nvSpPr>
        <p:spPr/>
        <p:txBody>
          <a:bodyPr/>
          <a:lstStyle/>
          <a:p>
            <a:r>
              <a:rPr lang="en-US" altLang="zh-CN" dirty="0" err="1"/>
              <a:t>LigandSeek</a:t>
            </a:r>
            <a:r>
              <a:rPr lang="en-US" altLang="zh-CN" dirty="0"/>
              <a:t> Find–Match–Build </a:t>
            </a:r>
            <a:r>
              <a:rPr lang="zh-CN" altLang="en-US" dirty="0"/>
              <a:t>框架的网络架构和数据流。</a:t>
            </a:r>
          </a:p>
          <a:p>
            <a:r>
              <a:rPr lang="en-US" altLang="zh-CN" dirty="0"/>
              <a:t>a</a:t>
            </a:r>
            <a:r>
              <a:rPr lang="zh-CN" altLang="en-US" dirty="0"/>
              <a:t>，</a:t>
            </a:r>
            <a:r>
              <a:rPr lang="en-US" altLang="zh-CN" dirty="0"/>
              <a:t>Find </a:t>
            </a:r>
            <a:r>
              <a:rPr lang="zh-CN" altLang="en-US" dirty="0"/>
              <a:t>部分对密度和受体信息进行编码，生成候选配体区域（</a:t>
            </a:r>
            <a:r>
              <a:rPr lang="en-US" altLang="zh-CN" dirty="0"/>
              <a:t>$\</a:t>
            </a:r>
            <a:r>
              <a:rPr lang="en-US" altLang="zh-CN" dirty="0" err="1"/>
              <a:t>mathbb</a:t>
            </a:r>
            <a:r>
              <a:rPr lang="en-US" altLang="zh-CN" dirty="0"/>
              <a:t>{R}^3$ </a:t>
            </a:r>
            <a:r>
              <a:rPr lang="zh-CN" altLang="en-US" dirty="0"/>
              <a:t>中的 </a:t>
            </a:r>
            <a:r>
              <a:rPr lang="en-US" altLang="zh-CN" dirty="0"/>
              <a:t>blob</a:t>
            </a:r>
            <a:r>
              <a:rPr lang="zh-CN" altLang="en-US" dirty="0"/>
              <a:t>）和辅助特征。受体嵌入头对原子表示进行编码并提供它。</a:t>
            </a:r>
            <a:r>
              <a:rPr lang="en-US" altLang="zh-CN" dirty="0"/>
              <a:t>3D </a:t>
            </a:r>
            <a:r>
              <a:rPr lang="zh-CN" altLang="en-US" dirty="0"/>
              <a:t>体素 </a:t>
            </a:r>
            <a:r>
              <a:rPr lang="en-US" altLang="zh-CN" dirty="0"/>
              <a:t>U-Net </a:t>
            </a:r>
            <a:r>
              <a:rPr lang="zh-CN" altLang="en-US" dirty="0"/>
              <a:t>和 </a:t>
            </a:r>
            <a:r>
              <a:rPr lang="en-US" altLang="zh-CN" dirty="0"/>
              <a:t>Point Transformer V3 </a:t>
            </a:r>
            <a:r>
              <a:rPr lang="zh-CN" altLang="en-US" dirty="0"/>
              <a:t>结合密度和受体原子特征，并对其进行进一步编码。</a:t>
            </a:r>
            <a:r>
              <a:rPr lang="en-US" altLang="zh-CN" dirty="0"/>
              <a:t>AlphaFold3 </a:t>
            </a:r>
            <a:r>
              <a:rPr lang="zh-CN" altLang="en-US" dirty="0"/>
              <a:t>式的循环机制迭代地优化两个分支的预测结果。</a:t>
            </a:r>
          </a:p>
          <a:p>
            <a:r>
              <a:rPr lang="en-US" altLang="zh-CN" dirty="0"/>
              <a:t>b</a:t>
            </a:r>
            <a:r>
              <a:rPr lang="zh-CN" altLang="en-US" dirty="0"/>
              <a:t>，</a:t>
            </a:r>
            <a:r>
              <a:rPr lang="en-US" altLang="zh-CN" dirty="0"/>
              <a:t>Match </a:t>
            </a:r>
            <a:r>
              <a:rPr lang="zh-CN" altLang="en-US" dirty="0"/>
              <a:t>部分将候选配体分类为前景或背景，并分配配体身份。</a:t>
            </a:r>
            <a:r>
              <a:rPr lang="en-US" altLang="zh-CN" dirty="0"/>
              <a:t>3D U-Net </a:t>
            </a:r>
            <a:r>
              <a:rPr lang="zh-CN" altLang="en-US" dirty="0"/>
              <a:t>对局部体素区域进行编码。池化、交叉注意力机制和 </a:t>
            </a:r>
            <a:r>
              <a:rPr lang="en-US" altLang="zh-CN" dirty="0" err="1"/>
              <a:t>FiLM</a:t>
            </a:r>
            <a:r>
              <a:rPr lang="en-US" altLang="zh-CN" dirty="0"/>
              <a:t> </a:t>
            </a:r>
            <a:r>
              <a:rPr lang="zh-CN" altLang="en-US" dirty="0"/>
              <a:t>将口袋和 </a:t>
            </a:r>
            <a:r>
              <a:rPr lang="en-US" altLang="zh-CN" dirty="0"/>
              <a:t>blob </a:t>
            </a:r>
            <a:r>
              <a:rPr lang="zh-CN" altLang="en-US" dirty="0"/>
              <a:t>信息与 </a:t>
            </a:r>
            <a:r>
              <a:rPr lang="en-US" altLang="zh-CN" dirty="0"/>
              <a:t>Find </a:t>
            </a:r>
            <a:r>
              <a:rPr lang="zh-CN" altLang="en-US" dirty="0"/>
              <a:t>部分的辅助特征整合到候选配体表示中。身份编码器将分子图特征、</a:t>
            </a:r>
            <a:r>
              <a:rPr lang="en-US" altLang="zh-CN" dirty="0"/>
              <a:t>SMI-TED </a:t>
            </a:r>
            <a:r>
              <a:rPr lang="zh-CN" altLang="en-US" dirty="0"/>
              <a:t>语言表示和身份上下文整合到同一个 </a:t>
            </a:r>
            <a:r>
              <a:rPr lang="en-US" altLang="zh-CN" dirty="0"/>
              <a:t>PDB </a:t>
            </a:r>
            <a:r>
              <a:rPr lang="zh-CN" altLang="en-US" dirty="0"/>
              <a:t>条目中。前景头部预测前景概率，余弦评分生成候选配体与身份匹配分数。</a:t>
            </a:r>
          </a:p>
          <a:p>
            <a:r>
              <a:rPr lang="en-US" altLang="zh-CN" dirty="0"/>
              <a:t>c</a:t>
            </a:r>
            <a:r>
              <a:rPr lang="zh-CN" altLang="en-US" dirty="0"/>
              <a:t>，构建过程利用结合位点、</a:t>
            </a:r>
            <a:r>
              <a:rPr lang="en-US" altLang="zh-CN" dirty="0"/>
              <a:t>SMILES </a:t>
            </a:r>
            <a:r>
              <a:rPr lang="zh-CN" altLang="en-US" dirty="0"/>
              <a:t>标识符、口袋和密度信息以及下游对接工具，重建全原子配体姿态。默认选项为 </a:t>
            </a:r>
            <a:r>
              <a:rPr lang="en-US" altLang="zh-CN" dirty="0" err="1"/>
              <a:t>PocketXMol</a:t>
            </a:r>
            <a:r>
              <a:rPr lang="en-US" altLang="zh-CN" dirty="0"/>
              <a:t>-tuned</a:t>
            </a:r>
            <a:r>
              <a:rPr lang="zh-CN" altLang="en-US" dirty="0"/>
              <a:t>。</a:t>
            </a:r>
            <a:endParaRPr lang="en-US" altLang="zh-CN" dirty="0"/>
          </a:p>
          <a:p>
            <a:endParaRPr lang="en-US" altLang="zh-CN" dirty="0"/>
          </a:p>
          <a:p>
            <a:r>
              <a:rPr lang="en-US" altLang="zh-CN" b="1" dirty="0"/>
              <a:t>ENGLISH:</a:t>
            </a:r>
          </a:p>
          <a:p>
            <a:r>
              <a:rPr lang="en-US" altLang="zh-CN" dirty="0"/>
              <a:t>Network architecture and data flow of the </a:t>
            </a:r>
            <a:r>
              <a:rPr lang="en-US" altLang="zh-CN" dirty="0" err="1"/>
              <a:t>LigandSeek</a:t>
            </a:r>
            <a:r>
              <a:rPr lang="en-US" altLang="zh-CN" dirty="0"/>
              <a:t> Find–Match–Build framework.</a:t>
            </a:r>
          </a:p>
          <a:p>
            <a:r>
              <a:rPr lang="en-US" altLang="zh-CN" b="1" dirty="0"/>
              <a:t>a, </a:t>
            </a:r>
            <a:r>
              <a:rPr lang="en-US" altLang="zh-CN" dirty="0"/>
              <a:t>Find encodes density and receptor information to produce candidate ligand regions (blobs in $\</a:t>
            </a:r>
            <a:r>
              <a:rPr lang="en-US" altLang="zh-CN" dirty="0" err="1"/>
              <a:t>mathbb</a:t>
            </a:r>
            <a:r>
              <a:rPr lang="en-US" altLang="zh-CN" dirty="0"/>
              <a:t>{R}^3$) and auxiliary features. The receptor embedding head encodes and supplies atom representations. A 3D voxel U-Net and Point Transformer V3 combine density and receptor-atom features and further encode them. An AlphaFold3-style recycling mechanism iteratively refines predictions across both branches.</a:t>
            </a:r>
          </a:p>
          <a:p>
            <a:r>
              <a:rPr lang="en-US" altLang="zh-CN" sz="1200" b="1" kern="1200" dirty="0"/>
              <a:t>b, </a:t>
            </a:r>
            <a:r>
              <a:rPr lang="en-US" altLang="zh-CN" dirty="0"/>
              <a:t>Match classifies candidates as foreground or background and assigns ligand identities. A 3D U-Net encodes a local voxel crop. Pooling, cross-attention and </a:t>
            </a:r>
            <a:r>
              <a:rPr lang="en-US" altLang="zh-CN" dirty="0" err="1"/>
              <a:t>FiLM</a:t>
            </a:r>
            <a:r>
              <a:rPr lang="en-US" altLang="zh-CN" dirty="0"/>
              <a:t> integrate pocket and blob information with auxiliary features from Find into the candidate representation. The identity encoder combines molecular graph features, SMI-TED language representations and identity context within the same PDB entry. A foreground head predicts foreground probability, and cosine scoring produces candidate-to-identity matching scores.</a:t>
            </a:r>
          </a:p>
          <a:p>
            <a:r>
              <a:rPr lang="en-US" altLang="zh-CN" sz="1200" b="1" kern="1200" dirty="0"/>
              <a:t>c, </a:t>
            </a:r>
            <a:r>
              <a:rPr lang="en-US" altLang="zh-CN" dirty="0"/>
              <a:t>Build uses the binding site, SMILES identity, pocket and density information with downstream docking tools to reconstruct an all-atom ligand pose. </a:t>
            </a:r>
            <a:r>
              <a:rPr lang="en-US" altLang="zh-CN" dirty="0" err="1"/>
              <a:t>PocketXMol</a:t>
            </a:r>
            <a:r>
              <a:rPr lang="en-US" altLang="zh-CN" dirty="0"/>
              <a:t>-tuned is the default option.</a:t>
            </a:r>
          </a:p>
        </p:txBody>
      </p:sp>
      <p:sp>
        <p:nvSpPr>
          <p:cNvPr id="4" name="Slide Number Placeholder 3">
            <a:extLst>
              <a:ext uri="{FF2B5EF4-FFF2-40B4-BE49-F238E27FC236}">
                <a16:creationId xmlns:a16="http://schemas.microsoft.com/office/drawing/2014/main" id="{E6EF256E-045F-A942-C0BA-85F6F8D01F90}"/>
              </a:ext>
            </a:extLst>
          </p:cNvPr>
          <p:cNvSpPr>
            <a:spLocks noGrp="1"/>
          </p:cNvSpPr>
          <p:nvPr>
            <p:ph type="sldNum" sz="quarter" idx="5"/>
          </p:nvPr>
        </p:nvSpPr>
        <p:spPr/>
      </p:sp>
    </p:spTree>
    <p:extLst>
      <p:ext uri="{BB962C8B-B14F-4D97-AF65-F5344CB8AC3E}">
        <p14:creationId xmlns:p14="http://schemas.microsoft.com/office/powerpoint/2010/main" val="225478695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2FF6BC-628B-87E4-3031-4A559211E4D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E27DE87-09EC-2A47-EC1B-A7BB908DF3DE}"/>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990EE821-D0FD-3BBB-5363-C6BD85C6C2EC}"/>
              </a:ext>
            </a:extLst>
          </p:cNvPr>
          <p:cNvSpPr>
            <a:spLocks noGrp="1"/>
          </p:cNvSpPr>
          <p:nvPr>
            <p:ph type="body" sz="quarter" idx="3"/>
          </p:nvPr>
        </p:nvSpPr>
        <p:spPr/>
        <p:txBody>
          <a:bodyPr/>
          <a:lstStyle/>
          <a:p>
            <a:r>
              <a:t>LigandSeek-Build的整体与局部结构示意。真实受体与配体复合物及其局部放大。整体和局部采用同一9BJJ沉积受体与ATP参考结构。箭头表示局部放大, 不表示模型以真实配体坐标作为推理输入。</a:t>
            </a:r>
          </a:p>
          <a:p>
            <a:r>
              <a:t>ENGLISH:</a:t>
            </a:r>
          </a:p>
          <a:p>
            <a:r>
              <a:t>Schematic of LigandSeek-Build. A receptor–ligand complex and its local view. The same deposited 9BJJ receptor and reference ATP supply both views. The zoom arrow indicates a change in display scale.</a:t>
            </a:r>
          </a:p>
        </p:txBody>
      </p:sp>
      <p:sp>
        <p:nvSpPr>
          <p:cNvPr id="4" name="Slide Number Placeholder 3">
            <a:extLst>
              <a:ext uri="{FF2B5EF4-FFF2-40B4-BE49-F238E27FC236}">
                <a16:creationId xmlns:a16="http://schemas.microsoft.com/office/drawing/2014/main" id="{E6EF256E-045F-A942-C0BA-85F6F8D01F90}"/>
              </a:ext>
            </a:extLst>
          </p:cNvPr>
          <p:cNvSpPr>
            <a:spLocks noGrp="1"/>
          </p:cNvSpPr>
          <p:nvPr>
            <p:ph type="sldNum" sz="quarter" idx="5"/>
          </p:nvPr>
        </p:nvSpPr>
        <p:spPr/>
      </p:sp>
    </p:spTree>
    <p:extLst>
      <p:ext uri="{BB962C8B-B14F-4D97-AF65-F5344CB8AC3E}">
        <p14:creationId xmlns:p14="http://schemas.microsoft.com/office/powerpoint/2010/main" val="135122318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2FF6BC-628B-87E4-3031-4A559211E4D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E27DE87-09EC-2A47-EC1B-A7BB908DF3DE}"/>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990EE821-D0FD-3BBB-5363-C6BD85C6C2EC}"/>
              </a:ext>
            </a:extLst>
          </p:cNvPr>
          <p:cNvSpPr>
            <a:spLocks noGrp="1"/>
          </p:cNvSpPr>
          <p:nvPr>
            <p:ph type="body" sz="quarter" idx="3"/>
          </p:nvPr>
        </p:nvSpPr>
        <p:spPr/>
        <p:txBody>
          <a:bodyPr/>
          <a:lstStyle/>
          <a:p>
            <a:r>
              <a:t>LigandSeek-Build的简化密度接入机制示意。简化的密度条件注入。三维卷积读取当前配体原子附近的密度与受体信号, 经FiLM调制原子特征并参与坐标更新。图中折叠了重复的网络块, 不代表只执行一次更新。</a:t>
            </a:r>
          </a:p>
          <a:p>
            <a:r>
              <a:t>ENGLISH:</a:t>
            </a:r>
          </a:p>
          <a:p>
            <a:r>
              <a:t>Schematic of LigandSeek-Build. Simplified density conditioning. A 3D convolutional module reads local density and receptor signals, which modulate atom features through FiLM before coordinate updates. Repeated network blocks are collapsed in the schematic.</a:t>
            </a:r>
          </a:p>
        </p:txBody>
      </p:sp>
      <p:sp>
        <p:nvSpPr>
          <p:cNvPr id="4" name="Slide Number Placeholder 3">
            <a:extLst>
              <a:ext uri="{FF2B5EF4-FFF2-40B4-BE49-F238E27FC236}">
                <a16:creationId xmlns:a16="http://schemas.microsoft.com/office/drawing/2014/main" id="{E6EF256E-045F-A942-C0BA-85F6F8D01F90}"/>
              </a:ext>
            </a:extLst>
          </p:cNvPr>
          <p:cNvSpPr>
            <a:spLocks noGrp="1"/>
          </p:cNvSpPr>
          <p:nvPr>
            <p:ph type="sldNum" sz="quarter" idx="5"/>
          </p:nvPr>
        </p:nvSpPr>
        <p:spPr/>
      </p:sp>
    </p:spTree>
    <p:extLst>
      <p:ext uri="{BB962C8B-B14F-4D97-AF65-F5344CB8AC3E}">
        <p14:creationId xmlns:p14="http://schemas.microsoft.com/office/powerpoint/2010/main" val="127529282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2FF6BC-628B-87E4-3031-4A559211E4D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E27DE87-09EC-2A47-EC1B-A7BB908DF3DE}"/>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990EE821-D0FD-3BBB-5363-C6BD85C6C2EC}"/>
              </a:ext>
            </a:extLst>
          </p:cNvPr>
          <p:cNvSpPr>
            <a:spLocks noGrp="1"/>
          </p:cNvSpPr>
          <p:nvPr>
            <p:ph type="body" sz="quarter" idx="3"/>
          </p:nvPr>
        </p:nvSpPr>
        <p:spPr/>
        <p:txBody>
          <a:bodyPr/>
          <a:lstStyle/>
          <a:p>
            <a:r>
              <a:t>LigandSeek-Build的多个输出构象示意。同一口袋和视角下的三个配体输出。三幅采用9BJJ同一ATP身份的原候选坐标与对应CryoAtom2受体; 顺序用于显示, 不表示原模型排名或性能优劣。</a:t>
            </a:r>
          </a:p>
          <a:p>
            <a:r>
              <a:t>ENGLISH:</a:t>
            </a:r>
          </a:p>
          <a:p>
            <a:r>
              <a:t>Schematic of LigandSeek-Build. Three ligand poses in the same pocket and view. Original candidate coordinates for the same ATP identity in 9BJJ are shown with the corresponding CryoAtom2 receptor. Display order does not indicate model ranking or accuracy.</a:t>
            </a:r>
          </a:p>
        </p:txBody>
      </p:sp>
      <p:sp>
        <p:nvSpPr>
          <p:cNvPr id="4" name="Slide Number Placeholder 3">
            <a:extLst>
              <a:ext uri="{FF2B5EF4-FFF2-40B4-BE49-F238E27FC236}">
                <a16:creationId xmlns:a16="http://schemas.microsoft.com/office/drawing/2014/main" id="{E6EF256E-045F-A942-C0BA-85F6F8D01F90}"/>
              </a:ext>
            </a:extLst>
          </p:cNvPr>
          <p:cNvSpPr>
            <a:spLocks noGrp="1"/>
          </p:cNvSpPr>
          <p:nvPr>
            <p:ph type="sldNum" sz="quarter" idx="5"/>
          </p:nvPr>
        </p:nvSpPr>
        <p:spPr/>
      </p:sp>
    </p:spTree>
    <p:extLst>
      <p:ext uri="{BB962C8B-B14F-4D97-AF65-F5344CB8AC3E}">
        <p14:creationId xmlns:p14="http://schemas.microsoft.com/office/powerpoint/2010/main" val="26977785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2FF6BC-628B-87E4-3031-4A559211E4D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E27DE87-09EC-2A47-EC1B-A7BB908DF3DE}"/>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990EE821-D0FD-3BBB-5363-C6BD85C6C2EC}"/>
              </a:ext>
            </a:extLst>
          </p:cNvPr>
          <p:cNvSpPr>
            <a:spLocks noGrp="1"/>
          </p:cNvSpPr>
          <p:nvPr>
            <p:ph type="body" sz="quarter" idx="3"/>
          </p:nvPr>
        </p:nvSpPr>
        <p:spPr/>
        <p:txBody>
          <a:bodyPr/>
          <a:lstStyle/>
          <a:p>
            <a:r>
              <a:t>LigandSeek-Build的去噪过程示意。密度条件去噪的示意过程。高斯初始化之后显示早期、中期和晚期三个中间状态及最终pose。各状态使用固定种子的坐标扰动构造, 不对应测得的真实采样时间步; 原子身份与数目保持不变。</a:t>
            </a:r>
          </a:p>
          <a:p>
            <a:r>
              <a:t>ENGLISH:</a:t>
            </a:r>
          </a:p>
          <a:p>
            <a:r>
              <a:t>Schematic of LigandSeek-Build. Schematic density-conditioned denoising. Gaussian initialisation is followed by early, middle and late intermediate states and a final pose. Fixed-seed coordinate perturbations illustrate noise levels rather than measured sampling timesteps; atom identities and count remain fixed.</a:t>
            </a:r>
          </a:p>
        </p:txBody>
      </p:sp>
      <p:sp>
        <p:nvSpPr>
          <p:cNvPr id="4" name="Slide Number Placeholder 3">
            <a:extLst>
              <a:ext uri="{FF2B5EF4-FFF2-40B4-BE49-F238E27FC236}">
                <a16:creationId xmlns:a16="http://schemas.microsoft.com/office/drawing/2014/main" id="{E6EF256E-045F-A942-C0BA-85F6F8D01F90}"/>
              </a:ext>
            </a:extLst>
          </p:cNvPr>
          <p:cNvSpPr>
            <a:spLocks noGrp="1"/>
          </p:cNvSpPr>
          <p:nvPr>
            <p:ph type="sldNum" sz="quarter" idx="5"/>
          </p:nvPr>
        </p:nvSpPr>
        <p:spPr/>
      </p:sp>
    </p:spTree>
    <p:extLst>
      <p:ext uri="{BB962C8B-B14F-4D97-AF65-F5344CB8AC3E}">
        <p14:creationId xmlns:p14="http://schemas.microsoft.com/office/powerpoint/2010/main" val="18532186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6D0D79-4781-F61B-8132-0256378D1C9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D586601-471D-6C00-8011-C086E7FFB8DF}"/>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3BD0CFB2-03C4-E8CE-CEB0-BC802F8A7B64}"/>
              </a:ext>
            </a:extLst>
          </p:cNvPr>
          <p:cNvSpPr>
            <a:spLocks noGrp="1"/>
          </p:cNvSpPr>
          <p:nvPr>
            <p:ph type="body" sz="quarter" idx="3"/>
          </p:nvPr>
        </p:nvSpPr>
        <p:spPr/>
        <p:txBody>
          <a:bodyPr/>
          <a:lstStyle/>
          <a:p>
            <a:r>
              <a:t>LigandSeek-Build的去噪过程示意。密度条件去噪的示意过程。高斯初始化之后显示早期、中期和晚期三个中间状态及最终pose。各状态使用固定种子的坐标扰动构造, 不对应测得的真实采样时间步; 原子身份与数目保持不变。</a:t>
            </a:r>
          </a:p>
          <a:p>
            <a:r>
              <a:t>ENGLISH:</a:t>
            </a:r>
          </a:p>
          <a:p>
            <a:r>
              <a:t>Schematic of LigandSeek-Build. Schematic density-conditioned denoising. Gaussian initialisation is followed by early, middle and late intermediate states and a final pose. Fixed-seed coordinate perturbations illustrate noise levels rather than measured sampling timesteps; atom identities and count remain fixed.</a:t>
            </a:r>
          </a:p>
        </p:txBody>
      </p:sp>
      <p:sp>
        <p:nvSpPr>
          <p:cNvPr id="4" name="Slide Number Placeholder 3">
            <a:extLst>
              <a:ext uri="{FF2B5EF4-FFF2-40B4-BE49-F238E27FC236}">
                <a16:creationId xmlns:a16="http://schemas.microsoft.com/office/drawing/2014/main" id="{99F219E9-1057-43CD-3CB9-9922669BF2A9}"/>
              </a:ext>
            </a:extLst>
          </p:cNvPr>
          <p:cNvSpPr>
            <a:spLocks noGrp="1"/>
          </p:cNvSpPr>
          <p:nvPr>
            <p:ph type="sldNum" sz="quarter" idx="5"/>
          </p:nvPr>
        </p:nvSpPr>
        <p:spPr/>
      </p:sp>
    </p:spTree>
    <p:extLst>
      <p:ext uri="{BB962C8B-B14F-4D97-AF65-F5344CB8AC3E}">
        <p14:creationId xmlns:p14="http://schemas.microsoft.com/office/powerpoint/2010/main" val="402956873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F4FE49-5DA4-F327-2341-5C6C9A47D63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3E64168-A7DD-66D7-17F1-61CBA01325E8}"/>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1BCD1279-D9F3-0200-5439-F3BEE5F15F1C}"/>
              </a:ext>
            </a:extLst>
          </p:cNvPr>
          <p:cNvSpPr>
            <a:spLocks noGrp="1"/>
          </p:cNvSpPr>
          <p:nvPr>
            <p:ph type="body" sz="quarter" idx="3"/>
          </p:nvPr>
        </p:nvSpPr>
        <p:spPr/>
        <p:txBody>
          <a:bodyPr/>
          <a:lstStyle/>
          <a:p>
            <a:endParaRPr dirty="0"/>
          </a:p>
        </p:txBody>
      </p:sp>
      <p:sp>
        <p:nvSpPr>
          <p:cNvPr id="4" name="Slide Number Placeholder 3">
            <a:extLst>
              <a:ext uri="{FF2B5EF4-FFF2-40B4-BE49-F238E27FC236}">
                <a16:creationId xmlns:a16="http://schemas.microsoft.com/office/drawing/2014/main" id="{B32967F6-10B3-385E-E2B8-A13B6962FBA5}"/>
              </a:ext>
            </a:extLst>
          </p:cNvPr>
          <p:cNvSpPr>
            <a:spLocks noGrp="1"/>
          </p:cNvSpPr>
          <p:nvPr>
            <p:ph type="sldNum" sz="quarter" idx="5"/>
          </p:nvPr>
        </p:nvSpPr>
        <p:spPr/>
      </p:sp>
    </p:spTree>
    <p:extLst>
      <p:ext uri="{BB962C8B-B14F-4D97-AF65-F5344CB8AC3E}">
        <p14:creationId xmlns:p14="http://schemas.microsoft.com/office/powerpoint/2010/main" val="297126542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F4FE49-5DA4-F327-2341-5C6C9A47D63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3E64168-A7DD-66D7-17F1-61CBA01325E8}"/>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1BCD1279-D9F3-0200-5439-F3BEE5F15F1C}"/>
              </a:ext>
            </a:extLst>
          </p:cNvPr>
          <p:cNvSpPr>
            <a:spLocks noGrp="1"/>
          </p:cNvSpPr>
          <p:nvPr>
            <p:ph type="body" sz="quarter" idx="3"/>
          </p:nvPr>
        </p:nvSpPr>
        <p:spPr/>
        <p:txBody>
          <a:bodyPr/>
          <a:lstStyle/>
          <a:p>
            <a:endParaRPr dirty="0"/>
          </a:p>
        </p:txBody>
      </p:sp>
      <p:sp>
        <p:nvSpPr>
          <p:cNvPr id="4" name="Slide Number Placeholder 3">
            <a:extLst>
              <a:ext uri="{FF2B5EF4-FFF2-40B4-BE49-F238E27FC236}">
                <a16:creationId xmlns:a16="http://schemas.microsoft.com/office/drawing/2014/main" id="{B32967F6-10B3-385E-E2B8-A13B6962FBA5}"/>
              </a:ext>
            </a:extLst>
          </p:cNvPr>
          <p:cNvSpPr>
            <a:spLocks noGrp="1"/>
          </p:cNvSpPr>
          <p:nvPr>
            <p:ph type="sldNum" sz="quarter" idx="5"/>
          </p:nvPr>
        </p:nvSpPr>
        <p:spPr/>
      </p:sp>
    </p:spTree>
    <p:extLst>
      <p:ext uri="{BB962C8B-B14F-4D97-AF65-F5344CB8AC3E}">
        <p14:creationId xmlns:p14="http://schemas.microsoft.com/office/powerpoint/2010/main" val="12295295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F4FE49-5DA4-F327-2341-5C6C9A47D63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3E64168-A7DD-66D7-17F1-61CBA01325E8}"/>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1BCD1279-D9F3-0200-5439-F3BEE5F15F1C}"/>
              </a:ext>
            </a:extLst>
          </p:cNvPr>
          <p:cNvSpPr>
            <a:spLocks noGrp="1"/>
          </p:cNvSpPr>
          <p:nvPr>
            <p:ph type="body" sz="quarter" idx="3"/>
          </p:nvPr>
        </p:nvSpPr>
        <p:spPr/>
        <p:txBody>
          <a:bodyPr/>
          <a:lstStyle/>
          <a:p>
            <a:endParaRPr dirty="0"/>
          </a:p>
        </p:txBody>
      </p:sp>
      <p:sp>
        <p:nvSpPr>
          <p:cNvPr id="4" name="Slide Number Placeholder 3">
            <a:extLst>
              <a:ext uri="{FF2B5EF4-FFF2-40B4-BE49-F238E27FC236}">
                <a16:creationId xmlns:a16="http://schemas.microsoft.com/office/drawing/2014/main" id="{B32967F6-10B3-385E-E2B8-A13B6962FBA5}"/>
              </a:ext>
            </a:extLst>
          </p:cNvPr>
          <p:cNvSpPr>
            <a:spLocks noGrp="1"/>
          </p:cNvSpPr>
          <p:nvPr>
            <p:ph type="sldNum" sz="quarter" idx="5"/>
          </p:nvPr>
        </p:nvSpPr>
        <p:spPr/>
      </p:sp>
    </p:spTree>
    <p:extLst>
      <p:ext uri="{BB962C8B-B14F-4D97-AF65-F5344CB8AC3E}">
        <p14:creationId xmlns:p14="http://schemas.microsoft.com/office/powerpoint/2010/main" val="2687000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3366A2-55D0-C3C7-36FB-9C68115CBC6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AC57971-49F3-579E-8E1B-018B0F11FE42}"/>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7CEDA012-5D6C-90EE-4D2E-131E96B6B70C}"/>
              </a:ext>
            </a:extLst>
          </p:cNvPr>
          <p:cNvSpPr>
            <a:spLocks noGrp="1"/>
          </p:cNvSpPr>
          <p:nvPr>
            <p:ph type="body" sz="quarter" idx="3"/>
          </p:nvPr>
        </p:nvSpPr>
        <p:spPr/>
        <p:txBody>
          <a:bodyPr/>
          <a:lstStyle/>
          <a:p>
            <a:r>
              <a:rPr lang="en-US" altLang="zh-CN" dirty="0" err="1"/>
              <a:t>LigandSeek</a:t>
            </a:r>
            <a:r>
              <a:rPr lang="en-US" altLang="zh-CN" dirty="0"/>
              <a:t> Find–Match–Build </a:t>
            </a:r>
            <a:r>
              <a:rPr lang="zh-CN" altLang="en-US" dirty="0"/>
              <a:t>框架的网络架构和数据流。</a:t>
            </a:r>
          </a:p>
          <a:p>
            <a:r>
              <a:rPr lang="en-US" altLang="zh-CN" dirty="0"/>
              <a:t>a</a:t>
            </a:r>
            <a:r>
              <a:rPr lang="zh-CN" altLang="en-US" dirty="0"/>
              <a:t>，</a:t>
            </a:r>
            <a:r>
              <a:rPr lang="en-US" altLang="zh-CN" dirty="0"/>
              <a:t>Find </a:t>
            </a:r>
            <a:r>
              <a:rPr lang="zh-CN" altLang="en-US" dirty="0"/>
              <a:t>部分对密度和受体信息进行编码，生成候选配体区域（</a:t>
            </a:r>
            <a:r>
              <a:rPr lang="en-US" altLang="zh-CN" dirty="0"/>
              <a:t>$\</a:t>
            </a:r>
            <a:r>
              <a:rPr lang="en-US" altLang="zh-CN" dirty="0" err="1"/>
              <a:t>mathbb</a:t>
            </a:r>
            <a:r>
              <a:rPr lang="en-US" altLang="zh-CN" dirty="0"/>
              <a:t>{R}^3$ </a:t>
            </a:r>
            <a:r>
              <a:rPr lang="zh-CN" altLang="en-US" dirty="0"/>
              <a:t>中的 </a:t>
            </a:r>
            <a:r>
              <a:rPr lang="en-US" altLang="zh-CN" dirty="0"/>
              <a:t>blob</a:t>
            </a:r>
            <a:r>
              <a:rPr lang="zh-CN" altLang="en-US" dirty="0"/>
              <a:t>）和辅助特征。受体嵌入头对原子表示进行编码并提供它。</a:t>
            </a:r>
            <a:r>
              <a:rPr lang="en-US" altLang="zh-CN" dirty="0"/>
              <a:t>3D </a:t>
            </a:r>
            <a:r>
              <a:rPr lang="zh-CN" altLang="en-US" dirty="0"/>
              <a:t>体素 </a:t>
            </a:r>
            <a:r>
              <a:rPr lang="en-US" altLang="zh-CN" dirty="0"/>
              <a:t>U-Net </a:t>
            </a:r>
            <a:r>
              <a:rPr lang="zh-CN" altLang="en-US" dirty="0"/>
              <a:t>和 </a:t>
            </a:r>
            <a:r>
              <a:rPr lang="en-US" altLang="zh-CN" dirty="0"/>
              <a:t>Point Transformer V3 </a:t>
            </a:r>
            <a:r>
              <a:rPr lang="zh-CN" altLang="en-US" dirty="0"/>
              <a:t>结合密度和受体原子特征，并对其进行进一步编码。</a:t>
            </a:r>
            <a:r>
              <a:rPr lang="en-US" altLang="zh-CN" dirty="0"/>
              <a:t>AlphaFold3 </a:t>
            </a:r>
            <a:r>
              <a:rPr lang="zh-CN" altLang="en-US" dirty="0"/>
              <a:t>式的循环机制迭代地优化两个分支的预测结果。</a:t>
            </a:r>
          </a:p>
          <a:p>
            <a:r>
              <a:rPr lang="en-US" altLang="zh-CN" dirty="0"/>
              <a:t>b</a:t>
            </a:r>
            <a:r>
              <a:rPr lang="zh-CN" altLang="en-US" dirty="0"/>
              <a:t>，</a:t>
            </a:r>
            <a:r>
              <a:rPr lang="en-US" altLang="zh-CN" dirty="0"/>
              <a:t>Match </a:t>
            </a:r>
            <a:r>
              <a:rPr lang="zh-CN" altLang="en-US" dirty="0"/>
              <a:t>部分将候选配体分类为前景或背景，并分配配体身份。</a:t>
            </a:r>
            <a:r>
              <a:rPr lang="en-US" altLang="zh-CN" dirty="0"/>
              <a:t>3D U-Net </a:t>
            </a:r>
            <a:r>
              <a:rPr lang="zh-CN" altLang="en-US" dirty="0"/>
              <a:t>对局部体素区域进行编码。池化、交叉注意力机制和 </a:t>
            </a:r>
            <a:r>
              <a:rPr lang="en-US" altLang="zh-CN" dirty="0" err="1"/>
              <a:t>FiLM</a:t>
            </a:r>
            <a:r>
              <a:rPr lang="en-US" altLang="zh-CN" dirty="0"/>
              <a:t> </a:t>
            </a:r>
            <a:r>
              <a:rPr lang="zh-CN" altLang="en-US" dirty="0"/>
              <a:t>将口袋和 </a:t>
            </a:r>
            <a:r>
              <a:rPr lang="en-US" altLang="zh-CN" dirty="0"/>
              <a:t>blob </a:t>
            </a:r>
            <a:r>
              <a:rPr lang="zh-CN" altLang="en-US" dirty="0"/>
              <a:t>信息与 </a:t>
            </a:r>
            <a:r>
              <a:rPr lang="en-US" altLang="zh-CN" dirty="0"/>
              <a:t>Find </a:t>
            </a:r>
            <a:r>
              <a:rPr lang="zh-CN" altLang="en-US" dirty="0"/>
              <a:t>部分的辅助特征整合到候选配体表示中。身份编码器将分子图特征、</a:t>
            </a:r>
            <a:r>
              <a:rPr lang="en-US" altLang="zh-CN" dirty="0"/>
              <a:t>SMI-TED </a:t>
            </a:r>
            <a:r>
              <a:rPr lang="zh-CN" altLang="en-US" dirty="0"/>
              <a:t>语言表示和身份上下文整合到同一个 </a:t>
            </a:r>
            <a:r>
              <a:rPr lang="en-US" altLang="zh-CN" dirty="0"/>
              <a:t>PDB </a:t>
            </a:r>
            <a:r>
              <a:rPr lang="zh-CN" altLang="en-US" dirty="0"/>
              <a:t>条目中。前景头部预测前景概率，余弦评分生成候选配体与身份匹配分数。</a:t>
            </a:r>
          </a:p>
          <a:p>
            <a:r>
              <a:rPr lang="en-US" altLang="zh-CN" dirty="0"/>
              <a:t>c</a:t>
            </a:r>
            <a:r>
              <a:rPr lang="zh-CN" altLang="en-US" dirty="0"/>
              <a:t>，</a:t>
            </a:r>
            <a:r>
              <a:rPr lang="en-US" altLang="zh-CN" dirty="0"/>
              <a:t>Build </a:t>
            </a:r>
            <a:r>
              <a:rPr lang="zh-CN" altLang="en-US" dirty="0"/>
              <a:t>整合了预测的结合位点、</a:t>
            </a:r>
            <a:r>
              <a:rPr lang="en-US" altLang="zh-CN" dirty="0"/>
              <a:t>SMILES</a:t>
            </a:r>
            <a:r>
              <a:rPr lang="zh-CN" altLang="en-US" dirty="0"/>
              <a:t>标识符、口袋环境和密度，利用</a:t>
            </a:r>
            <a:r>
              <a:rPr lang="en-US" altLang="zh-CN" dirty="0"/>
              <a:t>DG-</a:t>
            </a:r>
            <a:r>
              <a:rPr lang="en-US" altLang="zh-CN" dirty="0" err="1"/>
              <a:t>PocketXMol</a:t>
            </a:r>
            <a:r>
              <a:rPr lang="zh-CN" altLang="en-US" dirty="0"/>
              <a:t>重建配体构象。采用迭代去噪过程，从初始高斯噪声中生成最终的全原子姿态。</a:t>
            </a:r>
            <a:endParaRPr lang="en-US" altLang="zh-CN" dirty="0"/>
          </a:p>
          <a:p>
            <a:endParaRPr lang="en-US" altLang="zh-CN" b="1" dirty="0"/>
          </a:p>
          <a:p>
            <a:r>
              <a:rPr lang="en-US" altLang="zh-CN" b="1" dirty="0"/>
              <a:t>ENGLISH:</a:t>
            </a:r>
          </a:p>
          <a:p>
            <a:r>
              <a:rPr lang="en-US" altLang="zh-CN" dirty="0"/>
              <a:t>Network architecture and data flow of the </a:t>
            </a:r>
            <a:r>
              <a:rPr lang="en-US" altLang="zh-CN" dirty="0" err="1"/>
              <a:t>LigandSeek</a:t>
            </a:r>
            <a:r>
              <a:rPr lang="en-US" altLang="zh-CN" dirty="0"/>
              <a:t> Find–Match–Build framework.</a:t>
            </a:r>
          </a:p>
          <a:p>
            <a:r>
              <a:rPr lang="en-US" altLang="zh-CN" b="1" dirty="0"/>
              <a:t>a, </a:t>
            </a:r>
            <a:r>
              <a:rPr lang="en-US" altLang="zh-CN" dirty="0"/>
              <a:t>Find encodes density and receptor information to produce candidate ligand regions (blobs in $\</a:t>
            </a:r>
            <a:r>
              <a:rPr lang="en-US" altLang="zh-CN" dirty="0" err="1"/>
              <a:t>mathbb</a:t>
            </a:r>
            <a:r>
              <a:rPr lang="en-US" altLang="zh-CN" dirty="0"/>
              <a:t>{R}^3$) and auxiliary features. The receptor embedding head encodes and supplies atom representations. A 3D voxel U-Net and Point Transformer V3 combine density and receptor-atom features and further encode them. An AlphaFold3-style recycling mechanism iteratively refines predictions across both branches.</a:t>
            </a:r>
          </a:p>
          <a:p>
            <a:r>
              <a:rPr lang="en-US" altLang="zh-CN" sz="1200" b="1" kern="1200" dirty="0"/>
              <a:t>b, </a:t>
            </a:r>
            <a:r>
              <a:rPr lang="en-US" altLang="zh-CN" dirty="0"/>
              <a:t>Match classifies candidates as foreground or background and assigns ligand identities. A 3D U-Net encodes a local voxel crop. Pooling, cross-attention and </a:t>
            </a:r>
            <a:r>
              <a:rPr lang="en-US" altLang="zh-CN" dirty="0" err="1"/>
              <a:t>FiLM</a:t>
            </a:r>
            <a:r>
              <a:rPr lang="en-US" altLang="zh-CN" dirty="0"/>
              <a:t> integrate pocket and blob information with auxiliary features from Find into the candidate representation. The identity encoder combines molecular graph features, SMI-TED language representations and identity context within the same PDB entry. A foreground head predicts foreground probability, and cosine scoring produces candidate-to-identity matching scores.</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zh-CN" b="1" dirty="0"/>
              <a:t>c</a:t>
            </a:r>
            <a:r>
              <a:rPr lang="zh-CN" altLang="zh-CN" dirty="0"/>
              <a:t>, </a:t>
            </a:r>
            <a:r>
              <a:rPr lang="zh-CN" altLang="zh-CN" b="0" dirty="0"/>
              <a:t>Build </a:t>
            </a:r>
            <a:r>
              <a:rPr lang="zh-CN" altLang="zh-CN" dirty="0"/>
              <a:t>integrates the predicted binding site, SMILES identity, pocket context, and density to reconstruct ligand conformations using</a:t>
            </a:r>
            <a:r>
              <a:rPr lang="zh-CN" altLang="zh-CN" b="0" dirty="0"/>
              <a:t> DG-PocketXMol</a:t>
            </a:r>
            <a:r>
              <a:rPr lang="zh-CN" altLang="zh-CN" dirty="0"/>
              <a:t>. An iterative denoising process is employed to generate the final all-atom pose(s) from initial Gaussian noise. </a:t>
            </a:r>
            <a:endParaRPr lang="en-US" altLang="zh-CN" dirty="0"/>
          </a:p>
        </p:txBody>
      </p:sp>
      <p:sp>
        <p:nvSpPr>
          <p:cNvPr id="4" name="Slide Number Placeholder 3">
            <a:extLst>
              <a:ext uri="{FF2B5EF4-FFF2-40B4-BE49-F238E27FC236}">
                <a16:creationId xmlns:a16="http://schemas.microsoft.com/office/drawing/2014/main" id="{FA6B9390-40FD-40B5-94B2-8137761FECE5}"/>
              </a:ext>
            </a:extLst>
          </p:cNvPr>
          <p:cNvSpPr>
            <a:spLocks noGrp="1"/>
          </p:cNvSpPr>
          <p:nvPr>
            <p:ph type="sldNum" sz="quarter" idx="5"/>
          </p:nvPr>
        </p:nvSpPr>
        <p:spPr/>
      </p:sp>
    </p:spTree>
    <p:extLst>
      <p:ext uri="{BB962C8B-B14F-4D97-AF65-F5344CB8AC3E}">
        <p14:creationId xmlns:p14="http://schemas.microsoft.com/office/powerpoint/2010/main" val="196916635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10/29/2026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659610929"/>
      </p:ext>
    </p:extLst>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50"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5.png"/><Relationship Id="rId3" Type="http://schemas.microsoft.com/office/2018/10/relationships/comments" Target="../comments/modernComment_100_E04F3CE8.xml"/><Relationship Id="rId7" Type="http://schemas.openxmlformats.org/officeDocument/2006/relationships/image" Target="../media/image4.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3.png"/><Relationship Id="rId5" Type="http://schemas.openxmlformats.org/officeDocument/2006/relationships/image" Target="../media/image2.png"/><Relationship Id="rId10" Type="http://schemas.openxmlformats.org/officeDocument/2006/relationships/image" Target="../media/image7.png"/><Relationship Id="rId4" Type="http://schemas.openxmlformats.org/officeDocument/2006/relationships/image" Target="../media/image1.png"/><Relationship Id="rId9" Type="http://schemas.openxmlformats.org/officeDocument/2006/relationships/image" Target="../media/image6.png"/></Relationships>
</file>

<file path=ppt/slides/_rels/slide2.xml.rels><?xml version="1.0" encoding="UTF-8" standalone="yes"?>
<Relationships xmlns="http://schemas.openxmlformats.org/package/2006/relationships"><Relationship Id="rId3" Type="http://schemas.microsoft.com/office/2018/10/relationships/comments" Target="../comments/modernComment_104_D1BA0CEE.xml"/><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image" Target="../media/image1.png"/></Relationships>
</file>

<file path=ppt/slides/_rels/slide3.xml.rels><?xml version="1.0" encoding="UTF-8" standalone="yes"?>
<Relationships xmlns="http://schemas.openxmlformats.org/package/2006/relationships"><Relationship Id="rId3" Type="http://schemas.microsoft.com/office/2018/10/relationships/comments" Target="../comments/modernComment_10C_4274BE0E.xml"/><Relationship Id="rId7" Type="http://schemas.openxmlformats.org/officeDocument/2006/relationships/image" Target="../media/image10.png"/><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1.png"/></Relationships>
</file>

<file path=ppt/slides/_rels/slide4.xml.rels><?xml version="1.0" encoding="UTF-8" standalone="yes"?>
<Relationships xmlns="http://schemas.openxmlformats.org/package/2006/relationships"><Relationship Id="rId3" Type="http://schemas.microsoft.com/office/2018/10/relationships/comments" Target="../comments/modernComment_10D_6D7857AA.xml"/><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1.png"/></Relationships>
</file>

<file path=ppt/slides/_rels/slide5.xml.rels><?xml version="1.0" encoding="UTF-8" standalone="yes"?>
<Relationships xmlns="http://schemas.openxmlformats.org/package/2006/relationships"><Relationship Id="rId8" Type="http://schemas.openxmlformats.org/officeDocument/2006/relationships/image" Target="../media/image15.png"/><Relationship Id="rId3" Type="http://schemas.microsoft.com/office/2018/10/relationships/comments" Target="../comments/modernComment_10E_282FF2E8.xml"/><Relationship Id="rId7" Type="http://schemas.openxmlformats.org/officeDocument/2006/relationships/image" Target="../media/image14.png"/><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image" Target="../media/image13.png"/><Relationship Id="rId5" Type="http://schemas.openxmlformats.org/officeDocument/2006/relationships/image" Target="../media/image11.png"/><Relationship Id="rId4" Type="http://schemas.openxmlformats.org/officeDocument/2006/relationships/image" Target="../media/image1.png"/></Relationships>
</file>

<file path=ppt/slides/_rels/slide6.xml.rels><?xml version="1.0" encoding="UTF-8" standalone="yes"?>
<Relationships xmlns="http://schemas.openxmlformats.org/package/2006/relationships"><Relationship Id="rId8" Type="http://schemas.openxmlformats.org/officeDocument/2006/relationships/image" Target="../media/image18.png"/><Relationship Id="rId3" Type="http://schemas.microsoft.com/office/2018/10/relationships/comments" Target="../comments/modernComment_10F_EB335C6F.xml"/><Relationship Id="rId7" Type="http://schemas.openxmlformats.org/officeDocument/2006/relationships/image" Target="../media/image17.png"/><Relationship Id="rId2" Type="http://schemas.openxmlformats.org/officeDocument/2006/relationships/notesSlide" Target="../notesSlides/notesSlide6.xml"/><Relationship Id="rId1" Type="http://schemas.openxmlformats.org/officeDocument/2006/relationships/slideLayout" Target="../slideLayouts/slideLayout1.xml"/><Relationship Id="rId6" Type="http://schemas.openxmlformats.org/officeDocument/2006/relationships/image" Target="../media/image16.png"/><Relationship Id="rId5" Type="http://schemas.openxmlformats.org/officeDocument/2006/relationships/image" Target="../media/image11.png"/><Relationship Id="rId10" Type="http://schemas.openxmlformats.org/officeDocument/2006/relationships/image" Target="../media/image20.png"/><Relationship Id="rId4" Type="http://schemas.openxmlformats.org/officeDocument/2006/relationships/image" Target="../media/image1.png"/><Relationship Id="rId9" Type="http://schemas.openxmlformats.org/officeDocument/2006/relationships/image" Target="../media/image19.png"/></Relationships>
</file>

<file path=ppt/slides/_rels/slide7.xml.rels><?xml version="1.0" encoding="UTF-8" standalone="yes"?>
<Relationships xmlns="http://schemas.openxmlformats.org/package/2006/relationships"><Relationship Id="rId8" Type="http://schemas.openxmlformats.org/officeDocument/2006/relationships/image" Target="../media/image18.png"/><Relationship Id="rId3" Type="http://schemas.microsoft.com/office/2018/10/relationships/comments" Target="../comments/modernComment_110_C8F3BC68.xml"/><Relationship Id="rId7" Type="http://schemas.openxmlformats.org/officeDocument/2006/relationships/image" Target="../media/image17.png"/><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image" Target="../media/image16.png"/><Relationship Id="rId5" Type="http://schemas.openxmlformats.org/officeDocument/2006/relationships/image" Target="../media/image11.png"/><Relationship Id="rId4" Type="http://schemas.openxmlformats.org/officeDocument/2006/relationships/image" Target="../media/image1.png"/><Relationship Id="rId9" Type="http://schemas.openxmlformats.org/officeDocument/2006/relationships/image" Target="../media/image15.png"/></Relationships>
</file>

<file path=ppt/slides/_rels/slide8.xml.rels><?xml version="1.0" encoding="UTF-8" standalone="yes"?>
<Relationships xmlns="http://schemas.openxmlformats.org/package/2006/relationships"><Relationship Id="rId8" Type="http://schemas.openxmlformats.org/officeDocument/2006/relationships/image" Target="../media/image5.png"/><Relationship Id="rId13" Type="http://schemas.openxmlformats.org/officeDocument/2006/relationships/image" Target="../media/image15.png"/><Relationship Id="rId3" Type="http://schemas.microsoft.com/office/2018/10/relationships/comments" Target="../comments/modernComment_107_B2520BCC.xml"/><Relationship Id="rId7" Type="http://schemas.openxmlformats.org/officeDocument/2006/relationships/image" Target="../media/image4.png"/><Relationship Id="rId12" Type="http://schemas.openxmlformats.org/officeDocument/2006/relationships/image" Target="../media/image18.png"/><Relationship Id="rId2" Type="http://schemas.openxmlformats.org/officeDocument/2006/relationships/notesSlide" Target="../notesSlides/notesSlide8.xml"/><Relationship Id="rId1" Type="http://schemas.openxmlformats.org/officeDocument/2006/relationships/slideLayout" Target="../slideLayouts/slideLayout1.xml"/><Relationship Id="rId6" Type="http://schemas.openxmlformats.org/officeDocument/2006/relationships/image" Target="../media/image3.png"/><Relationship Id="rId11" Type="http://schemas.openxmlformats.org/officeDocument/2006/relationships/image" Target="../media/image17.png"/><Relationship Id="rId5" Type="http://schemas.openxmlformats.org/officeDocument/2006/relationships/image" Target="../media/image2.png"/><Relationship Id="rId10" Type="http://schemas.openxmlformats.org/officeDocument/2006/relationships/image" Target="../media/image16.png"/><Relationship Id="rId4" Type="http://schemas.openxmlformats.org/officeDocument/2006/relationships/image" Target="../media/image1.png"/><Relationship Id="rId9" Type="http://schemas.openxmlformats.org/officeDocument/2006/relationships/image" Target="../media/image11.png"/></Relationships>
</file>

<file path=ppt/slides/_rels/slide9.xml.rels><?xml version="1.0" encoding="UTF-8" standalone="yes"?>
<Relationships xmlns="http://schemas.openxmlformats.org/package/2006/relationships"><Relationship Id="rId8" Type="http://schemas.openxmlformats.org/officeDocument/2006/relationships/image" Target="../media/image5.png"/><Relationship Id="rId13" Type="http://schemas.openxmlformats.org/officeDocument/2006/relationships/image" Target="../media/image15.png"/><Relationship Id="rId3" Type="http://schemas.microsoft.com/office/2018/10/relationships/comments" Target="../comments/modernComment_10A_9C66560.xml"/><Relationship Id="rId7" Type="http://schemas.openxmlformats.org/officeDocument/2006/relationships/image" Target="../media/image4.png"/><Relationship Id="rId12" Type="http://schemas.openxmlformats.org/officeDocument/2006/relationships/image" Target="../media/image18.png"/><Relationship Id="rId2" Type="http://schemas.openxmlformats.org/officeDocument/2006/relationships/notesSlide" Target="../notesSlides/notesSlide9.xml"/><Relationship Id="rId1" Type="http://schemas.openxmlformats.org/officeDocument/2006/relationships/slideLayout" Target="../slideLayouts/slideLayout1.xml"/><Relationship Id="rId6" Type="http://schemas.openxmlformats.org/officeDocument/2006/relationships/image" Target="../media/image3.png"/><Relationship Id="rId11" Type="http://schemas.openxmlformats.org/officeDocument/2006/relationships/image" Target="../media/image17.png"/><Relationship Id="rId5" Type="http://schemas.openxmlformats.org/officeDocument/2006/relationships/image" Target="../media/image2.png"/><Relationship Id="rId10" Type="http://schemas.openxmlformats.org/officeDocument/2006/relationships/image" Target="../media/image16.png"/><Relationship Id="rId4" Type="http://schemas.openxmlformats.org/officeDocument/2006/relationships/image" Target="../media/image1.png"/><Relationship Id="rId9" Type="http://schemas.openxmlformats.org/officeDocument/2006/relationships/image" Target="../media/image11.png"/></Relationships>
</file>

<file path=ppt/slides/_rels/slide10.xml.rels><?xml version="1.0" encoding="UTF-8" standalone="yes"?>
<Relationships xmlns="http://schemas.openxmlformats.org/package/2006/relationships"><Relationship Id="rId8" Type="http://schemas.openxmlformats.org/officeDocument/2006/relationships/image" Target="../media/image5.png"/><Relationship Id="rId13" Type="http://schemas.openxmlformats.org/officeDocument/2006/relationships/image" Target="../media/image15.png"/><Relationship Id="rId3" Type="http://schemas.microsoft.com/office/2018/10/relationships/comments" Target="../comments/modernComment_10B_DE9E33F8.xml"/><Relationship Id="rId7" Type="http://schemas.openxmlformats.org/officeDocument/2006/relationships/image" Target="../media/image4.png"/><Relationship Id="rId12" Type="http://schemas.openxmlformats.org/officeDocument/2006/relationships/image" Target="../media/image18.png"/><Relationship Id="rId2" Type="http://schemas.openxmlformats.org/officeDocument/2006/relationships/notesSlide" Target="../notesSlides/notesSlide10.xml"/><Relationship Id="rId1" Type="http://schemas.openxmlformats.org/officeDocument/2006/relationships/slideLayout" Target="../slideLayouts/slideLayout1.xml"/><Relationship Id="rId6" Type="http://schemas.openxmlformats.org/officeDocument/2006/relationships/image" Target="../media/image3.png"/><Relationship Id="rId11" Type="http://schemas.openxmlformats.org/officeDocument/2006/relationships/image" Target="../media/image17.png"/><Relationship Id="rId5" Type="http://schemas.openxmlformats.org/officeDocument/2006/relationships/image" Target="../media/image2.png"/><Relationship Id="rId10" Type="http://schemas.openxmlformats.org/officeDocument/2006/relationships/image" Target="../media/image16.png"/><Relationship Id="rId4" Type="http://schemas.openxmlformats.org/officeDocument/2006/relationships/image" Target="../media/image1.png"/><Relationship Id="rId9" Type="http://schemas.openxmlformats.org/officeDocument/2006/relationships/image" Target="../media/image11.png"/></Relationships>
</file>

<file path=ppt/slides/_rels/slide11.xml.rels><?xml version="1.0" encoding="UTF-8" standalone="yes"?>
<Relationships xmlns="http://schemas.openxmlformats.org/package/2006/relationships"><Relationship Id="rId8" Type="http://schemas.openxmlformats.org/officeDocument/2006/relationships/image" Target="../media/image5.png"/><Relationship Id="rId13" Type="http://schemas.openxmlformats.org/officeDocument/2006/relationships/image" Target="../media/image15.png"/><Relationship Id="rId3" Type="http://schemas.microsoft.com/office/2018/10/relationships/comments" Target="../comments/modernComment_111_A94679DB.xml"/><Relationship Id="rId7" Type="http://schemas.openxmlformats.org/officeDocument/2006/relationships/image" Target="../media/image4.png"/><Relationship Id="rId12" Type="http://schemas.openxmlformats.org/officeDocument/2006/relationships/image" Target="../media/image18.png"/><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image" Target="../media/image3.png"/><Relationship Id="rId11" Type="http://schemas.openxmlformats.org/officeDocument/2006/relationships/image" Target="../media/image17.png"/><Relationship Id="rId5" Type="http://schemas.openxmlformats.org/officeDocument/2006/relationships/image" Target="../media/image2.png"/><Relationship Id="rId10" Type="http://schemas.openxmlformats.org/officeDocument/2006/relationships/image" Target="../media/image16.png"/><Relationship Id="rId4" Type="http://schemas.openxmlformats.org/officeDocument/2006/relationships/image" Target="../media/image1.png"/><Relationship Id="rId9" Type="http://schemas.openxmlformats.org/officeDocument/2006/relationships/image" Target="../media/image11.png"/></Relationships>
</file>

<file path=ppt/slides/slide1.xml><?xml version="1.0" encoding="utf-8"?>
<p:sld xmlns:a="http://schemas.openxmlformats.org/drawingml/2006/main" xmlns:r="http://schemas.openxmlformats.org/officeDocument/2006/relationships" xmlns:p="http://schemas.openxmlformats.org/presentationml/2006/main">
  <p:cSld name="method / text">
    <p:spTree>
      <p:nvGrpSpPr>
        <p:cNvPr id="1" name="">
          <a:extLst>
            <a:ext uri="{FF2B5EF4-FFF2-40B4-BE49-F238E27FC236}">
              <a16:creationId xmlns:a16="http://schemas.microsoft.com/office/drawing/2014/main" id="{7C3A6E18-01F8-B0BA-F43F-91B3A30C3C3E}"/>
            </a:ext>
          </a:extLst>
        </p:cNvPr>
        <p:cNvGrpSpPr/>
        <p:nvPr/>
      </p:nvGrpSpPr>
      <p:grpSpPr>
        <a:xfrm>
          <a:off x="0" y="0"/>
          <a:ext cx="0" cy="0"/>
          <a:chOff x="0" y="0"/>
          <a:chExt cx="0" cy="0"/>
        </a:xfrm>
      </p:grpSpPr>
      <p:sp>
        <p:nvSpPr>
          <p:cNvPr id="2" name="Panel | Find background">
            <a:extLst>
              <a:ext uri="{FF2B5EF4-FFF2-40B4-BE49-F238E27FC236}">
                <a16:creationId xmlns:a16="http://schemas.microsoft.com/office/drawing/2014/main" id="{A9090686-8929-C0A0-CCD3-B88878102309}"/>
              </a:ext>
            </a:extLst>
          </p:cNvPr>
          <p:cNvSpPr/>
          <p:nvPr/>
        </p:nvSpPr>
        <p:spPr>
          <a:xfrm>
            <a:off x="450985" y="89164"/>
            <a:ext cx="4381930" cy="1756103"/>
          </a:xfrm>
          <a:prstGeom prst="roundRect">
            <a:avLst>
              <a:gd name="adj" fmla="val 2000"/>
            </a:avLst>
          </a:prstGeom>
          <a:solidFill>
            <a:srgbClr val="F4F7FB"/>
          </a:solidFill>
          <a:ln w="9720">
            <a:solidFill>
              <a:srgbClr val="CFDBE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dirty="0"/>
          </a:p>
        </p:txBody>
      </p:sp>
      <p:sp>
        <p:nvSpPr>
          <p:cNvPr id="3" name="Panel | Match background">
            <a:extLst>
              <a:ext uri="{FF2B5EF4-FFF2-40B4-BE49-F238E27FC236}">
                <a16:creationId xmlns:a16="http://schemas.microsoft.com/office/drawing/2014/main" id="{28703D02-0EE9-C5A6-609C-08019DDE7E4E}"/>
              </a:ext>
            </a:extLst>
          </p:cNvPr>
          <p:cNvSpPr/>
          <p:nvPr/>
        </p:nvSpPr>
        <p:spPr>
          <a:xfrm>
            <a:off x="450985" y="1884235"/>
            <a:ext cx="4381930" cy="2532204"/>
          </a:xfrm>
          <a:prstGeom prst="roundRect">
            <a:avLst>
              <a:gd name="adj" fmla="val 2000"/>
            </a:avLst>
          </a:prstGeom>
          <a:solidFill>
            <a:srgbClr val="F2F9F6"/>
          </a:solidFill>
          <a:ln w="9720">
            <a:solidFill>
              <a:srgbClr val="C8E2D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dirty="0"/>
          </a:p>
        </p:txBody>
      </p:sp>
      <p:sp>
        <p:nvSpPr>
          <p:cNvPr id="4" name="Panel | Build background">
            <a:extLst>
              <a:ext uri="{FF2B5EF4-FFF2-40B4-BE49-F238E27FC236}">
                <a16:creationId xmlns:a16="http://schemas.microsoft.com/office/drawing/2014/main" id="{ED204BA4-647E-6284-03F8-632FC35FBD82}"/>
              </a:ext>
            </a:extLst>
          </p:cNvPr>
          <p:cNvSpPr/>
          <p:nvPr/>
        </p:nvSpPr>
        <p:spPr>
          <a:xfrm>
            <a:off x="4868797" y="84564"/>
            <a:ext cx="1354615" cy="4331875"/>
          </a:xfrm>
          <a:prstGeom prst="roundRect">
            <a:avLst>
              <a:gd name="adj" fmla="val 2000"/>
            </a:avLst>
          </a:prstGeom>
          <a:solidFill>
            <a:srgbClr val="FAF6EE"/>
          </a:solidFill>
          <a:ln w="9720">
            <a:solidFill>
              <a:srgbClr val="E3D9C6"/>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dirty="0"/>
          </a:p>
        </p:txBody>
      </p:sp>
      <p:grpSp>
        <p:nvGrpSpPr>
          <p:cNvPr id="5" name="Input boundary layer">
            <a:extLst>
              <a:ext uri="{FF2B5EF4-FFF2-40B4-BE49-F238E27FC236}">
                <a16:creationId xmlns:a16="http://schemas.microsoft.com/office/drawing/2014/main" id="{DDB8823C-1C5D-EC2B-D97C-140C79222FB0}"/>
              </a:ext>
            </a:extLst>
          </p:cNvPr>
          <p:cNvGrpSpPr/>
          <p:nvPr/>
        </p:nvGrpSpPr>
        <p:grpSpPr>
          <a:xfrm>
            <a:off x="0" y="0"/>
            <a:ext cx="6480175" cy="4468813"/>
            <a:chOff x="0" y="0"/>
            <a:chExt cx="15240000" cy="10509702"/>
          </a:xfrm>
        </p:grpSpPr>
        <p:sp>
          <p:nvSpPr>
            <p:cNvPr id="1478" name="V8 Match input boundary">
              <a:extLst>
                <a:ext uri="{FF2B5EF4-FFF2-40B4-BE49-F238E27FC236}">
                  <a16:creationId xmlns:a16="http://schemas.microsoft.com/office/drawing/2014/main" id="{7D0554F4-AE1C-63F1-A885-352F5424EDA9}"/>
                </a:ext>
              </a:extLst>
            </p:cNvPr>
            <p:cNvSpPr/>
            <p:nvPr/>
          </p:nvSpPr>
          <p:spPr>
            <a:xfrm>
              <a:off x="1582841" y="5281627"/>
              <a:ext cx="3163259" cy="2511755"/>
            </a:xfrm>
            <a:custGeom>
              <a:avLst/>
              <a:gdLst/>
              <a:ahLst/>
              <a:cxnLst/>
              <a:rect l="l" t="t" r="r" b="b"/>
              <a:pathLst>
                <a:path w="1345044" h="1068019">
                  <a:moveTo>
                    <a:pt x="31750" y="0"/>
                  </a:moveTo>
                  <a:lnTo>
                    <a:pt x="893699" y="0"/>
                  </a:lnTo>
                  <a:cubicBezTo>
                    <a:pt x="911162" y="0"/>
                    <a:pt x="925449" y="14288"/>
                    <a:pt x="925449" y="31750"/>
                  </a:cubicBezTo>
                  <a:lnTo>
                    <a:pt x="925449" y="489521"/>
                  </a:lnTo>
                  <a:cubicBezTo>
                    <a:pt x="925449" y="506984"/>
                    <a:pt x="939736" y="521271"/>
                    <a:pt x="957199" y="521271"/>
                  </a:cubicBezTo>
                  <a:lnTo>
                    <a:pt x="1313294" y="521271"/>
                  </a:lnTo>
                  <a:cubicBezTo>
                    <a:pt x="1330757" y="521271"/>
                    <a:pt x="1345044" y="535559"/>
                    <a:pt x="1345044" y="553021"/>
                  </a:cubicBezTo>
                  <a:lnTo>
                    <a:pt x="1345044" y="1036269"/>
                  </a:lnTo>
                  <a:cubicBezTo>
                    <a:pt x="1345044" y="1053732"/>
                    <a:pt x="1330757" y="1068019"/>
                    <a:pt x="1313294" y="1068019"/>
                  </a:cubicBezTo>
                  <a:lnTo>
                    <a:pt x="31750" y="1068019"/>
                  </a:lnTo>
                  <a:cubicBezTo>
                    <a:pt x="14288" y="1068019"/>
                    <a:pt x="0" y="1053732"/>
                    <a:pt x="0" y="1036269"/>
                  </a:cubicBezTo>
                  <a:lnTo>
                    <a:pt x="0" y="31750"/>
                  </a:lnTo>
                  <a:cubicBezTo>
                    <a:pt x="0" y="14288"/>
                    <a:pt x="14288" y="0"/>
                    <a:pt x="31750" y="0"/>
                  </a:cubicBezTo>
                  <a:close/>
                </a:path>
              </a:pathLst>
            </a:custGeom>
            <a:solidFill>
              <a:srgbClr val="FFFFFF"/>
            </a:solidFill>
            <a:ln w="7290" cap="rnd">
              <a:solidFill>
                <a:srgbClr val="B6CEC5"/>
              </a:solidFill>
              <a:prstDash val="solid"/>
              <a:round/>
            </a:ln>
          </p:spPr>
          <p:txBody>
            <a:bodyPr/>
            <a:lstStyle/>
            <a:p>
              <a:endParaRPr lang="zh-CN" altLang="en-US" dirty="0"/>
            </a:p>
          </p:txBody>
        </p:sp>
      </p:grpSp>
      <p:sp>
        <p:nvSpPr>
          <p:cNvPr id="7" name="TextBox 4">
            <a:extLst>
              <a:ext uri="{FF2B5EF4-FFF2-40B4-BE49-F238E27FC236}">
                <a16:creationId xmlns:a16="http://schemas.microsoft.com/office/drawing/2014/main" id="{ADBC3EDA-5434-B072-0369-64F7979021C5}"/>
              </a:ext>
            </a:extLst>
          </p:cNvPr>
          <p:cNvSpPr txBox="1"/>
          <p:nvPr/>
        </p:nvSpPr>
        <p:spPr>
          <a:xfrm>
            <a:off x="519056" y="107111"/>
            <a:ext cx="174028" cy="149656"/>
          </a:xfrm>
          <a:prstGeom prst="rect">
            <a:avLst/>
          </a:prstGeom>
          <a:noFill/>
        </p:spPr>
        <p:txBody>
          <a:bodyPr wrap="square" lIns="0" tIns="0" rIns="0" bIns="0" anchor="ctr">
            <a:spAutoFit/>
          </a:bodyPr>
          <a:lstStyle/>
          <a:p>
            <a:pPr algn="l">
              <a:lnSpc>
                <a:spcPct val="105000"/>
              </a:lnSpc>
            </a:pPr>
            <a:r>
              <a:rPr sz="995" b="1" dirty="0">
                <a:solidFill>
                  <a:srgbClr val="263442"/>
                </a:solidFill>
                <a:latin typeface="Arial"/>
              </a:rPr>
              <a:t>a</a:t>
            </a:r>
          </a:p>
        </p:txBody>
      </p:sp>
      <p:sp>
        <p:nvSpPr>
          <p:cNvPr id="8" name="TextBox 5">
            <a:extLst>
              <a:ext uri="{FF2B5EF4-FFF2-40B4-BE49-F238E27FC236}">
                <a16:creationId xmlns:a16="http://schemas.microsoft.com/office/drawing/2014/main" id="{BDE65E3A-EB06-F9D8-4F70-55D863BF89FB}"/>
              </a:ext>
            </a:extLst>
          </p:cNvPr>
          <p:cNvSpPr txBox="1"/>
          <p:nvPr/>
        </p:nvSpPr>
        <p:spPr>
          <a:xfrm>
            <a:off x="677263" y="124527"/>
            <a:ext cx="2531320" cy="123624"/>
          </a:xfrm>
          <a:prstGeom prst="rect">
            <a:avLst/>
          </a:prstGeom>
          <a:noFill/>
        </p:spPr>
        <p:txBody>
          <a:bodyPr wrap="square" lIns="0" tIns="0" rIns="0" bIns="0" anchor="ctr">
            <a:spAutoFit/>
          </a:bodyPr>
          <a:lstStyle/>
          <a:p>
            <a:pPr algn="l">
              <a:lnSpc>
                <a:spcPct val="105000"/>
              </a:lnSpc>
            </a:pPr>
            <a:r>
              <a:rPr sz="822">
                <a:solidFill>
                  <a:srgbClr val="263442"/>
                </a:solidFill>
                <a:latin typeface="Arial"/>
              </a:rPr>
              <a:t>Find: locate ligand regions</a:t>
            </a:r>
          </a:p>
        </p:txBody>
      </p:sp>
      <p:sp>
        <p:nvSpPr>
          <p:cNvPr id="9" name="TextBox 6">
            <a:extLst>
              <a:ext uri="{FF2B5EF4-FFF2-40B4-BE49-F238E27FC236}">
                <a16:creationId xmlns:a16="http://schemas.microsoft.com/office/drawing/2014/main" id="{F3FF857A-DE19-FC06-9455-89983F39C003}"/>
              </a:ext>
            </a:extLst>
          </p:cNvPr>
          <p:cNvSpPr txBox="1"/>
          <p:nvPr/>
        </p:nvSpPr>
        <p:spPr>
          <a:xfrm>
            <a:off x="519056" y="1909702"/>
            <a:ext cx="174028" cy="149656"/>
          </a:xfrm>
          <a:prstGeom prst="rect">
            <a:avLst/>
          </a:prstGeom>
          <a:noFill/>
        </p:spPr>
        <p:txBody>
          <a:bodyPr wrap="square" lIns="0" tIns="0" rIns="0" bIns="0" anchor="ctr">
            <a:spAutoFit/>
          </a:bodyPr>
          <a:lstStyle/>
          <a:p>
            <a:pPr>
              <a:lnSpc>
                <a:spcPct val="105000"/>
              </a:lnSpc>
            </a:pPr>
            <a:r>
              <a:rPr sz="995" b="1" dirty="0">
                <a:solidFill>
                  <a:srgbClr val="263442"/>
                </a:solidFill>
                <a:latin typeface="Arial"/>
              </a:rPr>
              <a:t>b</a:t>
            </a:r>
          </a:p>
        </p:txBody>
      </p:sp>
      <p:sp>
        <p:nvSpPr>
          <p:cNvPr id="10" name="TextBox 7">
            <a:extLst>
              <a:ext uri="{FF2B5EF4-FFF2-40B4-BE49-F238E27FC236}">
                <a16:creationId xmlns:a16="http://schemas.microsoft.com/office/drawing/2014/main" id="{70ECA487-21BB-6209-C18F-3026009B4E59}"/>
              </a:ext>
            </a:extLst>
          </p:cNvPr>
          <p:cNvSpPr txBox="1"/>
          <p:nvPr/>
        </p:nvSpPr>
        <p:spPr>
          <a:xfrm>
            <a:off x="677200" y="1931954"/>
            <a:ext cx="2847735" cy="123624"/>
          </a:xfrm>
          <a:prstGeom prst="rect">
            <a:avLst/>
          </a:prstGeom>
          <a:noFill/>
        </p:spPr>
        <p:txBody>
          <a:bodyPr wrap="square" lIns="0" tIns="0" rIns="0" bIns="0" anchor="ctr">
            <a:spAutoFit/>
          </a:bodyPr>
          <a:lstStyle/>
          <a:p>
            <a:pPr algn="l">
              <a:lnSpc>
                <a:spcPct val="105000"/>
              </a:lnSpc>
            </a:pPr>
            <a:r>
              <a:rPr sz="822" dirty="0">
                <a:solidFill>
                  <a:srgbClr val="263442"/>
                </a:solidFill>
                <a:latin typeface="Arial"/>
              </a:rPr>
              <a:t>Match: candidate-to-identity assignment</a:t>
            </a:r>
          </a:p>
        </p:txBody>
      </p:sp>
      <p:sp>
        <p:nvSpPr>
          <p:cNvPr id="11" name="TextBox 8">
            <a:extLst>
              <a:ext uri="{FF2B5EF4-FFF2-40B4-BE49-F238E27FC236}">
                <a16:creationId xmlns:a16="http://schemas.microsoft.com/office/drawing/2014/main" id="{C99C17F0-6544-6BC0-1417-555389742DB7}"/>
              </a:ext>
            </a:extLst>
          </p:cNvPr>
          <p:cNvSpPr txBox="1"/>
          <p:nvPr/>
        </p:nvSpPr>
        <p:spPr>
          <a:xfrm>
            <a:off x="4902380" y="107125"/>
            <a:ext cx="174028" cy="149656"/>
          </a:xfrm>
          <a:prstGeom prst="rect">
            <a:avLst/>
          </a:prstGeom>
          <a:noFill/>
        </p:spPr>
        <p:txBody>
          <a:bodyPr wrap="square" lIns="0" tIns="0" rIns="0" bIns="0" anchor="ctr">
            <a:spAutoFit/>
          </a:bodyPr>
          <a:lstStyle/>
          <a:p>
            <a:pPr algn="l">
              <a:lnSpc>
                <a:spcPct val="105000"/>
              </a:lnSpc>
            </a:pPr>
            <a:r>
              <a:rPr sz="995" b="1" dirty="0">
                <a:solidFill>
                  <a:srgbClr val="263442"/>
                </a:solidFill>
                <a:latin typeface="Arial"/>
              </a:rPr>
              <a:t>c</a:t>
            </a:r>
          </a:p>
        </p:txBody>
      </p:sp>
      <p:sp>
        <p:nvSpPr>
          <p:cNvPr id="12" name="TextBox 9">
            <a:extLst>
              <a:ext uri="{FF2B5EF4-FFF2-40B4-BE49-F238E27FC236}">
                <a16:creationId xmlns:a16="http://schemas.microsoft.com/office/drawing/2014/main" id="{7A43A7E7-A060-03F0-5B05-9A1425584A88}"/>
              </a:ext>
            </a:extLst>
          </p:cNvPr>
          <p:cNvSpPr txBox="1"/>
          <p:nvPr/>
        </p:nvSpPr>
        <p:spPr>
          <a:xfrm>
            <a:off x="5060587" y="120126"/>
            <a:ext cx="1202377" cy="239809"/>
          </a:xfrm>
          <a:prstGeom prst="rect">
            <a:avLst/>
          </a:prstGeom>
          <a:noFill/>
        </p:spPr>
        <p:txBody>
          <a:bodyPr wrap="square" lIns="0" tIns="0" rIns="0" bIns="0" anchor="ctr">
            <a:spAutoFit/>
          </a:bodyPr>
          <a:lstStyle/>
          <a:p>
            <a:pPr algn="l">
              <a:lnSpc>
                <a:spcPct val="98000"/>
              </a:lnSpc>
            </a:pPr>
            <a:r>
              <a:rPr sz="795" dirty="0">
                <a:solidFill>
                  <a:srgbClr val="263442"/>
                </a:solidFill>
                <a:latin typeface="Arial"/>
              </a:rPr>
              <a:t>Build: downstream</a:t>
            </a:r>
          </a:p>
          <a:p>
            <a:pPr algn="l">
              <a:lnSpc>
                <a:spcPct val="98000"/>
              </a:lnSpc>
            </a:pPr>
            <a:r>
              <a:rPr sz="795" dirty="0">
                <a:solidFill>
                  <a:srgbClr val="263442"/>
                </a:solidFill>
                <a:latin typeface="Arial"/>
              </a:rPr>
              <a:t>pose reconstruction</a:t>
            </a:r>
          </a:p>
        </p:txBody>
      </p:sp>
      <p:sp>
        <p:nvSpPr>
          <p:cNvPr id="13" name="Find | Density card">
            <a:extLst>
              <a:ext uri="{FF2B5EF4-FFF2-40B4-BE49-F238E27FC236}">
                <a16:creationId xmlns:a16="http://schemas.microsoft.com/office/drawing/2014/main" id="{CAB7453E-57E4-6069-E17B-BEBD584DE9C5}"/>
              </a:ext>
            </a:extLst>
          </p:cNvPr>
          <p:cNvSpPr/>
          <p:nvPr/>
        </p:nvSpPr>
        <p:spPr>
          <a:xfrm>
            <a:off x="570715" y="284774"/>
            <a:ext cx="488504" cy="680292"/>
          </a:xfrm>
          <a:prstGeom prst="roundRect">
            <a:avLst>
              <a:gd name="adj" fmla="val 6000"/>
            </a:avLst>
          </a:prstGeom>
          <a:solidFill>
            <a:srgbClr val="FFFFFF"/>
          </a:solidFill>
          <a:ln w="7290">
            <a:solidFill>
              <a:srgbClr val="CBD6E2"/>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14" name="TextBox 11">
            <a:extLst>
              <a:ext uri="{FF2B5EF4-FFF2-40B4-BE49-F238E27FC236}">
                <a16:creationId xmlns:a16="http://schemas.microsoft.com/office/drawing/2014/main" id="{E13F9DB9-2915-4D37-1A15-4DD879957FE6}"/>
              </a:ext>
            </a:extLst>
          </p:cNvPr>
          <p:cNvSpPr txBox="1"/>
          <p:nvPr/>
        </p:nvSpPr>
        <p:spPr>
          <a:xfrm>
            <a:off x="490790" y="318294"/>
            <a:ext cx="664471" cy="101503"/>
          </a:xfrm>
          <a:prstGeom prst="rect">
            <a:avLst/>
          </a:prstGeom>
          <a:noFill/>
        </p:spPr>
        <p:txBody>
          <a:bodyPr wrap="square" lIns="0" tIns="0" rIns="0" bIns="0" anchor="ctr">
            <a:spAutoFit/>
          </a:bodyPr>
          <a:lstStyle/>
          <a:p>
            <a:pPr algn="ctr">
              <a:lnSpc>
                <a:spcPct val="105000"/>
              </a:lnSpc>
            </a:pPr>
            <a:r>
              <a:rPr sz="675" dirty="0">
                <a:solidFill>
                  <a:srgbClr val="263442"/>
                </a:solidFill>
                <a:latin typeface="Arial"/>
              </a:rPr>
              <a:t>Density</a:t>
            </a:r>
          </a:p>
        </p:txBody>
      </p:sp>
      <p:sp>
        <p:nvSpPr>
          <p:cNvPr id="235" name="Find | Receptor card">
            <a:extLst>
              <a:ext uri="{FF2B5EF4-FFF2-40B4-BE49-F238E27FC236}">
                <a16:creationId xmlns:a16="http://schemas.microsoft.com/office/drawing/2014/main" id="{C39711EA-1578-1FDC-F7E5-415822DEC84F}"/>
              </a:ext>
            </a:extLst>
          </p:cNvPr>
          <p:cNvSpPr/>
          <p:nvPr/>
        </p:nvSpPr>
        <p:spPr>
          <a:xfrm>
            <a:off x="570714" y="1028349"/>
            <a:ext cx="489611" cy="727754"/>
          </a:xfrm>
          <a:prstGeom prst="roundRect">
            <a:avLst>
              <a:gd name="adj" fmla="val 6000"/>
            </a:avLst>
          </a:prstGeom>
          <a:solidFill>
            <a:srgbClr val="FFFFFF"/>
          </a:solidFill>
          <a:ln w="7290">
            <a:solidFill>
              <a:srgbClr val="CBD6E2"/>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236" name="TextBox 6212">
            <a:extLst>
              <a:ext uri="{FF2B5EF4-FFF2-40B4-BE49-F238E27FC236}">
                <a16:creationId xmlns:a16="http://schemas.microsoft.com/office/drawing/2014/main" id="{4566817F-CA11-3CA5-4ED5-534E4B65A1C1}"/>
              </a:ext>
            </a:extLst>
          </p:cNvPr>
          <p:cNvSpPr txBox="1"/>
          <p:nvPr/>
        </p:nvSpPr>
        <p:spPr>
          <a:xfrm>
            <a:off x="464564" y="1053973"/>
            <a:ext cx="664471" cy="101503"/>
          </a:xfrm>
          <a:prstGeom prst="rect">
            <a:avLst/>
          </a:prstGeom>
          <a:noFill/>
        </p:spPr>
        <p:txBody>
          <a:bodyPr wrap="square" lIns="0" tIns="0" rIns="0" bIns="0" anchor="ctr">
            <a:spAutoFit/>
          </a:bodyPr>
          <a:lstStyle/>
          <a:p>
            <a:pPr algn="ctr">
              <a:lnSpc>
                <a:spcPct val="105000"/>
              </a:lnSpc>
            </a:pPr>
            <a:r>
              <a:rPr sz="675" dirty="0">
                <a:solidFill>
                  <a:srgbClr val="263442"/>
                </a:solidFill>
                <a:latin typeface="Arial"/>
              </a:rPr>
              <a:t>Receptor</a:t>
            </a:r>
          </a:p>
        </p:txBody>
      </p:sp>
      <p:sp>
        <p:nvSpPr>
          <p:cNvPr id="237" name="Find | 3D voxel U-Net box">
            <a:extLst>
              <a:ext uri="{FF2B5EF4-FFF2-40B4-BE49-F238E27FC236}">
                <a16:creationId xmlns:a16="http://schemas.microsoft.com/office/drawing/2014/main" id="{84C31B5C-DB46-3102-A094-A625CBC3795B}"/>
              </a:ext>
            </a:extLst>
          </p:cNvPr>
          <p:cNvSpPr/>
          <p:nvPr/>
        </p:nvSpPr>
        <p:spPr>
          <a:xfrm>
            <a:off x="1962711" y="284774"/>
            <a:ext cx="2183263" cy="743575"/>
          </a:xfrm>
          <a:prstGeom prst="roundRect">
            <a:avLst>
              <a:gd name="adj" fmla="val 5000"/>
            </a:avLst>
          </a:prstGeom>
          <a:solidFill>
            <a:srgbClr val="EDF3FA"/>
          </a:solidFill>
          <a:ln w="7290">
            <a:solidFill>
              <a:srgbClr val="C3D4E6"/>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238" name="TextBox 6223">
            <a:extLst>
              <a:ext uri="{FF2B5EF4-FFF2-40B4-BE49-F238E27FC236}">
                <a16:creationId xmlns:a16="http://schemas.microsoft.com/office/drawing/2014/main" id="{D0BEE622-6A06-FAEC-A1B9-E12DAFA59B95}"/>
              </a:ext>
            </a:extLst>
          </p:cNvPr>
          <p:cNvSpPr txBox="1"/>
          <p:nvPr/>
        </p:nvSpPr>
        <p:spPr>
          <a:xfrm>
            <a:off x="1962711" y="310561"/>
            <a:ext cx="2183263" cy="106632"/>
          </a:xfrm>
          <a:prstGeom prst="rect">
            <a:avLst/>
          </a:prstGeom>
          <a:noFill/>
        </p:spPr>
        <p:txBody>
          <a:bodyPr wrap="square" lIns="0" tIns="0" rIns="0" bIns="0" anchor="ctr">
            <a:spAutoFit/>
          </a:bodyPr>
          <a:lstStyle/>
          <a:p>
            <a:pPr algn="ctr">
              <a:lnSpc>
                <a:spcPct val="105000"/>
              </a:lnSpc>
            </a:pPr>
            <a:r>
              <a:rPr sz="709">
                <a:solidFill>
                  <a:srgbClr val="263442"/>
                </a:solidFill>
                <a:latin typeface="Arial"/>
              </a:rPr>
              <a:t>3D voxel U-Net</a:t>
            </a:r>
          </a:p>
        </p:txBody>
      </p:sp>
      <p:sp>
        <p:nvSpPr>
          <p:cNvPr id="239" name="TextBox 6224">
            <a:extLst>
              <a:ext uri="{FF2B5EF4-FFF2-40B4-BE49-F238E27FC236}">
                <a16:creationId xmlns:a16="http://schemas.microsoft.com/office/drawing/2014/main" id="{6162AD09-868A-9802-DD3F-493AE18E658B}"/>
              </a:ext>
            </a:extLst>
          </p:cNvPr>
          <p:cNvSpPr txBox="1"/>
          <p:nvPr/>
        </p:nvSpPr>
        <p:spPr>
          <a:xfrm>
            <a:off x="1962566" y="415407"/>
            <a:ext cx="2183414" cy="84510"/>
          </a:xfrm>
          <a:prstGeom prst="rect">
            <a:avLst/>
          </a:prstGeom>
          <a:noFill/>
        </p:spPr>
        <p:txBody>
          <a:bodyPr wrap="square" lIns="0" tIns="0" rIns="0" bIns="0" anchor="ctr">
            <a:spAutoFit/>
          </a:bodyPr>
          <a:lstStyle/>
          <a:p>
            <a:pPr algn="ctr">
              <a:lnSpc>
                <a:spcPct val="105000"/>
              </a:lnSpc>
            </a:pPr>
            <a:r>
              <a:rPr sz="562" i="1" dirty="0">
                <a:solidFill>
                  <a:srgbClr val="263442"/>
                </a:solidFill>
                <a:latin typeface="Arial"/>
              </a:rPr>
              <a:t>Skip connections</a:t>
            </a:r>
          </a:p>
        </p:txBody>
      </p:sp>
      <p:sp>
        <p:nvSpPr>
          <p:cNvPr id="240" name="TextBox 10003">
            <a:extLst>
              <a:ext uri="{FF2B5EF4-FFF2-40B4-BE49-F238E27FC236}">
                <a16:creationId xmlns:a16="http://schemas.microsoft.com/office/drawing/2014/main" id="{09C48FDC-7786-8263-4A08-E75021FC8287}"/>
              </a:ext>
            </a:extLst>
          </p:cNvPr>
          <p:cNvSpPr txBox="1"/>
          <p:nvPr/>
        </p:nvSpPr>
        <p:spPr>
          <a:xfrm>
            <a:off x="2128828" y="905035"/>
            <a:ext cx="553726" cy="88422"/>
          </a:xfrm>
          <a:prstGeom prst="rect">
            <a:avLst/>
          </a:prstGeom>
          <a:noFill/>
        </p:spPr>
        <p:txBody>
          <a:bodyPr wrap="square" lIns="0" tIns="0" rIns="0" bIns="0" anchor="ctr">
            <a:spAutoFit/>
          </a:bodyPr>
          <a:lstStyle/>
          <a:p>
            <a:pPr algn="ctr">
              <a:lnSpc>
                <a:spcPct val="105000"/>
              </a:lnSpc>
            </a:pPr>
            <a:r>
              <a:rPr sz="588">
                <a:solidFill>
                  <a:srgbClr val="263442"/>
                </a:solidFill>
                <a:latin typeface="Arial"/>
              </a:rPr>
              <a:t>Encoder</a:t>
            </a:r>
          </a:p>
        </p:txBody>
      </p:sp>
      <p:sp>
        <p:nvSpPr>
          <p:cNvPr id="241" name="TextBox 10004">
            <a:extLst>
              <a:ext uri="{FF2B5EF4-FFF2-40B4-BE49-F238E27FC236}">
                <a16:creationId xmlns:a16="http://schemas.microsoft.com/office/drawing/2014/main" id="{5D7C6AF6-28C5-C78C-2A6D-53148E9C5409}"/>
              </a:ext>
            </a:extLst>
          </p:cNvPr>
          <p:cNvSpPr txBox="1"/>
          <p:nvPr/>
        </p:nvSpPr>
        <p:spPr>
          <a:xfrm>
            <a:off x="2777479" y="905035"/>
            <a:ext cx="553726" cy="88422"/>
          </a:xfrm>
          <a:prstGeom prst="rect">
            <a:avLst/>
          </a:prstGeom>
          <a:noFill/>
        </p:spPr>
        <p:txBody>
          <a:bodyPr wrap="square" lIns="0" tIns="0" rIns="0" bIns="0" anchor="ctr">
            <a:spAutoFit/>
          </a:bodyPr>
          <a:lstStyle/>
          <a:p>
            <a:pPr algn="ctr">
              <a:lnSpc>
                <a:spcPct val="105000"/>
              </a:lnSpc>
            </a:pPr>
            <a:r>
              <a:rPr sz="588">
                <a:solidFill>
                  <a:srgbClr val="263442"/>
                </a:solidFill>
                <a:latin typeface="Arial"/>
              </a:rPr>
              <a:t>Bottleneck</a:t>
            </a:r>
          </a:p>
        </p:txBody>
      </p:sp>
      <p:sp>
        <p:nvSpPr>
          <p:cNvPr id="242" name="TextBox 10005">
            <a:extLst>
              <a:ext uri="{FF2B5EF4-FFF2-40B4-BE49-F238E27FC236}">
                <a16:creationId xmlns:a16="http://schemas.microsoft.com/office/drawing/2014/main" id="{7CC49EB1-DBD1-A7E7-516D-CECCC1D041F1}"/>
              </a:ext>
            </a:extLst>
          </p:cNvPr>
          <p:cNvSpPr txBox="1"/>
          <p:nvPr/>
        </p:nvSpPr>
        <p:spPr>
          <a:xfrm>
            <a:off x="3426130" y="905035"/>
            <a:ext cx="553726" cy="88422"/>
          </a:xfrm>
          <a:prstGeom prst="rect">
            <a:avLst/>
          </a:prstGeom>
          <a:noFill/>
        </p:spPr>
        <p:txBody>
          <a:bodyPr wrap="square" lIns="0" tIns="0" rIns="0" bIns="0" anchor="ctr">
            <a:spAutoFit/>
          </a:bodyPr>
          <a:lstStyle/>
          <a:p>
            <a:pPr algn="ctr">
              <a:lnSpc>
                <a:spcPct val="105000"/>
              </a:lnSpc>
            </a:pPr>
            <a:r>
              <a:rPr sz="588">
                <a:solidFill>
                  <a:srgbClr val="263442"/>
                </a:solidFill>
                <a:latin typeface="Arial"/>
              </a:rPr>
              <a:t>Decoder</a:t>
            </a:r>
          </a:p>
        </p:txBody>
      </p:sp>
      <p:sp>
        <p:nvSpPr>
          <p:cNvPr id="243" name="Find | Point Transformer V3 box">
            <a:extLst>
              <a:ext uri="{FF2B5EF4-FFF2-40B4-BE49-F238E27FC236}">
                <a16:creationId xmlns:a16="http://schemas.microsoft.com/office/drawing/2014/main" id="{E6BB0EBE-E97F-0460-89AE-378626BAD4D7}"/>
              </a:ext>
            </a:extLst>
          </p:cNvPr>
          <p:cNvSpPr/>
          <p:nvPr/>
        </p:nvSpPr>
        <p:spPr>
          <a:xfrm>
            <a:off x="1962711" y="1170736"/>
            <a:ext cx="2183263" cy="585368"/>
          </a:xfrm>
          <a:prstGeom prst="roundRect">
            <a:avLst>
              <a:gd name="adj" fmla="val 5000"/>
            </a:avLst>
          </a:prstGeom>
          <a:solidFill>
            <a:srgbClr val="EDF3FA"/>
          </a:solidFill>
          <a:ln w="7290">
            <a:solidFill>
              <a:srgbClr val="C3D4E6"/>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dirty="0"/>
          </a:p>
        </p:txBody>
      </p:sp>
      <p:grpSp>
        <p:nvGrpSpPr>
          <p:cNvPr id="244" name="Find | PTV3 stage 1 (no pseudo)">
            <a:extLst>
              <a:ext uri="{FF2B5EF4-FFF2-40B4-BE49-F238E27FC236}">
                <a16:creationId xmlns:a16="http://schemas.microsoft.com/office/drawing/2014/main" id="{B4F71929-AC06-8CA3-B3DD-0D60585A9033}"/>
              </a:ext>
            </a:extLst>
          </p:cNvPr>
          <p:cNvGrpSpPr/>
          <p:nvPr/>
        </p:nvGrpSpPr>
        <p:grpSpPr>
          <a:xfrm>
            <a:off x="2053680" y="1222153"/>
            <a:ext cx="276863" cy="197759"/>
            <a:chOff x="1837958" y="1438830"/>
            <a:chExt cx="279225" cy="243090"/>
          </a:xfrm>
        </p:grpSpPr>
        <p:sp>
          <p:nvSpPr>
            <p:cNvPr id="245" name="rect_1844">
              <a:extLst>
                <a:ext uri="{FF2B5EF4-FFF2-40B4-BE49-F238E27FC236}">
                  <a16:creationId xmlns:a16="http://schemas.microsoft.com/office/drawing/2014/main" id="{660AA888-4092-6DA6-78D3-4B888E2B2DA3}"/>
                </a:ext>
              </a:extLst>
            </p:cNvPr>
            <p:cNvSpPr/>
            <p:nvPr/>
          </p:nvSpPr>
          <p:spPr>
            <a:xfrm>
              <a:off x="1837958" y="1438830"/>
              <a:ext cx="279225" cy="243090"/>
            </a:xfrm>
            <a:prstGeom prst="roundRect">
              <a:avLst>
                <a:gd name="adj" fmla="val 6757"/>
              </a:avLst>
            </a:prstGeom>
            <a:solidFill>
              <a:srgbClr val="F8F5FC"/>
            </a:solidFill>
            <a:ln w="2540" cap="rnd" cmpd="sng" algn="ctr">
              <a:solidFill>
                <a:srgbClr val="C3D4E6"/>
              </a:solidFill>
              <a:prstDash val="solid"/>
              <a:round/>
              <a:headEnd type="none" w="med" len="med"/>
              <a:tailEnd type="none" w="med" len="med"/>
            </a:ln>
            <a:effectLst/>
          </p:spPr>
        </p:sp>
        <p:sp>
          <p:nvSpPr>
            <p:cNvPr id="246" name="ellipse_1845">
              <a:extLst>
                <a:ext uri="{FF2B5EF4-FFF2-40B4-BE49-F238E27FC236}">
                  <a16:creationId xmlns:a16="http://schemas.microsoft.com/office/drawing/2014/main" id="{8ED69D04-8A29-A5B5-FEDE-87DBF5A86A21}"/>
                </a:ext>
              </a:extLst>
            </p:cNvPr>
            <p:cNvSpPr/>
            <p:nvPr/>
          </p:nvSpPr>
          <p:spPr>
            <a:xfrm>
              <a:off x="1911179" y="1549889"/>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47" name="ellipse_1846">
              <a:extLst>
                <a:ext uri="{FF2B5EF4-FFF2-40B4-BE49-F238E27FC236}">
                  <a16:creationId xmlns:a16="http://schemas.microsoft.com/office/drawing/2014/main" id="{2F757B70-05BB-1D52-EAD7-99F943EE0786}"/>
                </a:ext>
              </a:extLst>
            </p:cNvPr>
            <p:cNvSpPr/>
            <p:nvPr/>
          </p:nvSpPr>
          <p:spPr>
            <a:xfrm>
              <a:off x="2016057" y="1569177"/>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48" name="ellipse_1847">
              <a:extLst>
                <a:ext uri="{FF2B5EF4-FFF2-40B4-BE49-F238E27FC236}">
                  <a16:creationId xmlns:a16="http://schemas.microsoft.com/office/drawing/2014/main" id="{33900347-5FB5-F6C0-81F6-93C079B537C5}"/>
                </a:ext>
              </a:extLst>
            </p:cNvPr>
            <p:cNvSpPr/>
            <p:nvPr/>
          </p:nvSpPr>
          <p:spPr>
            <a:xfrm>
              <a:off x="1901005" y="1463226"/>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49" name="ellipse_1848">
              <a:extLst>
                <a:ext uri="{FF2B5EF4-FFF2-40B4-BE49-F238E27FC236}">
                  <a16:creationId xmlns:a16="http://schemas.microsoft.com/office/drawing/2014/main" id="{D9E3B372-BB0F-C9A4-3974-A8E7AF7737B7}"/>
                </a:ext>
              </a:extLst>
            </p:cNvPr>
            <p:cNvSpPr/>
            <p:nvPr/>
          </p:nvSpPr>
          <p:spPr>
            <a:xfrm>
              <a:off x="1966917" y="1491223"/>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50" name="ellipse_1849">
              <a:extLst>
                <a:ext uri="{FF2B5EF4-FFF2-40B4-BE49-F238E27FC236}">
                  <a16:creationId xmlns:a16="http://schemas.microsoft.com/office/drawing/2014/main" id="{65731899-DB97-2E91-5665-E8C978110F71}"/>
                </a:ext>
              </a:extLst>
            </p:cNvPr>
            <p:cNvSpPr/>
            <p:nvPr/>
          </p:nvSpPr>
          <p:spPr>
            <a:xfrm>
              <a:off x="1981202" y="1461977"/>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51" name="ellipse_1850">
              <a:extLst>
                <a:ext uri="{FF2B5EF4-FFF2-40B4-BE49-F238E27FC236}">
                  <a16:creationId xmlns:a16="http://schemas.microsoft.com/office/drawing/2014/main" id="{FB870BF7-7DC4-B374-8AD0-46EC506BB29E}"/>
                </a:ext>
              </a:extLst>
            </p:cNvPr>
            <p:cNvSpPr/>
            <p:nvPr/>
          </p:nvSpPr>
          <p:spPr>
            <a:xfrm>
              <a:off x="2025801" y="1522781"/>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52" name="ellipse_1851">
              <a:extLst>
                <a:ext uri="{FF2B5EF4-FFF2-40B4-BE49-F238E27FC236}">
                  <a16:creationId xmlns:a16="http://schemas.microsoft.com/office/drawing/2014/main" id="{FB5210B2-4DAF-5841-3925-445BB6BA8E65}"/>
                </a:ext>
              </a:extLst>
            </p:cNvPr>
            <p:cNvSpPr/>
            <p:nvPr/>
          </p:nvSpPr>
          <p:spPr>
            <a:xfrm>
              <a:off x="1923657" y="1574090"/>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53" name="ellipse_1852">
              <a:extLst>
                <a:ext uri="{FF2B5EF4-FFF2-40B4-BE49-F238E27FC236}">
                  <a16:creationId xmlns:a16="http://schemas.microsoft.com/office/drawing/2014/main" id="{5E297BB0-4B0B-7393-6335-0A8D413997FE}"/>
                </a:ext>
              </a:extLst>
            </p:cNvPr>
            <p:cNvSpPr/>
            <p:nvPr/>
          </p:nvSpPr>
          <p:spPr>
            <a:xfrm>
              <a:off x="2046951" y="1492683"/>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54" name="ellipse_1853">
              <a:extLst>
                <a:ext uri="{FF2B5EF4-FFF2-40B4-BE49-F238E27FC236}">
                  <a16:creationId xmlns:a16="http://schemas.microsoft.com/office/drawing/2014/main" id="{3460EDB7-F270-4A51-230E-76F07C518E5B}"/>
                </a:ext>
              </a:extLst>
            </p:cNvPr>
            <p:cNvSpPr/>
            <p:nvPr/>
          </p:nvSpPr>
          <p:spPr>
            <a:xfrm>
              <a:off x="1971403" y="1621226"/>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55" name="ellipse_1854">
              <a:extLst>
                <a:ext uri="{FF2B5EF4-FFF2-40B4-BE49-F238E27FC236}">
                  <a16:creationId xmlns:a16="http://schemas.microsoft.com/office/drawing/2014/main" id="{D7F22E2B-29AF-AAFC-9390-4763B76AC824}"/>
                </a:ext>
              </a:extLst>
            </p:cNvPr>
            <p:cNvSpPr/>
            <p:nvPr/>
          </p:nvSpPr>
          <p:spPr>
            <a:xfrm>
              <a:off x="1916632" y="1483703"/>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grpSp>
      <p:grpSp>
        <p:nvGrpSpPr>
          <p:cNvPr id="256" name="Find | PTV3 stage 2 (no pseudo)">
            <a:extLst>
              <a:ext uri="{FF2B5EF4-FFF2-40B4-BE49-F238E27FC236}">
                <a16:creationId xmlns:a16="http://schemas.microsoft.com/office/drawing/2014/main" id="{F4A044B8-F6CD-9A28-3075-23E9F1427BD6}"/>
              </a:ext>
            </a:extLst>
          </p:cNvPr>
          <p:cNvGrpSpPr/>
          <p:nvPr/>
        </p:nvGrpSpPr>
        <p:grpSpPr>
          <a:xfrm>
            <a:off x="2484443" y="1218198"/>
            <a:ext cx="269656" cy="205670"/>
            <a:chOff x="2276505" y="1465110"/>
            <a:chExt cx="243090" cy="190530"/>
          </a:xfrm>
        </p:grpSpPr>
        <p:sp>
          <p:nvSpPr>
            <p:cNvPr id="257" name="rect_1860">
              <a:extLst>
                <a:ext uri="{FF2B5EF4-FFF2-40B4-BE49-F238E27FC236}">
                  <a16:creationId xmlns:a16="http://schemas.microsoft.com/office/drawing/2014/main" id="{2A2BC9FE-9931-3C68-E213-012D2334D100}"/>
                </a:ext>
              </a:extLst>
            </p:cNvPr>
            <p:cNvSpPr/>
            <p:nvPr/>
          </p:nvSpPr>
          <p:spPr>
            <a:xfrm>
              <a:off x="2276505" y="1465110"/>
              <a:ext cx="243090" cy="190530"/>
            </a:xfrm>
            <a:prstGeom prst="roundRect">
              <a:avLst>
                <a:gd name="adj" fmla="val 8621"/>
              </a:avLst>
            </a:prstGeom>
            <a:solidFill>
              <a:srgbClr val="F8F5FC"/>
            </a:solidFill>
            <a:ln w="2540" cap="rnd" cmpd="sng" algn="ctr">
              <a:solidFill>
                <a:srgbClr val="C3D4E6"/>
              </a:solidFill>
              <a:prstDash val="solid"/>
              <a:round/>
              <a:headEnd type="none" w="med" len="med"/>
              <a:tailEnd type="none" w="med" len="med"/>
            </a:ln>
            <a:effectLst/>
          </p:spPr>
        </p:sp>
        <p:sp>
          <p:nvSpPr>
            <p:cNvPr id="258" name="ellipse_1861">
              <a:extLst>
                <a:ext uri="{FF2B5EF4-FFF2-40B4-BE49-F238E27FC236}">
                  <a16:creationId xmlns:a16="http://schemas.microsoft.com/office/drawing/2014/main" id="{0D3FC1DA-E4D9-46A0-549F-86D3BA55D6FD}"/>
                </a:ext>
              </a:extLst>
            </p:cNvPr>
            <p:cNvSpPr/>
            <p:nvPr/>
          </p:nvSpPr>
          <p:spPr>
            <a:xfrm>
              <a:off x="2443383" y="1475381"/>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59" name="ellipse_1862">
              <a:extLst>
                <a:ext uri="{FF2B5EF4-FFF2-40B4-BE49-F238E27FC236}">
                  <a16:creationId xmlns:a16="http://schemas.microsoft.com/office/drawing/2014/main" id="{2E76A36E-124A-FF28-5F0C-9D8A556CAB6E}"/>
                </a:ext>
              </a:extLst>
            </p:cNvPr>
            <p:cNvSpPr/>
            <p:nvPr/>
          </p:nvSpPr>
          <p:spPr>
            <a:xfrm>
              <a:off x="2334302" y="1490546"/>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60" name="ellipse_1863">
              <a:extLst>
                <a:ext uri="{FF2B5EF4-FFF2-40B4-BE49-F238E27FC236}">
                  <a16:creationId xmlns:a16="http://schemas.microsoft.com/office/drawing/2014/main" id="{D535EE24-6485-F339-2CB7-F9EF085CB943}"/>
                </a:ext>
              </a:extLst>
            </p:cNvPr>
            <p:cNvSpPr/>
            <p:nvPr/>
          </p:nvSpPr>
          <p:spPr>
            <a:xfrm>
              <a:off x="2421391" y="1518211"/>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61" name="ellipse_1864">
              <a:extLst>
                <a:ext uri="{FF2B5EF4-FFF2-40B4-BE49-F238E27FC236}">
                  <a16:creationId xmlns:a16="http://schemas.microsoft.com/office/drawing/2014/main" id="{3E3B8E8E-0D51-B463-1AC5-8ABBD0D94E5F}"/>
                </a:ext>
              </a:extLst>
            </p:cNvPr>
            <p:cNvSpPr/>
            <p:nvPr/>
          </p:nvSpPr>
          <p:spPr>
            <a:xfrm>
              <a:off x="2395798" y="1481756"/>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62" name="ellipse_1865">
              <a:extLst>
                <a:ext uri="{FF2B5EF4-FFF2-40B4-BE49-F238E27FC236}">
                  <a16:creationId xmlns:a16="http://schemas.microsoft.com/office/drawing/2014/main" id="{A78CC97C-CF00-B4B4-232A-6540F415567F}"/>
                </a:ext>
              </a:extLst>
            </p:cNvPr>
            <p:cNvSpPr/>
            <p:nvPr/>
          </p:nvSpPr>
          <p:spPr>
            <a:xfrm>
              <a:off x="2345071" y="1608888"/>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63" name="ellipse_1866">
              <a:extLst>
                <a:ext uri="{FF2B5EF4-FFF2-40B4-BE49-F238E27FC236}">
                  <a16:creationId xmlns:a16="http://schemas.microsoft.com/office/drawing/2014/main" id="{1C7DD56E-5535-8B2E-615C-21EEB3FC0B60}"/>
                </a:ext>
              </a:extLst>
            </p:cNvPr>
            <p:cNvSpPr/>
            <p:nvPr/>
          </p:nvSpPr>
          <p:spPr>
            <a:xfrm>
              <a:off x="2455927" y="1523542"/>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64" name="ellipse_1867">
              <a:extLst>
                <a:ext uri="{FF2B5EF4-FFF2-40B4-BE49-F238E27FC236}">
                  <a16:creationId xmlns:a16="http://schemas.microsoft.com/office/drawing/2014/main" id="{53E5DFEF-A738-E1E2-6D82-562898867479}"/>
                </a:ext>
              </a:extLst>
            </p:cNvPr>
            <p:cNvSpPr/>
            <p:nvPr/>
          </p:nvSpPr>
          <p:spPr>
            <a:xfrm>
              <a:off x="2415612" y="1538275"/>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65" name="ellipse_1868">
              <a:extLst>
                <a:ext uri="{FF2B5EF4-FFF2-40B4-BE49-F238E27FC236}">
                  <a16:creationId xmlns:a16="http://schemas.microsoft.com/office/drawing/2014/main" id="{9F15DB89-4578-E9D4-B66C-9772D337DE92}"/>
                </a:ext>
              </a:extLst>
            </p:cNvPr>
            <p:cNvSpPr/>
            <p:nvPr/>
          </p:nvSpPr>
          <p:spPr>
            <a:xfrm>
              <a:off x="2384162" y="1553850"/>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grpSp>
      <p:grpSp>
        <p:nvGrpSpPr>
          <p:cNvPr id="266" name="Find | PTV3 stage 3 (no pseudo)">
            <a:extLst>
              <a:ext uri="{FF2B5EF4-FFF2-40B4-BE49-F238E27FC236}">
                <a16:creationId xmlns:a16="http://schemas.microsoft.com/office/drawing/2014/main" id="{8E5AF76E-A5D2-A1C4-1196-A1FB989CBECC}"/>
              </a:ext>
            </a:extLst>
          </p:cNvPr>
          <p:cNvGrpSpPr/>
          <p:nvPr/>
        </p:nvGrpSpPr>
        <p:grpSpPr>
          <a:xfrm>
            <a:off x="2932283" y="1230063"/>
            <a:ext cx="244120" cy="181939"/>
            <a:chOff x="2703555" y="1491390"/>
            <a:chExt cx="190530" cy="137970"/>
          </a:xfrm>
        </p:grpSpPr>
        <p:sp>
          <p:nvSpPr>
            <p:cNvPr id="267" name="rect_1874">
              <a:extLst>
                <a:ext uri="{FF2B5EF4-FFF2-40B4-BE49-F238E27FC236}">
                  <a16:creationId xmlns:a16="http://schemas.microsoft.com/office/drawing/2014/main" id="{75101B77-5988-FEB7-22BD-46F0384ADBC8}"/>
                </a:ext>
              </a:extLst>
            </p:cNvPr>
            <p:cNvSpPr/>
            <p:nvPr/>
          </p:nvSpPr>
          <p:spPr>
            <a:xfrm>
              <a:off x="2703555" y="1491390"/>
              <a:ext cx="190530" cy="137970"/>
            </a:xfrm>
            <a:prstGeom prst="roundRect">
              <a:avLst>
                <a:gd name="adj" fmla="val 11905"/>
              </a:avLst>
            </a:prstGeom>
            <a:solidFill>
              <a:srgbClr val="F8F5FC"/>
            </a:solidFill>
            <a:ln w="2540" cap="rnd" cmpd="sng" algn="ctr">
              <a:solidFill>
                <a:srgbClr val="C3D4E6"/>
              </a:solidFill>
              <a:prstDash val="solid"/>
              <a:round/>
              <a:headEnd type="none" w="med" len="med"/>
              <a:tailEnd type="none" w="med" len="med"/>
            </a:ln>
            <a:effectLst/>
          </p:spPr>
        </p:sp>
        <p:sp>
          <p:nvSpPr>
            <p:cNvPr id="268" name="ellipse_1875">
              <a:extLst>
                <a:ext uri="{FF2B5EF4-FFF2-40B4-BE49-F238E27FC236}">
                  <a16:creationId xmlns:a16="http://schemas.microsoft.com/office/drawing/2014/main" id="{0F3768B9-45DC-D239-6ECE-6B199905A0E6}"/>
                </a:ext>
              </a:extLst>
            </p:cNvPr>
            <p:cNvSpPr/>
            <p:nvPr/>
          </p:nvSpPr>
          <p:spPr>
            <a:xfrm>
              <a:off x="2782342" y="1524860"/>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69" name="ellipse_1876">
              <a:extLst>
                <a:ext uri="{FF2B5EF4-FFF2-40B4-BE49-F238E27FC236}">
                  <a16:creationId xmlns:a16="http://schemas.microsoft.com/office/drawing/2014/main" id="{9AC2E9D9-EA81-CB60-9668-376E55C3B65A}"/>
                </a:ext>
              </a:extLst>
            </p:cNvPr>
            <p:cNvSpPr/>
            <p:nvPr/>
          </p:nvSpPr>
          <p:spPr>
            <a:xfrm>
              <a:off x="2750750" y="1594469"/>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70" name="ellipse_1877">
              <a:extLst>
                <a:ext uri="{FF2B5EF4-FFF2-40B4-BE49-F238E27FC236}">
                  <a16:creationId xmlns:a16="http://schemas.microsoft.com/office/drawing/2014/main" id="{193512C0-B984-BF26-53B2-A4C133832B19}"/>
                </a:ext>
              </a:extLst>
            </p:cNvPr>
            <p:cNvSpPr/>
            <p:nvPr/>
          </p:nvSpPr>
          <p:spPr>
            <a:xfrm>
              <a:off x="2743887" y="1497155"/>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71" name="ellipse_1878">
              <a:extLst>
                <a:ext uri="{FF2B5EF4-FFF2-40B4-BE49-F238E27FC236}">
                  <a16:creationId xmlns:a16="http://schemas.microsoft.com/office/drawing/2014/main" id="{010957FC-182F-1FF9-1554-385555C7E5BB}"/>
                </a:ext>
              </a:extLst>
            </p:cNvPr>
            <p:cNvSpPr/>
            <p:nvPr/>
          </p:nvSpPr>
          <p:spPr>
            <a:xfrm>
              <a:off x="2833390" y="1511327"/>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72" name="ellipse_1879">
              <a:extLst>
                <a:ext uri="{FF2B5EF4-FFF2-40B4-BE49-F238E27FC236}">
                  <a16:creationId xmlns:a16="http://schemas.microsoft.com/office/drawing/2014/main" id="{D3BED3D3-6945-FBFB-0ADC-29AB3D61D264}"/>
                </a:ext>
              </a:extLst>
            </p:cNvPr>
            <p:cNvSpPr/>
            <p:nvPr/>
          </p:nvSpPr>
          <p:spPr>
            <a:xfrm>
              <a:off x="2831792" y="1567728"/>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grpSp>
      <p:grpSp>
        <p:nvGrpSpPr>
          <p:cNvPr id="273" name="Find | PTV3 stage 4 (no pseudo)">
            <a:extLst>
              <a:ext uri="{FF2B5EF4-FFF2-40B4-BE49-F238E27FC236}">
                <a16:creationId xmlns:a16="http://schemas.microsoft.com/office/drawing/2014/main" id="{6152C243-7C11-72B4-655A-F6C20103F058}"/>
              </a:ext>
            </a:extLst>
          </p:cNvPr>
          <p:cNvGrpSpPr/>
          <p:nvPr/>
        </p:nvGrpSpPr>
        <p:grpSpPr>
          <a:xfrm>
            <a:off x="3354586" y="1218198"/>
            <a:ext cx="269656" cy="205670"/>
            <a:chOff x="3097755" y="1465110"/>
            <a:chExt cx="243090" cy="190530"/>
          </a:xfrm>
        </p:grpSpPr>
        <p:sp>
          <p:nvSpPr>
            <p:cNvPr id="274" name="rect_1885">
              <a:extLst>
                <a:ext uri="{FF2B5EF4-FFF2-40B4-BE49-F238E27FC236}">
                  <a16:creationId xmlns:a16="http://schemas.microsoft.com/office/drawing/2014/main" id="{02A84936-E0C4-22EE-AB39-B8147866C1E6}"/>
                </a:ext>
              </a:extLst>
            </p:cNvPr>
            <p:cNvSpPr/>
            <p:nvPr/>
          </p:nvSpPr>
          <p:spPr>
            <a:xfrm>
              <a:off x="3097755" y="1465110"/>
              <a:ext cx="243090" cy="190530"/>
            </a:xfrm>
            <a:prstGeom prst="roundRect">
              <a:avLst>
                <a:gd name="adj" fmla="val 8621"/>
              </a:avLst>
            </a:prstGeom>
            <a:solidFill>
              <a:srgbClr val="F8F5FC"/>
            </a:solidFill>
            <a:ln w="2540" cap="rnd" cmpd="sng" algn="ctr">
              <a:solidFill>
                <a:srgbClr val="C3D4E6"/>
              </a:solidFill>
              <a:prstDash val="solid"/>
              <a:round/>
              <a:headEnd type="none" w="med" len="med"/>
              <a:tailEnd type="none" w="med" len="med"/>
            </a:ln>
            <a:effectLst/>
          </p:spPr>
        </p:sp>
        <p:sp>
          <p:nvSpPr>
            <p:cNvPr id="275" name="ellipse_1886">
              <a:extLst>
                <a:ext uri="{FF2B5EF4-FFF2-40B4-BE49-F238E27FC236}">
                  <a16:creationId xmlns:a16="http://schemas.microsoft.com/office/drawing/2014/main" id="{28C5B77C-D4DA-25CA-7F5E-FFB406D4948B}"/>
                </a:ext>
              </a:extLst>
            </p:cNvPr>
            <p:cNvSpPr/>
            <p:nvPr/>
          </p:nvSpPr>
          <p:spPr>
            <a:xfrm>
              <a:off x="3274804" y="1547857"/>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76" name="ellipse_1887">
              <a:extLst>
                <a:ext uri="{FF2B5EF4-FFF2-40B4-BE49-F238E27FC236}">
                  <a16:creationId xmlns:a16="http://schemas.microsoft.com/office/drawing/2014/main" id="{4B9C2CC8-3618-CEA6-223F-481DE7645A74}"/>
                </a:ext>
              </a:extLst>
            </p:cNvPr>
            <p:cNvSpPr/>
            <p:nvPr/>
          </p:nvSpPr>
          <p:spPr>
            <a:xfrm>
              <a:off x="3235593" y="1568791"/>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77" name="ellipse_1888">
              <a:extLst>
                <a:ext uri="{FF2B5EF4-FFF2-40B4-BE49-F238E27FC236}">
                  <a16:creationId xmlns:a16="http://schemas.microsoft.com/office/drawing/2014/main" id="{116AA07D-1658-6583-2048-22DAA979C713}"/>
                </a:ext>
              </a:extLst>
            </p:cNvPr>
            <p:cNvSpPr/>
            <p:nvPr/>
          </p:nvSpPr>
          <p:spPr>
            <a:xfrm>
              <a:off x="3215524" y="1548395"/>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78" name="ellipse_1889">
              <a:extLst>
                <a:ext uri="{FF2B5EF4-FFF2-40B4-BE49-F238E27FC236}">
                  <a16:creationId xmlns:a16="http://schemas.microsoft.com/office/drawing/2014/main" id="{B9996B1C-4365-A5B2-A0FA-BEEE1AE3580D}"/>
                </a:ext>
              </a:extLst>
            </p:cNvPr>
            <p:cNvSpPr/>
            <p:nvPr/>
          </p:nvSpPr>
          <p:spPr>
            <a:xfrm>
              <a:off x="3114632" y="1579955"/>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79" name="ellipse_1890">
              <a:extLst>
                <a:ext uri="{FF2B5EF4-FFF2-40B4-BE49-F238E27FC236}">
                  <a16:creationId xmlns:a16="http://schemas.microsoft.com/office/drawing/2014/main" id="{B24EA66B-C475-FD74-3653-99240EA2FC7D}"/>
                </a:ext>
              </a:extLst>
            </p:cNvPr>
            <p:cNvSpPr/>
            <p:nvPr/>
          </p:nvSpPr>
          <p:spPr>
            <a:xfrm>
              <a:off x="3288227" y="1584140"/>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80" name="ellipse_1891">
              <a:extLst>
                <a:ext uri="{FF2B5EF4-FFF2-40B4-BE49-F238E27FC236}">
                  <a16:creationId xmlns:a16="http://schemas.microsoft.com/office/drawing/2014/main" id="{7C05A257-A858-E4EC-CE72-2E262BB52B07}"/>
                </a:ext>
              </a:extLst>
            </p:cNvPr>
            <p:cNvSpPr/>
            <p:nvPr/>
          </p:nvSpPr>
          <p:spPr>
            <a:xfrm>
              <a:off x="3206468" y="1610077"/>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81" name="ellipse_1892">
              <a:extLst>
                <a:ext uri="{FF2B5EF4-FFF2-40B4-BE49-F238E27FC236}">
                  <a16:creationId xmlns:a16="http://schemas.microsoft.com/office/drawing/2014/main" id="{5029BF78-C694-94BA-2390-D6FC0A6BFD81}"/>
                </a:ext>
              </a:extLst>
            </p:cNvPr>
            <p:cNvSpPr/>
            <p:nvPr/>
          </p:nvSpPr>
          <p:spPr>
            <a:xfrm>
              <a:off x="3224851" y="1612180"/>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82" name="ellipse_1893">
              <a:extLst>
                <a:ext uri="{FF2B5EF4-FFF2-40B4-BE49-F238E27FC236}">
                  <a16:creationId xmlns:a16="http://schemas.microsoft.com/office/drawing/2014/main" id="{B400169A-5E49-FEE5-1915-FCB9E751F312}"/>
                </a:ext>
              </a:extLst>
            </p:cNvPr>
            <p:cNvSpPr/>
            <p:nvPr/>
          </p:nvSpPr>
          <p:spPr>
            <a:xfrm>
              <a:off x="3255857" y="1477242"/>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grpSp>
      <p:grpSp>
        <p:nvGrpSpPr>
          <p:cNvPr id="283" name="Find | PTV3 stage 5 (no pseudo)">
            <a:extLst>
              <a:ext uri="{FF2B5EF4-FFF2-40B4-BE49-F238E27FC236}">
                <a16:creationId xmlns:a16="http://schemas.microsoft.com/office/drawing/2014/main" id="{FE5D4BB8-AE08-CFDC-14F9-58D62B643799}"/>
              </a:ext>
            </a:extLst>
          </p:cNvPr>
          <p:cNvGrpSpPr/>
          <p:nvPr/>
        </p:nvGrpSpPr>
        <p:grpSpPr>
          <a:xfrm>
            <a:off x="3778141" y="1222153"/>
            <a:ext cx="276863" cy="197759"/>
            <a:chOff x="3473888" y="1438830"/>
            <a:chExt cx="279225" cy="243090"/>
          </a:xfrm>
        </p:grpSpPr>
        <p:sp>
          <p:nvSpPr>
            <p:cNvPr id="284" name="rect_1899">
              <a:extLst>
                <a:ext uri="{FF2B5EF4-FFF2-40B4-BE49-F238E27FC236}">
                  <a16:creationId xmlns:a16="http://schemas.microsoft.com/office/drawing/2014/main" id="{3C966A44-931E-3C61-C3E2-9910BF785D0E}"/>
                </a:ext>
              </a:extLst>
            </p:cNvPr>
            <p:cNvSpPr/>
            <p:nvPr/>
          </p:nvSpPr>
          <p:spPr>
            <a:xfrm>
              <a:off x="3473888" y="1438830"/>
              <a:ext cx="279225" cy="243090"/>
            </a:xfrm>
            <a:prstGeom prst="roundRect">
              <a:avLst>
                <a:gd name="adj" fmla="val 6757"/>
              </a:avLst>
            </a:prstGeom>
            <a:solidFill>
              <a:srgbClr val="F8F5FC"/>
            </a:solidFill>
            <a:ln w="2540" cap="rnd" cmpd="sng" algn="ctr">
              <a:solidFill>
                <a:srgbClr val="C3D4E6"/>
              </a:solidFill>
              <a:prstDash val="solid"/>
              <a:round/>
              <a:headEnd type="none" w="med" len="med"/>
              <a:tailEnd type="none" w="med" len="med"/>
            </a:ln>
            <a:effectLst/>
          </p:spPr>
        </p:sp>
        <p:sp>
          <p:nvSpPr>
            <p:cNvPr id="285" name="ellipse_1900">
              <a:extLst>
                <a:ext uri="{FF2B5EF4-FFF2-40B4-BE49-F238E27FC236}">
                  <a16:creationId xmlns:a16="http://schemas.microsoft.com/office/drawing/2014/main" id="{0734BB70-ADDB-68EE-E4C9-F1E9F19AF6E7}"/>
                </a:ext>
              </a:extLst>
            </p:cNvPr>
            <p:cNvSpPr/>
            <p:nvPr/>
          </p:nvSpPr>
          <p:spPr>
            <a:xfrm>
              <a:off x="3538819" y="1482538"/>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86" name="ellipse_1901">
              <a:extLst>
                <a:ext uri="{FF2B5EF4-FFF2-40B4-BE49-F238E27FC236}">
                  <a16:creationId xmlns:a16="http://schemas.microsoft.com/office/drawing/2014/main" id="{50CDA3FC-9E47-A0FF-54FE-0B291B80C55E}"/>
                </a:ext>
              </a:extLst>
            </p:cNvPr>
            <p:cNvSpPr/>
            <p:nvPr/>
          </p:nvSpPr>
          <p:spPr>
            <a:xfrm>
              <a:off x="3631999" y="1578094"/>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87" name="ellipse_1902">
              <a:extLst>
                <a:ext uri="{FF2B5EF4-FFF2-40B4-BE49-F238E27FC236}">
                  <a16:creationId xmlns:a16="http://schemas.microsoft.com/office/drawing/2014/main" id="{FDEE2D57-7D4E-037C-452C-66A797AB07C9}"/>
                </a:ext>
              </a:extLst>
            </p:cNvPr>
            <p:cNvSpPr/>
            <p:nvPr/>
          </p:nvSpPr>
          <p:spPr>
            <a:xfrm>
              <a:off x="3687564" y="1590175"/>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88" name="ellipse_1903">
              <a:extLst>
                <a:ext uri="{FF2B5EF4-FFF2-40B4-BE49-F238E27FC236}">
                  <a16:creationId xmlns:a16="http://schemas.microsoft.com/office/drawing/2014/main" id="{B2C7060E-B2BB-F02D-5B6F-B7D323B087B4}"/>
                </a:ext>
              </a:extLst>
            </p:cNvPr>
            <p:cNvSpPr/>
            <p:nvPr/>
          </p:nvSpPr>
          <p:spPr>
            <a:xfrm>
              <a:off x="3686262" y="1625396"/>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89" name="ellipse_1904">
              <a:extLst>
                <a:ext uri="{FF2B5EF4-FFF2-40B4-BE49-F238E27FC236}">
                  <a16:creationId xmlns:a16="http://schemas.microsoft.com/office/drawing/2014/main" id="{7DE1C447-AFD4-DD7C-5DE0-0E96E8153D12}"/>
                </a:ext>
              </a:extLst>
            </p:cNvPr>
            <p:cNvSpPr/>
            <p:nvPr/>
          </p:nvSpPr>
          <p:spPr>
            <a:xfrm>
              <a:off x="3673847" y="1457259"/>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90" name="ellipse_1905">
              <a:extLst>
                <a:ext uri="{FF2B5EF4-FFF2-40B4-BE49-F238E27FC236}">
                  <a16:creationId xmlns:a16="http://schemas.microsoft.com/office/drawing/2014/main" id="{536BBD44-5D8E-E642-7EFE-DC301B9D3F7F}"/>
                </a:ext>
              </a:extLst>
            </p:cNvPr>
            <p:cNvSpPr/>
            <p:nvPr/>
          </p:nvSpPr>
          <p:spPr>
            <a:xfrm>
              <a:off x="3580150" y="1603047"/>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91" name="ellipse_1906">
              <a:extLst>
                <a:ext uri="{FF2B5EF4-FFF2-40B4-BE49-F238E27FC236}">
                  <a16:creationId xmlns:a16="http://schemas.microsoft.com/office/drawing/2014/main" id="{2D018CC6-8BB4-0573-830A-62F9771BB455}"/>
                </a:ext>
              </a:extLst>
            </p:cNvPr>
            <p:cNvSpPr/>
            <p:nvPr/>
          </p:nvSpPr>
          <p:spPr>
            <a:xfrm>
              <a:off x="3499431" y="1479999"/>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92" name="ellipse_1907">
              <a:extLst>
                <a:ext uri="{FF2B5EF4-FFF2-40B4-BE49-F238E27FC236}">
                  <a16:creationId xmlns:a16="http://schemas.microsoft.com/office/drawing/2014/main" id="{3D9BABC9-7179-80DF-931B-76C5D153BFA2}"/>
                </a:ext>
              </a:extLst>
            </p:cNvPr>
            <p:cNvSpPr/>
            <p:nvPr/>
          </p:nvSpPr>
          <p:spPr>
            <a:xfrm>
              <a:off x="3698498" y="1633754"/>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93" name="ellipse_1908">
              <a:extLst>
                <a:ext uri="{FF2B5EF4-FFF2-40B4-BE49-F238E27FC236}">
                  <a16:creationId xmlns:a16="http://schemas.microsoft.com/office/drawing/2014/main" id="{BF41BEF8-8F67-637A-F426-1015DD3C37FC}"/>
                </a:ext>
              </a:extLst>
            </p:cNvPr>
            <p:cNvSpPr/>
            <p:nvPr/>
          </p:nvSpPr>
          <p:spPr>
            <a:xfrm>
              <a:off x="3664475" y="1606687"/>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94" name="ellipse_1909">
              <a:extLst>
                <a:ext uri="{FF2B5EF4-FFF2-40B4-BE49-F238E27FC236}">
                  <a16:creationId xmlns:a16="http://schemas.microsoft.com/office/drawing/2014/main" id="{E57407DB-12F2-A10B-73ED-904E74E89684}"/>
                </a:ext>
              </a:extLst>
            </p:cNvPr>
            <p:cNvSpPr/>
            <p:nvPr/>
          </p:nvSpPr>
          <p:spPr>
            <a:xfrm>
              <a:off x="3577670" y="1575000"/>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grpSp>
      <p:sp>
        <p:nvSpPr>
          <p:cNvPr id="297" name="TextBox 12152">
            <a:extLst>
              <a:ext uri="{FF2B5EF4-FFF2-40B4-BE49-F238E27FC236}">
                <a16:creationId xmlns:a16="http://schemas.microsoft.com/office/drawing/2014/main" id="{DA95DC65-9861-CC7E-7EFC-4B9E07722C91}"/>
              </a:ext>
            </a:extLst>
          </p:cNvPr>
          <p:cNvSpPr txBox="1"/>
          <p:nvPr/>
        </p:nvSpPr>
        <p:spPr>
          <a:xfrm>
            <a:off x="1962711" y="1615773"/>
            <a:ext cx="2183263" cy="106632"/>
          </a:xfrm>
          <a:prstGeom prst="rect">
            <a:avLst/>
          </a:prstGeom>
          <a:noFill/>
        </p:spPr>
        <p:txBody>
          <a:bodyPr wrap="square" lIns="0" tIns="0" rIns="0" bIns="0" anchor="ctr">
            <a:spAutoFit/>
          </a:bodyPr>
          <a:lstStyle/>
          <a:p>
            <a:pPr algn="ctr">
              <a:lnSpc>
                <a:spcPct val="105000"/>
              </a:lnSpc>
            </a:pPr>
            <a:r>
              <a:rPr sz="709">
                <a:solidFill>
                  <a:srgbClr val="263442"/>
                </a:solidFill>
                <a:latin typeface="Arial"/>
              </a:rPr>
              <a:t>Point Transformer V3</a:t>
            </a:r>
          </a:p>
        </p:txBody>
      </p:sp>
      <p:sp>
        <p:nvSpPr>
          <p:cNvPr id="298" name="TextBox 12153">
            <a:extLst>
              <a:ext uri="{FF2B5EF4-FFF2-40B4-BE49-F238E27FC236}">
                <a16:creationId xmlns:a16="http://schemas.microsoft.com/office/drawing/2014/main" id="{522E41DD-5F6E-76BD-E92F-5CBA886A651B}"/>
              </a:ext>
            </a:extLst>
          </p:cNvPr>
          <p:cNvSpPr txBox="1"/>
          <p:nvPr/>
        </p:nvSpPr>
        <p:spPr>
          <a:xfrm>
            <a:off x="2809120" y="1058360"/>
            <a:ext cx="767306" cy="88422"/>
          </a:xfrm>
          <a:prstGeom prst="rect">
            <a:avLst/>
          </a:prstGeom>
          <a:noFill/>
        </p:spPr>
        <p:txBody>
          <a:bodyPr wrap="square" lIns="0" tIns="0" rIns="0" bIns="0" anchor="ctr">
            <a:spAutoFit/>
          </a:bodyPr>
          <a:lstStyle/>
          <a:p>
            <a:pPr algn="ctr">
              <a:lnSpc>
                <a:spcPct val="105000"/>
              </a:lnSpc>
            </a:pPr>
            <a:r>
              <a:rPr lang="en-US" sz="588" dirty="0">
                <a:solidFill>
                  <a:srgbClr val="263442"/>
                </a:solidFill>
                <a:latin typeface="Arial"/>
              </a:rPr>
              <a:t>F</a:t>
            </a:r>
            <a:r>
              <a:rPr sz="588" dirty="0">
                <a:solidFill>
                  <a:srgbClr val="263442"/>
                </a:solidFill>
                <a:latin typeface="Arial"/>
              </a:rPr>
              <a:t>usion</a:t>
            </a:r>
          </a:p>
        </p:txBody>
      </p:sp>
      <p:sp>
        <p:nvSpPr>
          <p:cNvPr id="299" name="Find | Blobs output card">
            <a:extLst>
              <a:ext uri="{FF2B5EF4-FFF2-40B4-BE49-F238E27FC236}">
                <a16:creationId xmlns:a16="http://schemas.microsoft.com/office/drawing/2014/main" id="{6A602B9B-DE58-7AA0-FDBA-741F60C78A9B}"/>
              </a:ext>
            </a:extLst>
          </p:cNvPr>
          <p:cNvSpPr/>
          <p:nvPr/>
        </p:nvSpPr>
        <p:spPr>
          <a:xfrm>
            <a:off x="4329930" y="284775"/>
            <a:ext cx="442980" cy="1471328"/>
          </a:xfrm>
          <a:prstGeom prst="roundRect">
            <a:avLst>
              <a:gd name="adj" fmla="val 6000"/>
            </a:avLst>
          </a:prstGeom>
          <a:solidFill>
            <a:srgbClr val="FFFFFF"/>
          </a:solidFill>
          <a:ln w="7290">
            <a:solidFill>
              <a:srgbClr val="CBD6E2"/>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300" name="TextBox 12155">
            <a:extLst>
              <a:ext uri="{FF2B5EF4-FFF2-40B4-BE49-F238E27FC236}">
                <a16:creationId xmlns:a16="http://schemas.microsoft.com/office/drawing/2014/main" id="{1F7C0F6F-D082-C8AA-DE11-4286EF42AADB}"/>
              </a:ext>
            </a:extLst>
          </p:cNvPr>
          <p:cNvSpPr txBox="1"/>
          <p:nvPr/>
        </p:nvSpPr>
        <p:spPr>
          <a:xfrm>
            <a:off x="4215551" y="307007"/>
            <a:ext cx="696113" cy="111954"/>
          </a:xfrm>
          <a:prstGeom prst="rect">
            <a:avLst/>
          </a:prstGeom>
          <a:noFill/>
        </p:spPr>
        <p:txBody>
          <a:bodyPr wrap="square" lIns="0" tIns="0" rIns="0" bIns="0" anchor="ctr">
            <a:spAutoFit/>
          </a:bodyPr>
          <a:lstStyle/>
          <a:p>
            <a:pPr algn="ctr">
              <a:lnSpc>
                <a:spcPct val="105000"/>
              </a:lnSpc>
            </a:pPr>
            <a:r>
              <a:rPr sz="744" dirty="0">
                <a:solidFill>
                  <a:srgbClr val="263442"/>
                </a:solidFill>
                <a:latin typeface="Arial"/>
              </a:rPr>
              <a:t>Blobs</a:t>
            </a:r>
          </a:p>
        </p:txBody>
      </p:sp>
      <p:sp>
        <p:nvSpPr>
          <p:cNvPr id="301" name="TextBox 12160">
            <a:extLst>
              <a:ext uri="{FF2B5EF4-FFF2-40B4-BE49-F238E27FC236}">
                <a16:creationId xmlns:a16="http://schemas.microsoft.com/office/drawing/2014/main" id="{EBF2AA16-9B52-B84F-43EE-03BA82B2D4CA}"/>
              </a:ext>
            </a:extLst>
          </p:cNvPr>
          <p:cNvSpPr txBox="1"/>
          <p:nvPr/>
        </p:nvSpPr>
        <p:spPr>
          <a:xfrm>
            <a:off x="677751" y="2090304"/>
            <a:ext cx="1186556" cy="107978"/>
          </a:xfrm>
          <a:prstGeom prst="rect">
            <a:avLst/>
          </a:prstGeom>
          <a:noFill/>
        </p:spPr>
        <p:txBody>
          <a:bodyPr wrap="square" lIns="0" tIns="0" rIns="0" bIns="0" anchor="ctr">
            <a:spAutoFit/>
          </a:bodyPr>
          <a:lstStyle/>
          <a:p>
            <a:pPr algn="l">
              <a:lnSpc>
                <a:spcPct val="105000"/>
              </a:lnSpc>
            </a:pPr>
            <a:r>
              <a:rPr sz="718" dirty="0">
                <a:solidFill>
                  <a:srgbClr val="263442"/>
                </a:solidFill>
                <a:latin typeface="Arial"/>
              </a:rPr>
              <a:t>Candidate encoder</a:t>
            </a:r>
          </a:p>
        </p:txBody>
      </p:sp>
      <p:sp>
        <p:nvSpPr>
          <p:cNvPr id="302" name="TextBox 12161">
            <a:extLst>
              <a:ext uri="{FF2B5EF4-FFF2-40B4-BE49-F238E27FC236}">
                <a16:creationId xmlns:a16="http://schemas.microsoft.com/office/drawing/2014/main" id="{1FD101AA-9130-CD96-6414-B193E6D36851}"/>
              </a:ext>
            </a:extLst>
          </p:cNvPr>
          <p:cNvSpPr txBox="1"/>
          <p:nvPr/>
        </p:nvSpPr>
        <p:spPr>
          <a:xfrm>
            <a:off x="2706672" y="2090304"/>
            <a:ext cx="1186556" cy="107978"/>
          </a:xfrm>
          <a:prstGeom prst="rect">
            <a:avLst/>
          </a:prstGeom>
          <a:noFill/>
        </p:spPr>
        <p:txBody>
          <a:bodyPr wrap="square" lIns="0" tIns="0" rIns="0" bIns="0" anchor="ctr">
            <a:spAutoFit/>
          </a:bodyPr>
          <a:lstStyle/>
          <a:p>
            <a:pPr algn="l">
              <a:lnSpc>
                <a:spcPct val="105000"/>
              </a:lnSpc>
            </a:pPr>
            <a:r>
              <a:rPr sz="718" dirty="0">
                <a:solidFill>
                  <a:srgbClr val="263442"/>
                </a:solidFill>
                <a:latin typeface="Arial"/>
              </a:rPr>
              <a:t>Identity encoder</a:t>
            </a:r>
          </a:p>
        </p:txBody>
      </p:sp>
      <p:sp>
        <p:nvSpPr>
          <p:cNvPr id="303" name="Match | Center divider">
            <a:extLst>
              <a:ext uri="{FF2B5EF4-FFF2-40B4-BE49-F238E27FC236}">
                <a16:creationId xmlns:a16="http://schemas.microsoft.com/office/drawing/2014/main" id="{5A593D05-94F5-C55B-C8C6-B8F9E86B08C6}"/>
              </a:ext>
            </a:extLst>
          </p:cNvPr>
          <p:cNvSpPr/>
          <p:nvPr/>
        </p:nvSpPr>
        <p:spPr>
          <a:xfrm>
            <a:off x="2617408" y="2119981"/>
            <a:ext cx="1" cy="1945952"/>
          </a:xfrm>
          <a:custGeom>
            <a:avLst/>
            <a:gdLst/>
            <a:ahLst/>
            <a:cxnLst/>
            <a:rect l="0" t="0" r="w" b="h"/>
            <a:pathLst>
              <a:path w="1" h="2249424">
                <a:moveTo>
                  <a:pt x="0" y="0"/>
                </a:moveTo>
                <a:lnTo>
                  <a:pt x="0" y="2249424"/>
                </a:lnTo>
              </a:path>
            </a:pathLst>
          </a:custGeom>
          <a:noFill/>
          <a:ln w="9525" cap="rnd" cmpd="sng" algn="ctr">
            <a:solidFill>
              <a:srgbClr val="D0E2DA"/>
            </a:solidFill>
            <a:prstDash val="solid"/>
            <a:round/>
            <a:headEnd type="none" w="med" len="med"/>
            <a:tailEnd type="none" w="med" len="med"/>
          </a:ln>
        </p:spPr>
      </p:sp>
      <p:sp>
        <p:nvSpPr>
          <p:cNvPr id="304" name="TextBox 12164">
            <a:extLst>
              <a:ext uri="{FF2B5EF4-FFF2-40B4-BE49-F238E27FC236}">
                <a16:creationId xmlns:a16="http://schemas.microsoft.com/office/drawing/2014/main" id="{DA6D9C81-D325-B373-1580-DEE13789E3EE}"/>
              </a:ext>
            </a:extLst>
          </p:cNvPr>
          <p:cNvSpPr txBox="1"/>
          <p:nvPr/>
        </p:nvSpPr>
        <p:spPr>
          <a:xfrm>
            <a:off x="669841" y="2270869"/>
            <a:ext cx="442981" cy="93744"/>
          </a:xfrm>
          <a:prstGeom prst="rect">
            <a:avLst/>
          </a:prstGeom>
          <a:noFill/>
        </p:spPr>
        <p:txBody>
          <a:bodyPr wrap="square" lIns="0" tIns="0" rIns="0" bIns="0" anchor="ctr">
            <a:spAutoFit/>
          </a:bodyPr>
          <a:lstStyle/>
          <a:p>
            <a:pPr algn="ctr">
              <a:lnSpc>
                <a:spcPct val="105000"/>
              </a:lnSpc>
            </a:pPr>
            <a:r>
              <a:rPr sz="623">
                <a:solidFill>
                  <a:srgbClr val="263442"/>
                </a:solidFill>
                <a:latin typeface="Arial"/>
              </a:rPr>
              <a:t>Receptor</a:t>
            </a:r>
          </a:p>
        </p:txBody>
      </p:sp>
      <p:sp>
        <p:nvSpPr>
          <p:cNvPr id="305" name="TextBox 12166">
            <a:extLst>
              <a:ext uri="{FF2B5EF4-FFF2-40B4-BE49-F238E27FC236}">
                <a16:creationId xmlns:a16="http://schemas.microsoft.com/office/drawing/2014/main" id="{6E830D7E-FC74-3019-18B2-DDE04B6E60D0}"/>
              </a:ext>
            </a:extLst>
          </p:cNvPr>
          <p:cNvSpPr txBox="1"/>
          <p:nvPr/>
        </p:nvSpPr>
        <p:spPr>
          <a:xfrm>
            <a:off x="1152374" y="2270869"/>
            <a:ext cx="442981" cy="93744"/>
          </a:xfrm>
          <a:prstGeom prst="rect">
            <a:avLst/>
          </a:prstGeom>
          <a:noFill/>
        </p:spPr>
        <p:txBody>
          <a:bodyPr wrap="square" lIns="0" tIns="0" rIns="0" bIns="0" anchor="ctr">
            <a:spAutoFit/>
          </a:bodyPr>
          <a:lstStyle/>
          <a:p>
            <a:pPr algn="ctr">
              <a:lnSpc>
                <a:spcPct val="105000"/>
              </a:lnSpc>
            </a:pPr>
            <a:r>
              <a:rPr sz="623" dirty="0">
                <a:solidFill>
                  <a:srgbClr val="263442"/>
                </a:solidFill>
                <a:latin typeface="Arial"/>
              </a:rPr>
              <a:t>Density</a:t>
            </a:r>
          </a:p>
        </p:txBody>
      </p:sp>
      <p:pic>
        <p:nvPicPr>
          <p:cNvPr id="306" name="Match corresponding experimental density" descr="Experimental 9LLG density around chain C1 of the displayed CryoAtom2 receptor, at the original contour level and the identical camera orientation.">
            <a:extLst>
              <a:ext uri="{FF2B5EF4-FFF2-40B4-BE49-F238E27FC236}">
                <a16:creationId xmlns:a16="http://schemas.microsoft.com/office/drawing/2014/main" id="{7A47CBDC-2732-4D0F-C4FF-972DA2F1AA3E}"/>
              </a:ext>
            </a:extLst>
          </p:cNvPr>
          <p:cNvPicPr/>
          <p:nvPr/>
        </p:nvPicPr>
        <p:blipFill>
          <a:blip r:embed="rId4"/>
          <a:stretch>
            <a:fillRect/>
          </a:stretch>
        </p:blipFill>
        <p:spPr>
          <a:xfrm>
            <a:off x="1199858" y="2380847"/>
            <a:ext cx="347980" cy="332276"/>
          </a:xfrm>
          <a:prstGeom prst="rect">
            <a:avLst/>
          </a:prstGeom>
        </p:spPr>
      </p:pic>
      <p:sp>
        <p:nvSpPr>
          <p:cNvPr id="526" name="TextBox 12168">
            <a:extLst>
              <a:ext uri="{FF2B5EF4-FFF2-40B4-BE49-F238E27FC236}">
                <a16:creationId xmlns:a16="http://schemas.microsoft.com/office/drawing/2014/main" id="{50BD09F1-2D4A-FA0A-7AF2-981DD7585F3A}"/>
              </a:ext>
            </a:extLst>
          </p:cNvPr>
          <p:cNvSpPr txBox="1"/>
          <p:nvPr/>
        </p:nvSpPr>
        <p:spPr>
          <a:xfrm>
            <a:off x="709890" y="2851277"/>
            <a:ext cx="340209" cy="97203"/>
          </a:xfrm>
          <a:prstGeom prst="rect">
            <a:avLst/>
          </a:prstGeom>
          <a:noFill/>
        </p:spPr>
        <p:txBody>
          <a:bodyPr wrap="square" lIns="0" tIns="0" rIns="0" bIns="0" anchor="ctr">
            <a:spAutoFit/>
          </a:bodyPr>
          <a:lstStyle/>
          <a:p>
            <a:pPr algn="ctr">
              <a:lnSpc>
                <a:spcPct val="105000"/>
              </a:lnSpc>
            </a:pPr>
            <a:r>
              <a:rPr sz="623">
                <a:solidFill>
                  <a:srgbClr val="263442"/>
                </a:solidFill>
                <a:latin typeface="Arial"/>
              </a:rPr>
              <a:t>Pocket</a:t>
            </a:r>
          </a:p>
        </p:txBody>
      </p:sp>
      <p:sp>
        <p:nvSpPr>
          <p:cNvPr id="613" name="TextBox 12177">
            <a:extLst>
              <a:ext uri="{FF2B5EF4-FFF2-40B4-BE49-F238E27FC236}">
                <a16:creationId xmlns:a16="http://schemas.microsoft.com/office/drawing/2014/main" id="{086F717F-C0B1-CD04-AFB8-166092CD717F}"/>
              </a:ext>
            </a:extLst>
          </p:cNvPr>
          <p:cNvSpPr txBox="1"/>
          <p:nvPr/>
        </p:nvSpPr>
        <p:spPr>
          <a:xfrm>
            <a:off x="1159452" y="2851277"/>
            <a:ext cx="340209" cy="97203"/>
          </a:xfrm>
          <a:prstGeom prst="rect">
            <a:avLst/>
          </a:prstGeom>
          <a:noFill/>
        </p:spPr>
        <p:txBody>
          <a:bodyPr wrap="square" lIns="0" tIns="0" rIns="0" bIns="0" anchor="ctr">
            <a:spAutoFit/>
          </a:bodyPr>
          <a:lstStyle/>
          <a:p>
            <a:pPr algn="ctr">
              <a:lnSpc>
                <a:spcPct val="105000"/>
              </a:lnSpc>
            </a:pPr>
            <a:r>
              <a:rPr sz="623">
                <a:solidFill>
                  <a:srgbClr val="263442"/>
                </a:solidFill>
                <a:latin typeface="Arial"/>
              </a:rPr>
              <a:t>Blob</a:t>
            </a:r>
          </a:p>
        </p:txBody>
      </p:sp>
      <p:grpSp>
        <p:nvGrpSpPr>
          <p:cNvPr id="614" name="Match | Blob contour">
            <a:extLst>
              <a:ext uri="{FF2B5EF4-FFF2-40B4-BE49-F238E27FC236}">
                <a16:creationId xmlns:a16="http://schemas.microsoft.com/office/drawing/2014/main" id="{ECF83E2A-3199-B09F-F90E-31DC9848C382}"/>
              </a:ext>
            </a:extLst>
          </p:cNvPr>
          <p:cNvGrpSpPr/>
          <p:nvPr/>
        </p:nvGrpSpPr>
        <p:grpSpPr>
          <a:xfrm>
            <a:off x="1183161" y="3036990"/>
            <a:ext cx="291608" cy="199265"/>
            <a:chOff x="1928706" y="3559489"/>
            <a:chExt cx="227897" cy="155682"/>
          </a:xfrm>
        </p:grpSpPr>
        <p:sp>
          <p:nvSpPr>
            <p:cNvPr id="615" name="Candidate blob | editable contour">
              <a:extLst>
                <a:ext uri="{FF2B5EF4-FFF2-40B4-BE49-F238E27FC236}">
                  <a16:creationId xmlns:a16="http://schemas.microsoft.com/office/drawing/2014/main" id="{513F782E-E1DE-1B64-68A9-FB54BE71715F}"/>
                </a:ext>
              </a:extLst>
            </p:cNvPr>
            <p:cNvSpPr/>
            <p:nvPr/>
          </p:nvSpPr>
          <p:spPr>
            <a:xfrm>
              <a:off x="1928706" y="3559489"/>
              <a:ext cx="227897" cy="155682"/>
            </a:xfrm>
            <a:custGeom>
              <a:avLst/>
              <a:gdLst/>
              <a:ahLst/>
              <a:cxnLst/>
              <a:rect l="0" t="0" r="w" b="h"/>
              <a:pathLst>
                <a:path w="227897" h="155682" extrusionOk="0">
                  <a:moveTo>
                    <a:pt x="5338" y="97866"/>
                  </a:moveTo>
                  <a:cubicBezTo>
                    <a:pt x="0" y="80701"/>
                    <a:pt x="18889" y="54504"/>
                    <a:pt x="29976" y="43663"/>
                  </a:cubicBezTo>
                  <a:cubicBezTo>
                    <a:pt x="41062" y="32823"/>
                    <a:pt x="58719" y="39447"/>
                    <a:pt x="71859" y="32823"/>
                  </a:cubicBezTo>
                  <a:cubicBezTo>
                    <a:pt x="84999" y="26198"/>
                    <a:pt x="92391" y="7829"/>
                    <a:pt x="108816" y="3915"/>
                  </a:cubicBezTo>
                  <a:cubicBezTo>
                    <a:pt x="125241" y="0"/>
                    <a:pt x="153984" y="3613"/>
                    <a:pt x="170409" y="9335"/>
                  </a:cubicBezTo>
                  <a:cubicBezTo>
                    <a:pt x="186834" y="15056"/>
                    <a:pt x="198332" y="26198"/>
                    <a:pt x="207366" y="38243"/>
                  </a:cubicBezTo>
                  <a:cubicBezTo>
                    <a:pt x="216399" y="50288"/>
                    <a:pt x="227897" y="67151"/>
                    <a:pt x="224612" y="81605"/>
                  </a:cubicBezTo>
                  <a:cubicBezTo>
                    <a:pt x="221327" y="96059"/>
                    <a:pt x="203259" y="113223"/>
                    <a:pt x="187656" y="124967"/>
                  </a:cubicBezTo>
                  <a:cubicBezTo>
                    <a:pt x="172052" y="136711"/>
                    <a:pt x="151931" y="148455"/>
                    <a:pt x="130989" y="152068"/>
                  </a:cubicBezTo>
                  <a:cubicBezTo>
                    <a:pt x="110048" y="155682"/>
                    <a:pt x="82946" y="155682"/>
                    <a:pt x="62004" y="146648"/>
                  </a:cubicBezTo>
                  <a:cubicBezTo>
                    <a:pt x="41062" y="137614"/>
                    <a:pt x="10676" y="115030"/>
                    <a:pt x="5338" y="97866"/>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616" name="ellipse_2612">
              <a:extLst>
                <a:ext uri="{FF2B5EF4-FFF2-40B4-BE49-F238E27FC236}">
                  <a16:creationId xmlns:a16="http://schemas.microsoft.com/office/drawing/2014/main" id="{12A4650A-7359-9456-1843-A3C9E08B2497}"/>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sp>
        <p:nvSpPr>
          <p:cNvPr id="618" name="TextBox 12186">
            <a:extLst>
              <a:ext uri="{FF2B5EF4-FFF2-40B4-BE49-F238E27FC236}">
                <a16:creationId xmlns:a16="http://schemas.microsoft.com/office/drawing/2014/main" id="{88505915-A113-7FAA-6C15-3F2B10F6D7CB}"/>
              </a:ext>
            </a:extLst>
          </p:cNvPr>
          <p:cNvSpPr txBox="1"/>
          <p:nvPr/>
        </p:nvSpPr>
        <p:spPr>
          <a:xfrm>
            <a:off x="1701262" y="2259965"/>
            <a:ext cx="286938" cy="92333"/>
          </a:xfrm>
          <a:prstGeom prst="rect">
            <a:avLst/>
          </a:prstGeom>
          <a:noFill/>
        </p:spPr>
        <p:txBody>
          <a:bodyPr wrap="none" lIns="0" tIns="0" rIns="0" bIns="0" anchor="ctr">
            <a:spAutoFit/>
          </a:bodyPr>
          <a:lstStyle/>
          <a:p>
            <a:pPr algn="ctr">
              <a:lnSpc>
                <a:spcPct val="105000"/>
              </a:lnSpc>
            </a:pPr>
            <a:r>
              <a:rPr sz="614">
                <a:solidFill>
                  <a:srgbClr val="263442"/>
                </a:solidFill>
                <a:latin typeface="Arial"/>
              </a:rPr>
              <a:t>48³ crop</a:t>
            </a:r>
          </a:p>
        </p:txBody>
      </p:sp>
      <p:grpSp>
        <p:nvGrpSpPr>
          <p:cNvPr id="619" name="48^3 crop 3D cube">
            <a:extLst>
              <a:ext uri="{FF2B5EF4-FFF2-40B4-BE49-F238E27FC236}">
                <a16:creationId xmlns:a16="http://schemas.microsoft.com/office/drawing/2014/main" id="{50441A72-5112-E010-1BBD-72FFF87A8B6E}"/>
              </a:ext>
            </a:extLst>
          </p:cNvPr>
          <p:cNvGrpSpPr/>
          <p:nvPr/>
        </p:nvGrpSpPr>
        <p:grpSpPr>
          <a:xfrm>
            <a:off x="1718368" y="2353114"/>
            <a:ext cx="251107" cy="197645"/>
            <a:chOff x="4043880" y="489960"/>
            <a:chExt cx="571680" cy="450000"/>
          </a:xfrm>
        </p:grpSpPr>
        <p:sp>
          <p:nvSpPr>
            <p:cNvPr id="620" name="asset_2027_0">
              <a:extLst>
                <a:ext uri="{FF2B5EF4-FFF2-40B4-BE49-F238E27FC236}">
                  <a16:creationId xmlns:a16="http://schemas.microsoft.com/office/drawing/2014/main" id="{2C26482F-D7D7-E3F6-FBCD-22AC82315E62}"/>
                </a:ext>
              </a:extLst>
            </p:cNvPr>
            <p:cNvSpPr>
              <a:spLocks noGrp="1"/>
            </p:cNvSpPr>
            <p:nvPr/>
          </p:nvSpPr>
          <p:spPr>
            <a:xfrm>
              <a:off x="4043880" y="489960"/>
              <a:ext cx="571680" cy="76500"/>
            </a:xfrm>
            <a:custGeom>
              <a:avLst/>
              <a:gdLst/>
              <a:ahLst/>
              <a:cxnLst/>
              <a:rect l="0" t="0" r="0" b="0"/>
              <a:pathLst>
                <a:path w="571680" h="76500">
                  <a:moveTo>
                    <a:pt x="0" y="76500"/>
                  </a:moveTo>
                  <a:lnTo>
                    <a:pt x="108619" y="0"/>
                  </a:lnTo>
                  <a:lnTo>
                    <a:pt x="571680" y="0"/>
                  </a:lnTo>
                  <a:lnTo>
                    <a:pt x="463061" y="76500"/>
                  </a:lnTo>
                  <a:close/>
                </a:path>
              </a:pathLst>
            </a:custGeom>
            <a:gradFill>
              <a:gsLst>
                <a:gs pos="0">
                  <a:srgbClr val="FAFDFF">
                    <a:alpha val="65000"/>
                  </a:srgbClr>
                </a:gs>
                <a:gs pos="100000">
                  <a:srgbClr val="D9EAFA">
                    <a:alpha val="45000"/>
                  </a:srgbClr>
                </a:gs>
              </a:gsLst>
              <a:lin ang="5400000"/>
            </a:gradFill>
            <a:ln w="2700">
              <a:solidFill>
                <a:srgbClr val="A3C3E2"/>
              </a:solidFill>
            </a:ln>
          </p:spPr>
        </p:sp>
        <p:sp>
          <p:nvSpPr>
            <p:cNvPr id="621" name="asset_2027_1">
              <a:extLst>
                <a:ext uri="{FF2B5EF4-FFF2-40B4-BE49-F238E27FC236}">
                  <a16:creationId xmlns:a16="http://schemas.microsoft.com/office/drawing/2014/main" id="{F28AFBA7-0A71-99DE-9FF9-EBD0ADC1144C}"/>
                </a:ext>
              </a:extLst>
            </p:cNvPr>
            <p:cNvSpPr>
              <a:spLocks noGrp="1"/>
            </p:cNvSpPr>
            <p:nvPr/>
          </p:nvSpPr>
          <p:spPr>
            <a:xfrm>
              <a:off x="4506941" y="489960"/>
              <a:ext cx="108619" cy="450000"/>
            </a:xfrm>
            <a:custGeom>
              <a:avLst/>
              <a:gdLst/>
              <a:ahLst/>
              <a:cxnLst/>
              <a:rect l="0" t="0" r="0" b="0"/>
              <a:pathLst>
                <a:path w="108619" h="450000">
                  <a:moveTo>
                    <a:pt x="0" y="76500"/>
                  </a:moveTo>
                  <a:lnTo>
                    <a:pt x="108619" y="0"/>
                  </a:lnTo>
                  <a:lnTo>
                    <a:pt x="108619" y="373500"/>
                  </a:lnTo>
                  <a:lnTo>
                    <a:pt x="0" y="450000"/>
                  </a:lnTo>
                  <a:close/>
                </a:path>
              </a:pathLst>
            </a:custGeom>
            <a:solidFill>
              <a:srgbClr val="C9DFF3">
                <a:alpha val="22000"/>
              </a:srgbClr>
            </a:solidFill>
            <a:ln w="2700">
              <a:solidFill>
                <a:srgbClr val="A3C3E2"/>
              </a:solidFill>
            </a:ln>
          </p:spPr>
        </p:sp>
        <p:sp>
          <p:nvSpPr>
            <p:cNvPr id="622" name="asset_2027_2">
              <a:extLst>
                <a:ext uri="{FF2B5EF4-FFF2-40B4-BE49-F238E27FC236}">
                  <a16:creationId xmlns:a16="http://schemas.microsoft.com/office/drawing/2014/main" id="{97E064B3-0050-239C-C963-C5E4E31B84D2}"/>
                </a:ext>
              </a:extLst>
            </p:cNvPr>
            <p:cNvSpPr>
              <a:spLocks noGrp="1"/>
            </p:cNvSpPr>
            <p:nvPr/>
          </p:nvSpPr>
          <p:spPr>
            <a:xfrm>
              <a:off x="4043880" y="566460"/>
              <a:ext cx="463061" cy="373500"/>
            </a:xfrm>
            <a:prstGeom prst="rect">
              <a:avLst/>
            </a:prstGeom>
            <a:solidFill>
              <a:srgbClr val="E7F1FC">
                <a:alpha val="20000"/>
              </a:srgbClr>
            </a:solidFill>
            <a:ln w="2700">
              <a:solidFill>
                <a:srgbClr val="ABC9E7"/>
              </a:solidFill>
            </a:ln>
          </p:spPr>
        </p:sp>
        <p:sp>
          <p:nvSpPr>
            <p:cNvPr id="623" name="asset_2027_3">
              <a:extLst>
                <a:ext uri="{FF2B5EF4-FFF2-40B4-BE49-F238E27FC236}">
                  <a16:creationId xmlns:a16="http://schemas.microsoft.com/office/drawing/2014/main" id="{A2C54284-938E-B40D-7CE6-20A987BE1447}"/>
                </a:ext>
              </a:extLst>
            </p:cNvPr>
            <p:cNvSpPr>
              <a:spLocks noGrp="1"/>
            </p:cNvSpPr>
            <p:nvPr/>
          </p:nvSpPr>
          <p:spPr>
            <a:xfrm>
              <a:off x="4159645" y="566460"/>
              <a:ext cx="4" cy="373500"/>
            </a:xfrm>
            <a:prstGeom prst="line">
              <a:avLst/>
            </a:prstGeom>
            <a:noFill/>
            <a:ln w="1980">
              <a:solidFill>
                <a:srgbClr val="B8D2EB">
                  <a:alpha val="33000"/>
                </a:srgbClr>
              </a:solidFill>
            </a:ln>
          </p:spPr>
        </p:sp>
        <p:sp>
          <p:nvSpPr>
            <p:cNvPr id="624" name="asset_2027_4">
              <a:extLst>
                <a:ext uri="{FF2B5EF4-FFF2-40B4-BE49-F238E27FC236}">
                  <a16:creationId xmlns:a16="http://schemas.microsoft.com/office/drawing/2014/main" id="{0F8960CE-A059-8D07-91FB-C97F3078BCD9}"/>
                </a:ext>
              </a:extLst>
            </p:cNvPr>
            <p:cNvSpPr>
              <a:spLocks noGrp="1"/>
            </p:cNvSpPr>
            <p:nvPr/>
          </p:nvSpPr>
          <p:spPr>
            <a:xfrm>
              <a:off x="4043880" y="659835"/>
              <a:ext cx="463061" cy="4"/>
            </a:xfrm>
            <a:prstGeom prst="line">
              <a:avLst/>
            </a:prstGeom>
            <a:noFill/>
            <a:ln w="1980">
              <a:solidFill>
                <a:srgbClr val="B8D2EB">
                  <a:alpha val="33000"/>
                </a:srgbClr>
              </a:solidFill>
            </a:ln>
          </p:spPr>
        </p:sp>
        <p:sp>
          <p:nvSpPr>
            <p:cNvPr id="625" name="asset_2027_5">
              <a:extLst>
                <a:ext uri="{FF2B5EF4-FFF2-40B4-BE49-F238E27FC236}">
                  <a16:creationId xmlns:a16="http://schemas.microsoft.com/office/drawing/2014/main" id="{A5646F3B-E3B0-7C1C-2E27-F9E967647A65}"/>
                </a:ext>
              </a:extLst>
            </p:cNvPr>
            <p:cNvSpPr>
              <a:spLocks noGrp="1"/>
            </p:cNvSpPr>
            <p:nvPr/>
          </p:nvSpPr>
          <p:spPr>
            <a:xfrm>
              <a:off x="4275410" y="566460"/>
              <a:ext cx="4" cy="373500"/>
            </a:xfrm>
            <a:prstGeom prst="line">
              <a:avLst/>
            </a:prstGeom>
            <a:noFill/>
            <a:ln w="1980">
              <a:solidFill>
                <a:srgbClr val="B8D2EB">
                  <a:alpha val="33000"/>
                </a:srgbClr>
              </a:solidFill>
            </a:ln>
          </p:spPr>
        </p:sp>
        <p:sp>
          <p:nvSpPr>
            <p:cNvPr id="626" name="asset_2027_6">
              <a:extLst>
                <a:ext uri="{FF2B5EF4-FFF2-40B4-BE49-F238E27FC236}">
                  <a16:creationId xmlns:a16="http://schemas.microsoft.com/office/drawing/2014/main" id="{49CF1756-587C-D73A-CFD0-CE93821E4BC5}"/>
                </a:ext>
              </a:extLst>
            </p:cNvPr>
            <p:cNvSpPr>
              <a:spLocks noGrp="1"/>
            </p:cNvSpPr>
            <p:nvPr/>
          </p:nvSpPr>
          <p:spPr>
            <a:xfrm>
              <a:off x="4043880" y="753210"/>
              <a:ext cx="463061" cy="4"/>
            </a:xfrm>
            <a:prstGeom prst="line">
              <a:avLst/>
            </a:prstGeom>
            <a:noFill/>
            <a:ln w="1980">
              <a:solidFill>
                <a:srgbClr val="B8D2EB">
                  <a:alpha val="33000"/>
                </a:srgbClr>
              </a:solidFill>
            </a:ln>
          </p:spPr>
        </p:sp>
        <p:sp>
          <p:nvSpPr>
            <p:cNvPr id="627" name="asset_2027_7">
              <a:extLst>
                <a:ext uri="{FF2B5EF4-FFF2-40B4-BE49-F238E27FC236}">
                  <a16:creationId xmlns:a16="http://schemas.microsoft.com/office/drawing/2014/main" id="{617A40D8-F985-CF5E-C184-9CEE010688B0}"/>
                </a:ext>
              </a:extLst>
            </p:cNvPr>
            <p:cNvSpPr>
              <a:spLocks noGrp="1"/>
            </p:cNvSpPr>
            <p:nvPr/>
          </p:nvSpPr>
          <p:spPr>
            <a:xfrm>
              <a:off x="4391176" y="566460"/>
              <a:ext cx="4" cy="373500"/>
            </a:xfrm>
            <a:prstGeom prst="line">
              <a:avLst/>
            </a:prstGeom>
            <a:noFill/>
            <a:ln w="1980">
              <a:solidFill>
                <a:srgbClr val="B8D2EB">
                  <a:alpha val="33000"/>
                </a:srgbClr>
              </a:solidFill>
            </a:ln>
          </p:spPr>
        </p:sp>
        <p:sp>
          <p:nvSpPr>
            <p:cNvPr id="628" name="asset_2027_8">
              <a:extLst>
                <a:ext uri="{FF2B5EF4-FFF2-40B4-BE49-F238E27FC236}">
                  <a16:creationId xmlns:a16="http://schemas.microsoft.com/office/drawing/2014/main" id="{D74C2F96-9830-4E45-47CF-280DBDF3BBA6}"/>
                </a:ext>
              </a:extLst>
            </p:cNvPr>
            <p:cNvSpPr>
              <a:spLocks noGrp="1"/>
            </p:cNvSpPr>
            <p:nvPr/>
          </p:nvSpPr>
          <p:spPr>
            <a:xfrm>
              <a:off x="4043880" y="846585"/>
              <a:ext cx="463061" cy="4"/>
            </a:xfrm>
            <a:prstGeom prst="line">
              <a:avLst/>
            </a:prstGeom>
            <a:noFill/>
            <a:ln w="1980">
              <a:solidFill>
                <a:srgbClr val="B8D2EB">
                  <a:alpha val="33000"/>
                </a:srgbClr>
              </a:solidFill>
            </a:ln>
          </p:spPr>
        </p:sp>
        <p:sp>
          <p:nvSpPr>
            <p:cNvPr id="629" name="asset_2027_53">
              <a:extLst>
                <a:ext uri="{FF2B5EF4-FFF2-40B4-BE49-F238E27FC236}">
                  <a16:creationId xmlns:a16="http://schemas.microsoft.com/office/drawing/2014/main" id="{B57D82E4-2BD4-33AA-2164-941D5F47EC2E}"/>
                </a:ext>
              </a:extLst>
            </p:cNvPr>
            <p:cNvSpPr>
              <a:spLocks noGrp="1"/>
            </p:cNvSpPr>
            <p:nvPr/>
          </p:nvSpPr>
          <p:spPr>
            <a:xfrm>
              <a:off x="4043880" y="566460"/>
              <a:ext cx="463061" cy="373500"/>
            </a:xfrm>
            <a:custGeom>
              <a:avLst/>
              <a:gdLst/>
              <a:ahLst/>
              <a:cxnLst/>
              <a:rect l="0" t="0" r="0" b="0"/>
              <a:pathLst>
                <a:path w="463061" h="373500">
                  <a:moveTo>
                    <a:pt x="0" y="0"/>
                  </a:moveTo>
                  <a:lnTo>
                    <a:pt x="463061" y="0"/>
                  </a:lnTo>
                  <a:lnTo>
                    <a:pt x="463061" y="373500"/>
                  </a:lnTo>
                  <a:lnTo>
                    <a:pt x="0" y="373500"/>
                  </a:lnTo>
                  <a:close/>
                </a:path>
              </a:pathLst>
            </a:custGeom>
            <a:noFill/>
            <a:ln w="3600">
              <a:solidFill>
                <a:srgbClr val="8AB3D9"/>
              </a:solidFill>
            </a:ln>
          </p:spPr>
        </p:sp>
      </p:grpSp>
      <p:grpSp>
        <p:nvGrpSpPr>
          <p:cNvPr id="630" name="48^3 crop centered blob">
            <a:extLst>
              <a:ext uri="{FF2B5EF4-FFF2-40B4-BE49-F238E27FC236}">
                <a16:creationId xmlns:a16="http://schemas.microsoft.com/office/drawing/2014/main" id="{05F07842-8C1D-D758-5B6A-3324A46B243F}"/>
              </a:ext>
            </a:extLst>
          </p:cNvPr>
          <p:cNvGrpSpPr/>
          <p:nvPr/>
        </p:nvGrpSpPr>
        <p:grpSpPr>
          <a:xfrm>
            <a:off x="1781144" y="2424395"/>
            <a:ext cx="110568" cy="75332"/>
            <a:chOff x="1928706" y="3559489"/>
            <a:chExt cx="227897" cy="155682"/>
          </a:xfrm>
        </p:grpSpPr>
        <p:sp>
          <p:nvSpPr>
            <p:cNvPr id="631" name="Candidate blob | editable contour">
              <a:extLst>
                <a:ext uri="{FF2B5EF4-FFF2-40B4-BE49-F238E27FC236}">
                  <a16:creationId xmlns:a16="http://schemas.microsoft.com/office/drawing/2014/main" id="{9098312C-2F0E-B28B-B660-F9C51272B948}"/>
                </a:ext>
              </a:extLst>
            </p:cNvPr>
            <p:cNvSpPr/>
            <p:nvPr/>
          </p:nvSpPr>
          <p:spPr>
            <a:xfrm>
              <a:off x="1928706" y="3559489"/>
              <a:ext cx="227897" cy="155682"/>
            </a:xfrm>
            <a:custGeom>
              <a:avLst/>
              <a:gdLst/>
              <a:ahLst/>
              <a:cxnLst/>
              <a:rect l="0" t="0" r="w" b="h"/>
              <a:pathLst>
                <a:path w="227897" h="155682" extrusionOk="0">
                  <a:moveTo>
                    <a:pt x="5338" y="97866"/>
                  </a:moveTo>
                  <a:cubicBezTo>
                    <a:pt x="0" y="80701"/>
                    <a:pt x="18889" y="54504"/>
                    <a:pt x="29976" y="43663"/>
                  </a:cubicBezTo>
                  <a:cubicBezTo>
                    <a:pt x="41062" y="32823"/>
                    <a:pt x="58719" y="39447"/>
                    <a:pt x="71859" y="32823"/>
                  </a:cubicBezTo>
                  <a:cubicBezTo>
                    <a:pt x="84999" y="26198"/>
                    <a:pt x="92391" y="7829"/>
                    <a:pt x="108816" y="3915"/>
                  </a:cubicBezTo>
                  <a:cubicBezTo>
                    <a:pt x="125241" y="0"/>
                    <a:pt x="153984" y="3613"/>
                    <a:pt x="170409" y="9335"/>
                  </a:cubicBezTo>
                  <a:cubicBezTo>
                    <a:pt x="186834" y="15056"/>
                    <a:pt x="198332" y="26198"/>
                    <a:pt x="207366" y="38243"/>
                  </a:cubicBezTo>
                  <a:cubicBezTo>
                    <a:pt x="216399" y="50288"/>
                    <a:pt x="227897" y="67151"/>
                    <a:pt x="224612" y="81605"/>
                  </a:cubicBezTo>
                  <a:cubicBezTo>
                    <a:pt x="221327" y="96059"/>
                    <a:pt x="203259" y="113223"/>
                    <a:pt x="187656" y="124967"/>
                  </a:cubicBezTo>
                  <a:cubicBezTo>
                    <a:pt x="172052" y="136711"/>
                    <a:pt x="151931" y="148455"/>
                    <a:pt x="130989" y="152068"/>
                  </a:cubicBezTo>
                  <a:cubicBezTo>
                    <a:pt x="110048" y="155682"/>
                    <a:pt x="82946" y="155682"/>
                    <a:pt x="62004" y="146648"/>
                  </a:cubicBezTo>
                  <a:cubicBezTo>
                    <a:pt x="41062" y="137614"/>
                    <a:pt x="10676" y="115030"/>
                    <a:pt x="5338" y="97866"/>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632" name="ellipse_2612">
              <a:extLst>
                <a:ext uri="{FF2B5EF4-FFF2-40B4-BE49-F238E27FC236}">
                  <a16:creationId xmlns:a16="http://schemas.microsoft.com/office/drawing/2014/main" id="{ACF53CE3-1C37-025F-02A8-70EEA8DCFD7B}"/>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sp>
        <p:nvSpPr>
          <p:cNvPr id="633" name="Blob centroid marker">
            <a:extLst>
              <a:ext uri="{FF2B5EF4-FFF2-40B4-BE49-F238E27FC236}">
                <a16:creationId xmlns:a16="http://schemas.microsoft.com/office/drawing/2014/main" id="{EDD959CF-D4D3-5624-F7B2-BF9345634585}"/>
              </a:ext>
            </a:extLst>
          </p:cNvPr>
          <p:cNvSpPr/>
          <p:nvPr/>
        </p:nvSpPr>
        <p:spPr>
          <a:xfrm>
            <a:off x="1824075" y="2450316"/>
            <a:ext cx="24301" cy="24301"/>
          </a:xfrm>
          <a:prstGeom prst="ellipse">
            <a:avLst/>
          </a:prstGeom>
          <a:solidFill>
            <a:srgbClr val="1D4ED8"/>
          </a:solidFill>
          <a:ln w="762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34" name="TextBox 12188">
            <a:extLst>
              <a:ext uri="{FF2B5EF4-FFF2-40B4-BE49-F238E27FC236}">
                <a16:creationId xmlns:a16="http://schemas.microsoft.com/office/drawing/2014/main" id="{2C0C5B7E-EB59-C12C-034A-66725ABF262F}"/>
              </a:ext>
            </a:extLst>
          </p:cNvPr>
          <p:cNvSpPr txBox="1"/>
          <p:nvPr/>
        </p:nvSpPr>
        <p:spPr>
          <a:xfrm>
            <a:off x="1659904" y="2614551"/>
            <a:ext cx="328616" cy="92333"/>
          </a:xfrm>
          <a:prstGeom prst="rect">
            <a:avLst/>
          </a:prstGeom>
          <a:noFill/>
        </p:spPr>
        <p:txBody>
          <a:bodyPr wrap="none" lIns="0" tIns="0" rIns="0" bIns="0" anchor="ctr">
            <a:spAutoFit/>
          </a:bodyPr>
          <a:lstStyle/>
          <a:p>
            <a:pPr algn="ctr">
              <a:lnSpc>
                <a:spcPct val="105000"/>
              </a:lnSpc>
            </a:pPr>
            <a:r>
              <a:rPr sz="614" dirty="0">
                <a:solidFill>
                  <a:srgbClr val="263442"/>
                </a:solidFill>
                <a:latin typeface="Arial"/>
              </a:rPr>
              <a:t>3D U-Net</a:t>
            </a:r>
          </a:p>
        </p:txBody>
      </p:sp>
      <p:sp>
        <p:nvSpPr>
          <p:cNvPr id="635" name="TextBox 12189">
            <a:extLst>
              <a:ext uri="{FF2B5EF4-FFF2-40B4-BE49-F238E27FC236}">
                <a16:creationId xmlns:a16="http://schemas.microsoft.com/office/drawing/2014/main" id="{8153BF98-6A0C-0786-710E-3D0EE8987AAA}"/>
              </a:ext>
            </a:extLst>
          </p:cNvPr>
          <p:cNvSpPr txBox="1"/>
          <p:nvPr/>
        </p:nvSpPr>
        <p:spPr>
          <a:xfrm>
            <a:off x="2077123" y="2623546"/>
            <a:ext cx="514564" cy="90218"/>
          </a:xfrm>
          <a:prstGeom prst="rect">
            <a:avLst/>
          </a:prstGeom>
          <a:noFill/>
        </p:spPr>
        <p:txBody>
          <a:bodyPr wrap="none" lIns="0" tIns="0" rIns="0" bIns="0" anchor="ctr">
            <a:spAutoFit/>
          </a:bodyPr>
          <a:lstStyle/>
          <a:p>
            <a:pPr algn="ctr">
              <a:lnSpc>
                <a:spcPct val="105000"/>
              </a:lnSpc>
            </a:pPr>
            <a:r>
              <a:rPr lang="en-US" sz="600" dirty="0">
                <a:solidFill>
                  <a:srgbClr val="263442"/>
                </a:solidFill>
                <a:latin typeface="Arial"/>
              </a:rPr>
              <a:t>B</a:t>
            </a:r>
            <a:r>
              <a:rPr lang="en-US" altLang="zh-CN" sz="600" dirty="0">
                <a:solidFill>
                  <a:srgbClr val="263442"/>
                </a:solidFill>
                <a:latin typeface="Arial"/>
              </a:rPr>
              <a:t>ase s</a:t>
            </a:r>
            <a:r>
              <a:rPr sz="600" dirty="0">
                <a:solidFill>
                  <a:srgbClr val="263442"/>
                </a:solidFill>
                <a:latin typeface="Arial"/>
              </a:rPr>
              <a:t>ummary</a:t>
            </a:r>
          </a:p>
        </p:txBody>
      </p:sp>
      <p:sp>
        <p:nvSpPr>
          <p:cNvPr id="636" name="Math | h_j^vox">
            <a:extLst>
              <a:ext uri="{FF2B5EF4-FFF2-40B4-BE49-F238E27FC236}">
                <a16:creationId xmlns:a16="http://schemas.microsoft.com/office/drawing/2014/main" id="{93EC2205-1821-C3E9-E08B-23B27F07452E}"/>
              </a:ext>
            </a:extLst>
          </p:cNvPr>
          <p:cNvSpPr txBox="1"/>
          <p:nvPr/>
        </p:nvSpPr>
        <p:spPr>
          <a:xfrm>
            <a:off x="2252881" y="2371206"/>
            <a:ext cx="169918" cy="126509"/>
          </a:xfrm>
          <a:prstGeom prst="rect">
            <a:avLst/>
          </a:prstGeom>
          <a:noFill/>
        </p:spPr>
        <p:txBody>
          <a:bodyPr wrap="none" lIns="0" tIns="0" rIns="0" bIns="0" anchor="ctr">
            <a:spAutoFit/>
          </a:bodyPr>
          <a:lstStyle/>
          <a:p>
            <a:pPr algn="ctr"/>
            <a:r>
              <a:rPr sz="855" i="1">
                <a:solidFill>
                  <a:srgbClr val="263442"/>
                </a:solidFill>
                <a:latin typeface="Times New Roman"/>
              </a:rPr>
              <a:t>h</a:t>
            </a:r>
            <a:r>
              <a:rPr sz="780" i="1" baseline="-28000">
                <a:solidFill>
                  <a:srgbClr val="263442"/>
                </a:solidFill>
                <a:latin typeface="Times New Roman"/>
              </a:rPr>
              <a:t>j</a:t>
            </a:r>
            <a:r>
              <a:rPr sz="780" baseline="32000">
                <a:solidFill>
                  <a:srgbClr val="263442"/>
                </a:solidFill>
                <a:latin typeface="Arial"/>
              </a:rPr>
              <a:t>vox</a:t>
            </a:r>
          </a:p>
        </p:txBody>
      </p:sp>
      <p:sp>
        <p:nvSpPr>
          <p:cNvPr id="637" name="Base summary bar_1">
            <a:extLst>
              <a:ext uri="{FF2B5EF4-FFF2-40B4-BE49-F238E27FC236}">
                <a16:creationId xmlns:a16="http://schemas.microsoft.com/office/drawing/2014/main" id="{99E9D3C4-A8BD-9C93-615E-C771AE07C8E3}"/>
              </a:ext>
            </a:extLst>
          </p:cNvPr>
          <p:cNvSpPr/>
          <p:nvPr/>
        </p:nvSpPr>
        <p:spPr>
          <a:xfrm>
            <a:off x="2156411" y="2549118"/>
            <a:ext cx="44072" cy="59328"/>
          </a:xfrm>
          <a:prstGeom prst="rect">
            <a:avLst/>
          </a:prstGeom>
          <a:solidFill>
            <a:srgbClr val="367FB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38" name="Base summary bar_2">
            <a:extLst>
              <a:ext uri="{FF2B5EF4-FFF2-40B4-BE49-F238E27FC236}">
                <a16:creationId xmlns:a16="http://schemas.microsoft.com/office/drawing/2014/main" id="{6BC787CE-AF83-7509-7C88-9AB58DB6F66F}"/>
              </a:ext>
            </a:extLst>
          </p:cNvPr>
          <p:cNvSpPr/>
          <p:nvPr/>
        </p:nvSpPr>
        <p:spPr>
          <a:xfrm>
            <a:off x="2204438" y="2549118"/>
            <a:ext cx="44072" cy="59328"/>
          </a:xfrm>
          <a:prstGeom prst="rect">
            <a:avLst/>
          </a:prstGeom>
          <a:solidFill>
            <a:srgbClr val="7EAED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39" name="Base summary bar_3">
            <a:extLst>
              <a:ext uri="{FF2B5EF4-FFF2-40B4-BE49-F238E27FC236}">
                <a16:creationId xmlns:a16="http://schemas.microsoft.com/office/drawing/2014/main" id="{269240CC-07F6-8569-D6D0-2E898FDFE671}"/>
              </a:ext>
            </a:extLst>
          </p:cNvPr>
          <p:cNvSpPr/>
          <p:nvPr/>
        </p:nvSpPr>
        <p:spPr>
          <a:xfrm>
            <a:off x="2252465" y="2549118"/>
            <a:ext cx="44072" cy="59328"/>
          </a:xfrm>
          <a:prstGeom prst="rect">
            <a:avLst/>
          </a:prstGeom>
          <a:solidFill>
            <a:srgbClr val="BCD8E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40" name="Base summary bar_4">
            <a:extLst>
              <a:ext uri="{FF2B5EF4-FFF2-40B4-BE49-F238E27FC236}">
                <a16:creationId xmlns:a16="http://schemas.microsoft.com/office/drawing/2014/main" id="{D027E165-A9E7-E339-F192-6FC69D94CA5E}"/>
              </a:ext>
            </a:extLst>
          </p:cNvPr>
          <p:cNvSpPr/>
          <p:nvPr/>
        </p:nvSpPr>
        <p:spPr>
          <a:xfrm>
            <a:off x="2300493" y="2549118"/>
            <a:ext cx="44072" cy="59328"/>
          </a:xfrm>
          <a:prstGeom prst="rect">
            <a:avLst/>
          </a:prstGeom>
          <a:solidFill>
            <a:srgbClr val="88C3B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41" name="Base summary bar_5">
            <a:extLst>
              <a:ext uri="{FF2B5EF4-FFF2-40B4-BE49-F238E27FC236}">
                <a16:creationId xmlns:a16="http://schemas.microsoft.com/office/drawing/2014/main" id="{AF544338-D23E-CE3C-A6B8-4FA37DCAD82E}"/>
              </a:ext>
            </a:extLst>
          </p:cNvPr>
          <p:cNvSpPr/>
          <p:nvPr/>
        </p:nvSpPr>
        <p:spPr>
          <a:xfrm>
            <a:off x="2348521" y="2549118"/>
            <a:ext cx="44072" cy="59328"/>
          </a:xfrm>
          <a:prstGeom prst="rect">
            <a:avLst/>
          </a:prstGeom>
          <a:solidFill>
            <a:srgbClr val="23877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42" name="Base summary bar_6">
            <a:extLst>
              <a:ext uri="{FF2B5EF4-FFF2-40B4-BE49-F238E27FC236}">
                <a16:creationId xmlns:a16="http://schemas.microsoft.com/office/drawing/2014/main" id="{9F80EB35-B4A7-2FA2-7A0C-B02A9915E4EB}"/>
              </a:ext>
            </a:extLst>
          </p:cNvPr>
          <p:cNvSpPr/>
          <p:nvPr/>
        </p:nvSpPr>
        <p:spPr>
          <a:xfrm>
            <a:off x="2396548" y="2549118"/>
            <a:ext cx="44072" cy="59328"/>
          </a:xfrm>
          <a:prstGeom prst="rect">
            <a:avLst/>
          </a:prstGeom>
          <a:solidFill>
            <a:srgbClr val="B1A4C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43" name="Base summary bar_7">
            <a:extLst>
              <a:ext uri="{FF2B5EF4-FFF2-40B4-BE49-F238E27FC236}">
                <a16:creationId xmlns:a16="http://schemas.microsoft.com/office/drawing/2014/main" id="{763E1301-00D0-44E1-3425-288C0321EC85}"/>
              </a:ext>
            </a:extLst>
          </p:cNvPr>
          <p:cNvSpPr/>
          <p:nvPr/>
        </p:nvSpPr>
        <p:spPr>
          <a:xfrm>
            <a:off x="2444575" y="2549118"/>
            <a:ext cx="44072" cy="59328"/>
          </a:xfrm>
          <a:prstGeom prst="rect">
            <a:avLst/>
          </a:prstGeom>
          <a:solidFill>
            <a:srgbClr val="D4CBE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44" name="Op | Mean/max pool">
            <a:extLst>
              <a:ext uri="{FF2B5EF4-FFF2-40B4-BE49-F238E27FC236}">
                <a16:creationId xmlns:a16="http://schemas.microsoft.com/office/drawing/2014/main" id="{C4850A78-C957-EF45-0669-F1FA2501E311}"/>
              </a:ext>
            </a:extLst>
          </p:cNvPr>
          <p:cNvSpPr/>
          <p:nvPr/>
        </p:nvSpPr>
        <p:spPr>
          <a:xfrm>
            <a:off x="669841" y="3452879"/>
            <a:ext cx="617009" cy="150297"/>
          </a:xfrm>
          <a:prstGeom prst="roundRect">
            <a:avLst>
              <a:gd name="adj" fmla="val 18000"/>
            </a:avLst>
          </a:prstGeom>
          <a:solidFill>
            <a:srgbClr val="E9F3EE"/>
          </a:solidFill>
          <a:ln w="7290">
            <a:solidFill>
              <a:srgbClr val="68AC9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Mean/max pool</a:t>
            </a:r>
          </a:p>
        </p:txBody>
      </p:sp>
      <p:sp>
        <p:nvSpPr>
          <p:cNvPr id="645" name="Op | Cross-attention">
            <a:extLst>
              <a:ext uri="{FF2B5EF4-FFF2-40B4-BE49-F238E27FC236}">
                <a16:creationId xmlns:a16="http://schemas.microsoft.com/office/drawing/2014/main" id="{11FEE5AE-99F9-B083-0D93-CFC8DBD07D63}"/>
              </a:ext>
            </a:extLst>
          </p:cNvPr>
          <p:cNvSpPr/>
          <p:nvPr/>
        </p:nvSpPr>
        <p:spPr>
          <a:xfrm>
            <a:off x="1365954" y="3452879"/>
            <a:ext cx="648651" cy="150297"/>
          </a:xfrm>
          <a:prstGeom prst="roundRect">
            <a:avLst>
              <a:gd name="adj" fmla="val 18000"/>
            </a:avLst>
          </a:prstGeom>
          <a:solidFill>
            <a:srgbClr val="E9F3EE"/>
          </a:solidFill>
          <a:ln w="7290">
            <a:solidFill>
              <a:srgbClr val="68AC9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Cross-attention</a:t>
            </a:r>
          </a:p>
        </p:txBody>
      </p:sp>
      <p:sp>
        <p:nvSpPr>
          <p:cNvPr id="646" name="TextBox 12200">
            <a:extLst>
              <a:ext uri="{FF2B5EF4-FFF2-40B4-BE49-F238E27FC236}">
                <a16:creationId xmlns:a16="http://schemas.microsoft.com/office/drawing/2014/main" id="{884D8F93-171F-A6AB-A603-7E1006874447}"/>
              </a:ext>
            </a:extLst>
          </p:cNvPr>
          <p:cNvSpPr txBox="1"/>
          <p:nvPr/>
        </p:nvSpPr>
        <p:spPr>
          <a:xfrm>
            <a:off x="1735251" y="3370950"/>
            <a:ext cx="134652" cy="80599"/>
          </a:xfrm>
          <a:prstGeom prst="rect">
            <a:avLst/>
          </a:prstGeom>
          <a:noFill/>
        </p:spPr>
        <p:txBody>
          <a:bodyPr wrap="none" lIns="0" tIns="0" rIns="0" bIns="0" anchor="ctr">
            <a:spAutoFit/>
          </a:bodyPr>
          <a:lstStyle/>
          <a:p>
            <a:pPr algn="l">
              <a:lnSpc>
                <a:spcPct val="105000"/>
              </a:lnSpc>
            </a:pPr>
            <a:r>
              <a:rPr sz="536" dirty="0">
                <a:solidFill>
                  <a:srgbClr val="263442"/>
                </a:solidFill>
                <a:latin typeface="Arial"/>
              </a:rPr>
              <a:t>K, V</a:t>
            </a:r>
          </a:p>
        </p:txBody>
      </p:sp>
      <p:sp>
        <p:nvSpPr>
          <p:cNvPr id="647" name="Op | FiLM">
            <a:extLst>
              <a:ext uri="{FF2B5EF4-FFF2-40B4-BE49-F238E27FC236}">
                <a16:creationId xmlns:a16="http://schemas.microsoft.com/office/drawing/2014/main" id="{59F3449A-984C-C7E7-FC02-0C47B43E0DFD}"/>
              </a:ext>
            </a:extLst>
          </p:cNvPr>
          <p:cNvSpPr/>
          <p:nvPr/>
        </p:nvSpPr>
        <p:spPr>
          <a:xfrm>
            <a:off x="2156994" y="3738251"/>
            <a:ext cx="300518" cy="150259"/>
          </a:xfrm>
          <a:prstGeom prst="roundRect">
            <a:avLst>
              <a:gd name="adj" fmla="val 25000"/>
            </a:avLst>
          </a:prstGeom>
          <a:solidFill>
            <a:srgbClr val="EDE7F5"/>
          </a:solidFill>
          <a:ln w="7290">
            <a:solidFill>
              <a:srgbClr val="B8A9D9"/>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623">
                <a:solidFill>
                  <a:srgbClr val="263442"/>
                </a:solidFill>
                <a:latin typeface="Arial"/>
              </a:rPr>
              <a:t>FiLM</a:t>
            </a:r>
          </a:p>
        </p:txBody>
      </p:sp>
      <p:sp>
        <p:nvSpPr>
          <p:cNvPr id="648" name="TextBox 12202">
            <a:extLst>
              <a:ext uri="{FF2B5EF4-FFF2-40B4-BE49-F238E27FC236}">
                <a16:creationId xmlns:a16="http://schemas.microsoft.com/office/drawing/2014/main" id="{6F9F40E0-7819-CEA2-6131-C4ABBC19B945}"/>
              </a:ext>
            </a:extLst>
          </p:cNvPr>
          <p:cNvSpPr txBox="1"/>
          <p:nvPr/>
        </p:nvSpPr>
        <p:spPr>
          <a:xfrm>
            <a:off x="2097664" y="3430400"/>
            <a:ext cx="126566" cy="84510"/>
          </a:xfrm>
          <a:prstGeom prst="rect">
            <a:avLst/>
          </a:prstGeom>
          <a:noFill/>
        </p:spPr>
        <p:txBody>
          <a:bodyPr wrap="square" lIns="0" tIns="0" rIns="0" bIns="0" anchor="ctr">
            <a:spAutoFit/>
          </a:bodyPr>
          <a:lstStyle/>
          <a:p>
            <a:pPr algn="ctr">
              <a:lnSpc>
                <a:spcPct val="105000"/>
              </a:lnSpc>
            </a:pPr>
            <a:r>
              <a:rPr sz="562">
                <a:solidFill>
                  <a:srgbClr val="263442"/>
                </a:solidFill>
                <a:latin typeface="Arial"/>
              </a:rPr>
              <a:t>Q</a:t>
            </a:r>
          </a:p>
        </p:txBody>
      </p:sp>
      <p:sp>
        <p:nvSpPr>
          <p:cNvPr id="649" name="Op | MLP">
            <a:extLst>
              <a:ext uri="{FF2B5EF4-FFF2-40B4-BE49-F238E27FC236}">
                <a16:creationId xmlns:a16="http://schemas.microsoft.com/office/drawing/2014/main" id="{554F5441-96D3-CFD3-6A6E-CA8C906F4B29}"/>
              </a:ext>
            </a:extLst>
          </p:cNvPr>
          <p:cNvSpPr/>
          <p:nvPr/>
        </p:nvSpPr>
        <p:spPr>
          <a:xfrm>
            <a:off x="1160262" y="3738251"/>
            <a:ext cx="347904" cy="150259"/>
          </a:xfrm>
          <a:prstGeom prst="roundRect">
            <a:avLst>
              <a:gd name="adj" fmla="val 18000"/>
            </a:avLst>
          </a:prstGeom>
          <a:solidFill>
            <a:srgbClr val="E9F3EE"/>
          </a:solidFill>
          <a:ln w="7290">
            <a:solidFill>
              <a:srgbClr val="68AC9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MLP</a:t>
            </a:r>
          </a:p>
        </p:txBody>
      </p:sp>
      <p:sp>
        <p:nvSpPr>
          <p:cNvPr id="650" name="h_j bar_1">
            <a:extLst>
              <a:ext uri="{FF2B5EF4-FFF2-40B4-BE49-F238E27FC236}">
                <a16:creationId xmlns:a16="http://schemas.microsoft.com/office/drawing/2014/main" id="{99BF7016-0AEC-5CA1-43D0-0CC405933ADD}"/>
              </a:ext>
            </a:extLst>
          </p:cNvPr>
          <p:cNvSpPr/>
          <p:nvPr/>
        </p:nvSpPr>
        <p:spPr>
          <a:xfrm>
            <a:off x="2141171" y="3989994"/>
            <a:ext cx="44072" cy="56955"/>
          </a:xfrm>
          <a:prstGeom prst="rect">
            <a:avLst/>
          </a:prstGeom>
          <a:solidFill>
            <a:srgbClr val="367FB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51" name="h_j bar_2">
            <a:extLst>
              <a:ext uri="{FF2B5EF4-FFF2-40B4-BE49-F238E27FC236}">
                <a16:creationId xmlns:a16="http://schemas.microsoft.com/office/drawing/2014/main" id="{71708831-906F-DB31-D516-DA6520DB6B6E}"/>
              </a:ext>
            </a:extLst>
          </p:cNvPr>
          <p:cNvSpPr/>
          <p:nvPr/>
        </p:nvSpPr>
        <p:spPr>
          <a:xfrm>
            <a:off x="2189198" y="3989994"/>
            <a:ext cx="44072" cy="56955"/>
          </a:xfrm>
          <a:prstGeom prst="rect">
            <a:avLst/>
          </a:prstGeom>
          <a:solidFill>
            <a:srgbClr val="7EAED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52" name="h_j bar_3">
            <a:extLst>
              <a:ext uri="{FF2B5EF4-FFF2-40B4-BE49-F238E27FC236}">
                <a16:creationId xmlns:a16="http://schemas.microsoft.com/office/drawing/2014/main" id="{E1CF9CE6-644D-2199-D558-FB2748AF4CA8}"/>
              </a:ext>
            </a:extLst>
          </p:cNvPr>
          <p:cNvSpPr/>
          <p:nvPr/>
        </p:nvSpPr>
        <p:spPr>
          <a:xfrm>
            <a:off x="2237225" y="3989994"/>
            <a:ext cx="44072" cy="56955"/>
          </a:xfrm>
          <a:prstGeom prst="rect">
            <a:avLst/>
          </a:prstGeom>
          <a:solidFill>
            <a:srgbClr val="BCD8E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53" name="h_j bar_4">
            <a:extLst>
              <a:ext uri="{FF2B5EF4-FFF2-40B4-BE49-F238E27FC236}">
                <a16:creationId xmlns:a16="http://schemas.microsoft.com/office/drawing/2014/main" id="{0B1E11C4-B6B0-8410-69CA-ECA06B016C11}"/>
              </a:ext>
            </a:extLst>
          </p:cNvPr>
          <p:cNvSpPr/>
          <p:nvPr/>
        </p:nvSpPr>
        <p:spPr>
          <a:xfrm>
            <a:off x="2285253" y="3989994"/>
            <a:ext cx="44072" cy="56955"/>
          </a:xfrm>
          <a:prstGeom prst="rect">
            <a:avLst/>
          </a:prstGeom>
          <a:solidFill>
            <a:srgbClr val="88C3B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54" name="h_j bar_5">
            <a:extLst>
              <a:ext uri="{FF2B5EF4-FFF2-40B4-BE49-F238E27FC236}">
                <a16:creationId xmlns:a16="http://schemas.microsoft.com/office/drawing/2014/main" id="{2A27D763-25D4-1A48-A9AB-8AE10B5867F3}"/>
              </a:ext>
            </a:extLst>
          </p:cNvPr>
          <p:cNvSpPr/>
          <p:nvPr/>
        </p:nvSpPr>
        <p:spPr>
          <a:xfrm>
            <a:off x="2333281" y="3989994"/>
            <a:ext cx="44072" cy="56955"/>
          </a:xfrm>
          <a:prstGeom prst="rect">
            <a:avLst/>
          </a:prstGeom>
          <a:solidFill>
            <a:srgbClr val="23877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55" name="h_j bar_6">
            <a:extLst>
              <a:ext uri="{FF2B5EF4-FFF2-40B4-BE49-F238E27FC236}">
                <a16:creationId xmlns:a16="http://schemas.microsoft.com/office/drawing/2014/main" id="{CC2DBA64-D0DF-1160-5FEF-C265BF4EAB35}"/>
              </a:ext>
            </a:extLst>
          </p:cNvPr>
          <p:cNvSpPr/>
          <p:nvPr/>
        </p:nvSpPr>
        <p:spPr>
          <a:xfrm>
            <a:off x="2381308" y="3989994"/>
            <a:ext cx="44072" cy="56955"/>
          </a:xfrm>
          <a:prstGeom prst="rect">
            <a:avLst/>
          </a:prstGeom>
          <a:solidFill>
            <a:srgbClr val="B1A4C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56" name="h_j bar_7">
            <a:extLst>
              <a:ext uri="{FF2B5EF4-FFF2-40B4-BE49-F238E27FC236}">
                <a16:creationId xmlns:a16="http://schemas.microsoft.com/office/drawing/2014/main" id="{3E031F7D-E2D9-9D11-0526-4D352C453584}"/>
              </a:ext>
            </a:extLst>
          </p:cNvPr>
          <p:cNvSpPr/>
          <p:nvPr/>
        </p:nvSpPr>
        <p:spPr>
          <a:xfrm>
            <a:off x="2429335" y="3989994"/>
            <a:ext cx="44072" cy="56955"/>
          </a:xfrm>
          <a:prstGeom prst="rect">
            <a:avLst/>
          </a:prstGeom>
          <a:solidFill>
            <a:srgbClr val="D4CBE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57" name="Math | h_j^">
            <a:extLst>
              <a:ext uri="{FF2B5EF4-FFF2-40B4-BE49-F238E27FC236}">
                <a16:creationId xmlns:a16="http://schemas.microsoft.com/office/drawing/2014/main" id="{9AC920D3-16D2-273E-04D3-53357E82FB0E}"/>
              </a:ext>
            </a:extLst>
          </p:cNvPr>
          <p:cNvSpPr txBox="1"/>
          <p:nvPr/>
        </p:nvSpPr>
        <p:spPr>
          <a:xfrm>
            <a:off x="2026801" y="3947306"/>
            <a:ext cx="70532" cy="126509"/>
          </a:xfrm>
          <a:prstGeom prst="rect">
            <a:avLst/>
          </a:prstGeom>
          <a:noFill/>
        </p:spPr>
        <p:txBody>
          <a:bodyPr wrap="none" lIns="0" tIns="0" rIns="0" bIns="0" anchor="ctr">
            <a:spAutoFit/>
          </a:bodyPr>
          <a:lstStyle/>
          <a:p>
            <a:pPr algn="ctr"/>
            <a:r>
              <a:rPr sz="855" i="1">
                <a:solidFill>
                  <a:srgbClr val="263442"/>
                </a:solidFill>
                <a:latin typeface="Times New Roman"/>
              </a:rPr>
              <a:t>h</a:t>
            </a:r>
            <a:r>
              <a:rPr sz="780" i="1" baseline="-28000">
                <a:solidFill>
                  <a:srgbClr val="263442"/>
                </a:solidFill>
                <a:latin typeface="Times New Roman"/>
              </a:rPr>
              <a:t>j</a:t>
            </a:r>
          </a:p>
        </p:txBody>
      </p:sp>
      <p:sp>
        <p:nvSpPr>
          <p:cNvPr id="658" name="Op | Foreground head">
            <a:extLst>
              <a:ext uri="{FF2B5EF4-FFF2-40B4-BE49-F238E27FC236}">
                <a16:creationId xmlns:a16="http://schemas.microsoft.com/office/drawing/2014/main" id="{772C4BD8-070D-6A2C-3C5B-CCE55BD09041}"/>
              </a:ext>
            </a:extLst>
          </p:cNvPr>
          <p:cNvSpPr/>
          <p:nvPr/>
        </p:nvSpPr>
        <p:spPr>
          <a:xfrm>
            <a:off x="756855" y="4181937"/>
            <a:ext cx="696113" cy="150297"/>
          </a:xfrm>
          <a:prstGeom prst="roundRect">
            <a:avLst>
              <a:gd name="adj" fmla="val 18000"/>
            </a:avLst>
          </a:prstGeom>
          <a:solidFill>
            <a:srgbClr val="E9F3EE"/>
          </a:solidFill>
          <a:ln w="7290">
            <a:solidFill>
              <a:srgbClr val="68AC9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Foreground head</a:t>
            </a:r>
          </a:p>
        </p:txBody>
      </p:sp>
      <p:sp>
        <p:nvSpPr>
          <p:cNvPr id="659" name="Math | p_j^fg">
            <a:extLst>
              <a:ext uri="{FF2B5EF4-FFF2-40B4-BE49-F238E27FC236}">
                <a16:creationId xmlns:a16="http://schemas.microsoft.com/office/drawing/2014/main" id="{04752E8A-9FFA-1739-18D7-365FF5D9A529}"/>
              </a:ext>
            </a:extLst>
          </p:cNvPr>
          <p:cNvSpPr txBox="1"/>
          <p:nvPr/>
        </p:nvSpPr>
        <p:spPr>
          <a:xfrm>
            <a:off x="1758300" y="4176444"/>
            <a:ext cx="121828" cy="122341"/>
          </a:xfrm>
          <a:prstGeom prst="rect">
            <a:avLst/>
          </a:prstGeom>
          <a:noFill/>
        </p:spPr>
        <p:txBody>
          <a:bodyPr wrap="none" lIns="0" tIns="0" rIns="0" bIns="0" anchor="ctr">
            <a:spAutoFit/>
          </a:bodyPr>
          <a:lstStyle/>
          <a:p>
            <a:pPr algn="ctr"/>
            <a:r>
              <a:rPr sz="827" i="1" dirty="0" err="1">
                <a:solidFill>
                  <a:srgbClr val="263442"/>
                </a:solidFill>
                <a:latin typeface="Times New Roman"/>
              </a:rPr>
              <a:t>p</a:t>
            </a:r>
            <a:r>
              <a:rPr sz="780" i="1" baseline="-28000" dirty="0" err="1">
                <a:solidFill>
                  <a:srgbClr val="263442"/>
                </a:solidFill>
                <a:latin typeface="Times New Roman"/>
              </a:rPr>
              <a:t>j</a:t>
            </a:r>
            <a:r>
              <a:rPr sz="780" baseline="32000" dirty="0" err="1">
                <a:solidFill>
                  <a:srgbClr val="263442"/>
                </a:solidFill>
                <a:latin typeface="Arial"/>
              </a:rPr>
              <a:t>fg</a:t>
            </a:r>
            <a:endParaRPr sz="780" baseline="32000" dirty="0">
              <a:solidFill>
                <a:srgbClr val="263442"/>
              </a:solidFill>
              <a:latin typeface="Arial"/>
            </a:endParaRPr>
          </a:p>
        </p:txBody>
      </p:sp>
      <p:sp>
        <p:nvSpPr>
          <p:cNvPr id="660" name="TextBox 12215">
            <a:extLst>
              <a:ext uri="{FF2B5EF4-FFF2-40B4-BE49-F238E27FC236}">
                <a16:creationId xmlns:a16="http://schemas.microsoft.com/office/drawing/2014/main" id="{C45D4B31-EE62-7047-2BD0-7D7B985DADC4}"/>
              </a:ext>
            </a:extLst>
          </p:cNvPr>
          <p:cNvSpPr txBox="1"/>
          <p:nvPr/>
        </p:nvSpPr>
        <p:spPr>
          <a:xfrm>
            <a:off x="1489562" y="4310121"/>
            <a:ext cx="666849" cy="79445"/>
          </a:xfrm>
          <a:prstGeom prst="rect">
            <a:avLst/>
          </a:prstGeom>
          <a:noFill/>
        </p:spPr>
        <p:txBody>
          <a:bodyPr wrap="none" lIns="0" tIns="0" rIns="0" bIns="0" anchor="ctr">
            <a:spAutoFit/>
          </a:bodyPr>
          <a:lstStyle/>
          <a:p>
            <a:pPr algn="l">
              <a:lnSpc>
                <a:spcPct val="105000"/>
              </a:lnSpc>
            </a:pPr>
            <a:r>
              <a:rPr sz="528" dirty="0">
                <a:solidFill>
                  <a:srgbClr val="263442"/>
                </a:solidFill>
                <a:latin typeface="Arial"/>
              </a:rPr>
              <a:t>Foreground probability</a:t>
            </a:r>
          </a:p>
        </p:txBody>
      </p:sp>
      <p:sp>
        <p:nvSpPr>
          <p:cNvPr id="661" name="TextBox 12216">
            <a:extLst>
              <a:ext uri="{FF2B5EF4-FFF2-40B4-BE49-F238E27FC236}">
                <a16:creationId xmlns:a16="http://schemas.microsoft.com/office/drawing/2014/main" id="{978E7CF5-ACF2-460D-26F2-9B198BAAC63B}"/>
              </a:ext>
            </a:extLst>
          </p:cNvPr>
          <p:cNvSpPr txBox="1"/>
          <p:nvPr/>
        </p:nvSpPr>
        <p:spPr>
          <a:xfrm>
            <a:off x="3026355" y="2206291"/>
            <a:ext cx="1195840" cy="88422"/>
          </a:xfrm>
          <a:prstGeom prst="rect">
            <a:avLst/>
          </a:prstGeom>
          <a:noFill/>
        </p:spPr>
        <p:txBody>
          <a:bodyPr wrap="none" lIns="0" tIns="0" rIns="0" bIns="0" anchor="ctr">
            <a:spAutoFit/>
          </a:bodyPr>
          <a:lstStyle/>
          <a:p>
            <a:pPr algn="ctr">
              <a:lnSpc>
                <a:spcPct val="105000"/>
              </a:lnSpc>
            </a:pPr>
            <a:r>
              <a:rPr sz="588">
                <a:solidFill>
                  <a:srgbClr val="263442"/>
                </a:solidFill>
                <a:latin typeface="Arial"/>
              </a:rPr>
              <a:t>User-provided SMILES · same PDB</a:t>
            </a:r>
          </a:p>
        </p:txBody>
      </p:sp>
      <p:sp>
        <p:nvSpPr>
          <p:cNvPr id="662" name="Identity | SMILES list card">
            <a:extLst>
              <a:ext uri="{FF2B5EF4-FFF2-40B4-BE49-F238E27FC236}">
                <a16:creationId xmlns:a16="http://schemas.microsoft.com/office/drawing/2014/main" id="{7DA7890B-AB79-9717-CAA6-1EEE08F32188}"/>
              </a:ext>
            </a:extLst>
          </p:cNvPr>
          <p:cNvSpPr/>
          <p:nvPr/>
        </p:nvSpPr>
        <p:spPr>
          <a:xfrm>
            <a:off x="3205025" y="2309830"/>
            <a:ext cx="838500" cy="512745"/>
          </a:xfrm>
          <a:prstGeom prst="roundRect">
            <a:avLst>
              <a:gd name="adj" fmla="val 6000"/>
            </a:avLst>
          </a:prstGeom>
          <a:solidFill>
            <a:srgbClr val="FFFFFF"/>
          </a:solidFill>
          <a:ln w="7290">
            <a:solidFill>
              <a:srgbClr val="D0E0DA"/>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63" name="TextBox 12218">
            <a:extLst>
              <a:ext uri="{FF2B5EF4-FFF2-40B4-BE49-F238E27FC236}">
                <a16:creationId xmlns:a16="http://schemas.microsoft.com/office/drawing/2014/main" id="{86BB59AD-D134-C7C6-AEC0-14F6157A5F0B}"/>
              </a:ext>
            </a:extLst>
          </p:cNvPr>
          <p:cNvSpPr txBox="1"/>
          <p:nvPr/>
        </p:nvSpPr>
        <p:spPr>
          <a:xfrm>
            <a:off x="3260398" y="2338063"/>
            <a:ext cx="727754" cy="85921"/>
          </a:xfrm>
          <a:prstGeom prst="rect">
            <a:avLst/>
          </a:prstGeom>
          <a:noFill/>
        </p:spPr>
        <p:txBody>
          <a:bodyPr wrap="square" lIns="0" tIns="0" rIns="0" bIns="0" anchor="ctr">
            <a:spAutoFit/>
          </a:bodyPr>
          <a:lstStyle/>
          <a:p>
            <a:pPr algn="l">
              <a:lnSpc>
                <a:spcPct val="105000"/>
              </a:lnSpc>
            </a:pPr>
            <a:r>
              <a:rPr sz="571" dirty="0">
                <a:solidFill>
                  <a:srgbClr val="263442"/>
                </a:solidFill>
                <a:latin typeface="Arial"/>
              </a:rPr>
              <a:t>1   CCO</a:t>
            </a:r>
          </a:p>
        </p:txBody>
      </p:sp>
      <p:sp>
        <p:nvSpPr>
          <p:cNvPr id="664" name="TextBox 12219">
            <a:extLst>
              <a:ext uri="{FF2B5EF4-FFF2-40B4-BE49-F238E27FC236}">
                <a16:creationId xmlns:a16="http://schemas.microsoft.com/office/drawing/2014/main" id="{D5CEF1E2-0003-83A9-6C8B-869DF460C92C}"/>
              </a:ext>
            </a:extLst>
          </p:cNvPr>
          <p:cNvSpPr txBox="1"/>
          <p:nvPr/>
        </p:nvSpPr>
        <p:spPr>
          <a:xfrm>
            <a:off x="3260398" y="2440897"/>
            <a:ext cx="727754" cy="85921"/>
          </a:xfrm>
          <a:prstGeom prst="rect">
            <a:avLst/>
          </a:prstGeom>
          <a:noFill/>
        </p:spPr>
        <p:txBody>
          <a:bodyPr wrap="square" lIns="0" tIns="0" rIns="0" bIns="0" anchor="ctr">
            <a:spAutoFit/>
          </a:bodyPr>
          <a:lstStyle/>
          <a:p>
            <a:pPr algn="l">
              <a:lnSpc>
                <a:spcPct val="105000"/>
              </a:lnSpc>
            </a:pPr>
            <a:r>
              <a:rPr sz="571" dirty="0">
                <a:solidFill>
                  <a:srgbClr val="263442"/>
                </a:solidFill>
                <a:latin typeface="Arial"/>
              </a:rPr>
              <a:t>2   CC(=O)O</a:t>
            </a:r>
          </a:p>
        </p:txBody>
      </p:sp>
      <p:sp>
        <p:nvSpPr>
          <p:cNvPr id="665" name="Identity | Selected k pill">
            <a:extLst>
              <a:ext uri="{FF2B5EF4-FFF2-40B4-BE49-F238E27FC236}">
                <a16:creationId xmlns:a16="http://schemas.microsoft.com/office/drawing/2014/main" id="{484884C0-9180-67EB-D183-0D32CB2F3899}"/>
              </a:ext>
            </a:extLst>
          </p:cNvPr>
          <p:cNvSpPr/>
          <p:nvPr/>
        </p:nvSpPr>
        <p:spPr>
          <a:xfrm>
            <a:off x="3236667" y="2562853"/>
            <a:ext cx="775217" cy="118656"/>
          </a:xfrm>
          <a:prstGeom prst="roundRect">
            <a:avLst>
              <a:gd name="adj" fmla="val 18000"/>
            </a:avLst>
          </a:prstGeom>
          <a:solidFill>
            <a:srgbClr val="DCFCE7"/>
          </a:solidFill>
          <a:ln w="8890">
            <a:solidFill>
              <a:srgbClr val="3E997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66" name="TextBox 12222">
            <a:extLst>
              <a:ext uri="{FF2B5EF4-FFF2-40B4-BE49-F238E27FC236}">
                <a16:creationId xmlns:a16="http://schemas.microsoft.com/office/drawing/2014/main" id="{AF18D027-6125-FBDF-9BCD-9060B5C5E099}"/>
              </a:ext>
            </a:extLst>
          </p:cNvPr>
          <p:cNvSpPr txBox="1"/>
          <p:nvPr/>
        </p:nvSpPr>
        <p:spPr>
          <a:xfrm>
            <a:off x="3268308" y="2585570"/>
            <a:ext cx="711934" cy="85921"/>
          </a:xfrm>
          <a:prstGeom prst="rect">
            <a:avLst/>
          </a:prstGeom>
          <a:noFill/>
        </p:spPr>
        <p:txBody>
          <a:bodyPr wrap="square" lIns="0" tIns="0" rIns="0" bIns="0" anchor="ctr">
            <a:spAutoFit/>
          </a:bodyPr>
          <a:lstStyle/>
          <a:p>
            <a:pPr algn="l">
              <a:lnSpc>
                <a:spcPct val="105000"/>
              </a:lnSpc>
            </a:pPr>
            <a:r>
              <a:rPr sz="571" dirty="0">
                <a:solidFill>
                  <a:srgbClr val="263442"/>
                </a:solidFill>
                <a:latin typeface="Arial"/>
              </a:rPr>
              <a:t>k   Cc1ccccc1</a:t>
            </a:r>
          </a:p>
        </p:txBody>
      </p:sp>
      <p:sp>
        <p:nvSpPr>
          <p:cNvPr id="667" name="TextBox 12224">
            <a:extLst>
              <a:ext uri="{FF2B5EF4-FFF2-40B4-BE49-F238E27FC236}">
                <a16:creationId xmlns:a16="http://schemas.microsoft.com/office/drawing/2014/main" id="{4F02AD2D-3369-26A3-6D2F-44659C880CB7}"/>
              </a:ext>
            </a:extLst>
          </p:cNvPr>
          <p:cNvSpPr txBox="1"/>
          <p:nvPr/>
        </p:nvSpPr>
        <p:spPr>
          <a:xfrm>
            <a:off x="3260398" y="2714369"/>
            <a:ext cx="727754" cy="85921"/>
          </a:xfrm>
          <a:prstGeom prst="rect">
            <a:avLst/>
          </a:prstGeom>
          <a:noFill/>
        </p:spPr>
        <p:txBody>
          <a:bodyPr wrap="square" lIns="0" tIns="0" rIns="0" bIns="0" anchor="ctr">
            <a:spAutoFit/>
          </a:bodyPr>
          <a:lstStyle/>
          <a:p>
            <a:pPr algn="l">
              <a:lnSpc>
                <a:spcPct val="105000"/>
              </a:lnSpc>
            </a:pPr>
            <a:r>
              <a:rPr sz="571" dirty="0">
                <a:solidFill>
                  <a:srgbClr val="263442"/>
                </a:solidFill>
                <a:latin typeface="Arial"/>
              </a:rPr>
              <a:t>K   CC(N)=O</a:t>
            </a:r>
          </a:p>
        </p:txBody>
      </p:sp>
      <p:sp>
        <p:nvSpPr>
          <p:cNvPr id="668" name="TextBox 12225">
            <a:extLst>
              <a:ext uri="{FF2B5EF4-FFF2-40B4-BE49-F238E27FC236}">
                <a16:creationId xmlns:a16="http://schemas.microsoft.com/office/drawing/2014/main" id="{3E613D72-90CB-62FD-E861-8FE6E2F065B8}"/>
              </a:ext>
            </a:extLst>
          </p:cNvPr>
          <p:cNvSpPr txBox="1"/>
          <p:nvPr/>
        </p:nvSpPr>
        <p:spPr>
          <a:xfrm>
            <a:off x="2741172" y="2643822"/>
            <a:ext cx="181140" cy="80599"/>
          </a:xfrm>
          <a:prstGeom prst="rect">
            <a:avLst/>
          </a:prstGeom>
          <a:noFill/>
        </p:spPr>
        <p:txBody>
          <a:bodyPr wrap="none" lIns="0" tIns="0" rIns="0" bIns="0" anchor="ctr">
            <a:spAutoFit/>
          </a:bodyPr>
          <a:lstStyle/>
          <a:p>
            <a:pPr algn="l">
              <a:lnSpc>
                <a:spcPct val="105000"/>
              </a:lnSpc>
            </a:pPr>
            <a:r>
              <a:rPr sz="536" dirty="0" err="1">
                <a:solidFill>
                  <a:srgbClr val="263442"/>
                </a:solidFill>
                <a:latin typeface="Arial"/>
              </a:rPr>
              <a:t>RDKit</a:t>
            </a:r>
            <a:endParaRPr sz="536" dirty="0">
              <a:solidFill>
                <a:srgbClr val="263442"/>
              </a:solidFill>
              <a:latin typeface="Arial"/>
            </a:endParaRPr>
          </a:p>
        </p:txBody>
      </p:sp>
      <p:grpSp>
        <p:nvGrpSpPr>
          <p:cNvPr id="669" name="Identity | Own molecular graph">
            <a:extLst>
              <a:ext uri="{FF2B5EF4-FFF2-40B4-BE49-F238E27FC236}">
                <a16:creationId xmlns:a16="http://schemas.microsoft.com/office/drawing/2014/main" id="{683652C7-CC94-2A9C-935C-36CF7B7EB5E8}"/>
              </a:ext>
            </a:extLst>
          </p:cNvPr>
          <p:cNvGrpSpPr/>
          <p:nvPr/>
        </p:nvGrpSpPr>
        <p:grpSpPr>
          <a:xfrm>
            <a:off x="2817417" y="2888431"/>
            <a:ext cx="284773" cy="171742"/>
            <a:chOff x="3366271" y="3721905"/>
            <a:chExt cx="311024" cy="187573"/>
          </a:xfrm>
        </p:grpSpPr>
        <p:cxnSp>
          <p:nvCxnSpPr>
            <p:cNvPr id="670" name="path_2698">
              <a:extLst>
                <a:ext uri="{FF2B5EF4-FFF2-40B4-BE49-F238E27FC236}">
                  <a16:creationId xmlns:a16="http://schemas.microsoft.com/office/drawing/2014/main" id="{08C9C74A-0B12-2E3C-023F-C3DCDEFB7AF1}"/>
                </a:ext>
              </a:extLst>
            </p:cNvPr>
            <p:cNvCxnSpPr/>
            <p:nvPr/>
          </p:nvCxnSpPr>
          <p:spPr>
            <a:xfrm flipV="1">
              <a:off x="3381053" y="3736688"/>
              <a:ext cx="63663" cy="70463"/>
            </a:xfrm>
            <a:prstGeom prst="line">
              <a:avLst/>
            </a:prstGeom>
            <a:noFill/>
            <a:ln w="5256" cap="rnd" cmpd="sng" algn="ctr">
              <a:solidFill>
                <a:srgbClr val="238777"/>
              </a:solidFill>
              <a:prstDash val="solid"/>
              <a:round/>
              <a:headEnd type="none" w="med" len="med"/>
              <a:tailEnd type="none" w="med" len="med"/>
            </a:ln>
            <a:effectLst/>
          </p:spPr>
        </p:cxnSp>
        <p:cxnSp>
          <p:nvCxnSpPr>
            <p:cNvPr id="671" name="path_2699">
              <a:extLst>
                <a:ext uri="{FF2B5EF4-FFF2-40B4-BE49-F238E27FC236}">
                  <a16:creationId xmlns:a16="http://schemas.microsoft.com/office/drawing/2014/main" id="{1CF65ECB-9AC9-C310-5460-0B86FF6B2BC5}"/>
                </a:ext>
              </a:extLst>
            </p:cNvPr>
            <p:cNvCxnSpPr/>
            <p:nvPr/>
          </p:nvCxnSpPr>
          <p:spPr>
            <a:xfrm>
              <a:off x="3444717" y="3736688"/>
              <a:ext cx="113924" cy="14947"/>
            </a:xfrm>
            <a:prstGeom prst="line">
              <a:avLst/>
            </a:prstGeom>
            <a:noFill/>
            <a:ln w="5256" cap="rnd" cmpd="sng" algn="ctr">
              <a:solidFill>
                <a:srgbClr val="238777"/>
              </a:solidFill>
              <a:prstDash val="solid"/>
              <a:round/>
              <a:headEnd type="none" w="med" len="med"/>
              <a:tailEnd type="none" w="med" len="med"/>
            </a:ln>
            <a:effectLst/>
          </p:spPr>
        </p:cxnSp>
        <p:cxnSp>
          <p:nvCxnSpPr>
            <p:cNvPr id="672" name="path_2700">
              <a:extLst>
                <a:ext uri="{FF2B5EF4-FFF2-40B4-BE49-F238E27FC236}">
                  <a16:creationId xmlns:a16="http://schemas.microsoft.com/office/drawing/2014/main" id="{47F0AAAA-D782-D4D4-41E7-7304CCE8D568}"/>
                </a:ext>
              </a:extLst>
            </p:cNvPr>
            <p:cNvCxnSpPr/>
            <p:nvPr/>
          </p:nvCxnSpPr>
          <p:spPr>
            <a:xfrm>
              <a:off x="3558640" y="3751634"/>
              <a:ext cx="73715" cy="64058"/>
            </a:xfrm>
            <a:prstGeom prst="line">
              <a:avLst/>
            </a:prstGeom>
            <a:noFill/>
            <a:ln w="5256" cap="rnd" cmpd="sng" algn="ctr">
              <a:solidFill>
                <a:srgbClr val="238777"/>
              </a:solidFill>
              <a:prstDash val="solid"/>
              <a:round/>
              <a:headEnd type="none" w="med" len="med"/>
              <a:tailEnd type="none" w="med" len="med"/>
            </a:ln>
            <a:effectLst/>
          </p:spPr>
        </p:cxnSp>
        <p:cxnSp>
          <p:nvCxnSpPr>
            <p:cNvPr id="673" name="path_2701">
              <a:extLst>
                <a:ext uri="{FF2B5EF4-FFF2-40B4-BE49-F238E27FC236}">
                  <a16:creationId xmlns:a16="http://schemas.microsoft.com/office/drawing/2014/main" id="{672DEF92-FEF6-A8B8-A079-671D6D70071E}"/>
                </a:ext>
              </a:extLst>
            </p:cNvPr>
            <p:cNvCxnSpPr/>
            <p:nvPr/>
          </p:nvCxnSpPr>
          <p:spPr>
            <a:xfrm flipH="1">
              <a:off x="3561991" y="3815692"/>
              <a:ext cx="70365" cy="79004"/>
            </a:xfrm>
            <a:prstGeom prst="line">
              <a:avLst/>
            </a:prstGeom>
            <a:noFill/>
            <a:ln w="5256" cap="rnd" cmpd="sng" algn="ctr">
              <a:solidFill>
                <a:srgbClr val="238777"/>
              </a:solidFill>
              <a:prstDash val="solid"/>
              <a:round/>
              <a:headEnd type="none" w="med" len="med"/>
              <a:tailEnd type="none" w="med" len="med"/>
            </a:ln>
            <a:effectLst/>
          </p:spPr>
        </p:cxnSp>
        <p:cxnSp>
          <p:nvCxnSpPr>
            <p:cNvPr id="674" name="path_2702">
              <a:extLst>
                <a:ext uri="{FF2B5EF4-FFF2-40B4-BE49-F238E27FC236}">
                  <a16:creationId xmlns:a16="http://schemas.microsoft.com/office/drawing/2014/main" id="{B02A38E3-8AB1-C1CA-A784-7A02E63B2D09}"/>
                </a:ext>
              </a:extLst>
            </p:cNvPr>
            <p:cNvCxnSpPr/>
            <p:nvPr/>
          </p:nvCxnSpPr>
          <p:spPr>
            <a:xfrm flipH="1" flipV="1">
              <a:off x="3444717" y="3875479"/>
              <a:ext cx="117275" cy="19217"/>
            </a:xfrm>
            <a:prstGeom prst="line">
              <a:avLst/>
            </a:prstGeom>
            <a:noFill/>
            <a:ln w="5256" cap="rnd" cmpd="sng" algn="ctr">
              <a:solidFill>
                <a:srgbClr val="238777"/>
              </a:solidFill>
              <a:prstDash val="solid"/>
              <a:round/>
              <a:headEnd type="none" w="med" len="med"/>
              <a:tailEnd type="none" w="med" len="med"/>
            </a:ln>
            <a:effectLst/>
          </p:spPr>
        </p:cxnSp>
        <p:cxnSp>
          <p:nvCxnSpPr>
            <p:cNvPr id="675" name="path_2703">
              <a:extLst>
                <a:ext uri="{FF2B5EF4-FFF2-40B4-BE49-F238E27FC236}">
                  <a16:creationId xmlns:a16="http://schemas.microsoft.com/office/drawing/2014/main" id="{5EB27651-D3BE-22CD-39D8-D428781F5F97}"/>
                </a:ext>
              </a:extLst>
            </p:cNvPr>
            <p:cNvCxnSpPr/>
            <p:nvPr/>
          </p:nvCxnSpPr>
          <p:spPr>
            <a:xfrm flipH="1" flipV="1">
              <a:off x="3381053" y="3807151"/>
              <a:ext cx="63663" cy="68328"/>
            </a:xfrm>
            <a:prstGeom prst="line">
              <a:avLst/>
            </a:prstGeom>
            <a:noFill/>
            <a:ln w="5256" cap="rnd" cmpd="sng" algn="ctr">
              <a:solidFill>
                <a:srgbClr val="238777"/>
              </a:solidFill>
              <a:prstDash val="solid"/>
              <a:round/>
              <a:headEnd type="none" w="med" len="med"/>
              <a:tailEnd type="none" w="med" len="med"/>
            </a:ln>
            <a:effectLst/>
          </p:spPr>
        </p:cxnSp>
        <p:cxnSp>
          <p:nvCxnSpPr>
            <p:cNvPr id="676" name="path_2704">
              <a:extLst>
                <a:ext uri="{FF2B5EF4-FFF2-40B4-BE49-F238E27FC236}">
                  <a16:creationId xmlns:a16="http://schemas.microsoft.com/office/drawing/2014/main" id="{A3592B63-1411-3F57-5878-96E17C30AD75}"/>
                </a:ext>
              </a:extLst>
            </p:cNvPr>
            <p:cNvCxnSpPr/>
            <p:nvPr/>
          </p:nvCxnSpPr>
          <p:spPr>
            <a:xfrm flipV="1">
              <a:off x="3558640" y="3745228"/>
              <a:ext cx="103872" cy="6406"/>
            </a:xfrm>
            <a:prstGeom prst="line">
              <a:avLst/>
            </a:prstGeom>
            <a:noFill/>
            <a:ln w="5256" cap="rnd" cmpd="sng" algn="ctr">
              <a:solidFill>
                <a:srgbClr val="238777"/>
              </a:solidFill>
              <a:prstDash val="solid"/>
              <a:round/>
              <a:headEnd type="none" w="med" len="med"/>
              <a:tailEnd type="none" w="med" len="med"/>
            </a:ln>
            <a:effectLst/>
          </p:spPr>
        </p:cxnSp>
        <p:sp>
          <p:nvSpPr>
            <p:cNvPr id="677" name="ellipse_2705">
              <a:extLst>
                <a:ext uri="{FF2B5EF4-FFF2-40B4-BE49-F238E27FC236}">
                  <a16:creationId xmlns:a16="http://schemas.microsoft.com/office/drawing/2014/main" id="{C3D36D22-8CEB-B663-A605-02E9CFFED0C1}"/>
                </a:ext>
              </a:extLst>
            </p:cNvPr>
            <p:cNvSpPr/>
            <p:nvPr/>
          </p:nvSpPr>
          <p:spPr>
            <a:xfrm>
              <a:off x="3366271" y="3792368"/>
              <a:ext cx="29565" cy="29565"/>
            </a:xfrm>
            <a:prstGeom prst="ellipse">
              <a:avLst/>
            </a:prstGeom>
            <a:gradFill flip="none" rotWithShape="1">
              <a:gsLst>
                <a:gs pos="0">
                  <a:srgbClr val="DEEDEB"/>
                </a:gs>
                <a:gs pos="43000">
                  <a:srgbClr val="61A99D"/>
                </a:gs>
                <a:gs pos="100000">
                  <a:srgbClr val="267D72"/>
                </a:gs>
              </a:gsLst>
              <a:lin ang="2700000" scaled="1"/>
              <a:tileRect/>
            </a:gradFill>
            <a:ln w="1807" cap="rnd" cmpd="sng" algn="ctr">
              <a:noFill/>
              <a:prstDash val="solid"/>
              <a:round/>
              <a:headEnd type="none" w="med" len="med"/>
              <a:tailEnd type="none" w="med" len="med"/>
            </a:ln>
            <a:effectLst/>
          </p:spPr>
        </p:sp>
        <p:sp>
          <p:nvSpPr>
            <p:cNvPr id="678" name="ellipse_2706">
              <a:extLst>
                <a:ext uri="{FF2B5EF4-FFF2-40B4-BE49-F238E27FC236}">
                  <a16:creationId xmlns:a16="http://schemas.microsoft.com/office/drawing/2014/main" id="{1F86BCBC-B96E-6EC5-AC9B-22A20629DF0F}"/>
                </a:ext>
              </a:extLst>
            </p:cNvPr>
            <p:cNvSpPr/>
            <p:nvPr/>
          </p:nvSpPr>
          <p:spPr>
            <a:xfrm>
              <a:off x="3429934" y="3721905"/>
              <a:ext cx="29565" cy="29565"/>
            </a:xfrm>
            <a:prstGeom prst="ellipse">
              <a:avLst/>
            </a:prstGeom>
            <a:gradFill flip="none" rotWithShape="1">
              <a:gsLst>
                <a:gs pos="0">
                  <a:srgbClr val="DEEDEB"/>
                </a:gs>
                <a:gs pos="43000">
                  <a:srgbClr val="61A99D"/>
                </a:gs>
                <a:gs pos="100000">
                  <a:srgbClr val="267D72"/>
                </a:gs>
              </a:gsLst>
              <a:lin ang="2700000" scaled="1"/>
              <a:tileRect/>
            </a:gradFill>
            <a:ln w="1807" cap="rnd" cmpd="sng" algn="ctr">
              <a:noFill/>
              <a:prstDash val="solid"/>
              <a:round/>
              <a:headEnd type="none" w="med" len="med"/>
              <a:tailEnd type="none" w="med" len="med"/>
            </a:ln>
            <a:effectLst/>
          </p:spPr>
        </p:sp>
        <p:sp>
          <p:nvSpPr>
            <p:cNvPr id="679" name="ellipse_2707">
              <a:extLst>
                <a:ext uri="{FF2B5EF4-FFF2-40B4-BE49-F238E27FC236}">
                  <a16:creationId xmlns:a16="http://schemas.microsoft.com/office/drawing/2014/main" id="{0D7ED534-2755-74EA-6149-4A7E3A7E8992}"/>
                </a:ext>
              </a:extLst>
            </p:cNvPr>
            <p:cNvSpPr/>
            <p:nvPr/>
          </p:nvSpPr>
          <p:spPr>
            <a:xfrm>
              <a:off x="3543858" y="3736852"/>
              <a:ext cx="29565" cy="29565"/>
            </a:xfrm>
            <a:prstGeom prst="ellipse">
              <a:avLst/>
            </a:prstGeom>
            <a:gradFill flip="none" rotWithShape="1">
              <a:gsLst>
                <a:gs pos="0">
                  <a:srgbClr val="DEEDEB"/>
                </a:gs>
                <a:gs pos="43000">
                  <a:srgbClr val="61A99D"/>
                </a:gs>
                <a:gs pos="100000">
                  <a:srgbClr val="267D72"/>
                </a:gs>
              </a:gsLst>
              <a:lin ang="2700000" scaled="1"/>
              <a:tileRect/>
            </a:gradFill>
            <a:ln w="1807" cap="rnd" cmpd="sng" algn="ctr">
              <a:noFill/>
              <a:prstDash val="solid"/>
              <a:round/>
              <a:headEnd type="none" w="med" len="med"/>
              <a:tailEnd type="none" w="med" len="med"/>
            </a:ln>
            <a:effectLst/>
          </p:spPr>
        </p:sp>
        <p:sp>
          <p:nvSpPr>
            <p:cNvPr id="680" name="ellipse_2708">
              <a:extLst>
                <a:ext uri="{FF2B5EF4-FFF2-40B4-BE49-F238E27FC236}">
                  <a16:creationId xmlns:a16="http://schemas.microsoft.com/office/drawing/2014/main" id="{01CC7294-C7B5-D1A4-A138-902105284B89}"/>
                </a:ext>
              </a:extLst>
            </p:cNvPr>
            <p:cNvSpPr/>
            <p:nvPr/>
          </p:nvSpPr>
          <p:spPr>
            <a:xfrm>
              <a:off x="3617573" y="3800909"/>
              <a:ext cx="29565" cy="29565"/>
            </a:xfrm>
            <a:prstGeom prst="ellipse">
              <a:avLst/>
            </a:prstGeom>
            <a:gradFill flip="none" rotWithShape="1">
              <a:gsLst>
                <a:gs pos="0">
                  <a:srgbClr val="DEEDEB"/>
                </a:gs>
                <a:gs pos="43000">
                  <a:srgbClr val="61A99D"/>
                </a:gs>
                <a:gs pos="100000">
                  <a:srgbClr val="267D72"/>
                </a:gs>
              </a:gsLst>
              <a:lin ang="2700000" scaled="1"/>
              <a:tileRect/>
            </a:gradFill>
            <a:ln w="1807" cap="rnd" cmpd="sng" algn="ctr">
              <a:noFill/>
              <a:prstDash val="solid"/>
              <a:round/>
              <a:headEnd type="none" w="med" len="med"/>
              <a:tailEnd type="none" w="med" len="med"/>
            </a:ln>
            <a:effectLst/>
          </p:spPr>
        </p:sp>
        <p:sp>
          <p:nvSpPr>
            <p:cNvPr id="681" name="ellipse_2709">
              <a:extLst>
                <a:ext uri="{FF2B5EF4-FFF2-40B4-BE49-F238E27FC236}">
                  <a16:creationId xmlns:a16="http://schemas.microsoft.com/office/drawing/2014/main" id="{80734E48-9DE8-B4FD-D0D4-D53693BBEADF}"/>
                </a:ext>
              </a:extLst>
            </p:cNvPr>
            <p:cNvSpPr/>
            <p:nvPr/>
          </p:nvSpPr>
          <p:spPr>
            <a:xfrm>
              <a:off x="3547209" y="3879913"/>
              <a:ext cx="29565" cy="29565"/>
            </a:xfrm>
            <a:prstGeom prst="ellipse">
              <a:avLst/>
            </a:prstGeom>
            <a:gradFill flip="none" rotWithShape="1">
              <a:gsLst>
                <a:gs pos="0">
                  <a:srgbClr val="DEEDEB"/>
                </a:gs>
                <a:gs pos="43000">
                  <a:srgbClr val="61A99D"/>
                </a:gs>
                <a:gs pos="100000">
                  <a:srgbClr val="267D72"/>
                </a:gs>
              </a:gsLst>
              <a:lin ang="2700000" scaled="1"/>
              <a:tileRect/>
            </a:gradFill>
            <a:ln w="1807" cap="rnd" cmpd="sng" algn="ctr">
              <a:noFill/>
              <a:prstDash val="solid"/>
              <a:round/>
              <a:headEnd type="none" w="med" len="med"/>
              <a:tailEnd type="none" w="med" len="med"/>
            </a:ln>
            <a:effectLst/>
          </p:spPr>
        </p:sp>
        <p:sp>
          <p:nvSpPr>
            <p:cNvPr id="682" name="ellipse_2710">
              <a:extLst>
                <a:ext uri="{FF2B5EF4-FFF2-40B4-BE49-F238E27FC236}">
                  <a16:creationId xmlns:a16="http://schemas.microsoft.com/office/drawing/2014/main" id="{3DB6F677-E1A0-2C7D-CADD-FB389865F633}"/>
                </a:ext>
              </a:extLst>
            </p:cNvPr>
            <p:cNvSpPr/>
            <p:nvPr/>
          </p:nvSpPr>
          <p:spPr>
            <a:xfrm>
              <a:off x="3429934" y="3860696"/>
              <a:ext cx="29565" cy="29565"/>
            </a:xfrm>
            <a:prstGeom prst="ellipse">
              <a:avLst/>
            </a:prstGeom>
            <a:gradFill flip="none" rotWithShape="1">
              <a:gsLst>
                <a:gs pos="0">
                  <a:srgbClr val="DEEDEB"/>
                </a:gs>
                <a:gs pos="43000">
                  <a:srgbClr val="61A99D"/>
                </a:gs>
                <a:gs pos="100000">
                  <a:srgbClr val="267D72"/>
                </a:gs>
              </a:gsLst>
              <a:lin ang="2700000" scaled="1"/>
              <a:tileRect/>
            </a:gradFill>
            <a:ln w="1807" cap="rnd" cmpd="sng" algn="ctr">
              <a:noFill/>
              <a:prstDash val="solid"/>
              <a:round/>
              <a:headEnd type="none" w="med" len="med"/>
              <a:tailEnd type="none" w="med" len="med"/>
            </a:ln>
            <a:effectLst/>
          </p:spPr>
        </p:sp>
        <p:sp>
          <p:nvSpPr>
            <p:cNvPr id="683" name="ellipse_2711">
              <a:extLst>
                <a:ext uri="{FF2B5EF4-FFF2-40B4-BE49-F238E27FC236}">
                  <a16:creationId xmlns:a16="http://schemas.microsoft.com/office/drawing/2014/main" id="{D105DBC9-3C6D-0576-1E95-E04BFA9EB1EF}"/>
                </a:ext>
              </a:extLst>
            </p:cNvPr>
            <p:cNvSpPr/>
            <p:nvPr/>
          </p:nvSpPr>
          <p:spPr>
            <a:xfrm>
              <a:off x="3647730" y="3730446"/>
              <a:ext cx="29565" cy="29565"/>
            </a:xfrm>
            <a:prstGeom prst="ellipse">
              <a:avLst/>
            </a:prstGeom>
            <a:gradFill flip="none" rotWithShape="1">
              <a:gsLst>
                <a:gs pos="0">
                  <a:srgbClr val="DEEDEB"/>
                </a:gs>
                <a:gs pos="43000">
                  <a:srgbClr val="61A99D"/>
                </a:gs>
                <a:gs pos="100000">
                  <a:srgbClr val="267D72"/>
                </a:gs>
              </a:gsLst>
              <a:lin ang="2700000" scaled="1"/>
              <a:tileRect/>
            </a:gradFill>
            <a:ln w="1807" cap="rnd" cmpd="sng" algn="ctr">
              <a:noFill/>
              <a:prstDash val="solid"/>
              <a:round/>
              <a:headEnd type="none" w="med" len="med"/>
              <a:tailEnd type="none" w="med" len="med"/>
            </a:ln>
            <a:effectLst/>
          </p:spPr>
        </p:sp>
      </p:grpSp>
      <p:sp>
        <p:nvSpPr>
          <p:cNvPr id="684" name="TextBox 12226">
            <a:extLst>
              <a:ext uri="{FF2B5EF4-FFF2-40B4-BE49-F238E27FC236}">
                <a16:creationId xmlns:a16="http://schemas.microsoft.com/office/drawing/2014/main" id="{43DBD103-E22F-DA52-F0ED-122A5CA41D61}"/>
              </a:ext>
            </a:extLst>
          </p:cNvPr>
          <p:cNvSpPr txBox="1"/>
          <p:nvPr/>
        </p:nvSpPr>
        <p:spPr>
          <a:xfrm>
            <a:off x="2791488" y="3080344"/>
            <a:ext cx="336631" cy="80599"/>
          </a:xfrm>
          <a:prstGeom prst="rect">
            <a:avLst/>
          </a:prstGeom>
          <a:noFill/>
        </p:spPr>
        <p:txBody>
          <a:bodyPr wrap="none" lIns="0" tIns="0" rIns="0" bIns="0" anchor="ctr">
            <a:spAutoFit/>
          </a:bodyPr>
          <a:lstStyle/>
          <a:p>
            <a:pPr algn="ctr">
              <a:lnSpc>
                <a:spcPct val="105000"/>
              </a:lnSpc>
            </a:pPr>
            <a:r>
              <a:rPr sz="536">
                <a:solidFill>
                  <a:srgbClr val="263442"/>
                </a:solidFill>
                <a:latin typeface="Arial"/>
              </a:rPr>
              <a:t>Own graph</a:t>
            </a:r>
          </a:p>
        </p:txBody>
      </p:sp>
      <p:sp>
        <p:nvSpPr>
          <p:cNvPr id="685" name="Op | GNN">
            <a:extLst>
              <a:ext uri="{FF2B5EF4-FFF2-40B4-BE49-F238E27FC236}">
                <a16:creationId xmlns:a16="http://schemas.microsoft.com/office/drawing/2014/main" id="{98330FF3-2E5A-32C3-D33C-D78225E1943D}"/>
              </a:ext>
            </a:extLst>
          </p:cNvPr>
          <p:cNvSpPr/>
          <p:nvPr/>
        </p:nvSpPr>
        <p:spPr>
          <a:xfrm>
            <a:off x="2777865" y="3239299"/>
            <a:ext cx="363877" cy="134476"/>
          </a:xfrm>
          <a:prstGeom prst="roundRect">
            <a:avLst>
              <a:gd name="adj" fmla="val 18000"/>
            </a:avLst>
          </a:prstGeom>
          <a:solidFill>
            <a:srgbClr val="E9F3EE"/>
          </a:solidFill>
          <a:ln w="7290">
            <a:solidFill>
              <a:srgbClr val="68AC9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GNN</a:t>
            </a:r>
          </a:p>
        </p:txBody>
      </p:sp>
      <p:sp>
        <p:nvSpPr>
          <p:cNvPr id="686" name="TextBox 12228">
            <a:extLst>
              <a:ext uri="{FF2B5EF4-FFF2-40B4-BE49-F238E27FC236}">
                <a16:creationId xmlns:a16="http://schemas.microsoft.com/office/drawing/2014/main" id="{26538413-3AE9-9872-D0A6-0AEA9E6FF809}"/>
              </a:ext>
            </a:extLst>
          </p:cNvPr>
          <p:cNvSpPr txBox="1"/>
          <p:nvPr/>
        </p:nvSpPr>
        <p:spPr>
          <a:xfrm>
            <a:off x="2991445" y="3388848"/>
            <a:ext cx="134652" cy="80599"/>
          </a:xfrm>
          <a:prstGeom prst="rect">
            <a:avLst/>
          </a:prstGeom>
          <a:noFill/>
        </p:spPr>
        <p:txBody>
          <a:bodyPr wrap="none" lIns="0" tIns="0" rIns="0" bIns="0" anchor="ctr">
            <a:spAutoFit/>
          </a:bodyPr>
          <a:lstStyle/>
          <a:p>
            <a:pPr algn="l">
              <a:lnSpc>
                <a:spcPct val="105000"/>
              </a:lnSpc>
            </a:pPr>
            <a:r>
              <a:rPr sz="536" dirty="0">
                <a:solidFill>
                  <a:srgbClr val="263442"/>
                </a:solidFill>
                <a:latin typeface="Arial"/>
              </a:rPr>
              <a:t>K, V</a:t>
            </a:r>
          </a:p>
        </p:txBody>
      </p:sp>
      <p:sp>
        <p:nvSpPr>
          <p:cNvPr id="687" name="Op | Graph attention">
            <a:extLst>
              <a:ext uri="{FF2B5EF4-FFF2-40B4-BE49-F238E27FC236}">
                <a16:creationId xmlns:a16="http://schemas.microsoft.com/office/drawing/2014/main" id="{5F3701CD-DCA3-D9CA-7FA3-D737E8718A60}"/>
              </a:ext>
            </a:extLst>
          </p:cNvPr>
          <p:cNvSpPr/>
          <p:nvPr/>
        </p:nvSpPr>
        <p:spPr>
          <a:xfrm>
            <a:off x="2651299" y="3500341"/>
            <a:ext cx="617009" cy="150297"/>
          </a:xfrm>
          <a:prstGeom prst="roundRect">
            <a:avLst>
              <a:gd name="adj" fmla="val 18000"/>
            </a:avLst>
          </a:prstGeom>
          <a:solidFill>
            <a:srgbClr val="E9F3EE"/>
          </a:solidFill>
          <a:ln w="7290">
            <a:solidFill>
              <a:srgbClr val="68AC9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Graph</a:t>
            </a:r>
            <a:r>
              <a:rPr sz="580" dirty="0">
                <a:solidFill>
                  <a:srgbClr val="263442"/>
                </a:solidFill>
                <a:latin typeface="Arial"/>
              </a:rPr>
              <a:t> </a:t>
            </a:r>
            <a:r>
              <a:rPr sz="588" dirty="0">
                <a:solidFill>
                  <a:srgbClr val="263442"/>
                </a:solidFill>
                <a:latin typeface="Arial"/>
              </a:rPr>
              <a:t>attention</a:t>
            </a:r>
          </a:p>
        </p:txBody>
      </p:sp>
      <p:sp>
        <p:nvSpPr>
          <p:cNvPr id="688" name="Op | SMI-TED">
            <a:extLst>
              <a:ext uri="{FF2B5EF4-FFF2-40B4-BE49-F238E27FC236}">
                <a16:creationId xmlns:a16="http://schemas.microsoft.com/office/drawing/2014/main" id="{9F250B16-9768-CC2C-86AF-59769C8EEC4C}"/>
              </a:ext>
            </a:extLst>
          </p:cNvPr>
          <p:cNvSpPr/>
          <p:nvPr/>
        </p:nvSpPr>
        <p:spPr>
          <a:xfrm>
            <a:off x="3413848" y="2971538"/>
            <a:ext cx="427160" cy="134476"/>
          </a:xfrm>
          <a:prstGeom prst="roundRect">
            <a:avLst>
              <a:gd name="adj" fmla="val 18000"/>
            </a:avLst>
          </a:prstGeom>
          <a:solidFill>
            <a:srgbClr val="E9F3EE"/>
          </a:solidFill>
          <a:ln w="7290">
            <a:solidFill>
              <a:srgbClr val="68AC9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SMI-TED</a:t>
            </a:r>
          </a:p>
        </p:txBody>
      </p:sp>
      <p:sp>
        <p:nvSpPr>
          <p:cNvPr id="689" name="Language vector v_k_1">
            <a:extLst>
              <a:ext uri="{FF2B5EF4-FFF2-40B4-BE49-F238E27FC236}">
                <a16:creationId xmlns:a16="http://schemas.microsoft.com/office/drawing/2014/main" id="{E695888D-D925-5392-2451-D7757F2B6BC7}"/>
              </a:ext>
            </a:extLst>
          </p:cNvPr>
          <p:cNvSpPr/>
          <p:nvPr/>
        </p:nvSpPr>
        <p:spPr>
          <a:xfrm>
            <a:off x="3481889" y="3547013"/>
            <a:ext cx="37291" cy="56955"/>
          </a:xfrm>
          <a:prstGeom prst="rect">
            <a:avLst/>
          </a:prstGeom>
          <a:solidFill>
            <a:srgbClr val="3C9B8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90" name="Language vector v_k_2">
            <a:extLst>
              <a:ext uri="{FF2B5EF4-FFF2-40B4-BE49-F238E27FC236}">
                <a16:creationId xmlns:a16="http://schemas.microsoft.com/office/drawing/2014/main" id="{914284BD-BAB8-4AEA-A1F1-E7FC853BC87F}"/>
              </a:ext>
            </a:extLst>
          </p:cNvPr>
          <p:cNvSpPr/>
          <p:nvPr/>
        </p:nvSpPr>
        <p:spPr>
          <a:xfrm>
            <a:off x="3523136" y="3547013"/>
            <a:ext cx="37291" cy="56955"/>
          </a:xfrm>
          <a:prstGeom prst="rect">
            <a:avLst/>
          </a:prstGeom>
          <a:solidFill>
            <a:srgbClr val="6FB9A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91" name="Language vector v_k_3">
            <a:extLst>
              <a:ext uri="{FF2B5EF4-FFF2-40B4-BE49-F238E27FC236}">
                <a16:creationId xmlns:a16="http://schemas.microsoft.com/office/drawing/2014/main" id="{A224CED9-3025-4474-CF80-E118B0ACA7AB}"/>
              </a:ext>
            </a:extLst>
          </p:cNvPr>
          <p:cNvSpPr/>
          <p:nvPr/>
        </p:nvSpPr>
        <p:spPr>
          <a:xfrm>
            <a:off x="3564383" y="3547013"/>
            <a:ext cx="37291" cy="56955"/>
          </a:xfrm>
          <a:prstGeom prst="rect">
            <a:avLst/>
          </a:prstGeom>
          <a:solidFill>
            <a:srgbClr val="ADD8C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92" name="Language vector v_k_4">
            <a:extLst>
              <a:ext uri="{FF2B5EF4-FFF2-40B4-BE49-F238E27FC236}">
                <a16:creationId xmlns:a16="http://schemas.microsoft.com/office/drawing/2014/main" id="{3641CBF3-C5A5-2DC2-88CA-B3F2C816508D}"/>
              </a:ext>
            </a:extLst>
          </p:cNvPr>
          <p:cNvSpPr/>
          <p:nvPr/>
        </p:nvSpPr>
        <p:spPr>
          <a:xfrm>
            <a:off x="3605630" y="3547013"/>
            <a:ext cx="37291" cy="56955"/>
          </a:xfrm>
          <a:prstGeom prst="rect">
            <a:avLst/>
          </a:prstGeom>
          <a:solidFill>
            <a:srgbClr val="CBE7D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93" name="Language vector v_k_5">
            <a:extLst>
              <a:ext uri="{FF2B5EF4-FFF2-40B4-BE49-F238E27FC236}">
                <a16:creationId xmlns:a16="http://schemas.microsoft.com/office/drawing/2014/main" id="{B6BA4357-39F7-598C-72FA-2FC00B25A10F}"/>
              </a:ext>
            </a:extLst>
          </p:cNvPr>
          <p:cNvSpPr/>
          <p:nvPr/>
        </p:nvSpPr>
        <p:spPr>
          <a:xfrm>
            <a:off x="3646877" y="3547013"/>
            <a:ext cx="37291" cy="56955"/>
          </a:xfrm>
          <a:prstGeom prst="rect">
            <a:avLst/>
          </a:prstGeom>
          <a:solidFill>
            <a:srgbClr val="3C9B8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94" name="Language vector v_k_6">
            <a:extLst>
              <a:ext uri="{FF2B5EF4-FFF2-40B4-BE49-F238E27FC236}">
                <a16:creationId xmlns:a16="http://schemas.microsoft.com/office/drawing/2014/main" id="{14F9C08B-08C8-5CC8-21F6-EC42430BFA81}"/>
              </a:ext>
            </a:extLst>
          </p:cNvPr>
          <p:cNvSpPr/>
          <p:nvPr/>
        </p:nvSpPr>
        <p:spPr>
          <a:xfrm>
            <a:off x="3688124" y="3547013"/>
            <a:ext cx="37291" cy="56955"/>
          </a:xfrm>
          <a:prstGeom prst="rect">
            <a:avLst/>
          </a:prstGeom>
          <a:solidFill>
            <a:srgbClr val="6FB9A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95" name="Language vector v_k_7">
            <a:extLst>
              <a:ext uri="{FF2B5EF4-FFF2-40B4-BE49-F238E27FC236}">
                <a16:creationId xmlns:a16="http://schemas.microsoft.com/office/drawing/2014/main" id="{52E0E1B7-31F4-244C-BA32-494F415D5F2F}"/>
              </a:ext>
            </a:extLst>
          </p:cNvPr>
          <p:cNvSpPr/>
          <p:nvPr/>
        </p:nvSpPr>
        <p:spPr>
          <a:xfrm>
            <a:off x="3729371" y="3547013"/>
            <a:ext cx="37291" cy="56955"/>
          </a:xfrm>
          <a:prstGeom prst="rect">
            <a:avLst/>
          </a:prstGeom>
          <a:solidFill>
            <a:srgbClr val="ADD8C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96" name="TextBox 12239">
            <a:extLst>
              <a:ext uri="{FF2B5EF4-FFF2-40B4-BE49-F238E27FC236}">
                <a16:creationId xmlns:a16="http://schemas.microsoft.com/office/drawing/2014/main" id="{DE6BD61F-48C0-C267-E36F-0AC7BC24100D}"/>
              </a:ext>
            </a:extLst>
          </p:cNvPr>
          <p:cNvSpPr txBox="1"/>
          <p:nvPr/>
        </p:nvSpPr>
        <p:spPr>
          <a:xfrm>
            <a:off x="3307860" y="3475189"/>
            <a:ext cx="126566" cy="81946"/>
          </a:xfrm>
          <a:prstGeom prst="rect">
            <a:avLst/>
          </a:prstGeom>
          <a:noFill/>
        </p:spPr>
        <p:txBody>
          <a:bodyPr wrap="square" lIns="0" tIns="0" rIns="0" bIns="0" anchor="ctr">
            <a:spAutoFit/>
          </a:bodyPr>
          <a:lstStyle/>
          <a:p>
            <a:pPr algn="ctr">
              <a:lnSpc>
                <a:spcPct val="105000"/>
              </a:lnSpc>
            </a:pPr>
            <a:r>
              <a:rPr sz="545" dirty="0">
                <a:solidFill>
                  <a:srgbClr val="263442"/>
                </a:solidFill>
                <a:latin typeface="Arial"/>
              </a:rPr>
              <a:t>Q</a:t>
            </a:r>
          </a:p>
        </p:txBody>
      </p:sp>
      <p:sp>
        <p:nvSpPr>
          <p:cNvPr id="697" name="TextBox 12240">
            <a:extLst>
              <a:ext uri="{FF2B5EF4-FFF2-40B4-BE49-F238E27FC236}">
                <a16:creationId xmlns:a16="http://schemas.microsoft.com/office/drawing/2014/main" id="{2ACBC05C-C556-BA36-3DA9-0D37D9382C06}"/>
              </a:ext>
            </a:extLst>
          </p:cNvPr>
          <p:cNvSpPr txBox="1"/>
          <p:nvPr/>
        </p:nvSpPr>
        <p:spPr>
          <a:xfrm>
            <a:off x="3814124" y="3475189"/>
            <a:ext cx="126566" cy="81946"/>
          </a:xfrm>
          <a:prstGeom prst="rect">
            <a:avLst/>
          </a:prstGeom>
          <a:noFill/>
        </p:spPr>
        <p:txBody>
          <a:bodyPr wrap="square" lIns="0" tIns="0" rIns="0" bIns="0" anchor="ctr">
            <a:spAutoFit/>
          </a:bodyPr>
          <a:lstStyle/>
          <a:p>
            <a:pPr algn="ctr">
              <a:lnSpc>
                <a:spcPct val="105000"/>
              </a:lnSpc>
            </a:pPr>
            <a:r>
              <a:rPr sz="545">
                <a:solidFill>
                  <a:srgbClr val="263442"/>
                </a:solidFill>
                <a:latin typeface="Arial"/>
              </a:rPr>
              <a:t>Q</a:t>
            </a:r>
          </a:p>
        </p:txBody>
      </p:sp>
      <p:sp>
        <p:nvSpPr>
          <p:cNvPr id="698" name="TextBox 12241">
            <a:extLst>
              <a:ext uri="{FF2B5EF4-FFF2-40B4-BE49-F238E27FC236}">
                <a16:creationId xmlns:a16="http://schemas.microsoft.com/office/drawing/2014/main" id="{0B3A68EF-7CF9-A2EB-24B2-085C5BF1F71F}"/>
              </a:ext>
            </a:extLst>
          </p:cNvPr>
          <p:cNvSpPr txBox="1"/>
          <p:nvPr/>
        </p:nvSpPr>
        <p:spPr>
          <a:xfrm>
            <a:off x="4328298" y="2542416"/>
            <a:ext cx="379698" cy="151836"/>
          </a:xfrm>
          <a:prstGeom prst="rect">
            <a:avLst/>
          </a:prstGeom>
          <a:noFill/>
        </p:spPr>
        <p:txBody>
          <a:bodyPr wrap="square" lIns="0" tIns="0" rIns="0" bIns="0" anchor="ctr">
            <a:spAutoFit/>
          </a:bodyPr>
          <a:lstStyle/>
          <a:p>
            <a:pPr algn="l">
              <a:lnSpc>
                <a:spcPct val="95000"/>
              </a:lnSpc>
            </a:pPr>
            <a:r>
              <a:rPr lang="en-US" sz="519" dirty="0">
                <a:solidFill>
                  <a:srgbClr val="263442"/>
                </a:solidFill>
                <a:latin typeface="Arial"/>
              </a:rPr>
              <a:t>  </a:t>
            </a:r>
            <a:r>
              <a:rPr sz="519" dirty="0">
                <a:solidFill>
                  <a:srgbClr val="263442"/>
                </a:solidFill>
                <a:latin typeface="Arial"/>
              </a:rPr>
              <a:t>Other</a:t>
            </a:r>
          </a:p>
          <a:p>
            <a:pPr algn="l">
              <a:lnSpc>
                <a:spcPct val="95000"/>
              </a:lnSpc>
            </a:pPr>
            <a:r>
              <a:rPr sz="519" dirty="0">
                <a:solidFill>
                  <a:srgbClr val="263442"/>
                </a:solidFill>
                <a:latin typeface="Arial"/>
              </a:rPr>
              <a:t>identities</a:t>
            </a:r>
          </a:p>
        </p:txBody>
      </p:sp>
      <p:sp>
        <p:nvSpPr>
          <p:cNvPr id="699" name="Op | SMI-TED">
            <a:extLst>
              <a:ext uri="{FF2B5EF4-FFF2-40B4-BE49-F238E27FC236}">
                <a16:creationId xmlns:a16="http://schemas.microsoft.com/office/drawing/2014/main" id="{6691CF15-5DAD-F305-5973-B1ACEFFF5CBF}"/>
              </a:ext>
            </a:extLst>
          </p:cNvPr>
          <p:cNvSpPr/>
          <p:nvPr/>
        </p:nvSpPr>
        <p:spPr>
          <a:xfrm>
            <a:off x="4095413" y="2967199"/>
            <a:ext cx="427160" cy="134476"/>
          </a:xfrm>
          <a:prstGeom prst="roundRect">
            <a:avLst>
              <a:gd name="adj" fmla="val 18000"/>
            </a:avLst>
          </a:prstGeom>
          <a:solidFill>
            <a:srgbClr val="E9F3EE"/>
          </a:solidFill>
          <a:ln w="7290">
            <a:solidFill>
              <a:srgbClr val="68AC9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SMI-TED</a:t>
            </a:r>
          </a:p>
        </p:txBody>
      </p:sp>
      <p:sp>
        <p:nvSpPr>
          <p:cNvPr id="700" name="TextBox 12244">
            <a:extLst>
              <a:ext uri="{FF2B5EF4-FFF2-40B4-BE49-F238E27FC236}">
                <a16:creationId xmlns:a16="http://schemas.microsoft.com/office/drawing/2014/main" id="{13C55E5C-99C8-F46D-3353-FED4827206EC}"/>
              </a:ext>
            </a:extLst>
          </p:cNvPr>
          <p:cNvSpPr txBox="1"/>
          <p:nvPr/>
        </p:nvSpPr>
        <p:spPr>
          <a:xfrm>
            <a:off x="4083077" y="3197919"/>
            <a:ext cx="79104" cy="67711"/>
          </a:xfrm>
          <a:prstGeom prst="rect">
            <a:avLst/>
          </a:prstGeom>
          <a:noFill/>
        </p:spPr>
        <p:txBody>
          <a:bodyPr wrap="square" lIns="0" tIns="0" rIns="0" bIns="0" anchor="ctr">
            <a:spAutoFit/>
          </a:bodyPr>
          <a:lstStyle/>
          <a:p>
            <a:pPr algn="ctr">
              <a:lnSpc>
                <a:spcPct val="105000"/>
              </a:lnSpc>
            </a:pPr>
            <a:r>
              <a:rPr sz="522" dirty="0">
                <a:solidFill>
                  <a:srgbClr val="263442"/>
                </a:solidFill>
                <a:latin typeface="Arial"/>
              </a:rPr>
              <a:t>1</a:t>
            </a:r>
          </a:p>
        </p:txBody>
      </p:sp>
      <p:sp>
        <p:nvSpPr>
          <p:cNvPr id="701" name="Context bar 1_1">
            <a:extLst>
              <a:ext uri="{FF2B5EF4-FFF2-40B4-BE49-F238E27FC236}">
                <a16:creationId xmlns:a16="http://schemas.microsoft.com/office/drawing/2014/main" id="{F675EB2C-E3F4-CF25-F2F9-B217A0C64998}"/>
              </a:ext>
            </a:extLst>
          </p:cNvPr>
          <p:cNvSpPr/>
          <p:nvPr/>
        </p:nvSpPr>
        <p:spPr>
          <a:xfrm>
            <a:off x="4178001" y="3223887"/>
            <a:ext cx="44166" cy="34806"/>
          </a:xfrm>
          <a:prstGeom prst="rect">
            <a:avLst/>
          </a:prstGeom>
          <a:solidFill>
            <a:srgbClr val="5A82B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02" name="Context bar 1_2">
            <a:extLst>
              <a:ext uri="{FF2B5EF4-FFF2-40B4-BE49-F238E27FC236}">
                <a16:creationId xmlns:a16="http://schemas.microsoft.com/office/drawing/2014/main" id="{7015B7C2-EE7A-8CD3-BF9A-C8F6C295F2D3}"/>
              </a:ext>
            </a:extLst>
          </p:cNvPr>
          <p:cNvSpPr/>
          <p:nvPr/>
        </p:nvSpPr>
        <p:spPr>
          <a:xfrm>
            <a:off x="4226123" y="3223887"/>
            <a:ext cx="44166" cy="34806"/>
          </a:xfrm>
          <a:prstGeom prst="rect">
            <a:avLst/>
          </a:prstGeom>
          <a:solidFill>
            <a:srgbClr val="8BAAD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03" name="Context bar 1_3">
            <a:extLst>
              <a:ext uri="{FF2B5EF4-FFF2-40B4-BE49-F238E27FC236}">
                <a16:creationId xmlns:a16="http://schemas.microsoft.com/office/drawing/2014/main" id="{0283D963-CC89-9552-BBFA-44417F9A5810}"/>
              </a:ext>
            </a:extLst>
          </p:cNvPr>
          <p:cNvSpPr/>
          <p:nvPr/>
        </p:nvSpPr>
        <p:spPr>
          <a:xfrm>
            <a:off x="4274244" y="3223887"/>
            <a:ext cx="44166" cy="34806"/>
          </a:xfrm>
          <a:prstGeom prst="rect">
            <a:avLst/>
          </a:prstGeom>
          <a:solidFill>
            <a:srgbClr val="BFD2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04" name="Context bar 1_4">
            <a:extLst>
              <a:ext uri="{FF2B5EF4-FFF2-40B4-BE49-F238E27FC236}">
                <a16:creationId xmlns:a16="http://schemas.microsoft.com/office/drawing/2014/main" id="{DFE762FA-D62F-609E-23C6-B16577CF789A}"/>
              </a:ext>
            </a:extLst>
          </p:cNvPr>
          <p:cNvSpPr/>
          <p:nvPr/>
        </p:nvSpPr>
        <p:spPr>
          <a:xfrm>
            <a:off x="4322366" y="3223887"/>
            <a:ext cx="44166" cy="34806"/>
          </a:xfrm>
          <a:prstGeom prst="rect">
            <a:avLst/>
          </a:prstGeom>
          <a:solidFill>
            <a:srgbClr val="7397C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05" name="Context bar 1_5">
            <a:extLst>
              <a:ext uri="{FF2B5EF4-FFF2-40B4-BE49-F238E27FC236}">
                <a16:creationId xmlns:a16="http://schemas.microsoft.com/office/drawing/2014/main" id="{8A2B1ECE-222F-713D-5115-87805A38C6E9}"/>
              </a:ext>
            </a:extLst>
          </p:cNvPr>
          <p:cNvSpPr/>
          <p:nvPr/>
        </p:nvSpPr>
        <p:spPr>
          <a:xfrm>
            <a:off x="4370487" y="3223887"/>
            <a:ext cx="44166" cy="34806"/>
          </a:xfrm>
          <a:prstGeom prst="rect">
            <a:avLst/>
          </a:prstGeom>
          <a:solidFill>
            <a:srgbClr val="5A82B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06" name="Context bar 1_6">
            <a:extLst>
              <a:ext uri="{FF2B5EF4-FFF2-40B4-BE49-F238E27FC236}">
                <a16:creationId xmlns:a16="http://schemas.microsoft.com/office/drawing/2014/main" id="{F9202696-646F-1763-9139-E44B52B50C5F}"/>
              </a:ext>
            </a:extLst>
          </p:cNvPr>
          <p:cNvSpPr/>
          <p:nvPr/>
        </p:nvSpPr>
        <p:spPr>
          <a:xfrm>
            <a:off x="4418609" y="3223887"/>
            <a:ext cx="44166" cy="34806"/>
          </a:xfrm>
          <a:prstGeom prst="rect">
            <a:avLst/>
          </a:prstGeom>
          <a:solidFill>
            <a:srgbClr val="8BAAD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07" name="TextBox 12251">
            <a:extLst>
              <a:ext uri="{FF2B5EF4-FFF2-40B4-BE49-F238E27FC236}">
                <a16:creationId xmlns:a16="http://schemas.microsoft.com/office/drawing/2014/main" id="{7BC06DFD-B767-BA41-2B05-2B0A38358B92}"/>
              </a:ext>
            </a:extLst>
          </p:cNvPr>
          <p:cNvSpPr txBox="1"/>
          <p:nvPr/>
        </p:nvSpPr>
        <p:spPr>
          <a:xfrm>
            <a:off x="4083077" y="3270220"/>
            <a:ext cx="79104" cy="67711"/>
          </a:xfrm>
          <a:prstGeom prst="rect">
            <a:avLst/>
          </a:prstGeom>
          <a:noFill/>
        </p:spPr>
        <p:txBody>
          <a:bodyPr wrap="square" lIns="0" tIns="0" rIns="0" bIns="0" anchor="ctr">
            <a:spAutoFit/>
          </a:bodyPr>
          <a:lstStyle/>
          <a:p>
            <a:pPr algn="ctr">
              <a:lnSpc>
                <a:spcPct val="105000"/>
              </a:lnSpc>
            </a:pPr>
            <a:r>
              <a:rPr sz="522" dirty="0">
                <a:solidFill>
                  <a:srgbClr val="263442"/>
                </a:solidFill>
                <a:latin typeface="Arial"/>
              </a:rPr>
              <a:t>2</a:t>
            </a:r>
          </a:p>
        </p:txBody>
      </p:sp>
      <p:sp>
        <p:nvSpPr>
          <p:cNvPr id="708" name="Context bar 2_1">
            <a:extLst>
              <a:ext uri="{FF2B5EF4-FFF2-40B4-BE49-F238E27FC236}">
                <a16:creationId xmlns:a16="http://schemas.microsoft.com/office/drawing/2014/main" id="{520858ED-2877-9676-9DDD-53EAA8E37558}"/>
              </a:ext>
            </a:extLst>
          </p:cNvPr>
          <p:cNvSpPr/>
          <p:nvPr/>
        </p:nvSpPr>
        <p:spPr>
          <a:xfrm>
            <a:off x="4178001" y="3286664"/>
            <a:ext cx="44166" cy="34806"/>
          </a:xfrm>
          <a:prstGeom prst="rect">
            <a:avLst/>
          </a:prstGeom>
          <a:solidFill>
            <a:srgbClr val="A67C4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09" name="Context bar 2_2">
            <a:extLst>
              <a:ext uri="{FF2B5EF4-FFF2-40B4-BE49-F238E27FC236}">
                <a16:creationId xmlns:a16="http://schemas.microsoft.com/office/drawing/2014/main" id="{50A3D4F9-D9FE-CC8B-21E7-D32E326D8875}"/>
              </a:ext>
            </a:extLst>
          </p:cNvPr>
          <p:cNvSpPr/>
          <p:nvPr/>
        </p:nvSpPr>
        <p:spPr>
          <a:xfrm>
            <a:off x="4226123" y="3286664"/>
            <a:ext cx="44166" cy="34806"/>
          </a:xfrm>
          <a:prstGeom prst="rect">
            <a:avLst/>
          </a:prstGeom>
          <a:solidFill>
            <a:srgbClr val="C6A37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10" name="Context bar 2_3">
            <a:extLst>
              <a:ext uri="{FF2B5EF4-FFF2-40B4-BE49-F238E27FC236}">
                <a16:creationId xmlns:a16="http://schemas.microsoft.com/office/drawing/2014/main" id="{4471AA3C-5A9C-CEE5-0418-953EC2227441}"/>
              </a:ext>
            </a:extLst>
          </p:cNvPr>
          <p:cNvSpPr/>
          <p:nvPr/>
        </p:nvSpPr>
        <p:spPr>
          <a:xfrm>
            <a:off x="4274244" y="3286664"/>
            <a:ext cx="44166" cy="34806"/>
          </a:xfrm>
          <a:prstGeom prst="rect">
            <a:avLst/>
          </a:prstGeom>
          <a:solidFill>
            <a:srgbClr val="E0CCB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11" name="Context bar 2_4">
            <a:extLst>
              <a:ext uri="{FF2B5EF4-FFF2-40B4-BE49-F238E27FC236}">
                <a16:creationId xmlns:a16="http://schemas.microsoft.com/office/drawing/2014/main" id="{B321BB44-18FA-E7F3-2924-BC94493FEA4A}"/>
              </a:ext>
            </a:extLst>
          </p:cNvPr>
          <p:cNvSpPr/>
          <p:nvPr/>
        </p:nvSpPr>
        <p:spPr>
          <a:xfrm>
            <a:off x="4322366" y="3286664"/>
            <a:ext cx="44166" cy="34806"/>
          </a:xfrm>
          <a:prstGeom prst="rect">
            <a:avLst/>
          </a:prstGeom>
          <a:solidFill>
            <a:srgbClr val="B58E5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12" name="Context bar 2_5">
            <a:extLst>
              <a:ext uri="{FF2B5EF4-FFF2-40B4-BE49-F238E27FC236}">
                <a16:creationId xmlns:a16="http://schemas.microsoft.com/office/drawing/2014/main" id="{BF58521A-8C41-BE24-9704-AEAF70385316}"/>
              </a:ext>
            </a:extLst>
          </p:cNvPr>
          <p:cNvSpPr/>
          <p:nvPr/>
        </p:nvSpPr>
        <p:spPr>
          <a:xfrm>
            <a:off x="4370487" y="3286664"/>
            <a:ext cx="44166" cy="34806"/>
          </a:xfrm>
          <a:prstGeom prst="rect">
            <a:avLst/>
          </a:prstGeom>
          <a:solidFill>
            <a:srgbClr val="A67C4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13" name="Context bar 2_6">
            <a:extLst>
              <a:ext uri="{FF2B5EF4-FFF2-40B4-BE49-F238E27FC236}">
                <a16:creationId xmlns:a16="http://schemas.microsoft.com/office/drawing/2014/main" id="{4283B810-9FFF-25F8-1960-4F272603052B}"/>
              </a:ext>
            </a:extLst>
          </p:cNvPr>
          <p:cNvSpPr/>
          <p:nvPr/>
        </p:nvSpPr>
        <p:spPr>
          <a:xfrm>
            <a:off x="4418609" y="3286664"/>
            <a:ext cx="44166" cy="34806"/>
          </a:xfrm>
          <a:prstGeom prst="rect">
            <a:avLst/>
          </a:prstGeom>
          <a:solidFill>
            <a:srgbClr val="C6A37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14" name="TextBox 12258">
            <a:extLst>
              <a:ext uri="{FF2B5EF4-FFF2-40B4-BE49-F238E27FC236}">
                <a16:creationId xmlns:a16="http://schemas.microsoft.com/office/drawing/2014/main" id="{D4C78125-5C89-7F13-017C-2E1C11AE7FDD}"/>
              </a:ext>
            </a:extLst>
          </p:cNvPr>
          <p:cNvSpPr txBox="1"/>
          <p:nvPr/>
        </p:nvSpPr>
        <p:spPr>
          <a:xfrm>
            <a:off x="4083077" y="3342522"/>
            <a:ext cx="79104" cy="67711"/>
          </a:xfrm>
          <a:prstGeom prst="rect">
            <a:avLst/>
          </a:prstGeom>
          <a:noFill/>
        </p:spPr>
        <p:txBody>
          <a:bodyPr wrap="square" lIns="0" tIns="0" rIns="0" bIns="0" anchor="ctr">
            <a:spAutoFit/>
          </a:bodyPr>
          <a:lstStyle/>
          <a:p>
            <a:pPr algn="ctr">
              <a:lnSpc>
                <a:spcPct val="105000"/>
              </a:lnSpc>
            </a:pPr>
            <a:r>
              <a:rPr sz="522" dirty="0">
                <a:solidFill>
                  <a:srgbClr val="263442"/>
                </a:solidFill>
                <a:latin typeface="Arial"/>
              </a:rPr>
              <a:t>K</a:t>
            </a:r>
          </a:p>
        </p:txBody>
      </p:sp>
      <p:sp>
        <p:nvSpPr>
          <p:cNvPr id="715" name="Context bar K_1">
            <a:extLst>
              <a:ext uri="{FF2B5EF4-FFF2-40B4-BE49-F238E27FC236}">
                <a16:creationId xmlns:a16="http://schemas.microsoft.com/office/drawing/2014/main" id="{6C63634F-2307-320B-8E95-2B6ADA84F565}"/>
              </a:ext>
            </a:extLst>
          </p:cNvPr>
          <p:cNvSpPr/>
          <p:nvPr/>
        </p:nvSpPr>
        <p:spPr>
          <a:xfrm>
            <a:off x="4178001" y="3349440"/>
            <a:ext cx="44166" cy="34806"/>
          </a:xfrm>
          <a:prstGeom prst="rect">
            <a:avLst/>
          </a:prstGeom>
          <a:solidFill>
            <a:srgbClr val="7A68A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16" name="Context bar K_2">
            <a:extLst>
              <a:ext uri="{FF2B5EF4-FFF2-40B4-BE49-F238E27FC236}">
                <a16:creationId xmlns:a16="http://schemas.microsoft.com/office/drawing/2014/main" id="{582A4CF2-1B99-BCF5-A8D3-EE93D5F5B81F}"/>
              </a:ext>
            </a:extLst>
          </p:cNvPr>
          <p:cNvSpPr/>
          <p:nvPr/>
        </p:nvSpPr>
        <p:spPr>
          <a:xfrm>
            <a:off x="4226123" y="3349440"/>
            <a:ext cx="44166" cy="34806"/>
          </a:xfrm>
          <a:prstGeom prst="rect">
            <a:avLst/>
          </a:prstGeom>
          <a:solidFill>
            <a:srgbClr val="A193C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17" name="Context bar K_3">
            <a:extLst>
              <a:ext uri="{FF2B5EF4-FFF2-40B4-BE49-F238E27FC236}">
                <a16:creationId xmlns:a16="http://schemas.microsoft.com/office/drawing/2014/main" id="{607B41B1-A111-8D93-E207-5DF6221B54D2}"/>
              </a:ext>
            </a:extLst>
          </p:cNvPr>
          <p:cNvSpPr/>
          <p:nvPr/>
        </p:nvSpPr>
        <p:spPr>
          <a:xfrm>
            <a:off x="4274244" y="3349440"/>
            <a:ext cx="44166" cy="34806"/>
          </a:xfrm>
          <a:prstGeom prst="rect">
            <a:avLst/>
          </a:prstGeom>
          <a:solidFill>
            <a:srgbClr val="CBC2E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18" name="Context bar K_4">
            <a:extLst>
              <a:ext uri="{FF2B5EF4-FFF2-40B4-BE49-F238E27FC236}">
                <a16:creationId xmlns:a16="http://schemas.microsoft.com/office/drawing/2014/main" id="{9539C2E7-004F-E86E-852E-98E80C399402}"/>
              </a:ext>
            </a:extLst>
          </p:cNvPr>
          <p:cNvSpPr/>
          <p:nvPr/>
        </p:nvSpPr>
        <p:spPr>
          <a:xfrm>
            <a:off x="4322366" y="3349440"/>
            <a:ext cx="44166" cy="34806"/>
          </a:xfrm>
          <a:prstGeom prst="rect">
            <a:avLst/>
          </a:prstGeom>
          <a:solidFill>
            <a:srgbClr val="8E7DB5"/>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19" name="Context bar K_5">
            <a:extLst>
              <a:ext uri="{FF2B5EF4-FFF2-40B4-BE49-F238E27FC236}">
                <a16:creationId xmlns:a16="http://schemas.microsoft.com/office/drawing/2014/main" id="{2DE0B959-537B-893B-9987-81BBF3647FFD}"/>
              </a:ext>
            </a:extLst>
          </p:cNvPr>
          <p:cNvSpPr/>
          <p:nvPr/>
        </p:nvSpPr>
        <p:spPr>
          <a:xfrm>
            <a:off x="4370487" y="3349440"/>
            <a:ext cx="44166" cy="34806"/>
          </a:xfrm>
          <a:prstGeom prst="rect">
            <a:avLst/>
          </a:prstGeom>
          <a:solidFill>
            <a:srgbClr val="7A68A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20" name="Context bar K_6">
            <a:extLst>
              <a:ext uri="{FF2B5EF4-FFF2-40B4-BE49-F238E27FC236}">
                <a16:creationId xmlns:a16="http://schemas.microsoft.com/office/drawing/2014/main" id="{147CE38B-269C-4BBA-77C6-2810C1D11F1C}"/>
              </a:ext>
            </a:extLst>
          </p:cNvPr>
          <p:cNvSpPr/>
          <p:nvPr/>
        </p:nvSpPr>
        <p:spPr>
          <a:xfrm>
            <a:off x="4418609" y="3349440"/>
            <a:ext cx="44166" cy="34806"/>
          </a:xfrm>
          <a:prstGeom prst="rect">
            <a:avLst/>
          </a:prstGeom>
          <a:solidFill>
            <a:srgbClr val="A193C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21" name="TextBox 12265">
            <a:extLst>
              <a:ext uri="{FF2B5EF4-FFF2-40B4-BE49-F238E27FC236}">
                <a16:creationId xmlns:a16="http://schemas.microsoft.com/office/drawing/2014/main" id="{979CEBC9-AC70-1276-123A-637171F58084}"/>
              </a:ext>
            </a:extLst>
          </p:cNvPr>
          <p:cNvSpPr txBox="1"/>
          <p:nvPr/>
        </p:nvSpPr>
        <p:spPr>
          <a:xfrm>
            <a:off x="4336209" y="3400472"/>
            <a:ext cx="134652" cy="80599"/>
          </a:xfrm>
          <a:prstGeom prst="rect">
            <a:avLst/>
          </a:prstGeom>
          <a:noFill/>
        </p:spPr>
        <p:txBody>
          <a:bodyPr wrap="none" lIns="0" tIns="0" rIns="0" bIns="0" anchor="ctr">
            <a:spAutoFit/>
          </a:bodyPr>
          <a:lstStyle/>
          <a:p>
            <a:pPr algn="l">
              <a:lnSpc>
                <a:spcPct val="105000"/>
              </a:lnSpc>
            </a:pPr>
            <a:r>
              <a:rPr sz="536" dirty="0">
                <a:solidFill>
                  <a:srgbClr val="263442"/>
                </a:solidFill>
                <a:latin typeface="Arial"/>
              </a:rPr>
              <a:t>K, V</a:t>
            </a:r>
          </a:p>
        </p:txBody>
      </p:sp>
      <p:sp>
        <p:nvSpPr>
          <p:cNvPr id="722" name="Op | Context attention">
            <a:extLst>
              <a:ext uri="{FF2B5EF4-FFF2-40B4-BE49-F238E27FC236}">
                <a16:creationId xmlns:a16="http://schemas.microsoft.com/office/drawing/2014/main" id="{640CE564-549E-0D15-B50A-E392C9DB6304}"/>
              </a:ext>
            </a:extLst>
          </p:cNvPr>
          <p:cNvSpPr/>
          <p:nvPr/>
        </p:nvSpPr>
        <p:spPr>
          <a:xfrm>
            <a:off x="3980242" y="3500341"/>
            <a:ext cx="648651" cy="150297"/>
          </a:xfrm>
          <a:prstGeom prst="roundRect">
            <a:avLst>
              <a:gd name="adj" fmla="val 18000"/>
            </a:avLst>
          </a:prstGeom>
          <a:solidFill>
            <a:srgbClr val="E9F3EE"/>
          </a:solidFill>
          <a:ln w="7290">
            <a:solidFill>
              <a:srgbClr val="68AC9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Context</a:t>
            </a:r>
            <a:r>
              <a:rPr sz="580" dirty="0">
                <a:solidFill>
                  <a:srgbClr val="263442"/>
                </a:solidFill>
                <a:latin typeface="Arial"/>
              </a:rPr>
              <a:t> attention</a:t>
            </a:r>
          </a:p>
        </p:txBody>
      </p:sp>
      <p:sp>
        <p:nvSpPr>
          <p:cNvPr id="723" name="Op | Fusion">
            <a:extLst>
              <a:ext uri="{FF2B5EF4-FFF2-40B4-BE49-F238E27FC236}">
                <a16:creationId xmlns:a16="http://schemas.microsoft.com/office/drawing/2014/main" id="{FF74A918-BF09-C9F6-6A9B-D421CF97BC33}"/>
              </a:ext>
            </a:extLst>
          </p:cNvPr>
          <p:cNvSpPr/>
          <p:nvPr/>
        </p:nvSpPr>
        <p:spPr>
          <a:xfrm>
            <a:off x="3434426" y="3733697"/>
            <a:ext cx="379698" cy="142387"/>
          </a:xfrm>
          <a:prstGeom prst="roundRect">
            <a:avLst>
              <a:gd name="adj" fmla="val 18000"/>
            </a:avLst>
          </a:prstGeom>
          <a:solidFill>
            <a:srgbClr val="EDE7F5"/>
          </a:solidFill>
          <a:ln w="7290">
            <a:solidFill>
              <a:srgbClr val="B8A9D9"/>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Fusion</a:t>
            </a:r>
          </a:p>
        </p:txBody>
      </p:sp>
      <p:sp>
        <p:nvSpPr>
          <p:cNvPr id="724" name="g_k bar_1">
            <a:extLst>
              <a:ext uri="{FF2B5EF4-FFF2-40B4-BE49-F238E27FC236}">
                <a16:creationId xmlns:a16="http://schemas.microsoft.com/office/drawing/2014/main" id="{CB9A6A2F-14EE-2004-CB53-FCE391ACED69}"/>
              </a:ext>
            </a:extLst>
          </p:cNvPr>
          <p:cNvSpPr/>
          <p:nvPr/>
        </p:nvSpPr>
        <p:spPr>
          <a:xfrm>
            <a:off x="3458158" y="3989994"/>
            <a:ext cx="44072" cy="56955"/>
          </a:xfrm>
          <a:prstGeom prst="rect">
            <a:avLst/>
          </a:prstGeom>
          <a:solidFill>
            <a:srgbClr val="3E997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25" name="g_k bar_2">
            <a:extLst>
              <a:ext uri="{FF2B5EF4-FFF2-40B4-BE49-F238E27FC236}">
                <a16:creationId xmlns:a16="http://schemas.microsoft.com/office/drawing/2014/main" id="{E39FC69E-11ED-3FA2-32B9-5945059F2213}"/>
              </a:ext>
            </a:extLst>
          </p:cNvPr>
          <p:cNvSpPr/>
          <p:nvPr/>
        </p:nvSpPr>
        <p:spPr>
          <a:xfrm>
            <a:off x="3506185" y="3989994"/>
            <a:ext cx="44072" cy="56955"/>
          </a:xfrm>
          <a:prstGeom prst="rect">
            <a:avLst/>
          </a:prstGeom>
          <a:solidFill>
            <a:srgbClr val="83C2A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26" name="g_k bar_3">
            <a:extLst>
              <a:ext uri="{FF2B5EF4-FFF2-40B4-BE49-F238E27FC236}">
                <a16:creationId xmlns:a16="http://schemas.microsoft.com/office/drawing/2014/main" id="{543C1079-397B-91D4-0D56-9824953F1A51}"/>
              </a:ext>
            </a:extLst>
          </p:cNvPr>
          <p:cNvSpPr/>
          <p:nvPr/>
        </p:nvSpPr>
        <p:spPr>
          <a:xfrm>
            <a:off x="3554212" y="3989994"/>
            <a:ext cx="44072" cy="56955"/>
          </a:xfrm>
          <a:prstGeom prst="rect">
            <a:avLst/>
          </a:prstGeom>
          <a:solidFill>
            <a:srgbClr val="BCDDC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27" name="g_k bar_4">
            <a:extLst>
              <a:ext uri="{FF2B5EF4-FFF2-40B4-BE49-F238E27FC236}">
                <a16:creationId xmlns:a16="http://schemas.microsoft.com/office/drawing/2014/main" id="{72768CF4-9EFB-DF24-7C89-6D351C730BA5}"/>
              </a:ext>
            </a:extLst>
          </p:cNvPr>
          <p:cNvSpPr/>
          <p:nvPr/>
        </p:nvSpPr>
        <p:spPr>
          <a:xfrm>
            <a:off x="3602239" y="3989994"/>
            <a:ext cx="44072" cy="56955"/>
          </a:xfrm>
          <a:prstGeom prst="rect">
            <a:avLst/>
          </a:prstGeom>
          <a:solidFill>
            <a:srgbClr val="68AB9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28" name="g_k bar_5">
            <a:extLst>
              <a:ext uri="{FF2B5EF4-FFF2-40B4-BE49-F238E27FC236}">
                <a16:creationId xmlns:a16="http://schemas.microsoft.com/office/drawing/2014/main" id="{4025AE17-AFDD-1F7D-9368-8E976FBC9D73}"/>
              </a:ext>
            </a:extLst>
          </p:cNvPr>
          <p:cNvSpPr/>
          <p:nvPr/>
        </p:nvSpPr>
        <p:spPr>
          <a:xfrm>
            <a:off x="3650267" y="3989994"/>
            <a:ext cx="44072" cy="56955"/>
          </a:xfrm>
          <a:prstGeom prst="rect">
            <a:avLst/>
          </a:prstGeom>
          <a:solidFill>
            <a:srgbClr val="3E997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29" name="g_k bar_6">
            <a:extLst>
              <a:ext uri="{FF2B5EF4-FFF2-40B4-BE49-F238E27FC236}">
                <a16:creationId xmlns:a16="http://schemas.microsoft.com/office/drawing/2014/main" id="{894C2CFF-A654-8C7B-2480-AC98400CE487}"/>
              </a:ext>
            </a:extLst>
          </p:cNvPr>
          <p:cNvSpPr/>
          <p:nvPr/>
        </p:nvSpPr>
        <p:spPr>
          <a:xfrm>
            <a:off x="3698294" y="3989994"/>
            <a:ext cx="44072" cy="56955"/>
          </a:xfrm>
          <a:prstGeom prst="rect">
            <a:avLst/>
          </a:prstGeom>
          <a:solidFill>
            <a:srgbClr val="83C2A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30" name="g_k bar_7">
            <a:extLst>
              <a:ext uri="{FF2B5EF4-FFF2-40B4-BE49-F238E27FC236}">
                <a16:creationId xmlns:a16="http://schemas.microsoft.com/office/drawing/2014/main" id="{DC10EA75-05BB-E415-682D-FAFCD65B7377}"/>
              </a:ext>
            </a:extLst>
          </p:cNvPr>
          <p:cNvSpPr/>
          <p:nvPr/>
        </p:nvSpPr>
        <p:spPr>
          <a:xfrm>
            <a:off x="3746321" y="3989994"/>
            <a:ext cx="44072" cy="56955"/>
          </a:xfrm>
          <a:prstGeom prst="rect">
            <a:avLst/>
          </a:prstGeom>
          <a:solidFill>
            <a:srgbClr val="BCDDC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31" name="Math | g_k^">
            <a:extLst>
              <a:ext uri="{FF2B5EF4-FFF2-40B4-BE49-F238E27FC236}">
                <a16:creationId xmlns:a16="http://schemas.microsoft.com/office/drawing/2014/main" id="{45321F2B-F3FA-58E1-92FE-B69A1AB20949}"/>
              </a:ext>
            </a:extLst>
          </p:cNvPr>
          <p:cNvSpPr txBox="1"/>
          <p:nvPr/>
        </p:nvSpPr>
        <p:spPr>
          <a:xfrm>
            <a:off x="3827018" y="3947306"/>
            <a:ext cx="84960" cy="126509"/>
          </a:xfrm>
          <a:prstGeom prst="rect">
            <a:avLst/>
          </a:prstGeom>
          <a:noFill/>
        </p:spPr>
        <p:txBody>
          <a:bodyPr wrap="none" lIns="0" tIns="0" rIns="0" bIns="0" anchor="ctr">
            <a:spAutoFit/>
          </a:bodyPr>
          <a:lstStyle/>
          <a:p>
            <a:pPr algn="ctr"/>
            <a:r>
              <a:rPr sz="855" i="1">
                <a:solidFill>
                  <a:srgbClr val="263442"/>
                </a:solidFill>
                <a:latin typeface="Times New Roman"/>
              </a:rPr>
              <a:t>g</a:t>
            </a:r>
            <a:r>
              <a:rPr sz="780" i="1" baseline="-28000">
                <a:solidFill>
                  <a:srgbClr val="263442"/>
                </a:solidFill>
                <a:latin typeface="Times New Roman"/>
              </a:rPr>
              <a:t>k</a:t>
            </a:r>
          </a:p>
        </p:txBody>
      </p:sp>
      <p:sp>
        <p:nvSpPr>
          <p:cNvPr id="732" name="Op | Cosine score">
            <a:extLst>
              <a:ext uri="{FF2B5EF4-FFF2-40B4-BE49-F238E27FC236}">
                <a16:creationId xmlns:a16="http://schemas.microsoft.com/office/drawing/2014/main" id="{9B88858F-88C1-DA3F-1992-E9C76D0D80AF}"/>
              </a:ext>
            </a:extLst>
          </p:cNvPr>
          <p:cNvSpPr/>
          <p:nvPr/>
        </p:nvSpPr>
        <p:spPr>
          <a:xfrm>
            <a:off x="3234406" y="4162465"/>
            <a:ext cx="569547" cy="150297"/>
          </a:xfrm>
          <a:prstGeom prst="roundRect">
            <a:avLst>
              <a:gd name="adj" fmla="val 18000"/>
            </a:avLst>
          </a:prstGeom>
          <a:solidFill>
            <a:srgbClr val="E9F3EE"/>
          </a:solidFill>
          <a:ln w="7290">
            <a:solidFill>
              <a:srgbClr val="68AC9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Cosine score</a:t>
            </a:r>
          </a:p>
        </p:txBody>
      </p:sp>
      <p:sp>
        <p:nvSpPr>
          <p:cNvPr id="733" name="TextBox 12277">
            <a:extLst>
              <a:ext uri="{FF2B5EF4-FFF2-40B4-BE49-F238E27FC236}">
                <a16:creationId xmlns:a16="http://schemas.microsoft.com/office/drawing/2014/main" id="{7D6970C3-E7E9-652B-644D-A057CB503545}"/>
              </a:ext>
            </a:extLst>
          </p:cNvPr>
          <p:cNvSpPr txBox="1"/>
          <p:nvPr/>
        </p:nvSpPr>
        <p:spPr>
          <a:xfrm>
            <a:off x="3229878" y="4326634"/>
            <a:ext cx="585097" cy="79445"/>
          </a:xfrm>
          <a:prstGeom prst="rect">
            <a:avLst/>
          </a:prstGeom>
          <a:noFill/>
        </p:spPr>
        <p:txBody>
          <a:bodyPr wrap="none" lIns="0" tIns="0" rIns="0" bIns="0" anchor="ctr">
            <a:spAutoFit/>
          </a:bodyPr>
          <a:lstStyle/>
          <a:p>
            <a:pPr algn="ctr">
              <a:lnSpc>
                <a:spcPct val="105000"/>
              </a:lnSpc>
            </a:pPr>
            <a:r>
              <a:rPr sz="528" dirty="0">
                <a:solidFill>
                  <a:srgbClr val="263442"/>
                </a:solidFill>
                <a:latin typeface="Arial"/>
              </a:rPr>
              <a:t>Learned projections</a:t>
            </a:r>
          </a:p>
        </p:txBody>
      </p:sp>
      <p:sp>
        <p:nvSpPr>
          <p:cNvPr id="734" name="Math | s_j,k^">
            <a:extLst>
              <a:ext uri="{FF2B5EF4-FFF2-40B4-BE49-F238E27FC236}">
                <a16:creationId xmlns:a16="http://schemas.microsoft.com/office/drawing/2014/main" id="{BD0A37AE-0CF6-77DD-8048-3FF0945F4158}"/>
              </a:ext>
            </a:extLst>
          </p:cNvPr>
          <p:cNvSpPr txBox="1"/>
          <p:nvPr/>
        </p:nvSpPr>
        <p:spPr>
          <a:xfrm>
            <a:off x="3884649" y="4086560"/>
            <a:ext cx="104196" cy="117083"/>
          </a:xfrm>
          <a:prstGeom prst="rect">
            <a:avLst/>
          </a:prstGeom>
          <a:noFill/>
        </p:spPr>
        <p:txBody>
          <a:bodyPr wrap="none" lIns="0" tIns="0" rIns="0" bIns="0" anchor="ctr">
            <a:spAutoFit/>
          </a:bodyPr>
          <a:lstStyle/>
          <a:p>
            <a:pPr algn="ctr"/>
            <a:r>
              <a:rPr sz="791" i="1" dirty="0" err="1">
                <a:solidFill>
                  <a:srgbClr val="263442"/>
                </a:solidFill>
                <a:latin typeface="Times New Roman"/>
              </a:rPr>
              <a:t>s</a:t>
            </a:r>
            <a:r>
              <a:rPr sz="780" i="1" baseline="-28000" dirty="0" err="1">
                <a:solidFill>
                  <a:srgbClr val="263442"/>
                </a:solidFill>
                <a:latin typeface="Times New Roman"/>
              </a:rPr>
              <a:t>j,k</a:t>
            </a:r>
            <a:endParaRPr sz="780" i="1" baseline="-28000" dirty="0">
              <a:solidFill>
                <a:srgbClr val="263442"/>
              </a:solidFill>
              <a:latin typeface="Times New Roman"/>
            </a:endParaRPr>
          </a:p>
        </p:txBody>
      </p:sp>
      <p:sp>
        <p:nvSpPr>
          <p:cNvPr id="735" name="TextBox 12279">
            <a:extLst>
              <a:ext uri="{FF2B5EF4-FFF2-40B4-BE49-F238E27FC236}">
                <a16:creationId xmlns:a16="http://schemas.microsoft.com/office/drawing/2014/main" id="{C56E8311-ADDA-7C63-9110-2C3006BDD08E}"/>
              </a:ext>
            </a:extLst>
          </p:cNvPr>
          <p:cNvSpPr txBox="1"/>
          <p:nvPr/>
        </p:nvSpPr>
        <p:spPr>
          <a:xfrm>
            <a:off x="4144023" y="3931330"/>
            <a:ext cx="479297" cy="87268"/>
          </a:xfrm>
          <a:prstGeom prst="rect">
            <a:avLst/>
          </a:prstGeom>
          <a:noFill/>
        </p:spPr>
        <p:txBody>
          <a:bodyPr wrap="none" lIns="0" tIns="0" rIns="0" bIns="0" anchor="ctr">
            <a:spAutoFit/>
          </a:bodyPr>
          <a:lstStyle/>
          <a:p>
            <a:pPr algn="ctr">
              <a:lnSpc>
                <a:spcPct val="105000"/>
              </a:lnSpc>
            </a:pPr>
            <a:r>
              <a:rPr sz="580">
                <a:solidFill>
                  <a:srgbClr val="263442"/>
                </a:solidFill>
                <a:latin typeface="Arial"/>
              </a:rPr>
              <a:t>Identity scores</a:t>
            </a:r>
          </a:p>
        </p:txBody>
      </p:sp>
      <p:sp>
        <p:nvSpPr>
          <p:cNvPr id="736" name="TextBox 12280">
            <a:extLst>
              <a:ext uri="{FF2B5EF4-FFF2-40B4-BE49-F238E27FC236}">
                <a16:creationId xmlns:a16="http://schemas.microsoft.com/office/drawing/2014/main" id="{C640A1D5-D4D1-3FBF-0F27-45AD836A7FCE}"/>
              </a:ext>
            </a:extLst>
          </p:cNvPr>
          <p:cNvSpPr txBox="1"/>
          <p:nvPr/>
        </p:nvSpPr>
        <p:spPr>
          <a:xfrm>
            <a:off x="4382527" y="4018471"/>
            <a:ext cx="102835" cy="85921"/>
          </a:xfrm>
          <a:prstGeom prst="rect">
            <a:avLst/>
          </a:prstGeom>
          <a:noFill/>
        </p:spPr>
        <p:txBody>
          <a:bodyPr wrap="square" lIns="0" tIns="0" rIns="0" bIns="0" anchor="ctr">
            <a:spAutoFit/>
          </a:bodyPr>
          <a:lstStyle/>
          <a:p>
            <a:pPr algn="ctr">
              <a:lnSpc>
                <a:spcPct val="105000"/>
              </a:lnSpc>
            </a:pPr>
            <a:r>
              <a:rPr sz="571" dirty="0">
                <a:solidFill>
                  <a:srgbClr val="263442"/>
                </a:solidFill>
                <a:latin typeface="Arial"/>
              </a:rPr>
              <a:t>k</a:t>
            </a:r>
          </a:p>
        </p:txBody>
      </p:sp>
      <p:sp>
        <p:nvSpPr>
          <p:cNvPr id="737" name="TextBox 12281">
            <a:extLst>
              <a:ext uri="{FF2B5EF4-FFF2-40B4-BE49-F238E27FC236}">
                <a16:creationId xmlns:a16="http://schemas.microsoft.com/office/drawing/2014/main" id="{F472392A-4724-5EDA-C6D8-557EF063B52F}"/>
              </a:ext>
            </a:extLst>
          </p:cNvPr>
          <p:cNvSpPr txBox="1"/>
          <p:nvPr/>
        </p:nvSpPr>
        <p:spPr>
          <a:xfrm>
            <a:off x="4083077" y="4169314"/>
            <a:ext cx="87014" cy="85921"/>
          </a:xfrm>
          <a:prstGeom prst="rect">
            <a:avLst/>
          </a:prstGeom>
          <a:noFill/>
        </p:spPr>
        <p:txBody>
          <a:bodyPr wrap="square" lIns="0" tIns="0" rIns="0" bIns="0" anchor="ctr">
            <a:spAutoFit/>
          </a:bodyPr>
          <a:lstStyle/>
          <a:p>
            <a:pPr algn="ctr">
              <a:lnSpc>
                <a:spcPct val="105000"/>
              </a:lnSpc>
            </a:pPr>
            <a:r>
              <a:rPr sz="571">
                <a:solidFill>
                  <a:srgbClr val="263442"/>
                </a:solidFill>
                <a:latin typeface="Arial"/>
              </a:rPr>
              <a:t>j</a:t>
            </a:r>
          </a:p>
        </p:txBody>
      </p:sp>
      <p:sp>
        <p:nvSpPr>
          <p:cNvPr id="738" name="Matrix cell (0,0)">
            <a:extLst>
              <a:ext uri="{FF2B5EF4-FFF2-40B4-BE49-F238E27FC236}">
                <a16:creationId xmlns:a16="http://schemas.microsoft.com/office/drawing/2014/main" id="{1FAFF817-C1CE-5F45-E950-98E19AE452CF}"/>
              </a:ext>
            </a:extLst>
          </p:cNvPr>
          <p:cNvSpPr/>
          <p:nvPr/>
        </p:nvSpPr>
        <p:spPr>
          <a:xfrm>
            <a:off x="4178001" y="4105485"/>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39" name="Matrix cell (0,1)">
            <a:extLst>
              <a:ext uri="{FF2B5EF4-FFF2-40B4-BE49-F238E27FC236}">
                <a16:creationId xmlns:a16="http://schemas.microsoft.com/office/drawing/2014/main" id="{ED9FACB8-4D6A-044F-997F-E09503AC15AA}"/>
              </a:ext>
            </a:extLst>
          </p:cNvPr>
          <p:cNvSpPr/>
          <p:nvPr/>
        </p:nvSpPr>
        <p:spPr>
          <a:xfrm>
            <a:off x="4280836" y="4105485"/>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0" name="Matrix cell (0,2)">
            <a:extLst>
              <a:ext uri="{FF2B5EF4-FFF2-40B4-BE49-F238E27FC236}">
                <a16:creationId xmlns:a16="http://schemas.microsoft.com/office/drawing/2014/main" id="{DE25E670-FAB3-667C-5777-C71ED9075845}"/>
              </a:ext>
            </a:extLst>
          </p:cNvPr>
          <p:cNvSpPr/>
          <p:nvPr/>
        </p:nvSpPr>
        <p:spPr>
          <a:xfrm>
            <a:off x="4383671" y="4105485"/>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1" name="Matrix cell (0,3)">
            <a:extLst>
              <a:ext uri="{FF2B5EF4-FFF2-40B4-BE49-F238E27FC236}">
                <a16:creationId xmlns:a16="http://schemas.microsoft.com/office/drawing/2014/main" id="{D15A0AB1-9BF7-4E76-6CED-C525DFBAA5F7}"/>
              </a:ext>
            </a:extLst>
          </p:cNvPr>
          <p:cNvSpPr/>
          <p:nvPr/>
        </p:nvSpPr>
        <p:spPr>
          <a:xfrm>
            <a:off x="4486506" y="4105485"/>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2" name="Matrix cell (1,0)">
            <a:extLst>
              <a:ext uri="{FF2B5EF4-FFF2-40B4-BE49-F238E27FC236}">
                <a16:creationId xmlns:a16="http://schemas.microsoft.com/office/drawing/2014/main" id="{5C20FC23-8B30-D896-36CC-91D73273996F}"/>
              </a:ext>
            </a:extLst>
          </p:cNvPr>
          <p:cNvSpPr/>
          <p:nvPr/>
        </p:nvSpPr>
        <p:spPr>
          <a:xfrm>
            <a:off x="4178001" y="4176678"/>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3" name="Matrix cell (1,1)">
            <a:extLst>
              <a:ext uri="{FF2B5EF4-FFF2-40B4-BE49-F238E27FC236}">
                <a16:creationId xmlns:a16="http://schemas.microsoft.com/office/drawing/2014/main" id="{023C0380-7EA8-B629-5738-AD00698F49B6}"/>
              </a:ext>
            </a:extLst>
          </p:cNvPr>
          <p:cNvSpPr/>
          <p:nvPr/>
        </p:nvSpPr>
        <p:spPr>
          <a:xfrm>
            <a:off x="4280836" y="4176678"/>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4" name="Matrix cell (1,2)">
            <a:extLst>
              <a:ext uri="{FF2B5EF4-FFF2-40B4-BE49-F238E27FC236}">
                <a16:creationId xmlns:a16="http://schemas.microsoft.com/office/drawing/2014/main" id="{12FBEABC-63F9-0304-4A97-80811BFE2B66}"/>
              </a:ext>
            </a:extLst>
          </p:cNvPr>
          <p:cNvSpPr/>
          <p:nvPr/>
        </p:nvSpPr>
        <p:spPr>
          <a:xfrm>
            <a:off x="4383671" y="4176678"/>
            <a:ext cx="102835" cy="71193"/>
          </a:xfrm>
          <a:prstGeom prst="rect">
            <a:avLst/>
          </a:prstGeom>
          <a:solidFill>
            <a:srgbClr val="3C9486"/>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5" name="Matrix cell (1,3)">
            <a:extLst>
              <a:ext uri="{FF2B5EF4-FFF2-40B4-BE49-F238E27FC236}">
                <a16:creationId xmlns:a16="http://schemas.microsoft.com/office/drawing/2014/main" id="{90D1E1D0-D1D8-F490-5B4D-27F3093D1ECE}"/>
              </a:ext>
            </a:extLst>
          </p:cNvPr>
          <p:cNvSpPr/>
          <p:nvPr/>
        </p:nvSpPr>
        <p:spPr>
          <a:xfrm>
            <a:off x="4486506" y="4176678"/>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6" name="Matrix cell (2,0)">
            <a:extLst>
              <a:ext uri="{FF2B5EF4-FFF2-40B4-BE49-F238E27FC236}">
                <a16:creationId xmlns:a16="http://schemas.microsoft.com/office/drawing/2014/main" id="{158A66BE-E7B7-0506-657E-0BF13A0E4F5E}"/>
              </a:ext>
            </a:extLst>
          </p:cNvPr>
          <p:cNvSpPr/>
          <p:nvPr/>
        </p:nvSpPr>
        <p:spPr>
          <a:xfrm>
            <a:off x="4178001" y="4247872"/>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7" name="Matrix cell (2,1)">
            <a:extLst>
              <a:ext uri="{FF2B5EF4-FFF2-40B4-BE49-F238E27FC236}">
                <a16:creationId xmlns:a16="http://schemas.microsoft.com/office/drawing/2014/main" id="{3B18D166-F88A-573E-0225-1ACB99CB2512}"/>
              </a:ext>
            </a:extLst>
          </p:cNvPr>
          <p:cNvSpPr/>
          <p:nvPr/>
        </p:nvSpPr>
        <p:spPr>
          <a:xfrm>
            <a:off x="4280836" y="4247872"/>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8" name="Matrix cell (2,2)">
            <a:extLst>
              <a:ext uri="{FF2B5EF4-FFF2-40B4-BE49-F238E27FC236}">
                <a16:creationId xmlns:a16="http://schemas.microsoft.com/office/drawing/2014/main" id="{FC858539-3EA9-E4FE-E803-0C8FFAD3870F}"/>
              </a:ext>
            </a:extLst>
          </p:cNvPr>
          <p:cNvSpPr/>
          <p:nvPr/>
        </p:nvSpPr>
        <p:spPr>
          <a:xfrm>
            <a:off x="4383671" y="4247872"/>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9" name="Matrix cell (2,3)">
            <a:extLst>
              <a:ext uri="{FF2B5EF4-FFF2-40B4-BE49-F238E27FC236}">
                <a16:creationId xmlns:a16="http://schemas.microsoft.com/office/drawing/2014/main" id="{3713326C-75C4-31D8-12F4-1CA18BF652D7}"/>
              </a:ext>
            </a:extLst>
          </p:cNvPr>
          <p:cNvSpPr/>
          <p:nvPr/>
        </p:nvSpPr>
        <p:spPr>
          <a:xfrm>
            <a:off x="4486506" y="4247872"/>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50" name="TextBox 12294">
            <a:extLst>
              <a:ext uri="{FF2B5EF4-FFF2-40B4-BE49-F238E27FC236}">
                <a16:creationId xmlns:a16="http://schemas.microsoft.com/office/drawing/2014/main" id="{E992C05A-634A-6CF2-2936-1480C4EA17F1}"/>
              </a:ext>
            </a:extLst>
          </p:cNvPr>
          <p:cNvSpPr txBox="1"/>
          <p:nvPr/>
        </p:nvSpPr>
        <p:spPr>
          <a:xfrm>
            <a:off x="4178002" y="4312989"/>
            <a:ext cx="411339" cy="82587"/>
          </a:xfrm>
          <a:prstGeom prst="rect">
            <a:avLst/>
          </a:prstGeom>
          <a:noFill/>
        </p:spPr>
        <p:txBody>
          <a:bodyPr wrap="square" lIns="0" tIns="0" rIns="0" bIns="0" anchor="ctr">
            <a:spAutoFit/>
          </a:bodyPr>
          <a:lstStyle/>
          <a:p>
            <a:pPr algn="ctr">
              <a:lnSpc>
                <a:spcPct val="105000"/>
              </a:lnSpc>
            </a:pPr>
            <a:r>
              <a:rPr sz="536">
                <a:solidFill>
                  <a:srgbClr val="263442"/>
                </a:solidFill>
                <a:latin typeface="Arial"/>
              </a:rPr>
              <a:t>J × K</a:t>
            </a:r>
          </a:p>
        </p:txBody>
      </p:sp>
      <p:grpSp>
        <p:nvGrpSpPr>
          <p:cNvPr id="751" name="组合 13795">
            <a:extLst>
              <a:ext uri="{FF2B5EF4-FFF2-40B4-BE49-F238E27FC236}">
                <a16:creationId xmlns:a16="http://schemas.microsoft.com/office/drawing/2014/main" id="{7EA912CF-516A-2745-A5D0-8704116A4D72}"/>
              </a:ext>
            </a:extLst>
          </p:cNvPr>
          <p:cNvGrpSpPr/>
          <p:nvPr/>
        </p:nvGrpSpPr>
        <p:grpSpPr>
          <a:xfrm>
            <a:off x="2067869" y="554865"/>
            <a:ext cx="1978883" cy="340209"/>
            <a:chOff x="6312668" y="2448732"/>
            <a:chExt cx="1215499" cy="343631"/>
          </a:xfrm>
        </p:grpSpPr>
        <p:pic>
          <p:nvPicPr>
            <p:cNvPr id="752" name="图片 12">
              <a:extLst>
                <a:ext uri="{FF2B5EF4-FFF2-40B4-BE49-F238E27FC236}">
                  <a16:creationId xmlns:a16="http://schemas.microsoft.com/office/drawing/2014/main" id="{521CB8EA-9697-F11D-7107-B4A42B988070}"/>
                </a:ext>
              </a:extLst>
            </p:cNvPr>
            <p:cNvPicPr>
              <a:picLocks/>
            </p:cNvPicPr>
            <p:nvPr/>
          </p:nvPicPr>
          <p:blipFill>
            <a:blip r:embed="rId5"/>
            <a:srcRect l="70243" t="-18171" b="-1"/>
            <a:stretch>
              <a:fillRect/>
            </a:stretch>
          </p:blipFill>
          <p:spPr>
            <a:xfrm>
              <a:off x="7112075" y="2448732"/>
              <a:ext cx="416092" cy="323855"/>
            </a:xfrm>
            <a:prstGeom prst="rect">
              <a:avLst/>
            </a:prstGeom>
          </p:spPr>
        </p:pic>
        <p:pic>
          <p:nvPicPr>
            <p:cNvPr id="753" name="图片 12">
              <a:extLst>
                <a:ext uri="{FF2B5EF4-FFF2-40B4-BE49-F238E27FC236}">
                  <a16:creationId xmlns:a16="http://schemas.microsoft.com/office/drawing/2014/main" id="{546466D8-C7C6-7C8A-3307-95F68FB4F610}"/>
                </a:ext>
              </a:extLst>
            </p:cNvPr>
            <p:cNvPicPr>
              <a:picLocks/>
            </p:cNvPicPr>
            <p:nvPr/>
          </p:nvPicPr>
          <p:blipFill>
            <a:blip r:embed="rId5"/>
            <a:srcRect r="70534" b="-8235"/>
            <a:stretch>
              <a:fillRect/>
            </a:stretch>
          </p:blipFill>
          <p:spPr>
            <a:xfrm>
              <a:off x="6312668" y="2495741"/>
              <a:ext cx="412024" cy="296622"/>
            </a:xfrm>
            <a:prstGeom prst="rect">
              <a:avLst/>
            </a:prstGeom>
          </p:spPr>
        </p:pic>
        <p:pic>
          <p:nvPicPr>
            <p:cNvPr id="754" name="Picture 10000" descr="unet_block_18.png">
              <a:extLst>
                <a:ext uri="{FF2B5EF4-FFF2-40B4-BE49-F238E27FC236}">
                  <a16:creationId xmlns:a16="http://schemas.microsoft.com/office/drawing/2014/main" id="{75A7694C-DEA5-AFE8-E284-0A0D89F845C1}"/>
                </a:ext>
              </a:extLst>
            </p:cNvPr>
            <p:cNvPicPr>
              <a:picLocks noChangeAspect="1"/>
            </p:cNvPicPr>
            <p:nvPr/>
          </p:nvPicPr>
          <p:blipFill>
            <a:blip r:embed="rId6"/>
            <a:stretch>
              <a:fillRect/>
            </a:stretch>
          </p:blipFill>
          <p:spPr>
            <a:xfrm>
              <a:off x="6776851" y="2645026"/>
              <a:ext cx="276863" cy="126566"/>
            </a:xfrm>
            <a:prstGeom prst="rect">
              <a:avLst/>
            </a:prstGeom>
          </p:spPr>
        </p:pic>
      </p:grpSp>
      <p:grpSp>
        <p:nvGrpSpPr>
          <p:cNvPr id="755" name="Find candidate blob 1">
            <a:extLst>
              <a:ext uri="{FF2B5EF4-FFF2-40B4-BE49-F238E27FC236}">
                <a16:creationId xmlns:a16="http://schemas.microsoft.com/office/drawing/2014/main" id="{3B821B97-56A6-DCED-E85F-DBF945F3EA13}"/>
              </a:ext>
            </a:extLst>
          </p:cNvPr>
          <p:cNvGrpSpPr/>
          <p:nvPr/>
        </p:nvGrpSpPr>
        <p:grpSpPr>
          <a:xfrm>
            <a:off x="4387530" y="1039644"/>
            <a:ext cx="163890" cy="111953"/>
            <a:chOff x="1928706" y="3559489"/>
            <a:chExt cx="227897" cy="155682"/>
          </a:xfrm>
        </p:grpSpPr>
        <p:sp>
          <p:nvSpPr>
            <p:cNvPr id="756" name="Candidate blob | editable contour">
              <a:extLst>
                <a:ext uri="{FF2B5EF4-FFF2-40B4-BE49-F238E27FC236}">
                  <a16:creationId xmlns:a16="http://schemas.microsoft.com/office/drawing/2014/main" id="{B3B117DA-D182-38E6-AD16-B4776AD2C7B7}"/>
                </a:ext>
              </a:extLst>
            </p:cNvPr>
            <p:cNvSpPr/>
            <p:nvPr/>
          </p:nvSpPr>
          <p:spPr>
            <a:xfrm>
              <a:off x="1928706" y="3559489"/>
              <a:ext cx="227897" cy="155682"/>
            </a:xfrm>
            <a:custGeom>
              <a:avLst/>
              <a:gdLst/>
              <a:ahLst/>
              <a:cxnLst/>
              <a:rect l="0" t="0" r="w" b="h"/>
              <a:pathLst>
                <a:path w="227897" h="155682" extrusionOk="0">
                  <a:moveTo>
                    <a:pt x="5338" y="97866"/>
                  </a:moveTo>
                  <a:cubicBezTo>
                    <a:pt x="0" y="80701"/>
                    <a:pt x="18889" y="54504"/>
                    <a:pt x="29976" y="43663"/>
                  </a:cubicBezTo>
                  <a:cubicBezTo>
                    <a:pt x="41062" y="32823"/>
                    <a:pt x="58719" y="39447"/>
                    <a:pt x="71859" y="32823"/>
                  </a:cubicBezTo>
                  <a:cubicBezTo>
                    <a:pt x="84999" y="26198"/>
                    <a:pt x="92391" y="7829"/>
                    <a:pt x="108816" y="3915"/>
                  </a:cubicBezTo>
                  <a:cubicBezTo>
                    <a:pt x="125241" y="0"/>
                    <a:pt x="153984" y="3613"/>
                    <a:pt x="170409" y="9335"/>
                  </a:cubicBezTo>
                  <a:cubicBezTo>
                    <a:pt x="186834" y="15056"/>
                    <a:pt x="198332" y="26198"/>
                    <a:pt x="207366" y="38243"/>
                  </a:cubicBezTo>
                  <a:cubicBezTo>
                    <a:pt x="216399" y="50288"/>
                    <a:pt x="227897" y="67151"/>
                    <a:pt x="224612" y="81605"/>
                  </a:cubicBezTo>
                  <a:cubicBezTo>
                    <a:pt x="221327" y="96059"/>
                    <a:pt x="203259" y="113223"/>
                    <a:pt x="187656" y="124967"/>
                  </a:cubicBezTo>
                  <a:cubicBezTo>
                    <a:pt x="172052" y="136711"/>
                    <a:pt x="151931" y="148455"/>
                    <a:pt x="130989" y="152068"/>
                  </a:cubicBezTo>
                  <a:cubicBezTo>
                    <a:pt x="110048" y="155682"/>
                    <a:pt x="82946" y="155682"/>
                    <a:pt x="62004" y="146648"/>
                  </a:cubicBezTo>
                  <a:cubicBezTo>
                    <a:pt x="41062" y="137614"/>
                    <a:pt x="10676" y="115030"/>
                    <a:pt x="5338" y="97866"/>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757" name="ellipse_2612">
              <a:extLst>
                <a:ext uri="{FF2B5EF4-FFF2-40B4-BE49-F238E27FC236}">
                  <a16:creationId xmlns:a16="http://schemas.microsoft.com/office/drawing/2014/main" id="{901C6437-E94C-AFDE-D242-E688A89ABBDB}"/>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grpSp>
        <p:nvGrpSpPr>
          <p:cNvPr id="758" name="Find candidate blob 2">
            <a:extLst>
              <a:ext uri="{FF2B5EF4-FFF2-40B4-BE49-F238E27FC236}">
                <a16:creationId xmlns:a16="http://schemas.microsoft.com/office/drawing/2014/main" id="{00C0C92B-D4C8-0994-E860-1581EB873D86}"/>
              </a:ext>
            </a:extLst>
          </p:cNvPr>
          <p:cNvGrpSpPr/>
          <p:nvPr/>
        </p:nvGrpSpPr>
        <p:grpSpPr>
          <a:xfrm>
            <a:off x="4382818" y="917369"/>
            <a:ext cx="168602" cy="95394"/>
            <a:chOff x="1928706" y="3559489"/>
            <a:chExt cx="227897" cy="155682"/>
          </a:xfrm>
        </p:grpSpPr>
        <p:sp>
          <p:nvSpPr>
            <p:cNvPr id="759" name="Candidate blob | editable contour">
              <a:extLst>
                <a:ext uri="{FF2B5EF4-FFF2-40B4-BE49-F238E27FC236}">
                  <a16:creationId xmlns:a16="http://schemas.microsoft.com/office/drawing/2014/main" id="{A172A8B3-EFA3-33C9-CD2B-307B24D7293D}"/>
                </a:ext>
              </a:extLst>
            </p:cNvPr>
            <p:cNvSpPr/>
            <p:nvPr/>
          </p:nvSpPr>
          <p:spPr>
            <a:xfrm>
              <a:off x="1928706" y="3559489"/>
              <a:ext cx="227897" cy="155682"/>
            </a:xfrm>
            <a:custGeom>
              <a:avLst/>
              <a:gdLst/>
              <a:ahLst/>
              <a:cxnLst/>
              <a:rect l="0" t="0" r="w" b="h"/>
              <a:pathLst>
                <a:path w="227897" h="155682" extrusionOk="0">
                  <a:moveTo>
                    <a:pt x="3521" y="100385"/>
                  </a:moveTo>
                  <a:cubicBezTo>
                    <a:pt x="0" y="80701"/>
                    <a:pt x="26006" y="62787"/>
                    <a:pt x="43453" y="54263"/>
                  </a:cubicBezTo>
                  <a:cubicBezTo>
                    <a:pt x="58843" y="43224"/>
                    <a:pt x="83460" y="52781"/>
                    <a:pt x="99588" y="43358"/>
                  </a:cubicBezTo>
                  <a:cubicBezTo>
                    <a:pt x="112436" y="32945"/>
                    <a:pt x="102548" y="9475"/>
                    <a:pt x="114181" y="4123"/>
                  </a:cubicBezTo>
                  <a:cubicBezTo>
                    <a:pt x="125241" y="0"/>
                    <a:pt x="158214" y="2398"/>
                    <a:pt x="179365" y="5837"/>
                  </a:cubicBezTo>
                  <a:cubicBezTo>
                    <a:pt x="197301" y="9996"/>
                    <a:pt x="210134" y="19340"/>
                    <a:pt x="216909" y="31256"/>
                  </a:cubicBezTo>
                  <a:cubicBezTo>
                    <a:pt x="221237" y="45342"/>
                    <a:pt x="227897" y="67151"/>
                    <a:pt x="224378" y="79920"/>
                  </a:cubicBezTo>
                  <a:cubicBezTo>
                    <a:pt x="219253" y="92918"/>
                    <a:pt x="191986" y="104353"/>
                    <a:pt x="170629" y="115250"/>
                  </a:cubicBezTo>
                  <a:cubicBezTo>
                    <a:pt x="155563" y="129736"/>
                    <a:pt x="143418" y="146104"/>
                    <a:pt x="126157" y="151452"/>
                  </a:cubicBezTo>
                  <a:cubicBezTo>
                    <a:pt x="110048" y="155682"/>
                    <a:pt x="82946" y="155682"/>
                    <a:pt x="52808" y="150002"/>
                  </a:cubicBezTo>
                  <a:cubicBezTo>
                    <a:pt x="28847" y="143645"/>
                    <a:pt x="5675" y="118994"/>
                    <a:pt x="3521" y="100385"/>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760" name="ellipse_2612">
              <a:extLst>
                <a:ext uri="{FF2B5EF4-FFF2-40B4-BE49-F238E27FC236}">
                  <a16:creationId xmlns:a16="http://schemas.microsoft.com/office/drawing/2014/main" id="{CF37E813-914E-4383-9CE9-1C5F4095124F}"/>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grpSp>
        <p:nvGrpSpPr>
          <p:cNvPr id="761" name="Find candidate blob 3">
            <a:extLst>
              <a:ext uri="{FF2B5EF4-FFF2-40B4-BE49-F238E27FC236}">
                <a16:creationId xmlns:a16="http://schemas.microsoft.com/office/drawing/2014/main" id="{D7299A48-8BF0-7050-EF56-14DA3F495CB7}"/>
              </a:ext>
            </a:extLst>
          </p:cNvPr>
          <p:cNvGrpSpPr/>
          <p:nvPr/>
        </p:nvGrpSpPr>
        <p:grpSpPr>
          <a:xfrm rot="364243">
            <a:off x="4589593" y="1028968"/>
            <a:ext cx="127658" cy="129194"/>
            <a:chOff x="1928706" y="3559489"/>
            <a:chExt cx="227897" cy="155682"/>
          </a:xfrm>
        </p:grpSpPr>
        <p:sp>
          <p:nvSpPr>
            <p:cNvPr id="762" name="Candidate blob | editable contour">
              <a:extLst>
                <a:ext uri="{FF2B5EF4-FFF2-40B4-BE49-F238E27FC236}">
                  <a16:creationId xmlns:a16="http://schemas.microsoft.com/office/drawing/2014/main" id="{8902F596-0D84-3C56-EB93-D63FC7E9041E}"/>
                </a:ext>
              </a:extLst>
            </p:cNvPr>
            <p:cNvSpPr/>
            <p:nvPr/>
          </p:nvSpPr>
          <p:spPr>
            <a:xfrm>
              <a:off x="1928706" y="3559489"/>
              <a:ext cx="227897" cy="155682"/>
            </a:xfrm>
            <a:custGeom>
              <a:avLst/>
              <a:gdLst/>
              <a:ahLst/>
              <a:cxnLst/>
              <a:rect l="0" t="0" r="w" b="h"/>
              <a:pathLst>
                <a:path w="227897" h="155682" extrusionOk="0">
                  <a:moveTo>
                    <a:pt x="4633" y="103508"/>
                  </a:moveTo>
                  <a:cubicBezTo>
                    <a:pt x="0" y="80701"/>
                    <a:pt x="17781" y="72087"/>
                    <a:pt x="35225" y="64107"/>
                  </a:cubicBezTo>
                  <a:cubicBezTo>
                    <a:pt x="54476" y="49917"/>
                    <a:pt x="72264" y="52549"/>
                    <a:pt x="92778" y="35736"/>
                  </a:cubicBezTo>
                  <a:cubicBezTo>
                    <a:pt x="110195" y="21040"/>
                    <a:pt x="104326" y="5059"/>
                    <a:pt x="115221" y="1753"/>
                  </a:cubicBezTo>
                  <a:cubicBezTo>
                    <a:pt x="125241" y="0"/>
                    <a:pt x="159037" y="3786"/>
                    <a:pt x="180838" y="12966"/>
                  </a:cubicBezTo>
                  <a:cubicBezTo>
                    <a:pt x="198427" y="23372"/>
                    <a:pt x="209170" y="39484"/>
                    <a:pt x="212983" y="52913"/>
                  </a:cubicBezTo>
                  <a:cubicBezTo>
                    <a:pt x="216818" y="61184"/>
                    <a:pt x="227897" y="67151"/>
                    <a:pt x="223406" y="85389"/>
                  </a:cubicBezTo>
                  <a:cubicBezTo>
                    <a:pt x="220211" y="103077"/>
                    <a:pt x="208185" y="131257"/>
                    <a:pt x="201464" y="141174"/>
                  </a:cubicBezTo>
                  <a:cubicBezTo>
                    <a:pt x="189414" y="144450"/>
                    <a:pt x="161966" y="148455"/>
                    <a:pt x="136762" y="150513"/>
                  </a:cubicBezTo>
                  <a:cubicBezTo>
                    <a:pt x="110048" y="155682"/>
                    <a:pt x="82946" y="155682"/>
                    <a:pt x="72733" y="149421"/>
                  </a:cubicBezTo>
                  <a:cubicBezTo>
                    <a:pt x="54091" y="147525"/>
                    <a:pt x="13199" y="123788"/>
                    <a:pt x="4633" y="103508"/>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763" name="ellipse_2612">
              <a:extLst>
                <a:ext uri="{FF2B5EF4-FFF2-40B4-BE49-F238E27FC236}">
                  <a16:creationId xmlns:a16="http://schemas.microsoft.com/office/drawing/2014/main" id="{85D74281-2FE6-E2D2-EFBA-AF54A45686E3}"/>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sp>
        <p:nvSpPr>
          <p:cNvPr id="765" name="Find auxiliary label">
            <a:extLst>
              <a:ext uri="{FF2B5EF4-FFF2-40B4-BE49-F238E27FC236}">
                <a16:creationId xmlns:a16="http://schemas.microsoft.com/office/drawing/2014/main" id="{CAD88599-B783-720B-B6BD-9F787FCB6CF4}"/>
              </a:ext>
            </a:extLst>
          </p:cNvPr>
          <p:cNvSpPr>
            <a:spLocks noGrp="1"/>
          </p:cNvSpPr>
          <p:nvPr/>
        </p:nvSpPr>
        <p:spPr>
          <a:xfrm>
            <a:off x="4345824" y="1518303"/>
            <a:ext cx="433362" cy="157954"/>
          </a:xfrm>
          <a:prstGeom prst="rect">
            <a:avLst/>
          </a:prstGeom>
          <a:noFill/>
          <a:ln w="6885">
            <a:noFill/>
            <a:prstDash val="solid"/>
          </a:ln>
        </p:spPr>
        <p:txBody>
          <a:bodyPr lIns="0" tIns="0" rIns="0" bIns="0" anchor="ctr"/>
          <a:lstStyle>
            <a:defPPr algn="ctr">
              <a:defRPr sz="590" b="0">
                <a:solidFill>
                  <a:srgbClr val="263442"/>
                </a:solidFill>
                <a:latin typeface="Arial"/>
                <a:ea typeface="Arial"/>
                <a:cs typeface="Arial"/>
              </a:defRPr>
            </a:defPPr>
            <a:lvl1pPr algn="ctr">
              <a:defRPr sz="590" b="0">
                <a:solidFill>
                  <a:srgbClr val="263442"/>
                </a:solidFill>
                <a:latin typeface="Arial"/>
                <a:ea typeface="Arial"/>
                <a:cs typeface="Arial"/>
              </a:defRPr>
            </a:lvl1pPr>
            <a:lvl2pPr algn="ctr">
              <a:defRPr sz="590" b="0">
                <a:solidFill>
                  <a:srgbClr val="263442"/>
                </a:solidFill>
                <a:latin typeface="Arial"/>
                <a:ea typeface="Arial"/>
                <a:cs typeface="Arial"/>
              </a:defRPr>
            </a:lvl2pPr>
            <a:lvl3pPr algn="ctr">
              <a:defRPr sz="590" b="0">
                <a:solidFill>
                  <a:srgbClr val="263442"/>
                </a:solidFill>
                <a:latin typeface="Arial"/>
                <a:ea typeface="Arial"/>
                <a:cs typeface="Arial"/>
              </a:defRPr>
            </a:lvl3pPr>
            <a:lvl4pPr algn="ctr">
              <a:defRPr sz="590" b="0">
                <a:solidFill>
                  <a:srgbClr val="263442"/>
                </a:solidFill>
                <a:latin typeface="Arial"/>
                <a:ea typeface="Arial"/>
                <a:cs typeface="Arial"/>
              </a:defRPr>
            </a:lvl4pPr>
            <a:lvl5pPr algn="ctr">
              <a:defRPr sz="590" b="0">
                <a:solidFill>
                  <a:srgbClr val="263442"/>
                </a:solidFill>
                <a:latin typeface="Arial"/>
                <a:ea typeface="Arial"/>
                <a:cs typeface="Arial"/>
              </a:defRPr>
            </a:lvl5pPr>
            <a:lvl6pPr algn="ctr">
              <a:defRPr sz="590" b="0">
                <a:solidFill>
                  <a:srgbClr val="263442"/>
                </a:solidFill>
                <a:latin typeface="Arial"/>
                <a:ea typeface="Arial"/>
                <a:cs typeface="Arial"/>
              </a:defRPr>
            </a:lvl6pPr>
            <a:lvl7pPr algn="ctr">
              <a:defRPr sz="590" b="0">
                <a:solidFill>
                  <a:srgbClr val="263442"/>
                </a:solidFill>
                <a:latin typeface="Arial"/>
                <a:ea typeface="Arial"/>
                <a:cs typeface="Arial"/>
              </a:defRPr>
            </a:lvl7pPr>
            <a:lvl8pPr algn="ctr">
              <a:defRPr sz="590" b="0">
                <a:solidFill>
                  <a:srgbClr val="263442"/>
                </a:solidFill>
                <a:latin typeface="Arial"/>
                <a:ea typeface="Arial"/>
                <a:cs typeface="Arial"/>
              </a:defRPr>
            </a:lvl8pPr>
            <a:lvl9pPr algn="ctr">
              <a:defRPr sz="590" b="0">
                <a:solidFill>
                  <a:srgbClr val="263442"/>
                </a:solidFill>
                <a:latin typeface="Arial"/>
                <a:ea typeface="Arial"/>
                <a:cs typeface="Arial"/>
              </a:defRPr>
            </a:lvl9pPr>
          </a:lstStyle>
          <a:p>
            <a:pPr algn="ctr">
              <a:defRPr sz="590" b="0">
                <a:solidFill>
                  <a:srgbClr val="263442"/>
                </a:solidFill>
                <a:latin typeface="Arial"/>
                <a:ea typeface="Arial"/>
                <a:cs typeface="Arial"/>
              </a:defRPr>
            </a:pPr>
            <a:r>
              <a:rPr sz="590" dirty="0">
                <a:solidFill>
                  <a:srgbClr val="263442"/>
                </a:solidFill>
                <a:latin typeface="Arial"/>
                <a:ea typeface="Arial"/>
                <a:cs typeface="Arial"/>
              </a:rPr>
              <a:t>Auxiliary</a:t>
            </a:r>
          </a:p>
          <a:p>
            <a:pPr algn="ctr">
              <a:defRPr sz="590" b="0">
                <a:solidFill>
                  <a:srgbClr val="263442"/>
                </a:solidFill>
                <a:latin typeface="Arial"/>
                <a:ea typeface="Arial"/>
                <a:cs typeface="Arial"/>
              </a:defRPr>
            </a:pPr>
            <a:r>
              <a:rPr sz="590" dirty="0">
                <a:solidFill>
                  <a:srgbClr val="263442"/>
                </a:solidFill>
                <a:latin typeface="Arial"/>
                <a:ea typeface="Arial"/>
                <a:cs typeface="Arial"/>
              </a:rPr>
              <a:t>features</a:t>
            </a:r>
          </a:p>
        </p:txBody>
      </p:sp>
      <p:sp>
        <p:nvSpPr>
          <p:cNvPr id="766" name="Match auxiliary label">
            <a:extLst>
              <a:ext uri="{FF2B5EF4-FFF2-40B4-BE49-F238E27FC236}">
                <a16:creationId xmlns:a16="http://schemas.microsoft.com/office/drawing/2014/main" id="{C154BF4F-4214-59BC-DCE1-F9C23194AC63}"/>
              </a:ext>
            </a:extLst>
          </p:cNvPr>
          <p:cNvSpPr>
            <a:spLocks noGrp="1"/>
          </p:cNvSpPr>
          <p:nvPr/>
        </p:nvSpPr>
        <p:spPr>
          <a:xfrm>
            <a:off x="1600039" y="2843177"/>
            <a:ext cx="405011" cy="174155"/>
          </a:xfrm>
          <a:prstGeom prst="rect">
            <a:avLst/>
          </a:prstGeom>
          <a:noFill/>
          <a:ln w="6885">
            <a:noFill/>
            <a:prstDash val="solid"/>
          </a:ln>
        </p:spPr>
        <p:txBody>
          <a:bodyPr lIns="0" tIns="0" rIns="0" bIns="0" anchor="ctr"/>
          <a:lstStyle>
            <a:defPPr algn="ctr">
              <a:defRPr sz="590" b="1">
                <a:solidFill>
                  <a:srgbClr val="263442"/>
                </a:solidFill>
                <a:latin typeface="Arial"/>
                <a:ea typeface="Arial"/>
                <a:cs typeface="Arial"/>
              </a:defRPr>
            </a:defPPr>
            <a:lvl1pPr algn="ctr">
              <a:defRPr sz="590" b="1">
                <a:solidFill>
                  <a:srgbClr val="263442"/>
                </a:solidFill>
                <a:latin typeface="Arial"/>
                <a:ea typeface="Arial"/>
                <a:cs typeface="Arial"/>
              </a:defRPr>
            </a:lvl1pPr>
            <a:lvl2pPr algn="ctr">
              <a:defRPr sz="590" b="1">
                <a:solidFill>
                  <a:srgbClr val="263442"/>
                </a:solidFill>
                <a:latin typeface="Arial"/>
                <a:ea typeface="Arial"/>
                <a:cs typeface="Arial"/>
              </a:defRPr>
            </a:lvl2pPr>
            <a:lvl3pPr algn="ctr">
              <a:defRPr sz="590" b="1">
                <a:solidFill>
                  <a:srgbClr val="263442"/>
                </a:solidFill>
                <a:latin typeface="Arial"/>
                <a:ea typeface="Arial"/>
                <a:cs typeface="Arial"/>
              </a:defRPr>
            </a:lvl3pPr>
            <a:lvl4pPr algn="ctr">
              <a:defRPr sz="590" b="1">
                <a:solidFill>
                  <a:srgbClr val="263442"/>
                </a:solidFill>
                <a:latin typeface="Arial"/>
                <a:ea typeface="Arial"/>
                <a:cs typeface="Arial"/>
              </a:defRPr>
            </a:lvl4pPr>
            <a:lvl5pPr algn="ctr">
              <a:defRPr sz="590" b="1">
                <a:solidFill>
                  <a:srgbClr val="263442"/>
                </a:solidFill>
                <a:latin typeface="Arial"/>
                <a:ea typeface="Arial"/>
                <a:cs typeface="Arial"/>
              </a:defRPr>
            </a:lvl5pPr>
            <a:lvl6pPr algn="ctr">
              <a:defRPr sz="590" b="1">
                <a:solidFill>
                  <a:srgbClr val="263442"/>
                </a:solidFill>
                <a:latin typeface="Arial"/>
                <a:ea typeface="Arial"/>
                <a:cs typeface="Arial"/>
              </a:defRPr>
            </a:lvl6pPr>
            <a:lvl7pPr algn="ctr">
              <a:defRPr sz="590" b="1">
                <a:solidFill>
                  <a:srgbClr val="263442"/>
                </a:solidFill>
                <a:latin typeface="Arial"/>
                <a:ea typeface="Arial"/>
                <a:cs typeface="Arial"/>
              </a:defRPr>
            </a:lvl7pPr>
            <a:lvl8pPr algn="ctr">
              <a:defRPr sz="590" b="1">
                <a:solidFill>
                  <a:srgbClr val="263442"/>
                </a:solidFill>
                <a:latin typeface="Arial"/>
                <a:ea typeface="Arial"/>
                <a:cs typeface="Arial"/>
              </a:defRPr>
            </a:lvl8pPr>
            <a:lvl9pPr algn="ctr">
              <a:defRPr sz="590" b="1">
                <a:solidFill>
                  <a:srgbClr val="263442"/>
                </a:solidFill>
                <a:latin typeface="Arial"/>
                <a:ea typeface="Arial"/>
                <a:cs typeface="Arial"/>
              </a:defRPr>
            </a:lvl9pPr>
          </a:lstStyle>
          <a:p>
            <a:pPr algn="ctr">
              <a:defRPr sz="590" b="1">
                <a:solidFill>
                  <a:srgbClr val="263442"/>
                </a:solidFill>
                <a:latin typeface="Arial"/>
                <a:ea typeface="Arial"/>
                <a:cs typeface="Arial"/>
              </a:defRPr>
            </a:pPr>
            <a:r>
              <a:rPr sz="590" b="0" dirty="0">
                <a:solidFill>
                  <a:srgbClr val="263442"/>
                </a:solidFill>
                <a:latin typeface="Arial"/>
                <a:ea typeface="Arial"/>
                <a:cs typeface="Arial"/>
              </a:rPr>
              <a:t>Auxiliary</a:t>
            </a:r>
          </a:p>
          <a:p>
            <a:pPr algn="ctr">
              <a:defRPr sz="590" b="1">
                <a:solidFill>
                  <a:srgbClr val="263442"/>
                </a:solidFill>
                <a:latin typeface="Arial"/>
                <a:ea typeface="Arial"/>
                <a:cs typeface="Arial"/>
              </a:defRPr>
            </a:pPr>
            <a:r>
              <a:rPr sz="590" b="0" dirty="0">
                <a:solidFill>
                  <a:srgbClr val="263442"/>
                </a:solidFill>
                <a:latin typeface="Arial"/>
                <a:ea typeface="Arial"/>
                <a:cs typeface="Arial"/>
              </a:rPr>
              <a:t>features</a:t>
            </a:r>
          </a:p>
        </p:txBody>
      </p:sp>
      <p:sp>
        <p:nvSpPr>
          <p:cNvPr id="767" name="Concat label">
            <a:extLst>
              <a:ext uri="{FF2B5EF4-FFF2-40B4-BE49-F238E27FC236}">
                <a16:creationId xmlns:a16="http://schemas.microsoft.com/office/drawing/2014/main" id="{9D20C35C-694E-CDD5-F90A-040BE36EEE21}"/>
              </a:ext>
            </a:extLst>
          </p:cNvPr>
          <p:cNvSpPr>
            <a:spLocks noGrp="1"/>
          </p:cNvSpPr>
          <p:nvPr/>
        </p:nvSpPr>
        <p:spPr>
          <a:xfrm>
            <a:off x="1202945" y="3608830"/>
            <a:ext cx="259207" cy="81002"/>
          </a:xfrm>
          <a:prstGeom prst="rect">
            <a:avLst/>
          </a:prstGeom>
          <a:noFill/>
          <a:ln w="6885">
            <a:noFill/>
            <a:prstDash val="solid"/>
          </a:ln>
        </p:spPr>
        <p:txBody>
          <a:bodyPr lIns="0" tIns="0" rIns="0" bIns="0" anchor="ctr"/>
          <a:lstStyle>
            <a:defPPr algn="ctr">
              <a:defRPr sz="568" b="0">
                <a:solidFill>
                  <a:srgbClr val="263442"/>
                </a:solidFill>
                <a:latin typeface="Arial"/>
                <a:ea typeface="Arial"/>
                <a:cs typeface="Arial"/>
              </a:defRPr>
            </a:defPPr>
            <a:lvl1pPr algn="ctr">
              <a:defRPr sz="568" b="0">
                <a:solidFill>
                  <a:srgbClr val="263442"/>
                </a:solidFill>
                <a:latin typeface="Arial"/>
                <a:ea typeface="Arial"/>
                <a:cs typeface="Arial"/>
              </a:defRPr>
            </a:lvl1pPr>
            <a:lvl2pPr algn="ctr">
              <a:defRPr sz="568" b="0">
                <a:solidFill>
                  <a:srgbClr val="263442"/>
                </a:solidFill>
                <a:latin typeface="Arial"/>
                <a:ea typeface="Arial"/>
                <a:cs typeface="Arial"/>
              </a:defRPr>
            </a:lvl2pPr>
            <a:lvl3pPr algn="ctr">
              <a:defRPr sz="568" b="0">
                <a:solidFill>
                  <a:srgbClr val="263442"/>
                </a:solidFill>
                <a:latin typeface="Arial"/>
                <a:ea typeface="Arial"/>
                <a:cs typeface="Arial"/>
              </a:defRPr>
            </a:lvl3pPr>
            <a:lvl4pPr algn="ctr">
              <a:defRPr sz="568" b="0">
                <a:solidFill>
                  <a:srgbClr val="263442"/>
                </a:solidFill>
                <a:latin typeface="Arial"/>
                <a:ea typeface="Arial"/>
                <a:cs typeface="Arial"/>
              </a:defRPr>
            </a:lvl4pPr>
            <a:lvl5pPr algn="ctr">
              <a:defRPr sz="568" b="0">
                <a:solidFill>
                  <a:srgbClr val="263442"/>
                </a:solidFill>
                <a:latin typeface="Arial"/>
                <a:ea typeface="Arial"/>
                <a:cs typeface="Arial"/>
              </a:defRPr>
            </a:lvl5pPr>
            <a:lvl6pPr algn="ctr">
              <a:defRPr sz="568" b="0">
                <a:solidFill>
                  <a:srgbClr val="263442"/>
                </a:solidFill>
                <a:latin typeface="Arial"/>
                <a:ea typeface="Arial"/>
                <a:cs typeface="Arial"/>
              </a:defRPr>
            </a:lvl6pPr>
            <a:lvl7pPr algn="ctr">
              <a:defRPr sz="568" b="0">
                <a:solidFill>
                  <a:srgbClr val="263442"/>
                </a:solidFill>
                <a:latin typeface="Arial"/>
                <a:ea typeface="Arial"/>
                <a:cs typeface="Arial"/>
              </a:defRPr>
            </a:lvl7pPr>
            <a:lvl8pPr algn="ctr">
              <a:defRPr sz="568" b="0">
                <a:solidFill>
                  <a:srgbClr val="263442"/>
                </a:solidFill>
                <a:latin typeface="Arial"/>
                <a:ea typeface="Arial"/>
                <a:cs typeface="Arial"/>
              </a:defRPr>
            </a:lvl8pPr>
            <a:lvl9pPr algn="ctr">
              <a:defRPr sz="568" b="0">
                <a:solidFill>
                  <a:srgbClr val="263442"/>
                </a:solidFill>
                <a:latin typeface="Arial"/>
                <a:ea typeface="Arial"/>
                <a:cs typeface="Arial"/>
              </a:defRPr>
            </a:lvl9pPr>
          </a:lstStyle>
          <a:p>
            <a:pPr algn="ctr">
              <a:defRPr sz="568" b="0">
                <a:solidFill>
                  <a:srgbClr val="263442"/>
                </a:solidFill>
                <a:latin typeface="Arial"/>
                <a:ea typeface="Arial"/>
                <a:cs typeface="Arial"/>
              </a:defRPr>
            </a:pPr>
            <a:r>
              <a:rPr sz="568" dirty="0" err="1">
                <a:solidFill>
                  <a:srgbClr val="263442"/>
                </a:solidFill>
                <a:latin typeface="Arial"/>
                <a:ea typeface="Arial"/>
                <a:cs typeface="Arial"/>
              </a:rPr>
              <a:t>Concat</a:t>
            </a:r>
            <a:endParaRPr sz="568" dirty="0">
              <a:solidFill>
                <a:srgbClr val="263442"/>
              </a:solidFill>
              <a:latin typeface="Arial"/>
              <a:ea typeface="Arial"/>
              <a:cs typeface="Arial"/>
            </a:endParaRPr>
          </a:p>
        </p:txBody>
      </p:sp>
      <p:sp>
        <p:nvSpPr>
          <p:cNvPr id="768" name="Build four inputs">
            <a:extLst>
              <a:ext uri="{FF2B5EF4-FFF2-40B4-BE49-F238E27FC236}">
                <a16:creationId xmlns:a16="http://schemas.microsoft.com/office/drawing/2014/main" id="{2C9F1979-7AE8-613B-79C6-EE0F3BBB1431}"/>
              </a:ext>
            </a:extLst>
          </p:cNvPr>
          <p:cNvSpPr>
            <a:spLocks noGrp="1"/>
          </p:cNvSpPr>
          <p:nvPr/>
        </p:nvSpPr>
        <p:spPr>
          <a:xfrm>
            <a:off x="4963973" y="420252"/>
            <a:ext cx="1158792" cy="1302153"/>
          </a:xfrm>
          <a:prstGeom prst="roundRect">
            <a:avLst>
              <a:gd name="adj" fmla="val 4554"/>
            </a:avLst>
          </a:prstGeom>
          <a:solidFill>
            <a:srgbClr val="FFFFFF"/>
          </a:solidFill>
          <a:ln w="7290">
            <a:solidFill>
              <a:srgbClr val="DFD6C3"/>
            </a:solidFill>
            <a:prstDash val="solid"/>
          </a:ln>
        </p:spPr>
        <p:txBody>
          <a:bodyPr/>
          <a:lstStyle/>
          <a:p>
            <a:endParaRPr lang="zh-CN" altLang="en-US" dirty="0"/>
          </a:p>
        </p:txBody>
      </p:sp>
      <p:sp>
        <p:nvSpPr>
          <p:cNvPr id="769" name="Site label">
            <a:extLst>
              <a:ext uri="{FF2B5EF4-FFF2-40B4-BE49-F238E27FC236}">
                <a16:creationId xmlns:a16="http://schemas.microsoft.com/office/drawing/2014/main" id="{73F4F6C8-22C1-E29B-D64D-362A1F82C0D7}"/>
              </a:ext>
            </a:extLst>
          </p:cNvPr>
          <p:cNvSpPr>
            <a:spLocks noGrp="1"/>
          </p:cNvSpPr>
          <p:nvPr/>
        </p:nvSpPr>
        <p:spPr>
          <a:xfrm>
            <a:off x="4992638" y="834972"/>
            <a:ext cx="514364" cy="101253"/>
          </a:xfrm>
          <a:prstGeom prst="rect">
            <a:avLst/>
          </a:prstGeom>
          <a:noFill/>
          <a:ln w="6885">
            <a:noFill/>
            <a:prstDash val="solid"/>
          </a:ln>
        </p:spPr>
        <p:txBody>
          <a:bodyPr lIns="0" tIns="0" rIns="0" bIns="0" anchor="ctr"/>
          <a:lstStyle>
            <a:defPPr algn="ctr">
              <a:defRPr sz="695" b="1">
                <a:solidFill>
                  <a:srgbClr val="263442"/>
                </a:solidFill>
                <a:latin typeface="Arial"/>
                <a:ea typeface="Arial"/>
                <a:cs typeface="Arial"/>
              </a:defRPr>
            </a:defPPr>
            <a:lvl1pPr algn="ctr">
              <a:defRPr sz="695" b="1">
                <a:solidFill>
                  <a:srgbClr val="263442"/>
                </a:solidFill>
                <a:latin typeface="Arial"/>
                <a:ea typeface="Arial"/>
                <a:cs typeface="Arial"/>
              </a:defRPr>
            </a:lvl1pPr>
            <a:lvl2pPr algn="ctr">
              <a:defRPr sz="695" b="1">
                <a:solidFill>
                  <a:srgbClr val="263442"/>
                </a:solidFill>
                <a:latin typeface="Arial"/>
                <a:ea typeface="Arial"/>
                <a:cs typeface="Arial"/>
              </a:defRPr>
            </a:lvl2pPr>
            <a:lvl3pPr algn="ctr">
              <a:defRPr sz="695" b="1">
                <a:solidFill>
                  <a:srgbClr val="263442"/>
                </a:solidFill>
                <a:latin typeface="Arial"/>
                <a:ea typeface="Arial"/>
                <a:cs typeface="Arial"/>
              </a:defRPr>
            </a:lvl3pPr>
            <a:lvl4pPr algn="ctr">
              <a:defRPr sz="695" b="1">
                <a:solidFill>
                  <a:srgbClr val="263442"/>
                </a:solidFill>
                <a:latin typeface="Arial"/>
                <a:ea typeface="Arial"/>
                <a:cs typeface="Arial"/>
              </a:defRPr>
            </a:lvl4pPr>
            <a:lvl5pPr algn="ctr">
              <a:defRPr sz="695" b="1">
                <a:solidFill>
                  <a:srgbClr val="263442"/>
                </a:solidFill>
                <a:latin typeface="Arial"/>
                <a:ea typeface="Arial"/>
                <a:cs typeface="Arial"/>
              </a:defRPr>
            </a:lvl5pPr>
            <a:lvl6pPr algn="ctr">
              <a:defRPr sz="695" b="1">
                <a:solidFill>
                  <a:srgbClr val="263442"/>
                </a:solidFill>
                <a:latin typeface="Arial"/>
                <a:ea typeface="Arial"/>
                <a:cs typeface="Arial"/>
              </a:defRPr>
            </a:lvl6pPr>
            <a:lvl7pPr algn="ctr">
              <a:defRPr sz="695" b="1">
                <a:solidFill>
                  <a:srgbClr val="263442"/>
                </a:solidFill>
                <a:latin typeface="Arial"/>
                <a:ea typeface="Arial"/>
                <a:cs typeface="Arial"/>
              </a:defRPr>
            </a:lvl7pPr>
            <a:lvl8pPr algn="ctr">
              <a:defRPr sz="695" b="1">
                <a:solidFill>
                  <a:srgbClr val="263442"/>
                </a:solidFill>
                <a:latin typeface="Arial"/>
                <a:ea typeface="Arial"/>
                <a:cs typeface="Arial"/>
              </a:defRPr>
            </a:lvl8pPr>
            <a:lvl9pPr algn="ctr">
              <a:defRPr sz="695" b="1">
                <a:solidFill>
                  <a:srgbClr val="263442"/>
                </a:solidFill>
                <a:latin typeface="Arial"/>
                <a:ea typeface="Arial"/>
                <a:cs typeface="Arial"/>
              </a:defRPr>
            </a:lvl9pPr>
          </a:lstStyle>
          <a:p>
            <a:pPr algn="ctr">
              <a:defRPr sz="695" b="1">
                <a:solidFill>
                  <a:srgbClr val="263442"/>
                </a:solidFill>
                <a:latin typeface="Arial"/>
                <a:ea typeface="Arial"/>
                <a:cs typeface="Arial"/>
              </a:defRPr>
            </a:pPr>
            <a:r>
              <a:rPr sz="695" b="0" dirty="0">
                <a:solidFill>
                  <a:srgbClr val="263442"/>
                </a:solidFill>
                <a:latin typeface="Arial"/>
                <a:ea typeface="Arial"/>
                <a:cs typeface="Arial"/>
              </a:rPr>
              <a:t>Site</a:t>
            </a:r>
          </a:p>
        </p:txBody>
      </p:sp>
      <p:sp>
        <p:nvSpPr>
          <p:cNvPr id="770" name="Site provenance">
            <a:extLst>
              <a:ext uri="{FF2B5EF4-FFF2-40B4-BE49-F238E27FC236}">
                <a16:creationId xmlns:a16="http://schemas.microsoft.com/office/drawing/2014/main" id="{216E0115-FC9F-C0B3-73C6-B6C82BB2F0A8}"/>
              </a:ext>
            </a:extLst>
          </p:cNvPr>
          <p:cNvSpPr>
            <a:spLocks noGrp="1"/>
          </p:cNvSpPr>
          <p:nvPr/>
        </p:nvSpPr>
        <p:spPr>
          <a:xfrm>
            <a:off x="4999032" y="921461"/>
            <a:ext cx="514364" cy="85052"/>
          </a:xfrm>
          <a:prstGeom prst="rect">
            <a:avLst/>
          </a:prstGeom>
          <a:noFill/>
          <a:ln w="6885">
            <a:noFill/>
            <a:prstDash val="solid"/>
          </a:ln>
        </p:spPr>
        <p:txBody>
          <a:bodyPr lIns="0" tIns="0" rIns="0" bIns="0" anchor="ctr"/>
          <a:lstStyle>
            <a:defPPr algn="ctr">
              <a:defRPr sz="590" b="0">
                <a:solidFill>
                  <a:srgbClr val="263442"/>
                </a:solidFill>
                <a:latin typeface="Arial"/>
                <a:ea typeface="Arial"/>
                <a:cs typeface="Arial"/>
              </a:defRPr>
            </a:defPPr>
            <a:lvl1pPr algn="ctr">
              <a:defRPr sz="590" b="0">
                <a:solidFill>
                  <a:srgbClr val="263442"/>
                </a:solidFill>
                <a:latin typeface="Arial"/>
                <a:ea typeface="Arial"/>
                <a:cs typeface="Arial"/>
              </a:defRPr>
            </a:lvl1pPr>
            <a:lvl2pPr algn="ctr">
              <a:defRPr sz="590" b="0">
                <a:solidFill>
                  <a:srgbClr val="263442"/>
                </a:solidFill>
                <a:latin typeface="Arial"/>
                <a:ea typeface="Arial"/>
                <a:cs typeface="Arial"/>
              </a:defRPr>
            </a:lvl2pPr>
            <a:lvl3pPr algn="ctr">
              <a:defRPr sz="590" b="0">
                <a:solidFill>
                  <a:srgbClr val="263442"/>
                </a:solidFill>
                <a:latin typeface="Arial"/>
                <a:ea typeface="Arial"/>
                <a:cs typeface="Arial"/>
              </a:defRPr>
            </a:lvl3pPr>
            <a:lvl4pPr algn="ctr">
              <a:defRPr sz="590" b="0">
                <a:solidFill>
                  <a:srgbClr val="263442"/>
                </a:solidFill>
                <a:latin typeface="Arial"/>
                <a:ea typeface="Arial"/>
                <a:cs typeface="Arial"/>
              </a:defRPr>
            </a:lvl4pPr>
            <a:lvl5pPr algn="ctr">
              <a:defRPr sz="590" b="0">
                <a:solidFill>
                  <a:srgbClr val="263442"/>
                </a:solidFill>
                <a:latin typeface="Arial"/>
                <a:ea typeface="Arial"/>
                <a:cs typeface="Arial"/>
              </a:defRPr>
            </a:lvl5pPr>
            <a:lvl6pPr algn="ctr">
              <a:defRPr sz="590" b="0">
                <a:solidFill>
                  <a:srgbClr val="263442"/>
                </a:solidFill>
                <a:latin typeface="Arial"/>
                <a:ea typeface="Arial"/>
                <a:cs typeface="Arial"/>
              </a:defRPr>
            </a:lvl6pPr>
            <a:lvl7pPr algn="ctr">
              <a:defRPr sz="590" b="0">
                <a:solidFill>
                  <a:srgbClr val="263442"/>
                </a:solidFill>
                <a:latin typeface="Arial"/>
                <a:ea typeface="Arial"/>
                <a:cs typeface="Arial"/>
              </a:defRPr>
            </a:lvl7pPr>
            <a:lvl8pPr algn="ctr">
              <a:defRPr sz="590" b="0">
                <a:solidFill>
                  <a:srgbClr val="263442"/>
                </a:solidFill>
                <a:latin typeface="Arial"/>
                <a:ea typeface="Arial"/>
                <a:cs typeface="Arial"/>
              </a:defRPr>
            </a:lvl8pPr>
            <a:lvl9pPr algn="ctr">
              <a:defRPr sz="590" b="0">
                <a:solidFill>
                  <a:srgbClr val="263442"/>
                </a:solidFill>
                <a:latin typeface="Arial"/>
                <a:ea typeface="Arial"/>
                <a:cs typeface="Arial"/>
              </a:defRPr>
            </a:lvl9pPr>
          </a:lstStyle>
          <a:p>
            <a:pPr algn="ctr">
              <a:defRPr sz="590" b="0">
                <a:solidFill>
                  <a:srgbClr val="263442"/>
                </a:solidFill>
                <a:latin typeface="Arial"/>
                <a:ea typeface="Arial"/>
                <a:cs typeface="Arial"/>
              </a:defRPr>
            </a:pPr>
            <a:r>
              <a:rPr sz="550" dirty="0">
                <a:solidFill>
                  <a:srgbClr val="263442"/>
                </a:solidFill>
                <a:latin typeface="Arial"/>
                <a:ea typeface="Arial"/>
                <a:cs typeface="Arial"/>
              </a:rPr>
              <a:t>from Find</a:t>
            </a:r>
          </a:p>
        </p:txBody>
      </p:sp>
      <p:sp>
        <p:nvSpPr>
          <p:cNvPr id="771" name="Pocket label">
            <a:extLst>
              <a:ext uri="{FF2B5EF4-FFF2-40B4-BE49-F238E27FC236}">
                <a16:creationId xmlns:a16="http://schemas.microsoft.com/office/drawing/2014/main" id="{198C300B-4031-D0E7-49A9-F255C1B29665}"/>
              </a:ext>
            </a:extLst>
          </p:cNvPr>
          <p:cNvSpPr>
            <a:spLocks noGrp="1"/>
          </p:cNvSpPr>
          <p:nvPr/>
        </p:nvSpPr>
        <p:spPr>
          <a:xfrm>
            <a:off x="5581260" y="854408"/>
            <a:ext cx="514364" cy="101253"/>
          </a:xfrm>
          <a:prstGeom prst="rect">
            <a:avLst/>
          </a:prstGeom>
          <a:noFill/>
          <a:ln w="6885">
            <a:noFill/>
            <a:prstDash val="solid"/>
          </a:ln>
        </p:spPr>
        <p:txBody>
          <a:bodyPr lIns="0" tIns="0" rIns="0" bIns="0" anchor="ctr"/>
          <a:lstStyle>
            <a:defPPr algn="ctr">
              <a:defRPr sz="695" b="1">
                <a:solidFill>
                  <a:srgbClr val="263442"/>
                </a:solidFill>
                <a:latin typeface="Arial"/>
                <a:ea typeface="Arial"/>
                <a:cs typeface="Arial"/>
              </a:defRPr>
            </a:defPPr>
            <a:lvl1pPr algn="ctr">
              <a:defRPr sz="695" b="1">
                <a:solidFill>
                  <a:srgbClr val="263442"/>
                </a:solidFill>
                <a:latin typeface="Arial"/>
                <a:ea typeface="Arial"/>
                <a:cs typeface="Arial"/>
              </a:defRPr>
            </a:lvl1pPr>
            <a:lvl2pPr algn="ctr">
              <a:defRPr sz="695" b="1">
                <a:solidFill>
                  <a:srgbClr val="263442"/>
                </a:solidFill>
                <a:latin typeface="Arial"/>
                <a:ea typeface="Arial"/>
                <a:cs typeface="Arial"/>
              </a:defRPr>
            </a:lvl2pPr>
            <a:lvl3pPr algn="ctr">
              <a:defRPr sz="695" b="1">
                <a:solidFill>
                  <a:srgbClr val="263442"/>
                </a:solidFill>
                <a:latin typeface="Arial"/>
                <a:ea typeface="Arial"/>
                <a:cs typeface="Arial"/>
              </a:defRPr>
            </a:lvl3pPr>
            <a:lvl4pPr algn="ctr">
              <a:defRPr sz="695" b="1">
                <a:solidFill>
                  <a:srgbClr val="263442"/>
                </a:solidFill>
                <a:latin typeface="Arial"/>
                <a:ea typeface="Arial"/>
                <a:cs typeface="Arial"/>
              </a:defRPr>
            </a:lvl4pPr>
            <a:lvl5pPr algn="ctr">
              <a:defRPr sz="695" b="1">
                <a:solidFill>
                  <a:srgbClr val="263442"/>
                </a:solidFill>
                <a:latin typeface="Arial"/>
                <a:ea typeface="Arial"/>
                <a:cs typeface="Arial"/>
              </a:defRPr>
            </a:lvl5pPr>
            <a:lvl6pPr algn="ctr">
              <a:defRPr sz="695" b="1">
                <a:solidFill>
                  <a:srgbClr val="263442"/>
                </a:solidFill>
                <a:latin typeface="Arial"/>
                <a:ea typeface="Arial"/>
                <a:cs typeface="Arial"/>
              </a:defRPr>
            </a:lvl6pPr>
            <a:lvl7pPr algn="ctr">
              <a:defRPr sz="695" b="1">
                <a:solidFill>
                  <a:srgbClr val="263442"/>
                </a:solidFill>
                <a:latin typeface="Arial"/>
                <a:ea typeface="Arial"/>
                <a:cs typeface="Arial"/>
              </a:defRPr>
            </a:lvl7pPr>
            <a:lvl8pPr algn="ctr">
              <a:defRPr sz="695" b="1">
                <a:solidFill>
                  <a:srgbClr val="263442"/>
                </a:solidFill>
                <a:latin typeface="Arial"/>
                <a:ea typeface="Arial"/>
                <a:cs typeface="Arial"/>
              </a:defRPr>
            </a:lvl8pPr>
            <a:lvl9pPr algn="ctr">
              <a:defRPr sz="695" b="1">
                <a:solidFill>
                  <a:srgbClr val="263442"/>
                </a:solidFill>
                <a:latin typeface="Arial"/>
                <a:ea typeface="Arial"/>
                <a:cs typeface="Arial"/>
              </a:defRPr>
            </a:lvl9pPr>
          </a:lstStyle>
          <a:p>
            <a:pPr algn="ctr">
              <a:defRPr sz="695" b="1">
                <a:solidFill>
                  <a:srgbClr val="263442"/>
                </a:solidFill>
                <a:latin typeface="Arial"/>
                <a:ea typeface="Arial"/>
                <a:cs typeface="Arial"/>
              </a:defRPr>
            </a:pPr>
            <a:r>
              <a:rPr sz="695" b="0" dirty="0">
                <a:solidFill>
                  <a:srgbClr val="263442"/>
                </a:solidFill>
                <a:latin typeface="Arial"/>
                <a:ea typeface="Arial"/>
                <a:cs typeface="Arial"/>
              </a:rPr>
              <a:t>Pocket</a:t>
            </a:r>
          </a:p>
        </p:txBody>
      </p:sp>
      <p:sp>
        <p:nvSpPr>
          <p:cNvPr id="773" name="SMILES label">
            <a:extLst>
              <a:ext uri="{FF2B5EF4-FFF2-40B4-BE49-F238E27FC236}">
                <a16:creationId xmlns:a16="http://schemas.microsoft.com/office/drawing/2014/main" id="{B948AB68-3B7B-785F-B6BB-80D92D824C67}"/>
              </a:ext>
            </a:extLst>
          </p:cNvPr>
          <p:cNvSpPr>
            <a:spLocks noGrp="1"/>
          </p:cNvSpPr>
          <p:nvPr/>
        </p:nvSpPr>
        <p:spPr>
          <a:xfrm>
            <a:off x="4999664" y="1480722"/>
            <a:ext cx="514364" cy="101253"/>
          </a:xfrm>
          <a:prstGeom prst="rect">
            <a:avLst/>
          </a:prstGeom>
          <a:noFill/>
          <a:ln w="6885">
            <a:noFill/>
            <a:prstDash val="solid"/>
          </a:ln>
        </p:spPr>
        <p:txBody>
          <a:bodyPr lIns="0" tIns="0" rIns="0" bIns="0" anchor="ctr"/>
          <a:lstStyle>
            <a:defPPr algn="ctr">
              <a:defRPr sz="695" b="1">
                <a:solidFill>
                  <a:srgbClr val="263442"/>
                </a:solidFill>
                <a:latin typeface="Arial"/>
                <a:ea typeface="Arial"/>
                <a:cs typeface="Arial"/>
              </a:defRPr>
            </a:defPPr>
            <a:lvl1pPr algn="ctr">
              <a:defRPr sz="695" b="1">
                <a:solidFill>
                  <a:srgbClr val="263442"/>
                </a:solidFill>
                <a:latin typeface="Arial"/>
                <a:ea typeface="Arial"/>
                <a:cs typeface="Arial"/>
              </a:defRPr>
            </a:lvl1pPr>
            <a:lvl2pPr algn="ctr">
              <a:defRPr sz="695" b="1">
                <a:solidFill>
                  <a:srgbClr val="263442"/>
                </a:solidFill>
                <a:latin typeface="Arial"/>
                <a:ea typeface="Arial"/>
                <a:cs typeface="Arial"/>
              </a:defRPr>
            </a:lvl2pPr>
            <a:lvl3pPr algn="ctr">
              <a:defRPr sz="695" b="1">
                <a:solidFill>
                  <a:srgbClr val="263442"/>
                </a:solidFill>
                <a:latin typeface="Arial"/>
                <a:ea typeface="Arial"/>
                <a:cs typeface="Arial"/>
              </a:defRPr>
            </a:lvl3pPr>
            <a:lvl4pPr algn="ctr">
              <a:defRPr sz="695" b="1">
                <a:solidFill>
                  <a:srgbClr val="263442"/>
                </a:solidFill>
                <a:latin typeface="Arial"/>
                <a:ea typeface="Arial"/>
                <a:cs typeface="Arial"/>
              </a:defRPr>
            </a:lvl4pPr>
            <a:lvl5pPr algn="ctr">
              <a:defRPr sz="695" b="1">
                <a:solidFill>
                  <a:srgbClr val="263442"/>
                </a:solidFill>
                <a:latin typeface="Arial"/>
                <a:ea typeface="Arial"/>
                <a:cs typeface="Arial"/>
              </a:defRPr>
            </a:lvl5pPr>
            <a:lvl6pPr algn="ctr">
              <a:defRPr sz="695" b="1">
                <a:solidFill>
                  <a:srgbClr val="263442"/>
                </a:solidFill>
                <a:latin typeface="Arial"/>
                <a:ea typeface="Arial"/>
                <a:cs typeface="Arial"/>
              </a:defRPr>
            </a:lvl6pPr>
            <a:lvl7pPr algn="ctr">
              <a:defRPr sz="695" b="1">
                <a:solidFill>
                  <a:srgbClr val="263442"/>
                </a:solidFill>
                <a:latin typeface="Arial"/>
                <a:ea typeface="Arial"/>
                <a:cs typeface="Arial"/>
              </a:defRPr>
            </a:lvl7pPr>
            <a:lvl8pPr algn="ctr">
              <a:defRPr sz="695" b="1">
                <a:solidFill>
                  <a:srgbClr val="263442"/>
                </a:solidFill>
                <a:latin typeface="Arial"/>
                <a:ea typeface="Arial"/>
                <a:cs typeface="Arial"/>
              </a:defRPr>
            </a:lvl8pPr>
            <a:lvl9pPr algn="ctr">
              <a:defRPr sz="695" b="1">
                <a:solidFill>
                  <a:srgbClr val="263442"/>
                </a:solidFill>
                <a:latin typeface="Arial"/>
                <a:ea typeface="Arial"/>
                <a:cs typeface="Arial"/>
              </a:defRPr>
            </a:lvl9pPr>
          </a:lstStyle>
          <a:p>
            <a:pPr algn="ctr">
              <a:defRPr sz="695" b="1">
                <a:solidFill>
                  <a:srgbClr val="263442"/>
                </a:solidFill>
                <a:latin typeface="Arial"/>
                <a:ea typeface="Arial"/>
                <a:cs typeface="Arial"/>
              </a:defRPr>
            </a:pPr>
            <a:r>
              <a:rPr sz="695" b="0" dirty="0">
                <a:solidFill>
                  <a:srgbClr val="263442"/>
                </a:solidFill>
                <a:latin typeface="Arial"/>
                <a:ea typeface="Arial"/>
                <a:cs typeface="Arial"/>
              </a:rPr>
              <a:t>SMILES</a:t>
            </a:r>
          </a:p>
        </p:txBody>
      </p:sp>
      <p:sp>
        <p:nvSpPr>
          <p:cNvPr id="774" name="SMILES provenance">
            <a:extLst>
              <a:ext uri="{FF2B5EF4-FFF2-40B4-BE49-F238E27FC236}">
                <a16:creationId xmlns:a16="http://schemas.microsoft.com/office/drawing/2014/main" id="{56FEBA1E-DDE0-4487-53DB-DA17479C3D9B}"/>
              </a:ext>
            </a:extLst>
          </p:cNvPr>
          <p:cNvSpPr>
            <a:spLocks noGrp="1"/>
          </p:cNvSpPr>
          <p:nvPr/>
        </p:nvSpPr>
        <p:spPr>
          <a:xfrm>
            <a:off x="5005380" y="1568821"/>
            <a:ext cx="514364" cy="85052"/>
          </a:xfrm>
          <a:prstGeom prst="rect">
            <a:avLst/>
          </a:prstGeom>
          <a:noFill/>
          <a:ln w="6885">
            <a:noFill/>
            <a:prstDash val="solid"/>
          </a:ln>
        </p:spPr>
        <p:txBody>
          <a:bodyPr lIns="0" tIns="0" rIns="0" bIns="0" anchor="ctr"/>
          <a:lstStyle>
            <a:defPPr algn="ctr">
              <a:defRPr sz="590" b="0">
                <a:solidFill>
                  <a:srgbClr val="263442"/>
                </a:solidFill>
                <a:latin typeface="Arial"/>
                <a:ea typeface="Arial"/>
                <a:cs typeface="Arial"/>
              </a:defRPr>
            </a:defPPr>
            <a:lvl1pPr algn="ctr">
              <a:defRPr sz="590" b="0">
                <a:solidFill>
                  <a:srgbClr val="263442"/>
                </a:solidFill>
                <a:latin typeface="Arial"/>
                <a:ea typeface="Arial"/>
                <a:cs typeface="Arial"/>
              </a:defRPr>
            </a:lvl1pPr>
            <a:lvl2pPr algn="ctr">
              <a:defRPr sz="590" b="0">
                <a:solidFill>
                  <a:srgbClr val="263442"/>
                </a:solidFill>
                <a:latin typeface="Arial"/>
                <a:ea typeface="Arial"/>
                <a:cs typeface="Arial"/>
              </a:defRPr>
            </a:lvl2pPr>
            <a:lvl3pPr algn="ctr">
              <a:defRPr sz="590" b="0">
                <a:solidFill>
                  <a:srgbClr val="263442"/>
                </a:solidFill>
                <a:latin typeface="Arial"/>
                <a:ea typeface="Arial"/>
                <a:cs typeface="Arial"/>
              </a:defRPr>
            </a:lvl3pPr>
            <a:lvl4pPr algn="ctr">
              <a:defRPr sz="590" b="0">
                <a:solidFill>
                  <a:srgbClr val="263442"/>
                </a:solidFill>
                <a:latin typeface="Arial"/>
                <a:ea typeface="Arial"/>
                <a:cs typeface="Arial"/>
              </a:defRPr>
            </a:lvl4pPr>
            <a:lvl5pPr algn="ctr">
              <a:defRPr sz="590" b="0">
                <a:solidFill>
                  <a:srgbClr val="263442"/>
                </a:solidFill>
                <a:latin typeface="Arial"/>
                <a:ea typeface="Arial"/>
                <a:cs typeface="Arial"/>
              </a:defRPr>
            </a:lvl5pPr>
            <a:lvl6pPr algn="ctr">
              <a:defRPr sz="590" b="0">
                <a:solidFill>
                  <a:srgbClr val="263442"/>
                </a:solidFill>
                <a:latin typeface="Arial"/>
                <a:ea typeface="Arial"/>
                <a:cs typeface="Arial"/>
              </a:defRPr>
            </a:lvl6pPr>
            <a:lvl7pPr algn="ctr">
              <a:defRPr sz="590" b="0">
                <a:solidFill>
                  <a:srgbClr val="263442"/>
                </a:solidFill>
                <a:latin typeface="Arial"/>
                <a:ea typeface="Arial"/>
                <a:cs typeface="Arial"/>
              </a:defRPr>
            </a:lvl7pPr>
            <a:lvl8pPr algn="ctr">
              <a:defRPr sz="590" b="0">
                <a:solidFill>
                  <a:srgbClr val="263442"/>
                </a:solidFill>
                <a:latin typeface="Arial"/>
                <a:ea typeface="Arial"/>
                <a:cs typeface="Arial"/>
              </a:defRPr>
            </a:lvl8pPr>
            <a:lvl9pPr algn="ctr">
              <a:defRPr sz="590" b="0">
                <a:solidFill>
                  <a:srgbClr val="263442"/>
                </a:solidFill>
                <a:latin typeface="Arial"/>
                <a:ea typeface="Arial"/>
                <a:cs typeface="Arial"/>
              </a:defRPr>
            </a:lvl9pPr>
          </a:lstStyle>
          <a:p>
            <a:pPr algn="ctr">
              <a:defRPr sz="590" b="0">
                <a:solidFill>
                  <a:srgbClr val="263442"/>
                </a:solidFill>
                <a:latin typeface="Arial"/>
                <a:ea typeface="Arial"/>
                <a:cs typeface="Arial"/>
              </a:defRPr>
            </a:pPr>
            <a:r>
              <a:rPr sz="550" dirty="0">
                <a:solidFill>
                  <a:srgbClr val="263442"/>
                </a:solidFill>
                <a:latin typeface="Arial"/>
                <a:ea typeface="Arial"/>
                <a:cs typeface="Arial"/>
              </a:rPr>
              <a:t>from Match</a:t>
            </a:r>
          </a:p>
        </p:txBody>
      </p:sp>
      <p:sp>
        <p:nvSpPr>
          <p:cNvPr id="775" name="Density input label">
            <a:extLst>
              <a:ext uri="{FF2B5EF4-FFF2-40B4-BE49-F238E27FC236}">
                <a16:creationId xmlns:a16="http://schemas.microsoft.com/office/drawing/2014/main" id="{E5A68BBB-3BB4-4F45-D8ED-99022E728E69}"/>
              </a:ext>
            </a:extLst>
          </p:cNvPr>
          <p:cNvSpPr>
            <a:spLocks noGrp="1"/>
          </p:cNvSpPr>
          <p:nvPr/>
        </p:nvSpPr>
        <p:spPr>
          <a:xfrm>
            <a:off x="5574918" y="1480706"/>
            <a:ext cx="514364" cy="101253"/>
          </a:xfrm>
          <a:prstGeom prst="rect">
            <a:avLst/>
          </a:prstGeom>
          <a:noFill/>
          <a:ln w="6885">
            <a:noFill/>
            <a:prstDash val="solid"/>
          </a:ln>
        </p:spPr>
        <p:txBody>
          <a:bodyPr lIns="0" tIns="0" rIns="0" bIns="0" anchor="ctr"/>
          <a:lstStyle>
            <a:defPPr algn="ctr">
              <a:defRPr sz="695" b="1">
                <a:solidFill>
                  <a:srgbClr val="263442"/>
                </a:solidFill>
                <a:latin typeface="Arial"/>
                <a:ea typeface="Arial"/>
                <a:cs typeface="Arial"/>
              </a:defRPr>
            </a:defPPr>
            <a:lvl1pPr algn="ctr">
              <a:defRPr sz="695" b="1">
                <a:solidFill>
                  <a:srgbClr val="263442"/>
                </a:solidFill>
                <a:latin typeface="Arial"/>
                <a:ea typeface="Arial"/>
                <a:cs typeface="Arial"/>
              </a:defRPr>
            </a:lvl1pPr>
            <a:lvl2pPr algn="ctr">
              <a:defRPr sz="695" b="1">
                <a:solidFill>
                  <a:srgbClr val="263442"/>
                </a:solidFill>
                <a:latin typeface="Arial"/>
                <a:ea typeface="Arial"/>
                <a:cs typeface="Arial"/>
              </a:defRPr>
            </a:lvl2pPr>
            <a:lvl3pPr algn="ctr">
              <a:defRPr sz="695" b="1">
                <a:solidFill>
                  <a:srgbClr val="263442"/>
                </a:solidFill>
                <a:latin typeface="Arial"/>
                <a:ea typeface="Arial"/>
                <a:cs typeface="Arial"/>
              </a:defRPr>
            </a:lvl3pPr>
            <a:lvl4pPr algn="ctr">
              <a:defRPr sz="695" b="1">
                <a:solidFill>
                  <a:srgbClr val="263442"/>
                </a:solidFill>
                <a:latin typeface="Arial"/>
                <a:ea typeface="Arial"/>
                <a:cs typeface="Arial"/>
              </a:defRPr>
            </a:lvl4pPr>
            <a:lvl5pPr algn="ctr">
              <a:defRPr sz="695" b="1">
                <a:solidFill>
                  <a:srgbClr val="263442"/>
                </a:solidFill>
                <a:latin typeface="Arial"/>
                <a:ea typeface="Arial"/>
                <a:cs typeface="Arial"/>
              </a:defRPr>
            </a:lvl5pPr>
            <a:lvl6pPr algn="ctr">
              <a:defRPr sz="695" b="1">
                <a:solidFill>
                  <a:srgbClr val="263442"/>
                </a:solidFill>
                <a:latin typeface="Arial"/>
                <a:ea typeface="Arial"/>
                <a:cs typeface="Arial"/>
              </a:defRPr>
            </a:lvl6pPr>
            <a:lvl7pPr algn="ctr">
              <a:defRPr sz="695" b="1">
                <a:solidFill>
                  <a:srgbClr val="263442"/>
                </a:solidFill>
                <a:latin typeface="Arial"/>
                <a:ea typeface="Arial"/>
                <a:cs typeface="Arial"/>
              </a:defRPr>
            </a:lvl7pPr>
            <a:lvl8pPr algn="ctr">
              <a:defRPr sz="695" b="1">
                <a:solidFill>
                  <a:srgbClr val="263442"/>
                </a:solidFill>
                <a:latin typeface="Arial"/>
                <a:ea typeface="Arial"/>
                <a:cs typeface="Arial"/>
              </a:defRPr>
            </a:lvl8pPr>
            <a:lvl9pPr algn="ctr">
              <a:defRPr sz="695" b="1">
                <a:solidFill>
                  <a:srgbClr val="263442"/>
                </a:solidFill>
                <a:latin typeface="Arial"/>
                <a:ea typeface="Arial"/>
                <a:cs typeface="Arial"/>
              </a:defRPr>
            </a:lvl9pPr>
          </a:lstStyle>
          <a:p>
            <a:pPr algn="ctr">
              <a:defRPr sz="695" b="1">
                <a:solidFill>
                  <a:srgbClr val="263442"/>
                </a:solidFill>
                <a:latin typeface="Arial"/>
                <a:ea typeface="Arial"/>
                <a:cs typeface="Arial"/>
              </a:defRPr>
            </a:pPr>
            <a:r>
              <a:rPr sz="695" b="0" dirty="0">
                <a:solidFill>
                  <a:srgbClr val="263442"/>
                </a:solidFill>
                <a:latin typeface="Arial"/>
                <a:ea typeface="Arial"/>
                <a:cs typeface="Arial"/>
              </a:rPr>
              <a:t>Density</a:t>
            </a:r>
          </a:p>
        </p:txBody>
      </p:sp>
      <p:sp>
        <p:nvSpPr>
          <p:cNvPr id="776" name="Docking tools title">
            <a:extLst>
              <a:ext uri="{FF2B5EF4-FFF2-40B4-BE49-F238E27FC236}">
                <a16:creationId xmlns:a16="http://schemas.microsoft.com/office/drawing/2014/main" id="{27E4029E-E39E-E596-2ECC-8620239CB25F}"/>
              </a:ext>
            </a:extLst>
          </p:cNvPr>
          <p:cNvSpPr>
            <a:spLocks noGrp="1"/>
          </p:cNvSpPr>
          <p:nvPr/>
        </p:nvSpPr>
        <p:spPr>
          <a:xfrm>
            <a:off x="5047760" y="1867770"/>
            <a:ext cx="1101630" cy="117453"/>
          </a:xfrm>
          <a:prstGeom prst="rect">
            <a:avLst/>
          </a:prstGeom>
          <a:noFill/>
          <a:ln w="6885">
            <a:noFill/>
            <a:prstDash val="solid"/>
          </a:ln>
        </p:spPr>
        <p:txBody>
          <a:bodyPr lIns="0" tIns="0" rIns="0" bIns="0" anchor="ctr"/>
          <a:lstStyle>
            <a:defPPr algn="ctr">
              <a:defRPr sz="702" b="1">
                <a:solidFill>
                  <a:srgbClr val="263442"/>
                </a:solidFill>
                <a:latin typeface="Arial"/>
                <a:ea typeface="Arial"/>
                <a:cs typeface="Arial"/>
              </a:defRPr>
            </a:defPPr>
            <a:lvl1pPr algn="ctr">
              <a:defRPr sz="702" b="1">
                <a:solidFill>
                  <a:srgbClr val="263442"/>
                </a:solidFill>
                <a:latin typeface="Arial"/>
                <a:ea typeface="Arial"/>
                <a:cs typeface="Arial"/>
              </a:defRPr>
            </a:lvl1pPr>
            <a:lvl2pPr algn="ctr">
              <a:defRPr sz="702" b="1">
                <a:solidFill>
                  <a:srgbClr val="263442"/>
                </a:solidFill>
                <a:latin typeface="Arial"/>
                <a:ea typeface="Arial"/>
                <a:cs typeface="Arial"/>
              </a:defRPr>
            </a:lvl2pPr>
            <a:lvl3pPr algn="ctr">
              <a:defRPr sz="702" b="1">
                <a:solidFill>
                  <a:srgbClr val="263442"/>
                </a:solidFill>
                <a:latin typeface="Arial"/>
                <a:ea typeface="Arial"/>
                <a:cs typeface="Arial"/>
              </a:defRPr>
            </a:lvl3pPr>
            <a:lvl4pPr algn="ctr">
              <a:defRPr sz="702" b="1">
                <a:solidFill>
                  <a:srgbClr val="263442"/>
                </a:solidFill>
                <a:latin typeface="Arial"/>
                <a:ea typeface="Arial"/>
                <a:cs typeface="Arial"/>
              </a:defRPr>
            </a:lvl4pPr>
            <a:lvl5pPr algn="ctr">
              <a:defRPr sz="702" b="1">
                <a:solidFill>
                  <a:srgbClr val="263442"/>
                </a:solidFill>
                <a:latin typeface="Arial"/>
                <a:ea typeface="Arial"/>
                <a:cs typeface="Arial"/>
              </a:defRPr>
            </a:lvl5pPr>
            <a:lvl6pPr algn="ctr">
              <a:defRPr sz="702" b="1">
                <a:solidFill>
                  <a:srgbClr val="263442"/>
                </a:solidFill>
                <a:latin typeface="Arial"/>
                <a:ea typeface="Arial"/>
                <a:cs typeface="Arial"/>
              </a:defRPr>
            </a:lvl6pPr>
            <a:lvl7pPr algn="ctr">
              <a:defRPr sz="702" b="1">
                <a:solidFill>
                  <a:srgbClr val="263442"/>
                </a:solidFill>
                <a:latin typeface="Arial"/>
                <a:ea typeface="Arial"/>
                <a:cs typeface="Arial"/>
              </a:defRPr>
            </a:lvl7pPr>
            <a:lvl8pPr algn="ctr">
              <a:defRPr sz="702" b="1">
                <a:solidFill>
                  <a:srgbClr val="263442"/>
                </a:solidFill>
                <a:latin typeface="Arial"/>
                <a:ea typeface="Arial"/>
                <a:cs typeface="Arial"/>
              </a:defRPr>
            </a:lvl8pPr>
            <a:lvl9pPr algn="ctr">
              <a:defRPr sz="702" b="1">
                <a:solidFill>
                  <a:srgbClr val="263442"/>
                </a:solidFill>
                <a:latin typeface="Arial"/>
                <a:ea typeface="Arial"/>
                <a:cs typeface="Arial"/>
              </a:defRPr>
            </a:lvl9pPr>
          </a:lstStyle>
          <a:p>
            <a:pPr algn="ctr">
              <a:defRPr sz="702" b="1">
                <a:solidFill>
                  <a:srgbClr val="263442"/>
                </a:solidFill>
                <a:latin typeface="Arial"/>
                <a:ea typeface="Arial"/>
                <a:cs typeface="Arial"/>
              </a:defRPr>
            </a:pPr>
            <a:r>
              <a:rPr lang="en-US" sz="702" b="0" dirty="0">
                <a:solidFill>
                  <a:srgbClr val="263442"/>
                </a:solidFill>
                <a:latin typeface="Arial"/>
                <a:ea typeface="Arial"/>
                <a:cs typeface="Arial"/>
              </a:rPr>
              <a:t>Downstream </a:t>
            </a:r>
            <a:r>
              <a:rPr lang="en-US" b="0" dirty="0"/>
              <a:t>d</a:t>
            </a:r>
            <a:r>
              <a:rPr sz="702" b="0" dirty="0">
                <a:solidFill>
                  <a:srgbClr val="263442"/>
                </a:solidFill>
                <a:latin typeface="Arial"/>
                <a:ea typeface="Arial"/>
                <a:cs typeface="Arial"/>
              </a:rPr>
              <a:t>ocking tools</a:t>
            </a:r>
          </a:p>
        </p:txBody>
      </p:sp>
      <p:sp>
        <p:nvSpPr>
          <p:cNvPr id="777" name="Build pose output">
            <a:extLst>
              <a:ext uri="{FF2B5EF4-FFF2-40B4-BE49-F238E27FC236}">
                <a16:creationId xmlns:a16="http://schemas.microsoft.com/office/drawing/2014/main" id="{0B218F6B-7A76-F3B6-A0A5-E42AE4C10B80}"/>
              </a:ext>
            </a:extLst>
          </p:cNvPr>
          <p:cNvSpPr>
            <a:spLocks noGrp="1"/>
          </p:cNvSpPr>
          <p:nvPr/>
        </p:nvSpPr>
        <p:spPr>
          <a:xfrm>
            <a:off x="4992811" y="3400604"/>
            <a:ext cx="1106489" cy="941449"/>
          </a:xfrm>
          <a:prstGeom prst="roundRect">
            <a:avLst>
              <a:gd name="adj" fmla="val 5395"/>
            </a:avLst>
          </a:prstGeom>
          <a:solidFill>
            <a:srgbClr val="FFFFFF"/>
          </a:solidFill>
          <a:ln w="7290">
            <a:solidFill>
              <a:srgbClr val="DFD6C3"/>
            </a:solidFill>
            <a:prstDash val="solid"/>
          </a:ln>
        </p:spPr>
      </p:sp>
      <p:sp>
        <p:nvSpPr>
          <p:cNvPr id="778" name="All atom pose label">
            <a:extLst>
              <a:ext uri="{FF2B5EF4-FFF2-40B4-BE49-F238E27FC236}">
                <a16:creationId xmlns:a16="http://schemas.microsoft.com/office/drawing/2014/main" id="{8FE77D82-0F62-5049-84A0-FD0D56FCE044}"/>
              </a:ext>
            </a:extLst>
          </p:cNvPr>
          <p:cNvSpPr>
            <a:spLocks noGrp="1"/>
          </p:cNvSpPr>
          <p:nvPr/>
        </p:nvSpPr>
        <p:spPr>
          <a:xfrm>
            <a:off x="4979784" y="4176444"/>
            <a:ext cx="1231233" cy="117453"/>
          </a:xfrm>
          <a:prstGeom prst="rect">
            <a:avLst/>
          </a:prstGeom>
          <a:noFill/>
          <a:ln w="6885">
            <a:noFill/>
            <a:prstDash val="solid"/>
          </a:ln>
        </p:spPr>
        <p:txBody>
          <a:bodyPr lIns="0" tIns="0" rIns="0" bIns="0" anchor="ctr"/>
          <a:lstStyle>
            <a:defPPr algn="ctr">
              <a:defRPr sz="695" b="1">
                <a:solidFill>
                  <a:srgbClr val="263442"/>
                </a:solidFill>
                <a:latin typeface="Arial"/>
                <a:ea typeface="Arial"/>
                <a:cs typeface="Arial"/>
              </a:defRPr>
            </a:defPPr>
            <a:lvl1pPr algn="ctr">
              <a:defRPr sz="695" b="1">
                <a:solidFill>
                  <a:srgbClr val="263442"/>
                </a:solidFill>
                <a:latin typeface="Arial"/>
                <a:ea typeface="Arial"/>
                <a:cs typeface="Arial"/>
              </a:defRPr>
            </a:lvl1pPr>
            <a:lvl2pPr algn="ctr">
              <a:defRPr sz="695" b="1">
                <a:solidFill>
                  <a:srgbClr val="263442"/>
                </a:solidFill>
                <a:latin typeface="Arial"/>
                <a:ea typeface="Arial"/>
                <a:cs typeface="Arial"/>
              </a:defRPr>
            </a:lvl2pPr>
            <a:lvl3pPr algn="ctr">
              <a:defRPr sz="695" b="1">
                <a:solidFill>
                  <a:srgbClr val="263442"/>
                </a:solidFill>
                <a:latin typeface="Arial"/>
                <a:ea typeface="Arial"/>
                <a:cs typeface="Arial"/>
              </a:defRPr>
            </a:lvl3pPr>
            <a:lvl4pPr algn="ctr">
              <a:defRPr sz="695" b="1">
                <a:solidFill>
                  <a:srgbClr val="263442"/>
                </a:solidFill>
                <a:latin typeface="Arial"/>
                <a:ea typeface="Arial"/>
                <a:cs typeface="Arial"/>
              </a:defRPr>
            </a:lvl4pPr>
            <a:lvl5pPr algn="ctr">
              <a:defRPr sz="695" b="1">
                <a:solidFill>
                  <a:srgbClr val="263442"/>
                </a:solidFill>
                <a:latin typeface="Arial"/>
                <a:ea typeface="Arial"/>
                <a:cs typeface="Arial"/>
              </a:defRPr>
            </a:lvl5pPr>
            <a:lvl6pPr algn="ctr">
              <a:defRPr sz="695" b="1">
                <a:solidFill>
                  <a:srgbClr val="263442"/>
                </a:solidFill>
                <a:latin typeface="Arial"/>
                <a:ea typeface="Arial"/>
                <a:cs typeface="Arial"/>
              </a:defRPr>
            </a:lvl6pPr>
            <a:lvl7pPr algn="ctr">
              <a:defRPr sz="695" b="1">
                <a:solidFill>
                  <a:srgbClr val="263442"/>
                </a:solidFill>
                <a:latin typeface="Arial"/>
                <a:ea typeface="Arial"/>
                <a:cs typeface="Arial"/>
              </a:defRPr>
            </a:lvl7pPr>
            <a:lvl8pPr algn="ctr">
              <a:defRPr sz="695" b="1">
                <a:solidFill>
                  <a:srgbClr val="263442"/>
                </a:solidFill>
                <a:latin typeface="Arial"/>
                <a:ea typeface="Arial"/>
                <a:cs typeface="Arial"/>
              </a:defRPr>
            </a:lvl8pPr>
            <a:lvl9pPr algn="ctr">
              <a:defRPr sz="695" b="1">
                <a:solidFill>
                  <a:srgbClr val="263442"/>
                </a:solidFill>
                <a:latin typeface="Arial"/>
                <a:ea typeface="Arial"/>
                <a:cs typeface="Arial"/>
              </a:defRPr>
            </a:lvl9pPr>
          </a:lstStyle>
          <a:p>
            <a:pPr algn="ctr">
              <a:defRPr sz="695" b="1">
                <a:solidFill>
                  <a:srgbClr val="263442"/>
                </a:solidFill>
                <a:latin typeface="Arial"/>
                <a:ea typeface="Arial"/>
                <a:cs typeface="Arial"/>
              </a:defRPr>
            </a:pPr>
            <a:r>
              <a:rPr sz="695" b="0" dirty="0">
                <a:solidFill>
                  <a:srgbClr val="263442"/>
                </a:solidFill>
                <a:latin typeface="Arial"/>
                <a:ea typeface="Arial"/>
                <a:cs typeface="Arial"/>
              </a:rPr>
              <a:t>All-atom ligand pose</a:t>
            </a:r>
          </a:p>
        </p:txBody>
      </p:sp>
      <p:pic>
        <p:nvPicPr>
          <p:cNvPr id="967" name="Build corresponding experimental density" descr="Experimental 9LLG density around chain C1 of the displayed CryoAtom2 receptor, at the original contour level and the identical camera orientation.">
            <a:extLst>
              <a:ext uri="{FF2B5EF4-FFF2-40B4-BE49-F238E27FC236}">
                <a16:creationId xmlns:a16="http://schemas.microsoft.com/office/drawing/2014/main" id="{59E3DA4F-BD1F-6AD8-81F5-856ECED60067}"/>
              </a:ext>
            </a:extLst>
          </p:cNvPr>
          <p:cNvPicPr/>
          <p:nvPr/>
        </p:nvPicPr>
        <p:blipFill>
          <a:blip r:embed="rId4"/>
          <a:stretch>
            <a:fillRect/>
          </a:stretch>
        </p:blipFill>
        <p:spPr>
          <a:xfrm>
            <a:off x="5657542" y="1104265"/>
            <a:ext cx="361766" cy="345440"/>
          </a:xfrm>
          <a:prstGeom prst="rect">
            <a:avLst/>
          </a:prstGeom>
        </p:spPr>
      </p:pic>
      <p:sp>
        <p:nvSpPr>
          <p:cNvPr id="1187" name="Build | Engines frame">
            <a:extLst>
              <a:ext uri="{FF2B5EF4-FFF2-40B4-BE49-F238E27FC236}">
                <a16:creationId xmlns:a16="http://schemas.microsoft.com/office/drawing/2014/main" id="{79AD4C70-DD41-BB84-7331-69D7E3080E11}"/>
              </a:ext>
            </a:extLst>
          </p:cNvPr>
          <p:cNvSpPr/>
          <p:nvPr/>
        </p:nvSpPr>
        <p:spPr>
          <a:xfrm>
            <a:off x="4938821" y="2032000"/>
            <a:ext cx="1202377" cy="1172634"/>
          </a:xfrm>
          <a:prstGeom prst="roundRect">
            <a:avLst>
              <a:gd name="adj" fmla="val 5000"/>
            </a:avLst>
          </a:prstGeom>
          <a:solidFill>
            <a:srgbClr val="FFFFFF">
              <a:alpha val="50000"/>
            </a:srgbClr>
          </a:solidFill>
          <a:ln w="7290">
            <a:solidFill>
              <a:srgbClr val="D5CCB8"/>
            </a:solidFill>
            <a:prstDash val="dash"/>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dirty="0"/>
          </a:p>
        </p:txBody>
      </p:sp>
      <p:sp>
        <p:nvSpPr>
          <p:cNvPr id="1188" name="Build | Default PocketXMol card">
            <a:extLst>
              <a:ext uri="{FF2B5EF4-FFF2-40B4-BE49-F238E27FC236}">
                <a16:creationId xmlns:a16="http://schemas.microsoft.com/office/drawing/2014/main" id="{65696164-FF6C-2E64-A27D-E0452D5A76E9}"/>
              </a:ext>
            </a:extLst>
          </p:cNvPr>
          <p:cNvSpPr/>
          <p:nvPr/>
        </p:nvSpPr>
        <p:spPr>
          <a:xfrm>
            <a:off x="4992811" y="2089570"/>
            <a:ext cx="1106490" cy="456341"/>
          </a:xfrm>
          <a:prstGeom prst="roundRect">
            <a:avLst>
              <a:gd name="adj" fmla="val 8000"/>
            </a:avLst>
          </a:prstGeom>
          <a:solidFill>
            <a:srgbClr val="FAF1DE"/>
          </a:solidFill>
          <a:ln w="7290">
            <a:solidFill>
              <a:srgbClr val="D8A95A"/>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grpSp>
        <p:nvGrpSpPr>
          <p:cNvPr id="1189" name="Build | Density cube icon">
            <a:extLst>
              <a:ext uri="{FF2B5EF4-FFF2-40B4-BE49-F238E27FC236}">
                <a16:creationId xmlns:a16="http://schemas.microsoft.com/office/drawing/2014/main" id="{68B5FCE4-2F36-CAD0-B100-A4A97D0F3451}"/>
              </a:ext>
            </a:extLst>
          </p:cNvPr>
          <p:cNvGrpSpPr/>
          <p:nvPr/>
        </p:nvGrpSpPr>
        <p:grpSpPr>
          <a:xfrm>
            <a:off x="5024943" y="2171534"/>
            <a:ext cx="213580" cy="227238"/>
            <a:chOff x="2187720" y="5635440"/>
            <a:chExt cx="154440" cy="131400"/>
          </a:xfrm>
        </p:grpSpPr>
        <p:sp>
          <p:nvSpPr>
            <p:cNvPr id="1190" name="asset_3169_0">
              <a:extLst>
                <a:ext uri="{FF2B5EF4-FFF2-40B4-BE49-F238E27FC236}">
                  <a16:creationId xmlns:a16="http://schemas.microsoft.com/office/drawing/2014/main" id="{5FFB8783-18B8-9E3F-DF3D-D39890A83D04}"/>
                </a:ext>
              </a:extLst>
            </p:cNvPr>
            <p:cNvSpPr>
              <a:spLocks noGrp="1"/>
            </p:cNvSpPr>
            <p:nvPr/>
          </p:nvSpPr>
          <p:spPr>
            <a:xfrm>
              <a:off x="2187720" y="5635440"/>
              <a:ext cx="154440" cy="22338"/>
            </a:xfrm>
            <a:custGeom>
              <a:avLst/>
              <a:gdLst/>
              <a:ahLst/>
              <a:cxnLst/>
              <a:rect l="0" t="0" r="0" b="0"/>
              <a:pathLst>
                <a:path w="154440" h="22338">
                  <a:moveTo>
                    <a:pt x="0" y="22338"/>
                  </a:moveTo>
                  <a:lnTo>
                    <a:pt x="29344" y="0"/>
                  </a:lnTo>
                  <a:lnTo>
                    <a:pt x="154440" y="0"/>
                  </a:lnTo>
                  <a:lnTo>
                    <a:pt x="125096" y="22338"/>
                  </a:lnTo>
                  <a:close/>
                </a:path>
              </a:pathLst>
            </a:custGeom>
            <a:gradFill>
              <a:gsLst>
                <a:gs pos="0">
                  <a:srgbClr val="FAFDFF">
                    <a:alpha val="65000"/>
                  </a:srgbClr>
                </a:gs>
                <a:gs pos="100000">
                  <a:srgbClr val="D9EAFA">
                    <a:alpha val="45000"/>
                  </a:srgbClr>
                </a:gs>
              </a:gsLst>
              <a:lin ang="5400000"/>
            </a:gradFill>
            <a:ln w="2700">
              <a:solidFill>
                <a:srgbClr val="A3C3E2"/>
              </a:solidFill>
            </a:ln>
          </p:spPr>
        </p:sp>
        <p:sp>
          <p:nvSpPr>
            <p:cNvPr id="1191" name="asset_3169_1">
              <a:extLst>
                <a:ext uri="{FF2B5EF4-FFF2-40B4-BE49-F238E27FC236}">
                  <a16:creationId xmlns:a16="http://schemas.microsoft.com/office/drawing/2014/main" id="{1EA12B72-72E8-2312-8F32-52AE6B165E9D}"/>
                </a:ext>
              </a:extLst>
            </p:cNvPr>
            <p:cNvSpPr>
              <a:spLocks noGrp="1"/>
            </p:cNvSpPr>
            <p:nvPr/>
          </p:nvSpPr>
          <p:spPr>
            <a:xfrm>
              <a:off x="2312816" y="5635440"/>
              <a:ext cx="29344" cy="131400"/>
            </a:xfrm>
            <a:custGeom>
              <a:avLst/>
              <a:gdLst/>
              <a:ahLst/>
              <a:cxnLst/>
              <a:rect l="0" t="0" r="0" b="0"/>
              <a:pathLst>
                <a:path w="29344" h="131400">
                  <a:moveTo>
                    <a:pt x="0" y="22338"/>
                  </a:moveTo>
                  <a:lnTo>
                    <a:pt x="29344" y="0"/>
                  </a:lnTo>
                  <a:lnTo>
                    <a:pt x="29344" y="109062"/>
                  </a:lnTo>
                  <a:lnTo>
                    <a:pt x="0" y="131400"/>
                  </a:lnTo>
                  <a:close/>
                </a:path>
              </a:pathLst>
            </a:custGeom>
            <a:solidFill>
              <a:srgbClr val="C9DFF3">
                <a:alpha val="22000"/>
              </a:srgbClr>
            </a:solidFill>
            <a:ln w="2700">
              <a:solidFill>
                <a:srgbClr val="A3C3E2"/>
              </a:solidFill>
            </a:ln>
          </p:spPr>
        </p:sp>
        <p:sp>
          <p:nvSpPr>
            <p:cNvPr id="1192" name="asset_3169_2">
              <a:extLst>
                <a:ext uri="{FF2B5EF4-FFF2-40B4-BE49-F238E27FC236}">
                  <a16:creationId xmlns:a16="http://schemas.microsoft.com/office/drawing/2014/main" id="{EDE3B5A8-D8FA-9133-41C2-DB6E1E75A6F9}"/>
                </a:ext>
              </a:extLst>
            </p:cNvPr>
            <p:cNvSpPr>
              <a:spLocks noGrp="1"/>
            </p:cNvSpPr>
            <p:nvPr/>
          </p:nvSpPr>
          <p:spPr>
            <a:xfrm>
              <a:off x="2187720" y="5657778"/>
              <a:ext cx="125096" cy="109062"/>
            </a:xfrm>
            <a:prstGeom prst="rect">
              <a:avLst/>
            </a:prstGeom>
            <a:solidFill>
              <a:srgbClr val="E7F1FC">
                <a:alpha val="20000"/>
              </a:srgbClr>
            </a:solidFill>
            <a:ln w="2700">
              <a:solidFill>
                <a:srgbClr val="ABC9E7"/>
              </a:solidFill>
            </a:ln>
          </p:spPr>
        </p:sp>
        <p:sp>
          <p:nvSpPr>
            <p:cNvPr id="1193" name="asset_3169_3">
              <a:extLst>
                <a:ext uri="{FF2B5EF4-FFF2-40B4-BE49-F238E27FC236}">
                  <a16:creationId xmlns:a16="http://schemas.microsoft.com/office/drawing/2014/main" id="{120BF363-735F-F584-10A8-02A0DD55EE7B}"/>
                </a:ext>
              </a:extLst>
            </p:cNvPr>
            <p:cNvSpPr>
              <a:spLocks noGrp="1"/>
            </p:cNvSpPr>
            <p:nvPr/>
          </p:nvSpPr>
          <p:spPr>
            <a:xfrm>
              <a:off x="2218994" y="5657778"/>
              <a:ext cx="4" cy="109062"/>
            </a:xfrm>
            <a:prstGeom prst="line">
              <a:avLst/>
            </a:prstGeom>
            <a:noFill/>
            <a:ln w="1980">
              <a:solidFill>
                <a:srgbClr val="B8D2EB">
                  <a:alpha val="33000"/>
                </a:srgbClr>
              </a:solidFill>
            </a:ln>
          </p:spPr>
        </p:sp>
        <p:sp>
          <p:nvSpPr>
            <p:cNvPr id="1194" name="asset_3169_4">
              <a:extLst>
                <a:ext uri="{FF2B5EF4-FFF2-40B4-BE49-F238E27FC236}">
                  <a16:creationId xmlns:a16="http://schemas.microsoft.com/office/drawing/2014/main" id="{E2829B7F-C588-BE5B-8D54-FBE1EBF2B8E5}"/>
                </a:ext>
              </a:extLst>
            </p:cNvPr>
            <p:cNvSpPr>
              <a:spLocks noGrp="1"/>
            </p:cNvSpPr>
            <p:nvPr/>
          </p:nvSpPr>
          <p:spPr>
            <a:xfrm>
              <a:off x="2187720" y="5685044"/>
              <a:ext cx="125096" cy="4"/>
            </a:xfrm>
            <a:prstGeom prst="line">
              <a:avLst/>
            </a:prstGeom>
            <a:noFill/>
            <a:ln w="1980">
              <a:solidFill>
                <a:srgbClr val="B8D2EB">
                  <a:alpha val="33000"/>
                </a:srgbClr>
              </a:solidFill>
            </a:ln>
          </p:spPr>
        </p:sp>
        <p:sp>
          <p:nvSpPr>
            <p:cNvPr id="1195" name="asset_3169_5">
              <a:extLst>
                <a:ext uri="{FF2B5EF4-FFF2-40B4-BE49-F238E27FC236}">
                  <a16:creationId xmlns:a16="http://schemas.microsoft.com/office/drawing/2014/main" id="{3DBA365A-AC44-C9B3-7E08-985ECB6E5232}"/>
                </a:ext>
              </a:extLst>
            </p:cNvPr>
            <p:cNvSpPr>
              <a:spLocks noGrp="1"/>
            </p:cNvSpPr>
            <p:nvPr/>
          </p:nvSpPr>
          <p:spPr>
            <a:xfrm>
              <a:off x="2250268" y="5657778"/>
              <a:ext cx="4" cy="109062"/>
            </a:xfrm>
            <a:prstGeom prst="line">
              <a:avLst/>
            </a:prstGeom>
            <a:noFill/>
            <a:ln w="1980">
              <a:solidFill>
                <a:srgbClr val="B8D2EB">
                  <a:alpha val="33000"/>
                </a:srgbClr>
              </a:solidFill>
            </a:ln>
          </p:spPr>
        </p:sp>
        <p:sp>
          <p:nvSpPr>
            <p:cNvPr id="1196" name="asset_3169_6">
              <a:extLst>
                <a:ext uri="{FF2B5EF4-FFF2-40B4-BE49-F238E27FC236}">
                  <a16:creationId xmlns:a16="http://schemas.microsoft.com/office/drawing/2014/main" id="{9F12D1AD-2ED4-77AF-F2EC-E76A62AE9C53}"/>
                </a:ext>
              </a:extLst>
            </p:cNvPr>
            <p:cNvSpPr>
              <a:spLocks noGrp="1"/>
            </p:cNvSpPr>
            <p:nvPr/>
          </p:nvSpPr>
          <p:spPr>
            <a:xfrm>
              <a:off x="2187720" y="5712309"/>
              <a:ext cx="125096" cy="4"/>
            </a:xfrm>
            <a:prstGeom prst="line">
              <a:avLst/>
            </a:prstGeom>
            <a:noFill/>
            <a:ln w="1980">
              <a:solidFill>
                <a:srgbClr val="B8D2EB">
                  <a:alpha val="33000"/>
                </a:srgbClr>
              </a:solidFill>
            </a:ln>
          </p:spPr>
        </p:sp>
        <p:sp>
          <p:nvSpPr>
            <p:cNvPr id="1197" name="asset_3169_7">
              <a:extLst>
                <a:ext uri="{FF2B5EF4-FFF2-40B4-BE49-F238E27FC236}">
                  <a16:creationId xmlns:a16="http://schemas.microsoft.com/office/drawing/2014/main" id="{530FF9D0-E22B-4C58-F523-2AC53D327A6E}"/>
                </a:ext>
              </a:extLst>
            </p:cNvPr>
            <p:cNvSpPr>
              <a:spLocks noGrp="1"/>
            </p:cNvSpPr>
            <p:nvPr/>
          </p:nvSpPr>
          <p:spPr>
            <a:xfrm>
              <a:off x="2281542" y="5657778"/>
              <a:ext cx="4" cy="109062"/>
            </a:xfrm>
            <a:prstGeom prst="line">
              <a:avLst/>
            </a:prstGeom>
            <a:noFill/>
            <a:ln w="1980">
              <a:solidFill>
                <a:srgbClr val="B8D2EB">
                  <a:alpha val="33000"/>
                </a:srgbClr>
              </a:solidFill>
            </a:ln>
          </p:spPr>
        </p:sp>
        <p:sp>
          <p:nvSpPr>
            <p:cNvPr id="1198" name="asset_3169_8">
              <a:extLst>
                <a:ext uri="{FF2B5EF4-FFF2-40B4-BE49-F238E27FC236}">
                  <a16:creationId xmlns:a16="http://schemas.microsoft.com/office/drawing/2014/main" id="{1E307AA0-A6C4-946A-18FD-30858587578A}"/>
                </a:ext>
              </a:extLst>
            </p:cNvPr>
            <p:cNvSpPr>
              <a:spLocks noGrp="1"/>
            </p:cNvSpPr>
            <p:nvPr/>
          </p:nvSpPr>
          <p:spPr>
            <a:xfrm>
              <a:off x="2187720" y="5739574"/>
              <a:ext cx="125096" cy="4"/>
            </a:xfrm>
            <a:prstGeom prst="line">
              <a:avLst/>
            </a:prstGeom>
            <a:noFill/>
            <a:ln w="1980">
              <a:solidFill>
                <a:srgbClr val="B8D2EB">
                  <a:alpha val="33000"/>
                </a:srgbClr>
              </a:solidFill>
            </a:ln>
          </p:spPr>
        </p:sp>
        <p:sp>
          <p:nvSpPr>
            <p:cNvPr id="1199" name="asset_3169_9">
              <a:extLst>
                <a:ext uri="{FF2B5EF4-FFF2-40B4-BE49-F238E27FC236}">
                  <a16:creationId xmlns:a16="http://schemas.microsoft.com/office/drawing/2014/main" id="{2C70D4C3-CC8E-18A5-188C-FB73FB31079A}"/>
                </a:ext>
              </a:extLst>
            </p:cNvPr>
            <p:cNvSpPr>
              <a:spLocks noGrp="1"/>
            </p:cNvSpPr>
            <p:nvPr/>
          </p:nvSpPr>
          <p:spPr>
            <a:xfrm>
              <a:off x="2198791" y="5672574"/>
              <a:ext cx="58245" cy="50256"/>
            </a:xfrm>
            <a:prstGeom prst="ellipse">
              <a:avLst/>
            </a:prstGeom>
            <a:gradFill>
              <a:gsLst>
                <a:gs pos="0">
                  <a:srgbClr val="E5F0FF">
                    <a:alpha val="55000"/>
                  </a:srgbClr>
                </a:gs>
                <a:gs pos="48000">
                  <a:srgbClr val="7DA9DB">
                    <a:alpha val="60000"/>
                  </a:srgbClr>
                </a:gs>
                <a:gs pos="100000">
                  <a:srgbClr val="7DA9DB">
                    <a:alpha val="35000"/>
                  </a:srgbClr>
                </a:gs>
              </a:gsLst>
              <a:lin ang="8400000"/>
            </a:gradFill>
            <a:ln w="3600">
              <a:noFill/>
            </a:ln>
            <a:effectLst>
              <a:softEdge rad="4320"/>
            </a:effectLst>
          </p:spPr>
        </p:sp>
        <p:sp>
          <p:nvSpPr>
            <p:cNvPr id="1200" name="asset_3169_10">
              <a:extLst>
                <a:ext uri="{FF2B5EF4-FFF2-40B4-BE49-F238E27FC236}">
                  <a16:creationId xmlns:a16="http://schemas.microsoft.com/office/drawing/2014/main" id="{9530488D-317A-3063-82AF-05EB1F0CA8B9}"/>
                </a:ext>
              </a:extLst>
            </p:cNvPr>
            <p:cNvSpPr>
              <a:spLocks noGrp="1"/>
            </p:cNvSpPr>
            <p:nvPr/>
          </p:nvSpPr>
          <p:spPr>
            <a:xfrm>
              <a:off x="2225487" y="5687232"/>
              <a:ext cx="63099" cy="54444"/>
            </a:xfrm>
            <a:prstGeom prst="ellipse">
              <a:avLst/>
            </a:prstGeom>
            <a:gradFill>
              <a:gsLst>
                <a:gs pos="0">
                  <a:srgbClr val="E5F0FF">
                    <a:alpha val="55000"/>
                  </a:srgbClr>
                </a:gs>
                <a:gs pos="48000">
                  <a:srgbClr val="7DA9DB">
                    <a:alpha val="60000"/>
                  </a:srgbClr>
                </a:gs>
                <a:gs pos="100000">
                  <a:srgbClr val="7DA9DB">
                    <a:alpha val="35000"/>
                  </a:srgbClr>
                </a:gs>
              </a:gsLst>
              <a:lin ang="8400000"/>
            </a:gradFill>
            <a:ln w="3600">
              <a:noFill/>
            </a:ln>
            <a:effectLst>
              <a:softEdge rad="4320"/>
            </a:effectLst>
          </p:spPr>
        </p:sp>
        <p:sp>
          <p:nvSpPr>
            <p:cNvPr id="1201" name="asset_3169_11">
              <a:extLst>
                <a:ext uri="{FF2B5EF4-FFF2-40B4-BE49-F238E27FC236}">
                  <a16:creationId xmlns:a16="http://schemas.microsoft.com/office/drawing/2014/main" id="{48323ECB-3BE3-307E-E823-C51C380A8650}"/>
                </a:ext>
              </a:extLst>
            </p:cNvPr>
            <p:cNvSpPr>
              <a:spLocks noGrp="1"/>
            </p:cNvSpPr>
            <p:nvPr/>
          </p:nvSpPr>
          <p:spPr>
            <a:xfrm>
              <a:off x="2248542" y="5660010"/>
              <a:ext cx="55818" cy="48162"/>
            </a:xfrm>
            <a:prstGeom prst="ellipse">
              <a:avLst/>
            </a:prstGeom>
            <a:gradFill>
              <a:gsLst>
                <a:gs pos="0">
                  <a:srgbClr val="E5F0FF">
                    <a:alpha val="55000"/>
                  </a:srgbClr>
                </a:gs>
                <a:gs pos="48000">
                  <a:srgbClr val="7DA9DB">
                    <a:alpha val="60000"/>
                  </a:srgbClr>
                </a:gs>
                <a:gs pos="100000">
                  <a:srgbClr val="7DA9DB">
                    <a:alpha val="35000"/>
                  </a:srgbClr>
                </a:gs>
              </a:gsLst>
              <a:lin ang="8400000"/>
            </a:gradFill>
            <a:ln w="3600">
              <a:noFill/>
            </a:ln>
            <a:effectLst>
              <a:softEdge rad="4320"/>
            </a:effectLst>
          </p:spPr>
        </p:sp>
        <p:sp>
          <p:nvSpPr>
            <p:cNvPr id="1202" name="asset_3169_12">
              <a:extLst>
                <a:ext uri="{FF2B5EF4-FFF2-40B4-BE49-F238E27FC236}">
                  <a16:creationId xmlns:a16="http://schemas.microsoft.com/office/drawing/2014/main" id="{C0C8C16B-9DED-677C-6432-EE50B45E7418}"/>
                </a:ext>
              </a:extLst>
            </p:cNvPr>
            <p:cNvSpPr>
              <a:spLocks noGrp="1"/>
            </p:cNvSpPr>
            <p:nvPr/>
          </p:nvSpPr>
          <p:spPr>
            <a:xfrm>
              <a:off x="2223060" y="5652681"/>
              <a:ext cx="53391" cy="46068"/>
            </a:xfrm>
            <a:prstGeom prst="ellipse">
              <a:avLst/>
            </a:prstGeom>
            <a:gradFill>
              <a:gsLst>
                <a:gs pos="0">
                  <a:srgbClr val="E5F0FF">
                    <a:alpha val="55000"/>
                  </a:srgbClr>
                </a:gs>
                <a:gs pos="48000">
                  <a:srgbClr val="7DA9DB">
                    <a:alpha val="60000"/>
                  </a:srgbClr>
                </a:gs>
                <a:gs pos="100000">
                  <a:srgbClr val="7DA9DB">
                    <a:alpha val="35000"/>
                  </a:srgbClr>
                </a:gs>
              </a:gsLst>
              <a:lin ang="8400000"/>
            </a:gradFill>
            <a:ln w="3600">
              <a:noFill/>
            </a:ln>
            <a:effectLst>
              <a:softEdge rad="4320"/>
            </a:effectLst>
          </p:spPr>
        </p:sp>
        <p:sp>
          <p:nvSpPr>
            <p:cNvPr id="1203" name="asset_3169_13">
              <a:extLst>
                <a:ext uri="{FF2B5EF4-FFF2-40B4-BE49-F238E27FC236}">
                  <a16:creationId xmlns:a16="http://schemas.microsoft.com/office/drawing/2014/main" id="{060B66F2-4388-65F4-6206-749CACAB0290}"/>
                </a:ext>
              </a:extLst>
            </p:cNvPr>
            <p:cNvSpPr>
              <a:spLocks noGrp="1"/>
            </p:cNvSpPr>
            <p:nvPr/>
          </p:nvSpPr>
          <p:spPr>
            <a:xfrm>
              <a:off x="2207281" y="5693871"/>
              <a:ext cx="30911" cy="26671"/>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04" name="asset_3169_14">
              <a:extLst>
                <a:ext uri="{FF2B5EF4-FFF2-40B4-BE49-F238E27FC236}">
                  <a16:creationId xmlns:a16="http://schemas.microsoft.com/office/drawing/2014/main" id="{13E2CBA3-7C02-4027-03E6-A698CD2EB714}"/>
                </a:ext>
              </a:extLst>
            </p:cNvPr>
            <p:cNvSpPr>
              <a:spLocks noGrp="1"/>
            </p:cNvSpPr>
            <p:nvPr/>
          </p:nvSpPr>
          <p:spPr>
            <a:xfrm>
              <a:off x="2253557" y="5697302"/>
              <a:ext cx="21556" cy="18600"/>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05" name="asset_3169_15">
              <a:extLst>
                <a:ext uri="{FF2B5EF4-FFF2-40B4-BE49-F238E27FC236}">
                  <a16:creationId xmlns:a16="http://schemas.microsoft.com/office/drawing/2014/main" id="{D52AE182-CED9-F191-684F-C02E656634F9}"/>
                </a:ext>
              </a:extLst>
            </p:cNvPr>
            <p:cNvSpPr>
              <a:spLocks noGrp="1"/>
            </p:cNvSpPr>
            <p:nvPr/>
          </p:nvSpPr>
          <p:spPr>
            <a:xfrm>
              <a:off x="2278359" y="5672317"/>
              <a:ext cx="20931" cy="18060"/>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06" name="asset_3169_16">
              <a:extLst>
                <a:ext uri="{FF2B5EF4-FFF2-40B4-BE49-F238E27FC236}">
                  <a16:creationId xmlns:a16="http://schemas.microsoft.com/office/drawing/2014/main" id="{89F2F434-5A13-55C5-50E0-3A863DFD674D}"/>
                </a:ext>
              </a:extLst>
            </p:cNvPr>
            <p:cNvSpPr>
              <a:spLocks noGrp="1"/>
            </p:cNvSpPr>
            <p:nvPr/>
          </p:nvSpPr>
          <p:spPr>
            <a:xfrm>
              <a:off x="2235959" y="5649092"/>
              <a:ext cx="26179" cy="22588"/>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07" name="asset_3169_17">
              <a:extLst>
                <a:ext uri="{FF2B5EF4-FFF2-40B4-BE49-F238E27FC236}">
                  <a16:creationId xmlns:a16="http://schemas.microsoft.com/office/drawing/2014/main" id="{6F30CB2F-3FFE-E2E6-12A8-0C6F6E9862D8}"/>
                </a:ext>
              </a:extLst>
            </p:cNvPr>
            <p:cNvSpPr>
              <a:spLocks noGrp="1"/>
            </p:cNvSpPr>
            <p:nvPr/>
          </p:nvSpPr>
          <p:spPr>
            <a:xfrm>
              <a:off x="2230057" y="5690206"/>
              <a:ext cx="17158" cy="14805"/>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08" name="asset_3169_18">
              <a:extLst>
                <a:ext uri="{FF2B5EF4-FFF2-40B4-BE49-F238E27FC236}">
                  <a16:creationId xmlns:a16="http://schemas.microsoft.com/office/drawing/2014/main" id="{688E0702-ABAA-1F53-2FEE-C044E75816FE}"/>
                </a:ext>
              </a:extLst>
            </p:cNvPr>
            <p:cNvSpPr>
              <a:spLocks noGrp="1"/>
            </p:cNvSpPr>
            <p:nvPr/>
          </p:nvSpPr>
          <p:spPr>
            <a:xfrm>
              <a:off x="2228799" y="5700798"/>
              <a:ext cx="17470" cy="15073"/>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09" name="asset_3169_19">
              <a:extLst>
                <a:ext uri="{FF2B5EF4-FFF2-40B4-BE49-F238E27FC236}">
                  <a16:creationId xmlns:a16="http://schemas.microsoft.com/office/drawing/2014/main" id="{872FD139-9635-FDD4-0722-4E5EEB72AC26}"/>
                </a:ext>
              </a:extLst>
            </p:cNvPr>
            <p:cNvSpPr>
              <a:spLocks noGrp="1"/>
            </p:cNvSpPr>
            <p:nvPr/>
          </p:nvSpPr>
          <p:spPr>
            <a:xfrm>
              <a:off x="2264745" y="5672793"/>
              <a:ext cx="22335" cy="19272"/>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10" name="asset_3169_20">
              <a:extLst>
                <a:ext uri="{FF2B5EF4-FFF2-40B4-BE49-F238E27FC236}">
                  <a16:creationId xmlns:a16="http://schemas.microsoft.com/office/drawing/2014/main" id="{2F589805-2015-0C9E-B861-49E63A36CA16}"/>
                </a:ext>
              </a:extLst>
            </p:cNvPr>
            <p:cNvSpPr>
              <a:spLocks noGrp="1"/>
            </p:cNvSpPr>
            <p:nvPr/>
          </p:nvSpPr>
          <p:spPr>
            <a:xfrm>
              <a:off x="2247802" y="5671816"/>
              <a:ext cx="29288" cy="25271"/>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11" name="asset_3169_21">
              <a:extLst>
                <a:ext uri="{FF2B5EF4-FFF2-40B4-BE49-F238E27FC236}">
                  <a16:creationId xmlns:a16="http://schemas.microsoft.com/office/drawing/2014/main" id="{0ACA986A-AF7E-C441-DA61-138FBBAA71F8}"/>
                </a:ext>
              </a:extLst>
            </p:cNvPr>
            <p:cNvSpPr>
              <a:spLocks noGrp="1"/>
            </p:cNvSpPr>
            <p:nvPr/>
          </p:nvSpPr>
          <p:spPr>
            <a:xfrm>
              <a:off x="2221472" y="5673188"/>
              <a:ext cx="24803" cy="21401"/>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12" name="asset_3169_22">
              <a:extLst>
                <a:ext uri="{FF2B5EF4-FFF2-40B4-BE49-F238E27FC236}">
                  <a16:creationId xmlns:a16="http://schemas.microsoft.com/office/drawing/2014/main" id="{2D9591FC-2B85-F680-E4CA-E6BD7F3D89C9}"/>
                </a:ext>
              </a:extLst>
            </p:cNvPr>
            <p:cNvSpPr>
              <a:spLocks noGrp="1"/>
            </p:cNvSpPr>
            <p:nvPr/>
          </p:nvSpPr>
          <p:spPr>
            <a:xfrm>
              <a:off x="2231057" y="5701581"/>
              <a:ext cx="27548" cy="23769"/>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13" name="asset_3169_23">
              <a:extLst>
                <a:ext uri="{FF2B5EF4-FFF2-40B4-BE49-F238E27FC236}">
                  <a16:creationId xmlns:a16="http://schemas.microsoft.com/office/drawing/2014/main" id="{891DB7BF-9124-5E80-DEA3-AF8496902287}"/>
                </a:ext>
              </a:extLst>
            </p:cNvPr>
            <p:cNvSpPr>
              <a:spLocks noGrp="1"/>
            </p:cNvSpPr>
            <p:nvPr/>
          </p:nvSpPr>
          <p:spPr>
            <a:xfrm>
              <a:off x="2264932" y="5667506"/>
              <a:ext cx="28421" cy="24522"/>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14" name="asset_3169_24">
              <a:extLst>
                <a:ext uri="{FF2B5EF4-FFF2-40B4-BE49-F238E27FC236}">
                  <a16:creationId xmlns:a16="http://schemas.microsoft.com/office/drawing/2014/main" id="{DE52E28A-6354-BE95-3C9A-A2C66025A871}"/>
                </a:ext>
              </a:extLst>
            </p:cNvPr>
            <p:cNvSpPr>
              <a:spLocks noGrp="1"/>
            </p:cNvSpPr>
            <p:nvPr/>
          </p:nvSpPr>
          <p:spPr>
            <a:xfrm>
              <a:off x="2231286" y="5661727"/>
              <a:ext cx="25293" cy="21823"/>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15" name="asset_3169_25">
              <a:extLst>
                <a:ext uri="{FF2B5EF4-FFF2-40B4-BE49-F238E27FC236}">
                  <a16:creationId xmlns:a16="http://schemas.microsoft.com/office/drawing/2014/main" id="{7988D7F5-9FD3-DE02-AC43-2C9102A603D8}"/>
                </a:ext>
              </a:extLst>
            </p:cNvPr>
            <p:cNvSpPr>
              <a:spLocks noGrp="1"/>
            </p:cNvSpPr>
            <p:nvPr/>
          </p:nvSpPr>
          <p:spPr>
            <a:xfrm>
              <a:off x="2203520" y="5678934"/>
              <a:ext cx="26056" cy="22482"/>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16" name="asset_3169_26">
              <a:extLst>
                <a:ext uri="{FF2B5EF4-FFF2-40B4-BE49-F238E27FC236}">
                  <a16:creationId xmlns:a16="http://schemas.microsoft.com/office/drawing/2014/main" id="{C7CB8EF7-313A-8E8C-6DD1-7BDC7D92CCB0}"/>
                </a:ext>
              </a:extLst>
            </p:cNvPr>
            <p:cNvSpPr>
              <a:spLocks noGrp="1"/>
            </p:cNvSpPr>
            <p:nvPr/>
          </p:nvSpPr>
          <p:spPr>
            <a:xfrm>
              <a:off x="2258761" y="5717055"/>
              <a:ext cx="20939" cy="18067"/>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17" name="asset_3169_27">
              <a:extLst>
                <a:ext uri="{FF2B5EF4-FFF2-40B4-BE49-F238E27FC236}">
                  <a16:creationId xmlns:a16="http://schemas.microsoft.com/office/drawing/2014/main" id="{73BCC20B-1FDA-F412-4DD8-A25B3302BB21}"/>
                </a:ext>
              </a:extLst>
            </p:cNvPr>
            <p:cNvSpPr>
              <a:spLocks noGrp="1"/>
            </p:cNvSpPr>
            <p:nvPr/>
          </p:nvSpPr>
          <p:spPr>
            <a:xfrm>
              <a:off x="2262469" y="5681666"/>
              <a:ext cx="24125" cy="20816"/>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18" name="asset_3169_28">
              <a:extLst>
                <a:ext uri="{FF2B5EF4-FFF2-40B4-BE49-F238E27FC236}">
                  <a16:creationId xmlns:a16="http://schemas.microsoft.com/office/drawing/2014/main" id="{AF33B019-3B06-5B18-D90B-E00C3F3EDB2C}"/>
                </a:ext>
              </a:extLst>
            </p:cNvPr>
            <p:cNvSpPr>
              <a:spLocks noGrp="1"/>
            </p:cNvSpPr>
            <p:nvPr/>
          </p:nvSpPr>
          <p:spPr>
            <a:xfrm>
              <a:off x="2238082" y="5671347"/>
              <a:ext cx="27389" cy="23632"/>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19" name="asset_3169_29">
              <a:extLst>
                <a:ext uri="{FF2B5EF4-FFF2-40B4-BE49-F238E27FC236}">
                  <a16:creationId xmlns:a16="http://schemas.microsoft.com/office/drawing/2014/main" id="{0FB4133A-9D97-E251-1B43-C62FA8130666}"/>
                </a:ext>
              </a:extLst>
            </p:cNvPr>
            <p:cNvSpPr>
              <a:spLocks noGrp="1"/>
            </p:cNvSpPr>
            <p:nvPr/>
          </p:nvSpPr>
          <p:spPr>
            <a:xfrm>
              <a:off x="2220795" y="5698579"/>
              <a:ext cx="25648" cy="22130"/>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20" name="asset_3169_30">
              <a:extLst>
                <a:ext uri="{FF2B5EF4-FFF2-40B4-BE49-F238E27FC236}">
                  <a16:creationId xmlns:a16="http://schemas.microsoft.com/office/drawing/2014/main" id="{69D50226-8CEE-09CA-92F4-EA747B547FF4}"/>
                </a:ext>
              </a:extLst>
            </p:cNvPr>
            <p:cNvSpPr>
              <a:spLocks noGrp="1"/>
            </p:cNvSpPr>
            <p:nvPr/>
          </p:nvSpPr>
          <p:spPr>
            <a:xfrm>
              <a:off x="2243067" y="5723084"/>
              <a:ext cx="17688" cy="15262"/>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21" name="asset_3169_31">
              <a:extLst>
                <a:ext uri="{FF2B5EF4-FFF2-40B4-BE49-F238E27FC236}">
                  <a16:creationId xmlns:a16="http://schemas.microsoft.com/office/drawing/2014/main" id="{8D9ECD96-25F9-4FC6-1C5E-5B500507A23C}"/>
                </a:ext>
              </a:extLst>
            </p:cNvPr>
            <p:cNvSpPr>
              <a:spLocks noGrp="1"/>
            </p:cNvSpPr>
            <p:nvPr/>
          </p:nvSpPr>
          <p:spPr>
            <a:xfrm>
              <a:off x="2257337" y="5659622"/>
              <a:ext cx="26336" cy="22723"/>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22" name="asset_3169_32">
              <a:extLst>
                <a:ext uri="{FF2B5EF4-FFF2-40B4-BE49-F238E27FC236}">
                  <a16:creationId xmlns:a16="http://schemas.microsoft.com/office/drawing/2014/main" id="{791FDFAC-6025-C51A-7F75-7437ACC6E354}"/>
                </a:ext>
              </a:extLst>
            </p:cNvPr>
            <p:cNvSpPr>
              <a:spLocks noGrp="1"/>
            </p:cNvSpPr>
            <p:nvPr/>
          </p:nvSpPr>
          <p:spPr>
            <a:xfrm>
              <a:off x="2256492" y="5666095"/>
              <a:ext cx="23460" cy="20242"/>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23" name="asset_3169_33">
              <a:extLst>
                <a:ext uri="{FF2B5EF4-FFF2-40B4-BE49-F238E27FC236}">
                  <a16:creationId xmlns:a16="http://schemas.microsoft.com/office/drawing/2014/main" id="{DA973672-CCD0-6C59-1B34-7C6CC5E48F20}"/>
                </a:ext>
              </a:extLst>
            </p:cNvPr>
            <p:cNvSpPr>
              <a:spLocks noGrp="1"/>
            </p:cNvSpPr>
            <p:nvPr/>
          </p:nvSpPr>
          <p:spPr>
            <a:xfrm>
              <a:off x="2210503" y="5688799"/>
              <a:ext cx="30840" cy="26610"/>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24" name="asset_3169_34">
              <a:extLst>
                <a:ext uri="{FF2B5EF4-FFF2-40B4-BE49-F238E27FC236}">
                  <a16:creationId xmlns:a16="http://schemas.microsoft.com/office/drawing/2014/main" id="{43DD86C8-6E09-99CE-6266-42DC4FA64456}"/>
                </a:ext>
              </a:extLst>
            </p:cNvPr>
            <p:cNvSpPr>
              <a:spLocks noGrp="1"/>
            </p:cNvSpPr>
            <p:nvPr/>
          </p:nvSpPr>
          <p:spPr>
            <a:xfrm>
              <a:off x="2236186" y="5705144"/>
              <a:ext cx="22611" cy="19510"/>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25" name="asset_3169_35">
              <a:extLst>
                <a:ext uri="{FF2B5EF4-FFF2-40B4-BE49-F238E27FC236}">
                  <a16:creationId xmlns:a16="http://schemas.microsoft.com/office/drawing/2014/main" id="{D769467D-EEAF-B1AF-7AC6-68CC2D0F1288}"/>
                </a:ext>
              </a:extLst>
            </p:cNvPr>
            <p:cNvSpPr>
              <a:spLocks noGrp="1"/>
            </p:cNvSpPr>
            <p:nvPr/>
          </p:nvSpPr>
          <p:spPr>
            <a:xfrm>
              <a:off x="2260671" y="5685042"/>
              <a:ext cx="19267" cy="16624"/>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26" name="asset_3169_36">
              <a:extLst>
                <a:ext uri="{FF2B5EF4-FFF2-40B4-BE49-F238E27FC236}">
                  <a16:creationId xmlns:a16="http://schemas.microsoft.com/office/drawing/2014/main" id="{445AF884-4EC3-E477-DB0C-E7BACF22251A}"/>
                </a:ext>
              </a:extLst>
            </p:cNvPr>
            <p:cNvSpPr>
              <a:spLocks noGrp="1"/>
            </p:cNvSpPr>
            <p:nvPr/>
          </p:nvSpPr>
          <p:spPr>
            <a:xfrm>
              <a:off x="2255827" y="5658297"/>
              <a:ext cx="24486" cy="21128"/>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27" name="asset_3169_37">
              <a:extLst>
                <a:ext uri="{FF2B5EF4-FFF2-40B4-BE49-F238E27FC236}">
                  <a16:creationId xmlns:a16="http://schemas.microsoft.com/office/drawing/2014/main" id="{8548860C-336A-E8E6-C08F-A2EC53A5F6C5}"/>
                </a:ext>
              </a:extLst>
            </p:cNvPr>
            <p:cNvSpPr>
              <a:spLocks noGrp="1"/>
            </p:cNvSpPr>
            <p:nvPr/>
          </p:nvSpPr>
          <p:spPr>
            <a:xfrm>
              <a:off x="2212444" y="5679829"/>
              <a:ext cx="19456" cy="16787"/>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28" name="asset_3169_38">
              <a:extLst>
                <a:ext uri="{FF2B5EF4-FFF2-40B4-BE49-F238E27FC236}">
                  <a16:creationId xmlns:a16="http://schemas.microsoft.com/office/drawing/2014/main" id="{648DC38E-0310-9E0E-37D3-5E74B6EF35F1}"/>
                </a:ext>
              </a:extLst>
            </p:cNvPr>
            <p:cNvSpPr>
              <a:spLocks noGrp="1"/>
            </p:cNvSpPr>
            <p:nvPr/>
          </p:nvSpPr>
          <p:spPr>
            <a:xfrm>
              <a:off x="2240936" y="5686210"/>
              <a:ext cx="21405" cy="18469"/>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29" name="asset_3169_39">
              <a:extLst>
                <a:ext uri="{FF2B5EF4-FFF2-40B4-BE49-F238E27FC236}">
                  <a16:creationId xmlns:a16="http://schemas.microsoft.com/office/drawing/2014/main" id="{ACB0B137-A9B7-8555-0594-4839D4EE1AF5}"/>
                </a:ext>
              </a:extLst>
            </p:cNvPr>
            <p:cNvSpPr>
              <a:spLocks noGrp="1"/>
            </p:cNvSpPr>
            <p:nvPr/>
          </p:nvSpPr>
          <p:spPr>
            <a:xfrm>
              <a:off x="2265093" y="5678881"/>
              <a:ext cx="26532" cy="22893"/>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30" name="asset_3169_40">
              <a:extLst>
                <a:ext uri="{FF2B5EF4-FFF2-40B4-BE49-F238E27FC236}">
                  <a16:creationId xmlns:a16="http://schemas.microsoft.com/office/drawing/2014/main" id="{CB82A286-4EA7-C723-174F-A005964CF56B}"/>
                </a:ext>
              </a:extLst>
            </p:cNvPr>
            <p:cNvSpPr>
              <a:spLocks noGrp="1"/>
            </p:cNvSpPr>
            <p:nvPr/>
          </p:nvSpPr>
          <p:spPr>
            <a:xfrm>
              <a:off x="2229701" y="5665168"/>
              <a:ext cx="29465" cy="25424"/>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31" name="asset_3169_41">
              <a:extLst>
                <a:ext uri="{FF2B5EF4-FFF2-40B4-BE49-F238E27FC236}">
                  <a16:creationId xmlns:a16="http://schemas.microsoft.com/office/drawing/2014/main" id="{1E67FB97-244C-14BD-73A9-CA2F9B1E24BA}"/>
                </a:ext>
              </a:extLst>
            </p:cNvPr>
            <p:cNvSpPr>
              <a:spLocks noGrp="1"/>
            </p:cNvSpPr>
            <p:nvPr/>
          </p:nvSpPr>
          <p:spPr>
            <a:xfrm>
              <a:off x="2222658" y="5680582"/>
              <a:ext cx="27660" cy="23866"/>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32" name="asset_3169_42">
              <a:extLst>
                <a:ext uri="{FF2B5EF4-FFF2-40B4-BE49-F238E27FC236}">
                  <a16:creationId xmlns:a16="http://schemas.microsoft.com/office/drawing/2014/main" id="{417A6C45-6CB7-5380-B441-87E54399F7F7}"/>
                </a:ext>
              </a:extLst>
            </p:cNvPr>
            <p:cNvSpPr>
              <a:spLocks noGrp="1"/>
            </p:cNvSpPr>
            <p:nvPr/>
          </p:nvSpPr>
          <p:spPr>
            <a:xfrm>
              <a:off x="2243804" y="5697201"/>
              <a:ext cx="17846" cy="15398"/>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33" name="asset_3169_43">
              <a:extLst>
                <a:ext uri="{FF2B5EF4-FFF2-40B4-BE49-F238E27FC236}">
                  <a16:creationId xmlns:a16="http://schemas.microsoft.com/office/drawing/2014/main" id="{5A16B6AC-2250-FE07-B0D3-1B193E4DFACB}"/>
                </a:ext>
              </a:extLst>
            </p:cNvPr>
            <p:cNvSpPr>
              <a:spLocks noGrp="1"/>
            </p:cNvSpPr>
            <p:nvPr/>
          </p:nvSpPr>
          <p:spPr>
            <a:xfrm>
              <a:off x="2262800" y="5690235"/>
              <a:ext cx="21180" cy="18275"/>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34" name="asset_3169_44">
              <a:extLst>
                <a:ext uri="{FF2B5EF4-FFF2-40B4-BE49-F238E27FC236}">
                  <a16:creationId xmlns:a16="http://schemas.microsoft.com/office/drawing/2014/main" id="{081C5E26-7488-869A-618E-1092033F59C2}"/>
                </a:ext>
              </a:extLst>
            </p:cNvPr>
            <p:cNvSpPr>
              <a:spLocks noGrp="1"/>
            </p:cNvSpPr>
            <p:nvPr/>
          </p:nvSpPr>
          <p:spPr>
            <a:xfrm>
              <a:off x="2235058" y="5658630"/>
              <a:ext cx="25840" cy="22296"/>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35" name="asset_3169_45">
              <a:extLst>
                <a:ext uri="{FF2B5EF4-FFF2-40B4-BE49-F238E27FC236}">
                  <a16:creationId xmlns:a16="http://schemas.microsoft.com/office/drawing/2014/main" id="{41A170EA-8B41-0DF1-E7EA-2AB990478A77}"/>
                </a:ext>
              </a:extLst>
            </p:cNvPr>
            <p:cNvSpPr>
              <a:spLocks noGrp="1"/>
            </p:cNvSpPr>
            <p:nvPr/>
          </p:nvSpPr>
          <p:spPr>
            <a:xfrm>
              <a:off x="2211228" y="5681493"/>
              <a:ext cx="31451" cy="27137"/>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36" name="asset_3169_46">
              <a:extLst>
                <a:ext uri="{FF2B5EF4-FFF2-40B4-BE49-F238E27FC236}">
                  <a16:creationId xmlns:a16="http://schemas.microsoft.com/office/drawing/2014/main" id="{32D1B9BF-5325-26AF-BAA9-BBD6B30B328F}"/>
                </a:ext>
              </a:extLst>
            </p:cNvPr>
            <p:cNvSpPr>
              <a:spLocks noGrp="1"/>
            </p:cNvSpPr>
            <p:nvPr/>
          </p:nvSpPr>
          <p:spPr>
            <a:xfrm>
              <a:off x="2234524" y="5703451"/>
              <a:ext cx="21739" cy="18757"/>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37" name="asset_3169_47">
              <a:extLst>
                <a:ext uri="{FF2B5EF4-FFF2-40B4-BE49-F238E27FC236}">
                  <a16:creationId xmlns:a16="http://schemas.microsoft.com/office/drawing/2014/main" id="{19954402-7CDC-A852-CA61-629A3E0C394F}"/>
                </a:ext>
              </a:extLst>
            </p:cNvPr>
            <p:cNvSpPr>
              <a:spLocks noGrp="1"/>
            </p:cNvSpPr>
            <p:nvPr/>
          </p:nvSpPr>
          <p:spPr>
            <a:xfrm>
              <a:off x="2269639" y="5693556"/>
              <a:ext cx="19299" cy="16652"/>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38" name="asset_3169_48">
              <a:extLst>
                <a:ext uri="{FF2B5EF4-FFF2-40B4-BE49-F238E27FC236}">
                  <a16:creationId xmlns:a16="http://schemas.microsoft.com/office/drawing/2014/main" id="{41D1840A-7225-0A6F-EB5F-EF20E870D9CF}"/>
                </a:ext>
              </a:extLst>
            </p:cNvPr>
            <p:cNvSpPr>
              <a:spLocks noGrp="1"/>
            </p:cNvSpPr>
            <p:nvPr/>
          </p:nvSpPr>
          <p:spPr>
            <a:xfrm>
              <a:off x="2221813" y="5667367"/>
              <a:ext cx="17021" cy="14686"/>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39" name="asset_3169_49">
              <a:extLst>
                <a:ext uri="{FF2B5EF4-FFF2-40B4-BE49-F238E27FC236}">
                  <a16:creationId xmlns:a16="http://schemas.microsoft.com/office/drawing/2014/main" id="{FB9EBEA7-2F90-78C6-B9FF-085239FF7530}"/>
                </a:ext>
              </a:extLst>
            </p:cNvPr>
            <p:cNvSpPr>
              <a:spLocks noGrp="1"/>
            </p:cNvSpPr>
            <p:nvPr/>
          </p:nvSpPr>
          <p:spPr>
            <a:xfrm>
              <a:off x="2208530" y="5668919"/>
              <a:ext cx="27524" cy="23749"/>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40" name="asset_3169_50">
              <a:extLst>
                <a:ext uri="{FF2B5EF4-FFF2-40B4-BE49-F238E27FC236}">
                  <a16:creationId xmlns:a16="http://schemas.microsoft.com/office/drawing/2014/main" id="{7ED9E287-6110-2BD8-91C3-3424DDB48479}"/>
                </a:ext>
              </a:extLst>
            </p:cNvPr>
            <p:cNvSpPr>
              <a:spLocks noGrp="1"/>
            </p:cNvSpPr>
            <p:nvPr/>
          </p:nvSpPr>
          <p:spPr>
            <a:xfrm>
              <a:off x="2251433" y="5689815"/>
              <a:ext cx="17431" cy="15040"/>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41" name="asset_3169_51">
              <a:extLst>
                <a:ext uri="{FF2B5EF4-FFF2-40B4-BE49-F238E27FC236}">
                  <a16:creationId xmlns:a16="http://schemas.microsoft.com/office/drawing/2014/main" id="{0A5D16C0-E9EB-7A6D-D123-3915E88A78A9}"/>
                </a:ext>
              </a:extLst>
            </p:cNvPr>
            <p:cNvSpPr>
              <a:spLocks noGrp="1"/>
            </p:cNvSpPr>
            <p:nvPr/>
          </p:nvSpPr>
          <p:spPr>
            <a:xfrm>
              <a:off x="2187720" y="5657778"/>
              <a:ext cx="125096" cy="109062"/>
            </a:xfrm>
            <a:custGeom>
              <a:avLst/>
              <a:gdLst/>
              <a:ahLst/>
              <a:cxnLst/>
              <a:rect l="0" t="0" r="0" b="0"/>
              <a:pathLst>
                <a:path w="125096" h="109062">
                  <a:moveTo>
                    <a:pt x="0" y="0"/>
                  </a:moveTo>
                  <a:lnTo>
                    <a:pt x="125096" y="0"/>
                  </a:lnTo>
                  <a:lnTo>
                    <a:pt x="125096" y="109062"/>
                  </a:lnTo>
                  <a:lnTo>
                    <a:pt x="0" y="109062"/>
                  </a:lnTo>
                  <a:close/>
                </a:path>
              </a:pathLst>
            </a:custGeom>
            <a:noFill/>
            <a:ln w="3600">
              <a:solidFill>
                <a:srgbClr val="8AB3D9"/>
              </a:solidFill>
            </a:ln>
          </p:spPr>
        </p:sp>
      </p:grpSp>
      <p:sp>
        <p:nvSpPr>
          <p:cNvPr id="1242" name="TextBox 12306">
            <a:extLst>
              <a:ext uri="{FF2B5EF4-FFF2-40B4-BE49-F238E27FC236}">
                <a16:creationId xmlns:a16="http://schemas.microsoft.com/office/drawing/2014/main" id="{B61D0A30-984F-5F1D-C0E3-4ED5D4539DF2}"/>
              </a:ext>
            </a:extLst>
          </p:cNvPr>
          <p:cNvSpPr txBox="1"/>
          <p:nvPr/>
        </p:nvSpPr>
        <p:spPr>
          <a:xfrm>
            <a:off x="5270490" y="2150246"/>
            <a:ext cx="819150" cy="93744"/>
          </a:xfrm>
          <a:prstGeom prst="rect">
            <a:avLst/>
          </a:prstGeom>
          <a:noFill/>
        </p:spPr>
        <p:txBody>
          <a:bodyPr wrap="square" lIns="0" tIns="0" rIns="0" bIns="0" anchor="ctr">
            <a:spAutoFit/>
          </a:bodyPr>
          <a:lstStyle/>
          <a:p>
            <a:pPr algn="l">
              <a:lnSpc>
                <a:spcPct val="105000"/>
              </a:lnSpc>
            </a:pPr>
            <a:r>
              <a:rPr sz="623" b="1" dirty="0" err="1">
                <a:solidFill>
                  <a:srgbClr val="263442"/>
                </a:solidFill>
                <a:latin typeface="Arial"/>
              </a:rPr>
              <a:t>DG-PocketXMol</a:t>
            </a:r>
            <a:endParaRPr sz="623" b="1" dirty="0">
              <a:solidFill>
                <a:srgbClr val="263442"/>
              </a:solidFill>
              <a:latin typeface="Arial"/>
            </a:endParaRPr>
          </a:p>
        </p:txBody>
      </p:sp>
      <p:sp>
        <p:nvSpPr>
          <p:cNvPr id="1243" name="TextBox 12307">
            <a:extLst>
              <a:ext uri="{FF2B5EF4-FFF2-40B4-BE49-F238E27FC236}">
                <a16:creationId xmlns:a16="http://schemas.microsoft.com/office/drawing/2014/main" id="{50E4F9BE-39D5-3572-2B27-7015D0FE756B}"/>
              </a:ext>
            </a:extLst>
          </p:cNvPr>
          <p:cNvSpPr txBox="1"/>
          <p:nvPr/>
        </p:nvSpPr>
        <p:spPr>
          <a:xfrm>
            <a:off x="5270983" y="2305119"/>
            <a:ext cx="819150" cy="163763"/>
          </a:xfrm>
          <a:prstGeom prst="rect">
            <a:avLst/>
          </a:prstGeom>
          <a:noFill/>
        </p:spPr>
        <p:txBody>
          <a:bodyPr wrap="square" lIns="0" tIns="0" rIns="0" bIns="0" anchor="ctr">
            <a:spAutoFit/>
          </a:bodyPr>
          <a:lstStyle/>
          <a:p>
            <a:pPr algn="l">
              <a:lnSpc>
                <a:spcPct val="96000"/>
              </a:lnSpc>
            </a:pPr>
            <a:r>
              <a:rPr sz="554" dirty="0">
                <a:solidFill>
                  <a:srgbClr val="263442"/>
                </a:solidFill>
                <a:latin typeface="Arial"/>
              </a:rPr>
              <a:t>Density-conditioned</a:t>
            </a:r>
            <a:endParaRPr lang="en-US" sz="554" dirty="0">
              <a:solidFill>
                <a:srgbClr val="263442"/>
              </a:solidFill>
              <a:latin typeface="Arial"/>
            </a:endParaRPr>
          </a:p>
          <a:p>
            <a:pPr algn="l">
              <a:lnSpc>
                <a:spcPct val="96000"/>
              </a:lnSpc>
            </a:pPr>
            <a:r>
              <a:rPr sz="554" dirty="0">
                <a:solidFill>
                  <a:srgbClr val="263442"/>
                </a:solidFill>
                <a:latin typeface="Arial"/>
              </a:rPr>
              <a:t>fine-tuning</a:t>
            </a:r>
          </a:p>
        </p:txBody>
      </p:sp>
      <p:grpSp>
        <p:nvGrpSpPr>
          <p:cNvPr id="1248" name="Unified flow and feature elements">
            <a:extLst>
              <a:ext uri="{FF2B5EF4-FFF2-40B4-BE49-F238E27FC236}">
                <a16:creationId xmlns:a16="http://schemas.microsoft.com/office/drawing/2014/main" id="{DA74696D-FF4F-021F-A459-9CD0851351CF}"/>
              </a:ext>
            </a:extLst>
          </p:cNvPr>
          <p:cNvGrpSpPr/>
          <p:nvPr/>
        </p:nvGrpSpPr>
        <p:grpSpPr>
          <a:xfrm>
            <a:off x="966222" y="284723"/>
            <a:ext cx="3748525" cy="3967446"/>
            <a:chOff x="2272349" y="669608"/>
            <a:chExt cx="8815739" cy="9330594"/>
          </a:xfrm>
        </p:grpSpPr>
        <p:sp>
          <p:nvSpPr>
            <p:cNvPr id="1249" name="Preprocessing refined">
              <a:extLst>
                <a:ext uri="{FF2B5EF4-FFF2-40B4-BE49-F238E27FC236}">
                  <a16:creationId xmlns:a16="http://schemas.microsoft.com/office/drawing/2014/main" id="{A3A31885-181B-CF24-BE30-3ED8DAACE460}"/>
                </a:ext>
              </a:extLst>
            </p:cNvPr>
            <p:cNvSpPr>
              <a:spLocks noGrp="1"/>
            </p:cNvSpPr>
            <p:nvPr/>
          </p:nvSpPr>
          <p:spPr>
            <a:xfrm>
              <a:off x="3192811" y="669608"/>
              <a:ext cx="1028701" cy="3460433"/>
            </a:xfrm>
            <a:prstGeom prst="roundRect">
              <a:avLst>
                <a:gd name="adj" fmla="val 6481"/>
              </a:avLst>
            </a:prstGeom>
            <a:solidFill>
              <a:srgbClr val="E8EFF7"/>
            </a:solidFill>
            <a:ln w="7290">
              <a:solidFill>
                <a:srgbClr val="C4D1E1"/>
              </a:solidFill>
            </a:ln>
          </p:spPr>
        </p:sp>
        <p:sp>
          <p:nvSpPr>
            <p:cNvPr id="1250" name="Preprocessing divider refined">
              <a:extLst>
                <a:ext uri="{FF2B5EF4-FFF2-40B4-BE49-F238E27FC236}">
                  <a16:creationId xmlns:a16="http://schemas.microsoft.com/office/drawing/2014/main" id="{E21BD2F9-92DD-96F0-3AAF-0957638A49FB}"/>
                </a:ext>
              </a:extLst>
            </p:cNvPr>
            <p:cNvSpPr>
              <a:spLocks noGrp="1"/>
            </p:cNvSpPr>
            <p:nvPr/>
          </p:nvSpPr>
          <p:spPr>
            <a:xfrm>
              <a:off x="3269449" y="2418363"/>
              <a:ext cx="800100" cy="190"/>
            </a:xfrm>
            <a:custGeom>
              <a:avLst/>
              <a:gdLst/>
              <a:ahLst/>
              <a:cxnLst/>
              <a:rect l="0" t="0" r="0" b="0"/>
              <a:pathLst>
                <a:path w="800100" h="191">
                  <a:moveTo>
                    <a:pt x="0" y="0"/>
                  </a:moveTo>
                  <a:lnTo>
                    <a:pt x="800100" y="0"/>
                  </a:lnTo>
                </a:path>
              </a:pathLst>
            </a:custGeom>
            <a:noFill/>
            <a:ln w="6075">
              <a:solidFill>
                <a:srgbClr val="C4D1E1"/>
              </a:solidFill>
              <a:prstDash val="solid"/>
            </a:ln>
          </p:spPr>
        </p:sp>
        <p:sp>
          <p:nvSpPr>
            <p:cNvPr id="1251" name="Density bank refined">
              <a:extLst>
                <a:ext uri="{FF2B5EF4-FFF2-40B4-BE49-F238E27FC236}">
                  <a16:creationId xmlns:a16="http://schemas.microsoft.com/office/drawing/2014/main" id="{1E51E71A-A2BC-0776-E4CA-D30FBB1BE241}"/>
                </a:ext>
              </a:extLst>
            </p:cNvPr>
            <p:cNvSpPr>
              <a:spLocks noGrp="1"/>
            </p:cNvSpPr>
            <p:nvPr/>
          </p:nvSpPr>
          <p:spPr>
            <a:xfrm>
              <a:off x="3230999" y="695478"/>
              <a:ext cx="990599" cy="457199"/>
            </a:xfrm>
            <a:prstGeom prst="rect">
              <a:avLst/>
            </a:prstGeom>
            <a:noFill/>
            <a:ln w="7290">
              <a:noFill/>
            </a:ln>
          </p:spPr>
          <p:txBody>
            <a:bodyPr lIns="0" tIns="0" rIns="0" bIns="0" anchor="ctr"/>
            <a:lstStyle>
              <a:defPPr algn="ctr">
                <a:defRPr sz="612">
                  <a:solidFill>
                    <a:srgbClr val="263442"/>
                  </a:solidFill>
                  <a:latin typeface="Arial"/>
                  <a:ea typeface="Arial"/>
                  <a:cs typeface="Arial"/>
                </a:defRPr>
              </a:defPPr>
              <a:lvl1pPr algn="ctr">
                <a:defRPr sz="612">
                  <a:solidFill>
                    <a:srgbClr val="263442"/>
                  </a:solidFill>
                  <a:latin typeface="Arial"/>
                  <a:ea typeface="Arial"/>
                  <a:cs typeface="Arial"/>
                </a:defRPr>
              </a:lvl1pPr>
              <a:lvl2pPr algn="ctr">
                <a:defRPr sz="612">
                  <a:solidFill>
                    <a:srgbClr val="263442"/>
                  </a:solidFill>
                  <a:latin typeface="Arial"/>
                  <a:ea typeface="Arial"/>
                  <a:cs typeface="Arial"/>
                </a:defRPr>
              </a:lvl2pPr>
              <a:lvl3pPr algn="ctr">
                <a:defRPr sz="612">
                  <a:solidFill>
                    <a:srgbClr val="263442"/>
                  </a:solidFill>
                  <a:latin typeface="Arial"/>
                  <a:ea typeface="Arial"/>
                  <a:cs typeface="Arial"/>
                </a:defRPr>
              </a:lvl3pPr>
              <a:lvl4pPr algn="ctr">
                <a:defRPr sz="612">
                  <a:solidFill>
                    <a:srgbClr val="263442"/>
                  </a:solidFill>
                  <a:latin typeface="Arial"/>
                  <a:ea typeface="Arial"/>
                  <a:cs typeface="Arial"/>
                </a:defRPr>
              </a:lvl4pPr>
              <a:lvl5pPr algn="ctr">
                <a:defRPr sz="612">
                  <a:solidFill>
                    <a:srgbClr val="263442"/>
                  </a:solidFill>
                  <a:latin typeface="Arial"/>
                  <a:ea typeface="Arial"/>
                  <a:cs typeface="Arial"/>
                </a:defRPr>
              </a:lvl5pPr>
              <a:lvl6pPr algn="ctr">
                <a:defRPr sz="612">
                  <a:solidFill>
                    <a:srgbClr val="263442"/>
                  </a:solidFill>
                  <a:latin typeface="Arial"/>
                  <a:ea typeface="Arial"/>
                  <a:cs typeface="Arial"/>
                </a:defRPr>
              </a:lvl6pPr>
              <a:lvl7pPr algn="ctr">
                <a:defRPr sz="612">
                  <a:solidFill>
                    <a:srgbClr val="263442"/>
                  </a:solidFill>
                  <a:latin typeface="Arial"/>
                  <a:ea typeface="Arial"/>
                  <a:cs typeface="Arial"/>
                </a:defRPr>
              </a:lvl7pPr>
              <a:lvl8pPr algn="ctr">
                <a:defRPr sz="612">
                  <a:solidFill>
                    <a:srgbClr val="263442"/>
                  </a:solidFill>
                  <a:latin typeface="Arial"/>
                  <a:ea typeface="Arial"/>
                  <a:cs typeface="Arial"/>
                </a:defRPr>
              </a:lvl8pPr>
              <a:lvl9pPr algn="ctr">
                <a:defRPr sz="612">
                  <a:solidFill>
                    <a:srgbClr val="263442"/>
                  </a:solidFill>
                  <a:latin typeface="Arial"/>
                  <a:ea typeface="Arial"/>
                  <a:cs typeface="Arial"/>
                </a:defRPr>
              </a:lvl9pPr>
            </a:lstStyle>
            <a:p>
              <a:pPr algn="ctr">
                <a:defRPr sz="612">
                  <a:solidFill>
                    <a:srgbClr val="263442"/>
                  </a:solidFill>
                  <a:latin typeface="Arial"/>
                  <a:ea typeface="Arial"/>
                  <a:cs typeface="Arial"/>
                </a:defRPr>
              </a:pPr>
              <a:r>
                <a:rPr sz="550" dirty="0">
                  <a:solidFill>
                    <a:srgbClr val="263442"/>
                  </a:solidFill>
                  <a:latin typeface="Arial"/>
                  <a:ea typeface="Arial"/>
                  <a:cs typeface="Arial"/>
                </a:rPr>
                <a:t>Density</a:t>
              </a:r>
            </a:p>
            <a:p>
              <a:pPr algn="ctr">
                <a:defRPr sz="612">
                  <a:solidFill>
                    <a:srgbClr val="263442"/>
                  </a:solidFill>
                  <a:latin typeface="Arial"/>
                  <a:ea typeface="Arial"/>
                  <a:cs typeface="Arial"/>
                </a:defRPr>
              </a:pPr>
              <a:r>
                <a:rPr lang="en-US" sz="550" dirty="0">
                  <a:solidFill>
                    <a:srgbClr val="263442"/>
                  </a:solidFill>
                  <a:latin typeface="Arial"/>
                  <a:ea typeface="Arial"/>
                  <a:cs typeface="Arial"/>
                </a:rPr>
                <a:t>B</a:t>
              </a:r>
              <a:r>
                <a:rPr sz="550" dirty="0">
                  <a:solidFill>
                    <a:srgbClr val="263442"/>
                  </a:solidFill>
                  <a:latin typeface="Arial"/>
                  <a:ea typeface="Arial"/>
                  <a:cs typeface="Arial"/>
                </a:rPr>
                <a:t>ank</a:t>
              </a:r>
            </a:p>
          </p:txBody>
        </p:sp>
        <p:sp>
          <p:nvSpPr>
            <p:cNvPr id="1252" name="Embedding head refined">
              <a:extLst>
                <a:ext uri="{FF2B5EF4-FFF2-40B4-BE49-F238E27FC236}">
                  <a16:creationId xmlns:a16="http://schemas.microsoft.com/office/drawing/2014/main" id="{58C61B38-F8DB-1F98-DEE4-C9D7130E2730}"/>
                </a:ext>
              </a:extLst>
            </p:cNvPr>
            <p:cNvSpPr>
              <a:spLocks noGrp="1"/>
            </p:cNvSpPr>
            <p:nvPr/>
          </p:nvSpPr>
          <p:spPr>
            <a:xfrm>
              <a:off x="3192663" y="2542570"/>
              <a:ext cx="990599" cy="457199"/>
            </a:xfrm>
            <a:prstGeom prst="rect">
              <a:avLst/>
            </a:prstGeom>
            <a:noFill/>
            <a:ln w="7290">
              <a:noFill/>
            </a:ln>
          </p:spPr>
          <p:txBody>
            <a:bodyPr lIns="0" tIns="0" rIns="0" bIns="0" anchor="ctr"/>
            <a:lstStyle>
              <a:defPPr algn="ctr">
                <a:defRPr sz="612">
                  <a:solidFill>
                    <a:srgbClr val="263442"/>
                  </a:solidFill>
                  <a:latin typeface="Arial"/>
                  <a:ea typeface="Arial"/>
                  <a:cs typeface="Arial"/>
                </a:defRPr>
              </a:defPPr>
              <a:lvl1pPr algn="ctr">
                <a:defRPr sz="612">
                  <a:solidFill>
                    <a:srgbClr val="263442"/>
                  </a:solidFill>
                  <a:latin typeface="Arial"/>
                  <a:ea typeface="Arial"/>
                  <a:cs typeface="Arial"/>
                </a:defRPr>
              </a:lvl1pPr>
              <a:lvl2pPr algn="ctr">
                <a:defRPr sz="612">
                  <a:solidFill>
                    <a:srgbClr val="263442"/>
                  </a:solidFill>
                  <a:latin typeface="Arial"/>
                  <a:ea typeface="Arial"/>
                  <a:cs typeface="Arial"/>
                </a:defRPr>
              </a:lvl2pPr>
              <a:lvl3pPr algn="ctr">
                <a:defRPr sz="612">
                  <a:solidFill>
                    <a:srgbClr val="263442"/>
                  </a:solidFill>
                  <a:latin typeface="Arial"/>
                  <a:ea typeface="Arial"/>
                  <a:cs typeface="Arial"/>
                </a:defRPr>
              </a:lvl3pPr>
              <a:lvl4pPr algn="ctr">
                <a:defRPr sz="612">
                  <a:solidFill>
                    <a:srgbClr val="263442"/>
                  </a:solidFill>
                  <a:latin typeface="Arial"/>
                  <a:ea typeface="Arial"/>
                  <a:cs typeface="Arial"/>
                </a:defRPr>
              </a:lvl4pPr>
              <a:lvl5pPr algn="ctr">
                <a:defRPr sz="612">
                  <a:solidFill>
                    <a:srgbClr val="263442"/>
                  </a:solidFill>
                  <a:latin typeface="Arial"/>
                  <a:ea typeface="Arial"/>
                  <a:cs typeface="Arial"/>
                </a:defRPr>
              </a:lvl5pPr>
              <a:lvl6pPr algn="ctr">
                <a:defRPr sz="612">
                  <a:solidFill>
                    <a:srgbClr val="263442"/>
                  </a:solidFill>
                  <a:latin typeface="Arial"/>
                  <a:ea typeface="Arial"/>
                  <a:cs typeface="Arial"/>
                </a:defRPr>
              </a:lvl6pPr>
              <a:lvl7pPr algn="ctr">
                <a:defRPr sz="612">
                  <a:solidFill>
                    <a:srgbClr val="263442"/>
                  </a:solidFill>
                  <a:latin typeface="Arial"/>
                  <a:ea typeface="Arial"/>
                  <a:cs typeface="Arial"/>
                </a:defRPr>
              </a:lvl7pPr>
              <a:lvl8pPr algn="ctr">
                <a:defRPr sz="612">
                  <a:solidFill>
                    <a:srgbClr val="263442"/>
                  </a:solidFill>
                  <a:latin typeface="Arial"/>
                  <a:ea typeface="Arial"/>
                  <a:cs typeface="Arial"/>
                </a:defRPr>
              </a:lvl8pPr>
              <a:lvl9pPr algn="ctr">
                <a:defRPr sz="612">
                  <a:solidFill>
                    <a:srgbClr val="263442"/>
                  </a:solidFill>
                  <a:latin typeface="Arial"/>
                  <a:ea typeface="Arial"/>
                  <a:cs typeface="Arial"/>
                </a:defRPr>
              </a:lvl9pPr>
            </a:lstStyle>
            <a:p>
              <a:pPr algn="ctr">
                <a:defRPr sz="612">
                  <a:solidFill>
                    <a:srgbClr val="263442"/>
                  </a:solidFill>
                  <a:latin typeface="Arial"/>
                  <a:ea typeface="Arial"/>
                  <a:cs typeface="Arial"/>
                </a:defRPr>
              </a:pPr>
              <a:r>
                <a:rPr lang="en-US" sz="550" dirty="0">
                  <a:solidFill>
                    <a:srgbClr val="263442"/>
                  </a:solidFill>
                  <a:latin typeface="Arial"/>
                  <a:ea typeface="Arial"/>
                  <a:cs typeface="Arial"/>
                </a:rPr>
                <a:t>Atom embeddings</a:t>
              </a:r>
              <a:endParaRPr sz="550" dirty="0">
                <a:solidFill>
                  <a:srgbClr val="263442"/>
                </a:solidFill>
                <a:latin typeface="Arial"/>
                <a:ea typeface="Arial"/>
                <a:cs typeface="Arial"/>
              </a:endParaRPr>
            </a:p>
          </p:txBody>
        </p:sp>
        <p:sp>
          <p:nvSpPr>
            <p:cNvPr id="1253" name="Find matrix 0-0">
              <a:extLst>
                <a:ext uri="{FF2B5EF4-FFF2-40B4-BE49-F238E27FC236}">
                  <a16:creationId xmlns:a16="http://schemas.microsoft.com/office/drawing/2014/main" id="{BBF0C328-3AF9-A068-FA92-FBF890856A66}"/>
                </a:ext>
              </a:extLst>
            </p:cNvPr>
            <p:cNvSpPr>
              <a:spLocks noGrp="1"/>
            </p:cNvSpPr>
            <p:nvPr/>
          </p:nvSpPr>
          <p:spPr>
            <a:xfrm>
              <a:off x="10325612" y="3200400"/>
              <a:ext cx="91559" cy="70009"/>
            </a:xfrm>
            <a:prstGeom prst="rect">
              <a:avLst/>
            </a:prstGeom>
            <a:solidFill>
              <a:srgbClr val="3E8F9A"/>
            </a:solidFill>
            <a:ln w="7290">
              <a:noFill/>
            </a:ln>
          </p:spPr>
        </p:sp>
        <p:sp>
          <p:nvSpPr>
            <p:cNvPr id="1254" name="Find matrix 0-1">
              <a:extLst>
                <a:ext uri="{FF2B5EF4-FFF2-40B4-BE49-F238E27FC236}">
                  <a16:creationId xmlns:a16="http://schemas.microsoft.com/office/drawing/2014/main" id="{3474DD36-B24E-DC42-848D-72CE3DEC2274}"/>
                </a:ext>
              </a:extLst>
            </p:cNvPr>
            <p:cNvSpPr>
              <a:spLocks noGrp="1"/>
            </p:cNvSpPr>
            <p:nvPr/>
          </p:nvSpPr>
          <p:spPr>
            <a:xfrm>
              <a:off x="10421457" y="3200400"/>
              <a:ext cx="91559" cy="70009"/>
            </a:xfrm>
            <a:prstGeom prst="rect">
              <a:avLst/>
            </a:prstGeom>
            <a:solidFill>
              <a:srgbClr val="5B9FB6"/>
            </a:solidFill>
            <a:ln w="7290">
              <a:noFill/>
            </a:ln>
          </p:spPr>
        </p:sp>
        <p:sp>
          <p:nvSpPr>
            <p:cNvPr id="1255" name="Find matrix 0-2">
              <a:extLst>
                <a:ext uri="{FF2B5EF4-FFF2-40B4-BE49-F238E27FC236}">
                  <a16:creationId xmlns:a16="http://schemas.microsoft.com/office/drawing/2014/main" id="{F807BDD1-EE13-F00C-2E77-C8910F6ACC73}"/>
                </a:ext>
              </a:extLst>
            </p:cNvPr>
            <p:cNvSpPr>
              <a:spLocks noGrp="1"/>
            </p:cNvSpPr>
            <p:nvPr/>
          </p:nvSpPr>
          <p:spPr>
            <a:xfrm>
              <a:off x="10517302" y="3200400"/>
              <a:ext cx="91559" cy="70009"/>
            </a:xfrm>
            <a:prstGeom prst="rect">
              <a:avLst/>
            </a:prstGeom>
            <a:solidFill>
              <a:srgbClr val="A3CDDA"/>
            </a:solidFill>
            <a:ln w="7290">
              <a:noFill/>
            </a:ln>
          </p:spPr>
        </p:sp>
        <p:sp>
          <p:nvSpPr>
            <p:cNvPr id="1256" name="Find matrix 0-3">
              <a:extLst>
                <a:ext uri="{FF2B5EF4-FFF2-40B4-BE49-F238E27FC236}">
                  <a16:creationId xmlns:a16="http://schemas.microsoft.com/office/drawing/2014/main" id="{DB1A890F-778A-35C9-7AE1-C0AE618D52CF}"/>
                </a:ext>
              </a:extLst>
            </p:cNvPr>
            <p:cNvSpPr>
              <a:spLocks noGrp="1"/>
            </p:cNvSpPr>
            <p:nvPr/>
          </p:nvSpPr>
          <p:spPr>
            <a:xfrm>
              <a:off x="10613147" y="3200400"/>
              <a:ext cx="91559" cy="70009"/>
            </a:xfrm>
            <a:prstGeom prst="rect">
              <a:avLst/>
            </a:prstGeom>
            <a:solidFill>
              <a:srgbClr val="88BEC3"/>
            </a:solidFill>
            <a:ln w="7290">
              <a:noFill/>
            </a:ln>
          </p:spPr>
        </p:sp>
        <p:sp>
          <p:nvSpPr>
            <p:cNvPr id="1257" name="Find matrix 0-4">
              <a:extLst>
                <a:ext uri="{FF2B5EF4-FFF2-40B4-BE49-F238E27FC236}">
                  <a16:creationId xmlns:a16="http://schemas.microsoft.com/office/drawing/2014/main" id="{B445D6B3-6FC7-4615-5975-85730846D82F}"/>
                </a:ext>
              </a:extLst>
            </p:cNvPr>
            <p:cNvSpPr>
              <a:spLocks noGrp="1"/>
            </p:cNvSpPr>
            <p:nvPr/>
          </p:nvSpPr>
          <p:spPr>
            <a:xfrm>
              <a:off x="10708993" y="3200400"/>
              <a:ext cx="91559" cy="70009"/>
            </a:xfrm>
            <a:prstGeom prst="rect">
              <a:avLst/>
            </a:prstGeom>
            <a:solidFill>
              <a:srgbClr val="67AD9F"/>
            </a:solidFill>
            <a:ln w="7290">
              <a:noFill/>
            </a:ln>
          </p:spPr>
        </p:sp>
        <p:sp>
          <p:nvSpPr>
            <p:cNvPr id="1258" name="Find matrix 0-5">
              <a:extLst>
                <a:ext uri="{FF2B5EF4-FFF2-40B4-BE49-F238E27FC236}">
                  <a16:creationId xmlns:a16="http://schemas.microsoft.com/office/drawing/2014/main" id="{EDF77049-6933-CA1B-21BD-2D261FB460F5}"/>
                </a:ext>
              </a:extLst>
            </p:cNvPr>
            <p:cNvSpPr>
              <a:spLocks noGrp="1"/>
            </p:cNvSpPr>
            <p:nvPr/>
          </p:nvSpPr>
          <p:spPr>
            <a:xfrm>
              <a:off x="10804838" y="3200400"/>
              <a:ext cx="91559" cy="70009"/>
            </a:xfrm>
            <a:prstGeom prst="rect">
              <a:avLst/>
            </a:prstGeom>
            <a:solidFill>
              <a:srgbClr val="C4DDE0"/>
            </a:solidFill>
            <a:ln w="7290">
              <a:noFill/>
            </a:ln>
          </p:spPr>
        </p:sp>
        <p:sp>
          <p:nvSpPr>
            <p:cNvPr id="1259" name="Find matrix 0-6">
              <a:extLst>
                <a:ext uri="{FF2B5EF4-FFF2-40B4-BE49-F238E27FC236}">
                  <a16:creationId xmlns:a16="http://schemas.microsoft.com/office/drawing/2014/main" id="{F24780FB-09E3-AE39-557B-018C817CABA7}"/>
                </a:ext>
              </a:extLst>
            </p:cNvPr>
            <p:cNvSpPr>
              <a:spLocks noGrp="1"/>
            </p:cNvSpPr>
            <p:nvPr/>
          </p:nvSpPr>
          <p:spPr>
            <a:xfrm>
              <a:off x="10900683" y="3200400"/>
              <a:ext cx="91559" cy="70009"/>
            </a:xfrm>
            <a:prstGeom prst="rect">
              <a:avLst/>
            </a:prstGeom>
            <a:solidFill>
              <a:srgbClr val="B6D8CC"/>
            </a:solidFill>
            <a:ln w="7290">
              <a:noFill/>
            </a:ln>
          </p:spPr>
        </p:sp>
        <p:sp>
          <p:nvSpPr>
            <p:cNvPr id="1260" name="Find matrix 0-7">
              <a:extLst>
                <a:ext uri="{FF2B5EF4-FFF2-40B4-BE49-F238E27FC236}">
                  <a16:creationId xmlns:a16="http://schemas.microsoft.com/office/drawing/2014/main" id="{69791062-44B8-8426-AAD4-DD68B1FF31BA}"/>
                </a:ext>
              </a:extLst>
            </p:cNvPr>
            <p:cNvSpPr>
              <a:spLocks noGrp="1"/>
            </p:cNvSpPr>
            <p:nvPr/>
          </p:nvSpPr>
          <p:spPr>
            <a:xfrm>
              <a:off x="10996529" y="3200400"/>
              <a:ext cx="91559" cy="70009"/>
            </a:xfrm>
            <a:prstGeom prst="rect">
              <a:avLst/>
            </a:prstGeom>
            <a:solidFill>
              <a:srgbClr val="D6E5ED"/>
            </a:solidFill>
            <a:ln w="7290">
              <a:noFill/>
            </a:ln>
          </p:spPr>
        </p:sp>
        <p:sp>
          <p:nvSpPr>
            <p:cNvPr id="1261" name="Find matrix 1-0">
              <a:extLst>
                <a:ext uri="{FF2B5EF4-FFF2-40B4-BE49-F238E27FC236}">
                  <a16:creationId xmlns:a16="http://schemas.microsoft.com/office/drawing/2014/main" id="{DAD773D5-9108-C0B7-81D5-AC1CF98B49B0}"/>
                </a:ext>
              </a:extLst>
            </p:cNvPr>
            <p:cNvSpPr>
              <a:spLocks noGrp="1"/>
            </p:cNvSpPr>
            <p:nvPr/>
          </p:nvSpPr>
          <p:spPr>
            <a:xfrm>
              <a:off x="10325612" y="3274695"/>
              <a:ext cx="91559" cy="70009"/>
            </a:xfrm>
            <a:prstGeom prst="rect">
              <a:avLst/>
            </a:prstGeom>
            <a:solidFill>
              <a:srgbClr val="A3CDDA"/>
            </a:solidFill>
            <a:ln w="7290">
              <a:noFill/>
            </a:ln>
          </p:spPr>
        </p:sp>
        <p:sp>
          <p:nvSpPr>
            <p:cNvPr id="1262" name="Find matrix 1-1">
              <a:extLst>
                <a:ext uri="{FF2B5EF4-FFF2-40B4-BE49-F238E27FC236}">
                  <a16:creationId xmlns:a16="http://schemas.microsoft.com/office/drawing/2014/main" id="{FD6D65E0-3CD4-81C9-A7EC-EE4D1EA03DA1}"/>
                </a:ext>
              </a:extLst>
            </p:cNvPr>
            <p:cNvSpPr>
              <a:spLocks noGrp="1"/>
            </p:cNvSpPr>
            <p:nvPr/>
          </p:nvSpPr>
          <p:spPr>
            <a:xfrm>
              <a:off x="10421457" y="3274695"/>
              <a:ext cx="91559" cy="70009"/>
            </a:xfrm>
            <a:prstGeom prst="rect">
              <a:avLst/>
            </a:prstGeom>
            <a:solidFill>
              <a:srgbClr val="B6D8CC"/>
            </a:solidFill>
            <a:ln w="7290">
              <a:noFill/>
            </a:ln>
          </p:spPr>
        </p:sp>
        <p:sp>
          <p:nvSpPr>
            <p:cNvPr id="1263" name="Find matrix 1-2">
              <a:extLst>
                <a:ext uri="{FF2B5EF4-FFF2-40B4-BE49-F238E27FC236}">
                  <a16:creationId xmlns:a16="http://schemas.microsoft.com/office/drawing/2014/main" id="{C06E5EF8-D1B9-1DB5-4010-25CDECE16DF3}"/>
                </a:ext>
              </a:extLst>
            </p:cNvPr>
            <p:cNvSpPr>
              <a:spLocks noGrp="1"/>
            </p:cNvSpPr>
            <p:nvPr/>
          </p:nvSpPr>
          <p:spPr>
            <a:xfrm>
              <a:off x="10517302" y="3274695"/>
              <a:ext cx="91559" cy="70009"/>
            </a:xfrm>
            <a:prstGeom prst="rect">
              <a:avLst/>
            </a:prstGeom>
            <a:solidFill>
              <a:srgbClr val="88BEC3"/>
            </a:solidFill>
            <a:ln w="7290">
              <a:noFill/>
            </a:ln>
          </p:spPr>
        </p:sp>
        <p:sp>
          <p:nvSpPr>
            <p:cNvPr id="1264" name="Find matrix 1-3">
              <a:extLst>
                <a:ext uri="{FF2B5EF4-FFF2-40B4-BE49-F238E27FC236}">
                  <a16:creationId xmlns:a16="http://schemas.microsoft.com/office/drawing/2014/main" id="{9AD5706A-D366-481E-242D-C3727EE68292}"/>
                </a:ext>
              </a:extLst>
            </p:cNvPr>
            <p:cNvSpPr>
              <a:spLocks noGrp="1"/>
            </p:cNvSpPr>
            <p:nvPr/>
          </p:nvSpPr>
          <p:spPr>
            <a:xfrm>
              <a:off x="10613147" y="3274695"/>
              <a:ext cx="91559" cy="70009"/>
            </a:xfrm>
            <a:prstGeom prst="rect">
              <a:avLst/>
            </a:prstGeom>
            <a:solidFill>
              <a:srgbClr val="D6E5ED"/>
            </a:solidFill>
            <a:ln w="7290">
              <a:noFill/>
            </a:ln>
          </p:spPr>
        </p:sp>
        <p:sp>
          <p:nvSpPr>
            <p:cNvPr id="1265" name="Find matrix 1-4">
              <a:extLst>
                <a:ext uri="{FF2B5EF4-FFF2-40B4-BE49-F238E27FC236}">
                  <a16:creationId xmlns:a16="http://schemas.microsoft.com/office/drawing/2014/main" id="{6454B603-2435-1F3E-EFE1-9F3ED69FE183}"/>
                </a:ext>
              </a:extLst>
            </p:cNvPr>
            <p:cNvSpPr>
              <a:spLocks noGrp="1"/>
            </p:cNvSpPr>
            <p:nvPr/>
          </p:nvSpPr>
          <p:spPr>
            <a:xfrm>
              <a:off x="10708993" y="3274695"/>
              <a:ext cx="91559" cy="70009"/>
            </a:xfrm>
            <a:prstGeom prst="rect">
              <a:avLst/>
            </a:prstGeom>
            <a:solidFill>
              <a:srgbClr val="5B9FB6"/>
            </a:solidFill>
            <a:ln w="7290">
              <a:noFill/>
            </a:ln>
          </p:spPr>
        </p:sp>
        <p:sp>
          <p:nvSpPr>
            <p:cNvPr id="1266" name="Find matrix 1-5">
              <a:extLst>
                <a:ext uri="{FF2B5EF4-FFF2-40B4-BE49-F238E27FC236}">
                  <a16:creationId xmlns:a16="http://schemas.microsoft.com/office/drawing/2014/main" id="{BDC3058F-5BB6-EF0A-C0E4-8FFF478A86C2}"/>
                </a:ext>
              </a:extLst>
            </p:cNvPr>
            <p:cNvSpPr>
              <a:spLocks noGrp="1"/>
            </p:cNvSpPr>
            <p:nvPr/>
          </p:nvSpPr>
          <p:spPr>
            <a:xfrm>
              <a:off x="10804838" y="3274695"/>
              <a:ext cx="91559" cy="70009"/>
            </a:xfrm>
            <a:prstGeom prst="rect">
              <a:avLst/>
            </a:prstGeom>
            <a:solidFill>
              <a:srgbClr val="3E8F9A"/>
            </a:solidFill>
            <a:ln w="7290">
              <a:noFill/>
            </a:ln>
          </p:spPr>
        </p:sp>
        <p:sp>
          <p:nvSpPr>
            <p:cNvPr id="1267" name="Find matrix 1-6">
              <a:extLst>
                <a:ext uri="{FF2B5EF4-FFF2-40B4-BE49-F238E27FC236}">
                  <a16:creationId xmlns:a16="http://schemas.microsoft.com/office/drawing/2014/main" id="{7A6FD57F-2D4A-E860-6015-70841E18A307}"/>
                </a:ext>
              </a:extLst>
            </p:cNvPr>
            <p:cNvSpPr>
              <a:spLocks noGrp="1"/>
            </p:cNvSpPr>
            <p:nvPr/>
          </p:nvSpPr>
          <p:spPr>
            <a:xfrm>
              <a:off x="10900683" y="3274695"/>
              <a:ext cx="91559" cy="70009"/>
            </a:xfrm>
            <a:prstGeom prst="rect">
              <a:avLst/>
            </a:prstGeom>
            <a:solidFill>
              <a:srgbClr val="C4DDE0"/>
            </a:solidFill>
            <a:ln w="7290">
              <a:noFill/>
            </a:ln>
          </p:spPr>
        </p:sp>
        <p:sp>
          <p:nvSpPr>
            <p:cNvPr id="1268" name="Find matrix 1-7">
              <a:extLst>
                <a:ext uri="{FF2B5EF4-FFF2-40B4-BE49-F238E27FC236}">
                  <a16:creationId xmlns:a16="http://schemas.microsoft.com/office/drawing/2014/main" id="{289EF4F7-DDB6-5545-39F7-5D1B3F86D2D3}"/>
                </a:ext>
              </a:extLst>
            </p:cNvPr>
            <p:cNvSpPr>
              <a:spLocks noGrp="1"/>
            </p:cNvSpPr>
            <p:nvPr/>
          </p:nvSpPr>
          <p:spPr>
            <a:xfrm>
              <a:off x="10996529" y="3274695"/>
              <a:ext cx="91559" cy="70009"/>
            </a:xfrm>
            <a:prstGeom prst="rect">
              <a:avLst/>
            </a:prstGeom>
            <a:solidFill>
              <a:srgbClr val="67AD9F"/>
            </a:solidFill>
            <a:ln w="7290">
              <a:noFill/>
            </a:ln>
          </p:spPr>
        </p:sp>
        <p:sp>
          <p:nvSpPr>
            <p:cNvPr id="1269" name="Find matrix 2-0">
              <a:extLst>
                <a:ext uri="{FF2B5EF4-FFF2-40B4-BE49-F238E27FC236}">
                  <a16:creationId xmlns:a16="http://schemas.microsoft.com/office/drawing/2014/main" id="{B1282592-D5D6-9C68-2D42-3D2A0FA6458C}"/>
                </a:ext>
              </a:extLst>
            </p:cNvPr>
            <p:cNvSpPr>
              <a:spLocks noGrp="1"/>
            </p:cNvSpPr>
            <p:nvPr/>
          </p:nvSpPr>
          <p:spPr>
            <a:xfrm>
              <a:off x="10325612" y="3348990"/>
              <a:ext cx="91559" cy="70009"/>
            </a:xfrm>
            <a:prstGeom prst="rect">
              <a:avLst/>
            </a:prstGeom>
            <a:solidFill>
              <a:srgbClr val="67AD9F"/>
            </a:solidFill>
            <a:ln w="7290">
              <a:noFill/>
            </a:ln>
          </p:spPr>
        </p:sp>
        <p:sp>
          <p:nvSpPr>
            <p:cNvPr id="1270" name="Find matrix 2-1">
              <a:extLst>
                <a:ext uri="{FF2B5EF4-FFF2-40B4-BE49-F238E27FC236}">
                  <a16:creationId xmlns:a16="http://schemas.microsoft.com/office/drawing/2014/main" id="{390A8337-4744-F454-87FF-4E9BDE799C1D}"/>
                </a:ext>
              </a:extLst>
            </p:cNvPr>
            <p:cNvSpPr>
              <a:spLocks noGrp="1"/>
            </p:cNvSpPr>
            <p:nvPr/>
          </p:nvSpPr>
          <p:spPr>
            <a:xfrm>
              <a:off x="10421457" y="3348990"/>
              <a:ext cx="91559" cy="70009"/>
            </a:xfrm>
            <a:prstGeom prst="rect">
              <a:avLst/>
            </a:prstGeom>
            <a:solidFill>
              <a:srgbClr val="C4DDE0"/>
            </a:solidFill>
            <a:ln w="7290">
              <a:noFill/>
            </a:ln>
          </p:spPr>
        </p:sp>
        <p:sp>
          <p:nvSpPr>
            <p:cNvPr id="1271" name="Find matrix 2-2">
              <a:extLst>
                <a:ext uri="{FF2B5EF4-FFF2-40B4-BE49-F238E27FC236}">
                  <a16:creationId xmlns:a16="http://schemas.microsoft.com/office/drawing/2014/main" id="{F2F7291B-E14D-7E55-CC39-0366DDE36AB6}"/>
                </a:ext>
              </a:extLst>
            </p:cNvPr>
            <p:cNvSpPr>
              <a:spLocks noGrp="1"/>
            </p:cNvSpPr>
            <p:nvPr/>
          </p:nvSpPr>
          <p:spPr>
            <a:xfrm>
              <a:off x="10517302" y="3348990"/>
              <a:ext cx="91559" cy="70009"/>
            </a:xfrm>
            <a:prstGeom prst="rect">
              <a:avLst/>
            </a:prstGeom>
            <a:solidFill>
              <a:srgbClr val="5B9FB6"/>
            </a:solidFill>
            <a:ln w="7290">
              <a:noFill/>
            </a:ln>
          </p:spPr>
        </p:sp>
        <p:sp>
          <p:nvSpPr>
            <p:cNvPr id="1272" name="Find matrix 2-3">
              <a:extLst>
                <a:ext uri="{FF2B5EF4-FFF2-40B4-BE49-F238E27FC236}">
                  <a16:creationId xmlns:a16="http://schemas.microsoft.com/office/drawing/2014/main" id="{7DDB5DDB-AA90-B36F-ECCA-B3D87BDEF49C}"/>
                </a:ext>
              </a:extLst>
            </p:cNvPr>
            <p:cNvSpPr>
              <a:spLocks noGrp="1"/>
            </p:cNvSpPr>
            <p:nvPr/>
          </p:nvSpPr>
          <p:spPr>
            <a:xfrm>
              <a:off x="10613147" y="3348990"/>
              <a:ext cx="91559" cy="70009"/>
            </a:xfrm>
            <a:prstGeom prst="rect">
              <a:avLst/>
            </a:prstGeom>
            <a:solidFill>
              <a:srgbClr val="B6D8CC"/>
            </a:solidFill>
            <a:ln w="7290">
              <a:noFill/>
            </a:ln>
          </p:spPr>
        </p:sp>
        <p:sp>
          <p:nvSpPr>
            <p:cNvPr id="1273" name="Find matrix 2-4">
              <a:extLst>
                <a:ext uri="{FF2B5EF4-FFF2-40B4-BE49-F238E27FC236}">
                  <a16:creationId xmlns:a16="http://schemas.microsoft.com/office/drawing/2014/main" id="{FBF483EB-0895-E2F9-E946-2CE7B0273010}"/>
                </a:ext>
              </a:extLst>
            </p:cNvPr>
            <p:cNvSpPr>
              <a:spLocks noGrp="1"/>
            </p:cNvSpPr>
            <p:nvPr/>
          </p:nvSpPr>
          <p:spPr>
            <a:xfrm>
              <a:off x="10708993" y="3348990"/>
              <a:ext cx="91559" cy="70009"/>
            </a:xfrm>
            <a:prstGeom prst="rect">
              <a:avLst/>
            </a:prstGeom>
            <a:solidFill>
              <a:srgbClr val="3E8F9A"/>
            </a:solidFill>
            <a:ln w="7290">
              <a:noFill/>
            </a:ln>
          </p:spPr>
        </p:sp>
        <p:sp>
          <p:nvSpPr>
            <p:cNvPr id="1274" name="Find matrix 2-5">
              <a:extLst>
                <a:ext uri="{FF2B5EF4-FFF2-40B4-BE49-F238E27FC236}">
                  <a16:creationId xmlns:a16="http://schemas.microsoft.com/office/drawing/2014/main" id="{235264C0-29EF-D9B8-F0D1-9BEBBAD9D6E8}"/>
                </a:ext>
              </a:extLst>
            </p:cNvPr>
            <p:cNvSpPr>
              <a:spLocks noGrp="1"/>
            </p:cNvSpPr>
            <p:nvPr/>
          </p:nvSpPr>
          <p:spPr>
            <a:xfrm>
              <a:off x="10804838" y="3348990"/>
              <a:ext cx="91559" cy="70009"/>
            </a:xfrm>
            <a:prstGeom prst="rect">
              <a:avLst/>
            </a:prstGeom>
            <a:solidFill>
              <a:srgbClr val="D6E5ED"/>
            </a:solidFill>
            <a:ln w="7290">
              <a:noFill/>
            </a:ln>
          </p:spPr>
        </p:sp>
        <p:sp>
          <p:nvSpPr>
            <p:cNvPr id="1275" name="Find matrix 2-6">
              <a:extLst>
                <a:ext uri="{FF2B5EF4-FFF2-40B4-BE49-F238E27FC236}">
                  <a16:creationId xmlns:a16="http://schemas.microsoft.com/office/drawing/2014/main" id="{89BB4142-622C-474C-899B-E7C760EA5054}"/>
                </a:ext>
              </a:extLst>
            </p:cNvPr>
            <p:cNvSpPr>
              <a:spLocks noGrp="1"/>
            </p:cNvSpPr>
            <p:nvPr/>
          </p:nvSpPr>
          <p:spPr>
            <a:xfrm>
              <a:off x="10900683" y="3348990"/>
              <a:ext cx="91559" cy="70009"/>
            </a:xfrm>
            <a:prstGeom prst="rect">
              <a:avLst/>
            </a:prstGeom>
            <a:solidFill>
              <a:srgbClr val="88BEC3"/>
            </a:solidFill>
            <a:ln w="7290">
              <a:noFill/>
            </a:ln>
          </p:spPr>
        </p:sp>
        <p:sp>
          <p:nvSpPr>
            <p:cNvPr id="1276" name="Find matrix 2-7">
              <a:extLst>
                <a:ext uri="{FF2B5EF4-FFF2-40B4-BE49-F238E27FC236}">
                  <a16:creationId xmlns:a16="http://schemas.microsoft.com/office/drawing/2014/main" id="{6D2284D9-4AE6-02DD-AA99-C88ED825A8F4}"/>
                </a:ext>
              </a:extLst>
            </p:cNvPr>
            <p:cNvSpPr>
              <a:spLocks noGrp="1"/>
            </p:cNvSpPr>
            <p:nvPr/>
          </p:nvSpPr>
          <p:spPr>
            <a:xfrm>
              <a:off x="10996529" y="3348990"/>
              <a:ext cx="91559" cy="70009"/>
            </a:xfrm>
            <a:prstGeom prst="rect">
              <a:avLst/>
            </a:prstGeom>
            <a:solidFill>
              <a:srgbClr val="A3CDDA"/>
            </a:solidFill>
            <a:ln w="7290">
              <a:noFill/>
            </a:ln>
          </p:spPr>
        </p:sp>
        <p:sp>
          <p:nvSpPr>
            <p:cNvPr id="1277" name="Find matrix 3-0">
              <a:extLst>
                <a:ext uri="{FF2B5EF4-FFF2-40B4-BE49-F238E27FC236}">
                  <a16:creationId xmlns:a16="http://schemas.microsoft.com/office/drawing/2014/main" id="{A354350A-00E7-4344-FF84-5BBF2165CEDA}"/>
                </a:ext>
              </a:extLst>
            </p:cNvPr>
            <p:cNvSpPr>
              <a:spLocks noGrp="1"/>
            </p:cNvSpPr>
            <p:nvPr/>
          </p:nvSpPr>
          <p:spPr>
            <a:xfrm>
              <a:off x="10325612" y="3423285"/>
              <a:ext cx="91559" cy="70009"/>
            </a:xfrm>
            <a:prstGeom prst="rect">
              <a:avLst/>
            </a:prstGeom>
            <a:solidFill>
              <a:srgbClr val="88BEC3"/>
            </a:solidFill>
            <a:ln w="7290">
              <a:noFill/>
            </a:ln>
          </p:spPr>
        </p:sp>
        <p:sp>
          <p:nvSpPr>
            <p:cNvPr id="1278" name="Find matrix 3-1">
              <a:extLst>
                <a:ext uri="{FF2B5EF4-FFF2-40B4-BE49-F238E27FC236}">
                  <a16:creationId xmlns:a16="http://schemas.microsoft.com/office/drawing/2014/main" id="{E2EDFAC2-C5CD-2DF8-165C-4DBC9D98B449}"/>
                </a:ext>
              </a:extLst>
            </p:cNvPr>
            <p:cNvSpPr>
              <a:spLocks noGrp="1"/>
            </p:cNvSpPr>
            <p:nvPr/>
          </p:nvSpPr>
          <p:spPr>
            <a:xfrm>
              <a:off x="10421457" y="3423285"/>
              <a:ext cx="91559" cy="70009"/>
            </a:xfrm>
            <a:prstGeom prst="rect">
              <a:avLst/>
            </a:prstGeom>
            <a:solidFill>
              <a:srgbClr val="D6E5ED"/>
            </a:solidFill>
            <a:ln w="7290">
              <a:noFill/>
            </a:ln>
          </p:spPr>
        </p:sp>
        <p:sp>
          <p:nvSpPr>
            <p:cNvPr id="1279" name="Find matrix 3-2">
              <a:extLst>
                <a:ext uri="{FF2B5EF4-FFF2-40B4-BE49-F238E27FC236}">
                  <a16:creationId xmlns:a16="http://schemas.microsoft.com/office/drawing/2014/main" id="{4D088869-EB59-E1B3-59B4-C3C92C8170BA}"/>
                </a:ext>
              </a:extLst>
            </p:cNvPr>
            <p:cNvSpPr>
              <a:spLocks noGrp="1"/>
            </p:cNvSpPr>
            <p:nvPr/>
          </p:nvSpPr>
          <p:spPr>
            <a:xfrm>
              <a:off x="10517302" y="3423285"/>
              <a:ext cx="91559" cy="70009"/>
            </a:xfrm>
            <a:prstGeom prst="rect">
              <a:avLst/>
            </a:prstGeom>
            <a:solidFill>
              <a:srgbClr val="67AD9F"/>
            </a:solidFill>
            <a:ln w="7290">
              <a:noFill/>
            </a:ln>
          </p:spPr>
        </p:sp>
        <p:sp>
          <p:nvSpPr>
            <p:cNvPr id="1280" name="Find matrix 3-3">
              <a:extLst>
                <a:ext uri="{FF2B5EF4-FFF2-40B4-BE49-F238E27FC236}">
                  <a16:creationId xmlns:a16="http://schemas.microsoft.com/office/drawing/2014/main" id="{119CBCB9-6860-7DCC-AF73-C422647EEF23}"/>
                </a:ext>
              </a:extLst>
            </p:cNvPr>
            <p:cNvSpPr>
              <a:spLocks noGrp="1"/>
            </p:cNvSpPr>
            <p:nvPr/>
          </p:nvSpPr>
          <p:spPr>
            <a:xfrm>
              <a:off x="10613147" y="3423285"/>
              <a:ext cx="91559" cy="70009"/>
            </a:xfrm>
            <a:prstGeom prst="rect">
              <a:avLst/>
            </a:prstGeom>
            <a:solidFill>
              <a:srgbClr val="3E8F9A"/>
            </a:solidFill>
            <a:ln w="7290">
              <a:noFill/>
            </a:ln>
          </p:spPr>
        </p:sp>
        <p:sp>
          <p:nvSpPr>
            <p:cNvPr id="1281" name="Find matrix 3-4">
              <a:extLst>
                <a:ext uri="{FF2B5EF4-FFF2-40B4-BE49-F238E27FC236}">
                  <a16:creationId xmlns:a16="http://schemas.microsoft.com/office/drawing/2014/main" id="{F0ED964A-EDEB-7D43-69F8-BEFE576D1277}"/>
                </a:ext>
              </a:extLst>
            </p:cNvPr>
            <p:cNvSpPr>
              <a:spLocks noGrp="1"/>
            </p:cNvSpPr>
            <p:nvPr/>
          </p:nvSpPr>
          <p:spPr>
            <a:xfrm>
              <a:off x="10708993" y="3423285"/>
              <a:ext cx="91559" cy="70009"/>
            </a:xfrm>
            <a:prstGeom prst="rect">
              <a:avLst/>
            </a:prstGeom>
            <a:solidFill>
              <a:srgbClr val="C4DDE0"/>
            </a:solidFill>
            <a:ln w="7290">
              <a:noFill/>
            </a:ln>
          </p:spPr>
        </p:sp>
        <p:sp>
          <p:nvSpPr>
            <p:cNvPr id="1282" name="Find matrix 3-5">
              <a:extLst>
                <a:ext uri="{FF2B5EF4-FFF2-40B4-BE49-F238E27FC236}">
                  <a16:creationId xmlns:a16="http://schemas.microsoft.com/office/drawing/2014/main" id="{A0A2A64A-E67D-3395-0409-F2703179F7EC}"/>
                </a:ext>
              </a:extLst>
            </p:cNvPr>
            <p:cNvSpPr>
              <a:spLocks noGrp="1"/>
            </p:cNvSpPr>
            <p:nvPr/>
          </p:nvSpPr>
          <p:spPr>
            <a:xfrm>
              <a:off x="10804838" y="3423285"/>
              <a:ext cx="91559" cy="70009"/>
            </a:xfrm>
            <a:prstGeom prst="rect">
              <a:avLst/>
            </a:prstGeom>
            <a:solidFill>
              <a:srgbClr val="A3CDDA"/>
            </a:solidFill>
            <a:ln w="7290">
              <a:noFill/>
            </a:ln>
          </p:spPr>
        </p:sp>
        <p:sp>
          <p:nvSpPr>
            <p:cNvPr id="1283" name="Find matrix 3-6">
              <a:extLst>
                <a:ext uri="{FF2B5EF4-FFF2-40B4-BE49-F238E27FC236}">
                  <a16:creationId xmlns:a16="http://schemas.microsoft.com/office/drawing/2014/main" id="{EA7CE8E7-C1AC-E261-A970-8EC80886D558}"/>
                </a:ext>
              </a:extLst>
            </p:cNvPr>
            <p:cNvSpPr>
              <a:spLocks noGrp="1"/>
            </p:cNvSpPr>
            <p:nvPr/>
          </p:nvSpPr>
          <p:spPr>
            <a:xfrm>
              <a:off x="10900683" y="3423285"/>
              <a:ext cx="91559" cy="70009"/>
            </a:xfrm>
            <a:prstGeom prst="rect">
              <a:avLst/>
            </a:prstGeom>
            <a:solidFill>
              <a:srgbClr val="B6D8CC"/>
            </a:solidFill>
            <a:ln w="7290">
              <a:noFill/>
            </a:ln>
          </p:spPr>
        </p:sp>
        <p:sp>
          <p:nvSpPr>
            <p:cNvPr id="1284" name="Find matrix 3-7">
              <a:extLst>
                <a:ext uri="{FF2B5EF4-FFF2-40B4-BE49-F238E27FC236}">
                  <a16:creationId xmlns:a16="http://schemas.microsoft.com/office/drawing/2014/main" id="{3CC5802F-96A8-F327-8DCD-5C642BB94DCE}"/>
                </a:ext>
              </a:extLst>
            </p:cNvPr>
            <p:cNvSpPr>
              <a:spLocks noGrp="1"/>
            </p:cNvSpPr>
            <p:nvPr/>
          </p:nvSpPr>
          <p:spPr>
            <a:xfrm>
              <a:off x="10996529" y="3423285"/>
              <a:ext cx="91559" cy="70009"/>
            </a:xfrm>
            <a:prstGeom prst="rect">
              <a:avLst/>
            </a:prstGeom>
            <a:solidFill>
              <a:srgbClr val="5B9FB6"/>
            </a:solidFill>
            <a:ln w="7290">
              <a:noFill/>
            </a:ln>
          </p:spPr>
        </p:sp>
        <p:sp>
          <p:nvSpPr>
            <p:cNvPr id="1285" name="Match matrix 0-0">
              <a:extLst>
                <a:ext uri="{FF2B5EF4-FFF2-40B4-BE49-F238E27FC236}">
                  <a16:creationId xmlns:a16="http://schemas.microsoft.com/office/drawing/2014/main" id="{1E148E3C-F1D3-F47F-36C6-42E1C579FB78}"/>
                </a:ext>
              </a:extLst>
            </p:cNvPr>
            <p:cNvSpPr>
              <a:spLocks noGrp="1"/>
            </p:cNvSpPr>
            <p:nvPr/>
          </p:nvSpPr>
          <p:spPr>
            <a:xfrm>
              <a:off x="3860262" y="7252039"/>
              <a:ext cx="88583" cy="70009"/>
            </a:xfrm>
            <a:prstGeom prst="rect">
              <a:avLst/>
            </a:prstGeom>
            <a:solidFill>
              <a:srgbClr val="3E8F9A"/>
            </a:solidFill>
            <a:ln w="7290">
              <a:noFill/>
            </a:ln>
          </p:spPr>
        </p:sp>
        <p:sp>
          <p:nvSpPr>
            <p:cNvPr id="1286" name="Match matrix 0-1">
              <a:extLst>
                <a:ext uri="{FF2B5EF4-FFF2-40B4-BE49-F238E27FC236}">
                  <a16:creationId xmlns:a16="http://schemas.microsoft.com/office/drawing/2014/main" id="{6CE95E95-35B4-AAA3-E629-B7804854BFD1}"/>
                </a:ext>
              </a:extLst>
            </p:cNvPr>
            <p:cNvSpPr>
              <a:spLocks noGrp="1"/>
            </p:cNvSpPr>
            <p:nvPr/>
          </p:nvSpPr>
          <p:spPr>
            <a:xfrm>
              <a:off x="3953131" y="7252039"/>
              <a:ext cx="88583" cy="70009"/>
            </a:xfrm>
            <a:prstGeom prst="rect">
              <a:avLst/>
            </a:prstGeom>
            <a:solidFill>
              <a:srgbClr val="5B9FB6"/>
            </a:solidFill>
            <a:ln w="7290">
              <a:noFill/>
            </a:ln>
          </p:spPr>
        </p:sp>
        <p:sp>
          <p:nvSpPr>
            <p:cNvPr id="1287" name="Match matrix 0-2">
              <a:extLst>
                <a:ext uri="{FF2B5EF4-FFF2-40B4-BE49-F238E27FC236}">
                  <a16:creationId xmlns:a16="http://schemas.microsoft.com/office/drawing/2014/main" id="{7AA444A0-2B6A-4C23-EFFA-BB0D0814FEA4}"/>
                </a:ext>
              </a:extLst>
            </p:cNvPr>
            <p:cNvSpPr>
              <a:spLocks noGrp="1"/>
            </p:cNvSpPr>
            <p:nvPr/>
          </p:nvSpPr>
          <p:spPr>
            <a:xfrm>
              <a:off x="4046000" y="7252039"/>
              <a:ext cx="88583" cy="70009"/>
            </a:xfrm>
            <a:prstGeom prst="rect">
              <a:avLst/>
            </a:prstGeom>
            <a:solidFill>
              <a:srgbClr val="A3CDDA"/>
            </a:solidFill>
            <a:ln w="7290">
              <a:noFill/>
            </a:ln>
          </p:spPr>
        </p:sp>
        <p:sp>
          <p:nvSpPr>
            <p:cNvPr id="1288" name="Match matrix 0-3">
              <a:extLst>
                <a:ext uri="{FF2B5EF4-FFF2-40B4-BE49-F238E27FC236}">
                  <a16:creationId xmlns:a16="http://schemas.microsoft.com/office/drawing/2014/main" id="{FA614244-906C-CFFC-1294-6D233D01CB35}"/>
                </a:ext>
              </a:extLst>
            </p:cNvPr>
            <p:cNvSpPr>
              <a:spLocks noGrp="1"/>
            </p:cNvSpPr>
            <p:nvPr/>
          </p:nvSpPr>
          <p:spPr>
            <a:xfrm>
              <a:off x="4138868" y="7252039"/>
              <a:ext cx="88583" cy="70009"/>
            </a:xfrm>
            <a:prstGeom prst="rect">
              <a:avLst/>
            </a:prstGeom>
            <a:solidFill>
              <a:srgbClr val="88BEC3"/>
            </a:solidFill>
            <a:ln w="7290">
              <a:noFill/>
            </a:ln>
          </p:spPr>
        </p:sp>
        <p:sp>
          <p:nvSpPr>
            <p:cNvPr id="1289" name="Match matrix 0-4">
              <a:extLst>
                <a:ext uri="{FF2B5EF4-FFF2-40B4-BE49-F238E27FC236}">
                  <a16:creationId xmlns:a16="http://schemas.microsoft.com/office/drawing/2014/main" id="{EE4A1296-1DD3-454F-610D-2BDEB1D0EFA9}"/>
                </a:ext>
              </a:extLst>
            </p:cNvPr>
            <p:cNvSpPr>
              <a:spLocks noGrp="1"/>
            </p:cNvSpPr>
            <p:nvPr/>
          </p:nvSpPr>
          <p:spPr>
            <a:xfrm>
              <a:off x="4231737" y="7252039"/>
              <a:ext cx="88583" cy="70009"/>
            </a:xfrm>
            <a:prstGeom prst="rect">
              <a:avLst/>
            </a:prstGeom>
            <a:solidFill>
              <a:srgbClr val="67AD9F"/>
            </a:solidFill>
            <a:ln w="7290">
              <a:noFill/>
            </a:ln>
          </p:spPr>
        </p:sp>
        <p:sp>
          <p:nvSpPr>
            <p:cNvPr id="1290" name="Match matrix 0-5">
              <a:extLst>
                <a:ext uri="{FF2B5EF4-FFF2-40B4-BE49-F238E27FC236}">
                  <a16:creationId xmlns:a16="http://schemas.microsoft.com/office/drawing/2014/main" id="{A27DCA6A-D9A0-89D2-300F-145A0353541B}"/>
                </a:ext>
              </a:extLst>
            </p:cNvPr>
            <p:cNvSpPr>
              <a:spLocks noGrp="1"/>
            </p:cNvSpPr>
            <p:nvPr/>
          </p:nvSpPr>
          <p:spPr>
            <a:xfrm>
              <a:off x="4324606" y="7252039"/>
              <a:ext cx="88583" cy="70009"/>
            </a:xfrm>
            <a:prstGeom prst="rect">
              <a:avLst/>
            </a:prstGeom>
            <a:solidFill>
              <a:srgbClr val="C4DDE0"/>
            </a:solidFill>
            <a:ln w="7290">
              <a:noFill/>
            </a:ln>
          </p:spPr>
        </p:sp>
        <p:sp>
          <p:nvSpPr>
            <p:cNvPr id="1291" name="Match matrix 0-6">
              <a:extLst>
                <a:ext uri="{FF2B5EF4-FFF2-40B4-BE49-F238E27FC236}">
                  <a16:creationId xmlns:a16="http://schemas.microsoft.com/office/drawing/2014/main" id="{110481AC-0BB3-A98A-15F4-6DA00B6462E6}"/>
                </a:ext>
              </a:extLst>
            </p:cNvPr>
            <p:cNvSpPr>
              <a:spLocks noGrp="1"/>
            </p:cNvSpPr>
            <p:nvPr/>
          </p:nvSpPr>
          <p:spPr>
            <a:xfrm>
              <a:off x="4417475" y="7252039"/>
              <a:ext cx="88583" cy="70009"/>
            </a:xfrm>
            <a:prstGeom prst="rect">
              <a:avLst/>
            </a:prstGeom>
            <a:solidFill>
              <a:srgbClr val="B6D8CC"/>
            </a:solidFill>
            <a:ln w="7290">
              <a:noFill/>
            </a:ln>
          </p:spPr>
        </p:sp>
        <p:sp>
          <p:nvSpPr>
            <p:cNvPr id="1292" name="Match matrix 0-7">
              <a:extLst>
                <a:ext uri="{FF2B5EF4-FFF2-40B4-BE49-F238E27FC236}">
                  <a16:creationId xmlns:a16="http://schemas.microsoft.com/office/drawing/2014/main" id="{CA0FE5FF-20F8-A515-1575-D2B579C6A384}"/>
                </a:ext>
              </a:extLst>
            </p:cNvPr>
            <p:cNvSpPr>
              <a:spLocks noGrp="1"/>
            </p:cNvSpPr>
            <p:nvPr/>
          </p:nvSpPr>
          <p:spPr>
            <a:xfrm>
              <a:off x="4510343" y="7252039"/>
              <a:ext cx="88583" cy="70009"/>
            </a:xfrm>
            <a:prstGeom prst="rect">
              <a:avLst/>
            </a:prstGeom>
            <a:solidFill>
              <a:srgbClr val="D6E5ED"/>
            </a:solidFill>
            <a:ln w="7290">
              <a:noFill/>
            </a:ln>
          </p:spPr>
        </p:sp>
        <p:sp>
          <p:nvSpPr>
            <p:cNvPr id="1293" name="Match matrix 1-0">
              <a:extLst>
                <a:ext uri="{FF2B5EF4-FFF2-40B4-BE49-F238E27FC236}">
                  <a16:creationId xmlns:a16="http://schemas.microsoft.com/office/drawing/2014/main" id="{62DD97DC-E1EF-3AC8-77C6-31E750CF1688}"/>
                </a:ext>
              </a:extLst>
            </p:cNvPr>
            <p:cNvSpPr>
              <a:spLocks noGrp="1"/>
            </p:cNvSpPr>
            <p:nvPr/>
          </p:nvSpPr>
          <p:spPr>
            <a:xfrm>
              <a:off x="3860262" y="7326334"/>
              <a:ext cx="88583" cy="70009"/>
            </a:xfrm>
            <a:prstGeom prst="rect">
              <a:avLst/>
            </a:prstGeom>
            <a:solidFill>
              <a:srgbClr val="A3CDDA"/>
            </a:solidFill>
            <a:ln w="7290">
              <a:noFill/>
            </a:ln>
          </p:spPr>
        </p:sp>
        <p:sp>
          <p:nvSpPr>
            <p:cNvPr id="1294" name="Match matrix 1-1">
              <a:extLst>
                <a:ext uri="{FF2B5EF4-FFF2-40B4-BE49-F238E27FC236}">
                  <a16:creationId xmlns:a16="http://schemas.microsoft.com/office/drawing/2014/main" id="{B545DCC8-F9BD-6322-3BD3-A195D0A92FFB}"/>
                </a:ext>
              </a:extLst>
            </p:cNvPr>
            <p:cNvSpPr>
              <a:spLocks noGrp="1"/>
            </p:cNvSpPr>
            <p:nvPr/>
          </p:nvSpPr>
          <p:spPr>
            <a:xfrm>
              <a:off x="3953131" y="7326334"/>
              <a:ext cx="88583" cy="70009"/>
            </a:xfrm>
            <a:prstGeom prst="rect">
              <a:avLst/>
            </a:prstGeom>
            <a:solidFill>
              <a:srgbClr val="B6D8CC"/>
            </a:solidFill>
            <a:ln w="7290">
              <a:noFill/>
            </a:ln>
          </p:spPr>
        </p:sp>
        <p:sp>
          <p:nvSpPr>
            <p:cNvPr id="1295" name="Match matrix 1-2">
              <a:extLst>
                <a:ext uri="{FF2B5EF4-FFF2-40B4-BE49-F238E27FC236}">
                  <a16:creationId xmlns:a16="http://schemas.microsoft.com/office/drawing/2014/main" id="{CA362456-65E1-995A-0618-99CCC4184C18}"/>
                </a:ext>
              </a:extLst>
            </p:cNvPr>
            <p:cNvSpPr>
              <a:spLocks noGrp="1"/>
            </p:cNvSpPr>
            <p:nvPr/>
          </p:nvSpPr>
          <p:spPr>
            <a:xfrm>
              <a:off x="4046000" y="7326334"/>
              <a:ext cx="88583" cy="70009"/>
            </a:xfrm>
            <a:prstGeom prst="rect">
              <a:avLst/>
            </a:prstGeom>
            <a:solidFill>
              <a:srgbClr val="88BEC3"/>
            </a:solidFill>
            <a:ln w="7290">
              <a:noFill/>
            </a:ln>
          </p:spPr>
        </p:sp>
        <p:sp>
          <p:nvSpPr>
            <p:cNvPr id="1296" name="Match matrix 1-3">
              <a:extLst>
                <a:ext uri="{FF2B5EF4-FFF2-40B4-BE49-F238E27FC236}">
                  <a16:creationId xmlns:a16="http://schemas.microsoft.com/office/drawing/2014/main" id="{A2C35F9E-7361-3F63-4B0D-A98BA11C6FD6}"/>
                </a:ext>
              </a:extLst>
            </p:cNvPr>
            <p:cNvSpPr>
              <a:spLocks noGrp="1"/>
            </p:cNvSpPr>
            <p:nvPr/>
          </p:nvSpPr>
          <p:spPr>
            <a:xfrm>
              <a:off x="4138868" y="7326334"/>
              <a:ext cx="88583" cy="70009"/>
            </a:xfrm>
            <a:prstGeom prst="rect">
              <a:avLst/>
            </a:prstGeom>
            <a:solidFill>
              <a:srgbClr val="D6E5ED"/>
            </a:solidFill>
            <a:ln w="7290">
              <a:noFill/>
            </a:ln>
          </p:spPr>
        </p:sp>
        <p:sp>
          <p:nvSpPr>
            <p:cNvPr id="1297" name="Match matrix 1-4">
              <a:extLst>
                <a:ext uri="{FF2B5EF4-FFF2-40B4-BE49-F238E27FC236}">
                  <a16:creationId xmlns:a16="http://schemas.microsoft.com/office/drawing/2014/main" id="{FAAA67D0-1522-17CF-8376-8D76753F582D}"/>
                </a:ext>
              </a:extLst>
            </p:cNvPr>
            <p:cNvSpPr>
              <a:spLocks noGrp="1"/>
            </p:cNvSpPr>
            <p:nvPr/>
          </p:nvSpPr>
          <p:spPr>
            <a:xfrm>
              <a:off x="4231737" y="7326334"/>
              <a:ext cx="88583" cy="70009"/>
            </a:xfrm>
            <a:prstGeom prst="rect">
              <a:avLst/>
            </a:prstGeom>
            <a:solidFill>
              <a:srgbClr val="5B9FB6"/>
            </a:solidFill>
            <a:ln w="7290">
              <a:noFill/>
            </a:ln>
          </p:spPr>
        </p:sp>
        <p:sp>
          <p:nvSpPr>
            <p:cNvPr id="1298" name="Match matrix 1-5">
              <a:extLst>
                <a:ext uri="{FF2B5EF4-FFF2-40B4-BE49-F238E27FC236}">
                  <a16:creationId xmlns:a16="http://schemas.microsoft.com/office/drawing/2014/main" id="{8EFA4585-A006-C810-377D-DBA6C87576CE}"/>
                </a:ext>
              </a:extLst>
            </p:cNvPr>
            <p:cNvSpPr>
              <a:spLocks noGrp="1"/>
            </p:cNvSpPr>
            <p:nvPr/>
          </p:nvSpPr>
          <p:spPr>
            <a:xfrm>
              <a:off x="4324606" y="7326334"/>
              <a:ext cx="88583" cy="70009"/>
            </a:xfrm>
            <a:prstGeom prst="rect">
              <a:avLst/>
            </a:prstGeom>
            <a:solidFill>
              <a:srgbClr val="3E8F9A"/>
            </a:solidFill>
            <a:ln w="7290">
              <a:noFill/>
            </a:ln>
          </p:spPr>
        </p:sp>
        <p:sp>
          <p:nvSpPr>
            <p:cNvPr id="1299" name="Match matrix 1-6">
              <a:extLst>
                <a:ext uri="{FF2B5EF4-FFF2-40B4-BE49-F238E27FC236}">
                  <a16:creationId xmlns:a16="http://schemas.microsoft.com/office/drawing/2014/main" id="{64D11889-0CF0-CA9A-1917-2BF4C8C70236}"/>
                </a:ext>
              </a:extLst>
            </p:cNvPr>
            <p:cNvSpPr>
              <a:spLocks noGrp="1"/>
            </p:cNvSpPr>
            <p:nvPr/>
          </p:nvSpPr>
          <p:spPr>
            <a:xfrm>
              <a:off x="4417475" y="7326334"/>
              <a:ext cx="88583" cy="70009"/>
            </a:xfrm>
            <a:prstGeom prst="rect">
              <a:avLst/>
            </a:prstGeom>
            <a:solidFill>
              <a:srgbClr val="C4DDE0"/>
            </a:solidFill>
            <a:ln w="7290">
              <a:noFill/>
            </a:ln>
          </p:spPr>
        </p:sp>
        <p:sp>
          <p:nvSpPr>
            <p:cNvPr id="1300" name="Match matrix 1-7">
              <a:extLst>
                <a:ext uri="{FF2B5EF4-FFF2-40B4-BE49-F238E27FC236}">
                  <a16:creationId xmlns:a16="http://schemas.microsoft.com/office/drawing/2014/main" id="{188B5773-F5C9-7D4C-8152-FA7D9B627789}"/>
                </a:ext>
              </a:extLst>
            </p:cNvPr>
            <p:cNvSpPr>
              <a:spLocks noGrp="1"/>
            </p:cNvSpPr>
            <p:nvPr/>
          </p:nvSpPr>
          <p:spPr>
            <a:xfrm>
              <a:off x="4510343" y="7326334"/>
              <a:ext cx="88583" cy="70009"/>
            </a:xfrm>
            <a:prstGeom prst="rect">
              <a:avLst/>
            </a:prstGeom>
            <a:solidFill>
              <a:srgbClr val="67AD9F"/>
            </a:solidFill>
            <a:ln w="7290">
              <a:noFill/>
            </a:ln>
          </p:spPr>
        </p:sp>
        <p:sp>
          <p:nvSpPr>
            <p:cNvPr id="1301" name="Match matrix 2-0">
              <a:extLst>
                <a:ext uri="{FF2B5EF4-FFF2-40B4-BE49-F238E27FC236}">
                  <a16:creationId xmlns:a16="http://schemas.microsoft.com/office/drawing/2014/main" id="{BBF02AFB-8489-0057-17C0-1186E4D7244F}"/>
                </a:ext>
              </a:extLst>
            </p:cNvPr>
            <p:cNvSpPr>
              <a:spLocks noGrp="1"/>
            </p:cNvSpPr>
            <p:nvPr/>
          </p:nvSpPr>
          <p:spPr>
            <a:xfrm>
              <a:off x="3860262" y="7400629"/>
              <a:ext cx="88583" cy="70009"/>
            </a:xfrm>
            <a:prstGeom prst="rect">
              <a:avLst/>
            </a:prstGeom>
            <a:solidFill>
              <a:srgbClr val="67AD9F"/>
            </a:solidFill>
            <a:ln w="7290">
              <a:noFill/>
            </a:ln>
          </p:spPr>
        </p:sp>
        <p:sp>
          <p:nvSpPr>
            <p:cNvPr id="1302" name="Match matrix 2-1">
              <a:extLst>
                <a:ext uri="{FF2B5EF4-FFF2-40B4-BE49-F238E27FC236}">
                  <a16:creationId xmlns:a16="http://schemas.microsoft.com/office/drawing/2014/main" id="{4D1F1E41-46E5-997B-A9A2-D4A7E86A821C}"/>
                </a:ext>
              </a:extLst>
            </p:cNvPr>
            <p:cNvSpPr>
              <a:spLocks noGrp="1"/>
            </p:cNvSpPr>
            <p:nvPr/>
          </p:nvSpPr>
          <p:spPr>
            <a:xfrm>
              <a:off x="3953131" y="7400629"/>
              <a:ext cx="88583" cy="70009"/>
            </a:xfrm>
            <a:prstGeom prst="rect">
              <a:avLst/>
            </a:prstGeom>
            <a:solidFill>
              <a:srgbClr val="C4DDE0"/>
            </a:solidFill>
            <a:ln w="7290">
              <a:noFill/>
            </a:ln>
          </p:spPr>
        </p:sp>
        <p:sp>
          <p:nvSpPr>
            <p:cNvPr id="1303" name="Match matrix 2-2">
              <a:extLst>
                <a:ext uri="{FF2B5EF4-FFF2-40B4-BE49-F238E27FC236}">
                  <a16:creationId xmlns:a16="http://schemas.microsoft.com/office/drawing/2014/main" id="{BDC0B5DB-1FDB-9192-A8A8-9F9E9FC2CF48}"/>
                </a:ext>
              </a:extLst>
            </p:cNvPr>
            <p:cNvSpPr>
              <a:spLocks noGrp="1"/>
            </p:cNvSpPr>
            <p:nvPr/>
          </p:nvSpPr>
          <p:spPr>
            <a:xfrm>
              <a:off x="4046000" y="7400629"/>
              <a:ext cx="88583" cy="70009"/>
            </a:xfrm>
            <a:prstGeom prst="rect">
              <a:avLst/>
            </a:prstGeom>
            <a:solidFill>
              <a:srgbClr val="5B9FB6"/>
            </a:solidFill>
            <a:ln w="7290">
              <a:noFill/>
            </a:ln>
          </p:spPr>
        </p:sp>
        <p:sp>
          <p:nvSpPr>
            <p:cNvPr id="1304" name="Match matrix 2-3">
              <a:extLst>
                <a:ext uri="{FF2B5EF4-FFF2-40B4-BE49-F238E27FC236}">
                  <a16:creationId xmlns:a16="http://schemas.microsoft.com/office/drawing/2014/main" id="{9C663294-FCA2-F8DE-2AEC-EEF54C48921A}"/>
                </a:ext>
              </a:extLst>
            </p:cNvPr>
            <p:cNvSpPr>
              <a:spLocks noGrp="1"/>
            </p:cNvSpPr>
            <p:nvPr/>
          </p:nvSpPr>
          <p:spPr>
            <a:xfrm>
              <a:off x="4138868" y="7400629"/>
              <a:ext cx="88583" cy="70009"/>
            </a:xfrm>
            <a:prstGeom prst="rect">
              <a:avLst/>
            </a:prstGeom>
            <a:solidFill>
              <a:srgbClr val="B6D8CC"/>
            </a:solidFill>
            <a:ln w="7290">
              <a:noFill/>
            </a:ln>
          </p:spPr>
        </p:sp>
        <p:sp>
          <p:nvSpPr>
            <p:cNvPr id="1305" name="Match matrix 2-4">
              <a:extLst>
                <a:ext uri="{FF2B5EF4-FFF2-40B4-BE49-F238E27FC236}">
                  <a16:creationId xmlns:a16="http://schemas.microsoft.com/office/drawing/2014/main" id="{28E76182-0A60-4A72-9586-C12459BE0B58}"/>
                </a:ext>
              </a:extLst>
            </p:cNvPr>
            <p:cNvSpPr>
              <a:spLocks noGrp="1"/>
            </p:cNvSpPr>
            <p:nvPr/>
          </p:nvSpPr>
          <p:spPr>
            <a:xfrm>
              <a:off x="4231737" y="7400629"/>
              <a:ext cx="88583" cy="70009"/>
            </a:xfrm>
            <a:prstGeom prst="rect">
              <a:avLst/>
            </a:prstGeom>
            <a:solidFill>
              <a:srgbClr val="3E8F9A"/>
            </a:solidFill>
            <a:ln w="7290">
              <a:noFill/>
            </a:ln>
          </p:spPr>
        </p:sp>
        <p:sp>
          <p:nvSpPr>
            <p:cNvPr id="1306" name="Match matrix 2-5">
              <a:extLst>
                <a:ext uri="{FF2B5EF4-FFF2-40B4-BE49-F238E27FC236}">
                  <a16:creationId xmlns:a16="http://schemas.microsoft.com/office/drawing/2014/main" id="{29FC68A5-EB54-9596-85EC-EDC1175B056F}"/>
                </a:ext>
              </a:extLst>
            </p:cNvPr>
            <p:cNvSpPr>
              <a:spLocks noGrp="1"/>
            </p:cNvSpPr>
            <p:nvPr/>
          </p:nvSpPr>
          <p:spPr>
            <a:xfrm>
              <a:off x="4324606" y="7400629"/>
              <a:ext cx="88583" cy="70009"/>
            </a:xfrm>
            <a:prstGeom prst="rect">
              <a:avLst/>
            </a:prstGeom>
            <a:solidFill>
              <a:srgbClr val="D6E5ED"/>
            </a:solidFill>
            <a:ln w="7290">
              <a:noFill/>
            </a:ln>
          </p:spPr>
        </p:sp>
        <p:sp>
          <p:nvSpPr>
            <p:cNvPr id="1307" name="Match matrix 2-6">
              <a:extLst>
                <a:ext uri="{FF2B5EF4-FFF2-40B4-BE49-F238E27FC236}">
                  <a16:creationId xmlns:a16="http://schemas.microsoft.com/office/drawing/2014/main" id="{59C9C8C5-D90A-7A02-93D3-957FE3AE7DC3}"/>
                </a:ext>
              </a:extLst>
            </p:cNvPr>
            <p:cNvSpPr>
              <a:spLocks noGrp="1"/>
            </p:cNvSpPr>
            <p:nvPr/>
          </p:nvSpPr>
          <p:spPr>
            <a:xfrm>
              <a:off x="4417475" y="7400629"/>
              <a:ext cx="88583" cy="70009"/>
            </a:xfrm>
            <a:prstGeom prst="rect">
              <a:avLst/>
            </a:prstGeom>
            <a:solidFill>
              <a:srgbClr val="88BEC3"/>
            </a:solidFill>
            <a:ln w="7290">
              <a:noFill/>
            </a:ln>
          </p:spPr>
        </p:sp>
        <p:sp>
          <p:nvSpPr>
            <p:cNvPr id="1308" name="Match matrix 2-7">
              <a:extLst>
                <a:ext uri="{FF2B5EF4-FFF2-40B4-BE49-F238E27FC236}">
                  <a16:creationId xmlns:a16="http://schemas.microsoft.com/office/drawing/2014/main" id="{83DFB888-0521-0863-270C-DBAF169C149A}"/>
                </a:ext>
              </a:extLst>
            </p:cNvPr>
            <p:cNvSpPr>
              <a:spLocks noGrp="1"/>
            </p:cNvSpPr>
            <p:nvPr/>
          </p:nvSpPr>
          <p:spPr>
            <a:xfrm>
              <a:off x="4510343" y="7400629"/>
              <a:ext cx="88583" cy="70009"/>
            </a:xfrm>
            <a:prstGeom prst="rect">
              <a:avLst/>
            </a:prstGeom>
            <a:solidFill>
              <a:srgbClr val="A3CDDA"/>
            </a:solidFill>
            <a:ln w="7290">
              <a:noFill/>
            </a:ln>
          </p:spPr>
        </p:sp>
        <p:sp>
          <p:nvSpPr>
            <p:cNvPr id="1309" name="Match matrix 3-0">
              <a:extLst>
                <a:ext uri="{FF2B5EF4-FFF2-40B4-BE49-F238E27FC236}">
                  <a16:creationId xmlns:a16="http://schemas.microsoft.com/office/drawing/2014/main" id="{CDAE8F1E-742C-7BA1-EB00-87CA9B9E40A2}"/>
                </a:ext>
              </a:extLst>
            </p:cNvPr>
            <p:cNvSpPr>
              <a:spLocks noGrp="1"/>
            </p:cNvSpPr>
            <p:nvPr/>
          </p:nvSpPr>
          <p:spPr>
            <a:xfrm>
              <a:off x="3860262" y="7474924"/>
              <a:ext cx="88583" cy="70009"/>
            </a:xfrm>
            <a:prstGeom prst="rect">
              <a:avLst/>
            </a:prstGeom>
            <a:solidFill>
              <a:srgbClr val="88BEC3"/>
            </a:solidFill>
            <a:ln w="7290">
              <a:noFill/>
            </a:ln>
          </p:spPr>
        </p:sp>
        <p:sp>
          <p:nvSpPr>
            <p:cNvPr id="1310" name="Match matrix 3-1">
              <a:extLst>
                <a:ext uri="{FF2B5EF4-FFF2-40B4-BE49-F238E27FC236}">
                  <a16:creationId xmlns:a16="http://schemas.microsoft.com/office/drawing/2014/main" id="{74117986-6240-D77F-909C-522F6146D289}"/>
                </a:ext>
              </a:extLst>
            </p:cNvPr>
            <p:cNvSpPr>
              <a:spLocks noGrp="1"/>
            </p:cNvSpPr>
            <p:nvPr/>
          </p:nvSpPr>
          <p:spPr>
            <a:xfrm>
              <a:off x="3953131" y="7474924"/>
              <a:ext cx="88583" cy="70009"/>
            </a:xfrm>
            <a:prstGeom prst="rect">
              <a:avLst/>
            </a:prstGeom>
            <a:solidFill>
              <a:srgbClr val="D6E5ED"/>
            </a:solidFill>
            <a:ln w="7290">
              <a:noFill/>
            </a:ln>
          </p:spPr>
        </p:sp>
        <p:sp>
          <p:nvSpPr>
            <p:cNvPr id="1311" name="Match matrix 3-2">
              <a:extLst>
                <a:ext uri="{FF2B5EF4-FFF2-40B4-BE49-F238E27FC236}">
                  <a16:creationId xmlns:a16="http://schemas.microsoft.com/office/drawing/2014/main" id="{68BD8A38-75EC-BA37-589D-F9C3EBE804E8}"/>
                </a:ext>
              </a:extLst>
            </p:cNvPr>
            <p:cNvSpPr>
              <a:spLocks noGrp="1"/>
            </p:cNvSpPr>
            <p:nvPr/>
          </p:nvSpPr>
          <p:spPr>
            <a:xfrm>
              <a:off x="4046000" y="7474924"/>
              <a:ext cx="88583" cy="70009"/>
            </a:xfrm>
            <a:prstGeom prst="rect">
              <a:avLst/>
            </a:prstGeom>
            <a:solidFill>
              <a:srgbClr val="67AD9F"/>
            </a:solidFill>
            <a:ln w="7290">
              <a:noFill/>
            </a:ln>
          </p:spPr>
        </p:sp>
        <p:sp>
          <p:nvSpPr>
            <p:cNvPr id="1312" name="Match matrix 3-3">
              <a:extLst>
                <a:ext uri="{FF2B5EF4-FFF2-40B4-BE49-F238E27FC236}">
                  <a16:creationId xmlns:a16="http://schemas.microsoft.com/office/drawing/2014/main" id="{BA2E6B5A-7074-DCD3-8646-836425ECA4E6}"/>
                </a:ext>
              </a:extLst>
            </p:cNvPr>
            <p:cNvSpPr>
              <a:spLocks noGrp="1"/>
            </p:cNvSpPr>
            <p:nvPr/>
          </p:nvSpPr>
          <p:spPr>
            <a:xfrm>
              <a:off x="4138868" y="7474924"/>
              <a:ext cx="88583" cy="70009"/>
            </a:xfrm>
            <a:prstGeom prst="rect">
              <a:avLst/>
            </a:prstGeom>
            <a:solidFill>
              <a:srgbClr val="3E8F9A"/>
            </a:solidFill>
            <a:ln w="7290">
              <a:noFill/>
            </a:ln>
          </p:spPr>
        </p:sp>
        <p:sp>
          <p:nvSpPr>
            <p:cNvPr id="1313" name="Match matrix 3-4">
              <a:extLst>
                <a:ext uri="{FF2B5EF4-FFF2-40B4-BE49-F238E27FC236}">
                  <a16:creationId xmlns:a16="http://schemas.microsoft.com/office/drawing/2014/main" id="{E2B9FFDB-87E6-991D-6FE1-3A8ED7934F53}"/>
                </a:ext>
              </a:extLst>
            </p:cNvPr>
            <p:cNvSpPr>
              <a:spLocks noGrp="1"/>
            </p:cNvSpPr>
            <p:nvPr/>
          </p:nvSpPr>
          <p:spPr>
            <a:xfrm>
              <a:off x="4231737" y="7474924"/>
              <a:ext cx="88583" cy="70009"/>
            </a:xfrm>
            <a:prstGeom prst="rect">
              <a:avLst/>
            </a:prstGeom>
            <a:solidFill>
              <a:srgbClr val="C4DDE0"/>
            </a:solidFill>
            <a:ln w="7290">
              <a:noFill/>
            </a:ln>
          </p:spPr>
        </p:sp>
        <p:sp>
          <p:nvSpPr>
            <p:cNvPr id="1314" name="Match matrix 3-5">
              <a:extLst>
                <a:ext uri="{FF2B5EF4-FFF2-40B4-BE49-F238E27FC236}">
                  <a16:creationId xmlns:a16="http://schemas.microsoft.com/office/drawing/2014/main" id="{93BBAAA9-24B8-1E29-A6DC-8B4D096073B5}"/>
                </a:ext>
              </a:extLst>
            </p:cNvPr>
            <p:cNvSpPr>
              <a:spLocks noGrp="1"/>
            </p:cNvSpPr>
            <p:nvPr/>
          </p:nvSpPr>
          <p:spPr>
            <a:xfrm>
              <a:off x="4324606" y="7474924"/>
              <a:ext cx="88583" cy="70009"/>
            </a:xfrm>
            <a:prstGeom prst="rect">
              <a:avLst/>
            </a:prstGeom>
            <a:solidFill>
              <a:srgbClr val="A3CDDA"/>
            </a:solidFill>
            <a:ln w="7290">
              <a:noFill/>
            </a:ln>
          </p:spPr>
        </p:sp>
        <p:sp>
          <p:nvSpPr>
            <p:cNvPr id="1315" name="Match matrix 3-6">
              <a:extLst>
                <a:ext uri="{FF2B5EF4-FFF2-40B4-BE49-F238E27FC236}">
                  <a16:creationId xmlns:a16="http://schemas.microsoft.com/office/drawing/2014/main" id="{68A528E6-65EA-9C73-7412-55AD6CD16CE8}"/>
                </a:ext>
              </a:extLst>
            </p:cNvPr>
            <p:cNvSpPr>
              <a:spLocks noGrp="1"/>
            </p:cNvSpPr>
            <p:nvPr/>
          </p:nvSpPr>
          <p:spPr>
            <a:xfrm>
              <a:off x="4417475" y="7474924"/>
              <a:ext cx="88583" cy="70009"/>
            </a:xfrm>
            <a:prstGeom prst="rect">
              <a:avLst/>
            </a:prstGeom>
            <a:solidFill>
              <a:srgbClr val="B6D8CC"/>
            </a:solidFill>
            <a:ln w="7290">
              <a:noFill/>
            </a:ln>
          </p:spPr>
        </p:sp>
        <p:sp>
          <p:nvSpPr>
            <p:cNvPr id="1316" name="Match matrix 3-7">
              <a:extLst>
                <a:ext uri="{FF2B5EF4-FFF2-40B4-BE49-F238E27FC236}">
                  <a16:creationId xmlns:a16="http://schemas.microsoft.com/office/drawing/2014/main" id="{2EEE91B3-D81D-6257-AECC-400C8A929123}"/>
                </a:ext>
              </a:extLst>
            </p:cNvPr>
            <p:cNvSpPr>
              <a:spLocks noGrp="1"/>
            </p:cNvSpPr>
            <p:nvPr/>
          </p:nvSpPr>
          <p:spPr>
            <a:xfrm>
              <a:off x="4510343" y="7474924"/>
              <a:ext cx="88583" cy="70009"/>
            </a:xfrm>
            <a:prstGeom prst="rect">
              <a:avLst/>
            </a:prstGeom>
            <a:solidFill>
              <a:srgbClr val="5B9FB6"/>
            </a:solidFill>
            <a:ln w="7290">
              <a:noFill/>
            </a:ln>
          </p:spPr>
        </p:sp>
        <p:sp>
          <p:nvSpPr>
            <p:cNvPr id="1318" name="SMILES continuation 806-628.2">
              <a:extLst>
                <a:ext uri="{FF2B5EF4-FFF2-40B4-BE49-F238E27FC236}">
                  <a16:creationId xmlns:a16="http://schemas.microsoft.com/office/drawing/2014/main" id="{F23A2C65-E88A-BB4F-DB2B-F6BDFE0A90A0}"/>
                </a:ext>
              </a:extLst>
            </p:cNvPr>
            <p:cNvSpPr>
              <a:spLocks noGrp="1"/>
            </p:cNvSpPr>
            <p:nvPr/>
          </p:nvSpPr>
          <p:spPr>
            <a:xfrm>
              <a:off x="8003637" y="5974080"/>
              <a:ext cx="19050" cy="19050"/>
            </a:xfrm>
            <a:prstGeom prst="ellipse">
              <a:avLst/>
            </a:prstGeom>
            <a:solidFill>
              <a:srgbClr val="71808C"/>
            </a:solidFill>
            <a:ln w="0">
              <a:noFill/>
            </a:ln>
          </p:spPr>
        </p:sp>
        <p:sp>
          <p:nvSpPr>
            <p:cNvPr id="1319" name="SMILES continuation 812-628.2">
              <a:extLst>
                <a:ext uri="{FF2B5EF4-FFF2-40B4-BE49-F238E27FC236}">
                  <a16:creationId xmlns:a16="http://schemas.microsoft.com/office/drawing/2014/main" id="{3B989565-3BAD-D4AD-9254-F92A9CA55F5F}"/>
                </a:ext>
              </a:extLst>
            </p:cNvPr>
            <p:cNvSpPr>
              <a:spLocks noGrp="1"/>
            </p:cNvSpPr>
            <p:nvPr/>
          </p:nvSpPr>
          <p:spPr>
            <a:xfrm>
              <a:off x="8060787" y="5974080"/>
              <a:ext cx="19050" cy="19050"/>
            </a:xfrm>
            <a:prstGeom prst="ellipse">
              <a:avLst/>
            </a:prstGeom>
            <a:solidFill>
              <a:srgbClr val="71808C"/>
            </a:solidFill>
            <a:ln w="0">
              <a:noFill/>
            </a:ln>
          </p:spPr>
        </p:sp>
        <p:sp>
          <p:nvSpPr>
            <p:cNvPr id="1320" name="SMILES continuation 818-628.2">
              <a:extLst>
                <a:ext uri="{FF2B5EF4-FFF2-40B4-BE49-F238E27FC236}">
                  <a16:creationId xmlns:a16="http://schemas.microsoft.com/office/drawing/2014/main" id="{42B8B6C2-B43E-383F-14DE-C418D4494332}"/>
                </a:ext>
              </a:extLst>
            </p:cNvPr>
            <p:cNvSpPr>
              <a:spLocks noGrp="1"/>
            </p:cNvSpPr>
            <p:nvPr/>
          </p:nvSpPr>
          <p:spPr>
            <a:xfrm>
              <a:off x="8117937" y="5974080"/>
              <a:ext cx="19050" cy="19050"/>
            </a:xfrm>
            <a:prstGeom prst="ellipse">
              <a:avLst/>
            </a:prstGeom>
            <a:solidFill>
              <a:srgbClr val="71808C"/>
            </a:solidFill>
            <a:ln w="0">
              <a:noFill/>
            </a:ln>
          </p:spPr>
        </p:sp>
        <p:sp>
          <p:nvSpPr>
            <p:cNvPr id="1321" name="SMILES continuation 806-667">
              <a:extLst>
                <a:ext uri="{FF2B5EF4-FFF2-40B4-BE49-F238E27FC236}">
                  <a16:creationId xmlns:a16="http://schemas.microsoft.com/office/drawing/2014/main" id="{39894408-4EFC-1123-4D43-5E7226F5F0C0}"/>
                </a:ext>
              </a:extLst>
            </p:cNvPr>
            <p:cNvSpPr>
              <a:spLocks noGrp="1"/>
            </p:cNvSpPr>
            <p:nvPr/>
          </p:nvSpPr>
          <p:spPr>
            <a:xfrm>
              <a:off x="8003637" y="6343650"/>
              <a:ext cx="19050" cy="19050"/>
            </a:xfrm>
            <a:prstGeom prst="ellipse">
              <a:avLst/>
            </a:prstGeom>
            <a:solidFill>
              <a:srgbClr val="71808C"/>
            </a:solidFill>
            <a:ln w="0">
              <a:noFill/>
            </a:ln>
          </p:spPr>
        </p:sp>
        <p:sp>
          <p:nvSpPr>
            <p:cNvPr id="1322" name="SMILES continuation 812-667">
              <a:extLst>
                <a:ext uri="{FF2B5EF4-FFF2-40B4-BE49-F238E27FC236}">
                  <a16:creationId xmlns:a16="http://schemas.microsoft.com/office/drawing/2014/main" id="{B15788D5-8154-0220-0ADD-B84E221B0B6F}"/>
                </a:ext>
              </a:extLst>
            </p:cNvPr>
            <p:cNvSpPr>
              <a:spLocks noGrp="1"/>
            </p:cNvSpPr>
            <p:nvPr/>
          </p:nvSpPr>
          <p:spPr>
            <a:xfrm>
              <a:off x="8060787" y="6343650"/>
              <a:ext cx="19050" cy="19050"/>
            </a:xfrm>
            <a:prstGeom prst="ellipse">
              <a:avLst/>
            </a:prstGeom>
            <a:solidFill>
              <a:srgbClr val="71808C"/>
            </a:solidFill>
            <a:ln w="0">
              <a:noFill/>
            </a:ln>
          </p:spPr>
        </p:sp>
        <p:sp>
          <p:nvSpPr>
            <p:cNvPr id="1323" name="SMILES continuation 818-667">
              <a:extLst>
                <a:ext uri="{FF2B5EF4-FFF2-40B4-BE49-F238E27FC236}">
                  <a16:creationId xmlns:a16="http://schemas.microsoft.com/office/drawing/2014/main" id="{06FB727B-1C36-BDAC-BF90-119F79F57919}"/>
                </a:ext>
              </a:extLst>
            </p:cNvPr>
            <p:cNvSpPr>
              <a:spLocks noGrp="1"/>
            </p:cNvSpPr>
            <p:nvPr/>
          </p:nvSpPr>
          <p:spPr>
            <a:xfrm>
              <a:off x="8117937" y="6343650"/>
              <a:ext cx="19050" cy="19050"/>
            </a:xfrm>
            <a:prstGeom prst="ellipse">
              <a:avLst/>
            </a:prstGeom>
            <a:solidFill>
              <a:srgbClr val="71808C"/>
            </a:solidFill>
            <a:ln w="0">
              <a:noFill/>
            </a:ln>
          </p:spPr>
        </p:sp>
        <p:sp>
          <p:nvSpPr>
            <p:cNvPr id="1324" name="Find density input">
              <a:extLst>
                <a:ext uri="{FF2B5EF4-FFF2-40B4-BE49-F238E27FC236}">
                  <a16:creationId xmlns:a16="http://schemas.microsoft.com/office/drawing/2014/main" id="{3BB3F16C-BBC6-CEA5-1D5F-BADEC13D0E07}"/>
                </a:ext>
              </a:extLst>
            </p:cNvPr>
            <p:cNvSpPr>
              <a:spLocks noGrp="1"/>
            </p:cNvSpPr>
            <p:nvPr/>
          </p:nvSpPr>
          <p:spPr>
            <a:xfrm flipV="1">
              <a:off x="2475621" y="1410958"/>
              <a:ext cx="692378" cy="107521"/>
            </a:xfrm>
            <a:custGeom>
              <a:avLst/>
              <a:gdLst/>
              <a:ahLst/>
              <a:cxnLst/>
              <a:rect l="0" t="0" r="0" b="0"/>
              <a:pathLst>
                <a:path w="125540" h="191">
                  <a:moveTo>
                    <a:pt x="0" y="0"/>
                  </a:moveTo>
                  <a:lnTo>
                    <a:pt x="125540" y="0"/>
                  </a:lnTo>
                </a:path>
              </a:pathLst>
            </a:custGeom>
            <a:noFill/>
            <a:ln w="8505">
              <a:solidFill>
                <a:srgbClr val="4083B4"/>
              </a:solidFill>
              <a:prstDash val="solid"/>
            </a:ln>
          </p:spPr>
        </p:sp>
        <p:sp>
          <p:nvSpPr>
            <p:cNvPr id="1325" name="Find density input head">
              <a:extLst>
                <a:ext uri="{FF2B5EF4-FFF2-40B4-BE49-F238E27FC236}">
                  <a16:creationId xmlns:a16="http://schemas.microsoft.com/office/drawing/2014/main" id="{DD01582E-D72F-DC2A-ED51-209065AB4BE2}"/>
                </a:ext>
              </a:extLst>
            </p:cNvPr>
            <p:cNvSpPr>
              <a:spLocks noGrp="1"/>
            </p:cNvSpPr>
            <p:nvPr/>
          </p:nvSpPr>
          <p:spPr>
            <a:xfrm>
              <a:off x="3123088" y="1489808"/>
              <a:ext cx="66676" cy="57339"/>
            </a:xfrm>
            <a:custGeom>
              <a:avLst/>
              <a:gdLst/>
              <a:ahLst/>
              <a:cxnLst/>
              <a:rect l="0" t="0" r="0" b="0"/>
              <a:pathLst>
                <a:path w="66675" h="57340">
                  <a:moveTo>
                    <a:pt x="66675" y="28670"/>
                  </a:moveTo>
                  <a:lnTo>
                    <a:pt x="0" y="0"/>
                  </a:lnTo>
                  <a:lnTo>
                    <a:pt x="0" y="57340"/>
                  </a:lnTo>
                  <a:close/>
                </a:path>
              </a:pathLst>
            </a:custGeom>
            <a:solidFill>
              <a:srgbClr val="4083B4"/>
            </a:solidFill>
            <a:ln w="0">
              <a:noFill/>
              <a:prstDash val="solid"/>
            </a:ln>
          </p:spPr>
        </p:sp>
        <p:sp>
          <p:nvSpPr>
            <p:cNvPr id="1328" name="Find receptor input">
              <a:extLst>
                <a:ext uri="{FF2B5EF4-FFF2-40B4-BE49-F238E27FC236}">
                  <a16:creationId xmlns:a16="http://schemas.microsoft.com/office/drawing/2014/main" id="{8835B13D-A150-D32A-EA5F-DF6B94803636}"/>
                </a:ext>
              </a:extLst>
            </p:cNvPr>
            <p:cNvSpPr>
              <a:spLocks noGrp="1"/>
            </p:cNvSpPr>
            <p:nvPr/>
          </p:nvSpPr>
          <p:spPr>
            <a:xfrm>
              <a:off x="2475621" y="3260557"/>
              <a:ext cx="692378" cy="107521"/>
            </a:xfrm>
            <a:custGeom>
              <a:avLst/>
              <a:gdLst/>
              <a:ahLst/>
              <a:cxnLst/>
              <a:rect l="0" t="0" r="0" b="0"/>
              <a:pathLst>
                <a:path w="125540" h="191">
                  <a:moveTo>
                    <a:pt x="0" y="0"/>
                  </a:moveTo>
                  <a:lnTo>
                    <a:pt x="125540" y="0"/>
                  </a:lnTo>
                </a:path>
              </a:pathLst>
            </a:custGeom>
            <a:solidFill>
              <a:srgbClr val="4083B4"/>
            </a:solidFill>
            <a:ln w="8505">
              <a:solidFill>
                <a:srgbClr val="4083B4"/>
              </a:solidFill>
              <a:prstDash val="solid"/>
            </a:ln>
          </p:spPr>
        </p:sp>
        <p:sp>
          <p:nvSpPr>
            <p:cNvPr id="1329" name="Find receptor input head">
              <a:extLst>
                <a:ext uri="{FF2B5EF4-FFF2-40B4-BE49-F238E27FC236}">
                  <a16:creationId xmlns:a16="http://schemas.microsoft.com/office/drawing/2014/main" id="{A5463DF5-F357-C133-4537-3687854104BD}"/>
                </a:ext>
              </a:extLst>
            </p:cNvPr>
            <p:cNvSpPr>
              <a:spLocks noGrp="1"/>
            </p:cNvSpPr>
            <p:nvPr/>
          </p:nvSpPr>
          <p:spPr>
            <a:xfrm>
              <a:off x="3123088" y="3231886"/>
              <a:ext cx="66676" cy="57339"/>
            </a:xfrm>
            <a:custGeom>
              <a:avLst/>
              <a:gdLst/>
              <a:ahLst/>
              <a:cxnLst/>
              <a:rect l="0" t="0" r="0" b="0"/>
              <a:pathLst>
                <a:path w="66675" h="57340">
                  <a:moveTo>
                    <a:pt x="66675" y="28670"/>
                  </a:moveTo>
                  <a:lnTo>
                    <a:pt x="0" y="0"/>
                  </a:lnTo>
                  <a:lnTo>
                    <a:pt x="0" y="57340"/>
                  </a:lnTo>
                  <a:close/>
                </a:path>
              </a:pathLst>
            </a:custGeom>
            <a:solidFill>
              <a:srgbClr val="4083B4"/>
            </a:solidFill>
            <a:ln w="0">
              <a:noFill/>
              <a:prstDash val="solid"/>
            </a:ln>
          </p:spPr>
        </p:sp>
        <p:sp>
          <p:nvSpPr>
            <p:cNvPr id="1332" name="Find voxel output">
              <a:extLst>
                <a:ext uri="{FF2B5EF4-FFF2-40B4-BE49-F238E27FC236}">
                  <a16:creationId xmlns:a16="http://schemas.microsoft.com/office/drawing/2014/main" id="{A7A050F5-4BBD-83D0-3E56-868138C02A2E}"/>
                </a:ext>
              </a:extLst>
            </p:cNvPr>
            <p:cNvSpPr>
              <a:spLocks noGrp="1"/>
            </p:cNvSpPr>
            <p:nvPr/>
          </p:nvSpPr>
          <p:spPr>
            <a:xfrm>
              <a:off x="9750468" y="1544003"/>
              <a:ext cx="409314" cy="191"/>
            </a:xfrm>
            <a:custGeom>
              <a:avLst/>
              <a:gdLst/>
              <a:ahLst/>
              <a:cxnLst/>
              <a:rect l="0" t="0" r="0" b="0"/>
              <a:pathLst>
                <a:path w="252508" h="191">
                  <a:moveTo>
                    <a:pt x="0" y="0"/>
                  </a:moveTo>
                  <a:lnTo>
                    <a:pt x="252508" y="0"/>
                  </a:lnTo>
                </a:path>
              </a:pathLst>
            </a:custGeom>
            <a:noFill/>
            <a:ln w="8505">
              <a:solidFill>
                <a:srgbClr val="4083B4"/>
              </a:solidFill>
              <a:prstDash val="solid"/>
            </a:ln>
          </p:spPr>
        </p:sp>
        <p:sp>
          <p:nvSpPr>
            <p:cNvPr id="1333" name="Find voxel output head">
              <a:extLst>
                <a:ext uri="{FF2B5EF4-FFF2-40B4-BE49-F238E27FC236}">
                  <a16:creationId xmlns:a16="http://schemas.microsoft.com/office/drawing/2014/main" id="{375132D2-B1BA-3819-E6E4-408E45D3577A}"/>
                </a:ext>
              </a:extLst>
            </p:cNvPr>
            <p:cNvSpPr>
              <a:spLocks noGrp="1"/>
            </p:cNvSpPr>
            <p:nvPr/>
          </p:nvSpPr>
          <p:spPr>
            <a:xfrm>
              <a:off x="10116443" y="1515332"/>
              <a:ext cx="66675" cy="57340"/>
            </a:xfrm>
            <a:custGeom>
              <a:avLst/>
              <a:gdLst/>
              <a:ahLst/>
              <a:cxnLst/>
              <a:rect l="0" t="0" r="0" b="0"/>
              <a:pathLst>
                <a:path w="66675" h="57340">
                  <a:moveTo>
                    <a:pt x="66675" y="28670"/>
                  </a:moveTo>
                  <a:lnTo>
                    <a:pt x="0" y="0"/>
                  </a:lnTo>
                  <a:lnTo>
                    <a:pt x="0" y="57340"/>
                  </a:lnTo>
                  <a:close/>
                </a:path>
              </a:pathLst>
            </a:custGeom>
            <a:solidFill>
              <a:srgbClr val="4083B4"/>
            </a:solidFill>
            <a:ln w="0">
              <a:noFill/>
              <a:prstDash val="solid"/>
            </a:ln>
          </p:spPr>
        </p:sp>
        <p:sp>
          <p:nvSpPr>
            <p:cNvPr id="1334" name="Find point output">
              <a:extLst>
                <a:ext uri="{FF2B5EF4-FFF2-40B4-BE49-F238E27FC236}">
                  <a16:creationId xmlns:a16="http://schemas.microsoft.com/office/drawing/2014/main" id="{E2AB92F8-FB1A-DF4D-C056-6A909BEA2DE1}"/>
                </a:ext>
              </a:extLst>
            </p:cNvPr>
            <p:cNvSpPr>
              <a:spLocks noGrp="1"/>
            </p:cNvSpPr>
            <p:nvPr/>
          </p:nvSpPr>
          <p:spPr>
            <a:xfrm>
              <a:off x="9750468" y="3107055"/>
              <a:ext cx="409314" cy="191"/>
            </a:xfrm>
            <a:custGeom>
              <a:avLst/>
              <a:gdLst/>
              <a:ahLst/>
              <a:cxnLst/>
              <a:rect l="0" t="0" r="0" b="0"/>
              <a:pathLst>
                <a:path w="252508" h="191">
                  <a:moveTo>
                    <a:pt x="0" y="0"/>
                  </a:moveTo>
                  <a:lnTo>
                    <a:pt x="252508" y="0"/>
                  </a:lnTo>
                </a:path>
              </a:pathLst>
            </a:custGeom>
            <a:noFill/>
            <a:ln w="8505">
              <a:solidFill>
                <a:srgbClr val="4083B4"/>
              </a:solidFill>
              <a:prstDash val="solid"/>
            </a:ln>
          </p:spPr>
        </p:sp>
        <p:sp>
          <p:nvSpPr>
            <p:cNvPr id="1335" name="Find point output head">
              <a:extLst>
                <a:ext uri="{FF2B5EF4-FFF2-40B4-BE49-F238E27FC236}">
                  <a16:creationId xmlns:a16="http://schemas.microsoft.com/office/drawing/2014/main" id="{28B06725-C3FB-3373-8A56-A66D9CE3ECA7}"/>
                </a:ext>
              </a:extLst>
            </p:cNvPr>
            <p:cNvSpPr>
              <a:spLocks noGrp="1"/>
            </p:cNvSpPr>
            <p:nvPr/>
          </p:nvSpPr>
          <p:spPr>
            <a:xfrm>
              <a:off x="10116443" y="3078385"/>
              <a:ext cx="66675" cy="57340"/>
            </a:xfrm>
            <a:custGeom>
              <a:avLst/>
              <a:gdLst/>
              <a:ahLst/>
              <a:cxnLst/>
              <a:rect l="0" t="0" r="0" b="0"/>
              <a:pathLst>
                <a:path w="66675" h="57340">
                  <a:moveTo>
                    <a:pt x="66675" y="28670"/>
                  </a:moveTo>
                  <a:lnTo>
                    <a:pt x="0" y="0"/>
                  </a:lnTo>
                  <a:lnTo>
                    <a:pt x="0" y="57340"/>
                  </a:lnTo>
                  <a:close/>
                </a:path>
              </a:pathLst>
            </a:custGeom>
            <a:solidFill>
              <a:srgbClr val="4083B4"/>
            </a:solidFill>
            <a:ln w="0">
              <a:noFill/>
              <a:prstDash val="solid"/>
            </a:ln>
          </p:spPr>
        </p:sp>
        <p:sp>
          <p:nvSpPr>
            <p:cNvPr id="1336" name="U-Net flow refined 1">
              <a:extLst>
                <a:ext uri="{FF2B5EF4-FFF2-40B4-BE49-F238E27FC236}">
                  <a16:creationId xmlns:a16="http://schemas.microsoft.com/office/drawing/2014/main" id="{5BDE2ECB-1CBA-ACB1-3426-F3E9F144A8A7}"/>
                </a:ext>
              </a:extLst>
            </p:cNvPr>
            <p:cNvSpPr>
              <a:spLocks noGrp="1"/>
            </p:cNvSpPr>
            <p:nvPr/>
          </p:nvSpPr>
          <p:spPr>
            <a:xfrm>
              <a:off x="5399638" y="1943100"/>
              <a:ext cx="71390" cy="191"/>
            </a:xfrm>
            <a:custGeom>
              <a:avLst/>
              <a:gdLst/>
              <a:ahLst/>
              <a:cxnLst/>
              <a:rect l="0" t="0" r="0" b="0"/>
              <a:pathLst>
                <a:path w="71390" h="191">
                  <a:moveTo>
                    <a:pt x="0" y="0"/>
                  </a:moveTo>
                  <a:lnTo>
                    <a:pt x="71390" y="0"/>
                  </a:lnTo>
                </a:path>
              </a:pathLst>
            </a:custGeom>
            <a:noFill/>
            <a:ln w="6480">
              <a:solidFill>
                <a:srgbClr val="4083B4"/>
              </a:solidFill>
              <a:prstDash val="solid"/>
            </a:ln>
          </p:spPr>
        </p:sp>
        <p:sp>
          <p:nvSpPr>
            <p:cNvPr id="1337" name="U-Net flow refined 1 head">
              <a:extLst>
                <a:ext uri="{FF2B5EF4-FFF2-40B4-BE49-F238E27FC236}">
                  <a16:creationId xmlns:a16="http://schemas.microsoft.com/office/drawing/2014/main" id="{94C963B0-6292-D96E-8000-E5176CACF1B1}"/>
                </a:ext>
              </a:extLst>
            </p:cNvPr>
            <p:cNvSpPr>
              <a:spLocks noGrp="1"/>
            </p:cNvSpPr>
            <p:nvPr/>
          </p:nvSpPr>
          <p:spPr>
            <a:xfrm>
              <a:off x="5444406" y="1925488"/>
              <a:ext cx="40957" cy="35223"/>
            </a:xfrm>
            <a:custGeom>
              <a:avLst/>
              <a:gdLst/>
              <a:ahLst/>
              <a:cxnLst/>
              <a:rect l="0" t="0" r="0" b="0"/>
              <a:pathLst>
                <a:path w="40957" h="35223">
                  <a:moveTo>
                    <a:pt x="40957" y="17612"/>
                  </a:moveTo>
                  <a:lnTo>
                    <a:pt x="0" y="0"/>
                  </a:lnTo>
                  <a:lnTo>
                    <a:pt x="0" y="35223"/>
                  </a:lnTo>
                  <a:close/>
                </a:path>
              </a:pathLst>
            </a:custGeom>
            <a:solidFill>
              <a:srgbClr val="4083B4"/>
            </a:solidFill>
            <a:ln w="0">
              <a:noFill/>
              <a:prstDash val="solid"/>
            </a:ln>
          </p:spPr>
        </p:sp>
        <p:sp>
          <p:nvSpPr>
            <p:cNvPr id="1338" name="U-Net flow refined 2">
              <a:extLst>
                <a:ext uri="{FF2B5EF4-FFF2-40B4-BE49-F238E27FC236}">
                  <a16:creationId xmlns:a16="http://schemas.microsoft.com/office/drawing/2014/main" id="{6EDFECDB-834F-45E8-C447-187E68499D36}"/>
                </a:ext>
              </a:extLst>
            </p:cNvPr>
            <p:cNvSpPr>
              <a:spLocks noGrp="1"/>
            </p:cNvSpPr>
            <p:nvPr/>
          </p:nvSpPr>
          <p:spPr>
            <a:xfrm>
              <a:off x="5856838" y="1943100"/>
              <a:ext cx="61865" cy="191"/>
            </a:xfrm>
            <a:custGeom>
              <a:avLst/>
              <a:gdLst/>
              <a:ahLst/>
              <a:cxnLst/>
              <a:rect l="0" t="0" r="0" b="0"/>
              <a:pathLst>
                <a:path w="61865" h="191">
                  <a:moveTo>
                    <a:pt x="0" y="0"/>
                  </a:moveTo>
                  <a:lnTo>
                    <a:pt x="61865" y="0"/>
                  </a:lnTo>
                </a:path>
              </a:pathLst>
            </a:custGeom>
            <a:noFill/>
            <a:ln w="6480">
              <a:solidFill>
                <a:srgbClr val="4083B4"/>
              </a:solidFill>
              <a:prstDash val="solid"/>
            </a:ln>
          </p:spPr>
        </p:sp>
        <p:sp>
          <p:nvSpPr>
            <p:cNvPr id="1339" name="U-Net flow refined 2 head">
              <a:extLst>
                <a:ext uri="{FF2B5EF4-FFF2-40B4-BE49-F238E27FC236}">
                  <a16:creationId xmlns:a16="http://schemas.microsoft.com/office/drawing/2014/main" id="{147D1FA6-05BE-3A5D-C1FE-78DB516DA9EB}"/>
                </a:ext>
              </a:extLst>
            </p:cNvPr>
            <p:cNvSpPr>
              <a:spLocks noGrp="1"/>
            </p:cNvSpPr>
            <p:nvPr/>
          </p:nvSpPr>
          <p:spPr>
            <a:xfrm>
              <a:off x="5892081" y="1925488"/>
              <a:ext cx="40957" cy="35223"/>
            </a:xfrm>
            <a:custGeom>
              <a:avLst/>
              <a:gdLst/>
              <a:ahLst/>
              <a:cxnLst/>
              <a:rect l="0" t="0" r="0" b="0"/>
              <a:pathLst>
                <a:path w="40957" h="35223">
                  <a:moveTo>
                    <a:pt x="40957" y="17612"/>
                  </a:moveTo>
                  <a:lnTo>
                    <a:pt x="0" y="0"/>
                  </a:lnTo>
                  <a:lnTo>
                    <a:pt x="0" y="35223"/>
                  </a:lnTo>
                  <a:close/>
                </a:path>
              </a:pathLst>
            </a:custGeom>
            <a:solidFill>
              <a:srgbClr val="4083B4"/>
            </a:solidFill>
            <a:ln w="0">
              <a:noFill/>
              <a:prstDash val="solid"/>
            </a:ln>
          </p:spPr>
        </p:sp>
        <p:sp>
          <p:nvSpPr>
            <p:cNvPr id="1340" name="U-Net flow refined 3">
              <a:extLst>
                <a:ext uri="{FF2B5EF4-FFF2-40B4-BE49-F238E27FC236}">
                  <a16:creationId xmlns:a16="http://schemas.microsoft.com/office/drawing/2014/main" id="{7AF7CF23-54DF-A29D-2F07-D36A3F45EDD2}"/>
                </a:ext>
              </a:extLst>
            </p:cNvPr>
            <p:cNvSpPr>
              <a:spLocks noGrp="1"/>
            </p:cNvSpPr>
            <p:nvPr/>
          </p:nvSpPr>
          <p:spPr>
            <a:xfrm>
              <a:off x="6428338" y="1943100"/>
              <a:ext cx="185690" cy="191"/>
            </a:xfrm>
            <a:custGeom>
              <a:avLst/>
              <a:gdLst/>
              <a:ahLst/>
              <a:cxnLst/>
              <a:rect l="0" t="0" r="0" b="0"/>
              <a:pathLst>
                <a:path w="185690" h="191">
                  <a:moveTo>
                    <a:pt x="0" y="0"/>
                  </a:moveTo>
                  <a:lnTo>
                    <a:pt x="185690" y="0"/>
                  </a:lnTo>
                </a:path>
              </a:pathLst>
            </a:custGeom>
            <a:noFill/>
            <a:ln w="6480">
              <a:solidFill>
                <a:srgbClr val="4083B4"/>
              </a:solidFill>
              <a:prstDash val="solid"/>
            </a:ln>
          </p:spPr>
        </p:sp>
        <p:sp>
          <p:nvSpPr>
            <p:cNvPr id="1341" name="U-Net flow refined 3 head">
              <a:extLst>
                <a:ext uri="{FF2B5EF4-FFF2-40B4-BE49-F238E27FC236}">
                  <a16:creationId xmlns:a16="http://schemas.microsoft.com/office/drawing/2014/main" id="{99F4C0B1-883D-15E1-DE1D-B9D0B602A47D}"/>
                </a:ext>
              </a:extLst>
            </p:cNvPr>
            <p:cNvSpPr>
              <a:spLocks noGrp="1"/>
            </p:cNvSpPr>
            <p:nvPr/>
          </p:nvSpPr>
          <p:spPr>
            <a:xfrm>
              <a:off x="6587406" y="1925488"/>
              <a:ext cx="40957" cy="35223"/>
            </a:xfrm>
            <a:custGeom>
              <a:avLst/>
              <a:gdLst/>
              <a:ahLst/>
              <a:cxnLst/>
              <a:rect l="0" t="0" r="0" b="0"/>
              <a:pathLst>
                <a:path w="40957" h="35223">
                  <a:moveTo>
                    <a:pt x="40957" y="17612"/>
                  </a:moveTo>
                  <a:lnTo>
                    <a:pt x="0" y="0"/>
                  </a:lnTo>
                  <a:lnTo>
                    <a:pt x="0" y="35223"/>
                  </a:lnTo>
                  <a:close/>
                </a:path>
              </a:pathLst>
            </a:custGeom>
            <a:solidFill>
              <a:srgbClr val="4083B4"/>
            </a:solidFill>
            <a:ln w="0">
              <a:noFill/>
              <a:prstDash val="solid"/>
            </a:ln>
          </p:spPr>
        </p:sp>
        <p:sp>
          <p:nvSpPr>
            <p:cNvPr id="1342" name="U-Net flow refined 4">
              <a:extLst>
                <a:ext uri="{FF2B5EF4-FFF2-40B4-BE49-F238E27FC236}">
                  <a16:creationId xmlns:a16="http://schemas.microsoft.com/office/drawing/2014/main" id="{1AB9AC41-CF99-6B25-72AE-CA5759E07BBC}"/>
                </a:ext>
              </a:extLst>
            </p:cNvPr>
            <p:cNvSpPr>
              <a:spLocks noGrp="1"/>
            </p:cNvSpPr>
            <p:nvPr/>
          </p:nvSpPr>
          <p:spPr>
            <a:xfrm>
              <a:off x="7704688" y="1943100"/>
              <a:ext cx="204740" cy="191"/>
            </a:xfrm>
            <a:custGeom>
              <a:avLst/>
              <a:gdLst/>
              <a:ahLst/>
              <a:cxnLst/>
              <a:rect l="0" t="0" r="0" b="0"/>
              <a:pathLst>
                <a:path w="204740" h="191">
                  <a:moveTo>
                    <a:pt x="0" y="0"/>
                  </a:moveTo>
                  <a:lnTo>
                    <a:pt x="204740" y="0"/>
                  </a:lnTo>
                </a:path>
              </a:pathLst>
            </a:custGeom>
            <a:noFill/>
            <a:ln w="6480">
              <a:solidFill>
                <a:srgbClr val="4083B4"/>
              </a:solidFill>
              <a:prstDash val="solid"/>
            </a:ln>
          </p:spPr>
        </p:sp>
        <p:sp>
          <p:nvSpPr>
            <p:cNvPr id="1343" name="U-Net flow refined 4 head">
              <a:extLst>
                <a:ext uri="{FF2B5EF4-FFF2-40B4-BE49-F238E27FC236}">
                  <a16:creationId xmlns:a16="http://schemas.microsoft.com/office/drawing/2014/main" id="{8B74AF9E-166C-456E-8C30-81819473FD65}"/>
                </a:ext>
              </a:extLst>
            </p:cNvPr>
            <p:cNvSpPr>
              <a:spLocks noGrp="1"/>
            </p:cNvSpPr>
            <p:nvPr/>
          </p:nvSpPr>
          <p:spPr>
            <a:xfrm>
              <a:off x="7882806" y="1925488"/>
              <a:ext cx="40957" cy="35223"/>
            </a:xfrm>
            <a:custGeom>
              <a:avLst/>
              <a:gdLst/>
              <a:ahLst/>
              <a:cxnLst/>
              <a:rect l="0" t="0" r="0" b="0"/>
              <a:pathLst>
                <a:path w="40957" h="35223">
                  <a:moveTo>
                    <a:pt x="40957" y="17612"/>
                  </a:moveTo>
                  <a:lnTo>
                    <a:pt x="0" y="0"/>
                  </a:lnTo>
                  <a:lnTo>
                    <a:pt x="0" y="35223"/>
                  </a:lnTo>
                  <a:close/>
                </a:path>
              </a:pathLst>
            </a:custGeom>
            <a:solidFill>
              <a:srgbClr val="4083B4"/>
            </a:solidFill>
            <a:ln w="0">
              <a:noFill/>
              <a:prstDash val="solid"/>
            </a:ln>
          </p:spPr>
        </p:sp>
        <p:sp>
          <p:nvSpPr>
            <p:cNvPr id="1344" name="U-Net flow refined 5">
              <a:extLst>
                <a:ext uri="{FF2B5EF4-FFF2-40B4-BE49-F238E27FC236}">
                  <a16:creationId xmlns:a16="http://schemas.microsoft.com/office/drawing/2014/main" id="{1DF9FEC8-127A-C6BF-A242-5459B8B47514}"/>
                </a:ext>
              </a:extLst>
            </p:cNvPr>
            <p:cNvSpPr>
              <a:spLocks noGrp="1"/>
            </p:cNvSpPr>
            <p:nvPr/>
          </p:nvSpPr>
          <p:spPr>
            <a:xfrm>
              <a:off x="8428588" y="1943100"/>
              <a:ext cx="71390" cy="191"/>
            </a:xfrm>
            <a:custGeom>
              <a:avLst/>
              <a:gdLst/>
              <a:ahLst/>
              <a:cxnLst/>
              <a:rect l="0" t="0" r="0" b="0"/>
              <a:pathLst>
                <a:path w="71390" h="191">
                  <a:moveTo>
                    <a:pt x="0" y="0"/>
                  </a:moveTo>
                  <a:lnTo>
                    <a:pt x="71390" y="0"/>
                  </a:lnTo>
                </a:path>
              </a:pathLst>
            </a:custGeom>
            <a:noFill/>
            <a:ln w="6480">
              <a:solidFill>
                <a:srgbClr val="4083B4"/>
              </a:solidFill>
              <a:prstDash val="solid"/>
            </a:ln>
          </p:spPr>
        </p:sp>
        <p:sp>
          <p:nvSpPr>
            <p:cNvPr id="1345" name="U-Net flow refined 5 head">
              <a:extLst>
                <a:ext uri="{FF2B5EF4-FFF2-40B4-BE49-F238E27FC236}">
                  <a16:creationId xmlns:a16="http://schemas.microsoft.com/office/drawing/2014/main" id="{235A2EBC-75E8-8D72-4A9D-B691D888DD1B}"/>
                </a:ext>
              </a:extLst>
            </p:cNvPr>
            <p:cNvSpPr>
              <a:spLocks noGrp="1"/>
            </p:cNvSpPr>
            <p:nvPr/>
          </p:nvSpPr>
          <p:spPr>
            <a:xfrm>
              <a:off x="8473356" y="1925488"/>
              <a:ext cx="40957" cy="35223"/>
            </a:xfrm>
            <a:custGeom>
              <a:avLst/>
              <a:gdLst/>
              <a:ahLst/>
              <a:cxnLst/>
              <a:rect l="0" t="0" r="0" b="0"/>
              <a:pathLst>
                <a:path w="40957" h="35223">
                  <a:moveTo>
                    <a:pt x="40957" y="17612"/>
                  </a:moveTo>
                  <a:lnTo>
                    <a:pt x="0" y="0"/>
                  </a:lnTo>
                  <a:lnTo>
                    <a:pt x="0" y="35223"/>
                  </a:lnTo>
                  <a:close/>
                </a:path>
              </a:pathLst>
            </a:custGeom>
            <a:solidFill>
              <a:srgbClr val="4083B4"/>
            </a:solidFill>
            <a:ln w="0">
              <a:noFill/>
              <a:prstDash val="solid"/>
            </a:ln>
          </p:spPr>
        </p:sp>
        <p:sp>
          <p:nvSpPr>
            <p:cNvPr id="1346" name="U-Net flow refined 6">
              <a:extLst>
                <a:ext uri="{FF2B5EF4-FFF2-40B4-BE49-F238E27FC236}">
                  <a16:creationId xmlns:a16="http://schemas.microsoft.com/office/drawing/2014/main" id="{E16F5364-FA67-8E77-55DD-31048ACFB369}"/>
                </a:ext>
              </a:extLst>
            </p:cNvPr>
            <p:cNvSpPr>
              <a:spLocks noGrp="1"/>
            </p:cNvSpPr>
            <p:nvPr/>
          </p:nvSpPr>
          <p:spPr>
            <a:xfrm>
              <a:off x="8866738" y="1943100"/>
              <a:ext cx="90440" cy="191"/>
            </a:xfrm>
            <a:custGeom>
              <a:avLst/>
              <a:gdLst/>
              <a:ahLst/>
              <a:cxnLst/>
              <a:rect l="0" t="0" r="0" b="0"/>
              <a:pathLst>
                <a:path w="90440" h="191">
                  <a:moveTo>
                    <a:pt x="0" y="0"/>
                  </a:moveTo>
                  <a:lnTo>
                    <a:pt x="90440" y="0"/>
                  </a:lnTo>
                </a:path>
              </a:pathLst>
            </a:custGeom>
            <a:noFill/>
            <a:ln w="6480">
              <a:solidFill>
                <a:srgbClr val="4083B4"/>
              </a:solidFill>
              <a:prstDash val="solid"/>
            </a:ln>
          </p:spPr>
        </p:sp>
        <p:sp>
          <p:nvSpPr>
            <p:cNvPr id="1347" name="U-Net flow refined 6 head">
              <a:extLst>
                <a:ext uri="{FF2B5EF4-FFF2-40B4-BE49-F238E27FC236}">
                  <a16:creationId xmlns:a16="http://schemas.microsoft.com/office/drawing/2014/main" id="{CAB8405E-639F-441D-4076-97C5C8079141}"/>
                </a:ext>
              </a:extLst>
            </p:cNvPr>
            <p:cNvSpPr>
              <a:spLocks noGrp="1"/>
            </p:cNvSpPr>
            <p:nvPr/>
          </p:nvSpPr>
          <p:spPr>
            <a:xfrm>
              <a:off x="8930556" y="1925488"/>
              <a:ext cx="40957" cy="35223"/>
            </a:xfrm>
            <a:custGeom>
              <a:avLst/>
              <a:gdLst/>
              <a:ahLst/>
              <a:cxnLst/>
              <a:rect l="0" t="0" r="0" b="0"/>
              <a:pathLst>
                <a:path w="40957" h="35223">
                  <a:moveTo>
                    <a:pt x="40957" y="17612"/>
                  </a:moveTo>
                  <a:lnTo>
                    <a:pt x="0" y="0"/>
                  </a:lnTo>
                  <a:lnTo>
                    <a:pt x="0" y="35223"/>
                  </a:lnTo>
                  <a:close/>
                </a:path>
              </a:pathLst>
            </a:custGeom>
            <a:solidFill>
              <a:srgbClr val="4083B4"/>
            </a:solidFill>
            <a:ln w="0">
              <a:noFill/>
              <a:prstDash val="solid"/>
            </a:ln>
          </p:spPr>
        </p:sp>
        <p:sp>
          <p:nvSpPr>
            <p:cNvPr id="1348" name="Skip outer refined">
              <a:extLst>
                <a:ext uri="{FF2B5EF4-FFF2-40B4-BE49-F238E27FC236}">
                  <a16:creationId xmlns:a16="http://schemas.microsoft.com/office/drawing/2014/main" id="{FCEC7BC5-9C91-5A2D-286F-54CED1B58658}"/>
                </a:ext>
              </a:extLst>
            </p:cNvPr>
            <p:cNvSpPr>
              <a:spLocks noGrp="1"/>
            </p:cNvSpPr>
            <p:nvPr/>
          </p:nvSpPr>
          <p:spPr>
            <a:xfrm>
              <a:off x="4990063" y="1209675"/>
              <a:ext cx="4333875" cy="219075"/>
            </a:xfrm>
            <a:custGeom>
              <a:avLst/>
              <a:gdLst/>
              <a:ahLst/>
              <a:cxnLst/>
              <a:rect l="0" t="0" r="0" b="0"/>
              <a:pathLst>
                <a:path w="4333875" h="219075">
                  <a:moveTo>
                    <a:pt x="0" y="219075"/>
                  </a:moveTo>
                  <a:lnTo>
                    <a:pt x="0" y="0"/>
                  </a:lnTo>
                  <a:lnTo>
                    <a:pt x="4333875" y="0"/>
                  </a:lnTo>
                  <a:lnTo>
                    <a:pt x="4333875" y="204073"/>
                  </a:lnTo>
                </a:path>
              </a:pathLst>
            </a:custGeom>
            <a:noFill/>
            <a:ln w="5468">
              <a:solidFill>
                <a:srgbClr val="85AFCB"/>
              </a:solidFill>
              <a:prstDash val="dash"/>
            </a:ln>
          </p:spPr>
        </p:sp>
        <p:sp>
          <p:nvSpPr>
            <p:cNvPr id="1349" name="Skip outer refined head">
              <a:extLst>
                <a:ext uri="{FF2B5EF4-FFF2-40B4-BE49-F238E27FC236}">
                  <a16:creationId xmlns:a16="http://schemas.microsoft.com/office/drawing/2014/main" id="{D6AAD354-1253-F73A-1F09-0D42951F0AD2}"/>
                </a:ext>
              </a:extLst>
            </p:cNvPr>
            <p:cNvSpPr>
              <a:spLocks noGrp="1"/>
            </p:cNvSpPr>
            <p:nvPr/>
          </p:nvSpPr>
          <p:spPr>
            <a:xfrm>
              <a:off x="9305507" y="1385888"/>
              <a:ext cx="36862" cy="42863"/>
            </a:xfrm>
            <a:custGeom>
              <a:avLst/>
              <a:gdLst/>
              <a:ahLst/>
              <a:cxnLst/>
              <a:rect l="0" t="0" r="0" b="0"/>
              <a:pathLst>
                <a:path w="36862" h="42863">
                  <a:moveTo>
                    <a:pt x="18431" y="42863"/>
                  </a:moveTo>
                  <a:lnTo>
                    <a:pt x="36862" y="0"/>
                  </a:lnTo>
                  <a:lnTo>
                    <a:pt x="0" y="0"/>
                  </a:lnTo>
                  <a:close/>
                </a:path>
              </a:pathLst>
            </a:custGeom>
            <a:solidFill>
              <a:srgbClr val="85AFCB"/>
            </a:solidFill>
            <a:ln w="0">
              <a:noFill/>
              <a:prstDash val="solid"/>
            </a:ln>
          </p:spPr>
        </p:sp>
        <p:sp>
          <p:nvSpPr>
            <p:cNvPr id="1350" name="Skip middle refined">
              <a:extLst>
                <a:ext uri="{FF2B5EF4-FFF2-40B4-BE49-F238E27FC236}">
                  <a16:creationId xmlns:a16="http://schemas.microsoft.com/office/drawing/2014/main" id="{E944DD48-0E77-62B4-4E66-FC482D648DB0}"/>
                </a:ext>
              </a:extLst>
            </p:cNvPr>
            <p:cNvSpPr>
              <a:spLocks noGrp="1"/>
            </p:cNvSpPr>
            <p:nvPr/>
          </p:nvSpPr>
          <p:spPr>
            <a:xfrm>
              <a:off x="5628238" y="1295400"/>
              <a:ext cx="3067050" cy="266700"/>
            </a:xfrm>
            <a:custGeom>
              <a:avLst/>
              <a:gdLst/>
              <a:ahLst/>
              <a:cxnLst/>
              <a:rect l="0" t="0" r="0" b="0"/>
              <a:pathLst>
                <a:path w="3067050" h="266700">
                  <a:moveTo>
                    <a:pt x="0" y="266700"/>
                  </a:moveTo>
                  <a:lnTo>
                    <a:pt x="0" y="0"/>
                  </a:lnTo>
                  <a:lnTo>
                    <a:pt x="3067050" y="0"/>
                  </a:lnTo>
                  <a:lnTo>
                    <a:pt x="3067050" y="251698"/>
                  </a:lnTo>
                </a:path>
              </a:pathLst>
            </a:custGeom>
            <a:noFill/>
            <a:ln w="5468">
              <a:solidFill>
                <a:srgbClr val="85AFCB"/>
              </a:solidFill>
              <a:prstDash val="dash"/>
            </a:ln>
          </p:spPr>
        </p:sp>
        <p:sp>
          <p:nvSpPr>
            <p:cNvPr id="1351" name="Skip middle refined head">
              <a:extLst>
                <a:ext uri="{FF2B5EF4-FFF2-40B4-BE49-F238E27FC236}">
                  <a16:creationId xmlns:a16="http://schemas.microsoft.com/office/drawing/2014/main" id="{5D984C66-44F4-6C0C-29FA-C26BCC014DA5}"/>
                </a:ext>
              </a:extLst>
            </p:cNvPr>
            <p:cNvSpPr>
              <a:spLocks noGrp="1"/>
            </p:cNvSpPr>
            <p:nvPr/>
          </p:nvSpPr>
          <p:spPr>
            <a:xfrm>
              <a:off x="8676857" y="1519238"/>
              <a:ext cx="36862" cy="42863"/>
            </a:xfrm>
            <a:custGeom>
              <a:avLst/>
              <a:gdLst/>
              <a:ahLst/>
              <a:cxnLst/>
              <a:rect l="0" t="0" r="0" b="0"/>
              <a:pathLst>
                <a:path w="36862" h="42863">
                  <a:moveTo>
                    <a:pt x="18431" y="42863"/>
                  </a:moveTo>
                  <a:lnTo>
                    <a:pt x="36862" y="0"/>
                  </a:lnTo>
                  <a:lnTo>
                    <a:pt x="0" y="0"/>
                  </a:lnTo>
                  <a:close/>
                </a:path>
              </a:pathLst>
            </a:custGeom>
            <a:solidFill>
              <a:srgbClr val="85AFCB"/>
            </a:solidFill>
            <a:ln w="0">
              <a:noFill/>
              <a:prstDash val="solid"/>
            </a:ln>
          </p:spPr>
        </p:sp>
        <p:sp>
          <p:nvSpPr>
            <p:cNvPr id="1352" name="Skip inner refined">
              <a:extLst>
                <a:ext uri="{FF2B5EF4-FFF2-40B4-BE49-F238E27FC236}">
                  <a16:creationId xmlns:a16="http://schemas.microsoft.com/office/drawing/2014/main" id="{796339B7-CA5C-9A6F-F626-7D7B76227D0E}"/>
                </a:ext>
              </a:extLst>
            </p:cNvPr>
            <p:cNvSpPr>
              <a:spLocks noGrp="1"/>
            </p:cNvSpPr>
            <p:nvPr/>
          </p:nvSpPr>
          <p:spPr>
            <a:xfrm>
              <a:off x="6152113" y="1381125"/>
              <a:ext cx="2000250" cy="323850"/>
            </a:xfrm>
            <a:custGeom>
              <a:avLst/>
              <a:gdLst/>
              <a:ahLst/>
              <a:cxnLst/>
              <a:rect l="0" t="0" r="0" b="0"/>
              <a:pathLst>
                <a:path w="2000250" h="323850">
                  <a:moveTo>
                    <a:pt x="0" y="323850"/>
                  </a:moveTo>
                  <a:lnTo>
                    <a:pt x="0" y="0"/>
                  </a:lnTo>
                  <a:lnTo>
                    <a:pt x="2000250" y="0"/>
                  </a:lnTo>
                  <a:lnTo>
                    <a:pt x="2000250" y="308848"/>
                  </a:lnTo>
                </a:path>
              </a:pathLst>
            </a:custGeom>
            <a:noFill/>
            <a:ln w="5468">
              <a:solidFill>
                <a:srgbClr val="85AFCB"/>
              </a:solidFill>
              <a:prstDash val="dash"/>
            </a:ln>
          </p:spPr>
        </p:sp>
        <p:sp>
          <p:nvSpPr>
            <p:cNvPr id="1353" name="Skip inner refined head">
              <a:extLst>
                <a:ext uri="{FF2B5EF4-FFF2-40B4-BE49-F238E27FC236}">
                  <a16:creationId xmlns:a16="http://schemas.microsoft.com/office/drawing/2014/main" id="{5389494F-4196-1B0C-C069-F40391B0419B}"/>
                </a:ext>
              </a:extLst>
            </p:cNvPr>
            <p:cNvSpPr>
              <a:spLocks noGrp="1"/>
            </p:cNvSpPr>
            <p:nvPr/>
          </p:nvSpPr>
          <p:spPr>
            <a:xfrm>
              <a:off x="8133932" y="1662113"/>
              <a:ext cx="36862" cy="42863"/>
            </a:xfrm>
            <a:custGeom>
              <a:avLst/>
              <a:gdLst/>
              <a:ahLst/>
              <a:cxnLst/>
              <a:rect l="0" t="0" r="0" b="0"/>
              <a:pathLst>
                <a:path w="36862" h="42863">
                  <a:moveTo>
                    <a:pt x="18431" y="42863"/>
                  </a:moveTo>
                  <a:lnTo>
                    <a:pt x="36862" y="0"/>
                  </a:lnTo>
                  <a:lnTo>
                    <a:pt x="0" y="0"/>
                  </a:lnTo>
                  <a:close/>
                </a:path>
              </a:pathLst>
            </a:custGeom>
            <a:solidFill>
              <a:srgbClr val="85AFCB"/>
            </a:solidFill>
            <a:ln w="0">
              <a:noFill/>
              <a:prstDash val="solid"/>
            </a:ln>
          </p:spPr>
        </p:sp>
        <p:sp>
          <p:nvSpPr>
            <p:cNvPr id="1354" name="PTV3 forward refined 1">
              <a:extLst>
                <a:ext uri="{FF2B5EF4-FFF2-40B4-BE49-F238E27FC236}">
                  <a16:creationId xmlns:a16="http://schemas.microsoft.com/office/drawing/2014/main" id="{B0492619-D665-D0F6-7061-EDCBCE3DDA3A}"/>
                </a:ext>
              </a:extLst>
            </p:cNvPr>
            <p:cNvSpPr>
              <a:spLocks noGrp="1"/>
            </p:cNvSpPr>
            <p:nvPr/>
          </p:nvSpPr>
          <p:spPr>
            <a:xfrm>
              <a:off x="5518129" y="3106769"/>
              <a:ext cx="255746" cy="191"/>
            </a:xfrm>
            <a:custGeom>
              <a:avLst/>
              <a:gdLst/>
              <a:ahLst/>
              <a:cxnLst/>
              <a:rect l="0" t="0" r="0" b="0"/>
              <a:pathLst>
                <a:path w="255746" h="191">
                  <a:moveTo>
                    <a:pt x="0" y="0"/>
                  </a:moveTo>
                  <a:lnTo>
                    <a:pt x="255746" y="0"/>
                  </a:lnTo>
                </a:path>
              </a:pathLst>
            </a:custGeom>
            <a:noFill/>
            <a:ln w="8505">
              <a:solidFill>
                <a:srgbClr val="4083B4"/>
              </a:solidFill>
              <a:prstDash val="solid"/>
            </a:ln>
          </p:spPr>
        </p:sp>
        <p:sp>
          <p:nvSpPr>
            <p:cNvPr id="1355" name="PTV3 forward refined 1 head">
              <a:extLst>
                <a:ext uri="{FF2B5EF4-FFF2-40B4-BE49-F238E27FC236}">
                  <a16:creationId xmlns:a16="http://schemas.microsoft.com/office/drawing/2014/main" id="{B7BCE76F-C831-1ABC-ADA2-90D7588CB987}"/>
                </a:ext>
              </a:extLst>
            </p:cNvPr>
            <p:cNvSpPr>
              <a:spLocks noGrp="1"/>
            </p:cNvSpPr>
            <p:nvPr/>
          </p:nvSpPr>
          <p:spPr>
            <a:xfrm>
              <a:off x="5730537" y="3078099"/>
              <a:ext cx="66675" cy="57340"/>
            </a:xfrm>
            <a:custGeom>
              <a:avLst/>
              <a:gdLst/>
              <a:ahLst/>
              <a:cxnLst/>
              <a:rect l="0" t="0" r="0" b="0"/>
              <a:pathLst>
                <a:path w="66675" h="57340">
                  <a:moveTo>
                    <a:pt x="66675" y="28670"/>
                  </a:moveTo>
                  <a:lnTo>
                    <a:pt x="0" y="0"/>
                  </a:lnTo>
                  <a:lnTo>
                    <a:pt x="0" y="57340"/>
                  </a:lnTo>
                  <a:close/>
                </a:path>
              </a:pathLst>
            </a:custGeom>
            <a:solidFill>
              <a:srgbClr val="4083B4"/>
            </a:solidFill>
            <a:ln w="0">
              <a:solidFill>
                <a:srgbClr val="4083B4"/>
              </a:solidFill>
              <a:prstDash val="solid"/>
            </a:ln>
          </p:spPr>
        </p:sp>
        <p:sp>
          <p:nvSpPr>
            <p:cNvPr id="1356" name="PTV3 forward refined 2">
              <a:extLst>
                <a:ext uri="{FF2B5EF4-FFF2-40B4-BE49-F238E27FC236}">
                  <a16:creationId xmlns:a16="http://schemas.microsoft.com/office/drawing/2014/main" id="{24AE15E3-3B2D-CC4A-618E-E9BB13DA2E16}"/>
                </a:ext>
              </a:extLst>
            </p:cNvPr>
            <p:cNvSpPr>
              <a:spLocks noGrp="1"/>
            </p:cNvSpPr>
            <p:nvPr/>
          </p:nvSpPr>
          <p:spPr>
            <a:xfrm>
              <a:off x="6522731" y="3106769"/>
              <a:ext cx="311563" cy="191"/>
            </a:xfrm>
            <a:custGeom>
              <a:avLst/>
              <a:gdLst/>
              <a:ahLst/>
              <a:cxnLst/>
              <a:rect l="0" t="0" r="0" b="0"/>
              <a:pathLst>
                <a:path w="311563" h="191">
                  <a:moveTo>
                    <a:pt x="0" y="0"/>
                  </a:moveTo>
                  <a:lnTo>
                    <a:pt x="311563" y="0"/>
                  </a:lnTo>
                </a:path>
              </a:pathLst>
            </a:custGeom>
            <a:noFill/>
            <a:ln w="8505">
              <a:solidFill>
                <a:srgbClr val="4083B4"/>
              </a:solidFill>
              <a:prstDash val="solid"/>
            </a:ln>
          </p:spPr>
        </p:sp>
        <p:sp>
          <p:nvSpPr>
            <p:cNvPr id="1357" name="PTV3 forward refined 2 head">
              <a:extLst>
                <a:ext uri="{FF2B5EF4-FFF2-40B4-BE49-F238E27FC236}">
                  <a16:creationId xmlns:a16="http://schemas.microsoft.com/office/drawing/2014/main" id="{8007E90B-E49B-BC36-45F6-E1B46BA41A6C}"/>
                </a:ext>
              </a:extLst>
            </p:cNvPr>
            <p:cNvSpPr>
              <a:spLocks noGrp="1"/>
            </p:cNvSpPr>
            <p:nvPr/>
          </p:nvSpPr>
          <p:spPr>
            <a:xfrm>
              <a:off x="6790955" y="3078099"/>
              <a:ext cx="66675" cy="57340"/>
            </a:xfrm>
            <a:custGeom>
              <a:avLst/>
              <a:gdLst/>
              <a:ahLst/>
              <a:cxnLst/>
              <a:rect l="0" t="0" r="0" b="0"/>
              <a:pathLst>
                <a:path w="66675" h="57340">
                  <a:moveTo>
                    <a:pt x="66675" y="28670"/>
                  </a:moveTo>
                  <a:lnTo>
                    <a:pt x="0" y="0"/>
                  </a:lnTo>
                  <a:lnTo>
                    <a:pt x="0" y="57340"/>
                  </a:lnTo>
                  <a:close/>
                </a:path>
              </a:pathLst>
            </a:custGeom>
            <a:solidFill>
              <a:srgbClr val="4083B4"/>
            </a:solidFill>
            <a:ln w="0">
              <a:noFill/>
              <a:prstDash val="solid"/>
            </a:ln>
          </p:spPr>
        </p:sp>
        <p:sp>
          <p:nvSpPr>
            <p:cNvPr id="1358" name="PTV3 forward refined 3">
              <a:extLst>
                <a:ext uri="{FF2B5EF4-FFF2-40B4-BE49-F238E27FC236}">
                  <a16:creationId xmlns:a16="http://schemas.microsoft.com/office/drawing/2014/main" id="{2D087525-2ABD-3A01-10DA-7F65FB2DD09A}"/>
                </a:ext>
              </a:extLst>
            </p:cNvPr>
            <p:cNvSpPr>
              <a:spLocks noGrp="1"/>
            </p:cNvSpPr>
            <p:nvPr/>
          </p:nvSpPr>
          <p:spPr>
            <a:xfrm>
              <a:off x="7508759" y="3106769"/>
              <a:ext cx="311563" cy="191"/>
            </a:xfrm>
            <a:custGeom>
              <a:avLst/>
              <a:gdLst/>
              <a:ahLst/>
              <a:cxnLst/>
              <a:rect l="0" t="0" r="0" b="0"/>
              <a:pathLst>
                <a:path w="311563" h="191">
                  <a:moveTo>
                    <a:pt x="0" y="0"/>
                  </a:moveTo>
                  <a:lnTo>
                    <a:pt x="311563" y="0"/>
                  </a:lnTo>
                </a:path>
              </a:pathLst>
            </a:custGeom>
            <a:noFill/>
            <a:ln w="8505">
              <a:solidFill>
                <a:srgbClr val="4083B4"/>
              </a:solidFill>
              <a:prstDash val="solid"/>
            </a:ln>
          </p:spPr>
        </p:sp>
        <p:sp>
          <p:nvSpPr>
            <p:cNvPr id="1359" name="PTV3 forward refined 3 head">
              <a:extLst>
                <a:ext uri="{FF2B5EF4-FFF2-40B4-BE49-F238E27FC236}">
                  <a16:creationId xmlns:a16="http://schemas.microsoft.com/office/drawing/2014/main" id="{417DAC3E-DE7D-4EBD-83BF-06F7FB2A8085}"/>
                </a:ext>
              </a:extLst>
            </p:cNvPr>
            <p:cNvSpPr>
              <a:spLocks noGrp="1"/>
            </p:cNvSpPr>
            <p:nvPr/>
          </p:nvSpPr>
          <p:spPr>
            <a:xfrm>
              <a:off x="7776983" y="3078099"/>
              <a:ext cx="66675" cy="57340"/>
            </a:xfrm>
            <a:custGeom>
              <a:avLst/>
              <a:gdLst/>
              <a:ahLst/>
              <a:cxnLst/>
              <a:rect l="0" t="0" r="0" b="0"/>
              <a:pathLst>
                <a:path w="66675" h="57340">
                  <a:moveTo>
                    <a:pt x="66675" y="28670"/>
                  </a:moveTo>
                  <a:lnTo>
                    <a:pt x="0" y="0"/>
                  </a:lnTo>
                  <a:lnTo>
                    <a:pt x="0" y="57340"/>
                  </a:lnTo>
                  <a:close/>
                </a:path>
              </a:pathLst>
            </a:custGeom>
            <a:solidFill>
              <a:srgbClr val="4083B4"/>
            </a:solidFill>
            <a:ln w="0">
              <a:solidFill>
                <a:srgbClr val="4083B4"/>
              </a:solidFill>
              <a:prstDash val="solid"/>
            </a:ln>
          </p:spPr>
        </p:sp>
        <p:sp>
          <p:nvSpPr>
            <p:cNvPr id="1360" name="PTV3 forward refined 4">
              <a:extLst>
                <a:ext uri="{FF2B5EF4-FFF2-40B4-BE49-F238E27FC236}">
                  <a16:creationId xmlns:a16="http://schemas.microsoft.com/office/drawing/2014/main" id="{3F66A9B7-F35C-EB4C-B102-3F29A4296978}"/>
                </a:ext>
              </a:extLst>
            </p:cNvPr>
            <p:cNvSpPr>
              <a:spLocks noGrp="1"/>
            </p:cNvSpPr>
            <p:nvPr/>
          </p:nvSpPr>
          <p:spPr>
            <a:xfrm>
              <a:off x="8569082" y="3106769"/>
              <a:ext cx="255746" cy="191"/>
            </a:xfrm>
            <a:custGeom>
              <a:avLst/>
              <a:gdLst/>
              <a:ahLst/>
              <a:cxnLst/>
              <a:rect l="0" t="0" r="0" b="0"/>
              <a:pathLst>
                <a:path w="255746" h="191">
                  <a:moveTo>
                    <a:pt x="0" y="0"/>
                  </a:moveTo>
                  <a:lnTo>
                    <a:pt x="255746" y="0"/>
                  </a:lnTo>
                </a:path>
              </a:pathLst>
            </a:custGeom>
            <a:noFill/>
            <a:ln w="8505">
              <a:solidFill>
                <a:srgbClr val="4083B4"/>
              </a:solidFill>
              <a:prstDash val="solid"/>
            </a:ln>
          </p:spPr>
        </p:sp>
        <p:sp>
          <p:nvSpPr>
            <p:cNvPr id="1361" name="PTV3 forward refined 4 head">
              <a:extLst>
                <a:ext uri="{FF2B5EF4-FFF2-40B4-BE49-F238E27FC236}">
                  <a16:creationId xmlns:a16="http://schemas.microsoft.com/office/drawing/2014/main" id="{4634E7DB-F8E3-B989-4F8D-785672F195B4}"/>
                </a:ext>
              </a:extLst>
            </p:cNvPr>
            <p:cNvSpPr>
              <a:spLocks noGrp="1"/>
            </p:cNvSpPr>
            <p:nvPr/>
          </p:nvSpPr>
          <p:spPr>
            <a:xfrm>
              <a:off x="8781489" y="3078099"/>
              <a:ext cx="66675" cy="57340"/>
            </a:xfrm>
            <a:custGeom>
              <a:avLst/>
              <a:gdLst/>
              <a:ahLst/>
              <a:cxnLst/>
              <a:rect l="0" t="0" r="0" b="0"/>
              <a:pathLst>
                <a:path w="66675" h="57340">
                  <a:moveTo>
                    <a:pt x="66675" y="28670"/>
                  </a:moveTo>
                  <a:lnTo>
                    <a:pt x="0" y="0"/>
                  </a:lnTo>
                  <a:lnTo>
                    <a:pt x="0" y="57340"/>
                  </a:lnTo>
                  <a:close/>
                </a:path>
              </a:pathLst>
            </a:custGeom>
            <a:solidFill>
              <a:srgbClr val="4083B4"/>
            </a:solidFill>
            <a:ln w="0">
              <a:noFill/>
              <a:prstDash val="solid"/>
            </a:ln>
          </p:spPr>
        </p:sp>
        <p:sp>
          <p:nvSpPr>
            <p:cNvPr id="1362" name="Fusion refined 487.16">
              <a:extLst>
                <a:ext uri="{FF2B5EF4-FFF2-40B4-BE49-F238E27FC236}">
                  <a16:creationId xmlns:a16="http://schemas.microsoft.com/office/drawing/2014/main" id="{0FF19FA3-F74F-0EF3-2637-6AA25406EF88}"/>
                </a:ext>
              </a:extLst>
            </p:cNvPr>
            <p:cNvSpPr>
              <a:spLocks noGrp="1"/>
            </p:cNvSpPr>
            <p:nvPr/>
          </p:nvSpPr>
          <p:spPr>
            <a:xfrm>
              <a:off x="5155417" y="2418493"/>
              <a:ext cx="191" cy="404527"/>
            </a:xfrm>
            <a:custGeom>
              <a:avLst/>
              <a:gdLst/>
              <a:ahLst/>
              <a:cxnLst/>
              <a:rect l="0" t="0" r="0" b="0"/>
              <a:pathLst>
                <a:path w="191" h="404527">
                  <a:moveTo>
                    <a:pt x="0" y="0"/>
                  </a:moveTo>
                  <a:lnTo>
                    <a:pt x="0" y="404527"/>
                  </a:lnTo>
                </a:path>
              </a:pathLst>
            </a:custGeom>
            <a:noFill/>
            <a:ln w="8505">
              <a:solidFill>
                <a:srgbClr val="4083B4"/>
              </a:solidFill>
              <a:prstDash val="solid"/>
            </a:ln>
          </p:spPr>
        </p:sp>
        <p:sp>
          <p:nvSpPr>
            <p:cNvPr id="1363" name="Fusion refined 487.16 head">
              <a:extLst>
                <a:ext uri="{FF2B5EF4-FFF2-40B4-BE49-F238E27FC236}">
                  <a16:creationId xmlns:a16="http://schemas.microsoft.com/office/drawing/2014/main" id="{3D13397A-1EED-4CCF-C88D-62A5EFCF622C}"/>
                </a:ext>
              </a:extLst>
            </p:cNvPr>
            <p:cNvSpPr>
              <a:spLocks noGrp="1"/>
            </p:cNvSpPr>
            <p:nvPr/>
          </p:nvSpPr>
          <p:spPr>
            <a:xfrm>
              <a:off x="5126747" y="2779681"/>
              <a:ext cx="57340" cy="66675"/>
            </a:xfrm>
            <a:custGeom>
              <a:avLst/>
              <a:gdLst/>
              <a:ahLst/>
              <a:cxnLst/>
              <a:rect l="0" t="0" r="0" b="0"/>
              <a:pathLst>
                <a:path w="57340" h="66675">
                  <a:moveTo>
                    <a:pt x="28670" y="66675"/>
                  </a:moveTo>
                  <a:lnTo>
                    <a:pt x="57340" y="0"/>
                  </a:lnTo>
                  <a:lnTo>
                    <a:pt x="0" y="0"/>
                  </a:lnTo>
                  <a:close/>
                </a:path>
              </a:pathLst>
            </a:custGeom>
            <a:solidFill>
              <a:srgbClr val="4083B4"/>
            </a:solidFill>
            <a:ln w="0">
              <a:noFill/>
              <a:prstDash val="solid"/>
            </a:ln>
          </p:spPr>
        </p:sp>
        <p:sp>
          <p:nvSpPr>
            <p:cNvPr id="1364" name="Fusion refined 700.05">
              <a:extLst>
                <a:ext uri="{FF2B5EF4-FFF2-40B4-BE49-F238E27FC236}">
                  <a16:creationId xmlns:a16="http://schemas.microsoft.com/office/drawing/2014/main" id="{F3328C85-8D10-5BAE-F06A-A042F88B4457}"/>
                </a:ext>
              </a:extLst>
            </p:cNvPr>
            <p:cNvSpPr>
              <a:spLocks noGrp="1"/>
            </p:cNvSpPr>
            <p:nvPr/>
          </p:nvSpPr>
          <p:spPr>
            <a:xfrm>
              <a:off x="7183194" y="2418493"/>
              <a:ext cx="191" cy="404527"/>
            </a:xfrm>
            <a:custGeom>
              <a:avLst/>
              <a:gdLst/>
              <a:ahLst/>
              <a:cxnLst/>
              <a:rect l="0" t="0" r="0" b="0"/>
              <a:pathLst>
                <a:path w="191" h="404527">
                  <a:moveTo>
                    <a:pt x="0" y="0"/>
                  </a:moveTo>
                  <a:lnTo>
                    <a:pt x="0" y="404527"/>
                  </a:lnTo>
                </a:path>
              </a:pathLst>
            </a:custGeom>
            <a:noFill/>
            <a:ln w="8505">
              <a:solidFill>
                <a:srgbClr val="4083B4"/>
              </a:solidFill>
              <a:prstDash val="solid"/>
            </a:ln>
          </p:spPr>
        </p:sp>
        <p:sp>
          <p:nvSpPr>
            <p:cNvPr id="1365" name="Fusion refined 700.05 head">
              <a:extLst>
                <a:ext uri="{FF2B5EF4-FFF2-40B4-BE49-F238E27FC236}">
                  <a16:creationId xmlns:a16="http://schemas.microsoft.com/office/drawing/2014/main" id="{615DF42F-7A96-D005-2B04-2E5B83AF189A}"/>
                </a:ext>
              </a:extLst>
            </p:cNvPr>
            <p:cNvSpPr>
              <a:spLocks noGrp="1"/>
            </p:cNvSpPr>
            <p:nvPr/>
          </p:nvSpPr>
          <p:spPr>
            <a:xfrm>
              <a:off x="7154524" y="2779681"/>
              <a:ext cx="57340" cy="66675"/>
            </a:xfrm>
            <a:custGeom>
              <a:avLst/>
              <a:gdLst/>
              <a:ahLst/>
              <a:cxnLst/>
              <a:rect l="0" t="0" r="0" b="0"/>
              <a:pathLst>
                <a:path w="57340" h="66675">
                  <a:moveTo>
                    <a:pt x="28670" y="66675"/>
                  </a:moveTo>
                  <a:lnTo>
                    <a:pt x="57340" y="0"/>
                  </a:lnTo>
                  <a:lnTo>
                    <a:pt x="0" y="0"/>
                  </a:lnTo>
                  <a:close/>
                </a:path>
              </a:pathLst>
            </a:custGeom>
            <a:solidFill>
              <a:srgbClr val="4083B4"/>
            </a:solidFill>
            <a:ln w="0">
              <a:noFill/>
              <a:prstDash val="solid"/>
            </a:ln>
          </p:spPr>
        </p:sp>
        <p:sp>
          <p:nvSpPr>
            <p:cNvPr id="1366" name="Fusion refined 912.94">
              <a:extLst>
                <a:ext uri="{FF2B5EF4-FFF2-40B4-BE49-F238E27FC236}">
                  <a16:creationId xmlns:a16="http://schemas.microsoft.com/office/drawing/2014/main" id="{8F954EB4-FAB9-9DC0-DCA1-6E84B625ECD7}"/>
                </a:ext>
              </a:extLst>
            </p:cNvPr>
            <p:cNvSpPr>
              <a:spLocks noGrp="1"/>
            </p:cNvSpPr>
            <p:nvPr/>
          </p:nvSpPr>
          <p:spPr>
            <a:xfrm>
              <a:off x="9210972" y="2418493"/>
              <a:ext cx="191" cy="404527"/>
            </a:xfrm>
            <a:custGeom>
              <a:avLst/>
              <a:gdLst/>
              <a:ahLst/>
              <a:cxnLst/>
              <a:rect l="0" t="0" r="0" b="0"/>
              <a:pathLst>
                <a:path w="191" h="404527">
                  <a:moveTo>
                    <a:pt x="0" y="0"/>
                  </a:moveTo>
                  <a:lnTo>
                    <a:pt x="0" y="404527"/>
                  </a:lnTo>
                </a:path>
              </a:pathLst>
            </a:custGeom>
            <a:noFill/>
            <a:ln w="8505">
              <a:solidFill>
                <a:srgbClr val="4083B4"/>
              </a:solidFill>
              <a:prstDash val="solid"/>
            </a:ln>
          </p:spPr>
        </p:sp>
        <p:sp>
          <p:nvSpPr>
            <p:cNvPr id="1367" name="Fusion refined 912.94 head">
              <a:extLst>
                <a:ext uri="{FF2B5EF4-FFF2-40B4-BE49-F238E27FC236}">
                  <a16:creationId xmlns:a16="http://schemas.microsoft.com/office/drawing/2014/main" id="{DDC6F6E8-2600-F9F0-8C4C-DF220F079064}"/>
                </a:ext>
              </a:extLst>
            </p:cNvPr>
            <p:cNvSpPr>
              <a:spLocks noGrp="1"/>
            </p:cNvSpPr>
            <p:nvPr/>
          </p:nvSpPr>
          <p:spPr>
            <a:xfrm>
              <a:off x="9182301" y="2779681"/>
              <a:ext cx="57340" cy="66675"/>
            </a:xfrm>
            <a:custGeom>
              <a:avLst/>
              <a:gdLst/>
              <a:ahLst/>
              <a:cxnLst/>
              <a:rect l="0" t="0" r="0" b="0"/>
              <a:pathLst>
                <a:path w="57340" h="66675">
                  <a:moveTo>
                    <a:pt x="28670" y="66675"/>
                  </a:moveTo>
                  <a:lnTo>
                    <a:pt x="57340" y="0"/>
                  </a:lnTo>
                  <a:lnTo>
                    <a:pt x="0" y="0"/>
                  </a:lnTo>
                  <a:close/>
                </a:path>
              </a:pathLst>
            </a:custGeom>
            <a:solidFill>
              <a:srgbClr val="4083B4"/>
            </a:solidFill>
            <a:ln w="0">
              <a:noFill/>
              <a:prstDash val="solid"/>
            </a:ln>
          </p:spPr>
        </p:sp>
        <p:sp>
          <p:nvSpPr>
            <p:cNvPr id="1368" name="Recycle right refined">
              <a:extLst>
                <a:ext uri="{FF2B5EF4-FFF2-40B4-BE49-F238E27FC236}">
                  <a16:creationId xmlns:a16="http://schemas.microsoft.com/office/drawing/2014/main" id="{D9AFE2A4-7629-8D55-72A2-74513ED16554}"/>
                </a:ext>
              </a:extLst>
            </p:cNvPr>
            <p:cNvSpPr>
              <a:spLocks noGrp="1"/>
            </p:cNvSpPr>
            <p:nvPr/>
          </p:nvSpPr>
          <p:spPr>
            <a:xfrm>
              <a:off x="7666874" y="3385852"/>
              <a:ext cx="1544098" cy="241840"/>
            </a:xfrm>
            <a:custGeom>
              <a:avLst/>
              <a:gdLst/>
              <a:ahLst/>
              <a:cxnLst/>
              <a:rect l="0" t="0" r="0" b="0"/>
              <a:pathLst>
                <a:path w="1544098" h="241840">
                  <a:moveTo>
                    <a:pt x="1544098" y="0"/>
                  </a:moveTo>
                  <a:lnTo>
                    <a:pt x="1544098" y="241840"/>
                  </a:lnTo>
                  <a:lnTo>
                    <a:pt x="0" y="241840"/>
                  </a:lnTo>
                </a:path>
              </a:pathLst>
            </a:custGeom>
            <a:noFill/>
            <a:ln w="8505">
              <a:solidFill>
                <a:srgbClr val="4083B4"/>
              </a:solidFill>
              <a:prstDash val="solid"/>
            </a:ln>
          </p:spPr>
        </p:sp>
        <p:sp>
          <p:nvSpPr>
            <p:cNvPr id="1369" name="Recycle left refined">
              <a:extLst>
                <a:ext uri="{FF2B5EF4-FFF2-40B4-BE49-F238E27FC236}">
                  <a16:creationId xmlns:a16="http://schemas.microsoft.com/office/drawing/2014/main" id="{9E9F6AF5-6C88-4D6A-4EB6-AE11098D540D}"/>
                </a:ext>
              </a:extLst>
            </p:cNvPr>
            <p:cNvSpPr>
              <a:spLocks noGrp="1"/>
            </p:cNvSpPr>
            <p:nvPr/>
          </p:nvSpPr>
          <p:spPr>
            <a:xfrm>
              <a:off x="5155417" y="3409188"/>
              <a:ext cx="1544098" cy="218503"/>
            </a:xfrm>
            <a:custGeom>
              <a:avLst/>
              <a:gdLst/>
              <a:ahLst/>
              <a:cxnLst/>
              <a:rect l="0" t="0" r="0" b="0"/>
              <a:pathLst>
                <a:path w="1544098" h="218503">
                  <a:moveTo>
                    <a:pt x="1544098" y="218503"/>
                  </a:moveTo>
                  <a:lnTo>
                    <a:pt x="0" y="218503"/>
                  </a:lnTo>
                  <a:lnTo>
                    <a:pt x="0" y="0"/>
                  </a:lnTo>
                </a:path>
              </a:pathLst>
            </a:custGeom>
            <a:noFill/>
            <a:ln w="8505">
              <a:solidFill>
                <a:srgbClr val="4083B4"/>
              </a:solidFill>
              <a:prstDash val="solid"/>
            </a:ln>
          </p:spPr>
        </p:sp>
        <p:sp>
          <p:nvSpPr>
            <p:cNvPr id="1370" name="Recycle left refined head">
              <a:extLst>
                <a:ext uri="{FF2B5EF4-FFF2-40B4-BE49-F238E27FC236}">
                  <a16:creationId xmlns:a16="http://schemas.microsoft.com/office/drawing/2014/main" id="{FC70626C-9297-3774-289D-8C74BAB81591}"/>
                </a:ext>
              </a:extLst>
            </p:cNvPr>
            <p:cNvSpPr>
              <a:spLocks noGrp="1"/>
            </p:cNvSpPr>
            <p:nvPr/>
          </p:nvSpPr>
          <p:spPr>
            <a:xfrm>
              <a:off x="5126747" y="3385852"/>
              <a:ext cx="57340" cy="66675"/>
            </a:xfrm>
            <a:custGeom>
              <a:avLst/>
              <a:gdLst/>
              <a:ahLst/>
              <a:cxnLst/>
              <a:rect l="0" t="0" r="0" b="0"/>
              <a:pathLst>
                <a:path w="57340" h="66675">
                  <a:moveTo>
                    <a:pt x="28670" y="0"/>
                  </a:moveTo>
                  <a:lnTo>
                    <a:pt x="0" y="66675"/>
                  </a:lnTo>
                  <a:lnTo>
                    <a:pt x="57340" y="66675"/>
                  </a:lnTo>
                  <a:close/>
                </a:path>
              </a:pathLst>
            </a:custGeom>
            <a:solidFill>
              <a:srgbClr val="4083B4"/>
            </a:solidFill>
            <a:ln w="0">
              <a:noFill/>
              <a:prstDash val="solid"/>
            </a:ln>
          </p:spPr>
        </p:sp>
        <p:sp>
          <p:nvSpPr>
            <p:cNvPr id="1371" name="Crop to summary refined">
              <a:extLst>
                <a:ext uri="{FF2B5EF4-FFF2-40B4-BE49-F238E27FC236}">
                  <a16:creationId xmlns:a16="http://schemas.microsoft.com/office/drawing/2014/main" id="{23964A60-5300-B32A-CC8C-9F9A10909522}"/>
                </a:ext>
              </a:extLst>
            </p:cNvPr>
            <p:cNvSpPr>
              <a:spLocks noGrp="1"/>
            </p:cNvSpPr>
            <p:nvPr/>
          </p:nvSpPr>
          <p:spPr>
            <a:xfrm>
              <a:off x="3807779" y="6064758"/>
              <a:ext cx="1148715" cy="191"/>
            </a:xfrm>
            <a:custGeom>
              <a:avLst/>
              <a:gdLst/>
              <a:ahLst/>
              <a:cxnLst/>
              <a:rect l="0" t="0" r="0" b="0"/>
              <a:pathLst>
                <a:path w="1148715" h="191">
                  <a:moveTo>
                    <a:pt x="0" y="0"/>
                  </a:moveTo>
                  <a:lnTo>
                    <a:pt x="1148715" y="0"/>
                  </a:lnTo>
                </a:path>
              </a:pathLst>
            </a:custGeom>
            <a:noFill/>
            <a:ln w="8505">
              <a:solidFill>
                <a:srgbClr val="4083B4"/>
              </a:solidFill>
              <a:prstDash val="solid"/>
            </a:ln>
          </p:spPr>
        </p:sp>
        <p:sp>
          <p:nvSpPr>
            <p:cNvPr id="1372" name="Crop to summary refined head">
              <a:extLst>
                <a:ext uri="{FF2B5EF4-FFF2-40B4-BE49-F238E27FC236}">
                  <a16:creationId xmlns:a16="http://schemas.microsoft.com/office/drawing/2014/main" id="{864E15CB-81EF-2FAC-14F2-E25D89F29346}"/>
                </a:ext>
              </a:extLst>
            </p:cNvPr>
            <p:cNvSpPr>
              <a:spLocks noGrp="1"/>
            </p:cNvSpPr>
            <p:nvPr/>
          </p:nvSpPr>
          <p:spPr>
            <a:xfrm>
              <a:off x="4913156" y="6036088"/>
              <a:ext cx="66675" cy="57340"/>
            </a:xfrm>
            <a:custGeom>
              <a:avLst/>
              <a:gdLst/>
              <a:ahLst/>
              <a:cxnLst/>
              <a:rect l="0" t="0" r="0" b="0"/>
              <a:pathLst>
                <a:path w="66675" h="57340">
                  <a:moveTo>
                    <a:pt x="66675" y="28670"/>
                  </a:moveTo>
                  <a:lnTo>
                    <a:pt x="0" y="0"/>
                  </a:lnTo>
                  <a:lnTo>
                    <a:pt x="0" y="57340"/>
                  </a:lnTo>
                  <a:close/>
                </a:path>
              </a:pathLst>
            </a:custGeom>
            <a:solidFill>
              <a:srgbClr val="4083B4"/>
            </a:solidFill>
            <a:ln w="0">
              <a:noFill/>
              <a:prstDash val="solid"/>
            </a:ln>
          </p:spPr>
        </p:sp>
        <p:sp>
          <p:nvSpPr>
            <p:cNvPr id="1373" name="Input split refined">
              <a:extLst>
                <a:ext uri="{FF2B5EF4-FFF2-40B4-BE49-F238E27FC236}">
                  <a16:creationId xmlns:a16="http://schemas.microsoft.com/office/drawing/2014/main" id="{B4BBBDF4-6774-1D2C-95B2-F3B88AB1C869}"/>
                </a:ext>
              </a:extLst>
            </p:cNvPr>
            <p:cNvSpPr>
              <a:spLocks noGrp="1"/>
            </p:cNvSpPr>
            <p:nvPr/>
          </p:nvSpPr>
          <p:spPr>
            <a:xfrm>
              <a:off x="2301020" y="7793355"/>
              <a:ext cx="846772" cy="160020"/>
            </a:xfrm>
            <a:custGeom>
              <a:avLst/>
              <a:gdLst/>
              <a:ahLst/>
              <a:cxnLst/>
              <a:rect l="0" t="0" r="0" b="0"/>
              <a:pathLst>
                <a:path w="846772" h="160020">
                  <a:moveTo>
                    <a:pt x="846772" y="0"/>
                  </a:moveTo>
                  <a:lnTo>
                    <a:pt x="846772" y="160020"/>
                  </a:lnTo>
                  <a:lnTo>
                    <a:pt x="0" y="160020"/>
                  </a:lnTo>
                </a:path>
              </a:pathLst>
            </a:custGeom>
            <a:noFill/>
            <a:ln w="8505">
              <a:solidFill>
                <a:srgbClr val="3B8C80"/>
              </a:solidFill>
              <a:prstDash val="solid"/>
            </a:ln>
          </p:spPr>
        </p:sp>
        <p:sp>
          <p:nvSpPr>
            <p:cNvPr id="1374" name="Input split right refined">
              <a:extLst>
                <a:ext uri="{FF2B5EF4-FFF2-40B4-BE49-F238E27FC236}">
                  <a16:creationId xmlns:a16="http://schemas.microsoft.com/office/drawing/2014/main" id="{950F0CCA-2F88-9AFF-22D8-DAA7ACB6176C}"/>
                </a:ext>
              </a:extLst>
            </p:cNvPr>
            <p:cNvSpPr>
              <a:spLocks noGrp="1"/>
            </p:cNvSpPr>
            <p:nvPr/>
          </p:nvSpPr>
          <p:spPr>
            <a:xfrm>
              <a:off x="3147792" y="7953375"/>
              <a:ext cx="827723" cy="191"/>
            </a:xfrm>
            <a:custGeom>
              <a:avLst/>
              <a:gdLst/>
              <a:ahLst/>
              <a:cxnLst/>
              <a:rect l="0" t="0" r="0" b="0"/>
              <a:pathLst>
                <a:path w="827723" h="191">
                  <a:moveTo>
                    <a:pt x="0" y="0"/>
                  </a:moveTo>
                  <a:lnTo>
                    <a:pt x="827723" y="0"/>
                  </a:lnTo>
                </a:path>
              </a:pathLst>
            </a:custGeom>
            <a:noFill/>
            <a:ln w="8505">
              <a:solidFill>
                <a:srgbClr val="3B8C80"/>
              </a:solidFill>
              <a:prstDash val="solid"/>
            </a:ln>
          </p:spPr>
        </p:sp>
        <p:sp>
          <p:nvSpPr>
            <p:cNvPr id="1375" name="Inputs to pool refined">
              <a:extLst>
                <a:ext uri="{FF2B5EF4-FFF2-40B4-BE49-F238E27FC236}">
                  <a16:creationId xmlns:a16="http://schemas.microsoft.com/office/drawing/2014/main" id="{B22E0EF3-FD19-0826-1822-07182CC69FC5}"/>
                </a:ext>
              </a:extLst>
            </p:cNvPr>
            <p:cNvSpPr>
              <a:spLocks noGrp="1"/>
            </p:cNvSpPr>
            <p:nvPr/>
          </p:nvSpPr>
          <p:spPr>
            <a:xfrm>
              <a:off x="2301020" y="7953375"/>
              <a:ext cx="191" cy="143732"/>
            </a:xfrm>
            <a:custGeom>
              <a:avLst/>
              <a:gdLst/>
              <a:ahLst/>
              <a:cxnLst/>
              <a:rect l="0" t="0" r="0" b="0"/>
              <a:pathLst>
                <a:path w="191" h="143732">
                  <a:moveTo>
                    <a:pt x="0" y="0"/>
                  </a:moveTo>
                  <a:lnTo>
                    <a:pt x="0" y="143732"/>
                  </a:lnTo>
                </a:path>
              </a:pathLst>
            </a:custGeom>
            <a:noFill/>
            <a:ln w="8505">
              <a:solidFill>
                <a:srgbClr val="3B8C80"/>
              </a:solidFill>
              <a:prstDash val="solid"/>
            </a:ln>
          </p:spPr>
        </p:sp>
        <p:sp>
          <p:nvSpPr>
            <p:cNvPr id="1376" name="Inputs to pool refined head">
              <a:extLst>
                <a:ext uri="{FF2B5EF4-FFF2-40B4-BE49-F238E27FC236}">
                  <a16:creationId xmlns:a16="http://schemas.microsoft.com/office/drawing/2014/main" id="{CA70B1F6-4A00-BABC-2972-012866989961}"/>
                </a:ext>
              </a:extLst>
            </p:cNvPr>
            <p:cNvSpPr>
              <a:spLocks noGrp="1"/>
            </p:cNvSpPr>
            <p:nvPr/>
          </p:nvSpPr>
          <p:spPr>
            <a:xfrm>
              <a:off x="2272349" y="8053769"/>
              <a:ext cx="57340" cy="66675"/>
            </a:xfrm>
            <a:custGeom>
              <a:avLst/>
              <a:gdLst/>
              <a:ahLst/>
              <a:cxnLst/>
              <a:rect l="0" t="0" r="0" b="0"/>
              <a:pathLst>
                <a:path w="57340" h="66675">
                  <a:moveTo>
                    <a:pt x="28670" y="66675"/>
                  </a:moveTo>
                  <a:lnTo>
                    <a:pt x="57340" y="0"/>
                  </a:lnTo>
                  <a:lnTo>
                    <a:pt x="0" y="0"/>
                  </a:lnTo>
                  <a:close/>
                </a:path>
              </a:pathLst>
            </a:custGeom>
            <a:solidFill>
              <a:srgbClr val="3B8C80"/>
            </a:solidFill>
            <a:ln w="0">
              <a:noFill/>
              <a:prstDash val="solid"/>
            </a:ln>
          </p:spPr>
        </p:sp>
        <p:sp>
          <p:nvSpPr>
            <p:cNvPr id="1377" name="Inputs to attention refined">
              <a:extLst>
                <a:ext uri="{FF2B5EF4-FFF2-40B4-BE49-F238E27FC236}">
                  <a16:creationId xmlns:a16="http://schemas.microsoft.com/office/drawing/2014/main" id="{08F1A61E-3B0E-8BF6-7F27-5CCE4D22C59A}"/>
                </a:ext>
              </a:extLst>
            </p:cNvPr>
            <p:cNvSpPr>
              <a:spLocks noGrp="1"/>
            </p:cNvSpPr>
            <p:nvPr/>
          </p:nvSpPr>
          <p:spPr>
            <a:xfrm>
              <a:off x="3975515" y="7953375"/>
              <a:ext cx="191" cy="143732"/>
            </a:xfrm>
            <a:custGeom>
              <a:avLst/>
              <a:gdLst/>
              <a:ahLst/>
              <a:cxnLst/>
              <a:rect l="0" t="0" r="0" b="0"/>
              <a:pathLst>
                <a:path w="191" h="143732">
                  <a:moveTo>
                    <a:pt x="0" y="0"/>
                  </a:moveTo>
                  <a:lnTo>
                    <a:pt x="0" y="143732"/>
                  </a:lnTo>
                </a:path>
              </a:pathLst>
            </a:custGeom>
            <a:noFill/>
            <a:ln w="8505">
              <a:solidFill>
                <a:srgbClr val="3B8C80"/>
              </a:solidFill>
              <a:prstDash val="solid"/>
            </a:ln>
          </p:spPr>
        </p:sp>
        <p:sp>
          <p:nvSpPr>
            <p:cNvPr id="1378" name="Inputs to attention refined head">
              <a:extLst>
                <a:ext uri="{FF2B5EF4-FFF2-40B4-BE49-F238E27FC236}">
                  <a16:creationId xmlns:a16="http://schemas.microsoft.com/office/drawing/2014/main" id="{4A8E2717-7DBF-7A20-898F-8A4B8D99C916}"/>
                </a:ext>
              </a:extLst>
            </p:cNvPr>
            <p:cNvSpPr>
              <a:spLocks noGrp="1"/>
            </p:cNvSpPr>
            <p:nvPr/>
          </p:nvSpPr>
          <p:spPr>
            <a:xfrm>
              <a:off x="3946844" y="8053769"/>
              <a:ext cx="57340" cy="66675"/>
            </a:xfrm>
            <a:custGeom>
              <a:avLst/>
              <a:gdLst/>
              <a:ahLst/>
              <a:cxnLst/>
              <a:rect l="0" t="0" r="0" b="0"/>
              <a:pathLst>
                <a:path w="57340" h="66675">
                  <a:moveTo>
                    <a:pt x="28670" y="66675"/>
                  </a:moveTo>
                  <a:lnTo>
                    <a:pt x="57340" y="0"/>
                  </a:lnTo>
                  <a:lnTo>
                    <a:pt x="0" y="0"/>
                  </a:lnTo>
                  <a:close/>
                </a:path>
              </a:pathLst>
            </a:custGeom>
            <a:solidFill>
              <a:srgbClr val="3B8C80"/>
            </a:solidFill>
            <a:ln w="0">
              <a:noFill/>
              <a:prstDash val="solid"/>
            </a:ln>
          </p:spPr>
        </p:sp>
        <p:sp>
          <p:nvSpPr>
            <p:cNvPr id="1383" name="MLP to FiLM refined">
              <a:extLst>
                <a:ext uri="{FF2B5EF4-FFF2-40B4-BE49-F238E27FC236}">
                  <a16:creationId xmlns:a16="http://schemas.microsoft.com/office/drawing/2014/main" id="{2C7C678A-F3D0-E51D-2CD6-B41E5CBA7774}"/>
                </a:ext>
              </a:extLst>
            </p:cNvPr>
            <p:cNvSpPr>
              <a:spLocks noGrp="1"/>
            </p:cNvSpPr>
            <p:nvPr/>
          </p:nvSpPr>
          <p:spPr>
            <a:xfrm>
              <a:off x="3546890" y="8968264"/>
              <a:ext cx="1502569" cy="191"/>
            </a:xfrm>
            <a:custGeom>
              <a:avLst/>
              <a:gdLst/>
              <a:ahLst/>
              <a:cxnLst/>
              <a:rect l="0" t="0" r="0" b="0"/>
              <a:pathLst>
                <a:path w="1502569" h="191">
                  <a:moveTo>
                    <a:pt x="0" y="0"/>
                  </a:moveTo>
                  <a:lnTo>
                    <a:pt x="1502569" y="0"/>
                  </a:lnTo>
                </a:path>
              </a:pathLst>
            </a:custGeom>
            <a:noFill/>
            <a:ln w="8505">
              <a:solidFill>
                <a:srgbClr val="3B8C80"/>
              </a:solidFill>
              <a:prstDash val="solid"/>
            </a:ln>
          </p:spPr>
        </p:sp>
        <p:sp>
          <p:nvSpPr>
            <p:cNvPr id="1384" name="MLP to FiLM refined head">
              <a:extLst>
                <a:ext uri="{FF2B5EF4-FFF2-40B4-BE49-F238E27FC236}">
                  <a16:creationId xmlns:a16="http://schemas.microsoft.com/office/drawing/2014/main" id="{E62BF4CB-2DFB-E34F-0A43-259454CA6416}"/>
                </a:ext>
              </a:extLst>
            </p:cNvPr>
            <p:cNvSpPr>
              <a:spLocks noGrp="1"/>
            </p:cNvSpPr>
            <p:nvPr/>
          </p:nvSpPr>
          <p:spPr>
            <a:xfrm>
              <a:off x="5006120" y="8939594"/>
              <a:ext cx="66675" cy="57340"/>
            </a:xfrm>
            <a:custGeom>
              <a:avLst/>
              <a:gdLst/>
              <a:ahLst/>
              <a:cxnLst/>
              <a:rect l="0" t="0" r="0" b="0"/>
              <a:pathLst>
                <a:path w="66675" h="57340">
                  <a:moveTo>
                    <a:pt x="66675" y="28670"/>
                  </a:moveTo>
                  <a:lnTo>
                    <a:pt x="0" y="0"/>
                  </a:lnTo>
                  <a:lnTo>
                    <a:pt x="0" y="57340"/>
                  </a:lnTo>
                  <a:close/>
                </a:path>
              </a:pathLst>
            </a:custGeom>
            <a:solidFill>
              <a:srgbClr val="3B8C80"/>
            </a:solidFill>
            <a:ln w="0">
              <a:noFill/>
              <a:prstDash val="solid"/>
            </a:ln>
          </p:spPr>
        </p:sp>
        <p:sp>
          <p:nvSpPr>
            <p:cNvPr id="1385" name="Summary to FiLM refined">
              <a:extLst>
                <a:ext uri="{FF2B5EF4-FFF2-40B4-BE49-F238E27FC236}">
                  <a16:creationId xmlns:a16="http://schemas.microsoft.com/office/drawing/2014/main" id="{4AD6C56A-E9C3-F934-64AC-D936F1D8505E}"/>
                </a:ext>
              </a:extLst>
            </p:cNvPr>
            <p:cNvSpPr>
              <a:spLocks noGrp="1"/>
            </p:cNvSpPr>
            <p:nvPr/>
          </p:nvSpPr>
          <p:spPr>
            <a:xfrm>
              <a:off x="5426172" y="6400800"/>
              <a:ext cx="191" cy="2367439"/>
            </a:xfrm>
            <a:custGeom>
              <a:avLst/>
              <a:gdLst/>
              <a:ahLst/>
              <a:cxnLst/>
              <a:rect l="0" t="0" r="0" b="0"/>
              <a:pathLst>
                <a:path w="191" h="2367439">
                  <a:moveTo>
                    <a:pt x="0" y="0"/>
                  </a:moveTo>
                  <a:lnTo>
                    <a:pt x="0" y="2367439"/>
                  </a:lnTo>
                </a:path>
              </a:pathLst>
            </a:custGeom>
            <a:noFill/>
            <a:ln w="8505">
              <a:solidFill>
                <a:srgbClr val="4083B4"/>
              </a:solidFill>
              <a:prstDash val="solid"/>
            </a:ln>
          </p:spPr>
        </p:sp>
        <p:sp>
          <p:nvSpPr>
            <p:cNvPr id="1386" name="Summary to FiLM refined head">
              <a:extLst>
                <a:ext uri="{FF2B5EF4-FFF2-40B4-BE49-F238E27FC236}">
                  <a16:creationId xmlns:a16="http://schemas.microsoft.com/office/drawing/2014/main" id="{EEAEF4BF-5039-6C23-B675-9771749FE17A}"/>
                </a:ext>
              </a:extLst>
            </p:cNvPr>
            <p:cNvSpPr>
              <a:spLocks noGrp="1"/>
            </p:cNvSpPr>
            <p:nvPr/>
          </p:nvSpPr>
          <p:spPr>
            <a:xfrm>
              <a:off x="5397502" y="8724900"/>
              <a:ext cx="57340" cy="66675"/>
            </a:xfrm>
            <a:custGeom>
              <a:avLst/>
              <a:gdLst/>
              <a:ahLst/>
              <a:cxnLst/>
              <a:rect l="0" t="0" r="0" b="0"/>
              <a:pathLst>
                <a:path w="57340" h="66675">
                  <a:moveTo>
                    <a:pt x="28670" y="66675"/>
                  </a:moveTo>
                  <a:lnTo>
                    <a:pt x="57340" y="0"/>
                  </a:lnTo>
                  <a:lnTo>
                    <a:pt x="0" y="0"/>
                  </a:lnTo>
                  <a:close/>
                </a:path>
              </a:pathLst>
            </a:custGeom>
            <a:solidFill>
              <a:srgbClr val="4083B4"/>
            </a:solidFill>
            <a:ln w="0">
              <a:noFill/>
              <a:prstDash val="solid"/>
            </a:ln>
          </p:spPr>
        </p:sp>
        <p:sp>
          <p:nvSpPr>
            <p:cNvPr id="1387" name="Summary to cross attention refined">
              <a:extLst>
                <a:ext uri="{FF2B5EF4-FFF2-40B4-BE49-F238E27FC236}">
                  <a16:creationId xmlns:a16="http://schemas.microsoft.com/office/drawing/2014/main" id="{EFD90DBF-A222-410E-15F3-D541CA16A8AE}"/>
                </a:ext>
              </a:extLst>
            </p:cNvPr>
            <p:cNvSpPr>
              <a:spLocks noGrp="1"/>
            </p:cNvSpPr>
            <p:nvPr/>
          </p:nvSpPr>
          <p:spPr>
            <a:xfrm>
              <a:off x="4761327" y="8297132"/>
              <a:ext cx="664845" cy="191"/>
            </a:xfrm>
            <a:custGeom>
              <a:avLst/>
              <a:gdLst/>
              <a:ahLst/>
              <a:cxnLst/>
              <a:rect l="0" t="0" r="0" b="0"/>
              <a:pathLst>
                <a:path w="664845" h="191">
                  <a:moveTo>
                    <a:pt x="664845" y="0"/>
                  </a:moveTo>
                  <a:lnTo>
                    <a:pt x="0" y="0"/>
                  </a:lnTo>
                </a:path>
              </a:pathLst>
            </a:custGeom>
            <a:noFill/>
            <a:ln w="8505">
              <a:solidFill>
                <a:srgbClr val="4083B4"/>
              </a:solidFill>
              <a:prstDash val="solid"/>
            </a:ln>
          </p:spPr>
        </p:sp>
        <p:sp>
          <p:nvSpPr>
            <p:cNvPr id="1388" name="Summary to cross attention refined head">
              <a:extLst>
                <a:ext uri="{FF2B5EF4-FFF2-40B4-BE49-F238E27FC236}">
                  <a16:creationId xmlns:a16="http://schemas.microsoft.com/office/drawing/2014/main" id="{91B08F31-0339-9716-3395-2B3F8970BA82}"/>
                </a:ext>
              </a:extLst>
            </p:cNvPr>
            <p:cNvSpPr>
              <a:spLocks noGrp="1"/>
            </p:cNvSpPr>
            <p:nvPr/>
          </p:nvSpPr>
          <p:spPr>
            <a:xfrm>
              <a:off x="4737991" y="8268462"/>
              <a:ext cx="66675" cy="57340"/>
            </a:xfrm>
            <a:custGeom>
              <a:avLst/>
              <a:gdLst/>
              <a:ahLst/>
              <a:cxnLst/>
              <a:rect l="0" t="0" r="0" b="0"/>
              <a:pathLst>
                <a:path w="66675" h="57340">
                  <a:moveTo>
                    <a:pt x="0" y="28670"/>
                  </a:moveTo>
                  <a:lnTo>
                    <a:pt x="66675" y="57340"/>
                  </a:lnTo>
                  <a:lnTo>
                    <a:pt x="66675" y="0"/>
                  </a:lnTo>
                  <a:close/>
                </a:path>
              </a:pathLst>
            </a:custGeom>
            <a:solidFill>
              <a:srgbClr val="4083B4"/>
            </a:solidFill>
            <a:ln w="0">
              <a:noFill/>
              <a:prstDash val="solid"/>
            </a:ln>
          </p:spPr>
        </p:sp>
        <p:sp>
          <p:nvSpPr>
            <p:cNvPr id="1389" name="FiLM to candidate refined">
              <a:extLst>
                <a:ext uri="{FF2B5EF4-FFF2-40B4-BE49-F238E27FC236}">
                  <a16:creationId xmlns:a16="http://schemas.microsoft.com/office/drawing/2014/main" id="{25FC3F76-C3DD-1537-7837-64B9361AE243}"/>
                </a:ext>
              </a:extLst>
            </p:cNvPr>
            <p:cNvSpPr>
              <a:spLocks noGrp="1"/>
            </p:cNvSpPr>
            <p:nvPr/>
          </p:nvSpPr>
          <p:spPr>
            <a:xfrm>
              <a:off x="5426172" y="9144953"/>
              <a:ext cx="191" cy="215360"/>
            </a:xfrm>
            <a:custGeom>
              <a:avLst/>
              <a:gdLst/>
              <a:ahLst/>
              <a:cxnLst/>
              <a:rect l="0" t="0" r="0" b="0"/>
              <a:pathLst>
                <a:path w="191" h="215360">
                  <a:moveTo>
                    <a:pt x="0" y="0"/>
                  </a:moveTo>
                  <a:lnTo>
                    <a:pt x="0" y="215360"/>
                  </a:lnTo>
                </a:path>
              </a:pathLst>
            </a:custGeom>
            <a:noFill/>
            <a:ln w="8505">
              <a:solidFill>
                <a:srgbClr val="3B8C80"/>
              </a:solidFill>
              <a:prstDash val="solid"/>
            </a:ln>
          </p:spPr>
        </p:sp>
        <p:sp>
          <p:nvSpPr>
            <p:cNvPr id="1390" name="FiLM to candidate refined head">
              <a:extLst>
                <a:ext uri="{FF2B5EF4-FFF2-40B4-BE49-F238E27FC236}">
                  <a16:creationId xmlns:a16="http://schemas.microsoft.com/office/drawing/2014/main" id="{7A05C2E3-B0E7-7DA8-4847-EC91C004D35D}"/>
                </a:ext>
              </a:extLst>
            </p:cNvPr>
            <p:cNvSpPr>
              <a:spLocks noGrp="1"/>
            </p:cNvSpPr>
            <p:nvPr/>
          </p:nvSpPr>
          <p:spPr>
            <a:xfrm>
              <a:off x="5397502" y="9316974"/>
              <a:ext cx="57340" cy="66675"/>
            </a:xfrm>
            <a:custGeom>
              <a:avLst/>
              <a:gdLst/>
              <a:ahLst/>
              <a:cxnLst/>
              <a:rect l="0" t="0" r="0" b="0"/>
              <a:pathLst>
                <a:path w="57340" h="66675">
                  <a:moveTo>
                    <a:pt x="28670" y="66675"/>
                  </a:moveTo>
                  <a:lnTo>
                    <a:pt x="57340" y="0"/>
                  </a:lnTo>
                  <a:lnTo>
                    <a:pt x="0" y="0"/>
                  </a:lnTo>
                  <a:close/>
                </a:path>
              </a:pathLst>
            </a:custGeom>
            <a:solidFill>
              <a:srgbClr val="3B8C80"/>
            </a:solidFill>
            <a:ln w="0">
              <a:noFill/>
              <a:prstDash val="solid"/>
            </a:ln>
          </p:spPr>
        </p:sp>
        <p:sp>
          <p:nvSpPr>
            <p:cNvPr id="1391" name="Candidate to foreground refined">
              <a:extLst>
                <a:ext uri="{FF2B5EF4-FFF2-40B4-BE49-F238E27FC236}">
                  <a16:creationId xmlns:a16="http://schemas.microsoft.com/office/drawing/2014/main" id="{FE203BD6-3778-87C2-8526-E332B5B380C4}"/>
                </a:ext>
              </a:extLst>
            </p:cNvPr>
            <p:cNvSpPr>
              <a:spLocks noGrp="1"/>
            </p:cNvSpPr>
            <p:nvPr/>
          </p:nvSpPr>
          <p:spPr>
            <a:xfrm>
              <a:off x="2617154" y="9525000"/>
              <a:ext cx="2809018" cy="286702"/>
            </a:xfrm>
            <a:custGeom>
              <a:avLst/>
              <a:gdLst/>
              <a:ahLst/>
              <a:cxnLst/>
              <a:rect l="0" t="0" r="0" b="0"/>
              <a:pathLst>
                <a:path w="2809018" h="286702">
                  <a:moveTo>
                    <a:pt x="2809018" y="0"/>
                  </a:moveTo>
                  <a:lnTo>
                    <a:pt x="2809018" y="95250"/>
                  </a:lnTo>
                  <a:lnTo>
                    <a:pt x="0" y="95250"/>
                  </a:lnTo>
                  <a:lnTo>
                    <a:pt x="0" y="286702"/>
                  </a:lnTo>
                </a:path>
              </a:pathLst>
            </a:custGeom>
            <a:noFill/>
            <a:ln w="8505">
              <a:solidFill>
                <a:srgbClr val="3B8C80"/>
              </a:solidFill>
              <a:prstDash val="solid"/>
            </a:ln>
          </p:spPr>
        </p:sp>
        <p:sp>
          <p:nvSpPr>
            <p:cNvPr id="1392" name="Candidate to foreground refined head">
              <a:extLst>
                <a:ext uri="{FF2B5EF4-FFF2-40B4-BE49-F238E27FC236}">
                  <a16:creationId xmlns:a16="http://schemas.microsoft.com/office/drawing/2014/main" id="{D2B7433A-243E-C206-1CB1-3F191E6AD029}"/>
                </a:ext>
              </a:extLst>
            </p:cNvPr>
            <p:cNvSpPr>
              <a:spLocks noGrp="1"/>
            </p:cNvSpPr>
            <p:nvPr/>
          </p:nvSpPr>
          <p:spPr>
            <a:xfrm>
              <a:off x="2588484" y="9768364"/>
              <a:ext cx="57340" cy="66675"/>
            </a:xfrm>
            <a:custGeom>
              <a:avLst/>
              <a:gdLst/>
              <a:ahLst/>
              <a:cxnLst/>
              <a:rect l="0" t="0" r="0" b="0"/>
              <a:pathLst>
                <a:path w="57340" h="66675">
                  <a:moveTo>
                    <a:pt x="28670" y="66675"/>
                  </a:moveTo>
                  <a:lnTo>
                    <a:pt x="57340" y="0"/>
                  </a:lnTo>
                  <a:lnTo>
                    <a:pt x="0" y="0"/>
                  </a:lnTo>
                  <a:close/>
                </a:path>
              </a:pathLst>
            </a:custGeom>
            <a:solidFill>
              <a:srgbClr val="3B8C80"/>
            </a:solidFill>
            <a:ln w="0">
              <a:noFill/>
              <a:prstDash val="solid"/>
            </a:ln>
          </p:spPr>
        </p:sp>
        <p:sp>
          <p:nvSpPr>
            <p:cNvPr id="1393" name="Foreground to probability refined">
              <a:extLst>
                <a:ext uri="{FF2B5EF4-FFF2-40B4-BE49-F238E27FC236}">
                  <a16:creationId xmlns:a16="http://schemas.microsoft.com/office/drawing/2014/main" id="{D5A6B998-ADFA-E982-8C35-E6D90114C21C}"/>
                </a:ext>
              </a:extLst>
            </p:cNvPr>
            <p:cNvSpPr>
              <a:spLocks noGrp="1"/>
            </p:cNvSpPr>
            <p:nvPr/>
          </p:nvSpPr>
          <p:spPr>
            <a:xfrm>
              <a:off x="3417159" y="9971532"/>
              <a:ext cx="600742" cy="191"/>
            </a:xfrm>
            <a:custGeom>
              <a:avLst/>
              <a:gdLst/>
              <a:ahLst/>
              <a:cxnLst/>
              <a:rect l="0" t="0" r="0" b="0"/>
              <a:pathLst>
                <a:path w="600742" h="191">
                  <a:moveTo>
                    <a:pt x="0" y="0"/>
                  </a:moveTo>
                  <a:lnTo>
                    <a:pt x="600742" y="0"/>
                  </a:lnTo>
                </a:path>
              </a:pathLst>
            </a:custGeom>
            <a:noFill/>
            <a:ln w="8505">
              <a:solidFill>
                <a:srgbClr val="3B8C80"/>
              </a:solidFill>
              <a:prstDash val="solid"/>
            </a:ln>
          </p:spPr>
        </p:sp>
        <p:sp>
          <p:nvSpPr>
            <p:cNvPr id="1394" name="Foreground to probability refined head">
              <a:extLst>
                <a:ext uri="{FF2B5EF4-FFF2-40B4-BE49-F238E27FC236}">
                  <a16:creationId xmlns:a16="http://schemas.microsoft.com/office/drawing/2014/main" id="{660BE4D6-2608-6E09-7FF4-AD7C50994699}"/>
                </a:ext>
              </a:extLst>
            </p:cNvPr>
            <p:cNvSpPr>
              <a:spLocks noGrp="1"/>
            </p:cNvSpPr>
            <p:nvPr/>
          </p:nvSpPr>
          <p:spPr>
            <a:xfrm>
              <a:off x="3974562" y="9942862"/>
              <a:ext cx="66675" cy="57340"/>
            </a:xfrm>
            <a:custGeom>
              <a:avLst/>
              <a:gdLst/>
              <a:ahLst/>
              <a:cxnLst/>
              <a:rect l="0" t="0" r="0" b="0"/>
              <a:pathLst>
                <a:path w="66675" h="57340">
                  <a:moveTo>
                    <a:pt x="66675" y="28670"/>
                  </a:moveTo>
                  <a:lnTo>
                    <a:pt x="0" y="0"/>
                  </a:lnTo>
                  <a:lnTo>
                    <a:pt x="0" y="57340"/>
                  </a:lnTo>
                  <a:close/>
                </a:path>
              </a:pathLst>
            </a:custGeom>
            <a:solidFill>
              <a:srgbClr val="3B8C80"/>
            </a:solidFill>
            <a:ln w="0">
              <a:noFill/>
              <a:prstDash val="solid"/>
            </a:ln>
          </p:spPr>
        </p:sp>
        <p:sp>
          <p:nvSpPr>
            <p:cNvPr id="1395" name="Candidate to cosine refined">
              <a:extLst>
                <a:ext uri="{FF2B5EF4-FFF2-40B4-BE49-F238E27FC236}">
                  <a16:creationId xmlns:a16="http://schemas.microsoft.com/office/drawing/2014/main" id="{22A5040B-9402-AB7D-9094-F4BF5F10ADD2}"/>
                </a:ext>
              </a:extLst>
            </p:cNvPr>
            <p:cNvSpPr>
              <a:spLocks noGrp="1"/>
            </p:cNvSpPr>
            <p:nvPr/>
          </p:nvSpPr>
          <p:spPr>
            <a:xfrm>
              <a:off x="5426172" y="9525000"/>
              <a:ext cx="2143887" cy="446532"/>
            </a:xfrm>
            <a:custGeom>
              <a:avLst/>
              <a:gdLst/>
              <a:ahLst/>
              <a:cxnLst/>
              <a:rect l="0" t="0" r="0" b="0"/>
              <a:pathLst>
                <a:path w="2143887" h="446532">
                  <a:moveTo>
                    <a:pt x="0" y="0"/>
                  </a:moveTo>
                  <a:lnTo>
                    <a:pt x="0" y="446532"/>
                  </a:lnTo>
                  <a:lnTo>
                    <a:pt x="2143887" y="446532"/>
                  </a:lnTo>
                </a:path>
              </a:pathLst>
            </a:custGeom>
            <a:noFill/>
            <a:ln w="8505">
              <a:solidFill>
                <a:srgbClr val="3B8C80"/>
              </a:solidFill>
              <a:prstDash val="solid"/>
            </a:ln>
          </p:spPr>
        </p:sp>
        <p:sp>
          <p:nvSpPr>
            <p:cNvPr id="1396" name="Candidate to cosine refined head">
              <a:extLst>
                <a:ext uri="{FF2B5EF4-FFF2-40B4-BE49-F238E27FC236}">
                  <a16:creationId xmlns:a16="http://schemas.microsoft.com/office/drawing/2014/main" id="{D0F3AAE9-EBC0-FC07-AF0A-FBDAD938D93E}"/>
                </a:ext>
              </a:extLst>
            </p:cNvPr>
            <p:cNvSpPr>
              <a:spLocks noGrp="1"/>
            </p:cNvSpPr>
            <p:nvPr/>
          </p:nvSpPr>
          <p:spPr>
            <a:xfrm>
              <a:off x="7526720" y="9942862"/>
              <a:ext cx="66675" cy="57340"/>
            </a:xfrm>
            <a:custGeom>
              <a:avLst/>
              <a:gdLst/>
              <a:ahLst/>
              <a:cxnLst/>
              <a:rect l="0" t="0" r="0" b="0"/>
              <a:pathLst>
                <a:path w="66675" h="57340">
                  <a:moveTo>
                    <a:pt x="66675" y="28670"/>
                  </a:moveTo>
                  <a:lnTo>
                    <a:pt x="0" y="0"/>
                  </a:lnTo>
                  <a:lnTo>
                    <a:pt x="0" y="57340"/>
                  </a:lnTo>
                  <a:close/>
                </a:path>
              </a:pathLst>
            </a:custGeom>
            <a:solidFill>
              <a:srgbClr val="3B8C80"/>
            </a:solidFill>
            <a:ln w="0">
              <a:noFill/>
              <a:prstDash val="solid"/>
            </a:ln>
          </p:spPr>
        </p:sp>
        <p:sp>
          <p:nvSpPr>
            <p:cNvPr id="1397" name="Selected identity to graph refined">
              <a:extLst>
                <a:ext uri="{FF2B5EF4-FFF2-40B4-BE49-F238E27FC236}">
                  <a16:creationId xmlns:a16="http://schemas.microsoft.com/office/drawing/2014/main" id="{2545D43E-9B8D-BA3E-80CD-880BD63B35AE}"/>
                </a:ext>
              </a:extLst>
            </p:cNvPr>
            <p:cNvSpPr>
              <a:spLocks noGrp="1"/>
            </p:cNvSpPr>
            <p:nvPr/>
          </p:nvSpPr>
          <p:spPr>
            <a:xfrm>
              <a:off x="6960840" y="6134481"/>
              <a:ext cx="651129" cy="595217"/>
            </a:xfrm>
            <a:custGeom>
              <a:avLst/>
              <a:gdLst/>
              <a:ahLst/>
              <a:cxnLst/>
              <a:rect l="0" t="0" r="0" b="0"/>
              <a:pathLst>
                <a:path w="651129" h="595217">
                  <a:moveTo>
                    <a:pt x="651129" y="0"/>
                  </a:moveTo>
                  <a:lnTo>
                    <a:pt x="0" y="0"/>
                  </a:lnTo>
                  <a:lnTo>
                    <a:pt x="0" y="595217"/>
                  </a:lnTo>
                </a:path>
              </a:pathLst>
            </a:custGeom>
            <a:noFill/>
            <a:ln w="8505">
              <a:solidFill>
                <a:srgbClr val="3B8C80"/>
              </a:solidFill>
              <a:prstDash val="solid"/>
            </a:ln>
          </p:spPr>
        </p:sp>
        <p:sp>
          <p:nvSpPr>
            <p:cNvPr id="1398" name="Selected identity to graph refined head">
              <a:extLst>
                <a:ext uri="{FF2B5EF4-FFF2-40B4-BE49-F238E27FC236}">
                  <a16:creationId xmlns:a16="http://schemas.microsoft.com/office/drawing/2014/main" id="{2F033F6F-AC85-37DE-479C-D063C3DB8E25}"/>
                </a:ext>
              </a:extLst>
            </p:cNvPr>
            <p:cNvSpPr>
              <a:spLocks noGrp="1"/>
            </p:cNvSpPr>
            <p:nvPr/>
          </p:nvSpPr>
          <p:spPr>
            <a:xfrm>
              <a:off x="6932170" y="6686360"/>
              <a:ext cx="57340" cy="66675"/>
            </a:xfrm>
            <a:custGeom>
              <a:avLst/>
              <a:gdLst/>
              <a:ahLst/>
              <a:cxnLst/>
              <a:rect l="0" t="0" r="0" b="0"/>
              <a:pathLst>
                <a:path w="57340" h="66675">
                  <a:moveTo>
                    <a:pt x="28670" y="66675"/>
                  </a:moveTo>
                  <a:lnTo>
                    <a:pt x="57340" y="0"/>
                  </a:lnTo>
                  <a:lnTo>
                    <a:pt x="0" y="0"/>
                  </a:lnTo>
                  <a:close/>
                </a:path>
              </a:pathLst>
            </a:custGeom>
            <a:solidFill>
              <a:srgbClr val="3B8C80"/>
            </a:solidFill>
            <a:ln w="0">
              <a:noFill/>
              <a:prstDash val="solid"/>
            </a:ln>
          </p:spPr>
        </p:sp>
        <p:sp>
          <p:nvSpPr>
            <p:cNvPr id="1399" name="Graph to GNN refined">
              <a:extLst>
                <a:ext uri="{FF2B5EF4-FFF2-40B4-BE49-F238E27FC236}">
                  <a16:creationId xmlns:a16="http://schemas.microsoft.com/office/drawing/2014/main" id="{7EF864D3-D6E3-5180-82C2-0A0AE886C150}"/>
                </a:ext>
              </a:extLst>
            </p:cNvPr>
            <p:cNvSpPr>
              <a:spLocks noGrp="1"/>
            </p:cNvSpPr>
            <p:nvPr/>
          </p:nvSpPr>
          <p:spPr>
            <a:xfrm>
              <a:off x="6960840" y="7441406"/>
              <a:ext cx="191" cy="153448"/>
            </a:xfrm>
            <a:custGeom>
              <a:avLst/>
              <a:gdLst/>
              <a:ahLst/>
              <a:cxnLst/>
              <a:rect l="0" t="0" r="0" b="0"/>
              <a:pathLst>
                <a:path w="191" h="153448">
                  <a:moveTo>
                    <a:pt x="0" y="0"/>
                  </a:moveTo>
                  <a:lnTo>
                    <a:pt x="0" y="153448"/>
                  </a:lnTo>
                </a:path>
              </a:pathLst>
            </a:custGeom>
            <a:noFill/>
            <a:ln w="8505">
              <a:solidFill>
                <a:srgbClr val="3B8C80"/>
              </a:solidFill>
              <a:prstDash val="solid"/>
            </a:ln>
          </p:spPr>
        </p:sp>
        <p:sp>
          <p:nvSpPr>
            <p:cNvPr id="1400" name="Graph to GNN refined head">
              <a:extLst>
                <a:ext uri="{FF2B5EF4-FFF2-40B4-BE49-F238E27FC236}">
                  <a16:creationId xmlns:a16="http://schemas.microsoft.com/office/drawing/2014/main" id="{B23BD653-4893-2671-9B86-7F888A6E5617}"/>
                </a:ext>
              </a:extLst>
            </p:cNvPr>
            <p:cNvSpPr>
              <a:spLocks noGrp="1"/>
            </p:cNvSpPr>
            <p:nvPr/>
          </p:nvSpPr>
          <p:spPr>
            <a:xfrm>
              <a:off x="6932170" y="7551515"/>
              <a:ext cx="57340" cy="66675"/>
            </a:xfrm>
            <a:custGeom>
              <a:avLst/>
              <a:gdLst/>
              <a:ahLst/>
              <a:cxnLst/>
              <a:rect l="0" t="0" r="0" b="0"/>
              <a:pathLst>
                <a:path w="57340" h="66675">
                  <a:moveTo>
                    <a:pt x="28670" y="66675"/>
                  </a:moveTo>
                  <a:lnTo>
                    <a:pt x="57340" y="0"/>
                  </a:lnTo>
                  <a:lnTo>
                    <a:pt x="0" y="0"/>
                  </a:lnTo>
                  <a:close/>
                </a:path>
              </a:pathLst>
            </a:custGeom>
            <a:solidFill>
              <a:srgbClr val="3B8C80"/>
            </a:solidFill>
            <a:ln w="0">
              <a:noFill/>
              <a:prstDash val="solid"/>
            </a:ln>
          </p:spPr>
        </p:sp>
        <p:sp>
          <p:nvSpPr>
            <p:cNvPr id="1401" name="GNN to graph attention refined">
              <a:extLst>
                <a:ext uri="{FF2B5EF4-FFF2-40B4-BE49-F238E27FC236}">
                  <a16:creationId xmlns:a16="http://schemas.microsoft.com/office/drawing/2014/main" id="{B0DCC1B2-7C1A-332C-0127-08382278DBC6}"/>
                </a:ext>
              </a:extLst>
            </p:cNvPr>
            <p:cNvSpPr>
              <a:spLocks noGrp="1"/>
            </p:cNvSpPr>
            <p:nvPr/>
          </p:nvSpPr>
          <p:spPr>
            <a:xfrm>
              <a:off x="6960840" y="7934420"/>
              <a:ext cx="191" cy="274320"/>
            </a:xfrm>
            <a:custGeom>
              <a:avLst/>
              <a:gdLst/>
              <a:ahLst/>
              <a:cxnLst/>
              <a:rect l="0" t="0" r="0" b="0"/>
              <a:pathLst>
                <a:path w="191" h="274320">
                  <a:moveTo>
                    <a:pt x="0" y="0"/>
                  </a:moveTo>
                  <a:lnTo>
                    <a:pt x="0" y="274320"/>
                  </a:lnTo>
                </a:path>
              </a:pathLst>
            </a:custGeom>
            <a:noFill/>
            <a:ln w="8505">
              <a:solidFill>
                <a:srgbClr val="3B8C80"/>
              </a:solidFill>
              <a:prstDash val="solid"/>
            </a:ln>
          </p:spPr>
        </p:sp>
        <p:sp>
          <p:nvSpPr>
            <p:cNvPr id="1402" name="GNN to graph attention refined head">
              <a:extLst>
                <a:ext uri="{FF2B5EF4-FFF2-40B4-BE49-F238E27FC236}">
                  <a16:creationId xmlns:a16="http://schemas.microsoft.com/office/drawing/2014/main" id="{F5D1A0D2-1869-EB89-61A3-D3ABFE580C35}"/>
                </a:ext>
              </a:extLst>
            </p:cNvPr>
            <p:cNvSpPr>
              <a:spLocks noGrp="1"/>
            </p:cNvSpPr>
            <p:nvPr/>
          </p:nvSpPr>
          <p:spPr>
            <a:xfrm>
              <a:off x="6932170" y="8165402"/>
              <a:ext cx="57340" cy="66675"/>
            </a:xfrm>
            <a:custGeom>
              <a:avLst/>
              <a:gdLst/>
              <a:ahLst/>
              <a:cxnLst/>
              <a:rect l="0" t="0" r="0" b="0"/>
              <a:pathLst>
                <a:path w="57340" h="66675">
                  <a:moveTo>
                    <a:pt x="28670" y="66675"/>
                  </a:moveTo>
                  <a:lnTo>
                    <a:pt x="57340" y="0"/>
                  </a:lnTo>
                  <a:lnTo>
                    <a:pt x="0" y="0"/>
                  </a:lnTo>
                  <a:close/>
                </a:path>
              </a:pathLst>
            </a:custGeom>
            <a:solidFill>
              <a:srgbClr val="3B8C80"/>
            </a:solidFill>
            <a:ln w="0">
              <a:noFill/>
              <a:prstDash val="solid"/>
            </a:ln>
          </p:spPr>
        </p:sp>
        <p:sp>
          <p:nvSpPr>
            <p:cNvPr id="1403" name="Identity to SMI-TED refined">
              <a:extLst>
                <a:ext uri="{FF2B5EF4-FFF2-40B4-BE49-F238E27FC236}">
                  <a16:creationId xmlns:a16="http://schemas.microsoft.com/office/drawing/2014/main" id="{416B661C-118E-CA99-59DC-DA4857A74E2E}"/>
                </a:ext>
              </a:extLst>
            </p:cNvPr>
            <p:cNvSpPr>
              <a:spLocks noGrp="1"/>
            </p:cNvSpPr>
            <p:nvPr/>
          </p:nvSpPr>
          <p:spPr>
            <a:xfrm>
              <a:off x="8530941" y="6638068"/>
              <a:ext cx="191" cy="326993"/>
            </a:xfrm>
            <a:custGeom>
              <a:avLst/>
              <a:gdLst/>
              <a:ahLst/>
              <a:cxnLst/>
              <a:rect l="0" t="0" r="0" b="0"/>
              <a:pathLst>
                <a:path w="191" h="326993">
                  <a:moveTo>
                    <a:pt x="0" y="0"/>
                  </a:moveTo>
                  <a:lnTo>
                    <a:pt x="0" y="326993"/>
                  </a:lnTo>
                </a:path>
              </a:pathLst>
            </a:custGeom>
            <a:noFill/>
            <a:ln w="8505">
              <a:solidFill>
                <a:srgbClr val="3B8C80"/>
              </a:solidFill>
              <a:prstDash val="solid"/>
            </a:ln>
          </p:spPr>
        </p:sp>
        <p:sp>
          <p:nvSpPr>
            <p:cNvPr id="1404" name="Identity to SMI-TED refined head">
              <a:extLst>
                <a:ext uri="{FF2B5EF4-FFF2-40B4-BE49-F238E27FC236}">
                  <a16:creationId xmlns:a16="http://schemas.microsoft.com/office/drawing/2014/main" id="{0BA2F96A-2AFB-7C00-99C8-78C9DC78B848}"/>
                </a:ext>
              </a:extLst>
            </p:cNvPr>
            <p:cNvSpPr>
              <a:spLocks noGrp="1"/>
            </p:cNvSpPr>
            <p:nvPr/>
          </p:nvSpPr>
          <p:spPr>
            <a:xfrm>
              <a:off x="8502271" y="6921722"/>
              <a:ext cx="57340" cy="66675"/>
            </a:xfrm>
            <a:custGeom>
              <a:avLst/>
              <a:gdLst/>
              <a:ahLst/>
              <a:cxnLst/>
              <a:rect l="0" t="0" r="0" b="0"/>
              <a:pathLst>
                <a:path w="57340" h="66675">
                  <a:moveTo>
                    <a:pt x="28670" y="66675"/>
                  </a:moveTo>
                  <a:lnTo>
                    <a:pt x="57340" y="0"/>
                  </a:lnTo>
                  <a:lnTo>
                    <a:pt x="0" y="0"/>
                  </a:lnTo>
                  <a:close/>
                </a:path>
              </a:pathLst>
            </a:custGeom>
            <a:solidFill>
              <a:srgbClr val="3B8C80"/>
            </a:solidFill>
            <a:ln w="0">
              <a:noFill/>
              <a:prstDash val="solid"/>
            </a:ln>
          </p:spPr>
        </p:sp>
        <p:sp>
          <p:nvSpPr>
            <p:cNvPr id="1405" name="SMI-TED to language refined">
              <a:extLst>
                <a:ext uri="{FF2B5EF4-FFF2-40B4-BE49-F238E27FC236}">
                  <a16:creationId xmlns:a16="http://schemas.microsoft.com/office/drawing/2014/main" id="{688B9630-847C-74A2-04EF-D75E08D7E423}"/>
                </a:ext>
              </a:extLst>
            </p:cNvPr>
            <p:cNvSpPr>
              <a:spLocks noGrp="1"/>
            </p:cNvSpPr>
            <p:nvPr/>
          </p:nvSpPr>
          <p:spPr>
            <a:xfrm>
              <a:off x="8530941" y="7304627"/>
              <a:ext cx="191" cy="1013841"/>
            </a:xfrm>
            <a:custGeom>
              <a:avLst/>
              <a:gdLst/>
              <a:ahLst/>
              <a:cxnLst/>
              <a:rect l="0" t="0" r="0" b="0"/>
              <a:pathLst>
                <a:path w="191" h="1013841">
                  <a:moveTo>
                    <a:pt x="0" y="0"/>
                  </a:moveTo>
                  <a:lnTo>
                    <a:pt x="0" y="1013841"/>
                  </a:lnTo>
                </a:path>
              </a:pathLst>
            </a:custGeom>
            <a:noFill/>
            <a:ln w="8505">
              <a:solidFill>
                <a:srgbClr val="3B8C80"/>
              </a:solidFill>
              <a:prstDash val="solid"/>
            </a:ln>
          </p:spPr>
        </p:sp>
        <p:sp>
          <p:nvSpPr>
            <p:cNvPr id="1406" name="SMI-TED to language refined head">
              <a:extLst>
                <a:ext uri="{FF2B5EF4-FFF2-40B4-BE49-F238E27FC236}">
                  <a16:creationId xmlns:a16="http://schemas.microsoft.com/office/drawing/2014/main" id="{7251A2B8-D12B-A433-6B0D-10AA76953AAB}"/>
                </a:ext>
              </a:extLst>
            </p:cNvPr>
            <p:cNvSpPr>
              <a:spLocks noGrp="1"/>
            </p:cNvSpPr>
            <p:nvPr/>
          </p:nvSpPr>
          <p:spPr>
            <a:xfrm>
              <a:off x="8502271" y="8275130"/>
              <a:ext cx="57340" cy="66675"/>
            </a:xfrm>
            <a:custGeom>
              <a:avLst/>
              <a:gdLst/>
              <a:ahLst/>
              <a:cxnLst/>
              <a:rect l="0" t="0" r="0" b="0"/>
              <a:pathLst>
                <a:path w="57340" h="66675">
                  <a:moveTo>
                    <a:pt x="28670" y="66675"/>
                  </a:moveTo>
                  <a:lnTo>
                    <a:pt x="57340" y="0"/>
                  </a:lnTo>
                  <a:lnTo>
                    <a:pt x="0" y="0"/>
                  </a:lnTo>
                  <a:close/>
                </a:path>
              </a:pathLst>
            </a:custGeom>
            <a:solidFill>
              <a:srgbClr val="3B8C80"/>
            </a:solidFill>
            <a:ln w="0">
              <a:noFill/>
              <a:prstDash val="solid"/>
            </a:ln>
          </p:spPr>
        </p:sp>
        <p:sp>
          <p:nvSpPr>
            <p:cNvPr id="1407" name="Other identities refined">
              <a:extLst>
                <a:ext uri="{FF2B5EF4-FFF2-40B4-BE49-F238E27FC236}">
                  <a16:creationId xmlns:a16="http://schemas.microsoft.com/office/drawing/2014/main" id="{A4787BA6-E950-16B8-B01A-9B4C92E13C7A}"/>
                </a:ext>
              </a:extLst>
            </p:cNvPr>
            <p:cNvSpPr>
              <a:spLocks noGrp="1"/>
            </p:cNvSpPr>
            <p:nvPr/>
          </p:nvSpPr>
          <p:spPr>
            <a:xfrm>
              <a:off x="9509540" y="5581174"/>
              <a:ext cx="613886" cy="1373695"/>
            </a:xfrm>
            <a:custGeom>
              <a:avLst/>
              <a:gdLst/>
              <a:ahLst/>
              <a:cxnLst/>
              <a:rect l="0" t="0" r="0" b="0"/>
              <a:pathLst>
                <a:path w="613886" h="1373695">
                  <a:moveTo>
                    <a:pt x="0" y="0"/>
                  </a:moveTo>
                  <a:lnTo>
                    <a:pt x="613886" y="0"/>
                  </a:lnTo>
                  <a:lnTo>
                    <a:pt x="613886" y="1373695"/>
                  </a:lnTo>
                </a:path>
              </a:pathLst>
            </a:custGeom>
            <a:noFill/>
            <a:ln w="8505">
              <a:solidFill>
                <a:srgbClr val="3B8C80"/>
              </a:solidFill>
              <a:prstDash val="solid"/>
            </a:ln>
          </p:spPr>
        </p:sp>
        <p:sp>
          <p:nvSpPr>
            <p:cNvPr id="1408" name="Other identities refined head">
              <a:extLst>
                <a:ext uri="{FF2B5EF4-FFF2-40B4-BE49-F238E27FC236}">
                  <a16:creationId xmlns:a16="http://schemas.microsoft.com/office/drawing/2014/main" id="{9D094DDB-3471-ECAC-BCA5-E9612E620328}"/>
                </a:ext>
              </a:extLst>
            </p:cNvPr>
            <p:cNvSpPr>
              <a:spLocks noGrp="1"/>
            </p:cNvSpPr>
            <p:nvPr/>
          </p:nvSpPr>
          <p:spPr>
            <a:xfrm>
              <a:off x="10094756" y="6911531"/>
              <a:ext cx="57340" cy="66675"/>
            </a:xfrm>
            <a:custGeom>
              <a:avLst/>
              <a:gdLst/>
              <a:ahLst/>
              <a:cxnLst/>
              <a:rect l="0" t="0" r="0" b="0"/>
              <a:pathLst>
                <a:path w="57340" h="66675">
                  <a:moveTo>
                    <a:pt x="28670" y="66675"/>
                  </a:moveTo>
                  <a:lnTo>
                    <a:pt x="57340" y="0"/>
                  </a:lnTo>
                  <a:lnTo>
                    <a:pt x="0" y="0"/>
                  </a:lnTo>
                  <a:close/>
                </a:path>
              </a:pathLst>
            </a:custGeom>
            <a:solidFill>
              <a:srgbClr val="3B8C80"/>
            </a:solidFill>
            <a:ln w="0">
              <a:noFill/>
              <a:prstDash val="solid"/>
            </a:ln>
          </p:spPr>
        </p:sp>
        <p:sp>
          <p:nvSpPr>
            <p:cNvPr id="1409" name="Other identities middle refined">
              <a:extLst>
                <a:ext uri="{FF2B5EF4-FFF2-40B4-BE49-F238E27FC236}">
                  <a16:creationId xmlns:a16="http://schemas.microsoft.com/office/drawing/2014/main" id="{43A875F1-64CC-3AE0-16D0-832B017C6CB3}"/>
                </a:ext>
              </a:extLst>
            </p:cNvPr>
            <p:cNvSpPr>
              <a:spLocks noGrp="1"/>
            </p:cNvSpPr>
            <p:nvPr/>
          </p:nvSpPr>
          <p:spPr>
            <a:xfrm>
              <a:off x="9509540" y="5851112"/>
              <a:ext cx="613886" cy="191"/>
            </a:xfrm>
            <a:custGeom>
              <a:avLst/>
              <a:gdLst/>
              <a:ahLst/>
              <a:cxnLst/>
              <a:rect l="0" t="0" r="0" b="0"/>
              <a:pathLst>
                <a:path w="613886" h="191">
                  <a:moveTo>
                    <a:pt x="0" y="0"/>
                  </a:moveTo>
                  <a:lnTo>
                    <a:pt x="613886" y="0"/>
                  </a:lnTo>
                </a:path>
              </a:pathLst>
            </a:custGeom>
            <a:noFill/>
            <a:ln w="8505">
              <a:solidFill>
                <a:srgbClr val="3B8C80"/>
              </a:solidFill>
              <a:prstDash val="solid"/>
            </a:ln>
          </p:spPr>
        </p:sp>
        <p:sp>
          <p:nvSpPr>
            <p:cNvPr id="1410" name="Other identities lower refined">
              <a:extLst>
                <a:ext uri="{FF2B5EF4-FFF2-40B4-BE49-F238E27FC236}">
                  <a16:creationId xmlns:a16="http://schemas.microsoft.com/office/drawing/2014/main" id="{D83A070A-E1D1-4067-2310-74DC30F9F921}"/>
                </a:ext>
              </a:extLst>
            </p:cNvPr>
            <p:cNvSpPr>
              <a:spLocks noGrp="1"/>
            </p:cNvSpPr>
            <p:nvPr/>
          </p:nvSpPr>
          <p:spPr>
            <a:xfrm>
              <a:off x="9509540" y="6533293"/>
              <a:ext cx="613886" cy="191"/>
            </a:xfrm>
            <a:custGeom>
              <a:avLst/>
              <a:gdLst/>
              <a:ahLst/>
              <a:cxnLst/>
              <a:rect l="0" t="0" r="0" b="0"/>
              <a:pathLst>
                <a:path w="613886" h="191">
                  <a:moveTo>
                    <a:pt x="0" y="0"/>
                  </a:moveTo>
                  <a:lnTo>
                    <a:pt x="613886" y="0"/>
                  </a:lnTo>
                </a:path>
              </a:pathLst>
            </a:custGeom>
            <a:noFill/>
            <a:ln w="8505">
              <a:solidFill>
                <a:srgbClr val="3B8C80"/>
              </a:solidFill>
              <a:prstDash val="solid"/>
            </a:ln>
          </p:spPr>
        </p:sp>
        <p:sp>
          <p:nvSpPr>
            <p:cNvPr id="1411" name="Context SMI-TED to matrix refined">
              <a:extLst>
                <a:ext uri="{FF2B5EF4-FFF2-40B4-BE49-F238E27FC236}">
                  <a16:creationId xmlns:a16="http://schemas.microsoft.com/office/drawing/2014/main" id="{3BA39657-BA55-8B03-4B42-2E8CA0F2402A}"/>
                </a:ext>
              </a:extLst>
            </p:cNvPr>
            <p:cNvSpPr>
              <a:spLocks noGrp="1"/>
            </p:cNvSpPr>
            <p:nvPr/>
          </p:nvSpPr>
          <p:spPr>
            <a:xfrm>
              <a:off x="10133903" y="7294436"/>
              <a:ext cx="191" cy="264128"/>
            </a:xfrm>
            <a:custGeom>
              <a:avLst/>
              <a:gdLst/>
              <a:ahLst/>
              <a:cxnLst/>
              <a:rect l="0" t="0" r="0" b="0"/>
              <a:pathLst>
                <a:path w="191" h="264128">
                  <a:moveTo>
                    <a:pt x="0" y="0"/>
                  </a:moveTo>
                  <a:lnTo>
                    <a:pt x="0" y="264128"/>
                  </a:lnTo>
                </a:path>
              </a:pathLst>
            </a:custGeom>
            <a:noFill/>
            <a:ln w="8505">
              <a:solidFill>
                <a:srgbClr val="3B8C80"/>
              </a:solidFill>
              <a:prstDash val="solid"/>
            </a:ln>
          </p:spPr>
        </p:sp>
        <p:sp>
          <p:nvSpPr>
            <p:cNvPr id="1412" name="Context SMI-TED to matrix refined head">
              <a:extLst>
                <a:ext uri="{FF2B5EF4-FFF2-40B4-BE49-F238E27FC236}">
                  <a16:creationId xmlns:a16="http://schemas.microsoft.com/office/drawing/2014/main" id="{46BBCF7E-77B7-430B-5E68-8D5D4D07C9BA}"/>
                </a:ext>
              </a:extLst>
            </p:cNvPr>
            <p:cNvSpPr>
              <a:spLocks noGrp="1"/>
            </p:cNvSpPr>
            <p:nvPr/>
          </p:nvSpPr>
          <p:spPr>
            <a:xfrm>
              <a:off x="10105233" y="7515225"/>
              <a:ext cx="57340" cy="66675"/>
            </a:xfrm>
            <a:custGeom>
              <a:avLst/>
              <a:gdLst/>
              <a:ahLst/>
              <a:cxnLst/>
              <a:rect l="0" t="0" r="0" b="0"/>
              <a:pathLst>
                <a:path w="57340" h="66675">
                  <a:moveTo>
                    <a:pt x="28670" y="66675"/>
                  </a:moveTo>
                  <a:lnTo>
                    <a:pt x="57340" y="0"/>
                  </a:lnTo>
                  <a:lnTo>
                    <a:pt x="0" y="0"/>
                  </a:lnTo>
                  <a:close/>
                </a:path>
              </a:pathLst>
            </a:custGeom>
            <a:solidFill>
              <a:srgbClr val="3B8C80"/>
            </a:solidFill>
            <a:ln w="0">
              <a:noFill/>
              <a:prstDash val="solid"/>
            </a:ln>
          </p:spPr>
        </p:sp>
        <p:sp>
          <p:nvSpPr>
            <p:cNvPr id="1413" name="Context matrix to attention refined">
              <a:extLst>
                <a:ext uri="{FF2B5EF4-FFF2-40B4-BE49-F238E27FC236}">
                  <a16:creationId xmlns:a16="http://schemas.microsoft.com/office/drawing/2014/main" id="{19123C2B-08C0-5942-5974-56E3DB290164}"/>
                </a:ext>
              </a:extLst>
            </p:cNvPr>
            <p:cNvSpPr>
              <a:spLocks noGrp="1"/>
            </p:cNvSpPr>
            <p:nvPr/>
          </p:nvSpPr>
          <p:spPr>
            <a:xfrm>
              <a:off x="10123426" y="7958995"/>
              <a:ext cx="191" cy="249745"/>
            </a:xfrm>
            <a:custGeom>
              <a:avLst/>
              <a:gdLst/>
              <a:ahLst/>
              <a:cxnLst/>
              <a:rect l="0" t="0" r="0" b="0"/>
              <a:pathLst>
                <a:path w="191" h="249745">
                  <a:moveTo>
                    <a:pt x="0" y="0"/>
                  </a:moveTo>
                  <a:lnTo>
                    <a:pt x="0" y="249745"/>
                  </a:lnTo>
                </a:path>
              </a:pathLst>
            </a:custGeom>
            <a:noFill/>
            <a:ln w="8505">
              <a:solidFill>
                <a:srgbClr val="3B8C80"/>
              </a:solidFill>
              <a:prstDash val="solid"/>
            </a:ln>
          </p:spPr>
        </p:sp>
        <p:sp>
          <p:nvSpPr>
            <p:cNvPr id="1414" name="Context matrix to attention refined head">
              <a:extLst>
                <a:ext uri="{FF2B5EF4-FFF2-40B4-BE49-F238E27FC236}">
                  <a16:creationId xmlns:a16="http://schemas.microsoft.com/office/drawing/2014/main" id="{F6D726DD-707A-38A3-9C89-49061435E2BF}"/>
                </a:ext>
              </a:extLst>
            </p:cNvPr>
            <p:cNvSpPr>
              <a:spLocks noGrp="1"/>
            </p:cNvSpPr>
            <p:nvPr/>
          </p:nvSpPr>
          <p:spPr>
            <a:xfrm>
              <a:off x="10094756" y="8165402"/>
              <a:ext cx="57340" cy="66675"/>
            </a:xfrm>
            <a:custGeom>
              <a:avLst/>
              <a:gdLst/>
              <a:ahLst/>
              <a:cxnLst/>
              <a:rect l="0" t="0" r="0" b="0"/>
              <a:pathLst>
                <a:path w="57340" h="66675">
                  <a:moveTo>
                    <a:pt x="28670" y="66675"/>
                  </a:moveTo>
                  <a:lnTo>
                    <a:pt x="57340" y="0"/>
                  </a:lnTo>
                  <a:lnTo>
                    <a:pt x="0" y="0"/>
                  </a:lnTo>
                  <a:close/>
                </a:path>
              </a:pathLst>
            </a:custGeom>
            <a:solidFill>
              <a:srgbClr val="3B8C80"/>
            </a:solidFill>
            <a:ln w="0">
              <a:noFill/>
              <a:prstDash val="solid"/>
            </a:ln>
          </p:spPr>
        </p:sp>
        <p:sp>
          <p:nvSpPr>
            <p:cNvPr id="1415" name="Language query left refined">
              <a:extLst>
                <a:ext uri="{FF2B5EF4-FFF2-40B4-BE49-F238E27FC236}">
                  <a16:creationId xmlns:a16="http://schemas.microsoft.com/office/drawing/2014/main" id="{739AFAAD-E669-E2AC-687E-E59FC6E7FAD2}"/>
                </a:ext>
              </a:extLst>
            </p:cNvPr>
            <p:cNvSpPr>
              <a:spLocks noGrp="1"/>
            </p:cNvSpPr>
            <p:nvPr/>
          </p:nvSpPr>
          <p:spPr>
            <a:xfrm>
              <a:off x="7709696" y="8408765"/>
              <a:ext cx="479012" cy="191"/>
            </a:xfrm>
            <a:custGeom>
              <a:avLst/>
              <a:gdLst/>
              <a:ahLst/>
              <a:cxnLst/>
              <a:rect l="0" t="0" r="0" b="0"/>
              <a:pathLst>
                <a:path w="479012" h="191">
                  <a:moveTo>
                    <a:pt x="479012" y="0"/>
                  </a:moveTo>
                  <a:lnTo>
                    <a:pt x="0" y="0"/>
                  </a:lnTo>
                </a:path>
              </a:pathLst>
            </a:custGeom>
            <a:noFill/>
            <a:ln w="8505">
              <a:solidFill>
                <a:srgbClr val="3B8C80"/>
              </a:solidFill>
              <a:prstDash val="solid"/>
            </a:ln>
          </p:spPr>
        </p:sp>
        <p:sp>
          <p:nvSpPr>
            <p:cNvPr id="1416" name="Language query left refined head">
              <a:extLst>
                <a:ext uri="{FF2B5EF4-FFF2-40B4-BE49-F238E27FC236}">
                  <a16:creationId xmlns:a16="http://schemas.microsoft.com/office/drawing/2014/main" id="{98D92A42-D662-B44C-CD57-583BDD75174C}"/>
                </a:ext>
              </a:extLst>
            </p:cNvPr>
            <p:cNvSpPr>
              <a:spLocks noGrp="1"/>
            </p:cNvSpPr>
            <p:nvPr/>
          </p:nvSpPr>
          <p:spPr>
            <a:xfrm>
              <a:off x="7686359" y="8380095"/>
              <a:ext cx="66675" cy="57340"/>
            </a:xfrm>
            <a:custGeom>
              <a:avLst/>
              <a:gdLst/>
              <a:ahLst/>
              <a:cxnLst/>
              <a:rect l="0" t="0" r="0" b="0"/>
              <a:pathLst>
                <a:path w="66675" h="57340">
                  <a:moveTo>
                    <a:pt x="0" y="28670"/>
                  </a:moveTo>
                  <a:lnTo>
                    <a:pt x="66675" y="57340"/>
                  </a:lnTo>
                  <a:lnTo>
                    <a:pt x="66675" y="0"/>
                  </a:lnTo>
                  <a:close/>
                </a:path>
              </a:pathLst>
            </a:custGeom>
            <a:solidFill>
              <a:srgbClr val="3B8C80"/>
            </a:solidFill>
            <a:ln w="0">
              <a:noFill/>
              <a:prstDash val="solid"/>
            </a:ln>
          </p:spPr>
        </p:sp>
        <p:sp>
          <p:nvSpPr>
            <p:cNvPr id="1417" name="Language query right refined">
              <a:extLst>
                <a:ext uri="{FF2B5EF4-FFF2-40B4-BE49-F238E27FC236}">
                  <a16:creationId xmlns:a16="http://schemas.microsoft.com/office/drawing/2014/main" id="{97C332FD-B4F7-4A69-7F24-BE35ED3CC233}"/>
                </a:ext>
              </a:extLst>
            </p:cNvPr>
            <p:cNvSpPr>
              <a:spLocks noGrp="1"/>
            </p:cNvSpPr>
            <p:nvPr/>
          </p:nvSpPr>
          <p:spPr>
            <a:xfrm>
              <a:off x="8858411" y="8408765"/>
              <a:ext cx="478917" cy="191"/>
            </a:xfrm>
            <a:custGeom>
              <a:avLst/>
              <a:gdLst/>
              <a:ahLst/>
              <a:cxnLst/>
              <a:rect l="0" t="0" r="0" b="0"/>
              <a:pathLst>
                <a:path w="478917" h="191">
                  <a:moveTo>
                    <a:pt x="0" y="0"/>
                  </a:moveTo>
                  <a:lnTo>
                    <a:pt x="478917" y="0"/>
                  </a:lnTo>
                </a:path>
              </a:pathLst>
            </a:custGeom>
            <a:noFill/>
            <a:ln w="8505">
              <a:solidFill>
                <a:srgbClr val="3B8C80"/>
              </a:solidFill>
              <a:prstDash val="solid"/>
            </a:ln>
          </p:spPr>
        </p:sp>
        <p:sp>
          <p:nvSpPr>
            <p:cNvPr id="1418" name="Language query right refined head">
              <a:extLst>
                <a:ext uri="{FF2B5EF4-FFF2-40B4-BE49-F238E27FC236}">
                  <a16:creationId xmlns:a16="http://schemas.microsoft.com/office/drawing/2014/main" id="{4B6A3B32-B3D1-5F9B-FDB9-6517BE3635C2}"/>
                </a:ext>
              </a:extLst>
            </p:cNvPr>
            <p:cNvSpPr>
              <a:spLocks noGrp="1"/>
            </p:cNvSpPr>
            <p:nvPr/>
          </p:nvSpPr>
          <p:spPr>
            <a:xfrm>
              <a:off x="9293989" y="8380095"/>
              <a:ext cx="66675" cy="57340"/>
            </a:xfrm>
            <a:custGeom>
              <a:avLst/>
              <a:gdLst/>
              <a:ahLst/>
              <a:cxnLst/>
              <a:rect l="0" t="0" r="0" b="0"/>
              <a:pathLst>
                <a:path w="66675" h="57340">
                  <a:moveTo>
                    <a:pt x="66675" y="28670"/>
                  </a:moveTo>
                  <a:lnTo>
                    <a:pt x="0" y="0"/>
                  </a:lnTo>
                  <a:lnTo>
                    <a:pt x="0" y="57340"/>
                  </a:lnTo>
                  <a:close/>
                </a:path>
              </a:pathLst>
            </a:custGeom>
            <a:solidFill>
              <a:srgbClr val="3B8C80"/>
            </a:solidFill>
            <a:ln w="0">
              <a:noFill/>
              <a:prstDash val="solid"/>
            </a:ln>
          </p:spPr>
        </p:sp>
        <p:sp>
          <p:nvSpPr>
            <p:cNvPr id="1419" name="Language to fusion refined">
              <a:extLst>
                <a:ext uri="{FF2B5EF4-FFF2-40B4-BE49-F238E27FC236}">
                  <a16:creationId xmlns:a16="http://schemas.microsoft.com/office/drawing/2014/main" id="{CC1BD470-88ED-E459-BC64-3926AF1B81FC}"/>
                </a:ext>
              </a:extLst>
            </p:cNvPr>
            <p:cNvSpPr>
              <a:spLocks noGrp="1"/>
            </p:cNvSpPr>
            <p:nvPr/>
          </p:nvSpPr>
          <p:spPr>
            <a:xfrm>
              <a:off x="8523512" y="8475726"/>
              <a:ext cx="191" cy="281845"/>
            </a:xfrm>
            <a:custGeom>
              <a:avLst/>
              <a:gdLst/>
              <a:ahLst/>
              <a:cxnLst/>
              <a:rect l="0" t="0" r="0" b="0"/>
              <a:pathLst>
                <a:path w="191" h="281845">
                  <a:moveTo>
                    <a:pt x="0" y="0"/>
                  </a:moveTo>
                  <a:lnTo>
                    <a:pt x="0" y="281845"/>
                  </a:lnTo>
                </a:path>
              </a:pathLst>
            </a:custGeom>
            <a:noFill/>
            <a:ln w="8505">
              <a:solidFill>
                <a:srgbClr val="3B8C80"/>
              </a:solidFill>
              <a:prstDash val="solid"/>
            </a:ln>
          </p:spPr>
        </p:sp>
        <p:sp>
          <p:nvSpPr>
            <p:cNvPr id="1420" name="Language to fusion refined head">
              <a:extLst>
                <a:ext uri="{FF2B5EF4-FFF2-40B4-BE49-F238E27FC236}">
                  <a16:creationId xmlns:a16="http://schemas.microsoft.com/office/drawing/2014/main" id="{7DE28A53-D82C-C158-A00E-484E630E57C6}"/>
                </a:ext>
              </a:extLst>
            </p:cNvPr>
            <p:cNvSpPr>
              <a:spLocks noGrp="1"/>
            </p:cNvSpPr>
            <p:nvPr/>
          </p:nvSpPr>
          <p:spPr>
            <a:xfrm>
              <a:off x="8494841" y="8714232"/>
              <a:ext cx="57340" cy="66675"/>
            </a:xfrm>
            <a:custGeom>
              <a:avLst/>
              <a:gdLst/>
              <a:ahLst/>
              <a:cxnLst/>
              <a:rect l="0" t="0" r="0" b="0"/>
              <a:pathLst>
                <a:path w="57340" h="66675">
                  <a:moveTo>
                    <a:pt x="28670" y="66675"/>
                  </a:moveTo>
                  <a:lnTo>
                    <a:pt x="57340" y="0"/>
                  </a:lnTo>
                  <a:lnTo>
                    <a:pt x="0" y="0"/>
                  </a:lnTo>
                  <a:close/>
                </a:path>
              </a:pathLst>
            </a:custGeom>
            <a:solidFill>
              <a:srgbClr val="3B8C80"/>
            </a:solidFill>
            <a:ln w="0">
              <a:noFill/>
              <a:prstDash val="solid"/>
            </a:ln>
          </p:spPr>
        </p:sp>
        <p:sp>
          <p:nvSpPr>
            <p:cNvPr id="1421" name="Graph attention to fusion refined">
              <a:extLst>
                <a:ext uri="{FF2B5EF4-FFF2-40B4-BE49-F238E27FC236}">
                  <a16:creationId xmlns:a16="http://schemas.microsoft.com/office/drawing/2014/main" id="{9DE07E88-6455-6397-3B15-5E2794D66EC1}"/>
                </a:ext>
              </a:extLst>
            </p:cNvPr>
            <p:cNvSpPr>
              <a:spLocks noGrp="1"/>
            </p:cNvSpPr>
            <p:nvPr/>
          </p:nvSpPr>
          <p:spPr>
            <a:xfrm>
              <a:off x="6960840" y="8585549"/>
              <a:ext cx="1092899" cy="362807"/>
            </a:xfrm>
            <a:custGeom>
              <a:avLst/>
              <a:gdLst/>
              <a:ahLst/>
              <a:cxnLst/>
              <a:rect l="0" t="0" r="0" b="0"/>
              <a:pathLst>
                <a:path w="1092899" h="362807">
                  <a:moveTo>
                    <a:pt x="0" y="0"/>
                  </a:moveTo>
                  <a:lnTo>
                    <a:pt x="0" y="362807"/>
                  </a:lnTo>
                  <a:lnTo>
                    <a:pt x="1092899" y="362807"/>
                  </a:lnTo>
                </a:path>
              </a:pathLst>
            </a:custGeom>
            <a:noFill/>
            <a:ln w="8505">
              <a:solidFill>
                <a:srgbClr val="3B8C80"/>
              </a:solidFill>
              <a:prstDash val="solid"/>
            </a:ln>
          </p:spPr>
        </p:sp>
        <p:sp>
          <p:nvSpPr>
            <p:cNvPr id="1422" name="Graph attention to fusion refined head">
              <a:extLst>
                <a:ext uri="{FF2B5EF4-FFF2-40B4-BE49-F238E27FC236}">
                  <a16:creationId xmlns:a16="http://schemas.microsoft.com/office/drawing/2014/main" id="{80249588-4991-7EA9-C183-E31DFF970425}"/>
                </a:ext>
              </a:extLst>
            </p:cNvPr>
            <p:cNvSpPr>
              <a:spLocks noGrp="1"/>
            </p:cNvSpPr>
            <p:nvPr/>
          </p:nvSpPr>
          <p:spPr>
            <a:xfrm>
              <a:off x="8010400" y="8919686"/>
              <a:ext cx="66675" cy="57340"/>
            </a:xfrm>
            <a:custGeom>
              <a:avLst/>
              <a:gdLst/>
              <a:ahLst/>
              <a:cxnLst/>
              <a:rect l="0" t="0" r="0" b="0"/>
              <a:pathLst>
                <a:path w="66675" h="57340">
                  <a:moveTo>
                    <a:pt x="66675" y="28670"/>
                  </a:moveTo>
                  <a:lnTo>
                    <a:pt x="0" y="0"/>
                  </a:lnTo>
                  <a:lnTo>
                    <a:pt x="0" y="57340"/>
                  </a:lnTo>
                  <a:close/>
                </a:path>
              </a:pathLst>
            </a:custGeom>
            <a:solidFill>
              <a:srgbClr val="3B8C80"/>
            </a:solidFill>
            <a:ln w="0">
              <a:noFill/>
              <a:prstDash val="solid"/>
            </a:ln>
          </p:spPr>
        </p:sp>
        <p:sp>
          <p:nvSpPr>
            <p:cNvPr id="1423" name="Context attention to fusion refined">
              <a:extLst>
                <a:ext uri="{FF2B5EF4-FFF2-40B4-BE49-F238E27FC236}">
                  <a16:creationId xmlns:a16="http://schemas.microsoft.com/office/drawing/2014/main" id="{EB1CDE84-2AAC-05C7-2AC2-7F0CD69C4010}"/>
                </a:ext>
              </a:extLst>
            </p:cNvPr>
            <p:cNvSpPr>
              <a:spLocks noGrp="1"/>
            </p:cNvSpPr>
            <p:nvPr/>
          </p:nvSpPr>
          <p:spPr>
            <a:xfrm>
              <a:off x="8993380" y="8585549"/>
              <a:ext cx="1130046" cy="362807"/>
            </a:xfrm>
            <a:custGeom>
              <a:avLst/>
              <a:gdLst/>
              <a:ahLst/>
              <a:cxnLst/>
              <a:rect l="0" t="0" r="0" b="0"/>
              <a:pathLst>
                <a:path w="1130046" h="362807">
                  <a:moveTo>
                    <a:pt x="1130046" y="0"/>
                  </a:moveTo>
                  <a:lnTo>
                    <a:pt x="1130046" y="362807"/>
                  </a:lnTo>
                  <a:lnTo>
                    <a:pt x="0" y="362807"/>
                  </a:lnTo>
                </a:path>
              </a:pathLst>
            </a:custGeom>
            <a:noFill/>
            <a:ln w="8505">
              <a:solidFill>
                <a:srgbClr val="3B8C80"/>
              </a:solidFill>
              <a:prstDash val="solid"/>
            </a:ln>
          </p:spPr>
        </p:sp>
        <p:sp>
          <p:nvSpPr>
            <p:cNvPr id="1424" name="Context attention to fusion refined head">
              <a:extLst>
                <a:ext uri="{FF2B5EF4-FFF2-40B4-BE49-F238E27FC236}">
                  <a16:creationId xmlns:a16="http://schemas.microsoft.com/office/drawing/2014/main" id="{2AAA0335-3D51-EA88-2522-F717A483BF32}"/>
                </a:ext>
              </a:extLst>
            </p:cNvPr>
            <p:cNvSpPr>
              <a:spLocks noGrp="1"/>
            </p:cNvSpPr>
            <p:nvPr/>
          </p:nvSpPr>
          <p:spPr>
            <a:xfrm>
              <a:off x="8970044" y="8919686"/>
              <a:ext cx="66675" cy="57340"/>
            </a:xfrm>
            <a:custGeom>
              <a:avLst/>
              <a:gdLst/>
              <a:ahLst/>
              <a:cxnLst/>
              <a:rect l="0" t="0" r="0" b="0"/>
              <a:pathLst>
                <a:path w="66675" h="57340">
                  <a:moveTo>
                    <a:pt x="0" y="28670"/>
                  </a:moveTo>
                  <a:lnTo>
                    <a:pt x="66675" y="57340"/>
                  </a:lnTo>
                  <a:lnTo>
                    <a:pt x="66675" y="0"/>
                  </a:lnTo>
                  <a:close/>
                </a:path>
              </a:pathLst>
            </a:custGeom>
            <a:solidFill>
              <a:srgbClr val="3B8C80"/>
            </a:solidFill>
            <a:ln w="0">
              <a:noFill/>
              <a:prstDash val="solid"/>
            </a:ln>
          </p:spPr>
        </p:sp>
        <p:sp>
          <p:nvSpPr>
            <p:cNvPr id="1425" name="Fusion to identity vector refined">
              <a:extLst>
                <a:ext uri="{FF2B5EF4-FFF2-40B4-BE49-F238E27FC236}">
                  <a16:creationId xmlns:a16="http://schemas.microsoft.com/office/drawing/2014/main" id="{67958AAC-3FC5-4E94-249E-68F363396C6E}"/>
                </a:ext>
              </a:extLst>
            </p:cNvPr>
            <p:cNvSpPr>
              <a:spLocks noGrp="1"/>
            </p:cNvSpPr>
            <p:nvPr/>
          </p:nvSpPr>
          <p:spPr>
            <a:xfrm>
              <a:off x="8523512" y="9115806"/>
              <a:ext cx="191" cy="244507"/>
            </a:xfrm>
            <a:custGeom>
              <a:avLst/>
              <a:gdLst/>
              <a:ahLst/>
              <a:cxnLst/>
              <a:rect l="0" t="0" r="0" b="0"/>
              <a:pathLst>
                <a:path w="191" h="244507">
                  <a:moveTo>
                    <a:pt x="0" y="0"/>
                  </a:moveTo>
                  <a:lnTo>
                    <a:pt x="0" y="244507"/>
                  </a:lnTo>
                </a:path>
              </a:pathLst>
            </a:custGeom>
            <a:noFill/>
            <a:ln w="8505">
              <a:solidFill>
                <a:srgbClr val="3B8C80"/>
              </a:solidFill>
              <a:prstDash val="solid"/>
            </a:ln>
          </p:spPr>
        </p:sp>
        <p:sp>
          <p:nvSpPr>
            <p:cNvPr id="1426" name="Fusion to identity vector refined head">
              <a:extLst>
                <a:ext uri="{FF2B5EF4-FFF2-40B4-BE49-F238E27FC236}">
                  <a16:creationId xmlns:a16="http://schemas.microsoft.com/office/drawing/2014/main" id="{5B85A195-1A68-48DC-E553-B1E99915D03B}"/>
                </a:ext>
              </a:extLst>
            </p:cNvPr>
            <p:cNvSpPr>
              <a:spLocks noGrp="1"/>
            </p:cNvSpPr>
            <p:nvPr/>
          </p:nvSpPr>
          <p:spPr>
            <a:xfrm>
              <a:off x="8494841" y="9316974"/>
              <a:ext cx="57340" cy="66675"/>
            </a:xfrm>
            <a:custGeom>
              <a:avLst/>
              <a:gdLst/>
              <a:ahLst/>
              <a:cxnLst/>
              <a:rect l="0" t="0" r="0" b="0"/>
              <a:pathLst>
                <a:path w="57340" h="66675">
                  <a:moveTo>
                    <a:pt x="28670" y="66675"/>
                  </a:moveTo>
                  <a:lnTo>
                    <a:pt x="57340" y="0"/>
                  </a:lnTo>
                  <a:lnTo>
                    <a:pt x="0" y="0"/>
                  </a:lnTo>
                  <a:close/>
                </a:path>
              </a:pathLst>
            </a:custGeom>
            <a:solidFill>
              <a:srgbClr val="3B8C80"/>
            </a:solidFill>
            <a:ln w="0">
              <a:noFill/>
              <a:prstDash val="solid"/>
            </a:ln>
          </p:spPr>
        </p:sp>
        <p:sp>
          <p:nvSpPr>
            <p:cNvPr id="1427" name="Identity vector to cosine refined">
              <a:extLst>
                <a:ext uri="{FF2B5EF4-FFF2-40B4-BE49-F238E27FC236}">
                  <a16:creationId xmlns:a16="http://schemas.microsoft.com/office/drawing/2014/main" id="{DDE80B97-A909-A736-F258-523B74319AC3}"/>
                </a:ext>
              </a:extLst>
            </p:cNvPr>
            <p:cNvSpPr>
              <a:spLocks noGrp="1"/>
            </p:cNvSpPr>
            <p:nvPr/>
          </p:nvSpPr>
          <p:spPr>
            <a:xfrm>
              <a:off x="8523512" y="9517571"/>
              <a:ext cx="191" cy="253841"/>
            </a:xfrm>
            <a:custGeom>
              <a:avLst/>
              <a:gdLst/>
              <a:ahLst/>
              <a:cxnLst/>
              <a:rect l="0" t="0" r="0" b="0"/>
              <a:pathLst>
                <a:path w="191" h="253841">
                  <a:moveTo>
                    <a:pt x="0" y="0"/>
                  </a:moveTo>
                  <a:lnTo>
                    <a:pt x="0" y="253841"/>
                  </a:lnTo>
                </a:path>
              </a:pathLst>
            </a:custGeom>
            <a:noFill/>
            <a:ln w="8505">
              <a:solidFill>
                <a:srgbClr val="3B8C80"/>
              </a:solidFill>
              <a:prstDash val="solid"/>
            </a:ln>
          </p:spPr>
        </p:sp>
        <p:sp>
          <p:nvSpPr>
            <p:cNvPr id="1428" name="Identity vector to cosine refined head">
              <a:extLst>
                <a:ext uri="{FF2B5EF4-FFF2-40B4-BE49-F238E27FC236}">
                  <a16:creationId xmlns:a16="http://schemas.microsoft.com/office/drawing/2014/main" id="{E490B029-346A-A57E-7B15-889C23CE6281}"/>
                </a:ext>
              </a:extLst>
            </p:cNvPr>
            <p:cNvSpPr>
              <a:spLocks noGrp="1"/>
            </p:cNvSpPr>
            <p:nvPr/>
          </p:nvSpPr>
          <p:spPr>
            <a:xfrm>
              <a:off x="8494841" y="9728073"/>
              <a:ext cx="57340" cy="66675"/>
            </a:xfrm>
            <a:custGeom>
              <a:avLst/>
              <a:gdLst/>
              <a:ahLst/>
              <a:cxnLst/>
              <a:rect l="0" t="0" r="0" b="0"/>
              <a:pathLst>
                <a:path w="57340" h="66675">
                  <a:moveTo>
                    <a:pt x="28670" y="66675"/>
                  </a:moveTo>
                  <a:lnTo>
                    <a:pt x="57340" y="0"/>
                  </a:lnTo>
                  <a:lnTo>
                    <a:pt x="0" y="0"/>
                  </a:lnTo>
                  <a:close/>
                </a:path>
              </a:pathLst>
            </a:custGeom>
            <a:solidFill>
              <a:srgbClr val="3B8C80"/>
            </a:solidFill>
            <a:ln w="0">
              <a:noFill/>
              <a:prstDash val="solid"/>
            </a:ln>
          </p:spPr>
        </p:sp>
        <p:sp>
          <p:nvSpPr>
            <p:cNvPr id="1429" name="Cosine to score matrix refined">
              <a:extLst>
                <a:ext uri="{FF2B5EF4-FFF2-40B4-BE49-F238E27FC236}">
                  <a16:creationId xmlns:a16="http://schemas.microsoft.com/office/drawing/2014/main" id="{B53F289C-77E1-6513-62C8-F939A23BF1B2}"/>
                </a:ext>
              </a:extLst>
            </p:cNvPr>
            <p:cNvSpPr>
              <a:spLocks noGrp="1"/>
            </p:cNvSpPr>
            <p:nvPr/>
          </p:nvSpPr>
          <p:spPr>
            <a:xfrm>
              <a:off x="8932896" y="9971532"/>
              <a:ext cx="619030" cy="191"/>
            </a:xfrm>
            <a:custGeom>
              <a:avLst/>
              <a:gdLst/>
              <a:ahLst/>
              <a:cxnLst/>
              <a:rect l="0" t="0" r="0" b="0"/>
              <a:pathLst>
                <a:path w="619030" h="191">
                  <a:moveTo>
                    <a:pt x="0" y="0"/>
                  </a:moveTo>
                  <a:lnTo>
                    <a:pt x="619030" y="0"/>
                  </a:lnTo>
                </a:path>
              </a:pathLst>
            </a:custGeom>
            <a:noFill/>
            <a:ln w="8505">
              <a:solidFill>
                <a:srgbClr val="3B8C80"/>
              </a:solidFill>
              <a:prstDash val="solid"/>
            </a:ln>
          </p:spPr>
        </p:sp>
        <p:sp>
          <p:nvSpPr>
            <p:cNvPr id="1430" name="Cosine to score matrix refined head">
              <a:extLst>
                <a:ext uri="{FF2B5EF4-FFF2-40B4-BE49-F238E27FC236}">
                  <a16:creationId xmlns:a16="http://schemas.microsoft.com/office/drawing/2014/main" id="{7D1ABF5A-29C9-76A4-1903-E132A41C0C6D}"/>
                </a:ext>
              </a:extLst>
            </p:cNvPr>
            <p:cNvSpPr>
              <a:spLocks noGrp="1"/>
            </p:cNvSpPr>
            <p:nvPr/>
          </p:nvSpPr>
          <p:spPr>
            <a:xfrm>
              <a:off x="9508587" y="9942862"/>
              <a:ext cx="66675" cy="57340"/>
            </a:xfrm>
            <a:custGeom>
              <a:avLst/>
              <a:gdLst/>
              <a:ahLst/>
              <a:cxnLst/>
              <a:rect l="0" t="0" r="0" b="0"/>
              <a:pathLst>
                <a:path w="66675" h="57340">
                  <a:moveTo>
                    <a:pt x="66675" y="28670"/>
                  </a:moveTo>
                  <a:lnTo>
                    <a:pt x="0" y="0"/>
                  </a:lnTo>
                  <a:lnTo>
                    <a:pt x="0" y="57340"/>
                  </a:lnTo>
                  <a:close/>
                </a:path>
              </a:pathLst>
            </a:custGeom>
            <a:solidFill>
              <a:srgbClr val="3B8C80"/>
            </a:solidFill>
            <a:ln w="0">
              <a:noFill/>
              <a:prstDash val="solid"/>
            </a:ln>
          </p:spPr>
        </p:sp>
      </p:grpSp>
      <p:pic>
        <p:nvPicPr>
          <p:cNvPr id="1436" name="Match clear receptor" descr="Receptor cartoon rendered from unchanged local coordinates, chain C1 of the 9LLG CA2 model.">
            <a:extLst>
              <a:ext uri="{FF2B5EF4-FFF2-40B4-BE49-F238E27FC236}">
                <a16:creationId xmlns:a16="http://schemas.microsoft.com/office/drawing/2014/main" id="{515E1CE9-4EFA-F96B-A08A-C6C2EC64DC6F}"/>
              </a:ext>
            </a:extLst>
          </p:cNvPr>
          <p:cNvPicPr/>
          <p:nvPr/>
        </p:nvPicPr>
        <p:blipFill>
          <a:blip r:embed="rId7"/>
          <a:srcRect l="16857" t="30389" r="19786" b="22500"/>
          <a:stretch>
            <a:fillRect/>
          </a:stretch>
        </p:blipFill>
        <p:spPr>
          <a:xfrm>
            <a:off x="725281" y="2388765"/>
            <a:ext cx="332109" cy="317507"/>
          </a:xfrm>
          <a:prstGeom prst="rect">
            <a:avLst/>
          </a:prstGeom>
        </p:spPr>
      </p:pic>
      <p:sp>
        <p:nvSpPr>
          <p:cNvPr id="1442" name="文本框 1441">
            <a:extLst>
              <a:ext uri="{FF2B5EF4-FFF2-40B4-BE49-F238E27FC236}">
                <a16:creationId xmlns:a16="http://schemas.microsoft.com/office/drawing/2014/main" id="{814431DA-F1EE-CFB8-E7E0-CF4D130ECF44}"/>
              </a:ext>
            </a:extLst>
          </p:cNvPr>
          <p:cNvSpPr txBox="1"/>
          <p:nvPr/>
        </p:nvSpPr>
        <p:spPr>
          <a:xfrm>
            <a:off x="1290027" y="775016"/>
            <a:ext cx="559769" cy="176972"/>
          </a:xfrm>
          <a:prstGeom prst="rect">
            <a:avLst/>
          </a:prstGeom>
          <a:noFill/>
        </p:spPr>
        <p:txBody>
          <a:bodyPr wrap="none" rtlCol="0">
            <a:spAutoFit/>
          </a:bodyPr>
          <a:lstStyle/>
          <a:p>
            <a:r>
              <a:rPr lang="en-US" altLang="zh-CN" sz="550" dirty="0">
                <a:solidFill>
                  <a:srgbClr val="263442"/>
                </a:solidFill>
                <a:latin typeface="Arial"/>
                <a:cs typeface="Arial"/>
              </a:rPr>
              <a:t>56 channels</a:t>
            </a:r>
            <a:endParaRPr lang="zh-CN" altLang="en-US" sz="550" dirty="0">
              <a:solidFill>
                <a:srgbClr val="263442"/>
              </a:solidFill>
              <a:latin typeface="Arial"/>
              <a:cs typeface="Arial"/>
            </a:endParaRPr>
          </a:p>
        </p:txBody>
      </p:sp>
      <p:sp>
        <p:nvSpPr>
          <p:cNvPr id="1443" name="V8 embedding computation frame">
            <a:extLst>
              <a:ext uri="{FF2B5EF4-FFF2-40B4-BE49-F238E27FC236}">
                <a16:creationId xmlns:a16="http://schemas.microsoft.com/office/drawing/2014/main" id="{FB41A424-8C9A-2DA8-76B2-57C0C54ECB10}"/>
              </a:ext>
            </a:extLst>
          </p:cNvPr>
          <p:cNvSpPr/>
          <p:nvPr/>
        </p:nvSpPr>
        <p:spPr>
          <a:xfrm>
            <a:off x="1381760" y="1318283"/>
            <a:ext cx="386080" cy="417830"/>
          </a:xfrm>
          <a:prstGeom prst="roundRect">
            <a:avLst>
              <a:gd name="adj" fmla="val 6579"/>
            </a:avLst>
          </a:prstGeom>
          <a:solidFill>
            <a:srgbClr val="F8FAFC"/>
          </a:solidFill>
          <a:ln w="6096" cap="rnd">
            <a:solidFill>
              <a:srgbClr val="C3D4E6"/>
            </a:solidFill>
            <a:prstDash val="solid"/>
            <a:round/>
          </a:ln>
        </p:spPr>
      </p:sp>
      <p:sp>
        <p:nvSpPr>
          <p:cNvPr id="1444" name="V8 embedding neighbor 1 to center">
            <a:extLst>
              <a:ext uri="{FF2B5EF4-FFF2-40B4-BE49-F238E27FC236}">
                <a16:creationId xmlns:a16="http://schemas.microsoft.com/office/drawing/2014/main" id="{3355B015-AF42-20CF-CA69-CEE14894D5E1}"/>
              </a:ext>
            </a:extLst>
          </p:cNvPr>
          <p:cNvSpPr/>
          <p:nvPr/>
        </p:nvSpPr>
        <p:spPr>
          <a:xfrm>
            <a:off x="1437942" y="1388677"/>
            <a:ext cx="84338" cy="113635"/>
          </a:xfrm>
          <a:custGeom>
            <a:avLst/>
            <a:gdLst/>
            <a:ahLst/>
            <a:cxnLst/>
            <a:rect l="l" t="t" r="r" b="b"/>
            <a:pathLst>
              <a:path w="84338" h="113635">
                <a:moveTo>
                  <a:pt x="0" y="0"/>
                </a:moveTo>
                <a:lnTo>
                  <a:pt x="84338" y="113635"/>
                </a:lnTo>
              </a:path>
            </a:pathLst>
          </a:custGeom>
          <a:noFill/>
          <a:ln w="5842" cap="rnd">
            <a:solidFill>
              <a:srgbClr val="4083B4"/>
            </a:solidFill>
            <a:prstDash val="solid"/>
            <a:round/>
          </a:ln>
        </p:spPr>
      </p:sp>
      <p:sp>
        <p:nvSpPr>
          <p:cNvPr id="1445" name="V8 embedding neighbor 1 to center head">
            <a:extLst>
              <a:ext uri="{FF2B5EF4-FFF2-40B4-BE49-F238E27FC236}">
                <a16:creationId xmlns:a16="http://schemas.microsoft.com/office/drawing/2014/main" id="{27615381-2E0E-2FB6-4DD6-10A8B1F481AB}"/>
              </a:ext>
            </a:extLst>
          </p:cNvPr>
          <p:cNvSpPr/>
          <p:nvPr/>
        </p:nvSpPr>
        <p:spPr>
          <a:xfrm>
            <a:off x="1508689" y="1488319"/>
            <a:ext cx="18870" cy="21105"/>
          </a:xfrm>
          <a:custGeom>
            <a:avLst/>
            <a:gdLst/>
            <a:ahLst/>
            <a:cxnLst/>
            <a:rect l="l" t="t" r="r" b="b"/>
            <a:pathLst>
              <a:path w="18870" h="21105">
                <a:moveTo>
                  <a:pt x="18870" y="21105"/>
                </a:moveTo>
                <a:lnTo>
                  <a:pt x="14277" y="0"/>
                </a:lnTo>
                <a:lnTo>
                  <a:pt x="0" y="10596"/>
                </a:lnTo>
                <a:close/>
              </a:path>
            </a:pathLst>
          </a:custGeom>
          <a:solidFill>
            <a:srgbClr val="4083B4"/>
          </a:solidFill>
          <a:ln w="0" cap="rnd">
            <a:noFill/>
          </a:ln>
        </p:spPr>
      </p:sp>
      <p:sp>
        <p:nvSpPr>
          <p:cNvPr id="1446" name="V8 embedding neighbor 1">
            <a:extLst>
              <a:ext uri="{FF2B5EF4-FFF2-40B4-BE49-F238E27FC236}">
                <a16:creationId xmlns:a16="http://schemas.microsoft.com/office/drawing/2014/main" id="{B5E8A971-284C-84D2-C0DB-7EB12E4B5902}"/>
              </a:ext>
            </a:extLst>
          </p:cNvPr>
          <p:cNvSpPr/>
          <p:nvPr/>
        </p:nvSpPr>
        <p:spPr>
          <a:xfrm>
            <a:off x="1411922" y="1358582"/>
            <a:ext cx="28575" cy="28575"/>
          </a:xfrm>
          <a:prstGeom prst="ellipse">
            <a:avLst/>
          </a:prstGeom>
          <a:noFill/>
          <a:ln w="7112" cap="rnd">
            <a:solidFill>
              <a:srgbClr val="4083B4"/>
            </a:solidFill>
            <a:prstDash val="solid"/>
            <a:round/>
          </a:ln>
        </p:spPr>
      </p:sp>
      <p:sp>
        <p:nvSpPr>
          <p:cNvPr id="1447" name="V8 embedding neighbor 2 to center">
            <a:extLst>
              <a:ext uri="{FF2B5EF4-FFF2-40B4-BE49-F238E27FC236}">
                <a16:creationId xmlns:a16="http://schemas.microsoft.com/office/drawing/2014/main" id="{410E19AF-558D-0BA4-4F56-8A43CC949018}"/>
              </a:ext>
            </a:extLst>
          </p:cNvPr>
          <p:cNvSpPr/>
          <p:nvPr/>
        </p:nvSpPr>
        <p:spPr>
          <a:xfrm>
            <a:off x="1567842" y="1384737"/>
            <a:ext cx="68064" cy="115185"/>
          </a:xfrm>
          <a:custGeom>
            <a:avLst/>
            <a:gdLst/>
            <a:ahLst/>
            <a:cxnLst/>
            <a:rect l="l" t="t" r="r" b="b"/>
            <a:pathLst>
              <a:path w="68064" h="115185">
                <a:moveTo>
                  <a:pt x="68064" y="0"/>
                </a:moveTo>
                <a:lnTo>
                  <a:pt x="0" y="115185"/>
                </a:lnTo>
              </a:path>
            </a:pathLst>
          </a:custGeom>
          <a:noFill/>
          <a:ln w="5842" cap="rnd">
            <a:solidFill>
              <a:srgbClr val="4083B4"/>
            </a:solidFill>
            <a:prstDash val="solid"/>
            <a:round/>
          </a:ln>
        </p:spPr>
      </p:sp>
      <p:sp>
        <p:nvSpPr>
          <p:cNvPr id="1448" name="V8 embedding neighbor 2 to center head">
            <a:extLst>
              <a:ext uri="{FF2B5EF4-FFF2-40B4-BE49-F238E27FC236}">
                <a16:creationId xmlns:a16="http://schemas.microsoft.com/office/drawing/2014/main" id="{50A61875-DCE0-421C-1735-CFE0432F2E90}"/>
              </a:ext>
            </a:extLst>
          </p:cNvPr>
          <p:cNvSpPr/>
          <p:nvPr/>
        </p:nvSpPr>
        <p:spPr>
          <a:xfrm>
            <a:off x="1563335" y="1486079"/>
            <a:ext cx="17668" cy="21470"/>
          </a:xfrm>
          <a:custGeom>
            <a:avLst/>
            <a:gdLst/>
            <a:ahLst/>
            <a:cxnLst/>
            <a:rect l="l" t="t" r="r" b="b"/>
            <a:pathLst>
              <a:path w="17668" h="21470">
                <a:moveTo>
                  <a:pt x="0" y="21470"/>
                </a:moveTo>
                <a:lnTo>
                  <a:pt x="17668" y="9045"/>
                </a:lnTo>
                <a:lnTo>
                  <a:pt x="2361" y="0"/>
                </a:lnTo>
                <a:close/>
              </a:path>
            </a:pathLst>
          </a:custGeom>
          <a:solidFill>
            <a:srgbClr val="4083B4"/>
          </a:solidFill>
          <a:ln w="0" cap="rnd">
            <a:noFill/>
          </a:ln>
        </p:spPr>
      </p:sp>
      <p:sp>
        <p:nvSpPr>
          <p:cNvPr id="1449" name="V8 embedding neighbor 2">
            <a:extLst>
              <a:ext uri="{FF2B5EF4-FFF2-40B4-BE49-F238E27FC236}">
                <a16:creationId xmlns:a16="http://schemas.microsoft.com/office/drawing/2014/main" id="{7AEBAFCB-8ED1-BA01-F100-82AD32FAB4F6}"/>
              </a:ext>
            </a:extLst>
          </p:cNvPr>
          <p:cNvSpPr/>
          <p:nvPr/>
        </p:nvSpPr>
        <p:spPr>
          <a:xfrm>
            <a:off x="1630362" y="1352232"/>
            <a:ext cx="31115" cy="31115"/>
          </a:xfrm>
          <a:prstGeom prst="ellipse">
            <a:avLst/>
          </a:prstGeom>
          <a:noFill/>
          <a:ln w="7112" cap="rnd">
            <a:solidFill>
              <a:srgbClr val="4083B4"/>
            </a:solidFill>
            <a:prstDash val="solid"/>
            <a:round/>
          </a:ln>
        </p:spPr>
      </p:sp>
      <p:sp>
        <p:nvSpPr>
          <p:cNvPr id="1450" name="V8 embedding upper curved aggregation">
            <a:extLst>
              <a:ext uri="{FF2B5EF4-FFF2-40B4-BE49-F238E27FC236}">
                <a16:creationId xmlns:a16="http://schemas.microsoft.com/office/drawing/2014/main" id="{1726AB57-DCD6-4DAB-768F-79635F178651}"/>
              </a:ext>
            </a:extLst>
          </p:cNvPr>
          <p:cNvSpPr/>
          <p:nvPr/>
        </p:nvSpPr>
        <p:spPr>
          <a:xfrm>
            <a:off x="1581150" y="1449794"/>
            <a:ext cx="120650" cy="48806"/>
          </a:xfrm>
          <a:custGeom>
            <a:avLst/>
            <a:gdLst/>
            <a:ahLst/>
            <a:cxnLst/>
            <a:rect l="l" t="t" r="r" b="b"/>
            <a:pathLst>
              <a:path w="120650" h="48806">
                <a:moveTo>
                  <a:pt x="118713" y="0"/>
                </a:moveTo>
                <a:cubicBezTo>
                  <a:pt x="120650" y="36106"/>
                  <a:pt x="44450" y="29756"/>
                  <a:pt x="0" y="48806"/>
                </a:cubicBezTo>
              </a:path>
            </a:pathLst>
          </a:custGeom>
          <a:noFill/>
          <a:ln w="5842" cap="rnd">
            <a:solidFill>
              <a:srgbClr val="4083B4"/>
            </a:solidFill>
            <a:prstDash val="solid"/>
            <a:round/>
          </a:ln>
        </p:spPr>
      </p:sp>
      <p:sp>
        <p:nvSpPr>
          <p:cNvPr id="1451" name="V8 embedding upper curved aggregation tip">
            <a:extLst>
              <a:ext uri="{FF2B5EF4-FFF2-40B4-BE49-F238E27FC236}">
                <a16:creationId xmlns:a16="http://schemas.microsoft.com/office/drawing/2014/main" id="{2B3CEBDA-0E2D-671A-9B26-76F746F7D64B}"/>
              </a:ext>
            </a:extLst>
          </p:cNvPr>
          <p:cNvSpPr/>
          <p:nvPr/>
        </p:nvSpPr>
        <p:spPr>
          <a:xfrm>
            <a:off x="1572439" y="1498600"/>
            <a:ext cx="8711" cy="4690"/>
          </a:xfrm>
          <a:custGeom>
            <a:avLst/>
            <a:gdLst/>
            <a:ahLst/>
            <a:cxnLst/>
            <a:rect l="l" t="t" r="r" b="b"/>
            <a:pathLst>
              <a:path w="8711" h="4690">
                <a:moveTo>
                  <a:pt x="8711" y="0"/>
                </a:moveTo>
                <a:lnTo>
                  <a:pt x="0" y="4690"/>
                </a:lnTo>
              </a:path>
            </a:pathLst>
          </a:custGeom>
          <a:noFill/>
          <a:ln w="5842" cap="rnd">
            <a:solidFill>
              <a:srgbClr val="9481B1"/>
            </a:solidFill>
            <a:prstDash val="solid"/>
            <a:round/>
          </a:ln>
        </p:spPr>
      </p:sp>
      <p:sp>
        <p:nvSpPr>
          <p:cNvPr id="1452" name="V8 embedding upper curved aggregation tip head">
            <a:extLst>
              <a:ext uri="{FF2B5EF4-FFF2-40B4-BE49-F238E27FC236}">
                <a16:creationId xmlns:a16="http://schemas.microsoft.com/office/drawing/2014/main" id="{EA8590B6-001E-E7FA-C91E-6684CAB2CE42}"/>
              </a:ext>
            </a:extLst>
          </p:cNvPr>
          <p:cNvSpPr/>
          <p:nvPr/>
        </p:nvSpPr>
        <p:spPr>
          <a:xfrm>
            <a:off x="1564640" y="1490330"/>
            <a:ext cx="21547" cy="17160"/>
          </a:xfrm>
          <a:custGeom>
            <a:avLst/>
            <a:gdLst/>
            <a:ahLst/>
            <a:cxnLst/>
            <a:rect l="l" t="t" r="r" b="b"/>
            <a:pathLst>
              <a:path w="21547" h="17160">
                <a:moveTo>
                  <a:pt x="0" y="17160"/>
                </a:moveTo>
                <a:lnTo>
                  <a:pt x="21547" y="15655"/>
                </a:lnTo>
                <a:lnTo>
                  <a:pt x="13117" y="0"/>
                </a:lnTo>
                <a:close/>
              </a:path>
            </a:pathLst>
          </a:custGeom>
          <a:solidFill>
            <a:srgbClr val="4083B4"/>
          </a:solidFill>
          <a:ln w="0" cap="rnd">
            <a:noFill/>
          </a:ln>
        </p:spPr>
      </p:sp>
      <p:sp>
        <p:nvSpPr>
          <p:cNvPr id="1453" name="V8 embedding neighbor 3">
            <a:extLst>
              <a:ext uri="{FF2B5EF4-FFF2-40B4-BE49-F238E27FC236}">
                <a16:creationId xmlns:a16="http://schemas.microsoft.com/office/drawing/2014/main" id="{122DFBAE-E742-85F4-F8BE-661BC7410AFC}"/>
              </a:ext>
            </a:extLst>
          </p:cNvPr>
          <p:cNvSpPr/>
          <p:nvPr/>
        </p:nvSpPr>
        <p:spPr>
          <a:xfrm>
            <a:off x="1703070" y="1426210"/>
            <a:ext cx="27940" cy="27940"/>
          </a:xfrm>
          <a:prstGeom prst="ellipse">
            <a:avLst/>
          </a:prstGeom>
          <a:noFill/>
          <a:ln w="7112" cap="rnd">
            <a:solidFill>
              <a:srgbClr val="4083B4"/>
            </a:solidFill>
            <a:prstDash val="solid"/>
            <a:round/>
          </a:ln>
        </p:spPr>
      </p:sp>
      <p:sp>
        <p:nvSpPr>
          <p:cNvPr id="1454" name="V8 embedding curved aggregation">
            <a:extLst>
              <a:ext uri="{FF2B5EF4-FFF2-40B4-BE49-F238E27FC236}">
                <a16:creationId xmlns:a16="http://schemas.microsoft.com/office/drawing/2014/main" id="{90CEAB6E-EBCA-9F13-36DE-C928BA671D5A}"/>
              </a:ext>
            </a:extLst>
          </p:cNvPr>
          <p:cNvSpPr/>
          <p:nvPr/>
        </p:nvSpPr>
        <p:spPr>
          <a:xfrm>
            <a:off x="1422400" y="1503680"/>
            <a:ext cx="77470" cy="107970"/>
          </a:xfrm>
          <a:custGeom>
            <a:avLst/>
            <a:gdLst/>
            <a:ahLst/>
            <a:cxnLst/>
            <a:rect l="l" t="t" r="r" b="b"/>
            <a:pathLst>
              <a:path w="77470" h="107970">
                <a:moveTo>
                  <a:pt x="17311" y="107970"/>
                </a:moveTo>
                <a:cubicBezTo>
                  <a:pt x="0" y="29210"/>
                  <a:pt x="35560" y="0"/>
                  <a:pt x="77470" y="12700"/>
                </a:cubicBezTo>
              </a:path>
            </a:pathLst>
          </a:custGeom>
          <a:noFill/>
          <a:ln w="8890" cap="rnd">
            <a:solidFill>
              <a:srgbClr val="4083B4"/>
            </a:solidFill>
            <a:prstDash val="solid"/>
            <a:round/>
          </a:ln>
        </p:spPr>
      </p:sp>
      <p:sp>
        <p:nvSpPr>
          <p:cNvPr id="1455" name="V8 embedding curved aggregation tip">
            <a:extLst>
              <a:ext uri="{FF2B5EF4-FFF2-40B4-BE49-F238E27FC236}">
                <a16:creationId xmlns:a16="http://schemas.microsoft.com/office/drawing/2014/main" id="{4871021E-0B37-6092-4FB6-FB482931253B}"/>
              </a:ext>
            </a:extLst>
          </p:cNvPr>
          <p:cNvSpPr/>
          <p:nvPr/>
        </p:nvSpPr>
        <p:spPr>
          <a:xfrm>
            <a:off x="1499870" y="1516380"/>
            <a:ext cx="6039" cy="3020"/>
          </a:xfrm>
          <a:custGeom>
            <a:avLst/>
            <a:gdLst/>
            <a:ahLst/>
            <a:cxnLst/>
            <a:rect l="l" t="t" r="r" b="b"/>
            <a:pathLst>
              <a:path w="6039" h="3020">
                <a:moveTo>
                  <a:pt x="0" y="0"/>
                </a:moveTo>
                <a:lnTo>
                  <a:pt x="6039" y="3020"/>
                </a:lnTo>
              </a:path>
            </a:pathLst>
          </a:custGeom>
          <a:noFill/>
          <a:ln w="8890" cap="rnd">
            <a:solidFill>
              <a:srgbClr val="9481B1"/>
            </a:solidFill>
            <a:prstDash val="solid"/>
            <a:round/>
          </a:ln>
        </p:spPr>
      </p:sp>
      <p:sp>
        <p:nvSpPr>
          <p:cNvPr id="1456" name="V8 embedding curved aggregation tip head">
            <a:extLst>
              <a:ext uri="{FF2B5EF4-FFF2-40B4-BE49-F238E27FC236}">
                <a16:creationId xmlns:a16="http://schemas.microsoft.com/office/drawing/2014/main" id="{86BC3798-BFD4-0C2D-6F96-1C5CADB6D7BE}"/>
              </a:ext>
            </a:extLst>
          </p:cNvPr>
          <p:cNvSpPr/>
          <p:nvPr/>
        </p:nvSpPr>
        <p:spPr>
          <a:xfrm>
            <a:off x="1489978" y="1504405"/>
            <a:ext cx="25132" cy="19595"/>
          </a:xfrm>
          <a:custGeom>
            <a:avLst/>
            <a:gdLst/>
            <a:ahLst/>
            <a:cxnLst/>
            <a:rect l="l" t="t" r="r" b="b"/>
            <a:pathLst>
              <a:path w="25132" h="19595">
                <a:moveTo>
                  <a:pt x="25132" y="19595"/>
                </a:moveTo>
                <a:lnTo>
                  <a:pt x="9371" y="0"/>
                </a:lnTo>
                <a:lnTo>
                  <a:pt x="0" y="18743"/>
                </a:lnTo>
                <a:close/>
              </a:path>
            </a:pathLst>
          </a:custGeom>
          <a:solidFill>
            <a:srgbClr val="4083B4"/>
          </a:solidFill>
          <a:ln w="0" cap="rnd">
            <a:solidFill>
              <a:srgbClr val="4083B4"/>
            </a:solidFill>
          </a:ln>
        </p:spPr>
      </p:sp>
      <p:sp>
        <p:nvSpPr>
          <p:cNvPr id="1457" name="V8 embedding neighbor 4">
            <a:extLst>
              <a:ext uri="{FF2B5EF4-FFF2-40B4-BE49-F238E27FC236}">
                <a16:creationId xmlns:a16="http://schemas.microsoft.com/office/drawing/2014/main" id="{AEADE014-9292-2360-C2CE-F8C845E8BCFD}"/>
              </a:ext>
            </a:extLst>
          </p:cNvPr>
          <p:cNvSpPr/>
          <p:nvPr/>
        </p:nvSpPr>
        <p:spPr>
          <a:xfrm>
            <a:off x="1407795" y="1607185"/>
            <a:ext cx="31750" cy="31750"/>
          </a:xfrm>
          <a:prstGeom prst="ellipse">
            <a:avLst/>
          </a:prstGeom>
          <a:noFill/>
          <a:ln w="7112" cap="rnd">
            <a:solidFill>
              <a:srgbClr val="4083B4"/>
            </a:solidFill>
            <a:prstDash val="solid"/>
            <a:round/>
          </a:ln>
        </p:spPr>
      </p:sp>
      <p:sp>
        <p:nvSpPr>
          <p:cNvPr id="1458" name="V8 embedding neighbor 5 to center">
            <a:extLst>
              <a:ext uri="{FF2B5EF4-FFF2-40B4-BE49-F238E27FC236}">
                <a16:creationId xmlns:a16="http://schemas.microsoft.com/office/drawing/2014/main" id="{88F2ECE0-BE4E-6B10-0F14-901F5AD31AE6}"/>
              </a:ext>
            </a:extLst>
          </p:cNvPr>
          <p:cNvSpPr/>
          <p:nvPr/>
        </p:nvSpPr>
        <p:spPr>
          <a:xfrm>
            <a:off x="1538090" y="1576570"/>
            <a:ext cx="5857" cy="82734"/>
          </a:xfrm>
          <a:custGeom>
            <a:avLst/>
            <a:gdLst/>
            <a:ahLst/>
            <a:cxnLst/>
            <a:rect l="l" t="t" r="r" b="b"/>
            <a:pathLst>
              <a:path w="5857" h="82734">
                <a:moveTo>
                  <a:pt x="0" y="82734"/>
                </a:moveTo>
                <a:lnTo>
                  <a:pt x="5857" y="0"/>
                </a:lnTo>
              </a:path>
            </a:pathLst>
          </a:custGeom>
          <a:noFill/>
          <a:ln w="5842" cap="rnd">
            <a:solidFill>
              <a:srgbClr val="4083B4"/>
            </a:solidFill>
            <a:prstDash val="solid"/>
            <a:round/>
          </a:ln>
        </p:spPr>
      </p:sp>
      <p:sp>
        <p:nvSpPr>
          <p:cNvPr id="1459" name="V8 embedding neighbor 5 to center head">
            <a:extLst>
              <a:ext uri="{FF2B5EF4-FFF2-40B4-BE49-F238E27FC236}">
                <a16:creationId xmlns:a16="http://schemas.microsoft.com/office/drawing/2014/main" id="{4E579011-FEC4-00D3-7546-C5CB388C9A0A}"/>
              </a:ext>
            </a:extLst>
          </p:cNvPr>
          <p:cNvSpPr/>
          <p:nvPr/>
        </p:nvSpPr>
        <p:spPr>
          <a:xfrm>
            <a:off x="1534315" y="1567734"/>
            <a:ext cx="17736" cy="20264"/>
          </a:xfrm>
          <a:custGeom>
            <a:avLst/>
            <a:gdLst/>
            <a:ahLst/>
            <a:cxnLst/>
            <a:rect l="l" t="t" r="r" b="b"/>
            <a:pathLst>
              <a:path w="17736" h="20264">
                <a:moveTo>
                  <a:pt x="10258" y="0"/>
                </a:moveTo>
                <a:lnTo>
                  <a:pt x="0" y="19008"/>
                </a:lnTo>
                <a:lnTo>
                  <a:pt x="17736" y="20264"/>
                </a:lnTo>
                <a:close/>
              </a:path>
            </a:pathLst>
          </a:custGeom>
          <a:solidFill>
            <a:srgbClr val="4083B4"/>
          </a:solidFill>
          <a:ln w="0" cap="rnd">
            <a:solidFill>
              <a:srgbClr val="4083B4"/>
            </a:solidFill>
          </a:ln>
        </p:spPr>
      </p:sp>
      <p:sp>
        <p:nvSpPr>
          <p:cNvPr id="1460" name="V8 embedding neighbor 5">
            <a:extLst>
              <a:ext uri="{FF2B5EF4-FFF2-40B4-BE49-F238E27FC236}">
                <a16:creationId xmlns:a16="http://schemas.microsoft.com/office/drawing/2014/main" id="{80A6CA00-4D1C-000D-C0AF-7F59BA21FF45}"/>
              </a:ext>
            </a:extLst>
          </p:cNvPr>
          <p:cNvSpPr/>
          <p:nvPr/>
        </p:nvSpPr>
        <p:spPr>
          <a:xfrm>
            <a:off x="1522095" y="1664335"/>
            <a:ext cx="29210" cy="29210"/>
          </a:xfrm>
          <a:prstGeom prst="ellipse">
            <a:avLst/>
          </a:prstGeom>
          <a:noFill/>
          <a:ln w="7112" cap="rnd">
            <a:solidFill>
              <a:srgbClr val="4083B4"/>
            </a:solidFill>
            <a:prstDash val="solid"/>
            <a:round/>
          </a:ln>
        </p:spPr>
      </p:sp>
      <p:sp>
        <p:nvSpPr>
          <p:cNvPr id="1461" name="V8 embedding center">
            <a:extLst>
              <a:ext uri="{FF2B5EF4-FFF2-40B4-BE49-F238E27FC236}">
                <a16:creationId xmlns:a16="http://schemas.microsoft.com/office/drawing/2014/main" id="{0973F1A0-63C8-796C-8269-8DC9810E39E1}"/>
              </a:ext>
            </a:extLst>
          </p:cNvPr>
          <p:cNvSpPr/>
          <p:nvPr/>
        </p:nvSpPr>
        <p:spPr>
          <a:xfrm>
            <a:off x="1524635" y="1513205"/>
            <a:ext cx="44450" cy="44450"/>
          </a:xfrm>
          <a:prstGeom prst="ellipse">
            <a:avLst/>
          </a:prstGeom>
          <a:noFill/>
          <a:ln w="9906" cap="rnd">
            <a:solidFill>
              <a:srgbClr val="3B8C80"/>
            </a:solidFill>
            <a:prstDash val="solid"/>
            <a:round/>
          </a:ln>
        </p:spPr>
      </p:sp>
      <p:sp>
        <p:nvSpPr>
          <p:cNvPr id="1462" name="V8 embedding feature 1">
            <a:extLst>
              <a:ext uri="{FF2B5EF4-FFF2-40B4-BE49-F238E27FC236}">
                <a16:creationId xmlns:a16="http://schemas.microsoft.com/office/drawing/2014/main" id="{FE0417EE-6828-F09F-AACE-DE1F76BE3EB6}"/>
              </a:ext>
            </a:extLst>
          </p:cNvPr>
          <p:cNvSpPr/>
          <p:nvPr/>
        </p:nvSpPr>
        <p:spPr>
          <a:xfrm>
            <a:off x="1578610" y="1518285"/>
            <a:ext cx="18415" cy="34290"/>
          </a:xfrm>
          <a:prstGeom prst="rect">
            <a:avLst/>
          </a:prstGeom>
          <a:solidFill>
            <a:srgbClr val="3E8F9A"/>
          </a:solidFill>
          <a:ln w="0" cap="rnd">
            <a:noFill/>
          </a:ln>
        </p:spPr>
      </p:sp>
      <p:sp>
        <p:nvSpPr>
          <p:cNvPr id="1463" name="V8 embedding feature 2">
            <a:extLst>
              <a:ext uri="{FF2B5EF4-FFF2-40B4-BE49-F238E27FC236}">
                <a16:creationId xmlns:a16="http://schemas.microsoft.com/office/drawing/2014/main" id="{28DF18A8-B7D6-40CC-F8D0-1CE005F88971}"/>
              </a:ext>
            </a:extLst>
          </p:cNvPr>
          <p:cNvSpPr/>
          <p:nvPr/>
        </p:nvSpPr>
        <p:spPr>
          <a:xfrm>
            <a:off x="1598295" y="1518285"/>
            <a:ext cx="18415" cy="34290"/>
          </a:xfrm>
          <a:prstGeom prst="rect">
            <a:avLst/>
          </a:prstGeom>
          <a:solidFill>
            <a:srgbClr val="88BEC3"/>
          </a:solidFill>
          <a:ln w="0" cap="rnd">
            <a:noFill/>
          </a:ln>
        </p:spPr>
      </p:sp>
      <p:sp>
        <p:nvSpPr>
          <p:cNvPr id="1464" name="V8 embedding feature 3">
            <a:extLst>
              <a:ext uri="{FF2B5EF4-FFF2-40B4-BE49-F238E27FC236}">
                <a16:creationId xmlns:a16="http://schemas.microsoft.com/office/drawing/2014/main" id="{D8B2548F-FDCB-962F-D116-8194E608D854}"/>
              </a:ext>
            </a:extLst>
          </p:cNvPr>
          <p:cNvSpPr/>
          <p:nvPr/>
        </p:nvSpPr>
        <p:spPr>
          <a:xfrm>
            <a:off x="1617980" y="1518285"/>
            <a:ext cx="18415" cy="34290"/>
          </a:xfrm>
          <a:prstGeom prst="rect">
            <a:avLst/>
          </a:prstGeom>
          <a:solidFill>
            <a:srgbClr val="67AD9F"/>
          </a:solidFill>
          <a:ln w="0" cap="rnd">
            <a:noFill/>
          </a:ln>
        </p:spPr>
      </p:sp>
      <p:sp>
        <p:nvSpPr>
          <p:cNvPr id="1465" name="V8 embedding feature 4">
            <a:extLst>
              <a:ext uri="{FF2B5EF4-FFF2-40B4-BE49-F238E27FC236}">
                <a16:creationId xmlns:a16="http://schemas.microsoft.com/office/drawing/2014/main" id="{4DB56FF7-AE6A-29C2-0D4E-A50B4A01B329}"/>
              </a:ext>
            </a:extLst>
          </p:cNvPr>
          <p:cNvSpPr/>
          <p:nvPr/>
        </p:nvSpPr>
        <p:spPr>
          <a:xfrm>
            <a:off x="1637665" y="1518285"/>
            <a:ext cx="18415" cy="34290"/>
          </a:xfrm>
          <a:prstGeom prst="rect">
            <a:avLst/>
          </a:prstGeom>
          <a:solidFill>
            <a:srgbClr val="B6D8CC"/>
          </a:solidFill>
          <a:ln w="0" cap="rnd">
            <a:noFill/>
          </a:ln>
        </p:spPr>
      </p:sp>
      <p:sp>
        <p:nvSpPr>
          <p:cNvPr id="1466" name="V8 embedding feature 5">
            <a:extLst>
              <a:ext uri="{FF2B5EF4-FFF2-40B4-BE49-F238E27FC236}">
                <a16:creationId xmlns:a16="http://schemas.microsoft.com/office/drawing/2014/main" id="{0834D08B-BC25-2ADC-AF12-5492513577F8}"/>
              </a:ext>
            </a:extLst>
          </p:cNvPr>
          <p:cNvSpPr/>
          <p:nvPr/>
        </p:nvSpPr>
        <p:spPr>
          <a:xfrm>
            <a:off x="1657350" y="1518285"/>
            <a:ext cx="18415" cy="34290"/>
          </a:xfrm>
          <a:prstGeom prst="rect">
            <a:avLst/>
          </a:prstGeom>
          <a:solidFill>
            <a:srgbClr val="3B8C80"/>
          </a:solidFill>
          <a:ln w="0" cap="rnd">
            <a:noFill/>
          </a:ln>
        </p:spPr>
      </p:sp>
      <p:sp>
        <p:nvSpPr>
          <p:cNvPr id="1467" name="V8 embedding feature 6">
            <a:extLst>
              <a:ext uri="{FF2B5EF4-FFF2-40B4-BE49-F238E27FC236}">
                <a16:creationId xmlns:a16="http://schemas.microsoft.com/office/drawing/2014/main" id="{7EDE9E92-6EF0-3023-2F22-6E7EFD9706C6}"/>
              </a:ext>
            </a:extLst>
          </p:cNvPr>
          <p:cNvSpPr/>
          <p:nvPr/>
        </p:nvSpPr>
        <p:spPr>
          <a:xfrm>
            <a:off x="1677035" y="1518285"/>
            <a:ext cx="18415" cy="34290"/>
          </a:xfrm>
          <a:prstGeom prst="rect">
            <a:avLst/>
          </a:prstGeom>
          <a:solidFill>
            <a:srgbClr val="A3CDDA"/>
          </a:solidFill>
          <a:ln w="0" cap="rnd">
            <a:noFill/>
          </a:ln>
        </p:spPr>
      </p:sp>
      <p:sp>
        <p:nvSpPr>
          <p:cNvPr id="1468" name="V8 embedding feature 7">
            <a:extLst>
              <a:ext uri="{FF2B5EF4-FFF2-40B4-BE49-F238E27FC236}">
                <a16:creationId xmlns:a16="http://schemas.microsoft.com/office/drawing/2014/main" id="{3791BD29-2650-00D8-2639-94010AF8036F}"/>
              </a:ext>
            </a:extLst>
          </p:cNvPr>
          <p:cNvSpPr/>
          <p:nvPr/>
        </p:nvSpPr>
        <p:spPr>
          <a:xfrm>
            <a:off x="1696720" y="1518285"/>
            <a:ext cx="18415" cy="34290"/>
          </a:xfrm>
          <a:prstGeom prst="rect">
            <a:avLst/>
          </a:prstGeom>
          <a:solidFill>
            <a:srgbClr val="6CAFA4"/>
          </a:solidFill>
          <a:ln w="0" cap="rnd">
            <a:noFill/>
          </a:ln>
        </p:spPr>
      </p:sp>
      <p:sp>
        <p:nvSpPr>
          <p:cNvPr id="1469" name="V8 embedding feature 8">
            <a:extLst>
              <a:ext uri="{FF2B5EF4-FFF2-40B4-BE49-F238E27FC236}">
                <a16:creationId xmlns:a16="http://schemas.microsoft.com/office/drawing/2014/main" id="{78D40256-09DE-A393-64FC-199BB5DEB767}"/>
              </a:ext>
            </a:extLst>
          </p:cNvPr>
          <p:cNvSpPr/>
          <p:nvPr/>
        </p:nvSpPr>
        <p:spPr>
          <a:xfrm>
            <a:off x="1716405" y="1518285"/>
            <a:ext cx="18415" cy="34290"/>
          </a:xfrm>
          <a:prstGeom prst="rect">
            <a:avLst/>
          </a:prstGeom>
          <a:solidFill>
            <a:srgbClr val="C4DDE0"/>
          </a:solidFill>
          <a:ln w="0" cap="rnd">
            <a:noFill/>
          </a:ln>
        </p:spPr>
      </p:sp>
      <p:sp>
        <p:nvSpPr>
          <p:cNvPr id="1471" name="V8 embedding to point branch">
            <a:extLst>
              <a:ext uri="{FF2B5EF4-FFF2-40B4-BE49-F238E27FC236}">
                <a16:creationId xmlns:a16="http://schemas.microsoft.com/office/drawing/2014/main" id="{CD0EF799-B1E4-C26B-BB25-441BB97890BE}"/>
              </a:ext>
            </a:extLst>
          </p:cNvPr>
          <p:cNvSpPr/>
          <p:nvPr/>
        </p:nvSpPr>
        <p:spPr>
          <a:xfrm flipV="1">
            <a:off x="1797053" y="1469001"/>
            <a:ext cx="157162" cy="66614"/>
          </a:xfrm>
          <a:custGeom>
            <a:avLst/>
            <a:gdLst/>
            <a:ahLst/>
            <a:cxnLst/>
            <a:rect l="l" t="t" r="r" b="b"/>
            <a:pathLst>
              <a:path w="63379" h="1">
                <a:moveTo>
                  <a:pt x="0" y="0"/>
                </a:moveTo>
                <a:lnTo>
                  <a:pt x="63379" y="0"/>
                </a:lnTo>
              </a:path>
            </a:pathLst>
          </a:custGeom>
          <a:noFill/>
          <a:ln w="8509" cap="rnd">
            <a:solidFill>
              <a:srgbClr val="4083B4"/>
            </a:solidFill>
            <a:prstDash val="solid"/>
            <a:round/>
          </a:ln>
        </p:spPr>
      </p:sp>
      <p:sp>
        <p:nvSpPr>
          <p:cNvPr id="1472" name="V8 embedding to point branch head">
            <a:extLst>
              <a:ext uri="{FF2B5EF4-FFF2-40B4-BE49-F238E27FC236}">
                <a16:creationId xmlns:a16="http://schemas.microsoft.com/office/drawing/2014/main" id="{EE5B1593-BB31-DCD1-99C7-141C7B857AF7}"/>
              </a:ext>
            </a:extLst>
          </p:cNvPr>
          <p:cNvSpPr/>
          <p:nvPr/>
        </p:nvSpPr>
        <p:spPr>
          <a:xfrm>
            <a:off x="1938919" y="1523745"/>
            <a:ext cx="28321" cy="24384"/>
          </a:xfrm>
          <a:custGeom>
            <a:avLst/>
            <a:gdLst/>
            <a:ahLst/>
            <a:cxnLst/>
            <a:rect l="l" t="t" r="r" b="b"/>
            <a:pathLst>
              <a:path w="28321" h="24384">
                <a:moveTo>
                  <a:pt x="28321" y="12192"/>
                </a:moveTo>
                <a:lnTo>
                  <a:pt x="0" y="0"/>
                </a:lnTo>
                <a:lnTo>
                  <a:pt x="0" y="24384"/>
                </a:lnTo>
                <a:close/>
              </a:path>
            </a:pathLst>
          </a:custGeom>
          <a:solidFill>
            <a:srgbClr val="4083B4"/>
          </a:solidFill>
          <a:ln w="0" cap="rnd">
            <a:solidFill>
              <a:srgbClr val="4083B4"/>
            </a:solidFill>
          </a:ln>
        </p:spPr>
      </p:sp>
      <p:sp>
        <p:nvSpPr>
          <p:cNvPr id="1473" name="V8 embedding to voxel branch">
            <a:extLst>
              <a:ext uri="{FF2B5EF4-FFF2-40B4-BE49-F238E27FC236}">
                <a16:creationId xmlns:a16="http://schemas.microsoft.com/office/drawing/2014/main" id="{A9E148F4-6BCA-77FF-AE43-549D2AE883D5}"/>
              </a:ext>
            </a:extLst>
          </p:cNvPr>
          <p:cNvSpPr/>
          <p:nvPr/>
        </p:nvSpPr>
        <p:spPr>
          <a:xfrm flipH="1">
            <a:off x="1817789" y="835707"/>
            <a:ext cx="45719" cy="699723"/>
          </a:xfrm>
          <a:custGeom>
            <a:avLst/>
            <a:gdLst/>
            <a:ahLst/>
            <a:cxnLst/>
            <a:rect l="l" t="t" r="r" b="b"/>
            <a:pathLst>
              <a:path w="1" h="866159">
                <a:moveTo>
                  <a:pt x="0" y="866159"/>
                </a:moveTo>
                <a:lnTo>
                  <a:pt x="0" y="0"/>
                </a:lnTo>
              </a:path>
            </a:pathLst>
          </a:custGeom>
          <a:noFill/>
          <a:ln w="8509" cap="rnd">
            <a:solidFill>
              <a:srgbClr val="4083B4"/>
            </a:solidFill>
            <a:prstDash val="solid"/>
            <a:round/>
          </a:ln>
        </p:spPr>
      </p:sp>
      <p:sp>
        <p:nvSpPr>
          <p:cNvPr id="1475" name="V8 density and receptor to voxel">
            <a:extLst>
              <a:ext uri="{FF2B5EF4-FFF2-40B4-BE49-F238E27FC236}">
                <a16:creationId xmlns:a16="http://schemas.microsoft.com/office/drawing/2014/main" id="{61ECA984-FF9D-A5D0-F819-33661D001ABE}"/>
              </a:ext>
            </a:extLst>
          </p:cNvPr>
          <p:cNvSpPr/>
          <p:nvPr/>
        </p:nvSpPr>
        <p:spPr>
          <a:xfrm flipV="1">
            <a:off x="1797146" y="610807"/>
            <a:ext cx="148072" cy="45719"/>
          </a:xfrm>
          <a:custGeom>
            <a:avLst/>
            <a:gdLst/>
            <a:ahLst/>
            <a:cxnLst/>
            <a:rect l="l" t="t" r="r" b="b"/>
            <a:pathLst>
              <a:path w="96730" h="1">
                <a:moveTo>
                  <a:pt x="0" y="0"/>
                </a:moveTo>
                <a:lnTo>
                  <a:pt x="96730" y="0"/>
                </a:lnTo>
              </a:path>
            </a:pathLst>
          </a:custGeom>
          <a:noFill/>
          <a:ln w="8509" cap="rnd">
            <a:solidFill>
              <a:srgbClr val="4083B4"/>
            </a:solidFill>
            <a:prstDash val="solid"/>
            <a:round/>
          </a:ln>
        </p:spPr>
      </p:sp>
      <p:sp>
        <p:nvSpPr>
          <p:cNvPr id="1476" name="V8 density and receptor to voxel head">
            <a:extLst>
              <a:ext uri="{FF2B5EF4-FFF2-40B4-BE49-F238E27FC236}">
                <a16:creationId xmlns:a16="http://schemas.microsoft.com/office/drawing/2014/main" id="{D6CAD338-44F5-8993-3618-9A1839CB2DBC}"/>
              </a:ext>
            </a:extLst>
          </p:cNvPr>
          <p:cNvSpPr/>
          <p:nvPr/>
        </p:nvSpPr>
        <p:spPr>
          <a:xfrm>
            <a:off x="1934388" y="644334"/>
            <a:ext cx="28321" cy="24384"/>
          </a:xfrm>
          <a:custGeom>
            <a:avLst/>
            <a:gdLst/>
            <a:ahLst/>
            <a:cxnLst/>
            <a:rect l="l" t="t" r="r" b="b"/>
            <a:pathLst>
              <a:path w="28321" h="24384">
                <a:moveTo>
                  <a:pt x="28321" y="12192"/>
                </a:moveTo>
                <a:lnTo>
                  <a:pt x="0" y="0"/>
                </a:lnTo>
                <a:lnTo>
                  <a:pt x="0" y="24384"/>
                </a:lnTo>
                <a:close/>
              </a:path>
            </a:pathLst>
          </a:custGeom>
          <a:solidFill>
            <a:srgbClr val="4083B4"/>
          </a:solidFill>
          <a:ln w="0" cap="rnd">
            <a:noFill/>
          </a:ln>
        </p:spPr>
      </p:sp>
      <p:sp>
        <p:nvSpPr>
          <p:cNvPr id="1479" name="V8 Match input divider">
            <a:extLst>
              <a:ext uri="{FF2B5EF4-FFF2-40B4-BE49-F238E27FC236}">
                <a16:creationId xmlns:a16="http://schemas.microsoft.com/office/drawing/2014/main" id="{2EDC4EC7-D903-3262-650D-444D37299D28}"/>
              </a:ext>
            </a:extLst>
          </p:cNvPr>
          <p:cNvSpPr/>
          <p:nvPr/>
        </p:nvSpPr>
        <p:spPr>
          <a:xfrm>
            <a:off x="673037" y="2767063"/>
            <a:ext cx="957199" cy="1"/>
          </a:xfrm>
          <a:custGeom>
            <a:avLst/>
            <a:gdLst/>
            <a:ahLst/>
            <a:cxnLst/>
            <a:rect l="l" t="t" r="r" b="b"/>
            <a:pathLst>
              <a:path w="957199" h="1">
                <a:moveTo>
                  <a:pt x="0" y="0"/>
                </a:moveTo>
                <a:lnTo>
                  <a:pt x="957199" y="0"/>
                </a:lnTo>
              </a:path>
            </a:pathLst>
          </a:custGeom>
          <a:noFill/>
          <a:ln w="7290" cap="rnd">
            <a:solidFill>
              <a:srgbClr val="B6CEC5"/>
            </a:solidFill>
            <a:prstDash val="solid"/>
            <a:round/>
          </a:ln>
        </p:spPr>
      </p:sp>
      <p:sp>
        <p:nvSpPr>
          <p:cNvPr id="1480" name="V8 pool to concat">
            <a:extLst>
              <a:ext uri="{FF2B5EF4-FFF2-40B4-BE49-F238E27FC236}">
                <a16:creationId xmlns:a16="http://schemas.microsoft.com/office/drawing/2014/main" id="{3702663D-F294-9B06-B213-0076F82464A6}"/>
              </a:ext>
            </a:extLst>
          </p:cNvPr>
          <p:cNvSpPr/>
          <p:nvPr/>
        </p:nvSpPr>
        <p:spPr>
          <a:xfrm>
            <a:off x="978338" y="3603168"/>
            <a:ext cx="355873" cy="100152"/>
          </a:xfrm>
          <a:custGeom>
            <a:avLst/>
            <a:gdLst/>
            <a:ahLst/>
            <a:cxnLst/>
            <a:rect l="l" t="t" r="r" b="b"/>
            <a:pathLst>
              <a:path w="355873" h="100152">
                <a:moveTo>
                  <a:pt x="0" y="0"/>
                </a:moveTo>
                <a:lnTo>
                  <a:pt x="0" y="100152"/>
                </a:lnTo>
                <a:lnTo>
                  <a:pt x="355873" y="100152"/>
                </a:lnTo>
              </a:path>
            </a:pathLst>
          </a:custGeom>
          <a:noFill/>
          <a:ln w="8509" cap="rnd">
            <a:solidFill>
              <a:srgbClr val="3B8C80"/>
            </a:solidFill>
            <a:prstDash val="solid"/>
            <a:round/>
          </a:ln>
        </p:spPr>
      </p:sp>
      <p:sp>
        <p:nvSpPr>
          <p:cNvPr id="1481" name="V8 attention to concat">
            <a:extLst>
              <a:ext uri="{FF2B5EF4-FFF2-40B4-BE49-F238E27FC236}">
                <a16:creationId xmlns:a16="http://schemas.microsoft.com/office/drawing/2014/main" id="{45C4FCB5-3380-E3A8-B0B1-54A427F52361}"/>
              </a:ext>
            </a:extLst>
          </p:cNvPr>
          <p:cNvSpPr/>
          <p:nvPr/>
        </p:nvSpPr>
        <p:spPr>
          <a:xfrm>
            <a:off x="1334211" y="3603168"/>
            <a:ext cx="356064" cy="100152"/>
          </a:xfrm>
          <a:custGeom>
            <a:avLst/>
            <a:gdLst/>
            <a:ahLst/>
            <a:cxnLst/>
            <a:rect l="l" t="t" r="r" b="b"/>
            <a:pathLst>
              <a:path w="356064" h="100152">
                <a:moveTo>
                  <a:pt x="356064" y="0"/>
                </a:moveTo>
                <a:lnTo>
                  <a:pt x="356064" y="100152"/>
                </a:lnTo>
                <a:lnTo>
                  <a:pt x="0" y="100152"/>
                </a:lnTo>
              </a:path>
            </a:pathLst>
          </a:custGeom>
          <a:noFill/>
          <a:ln w="8509" cap="rnd">
            <a:solidFill>
              <a:srgbClr val="3B8C80"/>
            </a:solidFill>
            <a:prstDash val="solid"/>
            <a:round/>
          </a:ln>
        </p:spPr>
      </p:sp>
      <p:sp>
        <p:nvSpPr>
          <p:cNvPr id="1482" name="V8 concat to MLP">
            <a:extLst>
              <a:ext uri="{FF2B5EF4-FFF2-40B4-BE49-F238E27FC236}">
                <a16:creationId xmlns:a16="http://schemas.microsoft.com/office/drawing/2014/main" id="{366946BB-F669-FC2F-4DBA-809EA592E5E1}"/>
              </a:ext>
            </a:extLst>
          </p:cNvPr>
          <p:cNvSpPr/>
          <p:nvPr/>
        </p:nvSpPr>
        <p:spPr>
          <a:xfrm>
            <a:off x="1334211" y="3703320"/>
            <a:ext cx="1" cy="22181"/>
          </a:xfrm>
          <a:custGeom>
            <a:avLst/>
            <a:gdLst/>
            <a:ahLst/>
            <a:cxnLst/>
            <a:rect l="l" t="t" r="r" b="b"/>
            <a:pathLst>
              <a:path w="1" h="22181">
                <a:moveTo>
                  <a:pt x="0" y="0"/>
                </a:moveTo>
                <a:lnTo>
                  <a:pt x="0" y="22181"/>
                </a:lnTo>
              </a:path>
            </a:pathLst>
          </a:custGeom>
          <a:noFill/>
          <a:ln w="8509" cap="rnd">
            <a:solidFill>
              <a:srgbClr val="3B8C80"/>
            </a:solidFill>
            <a:prstDash val="solid"/>
            <a:round/>
          </a:ln>
        </p:spPr>
      </p:sp>
      <p:sp>
        <p:nvSpPr>
          <p:cNvPr id="1483" name="V8 concat to MLP head">
            <a:extLst>
              <a:ext uri="{FF2B5EF4-FFF2-40B4-BE49-F238E27FC236}">
                <a16:creationId xmlns:a16="http://schemas.microsoft.com/office/drawing/2014/main" id="{234835D4-EF31-832C-586B-712FBD8CEB61}"/>
              </a:ext>
            </a:extLst>
          </p:cNvPr>
          <p:cNvSpPr/>
          <p:nvPr/>
        </p:nvSpPr>
        <p:spPr>
          <a:xfrm>
            <a:off x="1322019" y="3709924"/>
            <a:ext cx="24384" cy="28321"/>
          </a:xfrm>
          <a:custGeom>
            <a:avLst/>
            <a:gdLst/>
            <a:ahLst/>
            <a:cxnLst/>
            <a:rect l="l" t="t" r="r" b="b"/>
            <a:pathLst>
              <a:path w="24384" h="28321">
                <a:moveTo>
                  <a:pt x="12192" y="28321"/>
                </a:moveTo>
                <a:lnTo>
                  <a:pt x="24384" y="0"/>
                </a:lnTo>
                <a:lnTo>
                  <a:pt x="0" y="0"/>
                </a:lnTo>
                <a:close/>
              </a:path>
            </a:pathLst>
          </a:custGeom>
          <a:solidFill>
            <a:srgbClr val="3B8C80"/>
          </a:solidFill>
          <a:ln w="0" cap="rnd">
            <a:noFill/>
          </a:ln>
        </p:spPr>
      </p:sp>
      <p:sp>
        <p:nvSpPr>
          <p:cNvPr id="1484" name="V8 Build site and identity frame">
            <a:extLst>
              <a:ext uri="{FF2B5EF4-FFF2-40B4-BE49-F238E27FC236}">
                <a16:creationId xmlns:a16="http://schemas.microsoft.com/office/drawing/2014/main" id="{B0159410-81AF-A0CB-FD15-D731C54E54D4}"/>
              </a:ext>
            </a:extLst>
          </p:cNvPr>
          <p:cNvSpPr/>
          <p:nvPr/>
        </p:nvSpPr>
        <p:spPr>
          <a:xfrm>
            <a:off x="4996634" y="457662"/>
            <a:ext cx="519754" cy="1228090"/>
          </a:xfrm>
          <a:prstGeom prst="roundRect">
            <a:avLst>
              <a:gd name="adj" fmla="val 5556"/>
            </a:avLst>
          </a:prstGeom>
          <a:noFill/>
          <a:ln w="6985" cap="rnd">
            <a:solidFill>
              <a:srgbClr val="D5CCB8"/>
            </a:solidFill>
            <a:prstDash val="dash"/>
            <a:round/>
          </a:ln>
        </p:spPr>
      </p:sp>
      <p:sp>
        <p:nvSpPr>
          <p:cNvPr id="1485" name="V8 Build pocket and density frame">
            <a:extLst>
              <a:ext uri="{FF2B5EF4-FFF2-40B4-BE49-F238E27FC236}">
                <a16:creationId xmlns:a16="http://schemas.microsoft.com/office/drawing/2014/main" id="{FF6F6920-E776-E473-D444-477FCB823104}"/>
              </a:ext>
            </a:extLst>
          </p:cNvPr>
          <p:cNvSpPr/>
          <p:nvPr/>
        </p:nvSpPr>
        <p:spPr>
          <a:xfrm>
            <a:off x="5564187" y="456353"/>
            <a:ext cx="527685" cy="1228090"/>
          </a:xfrm>
          <a:prstGeom prst="roundRect">
            <a:avLst>
              <a:gd name="adj" fmla="val 6477"/>
            </a:avLst>
          </a:prstGeom>
          <a:noFill/>
          <a:ln w="6985" cap="rnd">
            <a:solidFill>
              <a:srgbClr val="D5CCB8"/>
            </a:solidFill>
            <a:prstDash val="dash"/>
            <a:round/>
          </a:ln>
        </p:spPr>
      </p:sp>
      <p:sp>
        <p:nvSpPr>
          <p:cNvPr id="1486" name="V8 Build inputs to docking">
            <a:extLst>
              <a:ext uri="{FF2B5EF4-FFF2-40B4-BE49-F238E27FC236}">
                <a16:creationId xmlns:a16="http://schemas.microsoft.com/office/drawing/2014/main" id="{25F81FEB-7923-B705-D48C-4F1FE2423027}"/>
              </a:ext>
            </a:extLst>
          </p:cNvPr>
          <p:cNvSpPr/>
          <p:nvPr/>
        </p:nvSpPr>
        <p:spPr>
          <a:xfrm>
            <a:off x="5546090" y="1765305"/>
            <a:ext cx="1" cy="56229"/>
          </a:xfrm>
          <a:custGeom>
            <a:avLst/>
            <a:gdLst/>
            <a:ahLst/>
            <a:cxnLst/>
            <a:rect l="l" t="t" r="r" b="b"/>
            <a:pathLst>
              <a:path w="1" h="113379">
                <a:moveTo>
                  <a:pt x="0" y="0"/>
                </a:moveTo>
                <a:lnTo>
                  <a:pt x="0" y="113379"/>
                </a:lnTo>
              </a:path>
            </a:pathLst>
          </a:custGeom>
          <a:noFill/>
          <a:ln w="13208" cap="rnd">
            <a:solidFill>
              <a:srgbClr val="71808C"/>
            </a:solidFill>
            <a:prstDash val="solid"/>
            <a:round/>
          </a:ln>
        </p:spPr>
      </p:sp>
      <p:sp>
        <p:nvSpPr>
          <p:cNvPr id="1487" name="V8 Build inputs to docking head">
            <a:extLst>
              <a:ext uri="{FF2B5EF4-FFF2-40B4-BE49-F238E27FC236}">
                <a16:creationId xmlns:a16="http://schemas.microsoft.com/office/drawing/2014/main" id="{B51CEB37-F359-D8DB-EED0-BF0289DBA9C3}"/>
              </a:ext>
            </a:extLst>
          </p:cNvPr>
          <p:cNvSpPr/>
          <p:nvPr/>
        </p:nvSpPr>
        <p:spPr>
          <a:xfrm>
            <a:off x="5524182" y="1800230"/>
            <a:ext cx="43815" cy="38735"/>
          </a:xfrm>
          <a:custGeom>
            <a:avLst/>
            <a:gdLst/>
            <a:ahLst/>
            <a:cxnLst/>
            <a:rect l="l" t="t" r="r" b="b"/>
            <a:pathLst>
              <a:path w="43815" h="38735">
                <a:moveTo>
                  <a:pt x="21908" y="38735"/>
                </a:moveTo>
                <a:lnTo>
                  <a:pt x="43815" y="0"/>
                </a:lnTo>
                <a:lnTo>
                  <a:pt x="0" y="0"/>
                </a:lnTo>
                <a:close/>
              </a:path>
            </a:pathLst>
          </a:custGeom>
          <a:solidFill>
            <a:srgbClr val="71808C"/>
          </a:solidFill>
          <a:ln w="0" cap="rnd">
            <a:noFill/>
          </a:ln>
        </p:spPr>
      </p:sp>
      <p:sp>
        <p:nvSpPr>
          <p:cNvPr id="1488" name="V8 Build docking to pose">
            <a:extLst>
              <a:ext uri="{FF2B5EF4-FFF2-40B4-BE49-F238E27FC236}">
                <a16:creationId xmlns:a16="http://schemas.microsoft.com/office/drawing/2014/main" id="{A8390C7D-F4E0-5D67-9352-7A11942FB4C0}"/>
              </a:ext>
            </a:extLst>
          </p:cNvPr>
          <p:cNvSpPr/>
          <p:nvPr/>
        </p:nvSpPr>
        <p:spPr>
          <a:xfrm>
            <a:off x="5546090" y="3237230"/>
            <a:ext cx="1" cy="113379"/>
          </a:xfrm>
          <a:custGeom>
            <a:avLst/>
            <a:gdLst/>
            <a:ahLst/>
            <a:cxnLst/>
            <a:rect l="l" t="t" r="r" b="b"/>
            <a:pathLst>
              <a:path w="1" h="113379">
                <a:moveTo>
                  <a:pt x="0" y="0"/>
                </a:moveTo>
                <a:lnTo>
                  <a:pt x="0" y="113379"/>
                </a:lnTo>
              </a:path>
            </a:pathLst>
          </a:custGeom>
          <a:noFill/>
          <a:ln w="13208" cap="rnd">
            <a:solidFill>
              <a:srgbClr val="71808C"/>
            </a:solidFill>
            <a:prstDash val="solid"/>
            <a:round/>
          </a:ln>
        </p:spPr>
      </p:sp>
      <p:sp>
        <p:nvSpPr>
          <p:cNvPr id="1489" name="V8 Build docking to pose head">
            <a:extLst>
              <a:ext uri="{FF2B5EF4-FFF2-40B4-BE49-F238E27FC236}">
                <a16:creationId xmlns:a16="http://schemas.microsoft.com/office/drawing/2014/main" id="{CB9E0D49-EB6F-EF7F-8A0E-43482900F10A}"/>
              </a:ext>
            </a:extLst>
          </p:cNvPr>
          <p:cNvSpPr/>
          <p:nvPr/>
        </p:nvSpPr>
        <p:spPr>
          <a:xfrm>
            <a:off x="5524182" y="3329305"/>
            <a:ext cx="43815" cy="38735"/>
          </a:xfrm>
          <a:custGeom>
            <a:avLst/>
            <a:gdLst/>
            <a:ahLst/>
            <a:cxnLst/>
            <a:rect l="l" t="t" r="r" b="b"/>
            <a:pathLst>
              <a:path w="43815" h="38735">
                <a:moveTo>
                  <a:pt x="21908" y="38735"/>
                </a:moveTo>
                <a:lnTo>
                  <a:pt x="43815" y="0"/>
                </a:lnTo>
                <a:lnTo>
                  <a:pt x="0" y="0"/>
                </a:lnTo>
                <a:close/>
              </a:path>
            </a:pathLst>
          </a:custGeom>
          <a:solidFill>
            <a:srgbClr val="71808C"/>
          </a:solidFill>
          <a:ln w="0" cap="rnd">
            <a:noFill/>
          </a:ln>
        </p:spPr>
      </p:sp>
      <p:grpSp>
        <p:nvGrpSpPr>
          <p:cNvPr id="6" name="Find candidate blob 2">
            <a:extLst>
              <a:ext uri="{FF2B5EF4-FFF2-40B4-BE49-F238E27FC236}">
                <a16:creationId xmlns:a16="http://schemas.microsoft.com/office/drawing/2014/main" id="{52582F41-8562-EDCF-D547-FEE06D78B091}"/>
              </a:ext>
            </a:extLst>
          </p:cNvPr>
          <p:cNvGrpSpPr/>
          <p:nvPr/>
        </p:nvGrpSpPr>
        <p:grpSpPr>
          <a:xfrm rot="3197729">
            <a:off x="4582892" y="901286"/>
            <a:ext cx="140909" cy="118817"/>
            <a:chOff x="1928706" y="3559489"/>
            <a:chExt cx="227897" cy="155682"/>
          </a:xfrm>
        </p:grpSpPr>
        <p:sp>
          <p:nvSpPr>
            <p:cNvPr id="16" name="Candidate blob | editable contour">
              <a:extLst>
                <a:ext uri="{FF2B5EF4-FFF2-40B4-BE49-F238E27FC236}">
                  <a16:creationId xmlns:a16="http://schemas.microsoft.com/office/drawing/2014/main" id="{AC599FE5-B7C8-2310-361D-307EF409B159}"/>
                </a:ext>
              </a:extLst>
            </p:cNvPr>
            <p:cNvSpPr/>
            <p:nvPr/>
          </p:nvSpPr>
          <p:spPr>
            <a:xfrm>
              <a:off x="1928706" y="3559489"/>
              <a:ext cx="227897" cy="155682"/>
            </a:xfrm>
            <a:custGeom>
              <a:avLst/>
              <a:gdLst/>
              <a:ahLst/>
              <a:cxnLst/>
              <a:rect l="0" t="0" r="w" b="h"/>
              <a:pathLst>
                <a:path w="227897" h="155682" extrusionOk="0">
                  <a:moveTo>
                    <a:pt x="3521" y="100385"/>
                  </a:moveTo>
                  <a:cubicBezTo>
                    <a:pt x="0" y="80701"/>
                    <a:pt x="26006" y="62787"/>
                    <a:pt x="43453" y="54263"/>
                  </a:cubicBezTo>
                  <a:cubicBezTo>
                    <a:pt x="58843" y="43224"/>
                    <a:pt x="83460" y="52781"/>
                    <a:pt x="99588" y="43358"/>
                  </a:cubicBezTo>
                  <a:cubicBezTo>
                    <a:pt x="112436" y="32945"/>
                    <a:pt x="102548" y="9475"/>
                    <a:pt x="114181" y="4123"/>
                  </a:cubicBezTo>
                  <a:cubicBezTo>
                    <a:pt x="125241" y="0"/>
                    <a:pt x="158214" y="2398"/>
                    <a:pt x="179365" y="5837"/>
                  </a:cubicBezTo>
                  <a:cubicBezTo>
                    <a:pt x="197301" y="9996"/>
                    <a:pt x="210134" y="19340"/>
                    <a:pt x="216909" y="31256"/>
                  </a:cubicBezTo>
                  <a:cubicBezTo>
                    <a:pt x="221237" y="45342"/>
                    <a:pt x="227897" y="67151"/>
                    <a:pt x="224378" y="79920"/>
                  </a:cubicBezTo>
                  <a:cubicBezTo>
                    <a:pt x="219253" y="92918"/>
                    <a:pt x="191986" y="104353"/>
                    <a:pt x="170629" y="115250"/>
                  </a:cubicBezTo>
                  <a:cubicBezTo>
                    <a:pt x="155563" y="129736"/>
                    <a:pt x="143418" y="146104"/>
                    <a:pt x="126157" y="151452"/>
                  </a:cubicBezTo>
                  <a:cubicBezTo>
                    <a:pt x="110048" y="155682"/>
                    <a:pt x="82946" y="155682"/>
                    <a:pt x="52808" y="150002"/>
                  </a:cubicBezTo>
                  <a:cubicBezTo>
                    <a:pt x="28847" y="143645"/>
                    <a:pt x="5675" y="118994"/>
                    <a:pt x="3521" y="100385"/>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17" name="ellipse_2612">
              <a:extLst>
                <a:ext uri="{FF2B5EF4-FFF2-40B4-BE49-F238E27FC236}">
                  <a16:creationId xmlns:a16="http://schemas.microsoft.com/office/drawing/2014/main" id="{899D545A-9188-B8A5-5122-F55763321954}"/>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grpSp>
        <p:nvGrpSpPr>
          <p:cNvPr id="22" name="Match | Blob contour">
            <a:extLst>
              <a:ext uri="{FF2B5EF4-FFF2-40B4-BE49-F238E27FC236}">
                <a16:creationId xmlns:a16="http://schemas.microsoft.com/office/drawing/2014/main" id="{014BB78B-D7B6-7233-4454-F31E0FFFF761}"/>
              </a:ext>
            </a:extLst>
          </p:cNvPr>
          <p:cNvGrpSpPr/>
          <p:nvPr/>
        </p:nvGrpSpPr>
        <p:grpSpPr>
          <a:xfrm>
            <a:off x="5095498" y="565131"/>
            <a:ext cx="291608" cy="199265"/>
            <a:chOff x="1928706" y="3559489"/>
            <a:chExt cx="227897" cy="155682"/>
          </a:xfrm>
        </p:grpSpPr>
        <p:sp>
          <p:nvSpPr>
            <p:cNvPr id="24" name="Candidate blob | editable contour">
              <a:extLst>
                <a:ext uri="{FF2B5EF4-FFF2-40B4-BE49-F238E27FC236}">
                  <a16:creationId xmlns:a16="http://schemas.microsoft.com/office/drawing/2014/main" id="{A11312CB-4342-9A48-D209-5BB49581DECC}"/>
                </a:ext>
              </a:extLst>
            </p:cNvPr>
            <p:cNvSpPr/>
            <p:nvPr/>
          </p:nvSpPr>
          <p:spPr>
            <a:xfrm>
              <a:off x="1928706" y="3559489"/>
              <a:ext cx="227897" cy="155682"/>
            </a:xfrm>
            <a:custGeom>
              <a:avLst/>
              <a:gdLst/>
              <a:ahLst/>
              <a:cxnLst/>
              <a:rect l="0" t="0" r="w" b="h"/>
              <a:pathLst>
                <a:path w="227897" h="155682" extrusionOk="0">
                  <a:moveTo>
                    <a:pt x="5338" y="97866"/>
                  </a:moveTo>
                  <a:cubicBezTo>
                    <a:pt x="0" y="80701"/>
                    <a:pt x="18889" y="54504"/>
                    <a:pt x="29976" y="43663"/>
                  </a:cubicBezTo>
                  <a:cubicBezTo>
                    <a:pt x="41062" y="32823"/>
                    <a:pt x="58719" y="39447"/>
                    <a:pt x="71859" y="32823"/>
                  </a:cubicBezTo>
                  <a:cubicBezTo>
                    <a:pt x="84999" y="26198"/>
                    <a:pt x="92391" y="7829"/>
                    <a:pt x="108816" y="3915"/>
                  </a:cubicBezTo>
                  <a:cubicBezTo>
                    <a:pt x="125241" y="0"/>
                    <a:pt x="153984" y="3613"/>
                    <a:pt x="170409" y="9335"/>
                  </a:cubicBezTo>
                  <a:cubicBezTo>
                    <a:pt x="186834" y="15056"/>
                    <a:pt x="198332" y="26198"/>
                    <a:pt x="207366" y="38243"/>
                  </a:cubicBezTo>
                  <a:cubicBezTo>
                    <a:pt x="216399" y="50288"/>
                    <a:pt x="227897" y="67151"/>
                    <a:pt x="224612" y="81605"/>
                  </a:cubicBezTo>
                  <a:cubicBezTo>
                    <a:pt x="221327" y="96059"/>
                    <a:pt x="203259" y="113223"/>
                    <a:pt x="187656" y="124967"/>
                  </a:cubicBezTo>
                  <a:cubicBezTo>
                    <a:pt x="172052" y="136711"/>
                    <a:pt x="151931" y="148455"/>
                    <a:pt x="130989" y="152068"/>
                  </a:cubicBezTo>
                  <a:cubicBezTo>
                    <a:pt x="110048" y="155682"/>
                    <a:pt x="82946" y="155682"/>
                    <a:pt x="62004" y="146648"/>
                  </a:cubicBezTo>
                  <a:cubicBezTo>
                    <a:pt x="41062" y="137614"/>
                    <a:pt x="10676" y="115030"/>
                    <a:pt x="5338" y="97866"/>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26" name="ellipse_2612">
              <a:extLst>
                <a:ext uri="{FF2B5EF4-FFF2-40B4-BE49-F238E27FC236}">
                  <a16:creationId xmlns:a16="http://schemas.microsoft.com/office/drawing/2014/main" id="{A5E3448F-A32E-D77A-4110-EC1F991AAB0A}"/>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sp>
        <p:nvSpPr>
          <p:cNvPr id="27" name="Oval 12178">
            <a:extLst>
              <a:ext uri="{FF2B5EF4-FFF2-40B4-BE49-F238E27FC236}">
                <a16:creationId xmlns:a16="http://schemas.microsoft.com/office/drawing/2014/main" id="{FDC707AA-314A-7AA2-186D-A8D0C4B2CC82}"/>
              </a:ext>
            </a:extLst>
          </p:cNvPr>
          <p:cNvSpPr/>
          <p:nvPr/>
        </p:nvSpPr>
        <p:spPr>
          <a:xfrm>
            <a:off x="5224292" y="648563"/>
            <a:ext cx="34426" cy="34426"/>
          </a:xfrm>
          <a:prstGeom prst="ellipse">
            <a:avLst/>
          </a:prstGeom>
          <a:solidFill>
            <a:srgbClr val="1D4ED8"/>
          </a:solidFill>
          <a:ln w="635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50449" name="F2-bank-channel">
            <a:extLst>
              <a:ext uri="{FF2B5EF4-FFF2-40B4-BE49-F238E27FC236}">
                <a16:creationId xmlns:a16="http://schemas.microsoft.com/office/drawing/2014/main" id="{E8F7522B-3B27-4338-8014-8A4EEE25C15E}"/>
              </a:ext>
            </a:extLst>
          </p:cNvPr>
          <p:cNvSpPr>
            <a:spLocks noGrp="1"/>
          </p:cNvSpPr>
          <p:nvPr/>
        </p:nvSpPr>
        <p:spPr>
          <a:xfrm>
            <a:off x="1483362" y="508635"/>
            <a:ext cx="257175" cy="190500"/>
          </a:xfrm>
          <a:prstGeom prst="rect">
            <a:avLst/>
          </a:prstGeom>
          <a:solidFill>
            <a:srgbClr val="EBF7FC"/>
          </a:solidFill>
          <a:ln w="4286">
            <a:solidFill>
              <a:srgbClr val="A6C5DF"/>
            </a:solidFill>
          </a:ln>
        </p:spPr>
      </p:sp>
      <p:sp>
        <p:nvSpPr>
          <p:cNvPr id="50450" name="F2-bank-channel">
            <a:extLst>
              <a:ext uri="{FF2B5EF4-FFF2-40B4-BE49-F238E27FC236}">
                <a16:creationId xmlns:a16="http://schemas.microsoft.com/office/drawing/2014/main" id="{44CA542A-604D-4AA5-B11D-B6617579A677}"/>
              </a:ext>
            </a:extLst>
          </p:cNvPr>
          <p:cNvSpPr>
            <a:spLocks noGrp="1"/>
          </p:cNvSpPr>
          <p:nvPr/>
        </p:nvSpPr>
        <p:spPr>
          <a:xfrm>
            <a:off x="1475742" y="515303"/>
            <a:ext cx="257175" cy="190500"/>
          </a:xfrm>
          <a:prstGeom prst="rect">
            <a:avLst/>
          </a:prstGeom>
          <a:solidFill>
            <a:srgbClr val="EBF7FC"/>
          </a:solidFill>
          <a:ln w="4286">
            <a:solidFill>
              <a:srgbClr val="A6C5DF"/>
            </a:solidFill>
          </a:ln>
        </p:spPr>
      </p:sp>
      <p:sp>
        <p:nvSpPr>
          <p:cNvPr id="50451" name="F2-bank-channel">
            <a:extLst>
              <a:ext uri="{FF2B5EF4-FFF2-40B4-BE49-F238E27FC236}">
                <a16:creationId xmlns:a16="http://schemas.microsoft.com/office/drawing/2014/main" id="{94C83CC1-C6DF-4DC5-87DF-BCD87221CF3B}"/>
              </a:ext>
            </a:extLst>
          </p:cNvPr>
          <p:cNvSpPr>
            <a:spLocks noGrp="1"/>
          </p:cNvSpPr>
          <p:nvPr/>
        </p:nvSpPr>
        <p:spPr>
          <a:xfrm>
            <a:off x="1468122" y="521970"/>
            <a:ext cx="257175" cy="190500"/>
          </a:xfrm>
          <a:prstGeom prst="rect">
            <a:avLst/>
          </a:prstGeom>
          <a:solidFill>
            <a:srgbClr val="EBF7FC"/>
          </a:solidFill>
          <a:ln w="4286">
            <a:solidFill>
              <a:srgbClr val="A6C5DF"/>
            </a:solidFill>
          </a:ln>
        </p:spPr>
      </p:sp>
      <p:sp>
        <p:nvSpPr>
          <p:cNvPr id="50452" name="F2-bank-channel">
            <a:extLst>
              <a:ext uri="{FF2B5EF4-FFF2-40B4-BE49-F238E27FC236}">
                <a16:creationId xmlns:a16="http://schemas.microsoft.com/office/drawing/2014/main" id="{1ABD8E71-8A8E-4A01-9656-5F57A7EAD863}"/>
              </a:ext>
            </a:extLst>
          </p:cNvPr>
          <p:cNvSpPr>
            <a:spLocks noGrp="1"/>
          </p:cNvSpPr>
          <p:nvPr/>
        </p:nvSpPr>
        <p:spPr>
          <a:xfrm>
            <a:off x="1460502" y="528638"/>
            <a:ext cx="257175" cy="190500"/>
          </a:xfrm>
          <a:prstGeom prst="rect">
            <a:avLst/>
          </a:prstGeom>
          <a:solidFill>
            <a:srgbClr val="EBF7FC"/>
          </a:solidFill>
          <a:ln w="4286">
            <a:solidFill>
              <a:srgbClr val="A6C5DF"/>
            </a:solidFill>
          </a:ln>
        </p:spPr>
      </p:sp>
      <p:sp>
        <p:nvSpPr>
          <p:cNvPr id="50453" name="F2-bank-channel">
            <a:extLst>
              <a:ext uri="{FF2B5EF4-FFF2-40B4-BE49-F238E27FC236}">
                <a16:creationId xmlns:a16="http://schemas.microsoft.com/office/drawing/2014/main" id="{A1E78B7C-AF8B-46CF-BE9A-7739D3A000CC}"/>
              </a:ext>
            </a:extLst>
          </p:cNvPr>
          <p:cNvSpPr>
            <a:spLocks noGrp="1"/>
          </p:cNvSpPr>
          <p:nvPr/>
        </p:nvSpPr>
        <p:spPr>
          <a:xfrm>
            <a:off x="1452882" y="535305"/>
            <a:ext cx="257175" cy="190500"/>
          </a:xfrm>
          <a:prstGeom prst="rect">
            <a:avLst/>
          </a:prstGeom>
          <a:solidFill>
            <a:srgbClr val="EBF7FC"/>
          </a:solidFill>
          <a:ln w="4286">
            <a:solidFill>
              <a:srgbClr val="A6C5DF"/>
            </a:solidFill>
          </a:ln>
        </p:spPr>
      </p:sp>
      <p:sp>
        <p:nvSpPr>
          <p:cNvPr id="50454" name="F2-bank-channel">
            <a:extLst>
              <a:ext uri="{FF2B5EF4-FFF2-40B4-BE49-F238E27FC236}">
                <a16:creationId xmlns:a16="http://schemas.microsoft.com/office/drawing/2014/main" id="{F902D412-512B-42B7-B05D-EDD9258097DC}"/>
              </a:ext>
            </a:extLst>
          </p:cNvPr>
          <p:cNvSpPr>
            <a:spLocks noGrp="1"/>
          </p:cNvSpPr>
          <p:nvPr/>
        </p:nvSpPr>
        <p:spPr>
          <a:xfrm>
            <a:off x="1445262" y="541973"/>
            <a:ext cx="257175" cy="190500"/>
          </a:xfrm>
          <a:prstGeom prst="rect">
            <a:avLst/>
          </a:prstGeom>
          <a:solidFill>
            <a:srgbClr val="EBF7FC"/>
          </a:solidFill>
          <a:ln w="4286">
            <a:solidFill>
              <a:srgbClr val="A6C5DF"/>
            </a:solidFill>
          </a:ln>
        </p:spPr>
      </p:sp>
      <p:sp>
        <p:nvSpPr>
          <p:cNvPr id="50455" name="F2-bank-channel">
            <a:extLst>
              <a:ext uri="{FF2B5EF4-FFF2-40B4-BE49-F238E27FC236}">
                <a16:creationId xmlns:a16="http://schemas.microsoft.com/office/drawing/2014/main" id="{CA6824A1-9C37-4EE2-8CF4-7C88BCE1DBE6}"/>
              </a:ext>
            </a:extLst>
          </p:cNvPr>
          <p:cNvSpPr>
            <a:spLocks noGrp="1"/>
          </p:cNvSpPr>
          <p:nvPr/>
        </p:nvSpPr>
        <p:spPr>
          <a:xfrm>
            <a:off x="1437642" y="548640"/>
            <a:ext cx="257175" cy="190500"/>
          </a:xfrm>
          <a:prstGeom prst="rect">
            <a:avLst/>
          </a:prstGeom>
          <a:solidFill>
            <a:srgbClr val="EBF7FC"/>
          </a:solidFill>
          <a:ln w="4286">
            <a:solidFill>
              <a:srgbClr val="A6C5DF"/>
            </a:solidFill>
          </a:ln>
        </p:spPr>
      </p:sp>
      <p:sp>
        <p:nvSpPr>
          <p:cNvPr id="50456" name="F2-bank-channel">
            <a:extLst>
              <a:ext uri="{FF2B5EF4-FFF2-40B4-BE49-F238E27FC236}">
                <a16:creationId xmlns:a16="http://schemas.microsoft.com/office/drawing/2014/main" id="{2705DA7A-40F9-48D2-946C-8019421C16B7}"/>
              </a:ext>
            </a:extLst>
          </p:cNvPr>
          <p:cNvSpPr>
            <a:spLocks noGrp="1"/>
          </p:cNvSpPr>
          <p:nvPr/>
        </p:nvSpPr>
        <p:spPr>
          <a:xfrm>
            <a:off x="1430022" y="555308"/>
            <a:ext cx="257175" cy="190500"/>
          </a:xfrm>
          <a:prstGeom prst="rect">
            <a:avLst/>
          </a:prstGeom>
          <a:solidFill>
            <a:srgbClr val="EBF7FC"/>
          </a:solidFill>
          <a:ln w="4286">
            <a:solidFill>
              <a:srgbClr val="A6C5DF"/>
            </a:solidFill>
          </a:ln>
        </p:spPr>
      </p:sp>
      <p:sp>
        <p:nvSpPr>
          <p:cNvPr id="50457" name="F2-bank-channel">
            <a:extLst>
              <a:ext uri="{FF2B5EF4-FFF2-40B4-BE49-F238E27FC236}">
                <a16:creationId xmlns:a16="http://schemas.microsoft.com/office/drawing/2014/main" id="{E1B9C475-D32F-4E88-9AAA-6701AFC1AC14}"/>
              </a:ext>
            </a:extLst>
          </p:cNvPr>
          <p:cNvSpPr>
            <a:spLocks noGrp="1"/>
          </p:cNvSpPr>
          <p:nvPr/>
        </p:nvSpPr>
        <p:spPr>
          <a:xfrm>
            <a:off x="1422402" y="561975"/>
            <a:ext cx="257175" cy="190500"/>
          </a:xfrm>
          <a:prstGeom prst="rect">
            <a:avLst/>
          </a:prstGeom>
          <a:solidFill>
            <a:srgbClr val="EBF7FC"/>
          </a:solidFill>
          <a:ln w="4286">
            <a:solidFill>
              <a:srgbClr val="A6C5DF"/>
            </a:solidFill>
          </a:ln>
        </p:spPr>
      </p:sp>
      <p:sp>
        <p:nvSpPr>
          <p:cNvPr id="50458" name="F2-density-voxel">
            <a:extLst>
              <a:ext uri="{FF2B5EF4-FFF2-40B4-BE49-F238E27FC236}">
                <a16:creationId xmlns:a16="http://schemas.microsoft.com/office/drawing/2014/main" id="{A49953DB-68D8-42EB-963F-DD42F453137D}"/>
              </a:ext>
            </a:extLst>
          </p:cNvPr>
          <p:cNvSpPr>
            <a:spLocks noGrp="1"/>
          </p:cNvSpPr>
          <p:nvPr/>
        </p:nvSpPr>
        <p:spPr>
          <a:xfrm>
            <a:off x="1441452" y="571500"/>
            <a:ext cx="52388" cy="42863"/>
          </a:xfrm>
          <a:prstGeom prst="rect">
            <a:avLst/>
          </a:prstGeom>
          <a:solidFill>
            <a:srgbClr val="CCE5EE"/>
          </a:solidFill>
          <a:ln w="0">
            <a:noFill/>
          </a:ln>
        </p:spPr>
      </p:sp>
      <p:sp>
        <p:nvSpPr>
          <p:cNvPr id="50459" name="F2-density-voxel">
            <a:extLst>
              <a:ext uri="{FF2B5EF4-FFF2-40B4-BE49-F238E27FC236}">
                <a16:creationId xmlns:a16="http://schemas.microsoft.com/office/drawing/2014/main" id="{ECECDED8-7BB6-465D-90CE-1566D913C0F0}"/>
              </a:ext>
            </a:extLst>
          </p:cNvPr>
          <p:cNvSpPr>
            <a:spLocks noGrp="1"/>
          </p:cNvSpPr>
          <p:nvPr/>
        </p:nvSpPr>
        <p:spPr>
          <a:xfrm>
            <a:off x="1493840" y="571500"/>
            <a:ext cx="52388" cy="42863"/>
          </a:xfrm>
          <a:prstGeom prst="rect">
            <a:avLst/>
          </a:prstGeom>
          <a:solidFill>
            <a:srgbClr val="86C0D7"/>
          </a:solidFill>
          <a:ln w="0">
            <a:noFill/>
          </a:ln>
        </p:spPr>
      </p:sp>
      <p:sp>
        <p:nvSpPr>
          <p:cNvPr id="50460" name="F2-density-voxel">
            <a:extLst>
              <a:ext uri="{FF2B5EF4-FFF2-40B4-BE49-F238E27FC236}">
                <a16:creationId xmlns:a16="http://schemas.microsoft.com/office/drawing/2014/main" id="{49E89024-8821-43E6-B830-D5D2C6143679}"/>
              </a:ext>
            </a:extLst>
          </p:cNvPr>
          <p:cNvSpPr>
            <a:spLocks noGrp="1"/>
          </p:cNvSpPr>
          <p:nvPr/>
        </p:nvSpPr>
        <p:spPr>
          <a:xfrm>
            <a:off x="1546227" y="571500"/>
            <a:ext cx="52388" cy="42863"/>
          </a:xfrm>
          <a:prstGeom prst="rect">
            <a:avLst/>
          </a:prstGeom>
          <a:solidFill>
            <a:srgbClr val="4D9ABB"/>
          </a:solidFill>
          <a:ln w="0">
            <a:noFill/>
          </a:ln>
        </p:spPr>
      </p:sp>
      <p:sp>
        <p:nvSpPr>
          <p:cNvPr id="50461" name="F2-density-voxel">
            <a:extLst>
              <a:ext uri="{FF2B5EF4-FFF2-40B4-BE49-F238E27FC236}">
                <a16:creationId xmlns:a16="http://schemas.microsoft.com/office/drawing/2014/main" id="{3A635687-B1F5-496B-9A49-461D8BC35087}"/>
              </a:ext>
            </a:extLst>
          </p:cNvPr>
          <p:cNvSpPr>
            <a:spLocks noGrp="1"/>
          </p:cNvSpPr>
          <p:nvPr/>
        </p:nvSpPr>
        <p:spPr>
          <a:xfrm>
            <a:off x="1598615" y="571500"/>
            <a:ext cx="52388" cy="42863"/>
          </a:xfrm>
          <a:prstGeom prst="rect">
            <a:avLst/>
          </a:prstGeom>
          <a:solidFill>
            <a:srgbClr val="B6DDE7"/>
          </a:solidFill>
          <a:ln w="0">
            <a:noFill/>
          </a:ln>
        </p:spPr>
      </p:sp>
      <p:sp>
        <p:nvSpPr>
          <p:cNvPr id="50462" name="F2-density-voxel">
            <a:extLst>
              <a:ext uri="{FF2B5EF4-FFF2-40B4-BE49-F238E27FC236}">
                <a16:creationId xmlns:a16="http://schemas.microsoft.com/office/drawing/2014/main" id="{FEC54E9C-643D-4824-B955-66BA7E401A0E}"/>
              </a:ext>
            </a:extLst>
          </p:cNvPr>
          <p:cNvSpPr>
            <a:spLocks noGrp="1"/>
          </p:cNvSpPr>
          <p:nvPr/>
        </p:nvSpPr>
        <p:spPr>
          <a:xfrm>
            <a:off x="1441452" y="614363"/>
            <a:ext cx="52388" cy="42863"/>
          </a:xfrm>
          <a:prstGeom prst="rect">
            <a:avLst/>
          </a:prstGeom>
          <a:solidFill>
            <a:srgbClr val="86C0D7"/>
          </a:solidFill>
          <a:ln w="0">
            <a:noFill/>
          </a:ln>
        </p:spPr>
      </p:sp>
      <p:sp>
        <p:nvSpPr>
          <p:cNvPr id="50463" name="F2-density-voxel">
            <a:extLst>
              <a:ext uri="{FF2B5EF4-FFF2-40B4-BE49-F238E27FC236}">
                <a16:creationId xmlns:a16="http://schemas.microsoft.com/office/drawing/2014/main" id="{ED2290E5-D29A-42C8-863E-1A0B5A093DAF}"/>
              </a:ext>
            </a:extLst>
          </p:cNvPr>
          <p:cNvSpPr>
            <a:spLocks noGrp="1"/>
          </p:cNvSpPr>
          <p:nvPr/>
        </p:nvSpPr>
        <p:spPr>
          <a:xfrm>
            <a:off x="1493840" y="614363"/>
            <a:ext cx="52388" cy="42863"/>
          </a:xfrm>
          <a:prstGeom prst="rect">
            <a:avLst/>
          </a:prstGeom>
          <a:solidFill>
            <a:srgbClr val="4D9ABB"/>
          </a:solidFill>
          <a:ln w="0">
            <a:noFill/>
          </a:ln>
        </p:spPr>
      </p:sp>
      <p:sp>
        <p:nvSpPr>
          <p:cNvPr id="50464" name="F2-density-voxel">
            <a:extLst>
              <a:ext uri="{FF2B5EF4-FFF2-40B4-BE49-F238E27FC236}">
                <a16:creationId xmlns:a16="http://schemas.microsoft.com/office/drawing/2014/main" id="{C030A993-BA02-4CBF-A526-9AF795928873}"/>
              </a:ext>
            </a:extLst>
          </p:cNvPr>
          <p:cNvSpPr>
            <a:spLocks noGrp="1"/>
          </p:cNvSpPr>
          <p:nvPr/>
        </p:nvSpPr>
        <p:spPr>
          <a:xfrm>
            <a:off x="1546227" y="614363"/>
            <a:ext cx="52388" cy="42863"/>
          </a:xfrm>
          <a:prstGeom prst="rect">
            <a:avLst/>
          </a:prstGeom>
          <a:solidFill>
            <a:srgbClr val="B6DDE7"/>
          </a:solidFill>
          <a:ln w="0">
            <a:noFill/>
          </a:ln>
        </p:spPr>
      </p:sp>
      <p:sp>
        <p:nvSpPr>
          <p:cNvPr id="50465" name="F2-density-voxel">
            <a:extLst>
              <a:ext uri="{FF2B5EF4-FFF2-40B4-BE49-F238E27FC236}">
                <a16:creationId xmlns:a16="http://schemas.microsoft.com/office/drawing/2014/main" id="{EC212EF2-C0F1-41AF-B3CE-D957D17932A0}"/>
              </a:ext>
            </a:extLst>
          </p:cNvPr>
          <p:cNvSpPr>
            <a:spLocks noGrp="1"/>
          </p:cNvSpPr>
          <p:nvPr/>
        </p:nvSpPr>
        <p:spPr>
          <a:xfrm>
            <a:off x="1598615" y="614363"/>
            <a:ext cx="52388" cy="42863"/>
          </a:xfrm>
          <a:prstGeom prst="rect">
            <a:avLst/>
          </a:prstGeom>
          <a:solidFill>
            <a:srgbClr val="CCE5EE"/>
          </a:solidFill>
          <a:ln w="0">
            <a:noFill/>
          </a:ln>
        </p:spPr>
      </p:sp>
      <p:sp>
        <p:nvSpPr>
          <p:cNvPr id="50466" name="F2-density-voxel">
            <a:extLst>
              <a:ext uri="{FF2B5EF4-FFF2-40B4-BE49-F238E27FC236}">
                <a16:creationId xmlns:a16="http://schemas.microsoft.com/office/drawing/2014/main" id="{8E8D1CD2-DC81-4A69-849C-F21783FD798D}"/>
              </a:ext>
            </a:extLst>
          </p:cNvPr>
          <p:cNvSpPr>
            <a:spLocks noGrp="1"/>
          </p:cNvSpPr>
          <p:nvPr/>
        </p:nvSpPr>
        <p:spPr>
          <a:xfrm>
            <a:off x="1441452" y="657225"/>
            <a:ext cx="52388" cy="42863"/>
          </a:xfrm>
          <a:prstGeom prst="rect">
            <a:avLst/>
          </a:prstGeom>
          <a:solidFill>
            <a:srgbClr val="4D9ABB"/>
          </a:solidFill>
          <a:ln w="0">
            <a:noFill/>
          </a:ln>
        </p:spPr>
      </p:sp>
      <p:sp>
        <p:nvSpPr>
          <p:cNvPr id="50467" name="F2-density-voxel">
            <a:extLst>
              <a:ext uri="{FF2B5EF4-FFF2-40B4-BE49-F238E27FC236}">
                <a16:creationId xmlns:a16="http://schemas.microsoft.com/office/drawing/2014/main" id="{CEA7FE12-330D-4160-8BE6-769BF6A26577}"/>
              </a:ext>
            </a:extLst>
          </p:cNvPr>
          <p:cNvSpPr>
            <a:spLocks noGrp="1"/>
          </p:cNvSpPr>
          <p:nvPr/>
        </p:nvSpPr>
        <p:spPr>
          <a:xfrm>
            <a:off x="1493840" y="657225"/>
            <a:ext cx="52388" cy="42863"/>
          </a:xfrm>
          <a:prstGeom prst="rect">
            <a:avLst/>
          </a:prstGeom>
          <a:solidFill>
            <a:srgbClr val="B6DDE7"/>
          </a:solidFill>
          <a:ln w="0">
            <a:noFill/>
          </a:ln>
        </p:spPr>
      </p:sp>
      <p:sp>
        <p:nvSpPr>
          <p:cNvPr id="50468" name="F2-density-voxel">
            <a:extLst>
              <a:ext uri="{FF2B5EF4-FFF2-40B4-BE49-F238E27FC236}">
                <a16:creationId xmlns:a16="http://schemas.microsoft.com/office/drawing/2014/main" id="{BE225EBF-D266-4631-9D7E-1B21643503B4}"/>
              </a:ext>
            </a:extLst>
          </p:cNvPr>
          <p:cNvSpPr>
            <a:spLocks noGrp="1"/>
          </p:cNvSpPr>
          <p:nvPr/>
        </p:nvSpPr>
        <p:spPr>
          <a:xfrm>
            <a:off x="1546227" y="657225"/>
            <a:ext cx="52388" cy="42863"/>
          </a:xfrm>
          <a:prstGeom prst="rect">
            <a:avLst/>
          </a:prstGeom>
          <a:solidFill>
            <a:srgbClr val="CCE5EE"/>
          </a:solidFill>
          <a:ln w="0">
            <a:noFill/>
          </a:ln>
        </p:spPr>
      </p:sp>
      <p:sp>
        <p:nvSpPr>
          <p:cNvPr id="50469" name="F2-density-voxel">
            <a:extLst>
              <a:ext uri="{FF2B5EF4-FFF2-40B4-BE49-F238E27FC236}">
                <a16:creationId xmlns:a16="http://schemas.microsoft.com/office/drawing/2014/main" id="{D56EA4DF-3429-4429-A2AA-6D7C9D33B341}"/>
              </a:ext>
            </a:extLst>
          </p:cNvPr>
          <p:cNvSpPr>
            <a:spLocks noGrp="1"/>
          </p:cNvSpPr>
          <p:nvPr/>
        </p:nvSpPr>
        <p:spPr>
          <a:xfrm>
            <a:off x="1598615" y="657225"/>
            <a:ext cx="52388" cy="42863"/>
          </a:xfrm>
          <a:prstGeom prst="rect">
            <a:avLst/>
          </a:prstGeom>
          <a:solidFill>
            <a:srgbClr val="86C0D7"/>
          </a:solidFill>
          <a:ln w="0">
            <a:noFill/>
          </a:ln>
        </p:spPr>
      </p:sp>
      <p:sp>
        <p:nvSpPr>
          <p:cNvPr id="50470" name="F2-density-voxel">
            <a:extLst>
              <a:ext uri="{FF2B5EF4-FFF2-40B4-BE49-F238E27FC236}">
                <a16:creationId xmlns:a16="http://schemas.microsoft.com/office/drawing/2014/main" id="{F4CB67F8-3427-42E0-B222-3C4C5B421A28}"/>
              </a:ext>
            </a:extLst>
          </p:cNvPr>
          <p:cNvSpPr>
            <a:spLocks noGrp="1"/>
          </p:cNvSpPr>
          <p:nvPr/>
        </p:nvSpPr>
        <p:spPr>
          <a:xfrm>
            <a:off x="1441452" y="700088"/>
            <a:ext cx="52388" cy="42863"/>
          </a:xfrm>
          <a:prstGeom prst="rect">
            <a:avLst/>
          </a:prstGeom>
          <a:solidFill>
            <a:srgbClr val="B6DDE7"/>
          </a:solidFill>
          <a:ln w="0">
            <a:noFill/>
          </a:ln>
        </p:spPr>
      </p:sp>
      <p:sp>
        <p:nvSpPr>
          <p:cNvPr id="50471" name="F2-density-voxel">
            <a:extLst>
              <a:ext uri="{FF2B5EF4-FFF2-40B4-BE49-F238E27FC236}">
                <a16:creationId xmlns:a16="http://schemas.microsoft.com/office/drawing/2014/main" id="{E62F2DC6-612B-4891-B2B7-8020312C0678}"/>
              </a:ext>
            </a:extLst>
          </p:cNvPr>
          <p:cNvSpPr>
            <a:spLocks noGrp="1"/>
          </p:cNvSpPr>
          <p:nvPr/>
        </p:nvSpPr>
        <p:spPr>
          <a:xfrm>
            <a:off x="1493840" y="700088"/>
            <a:ext cx="52388" cy="42863"/>
          </a:xfrm>
          <a:prstGeom prst="rect">
            <a:avLst/>
          </a:prstGeom>
          <a:solidFill>
            <a:srgbClr val="CCE5EE"/>
          </a:solidFill>
          <a:ln w="0">
            <a:noFill/>
          </a:ln>
        </p:spPr>
      </p:sp>
      <p:sp>
        <p:nvSpPr>
          <p:cNvPr id="50472" name="F2-density-voxel">
            <a:extLst>
              <a:ext uri="{FF2B5EF4-FFF2-40B4-BE49-F238E27FC236}">
                <a16:creationId xmlns:a16="http://schemas.microsoft.com/office/drawing/2014/main" id="{3D79F01F-5243-4E3C-8AA7-EE2C8B8C7E29}"/>
              </a:ext>
            </a:extLst>
          </p:cNvPr>
          <p:cNvSpPr>
            <a:spLocks noGrp="1"/>
          </p:cNvSpPr>
          <p:nvPr/>
        </p:nvSpPr>
        <p:spPr>
          <a:xfrm>
            <a:off x="1546227" y="700088"/>
            <a:ext cx="52388" cy="42863"/>
          </a:xfrm>
          <a:prstGeom prst="rect">
            <a:avLst/>
          </a:prstGeom>
          <a:solidFill>
            <a:srgbClr val="86C0D7"/>
          </a:solidFill>
          <a:ln w="0">
            <a:noFill/>
          </a:ln>
        </p:spPr>
      </p:sp>
      <p:sp>
        <p:nvSpPr>
          <p:cNvPr id="50473" name="F2-density-voxel">
            <a:extLst>
              <a:ext uri="{FF2B5EF4-FFF2-40B4-BE49-F238E27FC236}">
                <a16:creationId xmlns:a16="http://schemas.microsoft.com/office/drawing/2014/main" id="{7F5BC88D-76D1-4A24-B998-8BD41F9AADDB}"/>
              </a:ext>
            </a:extLst>
          </p:cNvPr>
          <p:cNvSpPr>
            <a:spLocks noGrp="1"/>
          </p:cNvSpPr>
          <p:nvPr/>
        </p:nvSpPr>
        <p:spPr>
          <a:xfrm>
            <a:off x="1598615" y="700088"/>
            <a:ext cx="52388" cy="42863"/>
          </a:xfrm>
          <a:prstGeom prst="rect">
            <a:avLst/>
          </a:prstGeom>
          <a:solidFill>
            <a:srgbClr val="4D9ABB"/>
          </a:solidFill>
          <a:ln w="0">
            <a:noFill/>
          </a:ln>
        </p:spPr>
      </p:sp>
      <p:sp>
        <p:nvSpPr>
          <p:cNvPr id="50474" name="F2-spatial-transform">
            <a:extLst>
              <a:ext uri="{FF2B5EF4-FFF2-40B4-BE49-F238E27FC236}">
                <a16:creationId xmlns:a16="http://schemas.microsoft.com/office/drawing/2014/main" id="{A85283F8-9FE2-48A1-8429-5356F2D370E2}"/>
              </a:ext>
            </a:extLst>
          </p:cNvPr>
          <p:cNvSpPr>
            <a:spLocks noGrp="1"/>
          </p:cNvSpPr>
          <p:nvPr/>
        </p:nvSpPr>
        <p:spPr>
          <a:xfrm>
            <a:off x="1011739" y="549713"/>
            <a:ext cx="376238" cy="180975"/>
          </a:xfrm>
          <a:prstGeom prst="rect">
            <a:avLst/>
          </a:prstGeom>
          <a:noFill/>
          <a:ln w="0">
            <a:noFill/>
          </a:ln>
        </p:spPr>
        <p:txBody>
          <a:bodyPr wrap="none" lIns="0" tIns="0" rIns="0" bIns="0" anchor="ctr">
            <a:noAutofit/>
          </a:bodyPr>
          <a:lstStyle>
            <a:defPPr algn="ctr">
              <a:defRPr sz="540" b="0">
                <a:solidFill>
                  <a:srgbClr val="263442"/>
                </a:solidFill>
                <a:latin typeface="Arial"/>
                <a:ea typeface="Arial"/>
                <a:cs typeface="Arial"/>
              </a:defRPr>
            </a:defPPr>
            <a:lvl1pPr algn="ctr">
              <a:defRPr sz="540" b="0">
                <a:solidFill>
                  <a:srgbClr val="263442"/>
                </a:solidFill>
                <a:latin typeface="Arial"/>
                <a:ea typeface="Arial"/>
                <a:cs typeface="Arial"/>
              </a:defRPr>
            </a:lvl1pPr>
            <a:lvl2pPr algn="ctr">
              <a:defRPr sz="540" b="0">
                <a:solidFill>
                  <a:srgbClr val="263442"/>
                </a:solidFill>
                <a:latin typeface="Arial"/>
                <a:ea typeface="Arial"/>
                <a:cs typeface="Arial"/>
              </a:defRPr>
            </a:lvl2pPr>
            <a:lvl3pPr algn="ctr">
              <a:defRPr sz="540" b="0">
                <a:solidFill>
                  <a:srgbClr val="263442"/>
                </a:solidFill>
                <a:latin typeface="Arial"/>
                <a:ea typeface="Arial"/>
                <a:cs typeface="Arial"/>
              </a:defRPr>
            </a:lvl3pPr>
            <a:lvl4pPr algn="ctr">
              <a:defRPr sz="540" b="0">
                <a:solidFill>
                  <a:srgbClr val="263442"/>
                </a:solidFill>
                <a:latin typeface="Arial"/>
                <a:ea typeface="Arial"/>
                <a:cs typeface="Arial"/>
              </a:defRPr>
            </a:lvl4pPr>
            <a:lvl5pPr algn="ctr">
              <a:defRPr sz="540" b="0">
                <a:solidFill>
                  <a:srgbClr val="263442"/>
                </a:solidFill>
                <a:latin typeface="Arial"/>
                <a:ea typeface="Arial"/>
                <a:cs typeface="Arial"/>
              </a:defRPr>
            </a:lvl5pPr>
            <a:lvl6pPr algn="ctr">
              <a:defRPr sz="540" b="0">
                <a:solidFill>
                  <a:srgbClr val="263442"/>
                </a:solidFill>
                <a:latin typeface="Arial"/>
                <a:ea typeface="Arial"/>
                <a:cs typeface="Arial"/>
              </a:defRPr>
            </a:lvl6pPr>
            <a:lvl7pPr algn="ctr">
              <a:defRPr sz="540" b="0">
                <a:solidFill>
                  <a:srgbClr val="263442"/>
                </a:solidFill>
                <a:latin typeface="Arial"/>
                <a:ea typeface="Arial"/>
                <a:cs typeface="Arial"/>
              </a:defRPr>
            </a:lvl7pPr>
            <a:lvl8pPr algn="ctr">
              <a:defRPr sz="540" b="0">
                <a:solidFill>
                  <a:srgbClr val="263442"/>
                </a:solidFill>
                <a:latin typeface="Arial"/>
                <a:ea typeface="Arial"/>
                <a:cs typeface="Arial"/>
              </a:defRPr>
            </a:lvl8pPr>
            <a:lvl9pPr algn="ctr">
              <a:defRPr sz="540" b="0">
                <a:solidFill>
                  <a:srgbClr val="263442"/>
                </a:solidFill>
                <a:latin typeface="Arial"/>
                <a:ea typeface="Arial"/>
                <a:cs typeface="Arial"/>
              </a:defRPr>
            </a:lvl9pPr>
          </a:lstStyle>
          <a:p>
            <a:pPr algn="ctr">
              <a:defRPr sz="540" b="0">
                <a:solidFill>
                  <a:srgbClr val="263442"/>
                </a:solidFill>
                <a:latin typeface="Arial"/>
                <a:ea typeface="Arial"/>
                <a:cs typeface="Arial"/>
              </a:defRPr>
            </a:pPr>
            <a:r>
              <a:rPr sz="460" b="0" dirty="0">
                <a:solidFill>
                  <a:srgbClr val="263442"/>
                </a:solidFill>
                <a:latin typeface="Arial"/>
                <a:ea typeface="Arial"/>
                <a:cs typeface="Arial"/>
              </a:rPr>
              <a:t>Spatial</a:t>
            </a:r>
          </a:p>
          <a:p>
            <a:pPr algn="ctr">
              <a:defRPr sz="540" b="0">
                <a:solidFill>
                  <a:srgbClr val="263442"/>
                </a:solidFill>
                <a:latin typeface="Arial"/>
                <a:ea typeface="Arial"/>
                <a:cs typeface="Arial"/>
              </a:defRPr>
            </a:pPr>
            <a:r>
              <a:rPr sz="460" b="0" dirty="0">
                <a:solidFill>
                  <a:srgbClr val="263442"/>
                </a:solidFill>
                <a:latin typeface="Arial"/>
                <a:ea typeface="Arial"/>
                <a:cs typeface="Arial"/>
              </a:rPr>
              <a:t>transform</a:t>
            </a:r>
          </a:p>
        </p:txBody>
      </p:sp>
      <p:sp>
        <p:nvSpPr>
          <p:cNvPr id="50475" name="F2-atom-embeddings-input">
            <a:extLst>
              <a:ext uri="{FF2B5EF4-FFF2-40B4-BE49-F238E27FC236}">
                <a16:creationId xmlns:a16="http://schemas.microsoft.com/office/drawing/2014/main" id="{0B4B93C5-B055-4ECE-8D5F-9FD8F9F29D6A}"/>
              </a:ext>
            </a:extLst>
          </p:cNvPr>
          <p:cNvSpPr>
            <a:spLocks noGrp="1"/>
          </p:cNvSpPr>
          <p:nvPr/>
        </p:nvSpPr>
        <p:spPr>
          <a:xfrm>
            <a:off x="1040427" y="1287494"/>
            <a:ext cx="327329" cy="180975"/>
          </a:xfrm>
          <a:prstGeom prst="rect">
            <a:avLst/>
          </a:prstGeom>
          <a:noFill/>
          <a:ln w="0">
            <a:noFill/>
          </a:ln>
        </p:spPr>
        <p:txBody>
          <a:bodyPr wrap="none" lIns="0" tIns="0" rIns="0" bIns="0" anchor="ctr">
            <a:noAutofit/>
          </a:bodyPr>
          <a:lstStyle>
            <a:defPPr algn="ctr">
              <a:defRPr sz="540" b="0">
                <a:solidFill>
                  <a:srgbClr val="263442"/>
                </a:solidFill>
                <a:latin typeface="Arial"/>
                <a:ea typeface="Arial"/>
                <a:cs typeface="Arial"/>
              </a:defRPr>
            </a:defPPr>
            <a:lvl1pPr algn="ctr">
              <a:defRPr sz="540" b="0">
                <a:solidFill>
                  <a:srgbClr val="263442"/>
                </a:solidFill>
                <a:latin typeface="Arial"/>
                <a:ea typeface="Arial"/>
                <a:cs typeface="Arial"/>
              </a:defRPr>
            </a:lvl1pPr>
            <a:lvl2pPr algn="ctr">
              <a:defRPr sz="540" b="0">
                <a:solidFill>
                  <a:srgbClr val="263442"/>
                </a:solidFill>
                <a:latin typeface="Arial"/>
                <a:ea typeface="Arial"/>
                <a:cs typeface="Arial"/>
              </a:defRPr>
            </a:lvl2pPr>
            <a:lvl3pPr algn="ctr">
              <a:defRPr sz="540" b="0">
                <a:solidFill>
                  <a:srgbClr val="263442"/>
                </a:solidFill>
                <a:latin typeface="Arial"/>
                <a:ea typeface="Arial"/>
                <a:cs typeface="Arial"/>
              </a:defRPr>
            </a:lvl3pPr>
            <a:lvl4pPr algn="ctr">
              <a:defRPr sz="540" b="0">
                <a:solidFill>
                  <a:srgbClr val="263442"/>
                </a:solidFill>
                <a:latin typeface="Arial"/>
                <a:ea typeface="Arial"/>
                <a:cs typeface="Arial"/>
              </a:defRPr>
            </a:lvl4pPr>
            <a:lvl5pPr algn="ctr">
              <a:defRPr sz="540" b="0">
                <a:solidFill>
                  <a:srgbClr val="263442"/>
                </a:solidFill>
                <a:latin typeface="Arial"/>
                <a:ea typeface="Arial"/>
                <a:cs typeface="Arial"/>
              </a:defRPr>
            </a:lvl5pPr>
            <a:lvl6pPr algn="ctr">
              <a:defRPr sz="540" b="0">
                <a:solidFill>
                  <a:srgbClr val="263442"/>
                </a:solidFill>
                <a:latin typeface="Arial"/>
                <a:ea typeface="Arial"/>
                <a:cs typeface="Arial"/>
              </a:defRPr>
            </a:lvl6pPr>
            <a:lvl7pPr algn="ctr">
              <a:defRPr sz="540" b="0">
                <a:solidFill>
                  <a:srgbClr val="263442"/>
                </a:solidFill>
                <a:latin typeface="Arial"/>
                <a:ea typeface="Arial"/>
                <a:cs typeface="Arial"/>
              </a:defRPr>
            </a:lvl7pPr>
            <a:lvl8pPr algn="ctr">
              <a:defRPr sz="540" b="0">
                <a:solidFill>
                  <a:srgbClr val="263442"/>
                </a:solidFill>
                <a:latin typeface="Arial"/>
                <a:ea typeface="Arial"/>
                <a:cs typeface="Arial"/>
              </a:defRPr>
            </a:lvl8pPr>
            <a:lvl9pPr algn="ctr">
              <a:defRPr sz="540" b="0">
                <a:solidFill>
                  <a:srgbClr val="263442"/>
                </a:solidFill>
                <a:latin typeface="Arial"/>
                <a:ea typeface="Arial"/>
                <a:cs typeface="Arial"/>
              </a:defRPr>
            </a:lvl9pPr>
          </a:lstStyle>
          <a:p>
            <a:pPr algn="ctr">
              <a:defRPr sz="540" b="0">
                <a:solidFill>
                  <a:srgbClr val="263442"/>
                </a:solidFill>
                <a:latin typeface="Arial"/>
                <a:ea typeface="Arial"/>
                <a:cs typeface="Arial"/>
              </a:defRPr>
            </a:pPr>
            <a:r>
              <a:rPr lang="en-US" sz="460" b="0" dirty="0">
                <a:solidFill>
                  <a:srgbClr val="263442"/>
                </a:solidFill>
                <a:latin typeface="Arial"/>
                <a:ea typeface="Arial"/>
                <a:cs typeface="Arial"/>
              </a:rPr>
              <a:t>E</a:t>
            </a:r>
            <a:r>
              <a:rPr sz="460" b="0" dirty="0">
                <a:solidFill>
                  <a:srgbClr val="263442"/>
                </a:solidFill>
                <a:latin typeface="Arial"/>
                <a:ea typeface="Arial"/>
                <a:cs typeface="Arial"/>
              </a:rPr>
              <a:t>mbedding</a:t>
            </a:r>
            <a:endParaRPr lang="en-US" sz="460" b="0" dirty="0">
              <a:solidFill>
                <a:srgbClr val="263442"/>
              </a:solidFill>
              <a:latin typeface="Arial"/>
              <a:ea typeface="Arial"/>
              <a:cs typeface="Arial"/>
            </a:endParaRPr>
          </a:p>
          <a:p>
            <a:pPr algn="ctr">
              <a:defRPr sz="540" b="0">
                <a:solidFill>
                  <a:srgbClr val="263442"/>
                </a:solidFill>
                <a:latin typeface="Arial"/>
                <a:ea typeface="Arial"/>
                <a:cs typeface="Arial"/>
              </a:defRPr>
            </a:pPr>
            <a:r>
              <a:rPr lang="en-US" altLang="zh-CN" sz="460" b="0" dirty="0">
                <a:solidFill>
                  <a:srgbClr val="263442"/>
                </a:solidFill>
                <a:latin typeface="Arial"/>
                <a:ea typeface="Arial"/>
                <a:cs typeface="Arial"/>
              </a:rPr>
              <a:t>head</a:t>
            </a:r>
            <a:endParaRPr sz="460" b="0" dirty="0">
              <a:solidFill>
                <a:srgbClr val="263442"/>
              </a:solidFill>
              <a:latin typeface="Arial"/>
              <a:ea typeface="Arial"/>
              <a:cs typeface="Arial"/>
            </a:endParaRPr>
          </a:p>
        </p:txBody>
      </p:sp>
      <p:pic>
        <p:nvPicPr>
          <p:cNvPr id="50482" name="图片 50481">
            <a:extLst>
              <a:ext uri="{FF2B5EF4-FFF2-40B4-BE49-F238E27FC236}">
                <a16:creationId xmlns:a16="http://schemas.microsoft.com/office/drawing/2014/main" id="{CC697937-E8CE-4EDF-BB17-1FEA96E39283}"/>
              </a:ext>
            </a:extLst>
          </p:cNvPr>
          <p:cNvPicPr>
            <a:picLocks noChangeAspect="1"/>
          </p:cNvPicPr>
          <p:nvPr/>
        </p:nvPicPr>
        <p:blipFill>
          <a:blip r:embed="rId8"/>
          <a:stretch/>
        </p:blipFill>
        <p:spPr>
          <a:xfrm>
            <a:off x="683208" y="2943948"/>
            <a:ext cx="414760" cy="342900"/>
          </a:xfrm>
          <a:prstGeom prst="rect">
            <a:avLst/>
          </a:prstGeom>
        </p:spPr>
      </p:pic>
      <p:pic>
        <p:nvPicPr>
          <p:cNvPr id="50483" name="图片 50482">
            <a:extLst>
              <a:ext uri="{FF2B5EF4-FFF2-40B4-BE49-F238E27FC236}">
                <a16:creationId xmlns:a16="http://schemas.microsoft.com/office/drawing/2014/main" id="{438EEB95-3CA6-4E7A-A194-3246AD95375E}"/>
              </a:ext>
            </a:extLst>
          </p:cNvPr>
          <p:cNvPicPr>
            <a:picLocks noChangeAspect="1"/>
          </p:cNvPicPr>
          <p:nvPr/>
        </p:nvPicPr>
        <p:blipFill>
          <a:blip r:embed="rId9"/>
          <a:stretch/>
        </p:blipFill>
        <p:spPr>
          <a:xfrm>
            <a:off x="5631445" y="485775"/>
            <a:ext cx="414760" cy="342900"/>
          </a:xfrm>
          <a:prstGeom prst="rect">
            <a:avLst/>
          </a:prstGeom>
        </p:spPr>
      </p:pic>
      <p:sp>
        <p:nvSpPr>
          <p:cNvPr id="50484" name="F2-Build-selected">
            <a:extLst>
              <a:ext uri="{FF2B5EF4-FFF2-40B4-BE49-F238E27FC236}">
                <a16:creationId xmlns:a16="http://schemas.microsoft.com/office/drawing/2014/main" id="{DE962B78-B7D5-48B9-87F8-2B7091442BBC}"/>
              </a:ext>
            </a:extLst>
          </p:cNvPr>
          <p:cNvSpPr>
            <a:spLocks noGrp="1"/>
          </p:cNvSpPr>
          <p:nvPr/>
        </p:nvSpPr>
        <p:spPr>
          <a:xfrm>
            <a:off x="5054601" y="1283549"/>
            <a:ext cx="390525" cy="81915"/>
          </a:xfrm>
          <a:prstGeom prst="roundRect">
            <a:avLst>
              <a:gd name="adj" fmla="val 50000"/>
            </a:avLst>
          </a:prstGeom>
          <a:solidFill>
            <a:srgbClr val="DCF8EB"/>
          </a:solidFill>
          <a:ln w="7144">
            <a:solidFill>
              <a:srgbClr val="499D86"/>
            </a:solidFill>
          </a:ln>
        </p:spPr>
      </p:sp>
      <p:sp>
        <p:nvSpPr>
          <p:cNvPr id="50485" name="F2-Build-SMILES-0">
            <a:extLst>
              <a:ext uri="{FF2B5EF4-FFF2-40B4-BE49-F238E27FC236}">
                <a16:creationId xmlns:a16="http://schemas.microsoft.com/office/drawing/2014/main" id="{78E3ED61-275F-4084-A0ED-58027336CEDD}"/>
              </a:ext>
            </a:extLst>
          </p:cNvPr>
          <p:cNvSpPr>
            <a:spLocks noGrp="1"/>
          </p:cNvSpPr>
          <p:nvPr/>
        </p:nvSpPr>
        <p:spPr>
          <a:xfrm>
            <a:off x="5101503" y="1136660"/>
            <a:ext cx="361950" cy="74295"/>
          </a:xfrm>
          <a:prstGeom prst="rect">
            <a:avLst/>
          </a:prstGeom>
          <a:noFill/>
          <a:ln w="0">
            <a:noFill/>
          </a:ln>
        </p:spPr>
        <p:txBody>
          <a:bodyPr wrap="none" lIns="0" tIns="0" rIns="0" bIns="0" anchor="ctr">
            <a:noAutofit/>
          </a:bodyPr>
          <a:lstStyle>
            <a:defPPr algn="l">
              <a:defRPr sz="540" b="0">
                <a:solidFill>
                  <a:srgbClr val="263442"/>
                </a:solidFill>
                <a:latin typeface="Arial"/>
                <a:ea typeface="Arial"/>
                <a:cs typeface="Arial"/>
              </a:defRPr>
            </a:defPPr>
            <a:lvl1pPr algn="l">
              <a:defRPr sz="540" b="0">
                <a:solidFill>
                  <a:srgbClr val="263442"/>
                </a:solidFill>
                <a:latin typeface="Arial"/>
                <a:ea typeface="Arial"/>
                <a:cs typeface="Arial"/>
              </a:defRPr>
            </a:lvl1pPr>
            <a:lvl2pPr algn="l">
              <a:defRPr sz="540" b="0">
                <a:solidFill>
                  <a:srgbClr val="263442"/>
                </a:solidFill>
                <a:latin typeface="Arial"/>
                <a:ea typeface="Arial"/>
                <a:cs typeface="Arial"/>
              </a:defRPr>
            </a:lvl2pPr>
            <a:lvl3pPr algn="l">
              <a:defRPr sz="540" b="0">
                <a:solidFill>
                  <a:srgbClr val="263442"/>
                </a:solidFill>
                <a:latin typeface="Arial"/>
                <a:ea typeface="Arial"/>
                <a:cs typeface="Arial"/>
              </a:defRPr>
            </a:lvl3pPr>
            <a:lvl4pPr algn="l">
              <a:defRPr sz="540" b="0">
                <a:solidFill>
                  <a:srgbClr val="263442"/>
                </a:solidFill>
                <a:latin typeface="Arial"/>
                <a:ea typeface="Arial"/>
                <a:cs typeface="Arial"/>
              </a:defRPr>
            </a:lvl4pPr>
            <a:lvl5pPr algn="l">
              <a:defRPr sz="540" b="0">
                <a:solidFill>
                  <a:srgbClr val="263442"/>
                </a:solidFill>
                <a:latin typeface="Arial"/>
                <a:ea typeface="Arial"/>
                <a:cs typeface="Arial"/>
              </a:defRPr>
            </a:lvl5pPr>
            <a:lvl6pPr algn="l">
              <a:defRPr sz="540" b="0">
                <a:solidFill>
                  <a:srgbClr val="263442"/>
                </a:solidFill>
                <a:latin typeface="Arial"/>
                <a:ea typeface="Arial"/>
                <a:cs typeface="Arial"/>
              </a:defRPr>
            </a:lvl6pPr>
            <a:lvl7pPr algn="l">
              <a:defRPr sz="540" b="0">
                <a:solidFill>
                  <a:srgbClr val="263442"/>
                </a:solidFill>
                <a:latin typeface="Arial"/>
                <a:ea typeface="Arial"/>
                <a:cs typeface="Arial"/>
              </a:defRPr>
            </a:lvl7pPr>
            <a:lvl8pPr algn="l">
              <a:defRPr sz="540" b="0">
                <a:solidFill>
                  <a:srgbClr val="263442"/>
                </a:solidFill>
                <a:latin typeface="Arial"/>
                <a:ea typeface="Arial"/>
                <a:cs typeface="Arial"/>
              </a:defRPr>
            </a:lvl8pPr>
            <a:lvl9pPr algn="l">
              <a:defRPr sz="540" b="0">
                <a:solidFill>
                  <a:srgbClr val="263442"/>
                </a:solidFill>
                <a:latin typeface="Arial"/>
                <a:ea typeface="Arial"/>
                <a:cs typeface="Arial"/>
              </a:defRPr>
            </a:lvl9pPr>
          </a:lstStyle>
          <a:p>
            <a:pPr algn="l">
              <a:defRPr sz="540" b="0">
                <a:solidFill>
                  <a:srgbClr val="263442"/>
                </a:solidFill>
                <a:latin typeface="Arial"/>
                <a:ea typeface="Arial"/>
                <a:cs typeface="Arial"/>
              </a:defRPr>
            </a:pPr>
            <a:r>
              <a:rPr sz="480" b="0" dirty="0">
                <a:solidFill>
                  <a:srgbClr val="263442"/>
                </a:solidFill>
                <a:latin typeface="Arial"/>
                <a:ea typeface="Arial"/>
                <a:cs typeface="Arial"/>
              </a:rPr>
              <a:t>CCO</a:t>
            </a:r>
          </a:p>
        </p:txBody>
      </p:sp>
      <p:sp>
        <p:nvSpPr>
          <p:cNvPr id="50486" name="F2-Build-SMILES-7.8">
            <a:extLst>
              <a:ext uri="{FF2B5EF4-FFF2-40B4-BE49-F238E27FC236}">
                <a16:creationId xmlns:a16="http://schemas.microsoft.com/office/drawing/2014/main" id="{D4F86145-7D8F-43EC-916E-D3D9668CBA5D}"/>
              </a:ext>
            </a:extLst>
          </p:cNvPr>
          <p:cNvSpPr>
            <a:spLocks noGrp="1"/>
          </p:cNvSpPr>
          <p:nvPr/>
        </p:nvSpPr>
        <p:spPr>
          <a:xfrm>
            <a:off x="5101503" y="1199841"/>
            <a:ext cx="361950" cy="74295"/>
          </a:xfrm>
          <a:prstGeom prst="rect">
            <a:avLst/>
          </a:prstGeom>
          <a:noFill/>
          <a:ln w="0">
            <a:noFill/>
          </a:ln>
        </p:spPr>
        <p:txBody>
          <a:bodyPr wrap="none" lIns="0" tIns="0" rIns="0" bIns="0" anchor="ctr">
            <a:noAutofit/>
          </a:bodyPr>
          <a:lstStyle>
            <a:defPPr algn="l">
              <a:defRPr sz="540" b="0">
                <a:solidFill>
                  <a:srgbClr val="263442"/>
                </a:solidFill>
                <a:latin typeface="Arial"/>
                <a:ea typeface="Arial"/>
                <a:cs typeface="Arial"/>
              </a:defRPr>
            </a:defPPr>
            <a:lvl1pPr algn="l">
              <a:defRPr sz="540" b="0">
                <a:solidFill>
                  <a:srgbClr val="263442"/>
                </a:solidFill>
                <a:latin typeface="Arial"/>
                <a:ea typeface="Arial"/>
                <a:cs typeface="Arial"/>
              </a:defRPr>
            </a:lvl1pPr>
            <a:lvl2pPr algn="l">
              <a:defRPr sz="540" b="0">
                <a:solidFill>
                  <a:srgbClr val="263442"/>
                </a:solidFill>
                <a:latin typeface="Arial"/>
                <a:ea typeface="Arial"/>
                <a:cs typeface="Arial"/>
              </a:defRPr>
            </a:lvl2pPr>
            <a:lvl3pPr algn="l">
              <a:defRPr sz="540" b="0">
                <a:solidFill>
                  <a:srgbClr val="263442"/>
                </a:solidFill>
                <a:latin typeface="Arial"/>
                <a:ea typeface="Arial"/>
                <a:cs typeface="Arial"/>
              </a:defRPr>
            </a:lvl3pPr>
            <a:lvl4pPr algn="l">
              <a:defRPr sz="540" b="0">
                <a:solidFill>
                  <a:srgbClr val="263442"/>
                </a:solidFill>
                <a:latin typeface="Arial"/>
                <a:ea typeface="Arial"/>
                <a:cs typeface="Arial"/>
              </a:defRPr>
            </a:lvl4pPr>
            <a:lvl5pPr algn="l">
              <a:defRPr sz="540" b="0">
                <a:solidFill>
                  <a:srgbClr val="263442"/>
                </a:solidFill>
                <a:latin typeface="Arial"/>
                <a:ea typeface="Arial"/>
                <a:cs typeface="Arial"/>
              </a:defRPr>
            </a:lvl5pPr>
            <a:lvl6pPr algn="l">
              <a:defRPr sz="540" b="0">
                <a:solidFill>
                  <a:srgbClr val="263442"/>
                </a:solidFill>
                <a:latin typeface="Arial"/>
                <a:ea typeface="Arial"/>
                <a:cs typeface="Arial"/>
              </a:defRPr>
            </a:lvl6pPr>
            <a:lvl7pPr algn="l">
              <a:defRPr sz="540" b="0">
                <a:solidFill>
                  <a:srgbClr val="263442"/>
                </a:solidFill>
                <a:latin typeface="Arial"/>
                <a:ea typeface="Arial"/>
                <a:cs typeface="Arial"/>
              </a:defRPr>
            </a:lvl7pPr>
            <a:lvl8pPr algn="l">
              <a:defRPr sz="540" b="0">
                <a:solidFill>
                  <a:srgbClr val="263442"/>
                </a:solidFill>
                <a:latin typeface="Arial"/>
                <a:ea typeface="Arial"/>
                <a:cs typeface="Arial"/>
              </a:defRPr>
            </a:lvl8pPr>
            <a:lvl9pPr algn="l">
              <a:defRPr sz="540" b="0">
                <a:solidFill>
                  <a:srgbClr val="263442"/>
                </a:solidFill>
                <a:latin typeface="Arial"/>
                <a:ea typeface="Arial"/>
                <a:cs typeface="Arial"/>
              </a:defRPr>
            </a:lvl9pPr>
          </a:lstStyle>
          <a:p>
            <a:pPr>
              <a:defRPr sz="540" b="0">
                <a:solidFill>
                  <a:srgbClr val="263442"/>
                </a:solidFill>
                <a:latin typeface="Arial"/>
                <a:ea typeface="Arial"/>
                <a:cs typeface="Arial"/>
              </a:defRPr>
            </a:pPr>
            <a:r>
              <a:rPr sz="480" dirty="0"/>
              <a:t>CC(=O)O</a:t>
            </a:r>
          </a:p>
        </p:txBody>
      </p:sp>
      <p:sp>
        <p:nvSpPr>
          <p:cNvPr id="50487" name="F2-Build-continuation">
            <a:extLst>
              <a:ext uri="{FF2B5EF4-FFF2-40B4-BE49-F238E27FC236}">
                <a16:creationId xmlns:a16="http://schemas.microsoft.com/office/drawing/2014/main" id="{69E4AF15-4441-4953-BC21-A9A09B8807EC}"/>
              </a:ext>
            </a:extLst>
          </p:cNvPr>
          <p:cNvSpPr>
            <a:spLocks noGrp="1"/>
          </p:cNvSpPr>
          <p:nvPr/>
        </p:nvSpPr>
        <p:spPr>
          <a:xfrm>
            <a:off x="5106267" y="1268735"/>
            <a:ext cx="6668" cy="6668"/>
          </a:xfrm>
          <a:prstGeom prst="ellipse">
            <a:avLst/>
          </a:prstGeom>
          <a:solidFill>
            <a:srgbClr val="687780"/>
          </a:solidFill>
          <a:ln w="0">
            <a:noFill/>
          </a:ln>
        </p:spPr>
      </p:sp>
      <p:sp>
        <p:nvSpPr>
          <p:cNvPr id="50488" name="F2-Build-continuation">
            <a:extLst>
              <a:ext uri="{FF2B5EF4-FFF2-40B4-BE49-F238E27FC236}">
                <a16:creationId xmlns:a16="http://schemas.microsoft.com/office/drawing/2014/main" id="{A73B5841-5DC8-4503-BDE2-815DBBEFE500}"/>
              </a:ext>
            </a:extLst>
          </p:cNvPr>
          <p:cNvSpPr>
            <a:spLocks noGrp="1"/>
          </p:cNvSpPr>
          <p:nvPr/>
        </p:nvSpPr>
        <p:spPr>
          <a:xfrm>
            <a:off x="5119918" y="1268735"/>
            <a:ext cx="6668" cy="6668"/>
          </a:xfrm>
          <a:prstGeom prst="ellipse">
            <a:avLst/>
          </a:prstGeom>
          <a:solidFill>
            <a:srgbClr val="687780"/>
          </a:solidFill>
          <a:ln w="0">
            <a:noFill/>
          </a:ln>
        </p:spPr>
      </p:sp>
      <p:sp>
        <p:nvSpPr>
          <p:cNvPr id="50489" name="F2-Build-continuation">
            <a:extLst>
              <a:ext uri="{FF2B5EF4-FFF2-40B4-BE49-F238E27FC236}">
                <a16:creationId xmlns:a16="http://schemas.microsoft.com/office/drawing/2014/main" id="{2CD955D9-21C2-4AE5-9635-C9F55AC072BD}"/>
              </a:ext>
            </a:extLst>
          </p:cNvPr>
          <p:cNvSpPr>
            <a:spLocks noGrp="1"/>
          </p:cNvSpPr>
          <p:nvPr/>
        </p:nvSpPr>
        <p:spPr>
          <a:xfrm>
            <a:off x="5135157" y="1268735"/>
            <a:ext cx="6668" cy="6668"/>
          </a:xfrm>
          <a:prstGeom prst="ellipse">
            <a:avLst/>
          </a:prstGeom>
          <a:solidFill>
            <a:srgbClr val="687780"/>
          </a:solidFill>
          <a:ln w="0">
            <a:noFill/>
          </a:ln>
        </p:spPr>
      </p:sp>
      <p:sp>
        <p:nvSpPr>
          <p:cNvPr id="50490" name="F2-Build-SMILES-19.8">
            <a:extLst>
              <a:ext uri="{FF2B5EF4-FFF2-40B4-BE49-F238E27FC236}">
                <a16:creationId xmlns:a16="http://schemas.microsoft.com/office/drawing/2014/main" id="{F825F396-DC00-4D1F-95F0-5208E2576D2C}"/>
              </a:ext>
            </a:extLst>
          </p:cNvPr>
          <p:cNvSpPr>
            <a:spLocks noGrp="1"/>
          </p:cNvSpPr>
          <p:nvPr/>
        </p:nvSpPr>
        <p:spPr>
          <a:xfrm>
            <a:off x="5101503" y="1285559"/>
            <a:ext cx="361950" cy="74295"/>
          </a:xfrm>
          <a:prstGeom prst="rect">
            <a:avLst/>
          </a:prstGeom>
          <a:noFill/>
          <a:ln w="0">
            <a:noFill/>
          </a:ln>
        </p:spPr>
        <p:txBody>
          <a:bodyPr wrap="none" lIns="0" tIns="0" rIns="0" bIns="0" anchor="ctr">
            <a:noAutofit/>
          </a:bodyPr>
          <a:lstStyle>
            <a:defPPr algn="l">
              <a:defRPr sz="540" b="0">
                <a:solidFill>
                  <a:srgbClr val="24634E"/>
                </a:solidFill>
                <a:latin typeface="Arial"/>
                <a:ea typeface="Arial"/>
                <a:cs typeface="Arial"/>
              </a:defRPr>
            </a:defPPr>
            <a:lvl1pPr algn="l">
              <a:defRPr sz="540" b="0">
                <a:solidFill>
                  <a:srgbClr val="24634E"/>
                </a:solidFill>
                <a:latin typeface="Arial"/>
                <a:ea typeface="Arial"/>
                <a:cs typeface="Arial"/>
              </a:defRPr>
            </a:lvl1pPr>
            <a:lvl2pPr algn="l">
              <a:defRPr sz="540" b="0">
                <a:solidFill>
                  <a:srgbClr val="24634E"/>
                </a:solidFill>
                <a:latin typeface="Arial"/>
                <a:ea typeface="Arial"/>
                <a:cs typeface="Arial"/>
              </a:defRPr>
            </a:lvl2pPr>
            <a:lvl3pPr algn="l">
              <a:defRPr sz="540" b="0">
                <a:solidFill>
                  <a:srgbClr val="24634E"/>
                </a:solidFill>
                <a:latin typeface="Arial"/>
                <a:ea typeface="Arial"/>
                <a:cs typeface="Arial"/>
              </a:defRPr>
            </a:lvl3pPr>
            <a:lvl4pPr algn="l">
              <a:defRPr sz="540" b="0">
                <a:solidFill>
                  <a:srgbClr val="24634E"/>
                </a:solidFill>
                <a:latin typeface="Arial"/>
                <a:ea typeface="Arial"/>
                <a:cs typeface="Arial"/>
              </a:defRPr>
            </a:lvl4pPr>
            <a:lvl5pPr algn="l">
              <a:defRPr sz="540" b="0">
                <a:solidFill>
                  <a:srgbClr val="24634E"/>
                </a:solidFill>
                <a:latin typeface="Arial"/>
                <a:ea typeface="Arial"/>
                <a:cs typeface="Arial"/>
              </a:defRPr>
            </a:lvl5pPr>
            <a:lvl6pPr algn="l">
              <a:defRPr sz="540" b="0">
                <a:solidFill>
                  <a:srgbClr val="24634E"/>
                </a:solidFill>
                <a:latin typeface="Arial"/>
                <a:ea typeface="Arial"/>
                <a:cs typeface="Arial"/>
              </a:defRPr>
            </a:lvl6pPr>
            <a:lvl7pPr algn="l">
              <a:defRPr sz="540" b="0">
                <a:solidFill>
                  <a:srgbClr val="24634E"/>
                </a:solidFill>
                <a:latin typeface="Arial"/>
                <a:ea typeface="Arial"/>
                <a:cs typeface="Arial"/>
              </a:defRPr>
            </a:lvl7pPr>
            <a:lvl8pPr algn="l">
              <a:defRPr sz="540" b="0">
                <a:solidFill>
                  <a:srgbClr val="24634E"/>
                </a:solidFill>
                <a:latin typeface="Arial"/>
                <a:ea typeface="Arial"/>
                <a:cs typeface="Arial"/>
              </a:defRPr>
            </a:lvl8pPr>
            <a:lvl9pPr algn="l">
              <a:defRPr sz="540" b="0">
                <a:solidFill>
                  <a:srgbClr val="24634E"/>
                </a:solidFill>
                <a:latin typeface="Arial"/>
                <a:ea typeface="Arial"/>
                <a:cs typeface="Arial"/>
              </a:defRPr>
            </a:lvl9pPr>
          </a:lstStyle>
          <a:p>
            <a:pPr>
              <a:defRPr sz="540" b="0">
                <a:solidFill>
                  <a:srgbClr val="263442"/>
                </a:solidFill>
                <a:latin typeface="Arial"/>
                <a:ea typeface="Arial"/>
                <a:cs typeface="Arial"/>
              </a:defRPr>
            </a:pPr>
            <a:r>
              <a:rPr sz="480" dirty="0">
                <a:solidFill>
                  <a:srgbClr val="263442"/>
                </a:solidFill>
              </a:rPr>
              <a:t>Cc1ccccc1</a:t>
            </a:r>
          </a:p>
        </p:txBody>
      </p:sp>
      <p:sp>
        <p:nvSpPr>
          <p:cNvPr id="50491" name="F2-Build-SMILES-27.599999999999998">
            <a:extLst>
              <a:ext uri="{FF2B5EF4-FFF2-40B4-BE49-F238E27FC236}">
                <a16:creationId xmlns:a16="http://schemas.microsoft.com/office/drawing/2014/main" id="{42E599AD-9784-4B26-ADAB-718990C44186}"/>
              </a:ext>
            </a:extLst>
          </p:cNvPr>
          <p:cNvSpPr>
            <a:spLocks noGrp="1"/>
          </p:cNvSpPr>
          <p:nvPr/>
        </p:nvSpPr>
        <p:spPr>
          <a:xfrm>
            <a:off x="5101503" y="1359854"/>
            <a:ext cx="361950" cy="74295"/>
          </a:xfrm>
          <a:prstGeom prst="rect">
            <a:avLst/>
          </a:prstGeom>
          <a:noFill/>
          <a:ln w="0">
            <a:noFill/>
          </a:ln>
        </p:spPr>
        <p:txBody>
          <a:bodyPr wrap="none" lIns="0" tIns="0" rIns="0" bIns="0" anchor="ctr">
            <a:noAutofit/>
          </a:bodyPr>
          <a:lstStyle>
            <a:defPPr algn="l">
              <a:defRPr sz="540" b="0">
                <a:solidFill>
                  <a:srgbClr val="263442"/>
                </a:solidFill>
                <a:latin typeface="Arial"/>
                <a:ea typeface="Arial"/>
                <a:cs typeface="Arial"/>
              </a:defRPr>
            </a:defPPr>
            <a:lvl1pPr algn="l">
              <a:defRPr sz="540" b="0">
                <a:solidFill>
                  <a:srgbClr val="263442"/>
                </a:solidFill>
                <a:latin typeface="Arial"/>
                <a:ea typeface="Arial"/>
                <a:cs typeface="Arial"/>
              </a:defRPr>
            </a:lvl1pPr>
            <a:lvl2pPr algn="l">
              <a:defRPr sz="540" b="0">
                <a:solidFill>
                  <a:srgbClr val="263442"/>
                </a:solidFill>
                <a:latin typeface="Arial"/>
                <a:ea typeface="Arial"/>
                <a:cs typeface="Arial"/>
              </a:defRPr>
            </a:lvl2pPr>
            <a:lvl3pPr algn="l">
              <a:defRPr sz="540" b="0">
                <a:solidFill>
                  <a:srgbClr val="263442"/>
                </a:solidFill>
                <a:latin typeface="Arial"/>
                <a:ea typeface="Arial"/>
                <a:cs typeface="Arial"/>
              </a:defRPr>
            </a:lvl3pPr>
            <a:lvl4pPr algn="l">
              <a:defRPr sz="540" b="0">
                <a:solidFill>
                  <a:srgbClr val="263442"/>
                </a:solidFill>
                <a:latin typeface="Arial"/>
                <a:ea typeface="Arial"/>
                <a:cs typeface="Arial"/>
              </a:defRPr>
            </a:lvl4pPr>
            <a:lvl5pPr algn="l">
              <a:defRPr sz="540" b="0">
                <a:solidFill>
                  <a:srgbClr val="263442"/>
                </a:solidFill>
                <a:latin typeface="Arial"/>
                <a:ea typeface="Arial"/>
                <a:cs typeface="Arial"/>
              </a:defRPr>
            </a:lvl5pPr>
            <a:lvl6pPr algn="l">
              <a:defRPr sz="540" b="0">
                <a:solidFill>
                  <a:srgbClr val="263442"/>
                </a:solidFill>
                <a:latin typeface="Arial"/>
                <a:ea typeface="Arial"/>
                <a:cs typeface="Arial"/>
              </a:defRPr>
            </a:lvl6pPr>
            <a:lvl7pPr algn="l">
              <a:defRPr sz="540" b="0">
                <a:solidFill>
                  <a:srgbClr val="263442"/>
                </a:solidFill>
                <a:latin typeface="Arial"/>
                <a:ea typeface="Arial"/>
                <a:cs typeface="Arial"/>
              </a:defRPr>
            </a:lvl7pPr>
            <a:lvl8pPr algn="l">
              <a:defRPr sz="540" b="0">
                <a:solidFill>
                  <a:srgbClr val="263442"/>
                </a:solidFill>
                <a:latin typeface="Arial"/>
                <a:ea typeface="Arial"/>
                <a:cs typeface="Arial"/>
              </a:defRPr>
            </a:lvl8pPr>
            <a:lvl9pPr algn="l">
              <a:defRPr sz="540" b="0">
                <a:solidFill>
                  <a:srgbClr val="263442"/>
                </a:solidFill>
                <a:latin typeface="Arial"/>
                <a:ea typeface="Arial"/>
                <a:cs typeface="Arial"/>
              </a:defRPr>
            </a:lvl9pPr>
          </a:lstStyle>
          <a:p>
            <a:pPr>
              <a:defRPr sz="540" b="0">
                <a:solidFill>
                  <a:srgbClr val="263442"/>
                </a:solidFill>
                <a:latin typeface="Arial"/>
                <a:ea typeface="Arial"/>
                <a:cs typeface="Arial"/>
              </a:defRPr>
            </a:pPr>
            <a:r>
              <a:rPr sz="480" dirty="0"/>
              <a:t>CC(N)=O</a:t>
            </a:r>
          </a:p>
        </p:txBody>
      </p:sp>
      <p:pic>
        <p:nvPicPr>
          <p:cNvPr id="50492" name="图片 50491">
            <a:extLst>
              <a:ext uri="{FF2B5EF4-FFF2-40B4-BE49-F238E27FC236}">
                <a16:creationId xmlns:a16="http://schemas.microsoft.com/office/drawing/2014/main" id="{788E8304-A748-4BB4-8B4F-8A9E612C0891}"/>
              </a:ext>
            </a:extLst>
          </p:cNvPr>
          <p:cNvPicPr>
            <a:picLocks noChangeAspect="1"/>
          </p:cNvPicPr>
          <p:nvPr/>
        </p:nvPicPr>
        <p:blipFill>
          <a:blip r:embed="rId10"/>
          <a:stretch/>
        </p:blipFill>
        <p:spPr>
          <a:xfrm>
            <a:off x="5149836" y="3476625"/>
            <a:ext cx="806478" cy="666750"/>
          </a:xfrm>
          <a:prstGeom prst="rect">
            <a:avLst/>
          </a:prstGeom>
        </p:spPr>
      </p:pic>
      <p:grpSp>
        <p:nvGrpSpPr>
          <p:cNvPr id="50493" name="Find preview 15"/>
          <p:cNvGrpSpPr/>
          <p:nvPr/>
        </p:nvGrpSpPr>
        <p:grpSpPr>
          <a:xfrm>
            <a:off x="612533" y="471488"/>
            <a:ext cx="404812" cy="395288"/>
            <a:chOff x="511635" y="471488"/>
            <a:chExt cx="404812" cy="395288"/>
          </a:xfrm>
        </p:grpSpPr>
        <p:pic>
          <p:nvPicPr>
            <p:cNvPr id="15" name="Find corresponding experimental density" descr="Experimental 9LLG density around chain C1 of the displayed CryoAtom2 receptor, at the original contour level and the identical camera orientation.">
              <a:extLst>
                <a:ext uri="{FF2B5EF4-FFF2-40B4-BE49-F238E27FC236}">
                  <a16:creationId xmlns:a16="http://schemas.microsoft.com/office/drawing/2014/main" id="{8CF1199C-6488-C5B6-B489-1131732B4FBF}"/>
                </a:ext>
              </a:extLst>
            </p:cNvPr>
            <p:cNvPicPr/>
            <p:nvPr/>
          </p:nvPicPr>
          <p:blipFill>
            <a:blip r:embed="rId4"/>
            <a:stretch>
              <a:fillRect/>
            </a:stretch>
          </p:blipFill>
          <p:spPr>
            <a:xfrm>
              <a:off x="511635" y="475859"/>
              <a:ext cx="404812" cy="386544"/>
            </a:xfrm>
            <a:prstGeom prst="rect">
              <a:avLst/>
            </a:prstGeom>
          </p:spPr>
        </p:pic>
        <p:sp>
          <p:nvSpPr>
            <p:cNvPr id="50476" name="crop-cube">
              <a:extLst>
                <a:ext uri="{FF2B5EF4-FFF2-40B4-BE49-F238E27FC236}">
                  <a16:creationId xmlns:a16="http://schemas.microsoft.com/office/drawing/2014/main" id="{25839399-079E-4307-9725-E085483F7FD6}"/>
                </a:ext>
              </a:extLst>
            </p:cNvPr>
            <p:cNvSpPr>
              <a:spLocks noGrp="1"/>
            </p:cNvSpPr>
            <p:nvPr/>
          </p:nvSpPr>
          <p:spPr>
            <a:xfrm>
              <a:off x="700088" y="626745"/>
              <a:ext cx="119063" cy="119063"/>
            </a:xfrm>
            <a:custGeom>
              <a:avLst/>
              <a:gdLst/>
              <a:ahLst/>
              <a:cxnLst/>
              <a:rect l="0" t="0" r="0" b="0"/>
              <a:pathLst>
                <a:path w="119063" h="119063">
                  <a:moveTo>
                    <a:pt x="0" y="30956"/>
                  </a:moveTo>
                  <a:lnTo>
                    <a:pt x="88106" y="30956"/>
                  </a:lnTo>
                  <a:lnTo>
                    <a:pt x="88106" y="119063"/>
                  </a:lnTo>
                  <a:lnTo>
                    <a:pt x="0" y="119063"/>
                  </a:lnTo>
                  <a:lnTo>
                    <a:pt x="0" y="30956"/>
                  </a:lnTo>
                  <a:lnTo>
                    <a:pt x="30956" y="0"/>
                  </a:lnTo>
                  <a:lnTo>
                    <a:pt x="119063" y="0"/>
                  </a:lnTo>
                  <a:lnTo>
                    <a:pt x="119063" y="88106"/>
                  </a:lnTo>
                  <a:lnTo>
                    <a:pt x="88106" y="119063"/>
                  </a:lnTo>
                </a:path>
              </a:pathLst>
            </a:custGeom>
            <a:noFill/>
            <a:ln w="8573">
              <a:solidFill>
                <a:srgbClr val="263442"/>
              </a:solidFill>
            </a:ln>
          </p:spPr>
        </p:sp>
        <p:sp>
          <p:nvSpPr>
            <p:cNvPr id="50477" name="crop-cube">
              <a:extLst>
                <a:ext uri="{FF2B5EF4-FFF2-40B4-BE49-F238E27FC236}">
                  <a16:creationId xmlns:a16="http://schemas.microsoft.com/office/drawing/2014/main" id="{07D86F79-577D-4116-BDEA-F38D19D792BA}"/>
                </a:ext>
              </a:extLst>
            </p:cNvPr>
            <p:cNvSpPr>
              <a:spLocks noGrp="1"/>
            </p:cNvSpPr>
            <p:nvPr/>
          </p:nvSpPr>
          <p:spPr>
            <a:xfrm>
              <a:off x="788194" y="626745"/>
              <a:ext cx="30956" cy="30956"/>
            </a:xfrm>
            <a:custGeom>
              <a:avLst/>
              <a:gdLst/>
              <a:ahLst/>
              <a:cxnLst/>
              <a:rect l="0" t="0" r="0" b="0"/>
              <a:pathLst>
                <a:path w="30956" h="30956">
                  <a:moveTo>
                    <a:pt x="0" y="30956"/>
                  </a:moveTo>
                  <a:lnTo>
                    <a:pt x="30956" y="0"/>
                  </a:lnTo>
                </a:path>
              </a:pathLst>
            </a:custGeom>
            <a:noFill/>
            <a:ln w="8573">
              <a:solidFill>
                <a:srgbClr val="263442"/>
              </a:solidFill>
            </a:ln>
          </p:spPr>
        </p:sp>
        <p:sp>
          <p:nvSpPr>
            <p:cNvPr id="50478" name="F2-density-crop-size">
              <a:extLst>
                <a:ext uri="{FF2B5EF4-FFF2-40B4-BE49-F238E27FC236}">
                  <a16:creationId xmlns:a16="http://schemas.microsoft.com/office/drawing/2014/main" id="{9B6ECDDF-4CA0-44BE-83B1-7FF800ECF209}"/>
                </a:ext>
              </a:extLst>
            </p:cNvPr>
            <p:cNvSpPr>
              <a:spLocks noGrp="1"/>
            </p:cNvSpPr>
            <p:nvPr/>
          </p:nvSpPr>
          <p:spPr>
            <a:xfrm>
              <a:off x="640556" y="766763"/>
              <a:ext cx="238125" cy="95250"/>
            </a:xfrm>
            <a:prstGeom prst="rect">
              <a:avLst/>
            </a:prstGeom>
            <a:noFill/>
            <a:ln w="0">
              <a:noFill/>
            </a:ln>
          </p:spPr>
          <p:txBody>
            <a:bodyPr wrap="none" lIns="0" tIns="0" rIns="0" bIns="0" anchor="ctr">
              <a:noAutofit/>
            </a:bodyPr>
            <a:lstStyle>
              <a:defPPr algn="ctr">
                <a:defRPr sz="600" b="1">
                  <a:solidFill>
                    <a:srgbClr val="263442"/>
                  </a:solidFill>
                  <a:latin typeface="Arial"/>
                  <a:ea typeface="Arial"/>
                  <a:cs typeface="Arial"/>
                </a:defRPr>
              </a:defPPr>
              <a:lvl1pPr algn="ctr">
                <a:defRPr sz="600" b="1">
                  <a:solidFill>
                    <a:srgbClr val="263442"/>
                  </a:solidFill>
                  <a:latin typeface="Arial"/>
                  <a:ea typeface="Arial"/>
                  <a:cs typeface="Arial"/>
                </a:defRPr>
              </a:lvl1pPr>
              <a:lvl2pPr algn="ctr">
                <a:defRPr sz="600" b="1">
                  <a:solidFill>
                    <a:srgbClr val="263442"/>
                  </a:solidFill>
                  <a:latin typeface="Arial"/>
                  <a:ea typeface="Arial"/>
                  <a:cs typeface="Arial"/>
                </a:defRPr>
              </a:lvl2pPr>
              <a:lvl3pPr algn="ctr">
                <a:defRPr sz="600" b="1">
                  <a:solidFill>
                    <a:srgbClr val="263442"/>
                  </a:solidFill>
                  <a:latin typeface="Arial"/>
                  <a:ea typeface="Arial"/>
                  <a:cs typeface="Arial"/>
                </a:defRPr>
              </a:lvl3pPr>
              <a:lvl4pPr algn="ctr">
                <a:defRPr sz="600" b="1">
                  <a:solidFill>
                    <a:srgbClr val="263442"/>
                  </a:solidFill>
                  <a:latin typeface="Arial"/>
                  <a:ea typeface="Arial"/>
                  <a:cs typeface="Arial"/>
                </a:defRPr>
              </a:lvl4pPr>
              <a:lvl5pPr algn="ctr">
                <a:defRPr sz="600" b="1">
                  <a:solidFill>
                    <a:srgbClr val="263442"/>
                  </a:solidFill>
                  <a:latin typeface="Arial"/>
                  <a:ea typeface="Arial"/>
                  <a:cs typeface="Arial"/>
                </a:defRPr>
              </a:lvl5pPr>
              <a:lvl6pPr algn="ctr">
                <a:defRPr sz="600" b="1">
                  <a:solidFill>
                    <a:srgbClr val="263442"/>
                  </a:solidFill>
                  <a:latin typeface="Arial"/>
                  <a:ea typeface="Arial"/>
                  <a:cs typeface="Arial"/>
                </a:defRPr>
              </a:lvl6pPr>
              <a:lvl7pPr algn="ctr">
                <a:defRPr sz="600" b="1">
                  <a:solidFill>
                    <a:srgbClr val="263442"/>
                  </a:solidFill>
                  <a:latin typeface="Arial"/>
                  <a:ea typeface="Arial"/>
                  <a:cs typeface="Arial"/>
                </a:defRPr>
              </a:lvl7pPr>
              <a:lvl8pPr algn="ctr">
                <a:defRPr sz="600" b="1">
                  <a:solidFill>
                    <a:srgbClr val="263442"/>
                  </a:solidFill>
                  <a:latin typeface="Arial"/>
                  <a:ea typeface="Arial"/>
                  <a:cs typeface="Arial"/>
                </a:defRPr>
              </a:lvl8pPr>
              <a:lvl9pPr algn="ctr">
                <a:defRPr sz="600" b="1">
                  <a:solidFill>
                    <a:srgbClr val="263442"/>
                  </a:solidFill>
                  <a:latin typeface="Arial"/>
                  <a:ea typeface="Arial"/>
                  <a:cs typeface="Arial"/>
                </a:defRPr>
              </a:lvl9pPr>
            </a:lstStyle>
            <a:p>
              <a:pPr algn="ctr">
                <a:defRPr sz="600" b="1">
                  <a:solidFill>
                    <a:srgbClr val="263442"/>
                  </a:solidFill>
                  <a:latin typeface="Arial"/>
                  <a:ea typeface="Arial"/>
                  <a:cs typeface="Arial"/>
                </a:defRPr>
              </a:pPr>
              <a:r>
                <a:rPr sz="600" b="1">
                  <a:solidFill>
                    <a:srgbClr val="263442"/>
                  </a:solidFill>
                  <a:latin typeface="Arial"/>
                  <a:ea typeface="Arial"/>
                  <a:cs typeface="Arial"/>
                </a:rPr>
                <a:t>80³</a:t>
              </a:r>
            </a:p>
          </p:txBody>
        </p:sp>
      </p:grpSp>
      <p:grpSp>
        <p:nvGrpSpPr>
          <p:cNvPr id="50494" name="Find preview 1435"/>
          <p:cNvGrpSpPr/>
          <p:nvPr/>
        </p:nvGrpSpPr>
        <p:grpSpPr>
          <a:xfrm>
            <a:off x="612533" y="1252538"/>
            <a:ext cx="404812" cy="395288"/>
            <a:chOff x="511635" y="1252538"/>
            <a:chExt cx="404812" cy="395288"/>
          </a:xfrm>
        </p:grpSpPr>
        <p:pic>
          <p:nvPicPr>
            <p:cNvPr id="1435" name="Find clear receptor" descr="Receptor cartoon rendered from unchanged local coordinates, chain C1 of the 9LLG CA2 model.">
              <a:extLst>
                <a:ext uri="{FF2B5EF4-FFF2-40B4-BE49-F238E27FC236}">
                  <a16:creationId xmlns:a16="http://schemas.microsoft.com/office/drawing/2014/main" id="{24C88AB2-5918-0F4D-EDE6-0D89FC02F100}"/>
                </a:ext>
              </a:extLst>
            </p:cNvPr>
            <p:cNvPicPr/>
            <p:nvPr/>
          </p:nvPicPr>
          <p:blipFill>
            <a:blip r:embed="rId7"/>
            <a:srcRect l="16857" t="30389" r="19786" b="22500"/>
            <a:stretch>
              <a:fillRect/>
            </a:stretch>
          </p:blipFill>
          <p:spPr>
            <a:xfrm>
              <a:off x="511635" y="1256674"/>
              <a:ext cx="404812" cy="387014"/>
            </a:xfrm>
            <a:prstGeom prst="rect">
              <a:avLst/>
            </a:prstGeom>
          </p:spPr>
        </p:pic>
        <p:sp>
          <p:nvSpPr>
            <p:cNvPr id="50479" name="crop-cube">
              <a:extLst>
                <a:ext uri="{FF2B5EF4-FFF2-40B4-BE49-F238E27FC236}">
                  <a16:creationId xmlns:a16="http://schemas.microsoft.com/office/drawing/2014/main" id="{B083B324-58BF-4271-92CE-6A3DCE5DBE53}"/>
                </a:ext>
              </a:extLst>
            </p:cNvPr>
            <p:cNvSpPr>
              <a:spLocks noGrp="1"/>
            </p:cNvSpPr>
            <p:nvPr/>
          </p:nvSpPr>
          <p:spPr>
            <a:xfrm>
              <a:off x="700088" y="1404938"/>
              <a:ext cx="119063" cy="119063"/>
            </a:xfrm>
            <a:custGeom>
              <a:avLst/>
              <a:gdLst/>
              <a:ahLst/>
              <a:cxnLst/>
              <a:rect l="0" t="0" r="0" b="0"/>
              <a:pathLst>
                <a:path w="119063" h="119063">
                  <a:moveTo>
                    <a:pt x="0" y="30956"/>
                  </a:moveTo>
                  <a:lnTo>
                    <a:pt x="88106" y="30956"/>
                  </a:lnTo>
                  <a:lnTo>
                    <a:pt x="88106" y="119063"/>
                  </a:lnTo>
                  <a:lnTo>
                    <a:pt x="0" y="119063"/>
                  </a:lnTo>
                  <a:lnTo>
                    <a:pt x="0" y="30956"/>
                  </a:lnTo>
                  <a:lnTo>
                    <a:pt x="30956" y="0"/>
                  </a:lnTo>
                  <a:lnTo>
                    <a:pt x="119063" y="0"/>
                  </a:lnTo>
                  <a:lnTo>
                    <a:pt x="119063" y="88106"/>
                  </a:lnTo>
                  <a:lnTo>
                    <a:pt x="88106" y="119063"/>
                  </a:lnTo>
                </a:path>
              </a:pathLst>
            </a:custGeom>
            <a:noFill/>
            <a:ln w="8573">
              <a:solidFill>
                <a:srgbClr val="263442"/>
              </a:solidFill>
            </a:ln>
          </p:spPr>
        </p:sp>
        <p:sp>
          <p:nvSpPr>
            <p:cNvPr id="50480" name="crop-cube">
              <a:extLst>
                <a:ext uri="{FF2B5EF4-FFF2-40B4-BE49-F238E27FC236}">
                  <a16:creationId xmlns:a16="http://schemas.microsoft.com/office/drawing/2014/main" id="{0E8C65BE-9745-4184-B8B7-6FD5E9341DBD}"/>
                </a:ext>
              </a:extLst>
            </p:cNvPr>
            <p:cNvSpPr>
              <a:spLocks noGrp="1"/>
            </p:cNvSpPr>
            <p:nvPr/>
          </p:nvSpPr>
          <p:spPr>
            <a:xfrm>
              <a:off x="788194" y="1404938"/>
              <a:ext cx="30956" cy="30956"/>
            </a:xfrm>
            <a:custGeom>
              <a:avLst/>
              <a:gdLst/>
              <a:ahLst/>
              <a:cxnLst/>
              <a:rect l="0" t="0" r="0" b="0"/>
              <a:pathLst>
                <a:path w="30956" h="30956">
                  <a:moveTo>
                    <a:pt x="0" y="30956"/>
                  </a:moveTo>
                  <a:lnTo>
                    <a:pt x="30956" y="0"/>
                  </a:lnTo>
                </a:path>
              </a:pathLst>
            </a:custGeom>
            <a:noFill/>
            <a:ln w="8573">
              <a:solidFill>
                <a:srgbClr val="263442"/>
              </a:solidFill>
            </a:ln>
          </p:spPr>
        </p:sp>
        <p:sp>
          <p:nvSpPr>
            <p:cNvPr id="50481" name="F2-receptor-crop-size">
              <a:extLst>
                <a:ext uri="{FF2B5EF4-FFF2-40B4-BE49-F238E27FC236}">
                  <a16:creationId xmlns:a16="http://schemas.microsoft.com/office/drawing/2014/main" id="{11CB5595-3267-408D-9A25-39E3920D0458}"/>
                </a:ext>
              </a:extLst>
            </p:cNvPr>
            <p:cNvSpPr>
              <a:spLocks noGrp="1"/>
            </p:cNvSpPr>
            <p:nvPr/>
          </p:nvSpPr>
          <p:spPr>
            <a:xfrm>
              <a:off x="640556" y="1544955"/>
              <a:ext cx="238125" cy="95250"/>
            </a:xfrm>
            <a:prstGeom prst="rect">
              <a:avLst/>
            </a:prstGeom>
            <a:noFill/>
            <a:ln w="0">
              <a:noFill/>
            </a:ln>
          </p:spPr>
          <p:txBody>
            <a:bodyPr wrap="none" lIns="0" tIns="0" rIns="0" bIns="0" anchor="ctr">
              <a:noAutofit/>
            </a:bodyPr>
            <a:lstStyle>
              <a:defPPr algn="ctr">
                <a:defRPr sz="600" b="1">
                  <a:solidFill>
                    <a:srgbClr val="263442"/>
                  </a:solidFill>
                  <a:latin typeface="Arial"/>
                  <a:ea typeface="Arial"/>
                  <a:cs typeface="Arial"/>
                </a:defRPr>
              </a:defPPr>
              <a:lvl1pPr algn="ctr">
                <a:defRPr sz="600" b="1">
                  <a:solidFill>
                    <a:srgbClr val="263442"/>
                  </a:solidFill>
                  <a:latin typeface="Arial"/>
                  <a:ea typeface="Arial"/>
                  <a:cs typeface="Arial"/>
                </a:defRPr>
              </a:lvl1pPr>
              <a:lvl2pPr algn="ctr">
                <a:defRPr sz="600" b="1">
                  <a:solidFill>
                    <a:srgbClr val="263442"/>
                  </a:solidFill>
                  <a:latin typeface="Arial"/>
                  <a:ea typeface="Arial"/>
                  <a:cs typeface="Arial"/>
                </a:defRPr>
              </a:lvl2pPr>
              <a:lvl3pPr algn="ctr">
                <a:defRPr sz="600" b="1">
                  <a:solidFill>
                    <a:srgbClr val="263442"/>
                  </a:solidFill>
                  <a:latin typeface="Arial"/>
                  <a:ea typeface="Arial"/>
                  <a:cs typeface="Arial"/>
                </a:defRPr>
              </a:lvl3pPr>
              <a:lvl4pPr algn="ctr">
                <a:defRPr sz="600" b="1">
                  <a:solidFill>
                    <a:srgbClr val="263442"/>
                  </a:solidFill>
                  <a:latin typeface="Arial"/>
                  <a:ea typeface="Arial"/>
                  <a:cs typeface="Arial"/>
                </a:defRPr>
              </a:lvl4pPr>
              <a:lvl5pPr algn="ctr">
                <a:defRPr sz="600" b="1">
                  <a:solidFill>
                    <a:srgbClr val="263442"/>
                  </a:solidFill>
                  <a:latin typeface="Arial"/>
                  <a:ea typeface="Arial"/>
                  <a:cs typeface="Arial"/>
                </a:defRPr>
              </a:lvl5pPr>
              <a:lvl6pPr algn="ctr">
                <a:defRPr sz="600" b="1">
                  <a:solidFill>
                    <a:srgbClr val="263442"/>
                  </a:solidFill>
                  <a:latin typeface="Arial"/>
                  <a:ea typeface="Arial"/>
                  <a:cs typeface="Arial"/>
                </a:defRPr>
              </a:lvl6pPr>
              <a:lvl7pPr algn="ctr">
                <a:defRPr sz="600" b="1">
                  <a:solidFill>
                    <a:srgbClr val="263442"/>
                  </a:solidFill>
                  <a:latin typeface="Arial"/>
                  <a:ea typeface="Arial"/>
                  <a:cs typeface="Arial"/>
                </a:defRPr>
              </a:lvl7pPr>
              <a:lvl8pPr algn="ctr">
                <a:defRPr sz="600" b="1">
                  <a:solidFill>
                    <a:srgbClr val="263442"/>
                  </a:solidFill>
                  <a:latin typeface="Arial"/>
                  <a:ea typeface="Arial"/>
                  <a:cs typeface="Arial"/>
                </a:defRPr>
              </a:lvl8pPr>
              <a:lvl9pPr algn="ctr">
                <a:defRPr sz="600" b="1">
                  <a:solidFill>
                    <a:srgbClr val="263442"/>
                  </a:solidFill>
                  <a:latin typeface="Arial"/>
                  <a:ea typeface="Arial"/>
                  <a:cs typeface="Arial"/>
                </a:defRPr>
              </a:lvl9pPr>
            </a:lstStyle>
            <a:p>
              <a:pPr algn="ctr">
                <a:defRPr sz="600" b="1">
                  <a:solidFill>
                    <a:srgbClr val="263442"/>
                  </a:solidFill>
                  <a:latin typeface="Arial"/>
                  <a:ea typeface="Arial"/>
                  <a:cs typeface="Arial"/>
                </a:defRPr>
              </a:pPr>
              <a:r>
                <a:rPr sz="600" b="1">
                  <a:solidFill>
                    <a:srgbClr val="263442"/>
                  </a:solidFill>
                  <a:latin typeface="Arial"/>
                  <a:ea typeface="Arial"/>
                  <a:cs typeface="Arial"/>
                </a:rPr>
                <a:t>80³</a:t>
              </a:r>
            </a:p>
          </p:txBody>
        </p:sp>
      </p:grpSp>
      <p:grpSp>
        <p:nvGrpSpPr>
          <p:cNvPr id="50495" name="Find preview 25"/>
          <p:cNvGrpSpPr/>
          <p:nvPr/>
        </p:nvGrpSpPr>
        <p:grpSpPr>
          <a:xfrm>
            <a:off x="4349067" y="499672"/>
            <a:ext cx="404812" cy="386544"/>
            <a:chOff x="4349067" y="499672"/>
            <a:chExt cx="404812" cy="386544"/>
          </a:xfrm>
        </p:grpSpPr>
        <p:pic>
          <p:nvPicPr>
            <p:cNvPr id="25" name="Find corresponding experimental density" descr="Experimental 9LLG density around chain C1 of the displayed CryoAtom2 receptor, at the original contour level and the identical camera orientation.">
              <a:extLst>
                <a:ext uri="{FF2B5EF4-FFF2-40B4-BE49-F238E27FC236}">
                  <a16:creationId xmlns:a16="http://schemas.microsoft.com/office/drawing/2014/main" id="{E01FAF0F-7383-AEC3-8192-CE781D4C8B97}"/>
                </a:ext>
              </a:extLst>
            </p:cNvPr>
            <p:cNvPicPr/>
            <p:nvPr/>
          </p:nvPicPr>
          <p:blipFill>
            <a:blip r:embed="rId4"/>
            <a:stretch>
              <a:fillRect/>
            </a:stretch>
          </p:blipFill>
          <p:spPr>
            <a:xfrm>
              <a:off x="4349067" y="499672"/>
              <a:ext cx="404812" cy="386544"/>
            </a:xfrm>
            <a:prstGeom prst="rect">
              <a:avLst/>
            </a:prstGeom>
          </p:spPr>
        </p:pic>
        <p:grpSp>
          <p:nvGrpSpPr>
            <p:cNvPr id="50437" name="Global copy of blob 758">
              <a:extLst>
                <a:ext uri="{FF2B5EF4-FFF2-40B4-BE49-F238E27FC236}">
                  <a16:creationId xmlns:a16="http://schemas.microsoft.com/office/drawing/2014/main" id="{00C0C92B-D4C8-0994-E860-1581EB873D86}"/>
                </a:ext>
              </a:extLst>
            </p:cNvPr>
            <p:cNvGrpSpPr/>
            <p:nvPr/>
          </p:nvGrpSpPr>
          <p:grpSpPr>
            <a:xfrm>
              <a:off x="4445066" y="623158"/>
              <a:ext cx="92055" cy="24054"/>
              <a:chOff x="1980855" y="3559489"/>
              <a:chExt cx="493446" cy="155682"/>
            </a:xfrm>
          </p:grpSpPr>
          <p:sp>
            <p:nvSpPr>
              <p:cNvPr id="50438" name="Candidate blob | editable contour">
                <a:extLst>
                  <a:ext uri="{FF2B5EF4-FFF2-40B4-BE49-F238E27FC236}">
                    <a16:creationId xmlns:a16="http://schemas.microsoft.com/office/drawing/2014/main" id="{A172A8B3-EFA3-33C9-CD2B-307B24D7293D}"/>
                  </a:ext>
                </a:extLst>
              </p:cNvPr>
              <p:cNvSpPr/>
              <p:nvPr/>
            </p:nvSpPr>
            <p:spPr>
              <a:xfrm>
                <a:off x="2246406" y="3559489"/>
                <a:ext cx="227895" cy="155682"/>
              </a:xfrm>
              <a:custGeom>
                <a:avLst/>
                <a:gdLst/>
                <a:ahLst/>
                <a:cxnLst/>
                <a:rect l="0" t="0" r="w" b="h"/>
                <a:pathLst>
                  <a:path w="227897" h="155682" extrusionOk="0">
                    <a:moveTo>
                      <a:pt x="3521" y="100385"/>
                    </a:moveTo>
                    <a:cubicBezTo>
                      <a:pt x="0" y="80701"/>
                      <a:pt x="26006" y="62787"/>
                      <a:pt x="43453" y="54263"/>
                    </a:cubicBezTo>
                    <a:cubicBezTo>
                      <a:pt x="58843" y="43224"/>
                      <a:pt x="83460" y="52781"/>
                      <a:pt x="99588" y="43358"/>
                    </a:cubicBezTo>
                    <a:cubicBezTo>
                      <a:pt x="112436" y="32945"/>
                      <a:pt x="102548" y="9475"/>
                      <a:pt x="114181" y="4123"/>
                    </a:cubicBezTo>
                    <a:cubicBezTo>
                      <a:pt x="125241" y="0"/>
                      <a:pt x="158214" y="2398"/>
                      <a:pt x="179365" y="5837"/>
                    </a:cubicBezTo>
                    <a:cubicBezTo>
                      <a:pt x="197301" y="9996"/>
                      <a:pt x="210134" y="19340"/>
                      <a:pt x="216909" y="31256"/>
                    </a:cubicBezTo>
                    <a:cubicBezTo>
                      <a:pt x="221237" y="45342"/>
                      <a:pt x="227897" y="67151"/>
                      <a:pt x="224378" y="79920"/>
                    </a:cubicBezTo>
                    <a:cubicBezTo>
                      <a:pt x="219253" y="92918"/>
                      <a:pt x="191986" y="104353"/>
                      <a:pt x="170629" y="115250"/>
                    </a:cubicBezTo>
                    <a:cubicBezTo>
                      <a:pt x="155563" y="129736"/>
                      <a:pt x="143418" y="146104"/>
                      <a:pt x="126157" y="151452"/>
                    </a:cubicBezTo>
                    <a:cubicBezTo>
                      <a:pt x="110048" y="155682"/>
                      <a:pt x="82946" y="155682"/>
                      <a:pt x="52808" y="150002"/>
                    </a:cubicBezTo>
                    <a:cubicBezTo>
                      <a:pt x="28847" y="143645"/>
                      <a:pt x="5675" y="118994"/>
                      <a:pt x="3521" y="100385"/>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50439" name="ellipse_2612">
                <a:extLst>
                  <a:ext uri="{FF2B5EF4-FFF2-40B4-BE49-F238E27FC236}">
                    <a16:creationId xmlns:a16="http://schemas.microsoft.com/office/drawing/2014/main" id="{CF37E813-914E-4383-9CE9-1C5F4095124F}"/>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sp>
          <p:nvSpPr>
            <p:cNvPr id="50442" name="ellipse_2612">
              <a:extLst>
                <a:ext uri="{FF2B5EF4-FFF2-40B4-BE49-F238E27FC236}">
                  <a16:creationId xmlns:a16="http://schemas.microsoft.com/office/drawing/2014/main" id="{899D545A-9188-B8A5-5122-F55763321954}"/>
                </a:ext>
              </a:extLst>
            </p:cNvPr>
            <p:cNvSpPr/>
            <p:nvPr/>
          </p:nvSpPr>
          <p:spPr>
            <a:xfrm rot="3197729">
              <a:off x="4608138" y="649456"/>
              <a:ext cx="10571" cy="3071"/>
            </a:xfrm>
            <a:prstGeom prst="ellipse">
              <a:avLst/>
            </a:prstGeom>
            <a:solidFill>
              <a:srgbClr val="FFFFFF">
                <a:alpha val="35000"/>
              </a:srgbClr>
            </a:solidFill>
            <a:ln w="3285" cap="rnd" cmpd="sng" algn="ctr">
              <a:noFill/>
              <a:prstDash val="solid"/>
              <a:round/>
              <a:headEnd type="none" w="med" len="med"/>
              <a:tailEnd type="none" w="med" len="med"/>
            </a:ln>
            <a:effectLst/>
          </p:spPr>
        </p:sp>
        <p:sp>
          <p:nvSpPr>
            <p:cNvPr id="50445" name="ellipse_2612">
              <a:extLst>
                <a:ext uri="{FF2B5EF4-FFF2-40B4-BE49-F238E27FC236}">
                  <a16:creationId xmlns:a16="http://schemas.microsoft.com/office/drawing/2014/main" id="{85D74281-2FE6-E2D2-EFBA-AF54A45686E3}"/>
                </a:ext>
              </a:extLst>
            </p:cNvPr>
            <p:cNvSpPr/>
            <p:nvPr/>
          </p:nvSpPr>
          <p:spPr>
            <a:xfrm>
              <a:off x="4430816" y="761249"/>
              <a:ext cx="9540" cy="2671"/>
            </a:xfrm>
            <a:prstGeom prst="ellipse">
              <a:avLst/>
            </a:prstGeom>
            <a:solidFill>
              <a:srgbClr val="FFFFFF">
                <a:alpha val="35000"/>
              </a:srgbClr>
            </a:solidFill>
            <a:ln w="3285" cap="rnd" cmpd="sng" algn="ctr">
              <a:noFill/>
              <a:prstDash val="solid"/>
              <a:round/>
              <a:headEnd type="none" w="med" len="med"/>
              <a:tailEnd type="none" w="med" len="med"/>
            </a:ln>
            <a:effectLst/>
          </p:spPr>
        </p:sp>
        <p:sp>
          <p:nvSpPr>
            <p:cNvPr id="50448" name="ellipse_2612">
              <a:extLst>
                <a:ext uri="{FF2B5EF4-FFF2-40B4-BE49-F238E27FC236}">
                  <a16:creationId xmlns:a16="http://schemas.microsoft.com/office/drawing/2014/main" id="{901C6437-E94C-AFDE-D242-E688A89ABBDB}"/>
                </a:ext>
              </a:extLst>
            </p:cNvPr>
            <p:cNvSpPr/>
            <p:nvPr/>
          </p:nvSpPr>
          <p:spPr>
            <a:xfrm>
              <a:off x="4542383" y="798587"/>
              <a:ext cx="9428" cy="3307"/>
            </a:xfrm>
            <a:prstGeom prst="ellipse">
              <a:avLst/>
            </a:prstGeom>
            <a:solidFill>
              <a:srgbClr val="FFFFFF">
                <a:alpha val="35000"/>
              </a:srgbClr>
            </a:solidFill>
            <a:ln w="3285" cap="rnd" cmpd="sng" algn="ctr">
              <a:noFill/>
              <a:prstDash val="solid"/>
              <a:round/>
              <a:headEnd type="none" w="med" len="med"/>
              <a:tailEnd type="none" w="med" len="med"/>
            </a:ln>
            <a:effectLst/>
          </p:spPr>
        </p:sp>
      </p:grpSp>
      <p:sp>
        <p:nvSpPr>
          <p:cNvPr id="29" name="V8 density and receptor to voxel">
            <a:extLst>
              <a:ext uri="{FF2B5EF4-FFF2-40B4-BE49-F238E27FC236}">
                <a16:creationId xmlns:a16="http://schemas.microsoft.com/office/drawing/2014/main" id="{6CB6A47B-4EF1-2B06-7255-E23CEE529CCF}"/>
              </a:ext>
            </a:extLst>
          </p:cNvPr>
          <p:cNvSpPr/>
          <p:nvPr/>
        </p:nvSpPr>
        <p:spPr>
          <a:xfrm flipV="1">
            <a:off x="1864197" y="790091"/>
            <a:ext cx="77018" cy="45719"/>
          </a:xfrm>
          <a:custGeom>
            <a:avLst/>
            <a:gdLst/>
            <a:ahLst/>
            <a:cxnLst/>
            <a:rect l="l" t="t" r="r" b="b"/>
            <a:pathLst>
              <a:path w="96730" h="1">
                <a:moveTo>
                  <a:pt x="0" y="0"/>
                </a:moveTo>
                <a:lnTo>
                  <a:pt x="96730" y="0"/>
                </a:lnTo>
              </a:path>
            </a:pathLst>
          </a:custGeom>
          <a:noFill/>
          <a:ln w="8509" cap="rnd">
            <a:solidFill>
              <a:srgbClr val="4083B4"/>
            </a:solidFill>
            <a:prstDash val="solid"/>
            <a:round/>
          </a:ln>
        </p:spPr>
      </p:sp>
      <p:sp>
        <p:nvSpPr>
          <p:cNvPr id="31" name="V8 density and receptor to voxel head">
            <a:extLst>
              <a:ext uri="{FF2B5EF4-FFF2-40B4-BE49-F238E27FC236}">
                <a16:creationId xmlns:a16="http://schemas.microsoft.com/office/drawing/2014/main" id="{DF62D5B1-80E9-3975-FF99-0CA56F3741F9}"/>
              </a:ext>
            </a:extLst>
          </p:cNvPr>
          <p:cNvSpPr/>
          <p:nvPr/>
        </p:nvSpPr>
        <p:spPr>
          <a:xfrm>
            <a:off x="1935117" y="822853"/>
            <a:ext cx="28321" cy="24384"/>
          </a:xfrm>
          <a:custGeom>
            <a:avLst/>
            <a:gdLst/>
            <a:ahLst/>
            <a:cxnLst/>
            <a:rect l="l" t="t" r="r" b="b"/>
            <a:pathLst>
              <a:path w="28321" h="24384">
                <a:moveTo>
                  <a:pt x="28321" y="12192"/>
                </a:moveTo>
                <a:lnTo>
                  <a:pt x="0" y="0"/>
                </a:lnTo>
                <a:lnTo>
                  <a:pt x="0" y="24384"/>
                </a:lnTo>
                <a:close/>
              </a:path>
            </a:pathLst>
          </a:custGeom>
          <a:solidFill>
            <a:srgbClr val="4083B4"/>
          </a:solidFill>
          <a:ln w="0" cap="rnd">
            <a:noFill/>
          </a:ln>
        </p:spPr>
      </p:sp>
      <p:sp>
        <p:nvSpPr>
          <p:cNvPr id="34" name="文本框 33">
            <a:extLst>
              <a:ext uri="{FF2B5EF4-FFF2-40B4-BE49-F238E27FC236}">
                <a16:creationId xmlns:a16="http://schemas.microsoft.com/office/drawing/2014/main" id="{04021CE7-7079-B8B1-FE1F-2395F0A6A9F4}"/>
              </a:ext>
            </a:extLst>
          </p:cNvPr>
          <p:cNvSpPr txBox="1"/>
          <p:nvPr/>
        </p:nvSpPr>
        <p:spPr>
          <a:xfrm>
            <a:off x="2806249" y="1439947"/>
            <a:ext cx="502061" cy="197618"/>
          </a:xfrm>
          <a:prstGeom prst="rect">
            <a:avLst/>
          </a:prstGeom>
          <a:noFill/>
        </p:spPr>
        <p:txBody>
          <a:bodyPr wrap="none" rtlCol="0">
            <a:spAutoFit/>
          </a:bodyPr>
          <a:lstStyle/>
          <a:p>
            <a:pPr algn="ctr">
              <a:lnSpc>
                <a:spcPct val="105000"/>
              </a:lnSpc>
            </a:pPr>
            <a:r>
              <a:rPr lang="en-US" altLang="zh-CN" sz="650" i="1" dirty="0">
                <a:solidFill>
                  <a:srgbClr val="263442"/>
                </a:solidFill>
                <a:latin typeface="Arial"/>
              </a:rPr>
              <a:t>Recycle</a:t>
            </a:r>
          </a:p>
        </p:txBody>
      </p:sp>
      <p:grpSp>
        <p:nvGrpSpPr>
          <p:cNvPr id="21" name="Find candidate blob 2">
            <a:extLst>
              <a:ext uri="{FF2B5EF4-FFF2-40B4-BE49-F238E27FC236}">
                <a16:creationId xmlns:a16="http://schemas.microsoft.com/office/drawing/2014/main" id="{7CF4B83B-CE40-0943-83BF-857F63F584FC}"/>
              </a:ext>
            </a:extLst>
          </p:cNvPr>
          <p:cNvGrpSpPr/>
          <p:nvPr/>
        </p:nvGrpSpPr>
        <p:grpSpPr>
          <a:xfrm rot="3197729">
            <a:off x="4616630" y="633066"/>
            <a:ext cx="35227" cy="29704"/>
            <a:chOff x="1928706" y="3559489"/>
            <a:chExt cx="227897" cy="155682"/>
          </a:xfrm>
        </p:grpSpPr>
        <p:sp>
          <p:nvSpPr>
            <p:cNvPr id="23" name="Candidate blob | editable contour">
              <a:extLst>
                <a:ext uri="{FF2B5EF4-FFF2-40B4-BE49-F238E27FC236}">
                  <a16:creationId xmlns:a16="http://schemas.microsoft.com/office/drawing/2014/main" id="{0EF5C813-7F44-77DD-67FE-EE476608E03B}"/>
                </a:ext>
              </a:extLst>
            </p:cNvPr>
            <p:cNvSpPr/>
            <p:nvPr/>
          </p:nvSpPr>
          <p:spPr>
            <a:xfrm>
              <a:off x="1928706" y="3559489"/>
              <a:ext cx="227897" cy="155682"/>
            </a:xfrm>
            <a:custGeom>
              <a:avLst/>
              <a:gdLst/>
              <a:ahLst/>
              <a:cxnLst/>
              <a:rect l="0" t="0" r="w" b="h"/>
              <a:pathLst>
                <a:path w="227897" h="155682" extrusionOk="0">
                  <a:moveTo>
                    <a:pt x="3521" y="100385"/>
                  </a:moveTo>
                  <a:cubicBezTo>
                    <a:pt x="0" y="80701"/>
                    <a:pt x="26006" y="62787"/>
                    <a:pt x="43453" y="54263"/>
                  </a:cubicBezTo>
                  <a:cubicBezTo>
                    <a:pt x="58843" y="43224"/>
                    <a:pt x="83460" y="52781"/>
                    <a:pt x="99588" y="43358"/>
                  </a:cubicBezTo>
                  <a:cubicBezTo>
                    <a:pt x="112436" y="32945"/>
                    <a:pt x="102548" y="9475"/>
                    <a:pt x="114181" y="4123"/>
                  </a:cubicBezTo>
                  <a:cubicBezTo>
                    <a:pt x="125241" y="0"/>
                    <a:pt x="158214" y="2398"/>
                    <a:pt x="179365" y="5837"/>
                  </a:cubicBezTo>
                  <a:cubicBezTo>
                    <a:pt x="197301" y="9996"/>
                    <a:pt x="210134" y="19340"/>
                    <a:pt x="216909" y="31256"/>
                  </a:cubicBezTo>
                  <a:cubicBezTo>
                    <a:pt x="221237" y="45342"/>
                    <a:pt x="227897" y="67151"/>
                    <a:pt x="224378" y="79920"/>
                  </a:cubicBezTo>
                  <a:cubicBezTo>
                    <a:pt x="219253" y="92918"/>
                    <a:pt x="191986" y="104353"/>
                    <a:pt x="170629" y="115250"/>
                  </a:cubicBezTo>
                  <a:cubicBezTo>
                    <a:pt x="155563" y="129736"/>
                    <a:pt x="143418" y="146104"/>
                    <a:pt x="126157" y="151452"/>
                  </a:cubicBezTo>
                  <a:cubicBezTo>
                    <a:pt x="110048" y="155682"/>
                    <a:pt x="82946" y="155682"/>
                    <a:pt x="52808" y="150002"/>
                  </a:cubicBezTo>
                  <a:cubicBezTo>
                    <a:pt x="28847" y="143645"/>
                    <a:pt x="5675" y="118994"/>
                    <a:pt x="3521" y="100385"/>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28" name="ellipse_2612">
              <a:extLst>
                <a:ext uri="{FF2B5EF4-FFF2-40B4-BE49-F238E27FC236}">
                  <a16:creationId xmlns:a16="http://schemas.microsoft.com/office/drawing/2014/main" id="{F5FA3B82-7CD0-DDDF-A968-EC80FAC5CC54}"/>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grpSp>
        <p:nvGrpSpPr>
          <p:cNvPr id="30" name="Find candidate blob 3">
            <a:extLst>
              <a:ext uri="{FF2B5EF4-FFF2-40B4-BE49-F238E27FC236}">
                <a16:creationId xmlns:a16="http://schemas.microsoft.com/office/drawing/2014/main" id="{7DFC79E6-A537-A8EE-9E23-73695EEDEA87}"/>
              </a:ext>
            </a:extLst>
          </p:cNvPr>
          <p:cNvGrpSpPr/>
          <p:nvPr/>
        </p:nvGrpSpPr>
        <p:grpSpPr>
          <a:xfrm rot="364243">
            <a:off x="4534839" y="709850"/>
            <a:ext cx="31915" cy="32299"/>
            <a:chOff x="1928706" y="3559489"/>
            <a:chExt cx="227897" cy="155682"/>
          </a:xfrm>
        </p:grpSpPr>
        <p:sp>
          <p:nvSpPr>
            <p:cNvPr id="32" name="Candidate blob | editable contour">
              <a:extLst>
                <a:ext uri="{FF2B5EF4-FFF2-40B4-BE49-F238E27FC236}">
                  <a16:creationId xmlns:a16="http://schemas.microsoft.com/office/drawing/2014/main" id="{EF3C7BE5-312A-39EB-D945-E725D09FC5CF}"/>
                </a:ext>
              </a:extLst>
            </p:cNvPr>
            <p:cNvSpPr/>
            <p:nvPr/>
          </p:nvSpPr>
          <p:spPr>
            <a:xfrm>
              <a:off x="1928706" y="3559489"/>
              <a:ext cx="227897" cy="155682"/>
            </a:xfrm>
            <a:custGeom>
              <a:avLst/>
              <a:gdLst/>
              <a:ahLst/>
              <a:cxnLst/>
              <a:rect l="0" t="0" r="w" b="h"/>
              <a:pathLst>
                <a:path w="227897" h="155682" extrusionOk="0">
                  <a:moveTo>
                    <a:pt x="4633" y="103508"/>
                  </a:moveTo>
                  <a:cubicBezTo>
                    <a:pt x="0" y="80701"/>
                    <a:pt x="17781" y="72087"/>
                    <a:pt x="35225" y="64107"/>
                  </a:cubicBezTo>
                  <a:cubicBezTo>
                    <a:pt x="54476" y="49917"/>
                    <a:pt x="72264" y="52549"/>
                    <a:pt x="92778" y="35736"/>
                  </a:cubicBezTo>
                  <a:cubicBezTo>
                    <a:pt x="110195" y="21040"/>
                    <a:pt x="104326" y="5059"/>
                    <a:pt x="115221" y="1753"/>
                  </a:cubicBezTo>
                  <a:cubicBezTo>
                    <a:pt x="125241" y="0"/>
                    <a:pt x="159037" y="3786"/>
                    <a:pt x="180838" y="12966"/>
                  </a:cubicBezTo>
                  <a:cubicBezTo>
                    <a:pt x="198427" y="23372"/>
                    <a:pt x="209170" y="39484"/>
                    <a:pt x="212983" y="52913"/>
                  </a:cubicBezTo>
                  <a:cubicBezTo>
                    <a:pt x="216818" y="61184"/>
                    <a:pt x="227897" y="67151"/>
                    <a:pt x="223406" y="85389"/>
                  </a:cubicBezTo>
                  <a:cubicBezTo>
                    <a:pt x="220211" y="103077"/>
                    <a:pt x="208185" y="131257"/>
                    <a:pt x="201464" y="141174"/>
                  </a:cubicBezTo>
                  <a:cubicBezTo>
                    <a:pt x="189414" y="144450"/>
                    <a:pt x="161966" y="148455"/>
                    <a:pt x="136762" y="150513"/>
                  </a:cubicBezTo>
                  <a:cubicBezTo>
                    <a:pt x="110048" y="155682"/>
                    <a:pt x="82946" y="155682"/>
                    <a:pt x="72733" y="149421"/>
                  </a:cubicBezTo>
                  <a:cubicBezTo>
                    <a:pt x="54091" y="147525"/>
                    <a:pt x="13199" y="123788"/>
                    <a:pt x="4633" y="103508"/>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33" name="ellipse_2612">
              <a:extLst>
                <a:ext uri="{FF2B5EF4-FFF2-40B4-BE49-F238E27FC236}">
                  <a16:creationId xmlns:a16="http://schemas.microsoft.com/office/drawing/2014/main" id="{0A4821A8-67B8-19F4-30E2-0FE8715E5DA6}"/>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grpSp>
        <p:nvGrpSpPr>
          <p:cNvPr id="38" name="Find candidate blob 1">
            <a:extLst>
              <a:ext uri="{FF2B5EF4-FFF2-40B4-BE49-F238E27FC236}">
                <a16:creationId xmlns:a16="http://schemas.microsoft.com/office/drawing/2014/main" id="{D9521CD7-F7FB-7490-A23A-67B39E4FD95D}"/>
              </a:ext>
            </a:extLst>
          </p:cNvPr>
          <p:cNvGrpSpPr/>
          <p:nvPr/>
        </p:nvGrpSpPr>
        <p:grpSpPr>
          <a:xfrm>
            <a:off x="4427985" y="745957"/>
            <a:ext cx="40973" cy="27988"/>
            <a:chOff x="1928706" y="3559489"/>
            <a:chExt cx="227897" cy="155682"/>
          </a:xfrm>
        </p:grpSpPr>
        <p:sp>
          <p:nvSpPr>
            <p:cNvPr id="39" name="Candidate blob | editable contour">
              <a:extLst>
                <a:ext uri="{FF2B5EF4-FFF2-40B4-BE49-F238E27FC236}">
                  <a16:creationId xmlns:a16="http://schemas.microsoft.com/office/drawing/2014/main" id="{B913F94B-9211-6007-A9F1-AA1E18C1D543}"/>
                </a:ext>
              </a:extLst>
            </p:cNvPr>
            <p:cNvSpPr/>
            <p:nvPr/>
          </p:nvSpPr>
          <p:spPr>
            <a:xfrm>
              <a:off x="1928706" y="3559489"/>
              <a:ext cx="227897" cy="155682"/>
            </a:xfrm>
            <a:custGeom>
              <a:avLst/>
              <a:gdLst/>
              <a:ahLst/>
              <a:cxnLst/>
              <a:rect l="0" t="0" r="w" b="h"/>
              <a:pathLst>
                <a:path w="227897" h="155682" extrusionOk="0">
                  <a:moveTo>
                    <a:pt x="5338" y="97866"/>
                  </a:moveTo>
                  <a:cubicBezTo>
                    <a:pt x="0" y="80701"/>
                    <a:pt x="18889" y="54504"/>
                    <a:pt x="29976" y="43663"/>
                  </a:cubicBezTo>
                  <a:cubicBezTo>
                    <a:pt x="41062" y="32823"/>
                    <a:pt x="58719" y="39447"/>
                    <a:pt x="71859" y="32823"/>
                  </a:cubicBezTo>
                  <a:cubicBezTo>
                    <a:pt x="84999" y="26198"/>
                    <a:pt x="92391" y="7829"/>
                    <a:pt x="108816" y="3915"/>
                  </a:cubicBezTo>
                  <a:cubicBezTo>
                    <a:pt x="125241" y="0"/>
                    <a:pt x="153984" y="3613"/>
                    <a:pt x="170409" y="9335"/>
                  </a:cubicBezTo>
                  <a:cubicBezTo>
                    <a:pt x="186834" y="15056"/>
                    <a:pt x="198332" y="26198"/>
                    <a:pt x="207366" y="38243"/>
                  </a:cubicBezTo>
                  <a:cubicBezTo>
                    <a:pt x="216399" y="50288"/>
                    <a:pt x="227897" y="67151"/>
                    <a:pt x="224612" y="81605"/>
                  </a:cubicBezTo>
                  <a:cubicBezTo>
                    <a:pt x="221327" y="96059"/>
                    <a:pt x="203259" y="113223"/>
                    <a:pt x="187656" y="124967"/>
                  </a:cubicBezTo>
                  <a:cubicBezTo>
                    <a:pt x="172052" y="136711"/>
                    <a:pt x="151931" y="148455"/>
                    <a:pt x="130989" y="152068"/>
                  </a:cubicBezTo>
                  <a:cubicBezTo>
                    <a:pt x="110048" y="155682"/>
                    <a:pt x="82946" y="155682"/>
                    <a:pt x="62004" y="146648"/>
                  </a:cubicBezTo>
                  <a:cubicBezTo>
                    <a:pt x="41062" y="137614"/>
                    <a:pt x="10676" y="115030"/>
                    <a:pt x="5338" y="97866"/>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40" name="ellipse_2612">
              <a:extLst>
                <a:ext uri="{FF2B5EF4-FFF2-40B4-BE49-F238E27FC236}">
                  <a16:creationId xmlns:a16="http://schemas.microsoft.com/office/drawing/2014/main" id="{D504CB61-AEF5-1C11-4CCF-573A1133E2A9}"/>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sp>
        <p:nvSpPr>
          <p:cNvPr id="19" name="Build | Docking tools card">
            <a:extLst>
              <a:ext uri="{FF2B5EF4-FFF2-40B4-BE49-F238E27FC236}">
                <a16:creationId xmlns:a16="http://schemas.microsoft.com/office/drawing/2014/main" id="{288AF752-E58D-4CA0-2F23-C67E070DE1F6}"/>
              </a:ext>
            </a:extLst>
          </p:cNvPr>
          <p:cNvSpPr/>
          <p:nvPr/>
        </p:nvSpPr>
        <p:spPr>
          <a:xfrm>
            <a:off x="4992811" y="2608447"/>
            <a:ext cx="1106489" cy="516618"/>
          </a:xfrm>
          <a:prstGeom prst="roundRect">
            <a:avLst>
              <a:gd name="adj" fmla="val 8000"/>
            </a:avLst>
          </a:prstGeom>
          <a:solidFill>
            <a:srgbClr val="F1F4F5"/>
          </a:solidFill>
          <a:ln w="7290">
            <a:solidFill>
              <a:srgbClr val="B8C4D2"/>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35" name="TextBox 12309">
            <a:extLst>
              <a:ext uri="{FF2B5EF4-FFF2-40B4-BE49-F238E27FC236}">
                <a16:creationId xmlns:a16="http://schemas.microsoft.com/office/drawing/2014/main" id="{C07AF2A2-FDFF-5159-A179-B8A5C11F22FC}"/>
              </a:ext>
            </a:extLst>
          </p:cNvPr>
          <p:cNvSpPr txBox="1"/>
          <p:nvPr/>
        </p:nvSpPr>
        <p:spPr>
          <a:xfrm>
            <a:off x="5044453" y="2647450"/>
            <a:ext cx="1047750" cy="101936"/>
          </a:xfrm>
          <a:prstGeom prst="rect">
            <a:avLst/>
          </a:prstGeom>
          <a:noFill/>
        </p:spPr>
        <p:txBody>
          <a:bodyPr wrap="square" lIns="0" tIns="0" rIns="0" bIns="0" anchor="ctr">
            <a:spAutoFit/>
          </a:bodyPr>
          <a:lstStyle/>
          <a:p>
            <a:pPr algn="l">
              <a:lnSpc>
                <a:spcPct val="105000"/>
              </a:lnSpc>
            </a:pPr>
            <a:r>
              <a:rPr lang="en-US" sz="640" b="1" dirty="0">
                <a:solidFill>
                  <a:srgbClr val="263442"/>
                </a:solidFill>
                <a:latin typeface="Arial"/>
              </a:rPr>
              <a:t>O</a:t>
            </a:r>
            <a:r>
              <a:rPr lang="en-US" altLang="zh-CN" sz="640" b="1" dirty="0">
                <a:solidFill>
                  <a:srgbClr val="263442"/>
                </a:solidFill>
                <a:latin typeface="Arial"/>
              </a:rPr>
              <a:t>ther d</a:t>
            </a:r>
            <a:r>
              <a:rPr sz="640" b="1" dirty="0">
                <a:solidFill>
                  <a:srgbClr val="263442"/>
                </a:solidFill>
                <a:latin typeface="Arial"/>
              </a:rPr>
              <a:t>ocking tools</a:t>
            </a:r>
          </a:p>
        </p:txBody>
      </p:sp>
      <p:sp>
        <p:nvSpPr>
          <p:cNvPr id="37" name="TextBox 12310">
            <a:extLst>
              <a:ext uri="{FF2B5EF4-FFF2-40B4-BE49-F238E27FC236}">
                <a16:creationId xmlns:a16="http://schemas.microsoft.com/office/drawing/2014/main" id="{C42F2268-2E32-7F87-B574-86630B213ED5}"/>
              </a:ext>
            </a:extLst>
          </p:cNvPr>
          <p:cNvSpPr txBox="1"/>
          <p:nvPr/>
        </p:nvSpPr>
        <p:spPr>
          <a:xfrm>
            <a:off x="5041329" y="2752162"/>
            <a:ext cx="389530" cy="372902"/>
          </a:xfrm>
          <a:prstGeom prst="rect">
            <a:avLst/>
          </a:prstGeom>
          <a:noFill/>
        </p:spPr>
        <p:txBody>
          <a:bodyPr wrap="none" lIns="0" tIns="0" rIns="0" bIns="0" anchor="ctr">
            <a:spAutoFit/>
          </a:bodyPr>
          <a:lstStyle/>
          <a:p>
            <a:pPr>
              <a:lnSpc>
                <a:spcPct val="105000"/>
              </a:lnSpc>
            </a:pPr>
            <a:r>
              <a:rPr lang="en-US" altLang="zh-CN" sz="554" dirty="0">
                <a:solidFill>
                  <a:srgbClr val="263442"/>
                </a:solidFill>
                <a:latin typeface="Arial"/>
              </a:rPr>
              <a:t>· </a:t>
            </a:r>
            <a:r>
              <a:rPr sz="554" dirty="0">
                <a:solidFill>
                  <a:srgbClr val="263442"/>
                </a:solidFill>
                <a:latin typeface="Arial"/>
              </a:rPr>
              <a:t>Vina </a:t>
            </a:r>
            <a:endParaRPr lang="en-US" sz="554" dirty="0">
              <a:solidFill>
                <a:srgbClr val="263442"/>
              </a:solidFill>
              <a:latin typeface="Arial"/>
            </a:endParaRPr>
          </a:p>
          <a:p>
            <a:pPr>
              <a:lnSpc>
                <a:spcPct val="105000"/>
              </a:lnSpc>
            </a:pPr>
            <a:r>
              <a:rPr sz="554" dirty="0">
                <a:solidFill>
                  <a:srgbClr val="263442"/>
                </a:solidFill>
                <a:latin typeface="Arial"/>
              </a:rPr>
              <a:t>· </a:t>
            </a:r>
            <a:r>
              <a:rPr sz="554" dirty="0" err="1">
                <a:solidFill>
                  <a:srgbClr val="263442"/>
                </a:solidFill>
                <a:latin typeface="Arial"/>
              </a:rPr>
              <a:t>DiffDock</a:t>
            </a:r>
            <a:r>
              <a:rPr sz="554" dirty="0">
                <a:solidFill>
                  <a:srgbClr val="263442"/>
                </a:solidFill>
                <a:latin typeface="Arial"/>
              </a:rPr>
              <a:t> </a:t>
            </a:r>
            <a:endParaRPr lang="en-US" sz="554" dirty="0">
              <a:solidFill>
                <a:srgbClr val="263442"/>
              </a:solidFill>
              <a:latin typeface="Arial"/>
            </a:endParaRPr>
          </a:p>
          <a:p>
            <a:pPr>
              <a:lnSpc>
                <a:spcPct val="105000"/>
              </a:lnSpc>
            </a:pPr>
            <a:r>
              <a:rPr sz="554" dirty="0">
                <a:solidFill>
                  <a:srgbClr val="263442"/>
                </a:solidFill>
                <a:latin typeface="Arial"/>
              </a:rPr>
              <a:t>· EMERALD</a:t>
            </a:r>
            <a:endParaRPr lang="en-US" sz="554" dirty="0">
              <a:solidFill>
                <a:srgbClr val="263442"/>
              </a:solidFill>
              <a:latin typeface="Arial"/>
            </a:endParaRPr>
          </a:p>
          <a:p>
            <a:pPr>
              <a:lnSpc>
                <a:spcPct val="105000"/>
              </a:lnSpc>
            </a:pPr>
            <a:r>
              <a:rPr lang="en-US" altLang="zh-CN" sz="554" dirty="0">
                <a:solidFill>
                  <a:srgbClr val="263442"/>
                </a:solidFill>
                <a:latin typeface="Arial"/>
              </a:rPr>
              <a:t>·</a:t>
            </a:r>
            <a:r>
              <a:rPr lang="zh-CN" altLang="en-US" sz="554" dirty="0">
                <a:solidFill>
                  <a:srgbClr val="263442"/>
                </a:solidFill>
                <a:latin typeface="Arial"/>
              </a:rPr>
              <a:t> </a:t>
            </a:r>
            <a:r>
              <a:rPr lang="en-US" altLang="zh-CN" sz="554" dirty="0">
                <a:solidFill>
                  <a:srgbClr val="263442"/>
                </a:solidFill>
                <a:latin typeface="Arial"/>
              </a:rPr>
              <a:t>·</a:t>
            </a:r>
            <a:r>
              <a:rPr lang="zh-CN" altLang="en-US" sz="554" dirty="0">
                <a:solidFill>
                  <a:srgbClr val="263442"/>
                </a:solidFill>
                <a:latin typeface="Arial"/>
              </a:rPr>
              <a:t> </a:t>
            </a:r>
            <a:r>
              <a:rPr lang="en-US" altLang="zh-CN" sz="554" dirty="0">
                <a:solidFill>
                  <a:srgbClr val="263442"/>
                </a:solidFill>
                <a:latin typeface="Arial"/>
              </a:rPr>
              <a:t>·</a:t>
            </a:r>
            <a:endParaRPr sz="554" dirty="0">
              <a:solidFill>
                <a:srgbClr val="263442"/>
              </a:solidFill>
              <a:latin typeface="Arial"/>
            </a:endParaRPr>
          </a:p>
        </p:txBody>
      </p:sp>
    </p:spTree>
    <p:extLst>
      <p:ext uri="{BB962C8B-B14F-4D97-AF65-F5344CB8AC3E}">
        <p14:creationId xmlns:p14="http://schemas.microsoft.com/office/powerpoint/2010/main" val="3763289320"/>
      </p:ext>
    </p:extLst>
  </p:cSld>
  <p:clrMapOvr>
    <a:masterClrMapping/>
  </p:clrMapOvr>
  <p:extLst>
    <p:ext uri="{6950BFC3-D8DA-4A85-94F7-54DA5524770B}">
      <p188:commentRel xmlns:p188="http://schemas.microsoft.com/office/powerpoint/2018/8/main" r:id="rId3"/>
    </p:ext>
  </p:extLs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352734-FCAE-2B81-54BC-B01F7B050C10}"/>
            </a:ext>
          </a:extLst>
        </p:cNvPr>
        <p:cNvGrpSpPr/>
        <p:nvPr/>
      </p:nvGrpSpPr>
      <p:grpSpPr>
        <a:xfrm>
          <a:off x="0" y="0"/>
          <a:ext cx="0" cy="0"/>
          <a:chOff x="0" y="0"/>
          <a:chExt cx="0" cy="0"/>
        </a:xfrm>
      </p:grpSpPr>
      <p:sp>
        <p:nvSpPr>
          <p:cNvPr id="4" name="Panel | Build background">
            <a:extLst>
              <a:ext uri="{FF2B5EF4-FFF2-40B4-BE49-F238E27FC236}">
                <a16:creationId xmlns:a16="http://schemas.microsoft.com/office/drawing/2014/main" id="{3F93B921-327F-EA56-1B22-0D09369772CD}"/>
              </a:ext>
            </a:extLst>
          </p:cNvPr>
          <p:cNvSpPr/>
          <p:nvPr/>
        </p:nvSpPr>
        <p:spPr>
          <a:xfrm>
            <a:off x="4868797" y="84564"/>
            <a:ext cx="1354615" cy="4331875"/>
          </a:xfrm>
          <a:prstGeom prst="roundRect">
            <a:avLst>
              <a:gd name="adj" fmla="val 2000"/>
            </a:avLst>
          </a:prstGeom>
          <a:solidFill>
            <a:srgbClr val="FAF6EE"/>
          </a:solidFill>
          <a:ln w="9720">
            <a:solidFill>
              <a:srgbClr val="E3D9C6"/>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dirty="0"/>
          </a:p>
        </p:txBody>
      </p:sp>
      <p:sp>
        <p:nvSpPr>
          <p:cNvPr id="11" name="TextBox 8">
            <a:extLst>
              <a:ext uri="{FF2B5EF4-FFF2-40B4-BE49-F238E27FC236}">
                <a16:creationId xmlns:a16="http://schemas.microsoft.com/office/drawing/2014/main" id="{E6455CE4-B1DF-384C-F92E-829DDB28E816}"/>
              </a:ext>
            </a:extLst>
          </p:cNvPr>
          <p:cNvSpPr txBox="1"/>
          <p:nvPr/>
        </p:nvSpPr>
        <p:spPr>
          <a:xfrm>
            <a:off x="4902380" y="107125"/>
            <a:ext cx="174028" cy="149656"/>
          </a:xfrm>
          <a:prstGeom prst="rect">
            <a:avLst/>
          </a:prstGeom>
          <a:noFill/>
        </p:spPr>
        <p:txBody>
          <a:bodyPr wrap="square" lIns="0" tIns="0" rIns="0" bIns="0" anchor="ctr">
            <a:spAutoFit/>
          </a:bodyPr>
          <a:lstStyle/>
          <a:p>
            <a:pPr algn="l">
              <a:lnSpc>
                <a:spcPct val="105000"/>
              </a:lnSpc>
            </a:pPr>
            <a:r>
              <a:rPr sz="995" b="1" dirty="0">
                <a:solidFill>
                  <a:srgbClr val="263442"/>
                </a:solidFill>
                <a:latin typeface="Arial"/>
              </a:rPr>
              <a:t>c</a:t>
            </a:r>
          </a:p>
        </p:txBody>
      </p:sp>
      <p:sp>
        <p:nvSpPr>
          <p:cNvPr id="12" name="TextBox 9">
            <a:extLst>
              <a:ext uri="{FF2B5EF4-FFF2-40B4-BE49-F238E27FC236}">
                <a16:creationId xmlns:a16="http://schemas.microsoft.com/office/drawing/2014/main" id="{081F4C46-44A2-3E43-D338-0A52F1D83598}"/>
              </a:ext>
            </a:extLst>
          </p:cNvPr>
          <p:cNvSpPr txBox="1"/>
          <p:nvPr/>
        </p:nvSpPr>
        <p:spPr>
          <a:xfrm>
            <a:off x="5060587" y="120126"/>
            <a:ext cx="1202377" cy="239809"/>
          </a:xfrm>
          <a:prstGeom prst="rect">
            <a:avLst/>
          </a:prstGeom>
          <a:noFill/>
        </p:spPr>
        <p:txBody>
          <a:bodyPr wrap="square" lIns="0" tIns="0" rIns="0" bIns="0" anchor="ctr">
            <a:spAutoFit/>
          </a:bodyPr>
          <a:lstStyle/>
          <a:p>
            <a:pPr algn="l">
              <a:lnSpc>
                <a:spcPct val="98000"/>
              </a:lnSpc>
            </a:pPr>
            <a:r>
              <a:rPr sz="795" dirty="0">
                <a:solidFill>
                  <a:srgbClr val="263442"/>
                </a:solidFill>
                <a:latin typeface="Arial"/>
              </a:rPr>
              <a:t>Build: downstream</a:t>
            </a:r>
          </a:p>
          <a:p>
            <a:pPr algn="l">
              <a:lnSpc>
                <a:spcPct val="98000"/>
              </a:lnSpc>
            </a:pPr>
            <a:r>
              <a:rPr sz="795" dirty="0">
                <a:solidFill>
                  <a:srgbClr val="263442"/>
                </a:solidFill>
                <a:latin typeface="Arial"/>
              </a:rPr>
              <a:t>pose reconstruction</a:t>
            </a:r>
          </a:p>
        </p:txBody>
      </p:sp>
      <p:sp>
        <p:nvSpPr>
          <p:cNvPr id="768" name="Build four inputs">
            <a:extLst>
              <a:ext uri="{FF2B5EF4-FFF2-40B4-BE49-F238E27FC236}">
                <a16:creationId xmlns:a16="http://schemas.microsoft.com/office/drawing/2014/main" id="{2BF98272-1D43-106D-C4EA-676CFECC33CF}"/>
              </a:ext>
            </a:extLst>
          </p:cNvPr>
          <p:cNvSpPr>
            <a:spLocks noGrp="1"/>
          </p:cNvSpPr>
          <p:nvPr/>
        </p:nvSpPr>
        <p:spPr>
          <a:xfrm>
            <a:off x="4963973" y="420252"/>
            <a:ext cx="1158792" cy="1302153"/>
          </a:xfrm>
          <a:prstGeom prst="roundRect">
            <a:avLst>
              <a:gd name="adj" fmla="val 4554"/>
            </a:avLst>
          </a:prstGeom>
          <a:solidFill>
            <a:srgbClr val="FFFFFF"/>
          </a:solidFill>
          <a:ln w="7290">
            <a:solidFill>
              <a:srgbClr val="DFD6C3"/>
            </a:solidFill>
            <a:prstDash val="solid"/>
          </a:ln>
        </p:spPr>
        <p:txBody>
          <a:bodyPr/>
          <a:lstStyle/>
          <a:p>
            <a:endParaRPr lang="zh-CN" altLang="en-US" dirty="0"/>
          </a:p>
        </p:txBody>
      </p:sp>
      <p:sp>
        <p:nvSpPr>
          <p:cNvPr id="769" name="Site label">
            <a:extLst>
              <a:ext uri="{FF2B5EF4-FFF2-40B4-BE49-F238E27FC236}">
                <a16:creationId xmlns:a16="http://schemas.microsoft.com/office/drawing/2014/main" id="{3B2D181B-8171-23E5-904D-1E8D8B07D388}"/>
              </a:ext>
            </a:extLst>
          </p:cNvPr>
          <p:cNvSpPr>
            <a:spLocks noGrp="1"/>
          </p:cNvSpPr>
          <p:nvPr/>
        </p:nvSpPr>
        <p:spPr>
          <a:xfrm>
            <a:off x="4992638" y="834972"/>
            <a:ext cx="514364" cy="101253"/>
          </a:xfrm>
          <a:prstGeom prst="rect">
            <a:avLst/>
          </a:prstGeom>
          <a:noFill/>
          <a:ln w="6885">
            <a:noFill/>
            <a:prstDash val="solid"/>
          </a:ln>
        </p:spPr>
        <p:txBody>
          <a:bodyPr lIns="0" tIns="0" rIns="0" bIns="0" anchor="ctr"/>
          <a:lstStyle>
            <a:defPPr algn="ctr">
              <a:defRPr sz="695" b="1">
                <a:solidFill>
                  <a:srgbClr val="263442"/>
                </a:solidFill>
                <a:latin typeface="Arial"/>
                <a:ea typeface="Arial"/>
                <a:cs typeface="Arial"/>
              </a:defRPr>
            </a:defPPr>
            <a:lvl1pPr algn="ctr">
              <a:defRPr sz="695" b="1">
                <a:solidFill>
                  <a:srgbClr val="263442"/>
                </a:solidFill>
                <a:latin typeface="Arial"/>
                <a:ea typeface="Arial"/>
                <a:cs typeface="Arial"/>
              </a:defRPr>
            </a:lvl1pPr>
            <a:lvl2pPr algn="ctr">
              <a:defRPr sz="695" b="1">
                <a:solidFill>
                  <a:srgbClr val="263442"/>
                </a:solidFill>
                <a:latin typeface="Arial"/>
                <a:ea typeface="Arial"/>
                <a:cs typeface="Arial"/>
              </a:defRPr>
            </a:lvl2pPr>
            <a:lvl3pPr algn="ctr">
              <a:defRPr sz="695" b="1">
                <a:solidFill>
                  <a:srgbClr val="263442"/>
                </a:solidFill>
                <a:latin typeface="Arial"/>
                <a:ea typeface="Arial"/>
                <a:cs typeface="Arial"/>
              </a:defRPr>
            </a:lvl3pPr>
            <a:lvl4pPr algn="ctr">
              <a:defRPr sz="695" b="1">
                <a:solidFill>
                  <a:srgbClr val="263442"/>
                </a:solidFill>
                <a:latin typeface="Arial"/>
                <a:ea typeface="Arial"/>
                <a:cs typeface="Arial"/>
              </a:defRPr>
            </a:lvl4pPr>
            <a:lvl5pPr algn="ctr">
              <a:defRPr sz="695" b="1">
                <a:solidFill>
                  <a:srgbClr val="263442"/>
                </a:solidFill>
                <a:latin typeface="Arial"/>
                <a:ea typeface="Arial"/>
                <a:cs typeface="Arial"/>
              </a:defRPr>
            </a:lvl5pPr>
            <a:lvl6pPr algn="ctr">
              <a:defRPr sz="695" b="1">
                <a:solidFill>
                  <a:srgbClr val="263442"/>
                </a:solidFill>
                <a:latin typeface="Arial"/>
                <a:ea typeface="Arial"/>
                <a:cs typeface="Arial"/>
              </a:defRPr>
            </a:lvl6pPr>
            <a:lvl7pPr algn="ctr">
              <a:defRPr sz="695" b="1">
                <a:solidFill>
                  <a:srgbClr val="263442"/>
                </a:solidFill>
                <a:latin typeface="Arial"/>
                <a:ea typeface="Arial"/>
                <a:cs typeface="Arial"/>
              </a:defRPr>
            </a:lvl7pPr>
            <a:lvl8pPr algn="ctr">
              <a:defRPr sz="695" b="1">
                <a:solidFill>
                  <a:srgbClr val="263442"/>
                </a:solidFill>
                <a:latin typeface="Arial"/>
                <a:ea typeface="Arial"/>
                <a:cs typeface="Arial"/>
              </a:defRPr>
            </a:lvl8pPr>
            <a:lvl9pPr algn="ctr">
              <a:defRPr sz="695" b="1">
                <a:solidFill>
                  <a:srgbClr val="263442"/>
                </a:solidFill>
                <a:latin typeface="Arial"/>
                <a:ea typeface="Arial"/>
                <a:cs typeface="Arial"/>
              </a:defRPr>
            </a:lvl9pPr>
          </a:lstStyle>
          <a:p>
            <a:pPr algn="ctr">
              <a:defRPr sz="695" b="1">
                <a:solidFill>
                  <a:srgbClr val="263442"/>
                </a:solidFill>
                <a:latin typeface="Arial"/>
                <a:ea typeface="Arial"/>
                <a:cs typeface="Arial"/>
              </a:defRPr>
            </a:pPr>
            <a:r>
              <a:rPr sz="695" b="0" dirty="0">
                <a:solidFill>
                  <a:srgbClr val="263442"/>
                </a:solidFill>
                <a:latin typeface="Arial"/>
                <a:ea typeface="Arial"/>
                <a:cs typeface="Arial"/>
              </a:rPr>
              <a:t>Site</a:t>
            </a:r>
          </a:p>
        </p:txBody>
      </p:sp>
      <p:sp>
        <p:nvSpPr>
          <p:cNvPr id="770" name="Site provenance">
            <a:extLst>
              <a:ext uri="{FF2B5EF4-FFF2-40B4-BE49-F238E27FC236}">
                <a16:creationId xmlns:a16="http://schemas.microsoft.com/office/drawing/2014/main" id="{1D7E3247-83A3-5643-3DAD-7118C029E905}"/>
              </a:ext>
            </a:extLst>
          </p:cNvPr>
          <p:cNvSpPr>
            <a:spLocks noGrp="1"/>
          </p:cNvSpPr>
          <p:nvPr/>
        </p:nvSpPr>
        <p:spPr>
          <a:xfrm>
            <a:off x="4999032" y="921461"/>
            <a:ext cx="514364" cy="85052"/>
          </a:xfrm>
          <a:prstGeom prst="rect">
            <a:avLst/>
          </a:prstGeom>
          <a:noFill/>
          <a:ln w="6885">
            <a:noFill/>
            <a:prstDash val="solid"/>
          </a:ln>
        </p:spPr>
        <p:txBody>
          <a:bodyPr lIns="0" tIns="0" rIns="0" bIns="0" anchor="ctr"/>
          <a:lstStyle>
            <a:defPPr algn="ctr">
              <a:defRPr sz="590" b="0">
                <a:solidFill>
                  <a:srgbClr val="263442"/>
                </a:solidFill>
                <a:latin typeface="Arial"/>
                <a:ea typeface="Arial"/>
                <a:cs typeface="Arial"/>
              </a:defRPr>
            </a:defPPr>
            <a:lvl1pPr algn="ctr">
              <a:defRPr sz="590" b="0">
                <a:solidFill>
                  <a:srgbClr val="263442"/>
                </a:solidFill>
                <a:latin typeface="Arial"/>
                <a:ea typeface="Arial"/>
                <a:cs typeface="Arial"/>
              </a:defRPr>
            </a:lvl1pPr>
            <a:lvl2pPr algn="ctr">
              <a:defRPr sz="590" b="0">
                <a:solidFill>
                  <a:srgbClr val="263442"/>
                </a:solidFill>
                <a:latin typeface="Arial"/>
                <a:ea typeface="Arial"/>
                <a:cs typeface="Arial"/>
              </a:defRPr>
            </a:lvl2pPr>
            <a:lvl3pPr algn="ctr">
              <a:defRPr sz="590" b="0">
                <a:solidFill>
                  <a:srgbClr val="263442"/>
                </a:solidFill>
                <a:latin typeface="Arial"/>
                <a:ea typeface="Arial"/>
                <a:cs typeface="Arial"/>
              </a:defRPr>
            </a:lvl3pPr>
            <a:lvl4pPr algn="ctr">
              <a:defRPr sz="590" b="0">
                <a:solidFill>
                  <a:srgbClr val="263442"/>
                </a:solidFill>
                <a:latin typeface="Arial"/>
                <a:ea typeface="Arial"/>
                <a:cs typeface="Arial"/>
              </a:defRPr>
            </a:lvl4pPr>
            <a:lvl5pPr algn="ctr">
              <a:defRPr sz="590" b="0">
                <a:solidFill>
                  <a:srgbClr val="263442"/>
                </a:solidFill>
                <a:latin typeface="Arial"/>
                <a:ea typeface="Arial"/>
                <a:cs typeface="Arial"/>
              </a:defRPr>
            </a:lvl5pPr>
            <a:lvl6pPr algn="ctr">
              <a:defRPr sz="590" b="0">
                <a:solidFill>
                  <a:srgbClr val="263442"/>
                </a:solidFill>
                <a:latin typeface="Arial"/>
                <a:ea typeface="Arial"/>
                <a:cs typeface="Arial"/>
              </a:defRPr>
            </a:lvl6pPr>
            <a:lvl7pPr algn="ctr">
              <a:defRPr sz="590" b="0">
                <a:solidFill>
                  <a:srgbClr val="263442"/>
                </a:solidFill>
                <a:latin typeface="Arial"/>
                <a:ea typeface="Arial"/>
                <a:cs typeface="Arial"/>
              </a:defRPr>
            </a:lvl7pPr>
            <a:lvl8pPr algn="ctr">
              <a:defRPr sz="590" b="0">
                <a:solidFill>
                  <a:srgbClr val="263442"/>
                </a:solidFill>
                <a:latin typeface="Arial"/>
                <a:ea typeface="Arial"/>
                <a:cs typeface="Arial"/>
              </a:defRPr>
            </a:lvl8pPr>
            <a:lvl9pPr algn="ctr">
              <a:defRPr sz="590" b="0">
                <a:solidFill>
                  <a:srgbClr val="263442"/>
                </a:solidFill>
                <a:latin typeface="Arial"/>
                <a:ea typeface="Arial"/>
                <a:cs typeface="Arial"/>
              </a:defRPr>
            </a:lvl9pPr>
          </a:lstStyle>
          <a:p>
            <a:pPr algn="ctr">
              <a:defRPr sz="590" b="0">
                <a:solidFill>
                  <a:srgbClr val="263442"/>
                </a:solidFill>
                <a:latin typeface="Arial"/>
                <a:ea typeface="Arial"/>
                <a:cs typeface="Arial"/>
              </a:defRPr>
            </a:pPr>
            <a:r>
              <a:rPr sz="550" dirty="0">
                <a:solidFill>
                  <a:srgbClr val="263442"/>
                </a:solidFill>
                <a:latin typeface="Arial"/>
                <a:ea typeface="Arial"/>
                <a:cs typeface="Arial"/>
              </a:rPr>
              <a:t>from Find</a:t>
            </a:r>
          </a:p>
        </p:txBody>
      </p:sp>
      <p:sp>
        <p:nvSpPr>
          <p:cNvPr id="771" name="Pocket label">
            <a:extLst>
              <a:ext uri="{FF2B5EF4-FFF2-40B4-BE49-F238E27FC236}">
                <a16:creationId xmlns:a16="http://schemas.microsoft.com/office/drawing/2014/main" id="{DC9603B8-71EE-2C1D-249F-079678E93D98}"/>
              </a:ext>
            </a:extLst>
          </p:cNvPr>
          <p:cNvSpPr>
            <a:spLocks noGrp="1"/>
          </p:cNvSpPr>
          <p:nvPr/>
        </p:nvSpPr>
        <p:spPr>
          <a:xfrm>
            <a:off x="5581260" y="854408"/>
            <a:ext cx="514364" cy="101253"/>
          </a:xfrm>
          <a:prstGeom prst="rect">
            <a:avLst/>
          </a:prstGeom>
          <a:noFill/>
          <a:ln w="6885">
            <a:noFill/>
            <a:prstDash val="solid"/>
          </a:ln>
        </p:spPr>
        <p:txBody>
          <a:bodyPr lIns="0" tIns="0" rIns="0" bIns="0" anchor="ctr"/>
          <a:lstStyle>
            <a:defPPr algn="ctr">
              <a:defRPr sz="695" b="1">
                <a:solidFill>
                  <a:srgbClr val="263442"/>
                </a:solidFill>
                <a:latin typeface="Arial"/>
                <a:ea typeface="Arial"/>
                <a:cs typeface="Arial"/>
              </a:defRPr>
            </a:defPPr>
            <a:lvl1pPr algn="ctr">
              <a:defRPr sz="695" b="1">
                <a:solidFill>
                  <a:srgbClr val="263442"/>
                </a:solidFill>
                <a:latin typeface="Arial"/>
                <a:ea typeface="Arial"/>
                <a:cs typeface="Arial"/>
              </a:defRPr>
            </a:lvl1pPr>
            <a:lvl2pPr algn="ctr">
              <a:defRPr sz="695" b="1">
                <a:solidFill>
                  <a:srgbClr val="263442"/>
                </a:solidFill>
                <a:latin typeface="Arial"/>
                <a:ea typeface="Arial"/>
                <a:cs typeface="Arial"/>
              </a:defRPr>
            </a:lvl2pPr>
            <a:lvl3pPr algn="ctr">
              <a:defRPr sz="695" b="1">
                <a:solidFill>
                  <a:srgbClr val="263442"/>
                </a:solidFill>
                <a:latin typeface="Arial"/>
                <a:ea typeface="Arial"/>
                <a:cs typeface="Arial"/>
              </a:defRPr>
            </a:lvl3pPr>
            <a:lvl4pPr algn="ctr">
              <a:defRPr sz="695" b="1">
                <a:solidFill>
                  <a:srgbClr val="263442"/>
                </a:solidFill>
                <a:latin typeface="Arial"/>
                <a:ea typeface="Arial"/>
                <a:cs typeface="Arial"/>
              </a:defRPr>
            </a:lvl4pPr>
            <a:lvl5pPr algn="ctr">
              <a:defRPr sz="695" b="1">
                <a:solidFill>
                  <a:srgbClr val="263442"/>
                </a:solidFill>
                <a:latin typeface="Arial"/>
                <a:ea typeface="Arial"/>
                <a:cs typeface="Arial"/>
              </a:defRPr>
            </a:lvl5pPr>
            <a:lvl6pPr algn="ctr">
              <a:defRPr sz="695" b="1">
                <a:solidFill>
                  <a:srgbClr val="263442"/>
                </a:solidFill>
                <a:latin typeface="Arial"/>
                <a:ea typeface="Arial"/>
                <a:cs typeface="Arial"/>
              </a:defRPr>
            </a:lvl6pPr>
            <a:lvl7pPr algn="ctr">
              <a:defRPr sz="695" b="1">
                <a:solidFill>
                  <a:srgbClr val="263442"/>
                </a:solidFill>
                <a:latin typeface="Arial"/>
                <a:ea typeface="Arial"/>
                <a:cs typeface="Arial"/>
              </a:defRPr>
            </a:lvl7pPr>
            <a:lvl8pPr algn="ctr">
              <a:defRPr sz="695" b="1">
                <a:solidFill>
                  <a:srgbClr val="263442"/>
                </a:solidFill>
                <a:latin typeface="Arial"/>
                <a:ea typeface="Arial"/>
                <a:cs typeface="Arial"/>
              </a:defRPr>
            </a:lvl8pPr>
            <a:lvl9pPr algn="ctr">
              <a:defRPr sz="695" b="1">
                <a:solidFill>
                  <a:srgbClr val="263442"/>
                </a:solidFill>
                <a:latin typeface="Arial"/>
                <a:ea typeface="Arial"/>
                <a:cs typeface="Arial"/>
              </a:defRPr>
            </a:lvl9pPr>
          </a:lstStyle>
          <a:p>
            <a:pPr algn="ctr">
              <a:defRPr sz="695" b="1">
                <a:solidFill>
                  <a:srgbClr val="263442"/>
                </a:solidFill>
                <a:latin typeface="Arial"/>
                <a:ea typeface="Arial"/>
                <a:cs typeface="Arial"/>
              </a:defRPr>
            </a:pPr>
            <a:r>
              <a:rPr sz="695" b="0" dirty="0">
                <a:solidFill>
                  <a:srgbClr val="263442"/>
                </a:solidFill>
                <a:latin typeface="Arial"/>
                <a:ea typeface="Arial"/>
                <a:cs typeface="Arial"/>
              </a:rPr>
              <a:t>Pocket</a:t>
            </a:r>
          </a:p>
        </p:txBody>
      </p:sp>
      <p:sp>
        <p:nvSpPr>
          <p:cNvPr id="773" name="SMILES label">
            <a:extLst>
              <a:ext uri="{FF2B5EF4-FFF2-40B4-BE49-F238E27FC236}">
                <a16:creationId xmlns:a16="http://schemas.microsoft.com/office/drawing/2014/main" id="{25FC5404-5A0B-2BE5-8144-C74C3108E008}"/>
              </a:ext>
            </a:extLst>
          </p:cNvPr>
          <p:cNvSpPr>
            <a:spLocks noGrp="1"/>
          </p:cNvSpPr>
          <p:nvPr/>
        </p:nvSpPr>
        <p:spPr>
          <a:xfrm>
            <a:off x="4999664" y="1480722"/>
            <a:ext cx="514364" cy="101253"/>
          </a:xfrm>
          <a:prstGeom prst="rect">
            <a:avLst/>
          </a:prstGeom>
          <a:noFill/>
          <a:ln w="6885">
            <a:noFill/>
            <a:prstDash val="solid"/>
          </a:ln>
        </p:spPr>
        <p:txBody>
          <a:bodyPr lIns="0" tIns="0" rIns="0" bIns="0" anchor="ctr"/>
          <a:lstStyle>
            <a:defPPr algn="ctr">
              <a:defRPr sz="695" b="1">
                <a:solidFill>
                  <a:srgbClr val="263442"/>
                </a:solidFill>
                <a:latin typeface="Arial"/>
                <a:ea typeface="Arial"/>
                <a:cs typeface="Arial"/>
              </a:defRPr>
            </a:defPPr>
            <a:lvl1pPr algn="ctr">
              <a:defRPr sz="695" b="1">
                <a:solidFill>
                  <a:srgbClr val="263442"/>
                </a:solidFill>
                <a:latin typeface="Arial"/>
                <a:ea typeface="Arial"/>
                <a:cs typeface="Arial"/>
              </a:defRPr>
            </a:lvl1pPr>
            <a:lvl2pPr algn="ctr">
              <a:defRPr sz="695" b="1">
                <a:solidFill>
                  <a:srgbClr val="263442"/>
                </a:solidFill>
                <a:latin typeface="Arial"/>
                <a:ea typeface="Arial"/>
                <a:cs typeface="Arial"/>
              </a:defRPr>
            </a:lvl2pPr>
            <a:lvl3pPr algn="ctr">
              <a:defRPr sz="695" b="1">
                <a:solidFill>
                  <a:srgbClr val="263442"/>
                </a:solidFill>
                <a:latin typeface="Arial"/>
                <a:ea typeface="Arial"/>
                <a:cs typeface="Arial"/>
              </a:defRPr>
            </a:lvl3pPr>
            <a:lvl4pPr algn="ctr">
              <a:defRPr sz="695" b="1">
                <a:solidFill>
                  <a:srgbClr val="263442"/>
                </a:solidFill>
                <a:latin typeface="Arial"/>
                <a:ea typeface="Arial"/>
                <a:cs typeface="Arial"/>
              </a:defRPr>
            </a:lvl4pPr>
            <a:lvl5pPr algn="ctr">
              <a:defRPr sz="695" b="1">
                <a:solidFill>
                  <a:srgbClr val="263442"/>
                </a:solidFill>
                <a:latin typeface="Arial"/>
                <a:ea typeface="Arial"/>
                <a:cs typeface="Arial"/>
              </a:defRPr>
            </a:lvl5pPr>
            <a:lvl6pPr algn="ctr">
              <a:defRPr sz="695" b="1">
                <a:solidFill>
                  <a:srgbClr val="263442"/>
                </a:solidFill>
                <a:latin typeface="Arial"/>
                <a:ea typeface="Arial"/>
                <a:cs typeface="Arial"/>
              </a:defRPr>
            </a:lvl6pPr>
            <a:lvl7pPr algn="ctr">
              <a:defRPr sz="695" b="1">
                <a:solidFill>
                  <a:srgbClr val="263442"/>
                </a:solidFill>
                <a:latin typeface="Arial"/>
                <a:ea typeface="Arial"/>
                <a:cs typeface="Arial"/>
              </a:defRPr>
            </a:lvl7pPr>
            <a:lvl8pPr algn="ctr">
              <a:defRPr sz="695" b="1">
                <a:solidFill>
                  <a:srgbClr val="263442"/>
                </a:solidFill>
                <a:latin typeface="Arial"/>
                <a:ea typeface="Arial"/>
                <a:cs typeface="Arial"/>
              </a:defRPr>
            </a:lvl8pPr>
            <a:lvl9pPr algn="ctr">
              <a:defRPr sz="695" b="1">
                <a:solidFill>
                  <a:srgbClr val="263442"/>
                </a:solidFill>
                <a:latin typeface="Arial"/>
                <a:ea typeface="Arial"/>
                <a:cs typeface="Arial"/>
              </a:defRPr>
            </a:lvl9pPr>
          </a:lstStyle>
          <a:p>
            <a:pPr algn="ctr">
              <a:defRPr sz="695" b="1">
                <a:solidFill>
                  <a:srgbClr val="263442"/>
                </a:solidFill>
                <a:latin typeface="Arial"/>
                <a:ea typeface="Arial"/>
                <a:cs typeface="Arial"/>
              </a:defRPr>
            </a:pPr>
            <a:r>
              <a:rPr sz="695" b="0" dirty="0">
                <a:solidFill>
                  <a:srgbClr val="263442"/>
                </a:solidFill>
                <a:latin typeface="Arial"/>
                <a:ea typeface="Arial"/>
                <a:cs typeface="Arial"/>
              </a:rPr>
              <a:t>SMILES</a:t>
            </a:r>
          </a:p>
        </p:txBody>
      </p:sp>
      <p:sp>
        <p:nvSpPr>
          <p:cNvPr id="774" name="SMILES provenance">
            <a:extLst>
              <a:ext uri="{FF2B5EF4-FFF2-40B4-BE49-F238E27FC236}">
                <a16:creationId xmlns:a16="http://schemas.microsoft.com/office/drawing/2014/main" id="{479D80EF-A625-1889-2F4D-C74FF6E2BB39}"/>
              </a:ext>
            </a:extLst>
          </p:cNvPr>
          <p:cNvSpPr>
            <a:spLocks noGrp="1"/>
          </p:cNvSpPr>
          <p:nvPr/>
        </p:nvSpPr>
        <p:spPr>
          <a:xfrm>
            <a:off x="5005380" y="1568821"/>
            <a:ext cx="514364" cy="85052"/>
          </a:xfrm>
          <a:prstGeom prst="rect">
            <a:avLst/>
          </a:prstGeom>
          <a:noFill/>
          <a:ln w="6885">
            <a:noFill/>
            <a:prstDash val="solid"/>
          </a:ln>
        </p:spPr>
        <p:txBody>
          <a:bodyPr lIns="0" tIns="0" rIns="0" bIns="0" anchor="ctr"/>
          <a:lstStyle>
            <a:defPPr algn="ctr">
              <a:defRPr sz="590" b="0">
                <a:solidFill>
                  <a:srgbClr val="263442"/>
                </a:solidFill>
                <a:latin typeface="Arial"/>
                <a:ea typeface="Arial"/>
                <a:cs typeface="Arial"/>
              </a:defRPr>
            </a:defPPr>
            <a:lvl1pPr algn="ctr">
              <a:defRPr sz="590" b="0">
                <a:solidFill>
                  <a:srgbClr val="263442"/>
                </a:solidFill>
                <a:latin typeface="Arial"/>
                <a:ea typeface="Arial"/>
                <a:cs typeface="Arial"/>
              </a:defRPr>
            </a:lvl1pPr>
            <a:lvl2pPr algn="ctr">
              <a:defRPr sz="590" b="0">
                <a:solidFill>
                  <a:srgbClr val="263442"/>
                </a:solidFill>
                <a:latin typeface="Arial"/>
                <a:ea typeface="Arial"/>
                <a:cs typeface="Arial"/>
              </a:defRPr>
            </a:lvl2pPr>
            <a:lvl3pPr algn="ctr">
              <a:defRPr sz="590" b="0">
                <a:solidFill>
                  <a:srgbClr val="263442"/>
                </a:solidFill>
                <a:latin typeface="Arial"/>
                <a:ea typeface="Arial"/>
                <a:cs typeface="Arial"/>
              </a:defRPr>
            </a:lvl3pPr>
            <a:lvl4pPr algn="ctr">
              <a:defRPr sz="590" b="0">
                <a:solidFill>
                  <a:srgbClr val="263442"/>
                </a:solidFill>
                <a:latin typeface="Arial"/>
                <a:ea typeface="Arial"/>
                <a:cs typeface="Arial"/>
              </a:defRPr>
            </a:lvl4pPr>
            <a:lvl5pPr algn="ctr">
              <a:defRPr sz="590" b="0">
                <a:solidFill>
                  <a:srgbClr val="263442"/>
                </a:solidFill>
                <a:latin typeface="Arial"/>
                <a:ea typeface="Arial"/>
                <a:cs typeface="Arial"/>
              </a:defRPr>
            </a:lvl5pPr>
            <a:lvl6pPr algn="ctr">
              <a:defRPr sz="590" b="0">
                <a:solidFill>
                  <a:srgbClr val="263442"/>
                </a:solidFill>
                <a:latin typeface="Arial"/>
                <a:ea typeface="Arial"/>
                <a:cs typeface="Arial"/>
              </a:defRPr>
            </a:lvl6pPr>
            <a:lvl7pPr algn="ctr">
              <a:defRPr sz="590" b="0">
                <a:solidFill>
                  <a:srgbClr val="263442"/>
                </a:solidFill>
                <a:latin typeface="Arial"/>
                <a:ea typeface="Arial"/>
                <a:cs typeface="Arial"/>
              </a:defRPr>
            </a:lvl7pPr>
            <a:lvl8pPr algn="ctr">
              <a:defRPr sz="590" b="0">
                <a:solidFill>
                  <a:srgbClr val="263442"/>
                </a:solidFill>
                <a:latin typeface="Arial"/>
                <a:ea typeface="Arial"/>
                <a:cs typeface="Arial"/>
              </a:defRPr>
            </a:lvl8pPr>
            <a:lvl9pPr algn="ctr">
              <a:defRPr sz="590" b="0">
                <a:solidFill>
                  <a:srgbClr val="263442"/>
                </a:solidFill>
                <a:latin typeface="Arial"/>
                <a:ea typeface="Arial"/>
                <a:cs typeface="Arial"/>
              </a:defRPr>
            </a:lvl9pPr>
          </a:lstStyle>
          <a:p>
            <a:pPr algn="ctr">
              <a:defRPr sz="590" b="0">
                <a:solidFill>
                  <a:srgbClr val="263442"/>
                </a:solidFill>
                <a:latin typeface="Arial"/>
                <a:ea typeface="Arial"/>
                <a:cs typeface="Arial"/>
              </a:defRPr>
            </a:pPr>
            <a:r>
              <a:rPr sz="550" dirty="0">
                <a:solidFill>
                  <a:srgbClr val="263442"/>
                </a:solidFill>
                <a:latin typeface="Arial"/>
                <a:ea typeface="Arial"/>
                <a:cs typeface="Arial"/>
              </a:rPr>
              <a:t>from Match</a:t>
            </a:r>
          </a:p>
        </p:txBody>
      </p:sp>
      <p:sp>
        <p:nvSpPr>
          <p:cNvPr id="775" name="Density input label">
            <a:extLst>
              <a:ext uri="{FF2B5EF4-FFF2-40B4-BE49-F238E27FC236}">
                <a16:creationId xmlns:a16="http://schemas.microsoft.com/office/drawing/2014/main" id="{A743C77B-3F50-BBD8-13CB-52DCF781FE64}"/>
              </a:ext>
            </a:extLst>
          </p:cNvPr>
          <p:cNvSpPr>
            <a:spLocks noGrp="1"/>
          </p:cNvSpPr>
          <p:nvPr/>
        </p:nvSpPr>
        <p:spPr>
          <a:xfrm>
            <a:off x="5574918" y="1480706"/>
            <a:ext cx="514364" cy="101253"/>
          </a:xfrm>
          <a:prstGeom prst="rect">
            <a:avLst/>
          </a:prstGeom>
          <a:noFill/>
          <a:ln w="6885">
            <a:noFill/>
            <a:prstDash val="solid"/>
          </a:ln>
        </p:spPr>
        <p:txBody>
          <a:bodyPr lIns="0" tIns="0" rIns="0" bIns="0" anchor="ctr"/>
          <a:lstStyle>
            <a:defPPr algn="ctr">
              <a:defRPr sz="695" b="1">
                <a:solidFill>
                  <a:srgbClr val="263442"/>
                </a:solidFill>
                <a:latin typeface="Arial"/>
                <a:ea typeface="Arial"/>
                <a:cs typeface="Arial"/>
              </a:defRPr>
            </a:defPPr>
            <a:lvl1pPr algn="ctr">
              <a:defRPr sz="695" b="1">
                <a:solidFill>
                  <a:srgbClr val="263442"/>
                </a:solidFill>
                <a:latin typeface="Arial"/>
                <a:ea typeface="Arial"/>
                <a:cs typeface="Arial"/>
              </a:defRPr>
            </a:lvl1pPr>
            <a:lvl2pPr algn="ctr">
              <a:defRPr sz="695" b="1">
                <a:solidFill>
                  <a:srgbClr val="263442"/>
                </a:solidFill>
                <a:latin typeface="Arial"/>
                <a:ea typeface="Arial"/>
                <a:cs typeface="Arial"/>
              </a:defRPr>
            </a:lvl2pPr>
            <a:lvl3pPr algn="ctr">
              <a:defRPr sz="695" b="1">
                <a:solidFill>
                  <a:srgbClr val="263442"/>
                </a:solidFill>
                <a:latin typeface="Arial"/>
                <a:ea typeface="Arial"/>
                <a:cs typeface="Arial"/>
              </a:defRPr>
            </a:lvl3pPr>
            <a:lvl4pPr algn="ctr">
              <a:defRPr sz="695" b="1">
                <a:solidFill>
                  <a:srgbClr val="263442"/>
                </a:solidFill>
                <a:latin typeface="Arial"/>
                <a:ea typeface="Arial"/>
                <a:cs typeface="Arial"/>
              </a:defRPr>
            </a:lvl4pPr>
            <a:lvl5pPr algn="ctr">
              <a:defRPr sz="695" b="1">
                <a:solidFill>
                  <a:srgbClr val="263442"/>
                </a:solidFill>
                <a:latin typeface="Arial"/>
                <a:ea typeface="Arial"/>
                <a:cs typeface="Arial"/>
              </a:defRPr>
            </a:lvl5pPr>
            <a:lvl6pPr algn="ctr">
              <a:defRPr sz="695" b="1">
                <a:solidFill>
                  <a:srgbClr val="263442"/>
                </a:solidFill>
                <a:latin typeface="Arial"/>
                <a:ea typeface="Arial"/>
                <a:cs typeface="Arial"/>
              </a:defRPr>
            </a:lvl6pPr>
            <a:lvl7pPr algn="ctr">
              <a:defRPr sz="695" b="1">
                <a:solidFill>
                  <a:srgbClr val="263442"/>
                </a:solidFill>
                <a:latin typeface="Arial"/>
                <a:ea typeface="Arial"/>
                <a:cs typeface="Arial"/>
              </a:defRPr>
            </a:lvl7pPr>
            <a:lvl8pPr algn="ctr">
              <a:defRPr sz="695" b="1">
                <a:solidFill>
                  <a:srgbClr val="263442"/>
                </a:solidFill>
                <a:latin typeface="Arial"/>
                <a:ea typeface="Arial"/>
                <a:cs typeface="Arial"/>
              </a:defRPr>
            </a:lvl8pPr>
            <a:lvl9pPr algn="ctr">
              <a:defRPr sz="695" b="1">
                <a:solidFill>
                  <a:srgbClr val="263442"/>
                </a:solidFill>
                <a:latin typeface="Arial"/>
                <a:ea typeface="Arial"/>
                <a:cs typeface="Arial"/>
              </a:defRPr>
            </a:lvl9pPr>
          </a:lstStyle>
          <a:p>
            <a:pPr algn="ctr">
              <a:defRPr sz="695" b="1">
                <a:solidFill>
                  <a:srgbClr val="263442"/>
                </a:solidFill>
                <a:latin typeface="Arial"/>
                <a:ea typeface="Arial"/>
                <a:cs typeface="Arial"/>
              </a:defRPr>
            </a:pPr>
            <a:r>
              <a:rPr sz="695" b="0" dirty="0">
                <a:solidFill>
                  <a:srgbClr val="263442"/>
                </a:solidFill>
                <a:latin typeface="Arial"/>
                <a:ea typeface="Arial"/>
                <a:cs typeface="Arial"/>
              </a:rPr>
              <a:t>Density</a:t>
            </a:r>
          </a:p>
        </p:txBody>
      </p:sp>
      <p:sp>
        <p:nvSpPr>
          <p:cNvPr id="776" name="Docking tools title">
            <a:extLst>
              <a:ext uri="{FF2B5EF4-FFF2-40B4-BE49-F238E27FC236}">
                <a16:creationId xmlns:a16="http://schemas.microsoft.com/office/drawing/2014/main" id="{F4F53E91-014C-CC30-59FD-5CB7B47AA24B}"/>
              </a:ext>
            </a:extLst>
          </p:cNvPr>
          <p:cNvSpPr>
            <a:spLocks noGrp="1"/>
          </p:cNvSpPr>
          <p:nvPr/>
        </p:nvSpPr>
        <p:spPr>
          <a:xfrm>
            <a:off x="5047760" y="1867770"/>
            <a:ext cx="1101630" cy="117453"/>
          </a:xfrm>
          <a:prstGeom prst="rect">
            <a:avLst/>
          </a:prstGeom>
          <a:noFill/>
          <a:ln w="6885">
            <a:noFill/>
            <a:prstDash val="solid"/>
          </a:ln>
        </p:spPr>
        <p:txBody>
          <a:bodyPr lIns="0" tIns="0" rIns="0" bIns="0" anchor="ctr"/>
          <a:lstStyle>
            <a:defPPr algn="ctr">
              <a:defRPr sz="702" b="1">
                <a:solidFill>
                  <a:srgbClr val="263442"/>
                </a:solidFill>
                <a:latin typeface="Arial"/>
                <a:ea typeface="Arial"/>
                <a:cs typeface="Arial"/>
              </a:defRPr>
            </a:defPPr>
            <a:lvl1pPr algn="ctr">
              <a:defRPr sz="702" b="1">
                <a:solidFill>
                  <a:srgbClr val="263442"/>
                </a:solidFill>
                <a:latin typeface="Arial"/>
                <a:ea typeface="Arial"/>
                <a:cs typeface="Arial"/>
              </a:defRPr>
            </a:lvl1pPr>
            <a:lvl2pPr algn="ctr">
              <a:defRPr sz="702" b="1">
                <a:solidFill>
                  <a:srgbClr val="263442"/>
                </a:solidFill>
                <a:latin typeface="Arial"/>
                <a:ea typeface="Arial"/>
                <a:cs typeface="Arial"/>
              </a:defRPr>
            </a:lvl2pPr>
            <a:lvl3pPr algn="ctr">
              <a:defRPr sz="702" b="1">
                <a:solidFill>
                  <a:srgbClr val="263442"/>
                </a:solidFill>
                <a:latin typeface="Arial"/>
                <a:ea typeface="Arial"/>
                <a:cs typeface="Arial"/>
              </a:defRPr>
            </a:lvl3pPr>
            <a:lvl4pPr algn="ctr">
              <a:defRPr sz="702" b="1">
                <a:solidFill>
                  <a:srgbClr val="263442"/>
                </a:solidFill>
                <a:latin typeface="Arial"/>
                <a:ea typeface="Arial"/>
                <a:cs typeface="Arial"/>
              </a:defRPr>
            </a:lvl4pPr>
            <a:lvl5pPr algn="ctr">
              <a:defRPr sz="702" b="1">
                <a:solidFill>
                  <a:srgbClr val="263442"/>
                </a:solidFill>
                <a:latin typeface="Arial"/>
                <a:ea typeface="Arial"/>
                <a:cs typeface="Arial"/>
              </a:defRPr>
            </a:lvl5pPr>
            <a:lvl6pPr algn="ctr">
              <a:defRPr sz="702" b="1">
                <a:solidFill>
                  <a:srgbClr val="263442"/>
                </a:solidFill>
                <a:latin typeface="Arial"/>
                <a:ea typeface="Arial"/>
                <a:cs typeface="Arial"/>
              </a:defRPr>
            </a:lvl6pPr>
            <a:lvl7pPr algn="ctr">
              <a:defRPr sz="702" b="1">
                <a:solidFill>
                  <a:srgbClr val="263442"/>
                </a:solidFill>
                <a:latin typeface="Arial"/>
                <a:ea typeface="Arial"/>
                <a:cs typeface="Arial"/>
              </a:defRPr>
            </a:lvl7pPr>
            <a:lvl8pPr algn="ctr">
              <a:defRPr sz="702" b="1">
                <a:solidFill>
                  <a:srgbClr val="263442"/>
                </a:solidFill>
                <a:latin typeface="Arial"/>
                <a:ea typeface="Arial"/>
                <a:cs typeface="Arial"/>
              </a:defRPr>
            </a:lvl8pPr>
            <a:lvl9pPr algn="ctr">
              <a:defRPr sz="702" b="1">
                <a:solidFill>
                  <a:srgbClr val="263442"/>
                </a:solidFill>
                <a:latin typeface="Arial"/>
                <a:ea typeface="Arial"/>
                <a:cs typeface="Arial"/>
              </a:defRPr>
            </a:lvl9pPr>
          </a:lstStyle>
          <a:p>
            <a:pPr algn="ctr">
              <a:defRPr sz="702" b="1">
                <a:solidFill>
                  <a:srgbClr val="263442"/>
                </a:solidFill>
                <a:latin typeface="Arial"/>
                <a:ea typeface="Arial"/>
                <a:cs typeface="Arial"/>
              </a:defRPr>
            </a:pPr>
            <a:r>
              <a:rPr lang="en-US" sz="702" b="0" dirty="0">
                <a:solidFill>
                  <a:srgbClr val="263442"/>
                </a:solidFill>
                <a:latin typeface="Arial"/>
                <a:ea typeface="Arial"/>
                <a:cs typeface="Arial"/>
              </a:rPr>
              <a:t>Downstream </a:t>
            </a:r>
            <a:r>
              <a:rPr lang="en-US" b="0" dirty="0"/>
              <a:t>d</a:t>
            </a:r>
            <a:r>
              <a:rPr sz="702" b="0" dirty="0">
                <a:solidFill>
                  <a:srgbClr val="263442"/>
                </a:solidFill>
                <a:latin typeface="Arial"/>
                <a:ea typeface="Arial"/>
                <a:cs typeface="Arial"/>
              </a:rPr>
              <a:t>ocking tools</a:t>
            </a:r>
          </a:p>
        </p:txBody>
      </p:sp>
      <p:sp>
        <p:nvSpPr>
          <p:cNvPr id="777" name="Build pose output">
            <a:extLst>
              <a:ext uri="{FF2B5EF4-FFF2-40B4-BE49-F238E27FC236}">
                <a16:creationId xmlns:a16="http://schemas.microsoft.com/office/drawing/2014/main" id="{96EC49BA-932C-048E-0C29-D37711377096}"/>
              </a:ext>
            </a:extLst>
          </p:cNvPr>
          <p:cNvSpPr>
            <a:spLocks noGrp="1"/>
          </p:cNvSpPr>
          <p:nvPr/>
        </p:nvSpPr>
        <p:spPr>
          <a:xfrm>
            <a:off x="4992811" y="3400604"/>
            <a:ext cx="1106489" cy="941449"/>
          </a:xfrm>
          <a:prstGeom prst="roundRect">
            <a:avLst>
              <a:gd name="adj" fmla="val 5395"/>
            </a:avLst>
          </a:prstGeom>
          <a:solidFill>
            <a:srgbClr val="FFFFFF"/>
          </a:solidFill>
          <a:ln w="7290">
            <a:solidFill>
              <a:srgbClr val="DFD6C3"/>
            </a:solidFill>
            <a:prstDash val="solid"/>
          </a:ln>
        </p:spPr>
      </p:sp>
      <p:sp>
        <p:nvSpPr>
          <p:cNvPr id="778" name="All atom pose label">
            <a:extLst>
              <a:ext uri="{FF2B5EF4-FFF2-40B4-BE49-F238E27FC236}">
                <a16:creationId xmlns:a16="http://schemas.microsoft.com/office/drawing/2014/main" id="{3C1F0666-BDE2-8018-A15E-F23B75749AC3}"/>
              </a:ext>
            </a:extLst>
          </p:cNvPr>
          <p:cNvSpPr>
            <a:spLocks noGrp="1"/>
          </p:cNvSpPr>
          <p:nvPr/>
        </p:nvSpPr>
        <p:spPr>
          <a:xfrm>
            <a:off x="4979784" y="4176444"/>
            <a:ext cx="1231233" cy="117453"/>
          </a:xfrm>
          <a:prstGeom prst="rect">
            <a:avLst/>
          </a:prstGeom>
          <a:noFill/>
          <a:ln w="6885">
            <a:noFill/>
            <a:prstDash val="solid"/>
          </a:ln>
        </p:spPr>
        <p:txBody>
          <a:bodyPr lIns="0" tIns="0" rIns="0" bIns="0" anchor="ctr"/>
          <a:lstStyle>
            <a:defPPr algn="ctr">
              <a:defRPr sz="695" b="1">
                <a:solidFill>
                  <a:srgbClr val="263442"/>
                </a:solidFill>
                <a:latin typeface="Arial"/>
                <a:ea typeface="Arial"/>
                <a:cs typeface="Arial"/>
              </a:defRPr>
            </a:defPPr>
            <a:lvl1pPr algn="ctr">
              <a:defRPr sz="695" b="1">
                <a:solidFill>
                  <a:srgbClr val="263442"/>
                </a:solidFill>
                <a:latin typeface="Arial"/>
                <a:ea typeface="Arial"/>
                <a:cs typeface="Arial"/>
              </a:defRPr>
            </a:lvl1pPr>
            <a:lvl2pPr algn="ctr">
              <a:defRPr sz="695" b="1">
                <a:solidFill>
                  <a:srgbClr val="263442"/>
                </a:solidFill>
                <a:latin typeface="Arial"/>
                <a:ea typeface="Arial"/>
                <a:cs typeface="Arial"/>
              </a:defRPr>
            </a:lvl2pPr>
            <a:lvl3pPr algn="ctr">
              <a:defRPr sz="695" b="1">
                <a:solidFill>
                  <a:srgbClr val="263442"/>
                </a:solidFill>
                <a:latin typeface="Arial"/>
                <a:ea typeface="Arial"/>
                <a:cs typeface="Arial"/>
              </a:defRPr>
            </a:lvl3pPr>
            <a:lvl4pPr algn="ctr">
              <a:defRPr sz="695" b="1">
                <a:solidFill>
                  <a:srgbClr val="263442"/>
                </a:solidFill>
                <a:latin typeface="Arial"/>
                <a:ea typeface="Arial"/>
                <a:cs typeface="Arial"/>
              </a:defRPr>
            </a:lvl4pPr>
            <a:lvl5pPr algn="ctr">
              <a:defRPr sz="695" b="1">
                <a:solidFill>
                  <a:srgbClr val="263442"/>
                </a:solidFill>
                <a:latin typeface="Arial"/>
                <a:ea typeface="Arial"/>
                <a:cs typeface="Arial"/>
              </a:defRPr>
            </a:lvl5pPr>
            <a:lvl6pPr algn="ctr">
              <a:defRPr sz="695" b="1">
                <a:solidFill>
                  <a:srgbClr val="263442"/>
                </a:solidFill>
                <a:latin typeface="Arial"/>
                <a:ea typeface="Arial"/>
                <a:cs typeface="Arial"/>
              </a:defRPr>
            </a:lvl6pPr>
            <a:lvl7pPr algn="ctr">
              <a:defRPr sz="695" b="1">
                <a:solidFill>
                  <a:srgbClr val="263442"/>
                </a:solidFill>
                <a:latin typeface="Arial"/>
                <a:ea typeface="Arial"/>
                <a:cs typeface="Arial"/>
              </a:defRPr>
            </a:lvl7pPr>
            <a:lvl8pPr algn="ctr">
              <a:defRPr sz="695" b="1">
                <a:solidFill>
                  <a:srgbClr val="263442"/>
                </a:solidFill>
                <a:latin typeface="Arial"/>
                <a:ea typeface="Arial"/>
                <a:cs typeface="Arial"/>
              </a:defRPr>
            </a:lvl8pPr>
            <a:lvl9pPr algn="ctr">
              <a:defRPr sz="695" b="1">
                <a:solidFill>
                  <a:srgbClr val="263442"/>
                </a:solidFill>
                <a:latin typeface="Arial"/>
                <a:ea typeface="Arial"/>
                <a:cs typeface="Arial"/>
              </a:defRPr>
            </a:lvl9pPr>
          </a:lstStyle>
          <a:p>
            <a:pPr algn="ctr">
              <a:defRPr sz="695" b="1">
                <a:solidFill>
                  <a:srgbClr val="263442"/>
                </a:solidFill>
                <a:latin typeface="Arial"/>
                <a:ea typeface="Arial"/>
                <a:cs typeface="Arial"/>
              </a:defRPr>
            </a:pPr>
            <a:r>
              <a:rPr sz="695" b="0" dirty="0">
                <a:solidFill>
                  <a:srgbClr val="263442"/>
                </a:solidFill>
                <a:latin typeface="Arial"/>
                <a:ea typeface="Arial"/>
                <a:cs typeface="Arial"/>
              </a:rPr>
              <a:t>All-atom ligand pose</a:t>
            </a:r>
          </a:p>
        </p:txBody>
      </p:sp>
      <p:pic>
        <p:nvPicPr>
          <p:cNvPr id="967" name="Build corresponding experimental density" descr="Experimental 9LLG density around chain C1 of the displayed CryoAtom2 receptor, at the original contour level and the identical camera orientation.">
            <a:extLst>
              <a:ext uri="{FF2B5EF4-FFF2-40B4-BE49-F238E27FC236}">
                <a16:creationId xmlns:a16="http://schemas.microsoft.com/office/drawing/2014/main" id="{485B6500-58C3-8694-DCBD-D5824BAE6312}"/>
              </a:ext>
            </a:extLst>
          </p:cNvPr>
          <p:cNvPicPr/>
          <p:nvPr/>
        </p:nvPicPr>
        <p:blipFill>
          <a:blip r:embed="rId4"/>
          <a:stretch>
            <a:fillRect/>
          </a:stretch>
        </p:blipFill>
        <p:spPr>
          <a:xfrm>
            <a:off x="5657542" y="1104265"/>
            <a:ext cx="361766" cy="345440"/>
          </a:xfrm>
          <a:prstGeom prst="rect">
            <a:avLst/>
          </a:prstGeom>
        </p:spPr>
      </p:pic>
      <p:sp>
        <p:nvSpPr>
          <p:cNvPr id="1187" name="Build | Engines frame">
            <a:extLst>
              <a:ext uri="{FF2B5EF4-FFF2-40B4-BE49-F238E27FC236}">
                <a16:creationId xmlns:a16="http://schemas.microsoft.com/office/drawing/2014/main" id="{968C3470-AFF4-84BE-480A-4198D540DAFD}"/>
              </a:ext>
            </a:extLst>
          </p:cNvPr>
          <p:cNvSpPr/>
          <p:nvPr/>
        </p:nvSpPr>
        <p:spPr>
          <a:xfrm>
            <a:off x="4938821" y="2032000"/>
            <a:ext cx="1202377" cy="1172634"/>
          </a:xfrm>
          <a:prstGeom prst="roundRect">
            <a:avLst>
              <a:gd name="adj" fmla="val 5000"/>
            </a:avLst>
          </a:prstGeom>
          <a:solidFill>
            <a:srgbClr val="FFFFFF">
              <a:alpha val="50000"/>
            </a:srgbClr>
          </a:solidFill>
          <a:ln w="7290">
            <a:solidFill>
              <a:srgbClr val="D5CCB8"/>
            </a:solidFill>
            <a:prstDash val="dash"/>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dirty="0"/>
          </a:p>
        </p:txBody>
      </p:sp>
      <p:sp>
        <p:nvSpPr>
          <p:cNvPr id="1188" name="Build | Default PocketXMol card">
            <a:extLst>
              <a:ext uri="{FF2B5EF4-FFF2-40B4-BE49-F238E27FC236}">
                <a16:creationId xmlns:a16="http://schemas.microsoft.com/office/drawing/2014/main" id="{52EDB60B-0EF2-5740-F6D3-490228F31BBD}"/>
              </a:ext>
            </a:extLst>
          </p:cNvPr>
          <p:cNvSpPr/>
          <p:nvPr/>
        </p:nvSpPr>
        <p:spPr>
          <a:xfrm>
            <a:off x="4992811" y="2089570"/>
            <a:ext cx="1106490" cy="456341"/>
          </a:xfrm>
          <a:prstGeom prst="roundRect">
            <a:avLst>
              <a:gd name="adj" fmla="val 8000"/>
            </a:avLst>
          </a:prstGeom>
          <a:solidFill>
            <a:srgbClr val="FAF1DE"/>
          </a:solidFill>
          <a:ln w="7290">
            <a:solidFill>
              <a:srgbClr val="D8A95A"/>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grpSp>
        <p:nvGrpSpPr>
          <p:cNvPr id="1189" name="Build | Density cube icon">
            <a:extLst>
              <a:ext uri="{FF2B5EF4-FFF2-40B4-BE49-F238E27FC236}">
                <a16:creationId xmlns:a16="http://schemas.microsoft.com/office/drawing/2014/main" id="{1E199BBA-7EEA-1D1F-CC07-CF5E10C73191}"/>
              </a:ext>
            </a:extLst>
          </p:cNvPr>
          <p:cNvGrpSpPr/>
          <p:nvPr/>
        </p:nvGrpSpPr>
        <p:grpSpPr>
          <a:xfrm>
            <a:off x="5024943" y="2171534"/>
            <a:ext cx="213580" cy="227238"/>
            <a:chOff x="2187720" y="5635440"/>
            <a:chExt cx="154440" cy="131400"/>
          </a:xfrm>
        </p:grpSpPr>
        <p:sp>
          <p:nvSpPr>
            <p:cNvPr id="1190" name="asset_3169_0">
              <a:extLst>
                <a:ext uri="{FF2B5EF4-FFF2-40B4-BE49-F238E27FC236}">
                  <a16:creationId xmlns:a16="http://schemas.microsoft.com/office/drawing/2014/main" id="{5FB93E16-86CF-EC30-4B85-AB855EC83D6D}"/>
                </a:ext>
              </a:extLst>
            </p:cNvPr>
            <p:cNvSpPr>
              <a:spLocks noGrp="1"/>
            </p:cNvSpPr>
            <p:nvPr/>
          </p:nvSpPr>
          <p:spPr>
            <a:xfrm>
              <a:off x="2187720" y="5635440"/>
              <a:ext cx="154440" cy="22338"/>
            </a:xfrm>
            <a:custGeom>
              <a:avLst/>
              <a:gdLst/>
              <a:ahLst/>
              <a:cxnLst/>
              <a:rect l="0" t="0" r="0" b="0"/>
              <a:pathLst>
                <a:path w="154440" h="22338">
                  <a:moveTo>
                    <a:pt x="0" y="22338"/>
                  </a:moveTo>
                  <a:lnTo>
                    <a:pt x="29344" y="0"/>
                  </a:lnTo>
                  <a:lnTo>
                    <a:pt x="154440" y="0"/>
                  </a:lnTo>
                  <a:lnTo>
                    <a:pt x="125096" y="22338"/>
                  </a:lnTo>
                  <a:close/>
                </a:path>
              </a:pathLst>
            </a:custGeom>
            <a:gradFill>
              <a:gsLst>
                <a:gs pos="0">
                  <a:srgbClr val="FAFDFF">
                    <a:alpha val="65000"/>
                  </a:srgbClr>
                </a:gs>
                <a:gs pos="100000">
                  <a:srgbClr val="D9EAFA">
                    <a:alpha val="45000"/>
                  </a:srgbClr>
                </a:gs>
              </a:gsLst>
              <a:lin ang="5400000"/>
            </a:gradFill>
            <a:ln w="2700">
              <a:solidFill>
                <a:srgbClr val="A3C3E2"/>
              </a:solidFill>
            </a:ln>
          </p:spPr>
        </p:sp>
        <p:sp>
          <p:nvSpPr>
            <p:cNvPr id="1191" name="asset_3169_1">
              <a:extLst>
                <a:ext uri="{FF2B5EF4-FFF2-40B4-BE49-F238E27FC236}">
                  <a16:creationId xmlns:a16="http://schemas.microsoft.com/office/drawing/2014/main" id="{99B41AE2-EAF3-E315-4AA4-A4F793A4B44B}"/>
                </a:ext>
              </a:extLst>
            </p:cNvPr>
            <p:cNvSpPr>
              <a:spLocks noGrp="1"/>
            </p:cNvSpPr>
            <p:nvPr/>
          </p:nvSpPr>
          <p:spPr>
            <a:xfrm>
              <a:off x="2312816" y="5635440"/>
              <a:ext cx="29344" cy="131400"/>
            </a:xfrm>
            <a:custGeom>
              <a:avLst/>
              <a:gdLst/>
              <a:ahLst/>
              <a:cxnLst/>
              <a:rect l="0" t="0" r="0" b="0"/>
              <a:pathLst>
                <a:path w="29344" h="131400">
                  <a:moveTo>
                    <a:pt x="0" y="22338"/>
                  </a:moveTo>
                  <a:lnTo>
                    <a:pt x="29344" y="0"/>
                  </a:lnTo>
                  <a:lnTo>
                    <a:pt x="29344" y="109062"/>
                  </a:lnTo>
                  <a:lnTo>
                    <a:pt x="0" y="131400"/>
                  </a:lnTo>
                  <a:close/>
                </a:path>
              </a:pathLst>
            </a:custGeom>
            <a:solidFill>
              <a:srgbClr val="C9DFF3">
                <a:alpha val="22000"/>
              </a:srgbClr>
            </a:solidFill>
            <a:ln w="2700">
              <a:solidFill>
                <a:srgbClr val="A3C3E2"/>
              </a:solidFill>
            </a:ln>
          </p:spPr>
        </p:sp>
        <p:sp>
          <p:nvSpPr>
            <p:cNvPr id="1192" name="asset_3169_2">
              <a:extLst>
                <a:ext uri="{FF2B5EF4-FFF2-40B4-BE49-F238E27FC236}">
                  <a16:creationId xmlns:a16="http://schemas.microsoft.com/office/drawing/2014/main" id="{D63A76A4-2D29-1500-5803-AF39F7023C4D}"/>
                </a:ext>
              </a:extLst>
            </p:cNvPr>
            <p:cNvSpPr>
              <a:spLocks noGrp="1"/>
            </p:cNvSpPr>
            <p:nvPr/>
          </p:nvSpPr>
          <p:spPr>
            <a:xfrm>
              <a:off x="2187720" y="5657778"/>
              <a:ext cx="125096" cy="109062"/>
            </a:xfrm>
            <a:prstGeom prst="rect">
              <a:avLst/>
            </a:prstGeom>
            <a:solidFill>
              <a:srgbClr val="E7F1FC">
                <a:alpha val="20000"/>
              </a:srgbClr>
            </a:solidFill>
            <a:ln w="2700">
              <a:solidFill>
                <a:srgbClr val="ABC9E7"/>
              </a:solidFill>
            </a:ln>
          </p:spPr>
        </p:sp>
        <p:sp>
          <p:nvSpPr>
            <p:cNvPr id="1193" name="asset_3169_3">
              <a:extLst>
                <a:ext uri="{FF2B5EF4-FFF2-40B4-BE49-F238E27FC236}">
                  <a16:creationId xmlns:a16="http://schemas.microsoft.com/office/drawing/2014/main" id="{A1261C35-D54B-E6F0-CEB8-92C3A4EA2F11}"/>
                </a:ext>
              </a:extLst>
            </p:cNvPr>
            <p:cNvSpPr>
              <a:spLocks noGrp="1"/>
            </p:cNvSpPr>
            <p:nvPr/>
          </p:nvSpPr>
          <p:spPr>
            <a:xfrm>
              <a:off x="2218994" y="5657778"/>
              <a:ext cx="4" cy="109062"/>
            </a:xfrm>
            <a:prstGeom prst="line">
              <a:avLst/>
            </a:prstGeom>
            <a:noFill/>
            <a:ln w="1980">
              <a:solidFill>
                <a:srgbClr val="B8D2EB">
                  <a:alpha val="33000"/>
                </a:srgbClr>
              </a:solidFill>
            </a:ln>
          </p:spPr>
        </p:sp>
        <p:sp>
          <p:nvSpPr>
            <p:cNvPr id="1194" name="asset_3169_4">
              <a:extLst>
                <a:ext uri="{FF2B5EF4-FFF2-40B4-BE49-F238E27FC236}">
                  <a16:creationId xmlns:a16="http://schemas.microsoft.com/office/drawing/2014/main" id="{15486D53-C7E9-74F7-5606-71E9E67107CB}"/>
                </a:ext>
              </a:extLst>
            </p:cNvPr>
            <p:cNvSpPr>
              <a:spLocks noGrp="1"/>
            </p:cNvSpPr>
            <p:nvPr/>
          </p:nvSpPr>
          <p:spPr>
            <a:xfrm>
              <a:off x="2187720" y="5685044"/>
              <a:ext cx="125096" cy="4"/>
            </a:xfrm>
            <a:prstGeom prst="line">
              <a:avLst/>
            </a:prstGeom>
            <a:noFill/>
            <a:ln w="1980">
              <a:solidFill>
                <a:srgbClr val="B8D2EB">
                  <a:alpha val="33000"/>
                </a:srgbClr>
              </a:solidFill>
            </a:ln>
          </p:spPr>
        </p:sp>
        <p:sp>
          <p:nvSpPr>
            <p:cNvPr id="1195" name="asset_3169_5">
              <a:extLst>
                <a:ext uri="{FF2B5EF4-FFF2-40B4-BE49-F238E27FC236}">
                  <a16:creationId xmlns:a16="http://schemas.microsoft.com/office/drawing/2014/main" id="{22853855-37F0-F097-5AB4-2A71217CCECE}"/>
                </a:ext>
              </a:extLst>
            </p:cNvPr>
            <p:cNvSpPr>
              <a:spLocks noGrp="1"/>
            </p:cNvSpPr>
            <p:nvPr/>
          </p:nvSpPr>
          <p:spPr>
            <a:xfrm>
              <a:off x="2250268" y="5657778"/>
              <a:ext cx="4" cy="109062"/>
            </a:xfrm>
            <a:prstGeom prst="line">
              <a:avLst/>
            </a:prstGeom>
            <a:noFill/>
            <a:ln w="1980">
              <a:solidFill>
                <a:srgbClr val="B8D2EB">
                  <a:alpha val="33000"/>
                </a:srgbClr>
              </a:solidFill>
            </a:ln>
          </p:spPr>
        </p:sp>
        <p:sp>
          <p:nvSpPr>
            <p:cNvPr id="1196" name="asset_3169_6">
              <a:extLst>
                <a:ext uri="{FF2B5EF4-FFF2-40B4-BE49-F238E27FC236}">
                  <a16:creationId xmlns:a16="http://schemas.microsoft.com/office/drawing/2014/main" id="{226FC415-F61D-9825-F4E2-7875354B9CE4}"/>
                </a:ext>
              </a:extLst>
            </p:cNvPr>
            <p:cNvSpPr>
              <a:spLocks noGrp="1"/>
            </p:cNvSpPr>
            <p:nvPr/>
          </p:nvSpPr>
          <p:spPr>
            <a:xfrm>
              <a:off x="2187720" y="5712309"/>
              <a:ext cx="125096" cy="4"/>
            </a:xfrm>
            <a:prstGeom prst="line">
              <a:avLst/>
            </a:prstGeom>
            <a:noFill/>
            <a:ln w="1980">
              <a:solidFill>
                <a:srgbClr val="B8D2EB">
                  <a:alpha val="33000"/>
                </a:srgbClr>
              </a:solidFill>
            </a:ln>
          </p:spPr>
        </p:sp>
        <p:sp>
          <p:nvSpPr>
            <p:cNvPr id="1197" name="asset_3169_7">
              <a:extLst>
                <a:ext uri="{FF2B5EF4-FFF2-40B4-BE49-F238E27FC236}">
                  <a16:creationId xmlns:a16="http://schemas.microsoft.com/office/drawing/2014/main" id="{98982A79-66E8-8186-5738-B9C8C265AD1D}"/>
                </a:ext>
              </a:extLst>
            </p:cNvPr>
            <p:cNvSpPr>
              <a:spLocks noGrp="1"/>
            </p:cNvSpPr>
            <p:nvPr/>
          </p:nvSpPr>
          <p:spPr>
            <a:xfrm>
              <a:off x="2281542" y="5657778"/>
              <a:ext cx="4" cy="109062"/>
            </a:xfrm>
            <a:prstGeom prst="line">
              <a:avLst/>
            </a:prstGeom>
            <a:noFill/>
            <a:ln w="1980">
              <a:solidFill>
                <a:srgbClr val="B8D2EB">
                  <a:alpha val="33000"/>
                </a:srgbClr>
              </a:solidFill>
            </a:ln>
          </p:spPr>
        </p:sp>
        <p:sp>
          <p:nvSpPr>
            <p:cNvPr id="1198" name="asset_3169_8">
              <a:extLst>
                <a:ext uri="{FF2B5EF4-FFF2-40B4-BE49-F238E27FC236}">
                  <a16:creationId xmlns:a16="http://schemas.microsoft.com/office/drawing/2014/main" id="{E0CC02A3-C3BC-25F3-3ACA-F9C35A764379}"/>
                </a:ext>
              </a:extLst>
            </p:cNvPr>
            <p:cNvSpPr>
              <a:spLocks noGrp="1"/>
            </p:cNvSpPr>
            <p:nvPr/>
          </p:nvSpPr>
          <p:spPr>
            <a:xfrm>
              <a:off x="2187720" y="5739574"/>
              <a:ext cx="125096" cy="4"/>
            </a:xfrm>
            <a:prstGeom prst="line">
              <a:avLst/>
            </a:prstGeom>
            <a:noFill/>
            <a:ln w="1980">
              <a:solidFill>
                <a:srgbClr val="B8D2EB">
                  <a:alpha val="33000"/>
                </a:srgbClr>
              </a:solidFill>
            </a:ln>
          </p:spPr>
        </p:sp>
        <p:sp>
          <p:nvSpPr>
            <p:cNvPr id="1199" name="asset_3169_9">
              <a:extLst>
                <a:ext uri="{FF2B5EF4-FFF2-40B4-BE49-F238E27FC236}">
                  <a16:creationId xmlns:a16="http://schemas.microsoft.com/office/drawing/2014/main" id="{FB579D51-2029-2A4F-F28A-9FD8CEA9C42E}"/>
                </a:ext>
              </a:extLst>
            </p:cNvPr>
            <p:cNvSpPr>
              <a:spLocks noGrp="1"/>
            </p:cNvSpPr>
            <p:nvPr/>
          </p:nvSpPr>
          <p:spPr>
            <a:xfrm>
              <a:off x="2198791" y="5672574"/>
              <a:ext cx="58245" cy="50256"/>
            </a:xfrm>
            <a:prstGeom prst="ellipse">
              <a:avLst/>
            </a:prstGeom>
            <a:gradFill>
              <a:gsLst>
                <a:gs pos="0">
                  <a:srgbClr val="E5F0FF">
                    <a:alpha val="55000"/>
                  </a:srgbClr>
                </a:gs>
                <a:gs pos="48000">
                  <a:srgbClr val="7DA9DB">
                    <a:alpha val="60000"/>
                  </a:srgbClr>
                </a:gs>
                <a:gs pos="100000">
                  <a:srgbClr val="7DA9DB">
                    <a:alpha val="35000"/>
                  </a:srgbClr>
                </a:gs>
              </a:gsLst>
              <a:lin ang="8400000"/>
            </a:gradFill>
            <a:ln w="3600">
              <a:noFill/>
            </a:ln>
            <a:effectLst>
              <a:softEdge rad="4320"/>
            </a:effectLst>
          </p:spPr>
        </p:sp>
        <p:sp>
          <p:nvSpPr>
            <p:cNvPr id="1200" name="asset_3169_10">
              <a:extLst>
                <a:ext uri="{FF2B5EF4-FFF2-40B4-BE49-F238E27FC236}">
                  <a16:creationId xmlns:a16="http://schemas.microsoft.com/office/drawing/2014/main" id="{3E039EDB-C0A1-D2F0-7622-DAD7B4C1DF8A}"/>
                </a:ext>
              </a:extLst>
            </p:cNvPr>
            <p:cNvSpPr>
              <a:spLocks noGrp="1"/>
            </p:cNvSpPr>
            <p:nvPr/>
          </p:nvSpPr>
          <p:spPr>
            <a:xfrm>
              <a:off x="2225487" y="5687232"/>
              <a:ext cx="63099" cy="54444"/>
            </a:xfrm>
            <a:prstGeom prst="ellipse">
              <a:avLst/>
            </a:prstGeom>
            <a:gradFill>
              <a:gsLst>
                <a:gs pos="0">
                  <a:srgbClr val="E5F0FF">
                    <a:alpha val="55000"/>
                  </a:srgbClr>
                </a:gs>
                <a:gs pos="48000">
                  <a:srgbClr val="7DA9DB">
                    <a:alpha val="60000"/>
                  </a:srgbClr>
                </a:gs>
                <a:gs pos="100000">
                  <a:srgbClr val="7DA9DB">
                    <a:alpha val="35000"/>
                  </a:srgbClr>
                </a:gs>
              </a:gsLst>
              <a:lin ang="8400000"/>
            </a:gradFill>
            <a:ln w="3600">
              <a:noFill/>
            </a:ln>
            <a:effectLst>
              <a:softEdge rad="4320"/>
            </a:effectLst>
          </p:spPr>
        </p:sp>
        <p:sp>
          <p:nvSpPr>
            <p:cNvPr id="1201" name="asset_3169_11">
              <a:extLst>
                <a:ext uri="{FF2B5EF4-FFF2-40B4-BE49-F238E27FC236}">
                  <a16:creationId xmlns:a16="http://schemas.microsoft.com/office/drawing/2014/main" id="{041C4C2A-1F3E-B385-6EEF-4CF845DD72CB}"/>
                </a:ext>
              </a:extLst>
            </p:cNvPr>
            <p:cNvSpPr>
              <a:spLocks noGrp="1"/>
            </p:cNvSpPr>
            <p:nvPr/>
          </p:nvSpPr>
          <p:spPr>
            <a:xfrm>
              <a:off x="2248542" y="5660010"/>
              <a:ext cx="55818" cy="48162"/>
            </a:xfrm>
            <a:prstGeom prst="ellipse">
              <a:avLst/>
            </a:prstGeom>
            <a:gradFill>
              <a:gsLst>
                <a:gs pos="0">
                  <a:srgbClr val="E5F0FF">
                    <a:alpha val="55000"/>
                  </a:srgbClr>
                </a:gs>
                <a:gs pos="48000">
                  <a:srgbClr val="7DA9DB">
                    <a:alpha val="60000"/>
                  </a:srgbClr>
                </a:gs>
                <a:gs pos="100000">
                  <a:srgbClr val="7DA9DB">
                    <a:alpha val="35000"/>
                  </a:srgbClr>
                </a:gs>
              </a:gsLst>
              <a:lin ang="8400000"/>
            </a:gradFill>
            <a:ln w="3600">
              <a:noFill/>
            </a:ln>
            <a:effectLst>
              <a:softEdge rad="4320"/>
            </a:effectLst>
          </p:spPr>
        </p:sp>
        <p:sp>
          <p:nvSpPr>
            <p:cNvPr id="1202" name="asset_3169_12">
              <a:extLst>
                <a:ext uri="{FF2B5EF4-FFF2-40B4-BE49-F238E27FC236}">
                  <a16:creationId xmlns:a16="http://schemas.microsoft.com/office/drawing/2014/main" id="{B944B134-0C5C-EDB4-7E05-356300CE5CF2}"/>
                </a:ext>
              </a:extLst>
            </p:cNvPr>
            <p:cNvSpPr>
              <a:spLocks noGrp="1"/>
            </p:cNvSpPr>
            <p:nvPr/>
          </p:nvSpPr>
          <p:spPr>
            <a:xfrm>
              <a:off x="2223060" y="5652681"/>
              <a:ext cx="53391" cy="46068"/>
            </a:xfrm>
            <a:prstGeom prst="ellipse">
              <a:avLst/>
            </a:prstGeom>
            <a:gradFill>
              <a:gsLst>
                <a:gs pos="0">
                  <a:srgbClr val="E5F0FF">
                    <a:alpha val="55000"/>
                  </a:srgbClr>
                </a:gs>
                <a:gs pos="48000">
                  <a:srgbClr val="7DA9DB">
                    <a:alpha val="60000"/>
                  </a:srgbClr>
                </a:gs>
                <a:gs pos="100000">
                  <a:srgbClr val="7DA9DB">
                    <a:alpha val="35000"/>
                  </a:srgbClr>
                </a:gs>
              </a:gsLst>
              <a:lin ang="8400000"/>
            </a:gradFill>
            <a:ln w="3600">
              <a:noFill/>
            </a:ln>
            <a:effectLst>
              <a:softEdge rad="4320"/>
            </a:effectLst>
          </p:spPr>
        </p:sp>
        <p:sp>
          <p:nvSpPr>
            <p:cNvPr id="1203" name="asset_3169_13">
              <a:extLst>
                <a:ext uri="{FF2B5EF4-FFF2-40B4-BE49-F238E27FC236}">
                  <a16:creationId xmlns:a16="http://schemas.microsoft.com/office/drawing/2014/main" id="{E85DB2C4-CA0B-3BB5-4FE0-95E7A522EBC4}"/>
                </a:ext>
              </a:extLst>
            </p:cNvPr>
            <p:cNvSpPr>
              <a:spLocks noGrp="1"/>
            </p:cNvSpPr>
            <p:nvPr/>
          </p:nvSpPr>
          <p:spPr>
            <a:xfrm>
              <a:off x="2207281" y="5693871"/>
              <a:ext cx="30911" cy="26671"/>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04" name="asset_3169_14">
              <a:extLst>
                <a:ext uri="{FF2B5EF4-FFF2-40B4-BE49-F238E27FC236}">
                  <a16:creationId xmlns:a16="http://schemas.microsoft.com/office/drawing/2014/main" id="{7C1D8B1B-9067-04E4-D88D-BBCA8B15ED2D}"/>
                </a:ext>
              </a:extLst>
            </p:cNvPr>
            <p:cNvSpPr>
              <a:spLocks noGrp="1"/>
            </p:cNvSpPr>
            <p:nvPr/>
          </p:nvSpPr>
          <p:spPr>
            <a:xfrm>
              <a:off x="2253557" y="5697302"/>
              <a:ext cx="21556" cy="18600"/>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05" name="asset_3169_15">
              <a:extLst>
                <a:ext uri="{FF2B5EF4-FFF2-40B4-BE49-F238E27FC236}">
                  <a16:creationId xmlns:a16="http://schemas.microsoft.com/office/drawing/2014/main" id="{5098931E-3497-BF84-30B9-8890AE9B2B81}"/>
                </a:ext>
              </a:extLst>
            </p:cNvPr>
            <p:cNvSpPr>
              <a:spLocks noGrp="1"/>
            </p:cNvSpPr>
            <p:nvPr/>
          </p:nvSpPr>
          <p:spPr>
            <a:xfrm>
              <a:off x="2278359" y="5672317"/>
              <a:ext cx="20931" cy="18060"/>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06" name="asset_3169_16">
              <a:extLst>
                <a:ext uri="{FF2B5EF4-FFF2-40B4-BE49-F238E27FC236}">
                  <a16:creationId xmlns:a16="http://schemas.microsoft.com/office/drawing/2014/main" id="{9618D3B1-BB38-1D27-4208-D7DDBBCB03CB}"/>
                </a:ext>
              </a:extLst>
            </p:cNvPr>
            <p:cNvSpPr>
              <a:spLocks noGrp="1"/>
            </p:cNvSpPr>
            <p:nvPr/>
          </p:nvSpPr>
          <p:spPr>
            <a:xfrm>
              <a:off x="2235959" y="5649092"/>
              <a:ext cx="26179" cy="22588"/>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07" name="asset_3169_17">
              <a:extLst>
                <a:ext uri="{FF2B5EF4-FFF2-40B4-BE49-F238E27FC236}">
                  <a16:creationId xmlns:a16="http://schemas.microsoft.com/office/drawing/2014/main" id="{719B8D8D-7D22-E395-EB7A-A30A5FC026F9}"/>
                </a:ext>
              </a:extLst>
            </p:cNvPr>
            <p:cNvSpPr>
              <a:spLocks noGrp="1"/>
            </p:cNvSpPr>
            <p:nvPr/>
          </p:nvSpPr>
          <p:spPr>
            <a:xfrm>
              <a:off x="2230057" y="5690206"/>
              <a:ext cx="17158" cy="14805"/>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08" name="asset_3169_18">
              <a:extLst>
                <a:ext uri="{FF2B5EF4-FFF2-40B4-BE49-F238E27FC236}">
                  <a16:creationId xmlns:a16="http://schemas.microsoft.com/office/drawing/2014/main" id="{D90FE229-4700-A9A0-716D-42D3E47B5659}"/>
                </a:ext>
              </a:extLst>
            </p:cNvPr>
            <p:cNvSpPr>
              <a:spLocks noGrp="1"/>
            </p:cNvSpPr>
            <p:nvPr/>
          </p:nvSpPr>
          <p:spPr>
            <a:xfrm>
              <a:off x="2228799" y="5700798"/>
              <a:ext cx="17470" cy="15073"/>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09" name="asset_3169_19">
              <a:extLst>
                <a:ext uri="{FF2B5EF4-FFF2-40B4-BE49-F238E27FC236}">
                  <a16:creationId xmlns:a16="http://schemas.microsoft.com/office/drawing/2014/main" id="{784D2088-B332-78C8-D599-5C842A0D4A05}"/>
                </a:ext>
              </a:extLst>
            </p:cNvPr>
            <p:cNvSpPr>
              <a:spLocks noGrp="1"/>
            </p:cNvSpPr>
            <p:nvPr/>
          </p:nvSpPr>
          <p:spPr>
            <a:xfrm>
              <a:off x="2264745" y="5672793"/>
              <a:ext cx="22335" cy="19272"/>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10" name="asset_3169_20">
              <a:extLst>
                <a:ext uri="{FF2B5EF4-FFF2-40B4-BE49-F238E27FC236}">
                  <a16:creationId xmlns:a16="http://schemas.microsoft.com/office/drawing/2014/main" id="{7C0132AE-C614-5D01-CE24-74B5E2E20C19}"/>
                </a:ext>
              </a:extLst>
            </p:cNvPr>
            <p:cNvSpPr>
              <a:spLocks noGrp="1"/>
            </p:cNvSpPr>
            <p:nvPr/>
          </p:nvSpPr>
          <p:spPr>
            <a:xfrm>
              <a:off x="2247802" y="5671816"/>
              <a:ext cx="29288" cy="25271"/>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11" name="asset_3169_21">
              <a:extLst>
                <a:ext uri="{FF2B5EF4-FFF2-40B4-BE49-F238E27FC236}">
                  <a16:creationId xmlns:a16="http://schemas.microsoft.com/office/drawing/2014/main" id="{02F32F87-5D6A-6C94-A7F6-4A91C761BE2C}"/>
                </a:ext>
              </a:extLst>
            </p:cNvPr>
            <p:cNvSpPr>
              <a:spLocks noGrp="1"/>
            </p:cNvSpPr>
            <p:nvPr/>
          </p:nvSpPr>
          <p:spPr>
            <a:xfrm>
              <a:off x="2221472" y="5673188"/>
              <a:ext cx="24803" cy="21401"/>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12" name="asset_3169_22">
              <a:extLst>
                <a:ext uri="{FF2B5EF4-FFF2-40B4-BE49-F238E27FC236}">
                  <a16:creationId xmlns:a16="http://schemas.microsoft.com/office/drawing/2014/main" id="{6EE9ABF2-2C40-B5F6-1940-1775C9FA19E7}"/>
                </a:ext>
              </a:extLst>
            </p:cNvPr>
            <p:cNvSpPr>
              <a:spLocks noGrp="1"/>
            </p:cNvSpPr>
            <p:nvPr/>
          </p:nvSpPr>
          <p:spPr>
            <a:xfrm>
              <a:off x="2231057" y="5701581"/>
              <a:ext cx="27548" cy="23769"/>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13" name="asset_3169_23">
              <a:extLst>
                <a:ext uri="{FF2B5EF4-FFF2-40B4-BE49-F238E27FC236}">
                  <a16:creationId xmlns:a16="http://schemas.microsoft.com/office/drawing/2014/main" id="{CF1C2D1C-D69A-6A2D-6E8B-E01FB0B07D7A}"/>
                </a:ext>
              </a:extLst>
            </p:cNvPr>
            <p:cNvSpPr>
              <a:spLocks noGrp="1"/>
            </p:cNvSpPr>
            <p:nvPr/>
          </p:nvSpPr>
          <p:spPr>
            <a:xfrm>
              <a:off x="2264932" y="5667506"/>
              <a:ext cx="28421" cy="24522"/>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14" name="asset_3169_24">
              <a:extLst>
                <a:ext uri="{FF2B5EF4-FFF2-40B4-BE49-F238E27FC236}">
                  <a16:creationId xmlns:a16="http://schemas.microsoft.com/office/drawing/2014/main" id="{673FA697-764F-FA65-943A-B0B04E886AA9}"/>
                </a:ext>
              </a:extLst>
            </p:cNvPr>
            <p:cNvSpPr>
              <a:spLocks noGrp="1"/>
            </p:cNvSpPr>
            <p:nvPr/>
          </p:nvSpPr>
          <p:spPr>
            <a:xfrm>
              <a:off x="2231286" y="5661727"/>
              <a:ext cx="25293" cy="21823"/>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15" name="asset_3169_25">
              <a:extLst>
                <a:ext uri="{FF2B5EF4-FFF2-40B4-BE49-F238E27FC236}">
                  <a16:creationId xmlns:a16="http://schemas.microsoft.com/office/drawing/2014/main" id="{5BFF00E4-D1C5-B041-B844-EA0112D38958}"/>
                </a:ext>
              </a:extLst>
            </p:cNvPr>
            <p:cNvSpPr>
              <a:spLocks noGrp="1"/>
            </p:cNvSpPr>
            <p:nvPr/>
          </p:nvSpPr>
          <p:spPr>
            <a:xfrm>
              <a:off x="2203520" y="5678934"/>
              <a:ext cx="26056" cy="22482"/>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16" name="asset_3169_26">
              <a:extLst>
                <a:ext uri="{FF2B5EF4-FFF2-40B4-BE49-F238E27FC236}">
                  <a16:creationId xmlns:a16="http://schemas.microsoft.com/office/drawing/2014/main" id="{7F998603-B998-4B63-186F-B9B3006B1515}"/>
                </a:ext>
              </a:extLst>
            </p:cNvPr>
            <p:cNvSpPr>
              <a:spLocks noGrp="1"/>
            </p:cNvSpPr>
            <p:nvPr/>
          </p:nvSpPr>
          <p:spPr>
            <a:xfrm>
              <a:off x="2258761" y="5717055"/>
              <a:ext cx="20939" cy="18067"/>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17" name="asset_3169_27">
              <a:extLst>
                <a:ext uri="{FF2B5EF4-FFF2-40B4-BE49-F238E27FC236}">
                  <a16:creationId xmlns:a16="http://schemas.microsoft.com/office/drawing/2014/main" id="{C16C5EE0-2590-6EDE-7060-6FEB5C29567C}"/>
                </a:ext>
              </a:extLst>
            </p:cNvPr>
            <p:cNvSpPr>
              <a:spLocks noGrp="1"/>
            </p:cNvSpPr>
            <p:nvPr/>
          </p:nvSpPr>
          <p:spPr>
            <a:xfrm>
              <a:off x="2262469" y="5681666"/>
              <a:ext cx="24125" cy="20816"/>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18" name="asset_3169_28">
              <a:extLst>
                <a:ext uri="{FF2B5EF4-FFF2-40B4-BE49-F238E27FC236}">
                  <a16:creationId xmlns:a16="http://schemas.microsoft.com/office/drawing/2014/main" id="{D17D31A9-6859-682D-4432-49EED6892A5B}"/>
                </a:ext>
              </a:extLst>
            </p:cNvPr>
            <p:cNvSpPr>
              <a:spLocks noGrp="1"/>
            </p:cNvSpPr>
            <p:nvPr/>
          </p:nvSpPr>
          <p:spPr>
            <a:xfrm>
              <a:off x="2238082" y="5671347"/>
              <a:ext cx="27389" cy="23632"/>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19" name="asset_3169_29">
              <a:extLst>
                <a:ext uri="{FF2B5EF4-FFF2-40B4-BE49-F238E27FC236}">
                  <a16:creationId xmlns:a16="http://schemas.microsoft.com/office/drawing/2014/main" id="{1ECC54AA-79B9-EDB8-EFBF-519A1F7E46B5}"/>
                </a:ext>
              </a:extLst>
            </p:cNvPr>
            <p:cNvSpPr>
              <a:spLocks noGrp="1"/>
            </p:cNvSpPr>
            <p:nvPr/>
          </p:nvSpPr>
          <p:spPr>
            <a:xfrm>
              <a:off x="2220795" y="5698579"/>
              <a:ext cx="25648" cy="22130"/>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20" name="asset_3169_30">
              <a:extLst>
                <a:ext uri="{FF2B5EF4-FFF2-40B4-BE49-F238E27FC236}">
                  <a16:creationId xmlns:a16="http://schemas.microsoft.com/office/drawing/2014/main" id="{CDC88B96-6D61-535A-FDF3-6F5B19766313}"/>
                </a:ext>
              </a:extLst>
            </p:cNvPr>
            <p:cNvSpPr>
              <a:spLocks noGrp="1"/>
            </p:cNvSpPr>
            <p:nvPr/>
          </p:nvSpPr>
          <p:spPr>
            <a:xfrm>
              <a:off x="2243067" y="5723084"/>
              <a:ext cx="17688" cy="15262"/>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21" name="asset_3169_31">
              <a:extLst>
                <a:ext uri="{FF2B5EF4-FFF2-40B4-BE49-F238E27FC236}">
                  <a16:creationId xmlns:a16="http://schemas.microsoft.com/office/drawing/2014/main" id="{A5A85E04-6EB6-EE3B-B74A-2FFE4D412899}"/>
                </a:ext>
              </a:extLst>
            </p:cNvPr>
            <p:cNvSpPr>
              <a:spLocks noGrp="1"/>
            </p:cNvSpPr>
            <p:nvPr/>
          </p:nvSpPr>
          <p:spPr>
            <a:xfrm>
              <a:off x="2257337" y="5659622"/>
              <a:ext cx="26336" cy="22723"/>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22" name="asset_3169_32">
              <a:extLst>
                <a:ext uri="{FF2B5EF4-FFF2-40B4-BE49-F238E27FC236}">
                  <a16:creationId xmlns:a16="http://schemas.microsoft.com/office/drawing/2014/main" id="{A3AA1487-88AF-6B87-467A-DBBA1B5879E8}"/>
                </a:ext>
              </a:extLst>
            </p:cNvPr>
            <p:cNvSpPr>
              <a:spLocks noGrp="1"/>
            </p:cNvSpPr>
            <p:nvPr/>
          </p:nvSpPr>
          <p:spPr>
            <a:xfrm>
              <a:off x="2256492" y="5666095"/>
              <a:ext cx="23460" cy="20242"/>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23" name="asset_3169_33">
              <a:extLst>
                <a:ext uri="{FF2B5EF4-FFF2-40B4-BE49-F238E27FC236}">
                  <a16:creationId xmlns:a16="http://schemas.microsoft.com/office/drawing/2014/main" id="{126D8AAC-D550-6A76-7801-445CFF246FB7}"/>
                </a:ext>
              </a:extLst>
            </p:cNvPr>
            <p:cNvSpPr>
              <a:spLocks noGrp="1"/>
            </p:cNvSpPr>
            <p:nvPr/>
          </p:nvSpPr>
          <p:spPr>
            <a:xfrm>
              <a:off x="2210503" y="5688799"/>
              <a:ext cx="30840" cy="26610"/>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24" name="asset_3169_34">
              <a:extLst>
                <a:ext uri="{FF2B5EF4-FFF2-40B4-BE49-F238E27FC236}">
                  <a16:creationId xmlns:a16="http://schemas.microsoft.com/office/drawing/2014/main" id="{6A4075E0-3906-50B3-9BCC-35B69C4DD9E9}"/>
                </a:ext>
              </a:extLst>
            </p:cNvPr>
            <p:cNvSpPr>
              <a:spLocks noGrp="1"/>
            </p:cNvSpPr>
            <p:nvPr/>
          </p:nvSpPr>
          <p:spPr>
            <a:xfrm>
              <a:off x="2236186" y="5705144"/>
              <a:ext cx="22611" cy="19510"/>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25" name="asset_3169_35">
              <a:extLst>
                <a:ext uri="{FF2B5EF4-FFF2-40B4-BE49-F238E27FC236}">
                  <a16:creationId xmlns:a16="http://schemas.microsoft.com/office/drawing/2014/main" id="{6C28BDF3-9DEF-239E-4C81-1C35D6FB68F3}"/>
                </a:ext>
              </a:extLst>
            </p:cNvPr>
            <p:cNvSpPr>
              <a:spLocks noGrp="1"/>
            </p:cNvSpPr>
            <p:nvPr/>
          </p:nvSpPr>
          <p:spPr>
            <a:xfrm>
              <a:off x="2260671" y="5685042"/>
              <a:ext cx="19267" cy="16624"/>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26" name="asset_3169_36">
              <a:extLst>
                <a:ext uri="{FF2B5EF4-FFF2-40B4-BE49-F238E27FC236}">
                  <a16:creationId xmlns:a16="http://schemas.microsoft.com/office/drawing/2014/main" id="{BCB28D41-0A15-B122-0B90-72ED412EE024}"/>
                </a:ext>
              </a:extLst>
            </p:cNvPr>
            <p:cNvSpPr>
              <a:spLocks noGrp="1"/>
            </p:cNvSpPr>
            <p:nvPr/>
          </p:nvSpPr>
          <p:spPr>
            <a:xfrm>
              <a:off x="2255827" y="5658297"/>
              <a:ext cx="24486" cy="21128"/>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27" name="asset_3169_37">
              <a:extLst>
                <a:ext uri="{FF2B5EF4-FFF2-40B4-BE49-F238E27FC236}">
                  <a16:creationId xmlns:a16="http://schemas.microsoft.com/office/drawing/2014/main" id="{C7E8379B-ACDE-5BD9-361A-DE4ABFF8B41A}"/>
                </a:ext>
              </a:extLst>
            </p:cNvPr>
            <p:cNvSpPr>
              <a:spLocks noGrp="1"/>
            </p:cNvSpPr>
            <p:nvPr/>
          </p:nvSpPr>
          <p:spPr>
            <a:xfrm>
              <a:off x="2212444" y="5679829"/>
              <a:ext cx="19456" cy="16787"/>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28" name="asset_3169_38">
              <a:extLst>
                <a:ext uri="{FF2B5EF4-FFF2-40B4-BE49-F238E27FC236}">
                  <a16:creationId xmlns:a16="http://schemas.microsoft.com/office/drawing/2014/main" id="{ECFFEA72-8626-56BD-8B3E-3037CF1AF8E8}"/>
                </a:ext>
              </a:extLst>
            </p:cNvPr>
            <p:cNvSpPr>
              <a:spLocks noGrp="1"/>
            </p:cNvSpPr>
            <p:nvPr/>
          </p:nvSpPr>
          <p:spPr>
            <a:xfrm>
              <a:off x="2240936" y="5686210"/>
              <a:ext cx="21405" cy="18469"/>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29" name="asset_3169_39">
              <a:extLst>
                <a:ext uri="{FF2B5EF4-FFF2-40B4-BE49-F238E27FC236}">
                  <a16:creationId xmlns:a16="http://schemas.microsoft.com/office/drawing/2014/main" id="{BFCAF518-99F3-0A2C-AB70-DFC4C8589A44}"/>
                </a:ext>
              </a:extLst>
            </p:cNvPr>
            <p:cNvSpPr>
              <a:spLocks noGrp="1"/>
            </p:cNvSpPr>
            <p:nvPr/>
          </p:nvSpPr>
          <p:spPr>
            <a:xfrm>
              <a:off x="2265093" y="5678881"/>
              <a:ext cx="26532" cy="22893"/>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30" name="asset_3169_40">
              <a:extLst>
                <a:ext uri="{FF2B5EF4-FFF2-40B4-BE49-F238E27FC236}">
                  <a16:creationId xmlns:a16="http://schemas.microsoft.com/office/drawing/2014/main" id="{9BF9FDFE-C42C-53CD-A061-7F45E2EE8D15}"/>
                </a:ext>
              </a:extLst>
            </p:cNvPr>
            <p:cNvSpPr>
              <a:spLocks noGrp="1"/>
            </p:cNvSpPr>
            <p:nvPr/>
          </p:nvSpPr>
          <p:spPr>
            <a:xfrm>
              <a:off x="2229701" y="5665168"/>
              <a:ext cx="29465" cy="25424"/>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31" name="asset_3169_41">
              <a:extLst>
                <a:ext uri="{FF2B5EF4-FFF2-40B4-BE49-F238E27FC236}">
                  <a16:creationId xmlns:a16="http://schemas.microsoft.com/office/drawing/2014/main" id="{2682615C-84A0-1CD6-C8C0-03464596EB1F}"/>
                </a:ext>
              </a:extLst>
            </p:cNvPr>
            <p:cNvSpPr>
              <a:spLocks noGrp="1"/>
            </p:cNvSpPr>
            <p:nvPr/>
          </p:nvSpPr>
          <p:spPr>
            <a:xfrm>
              <a:off x="2222658" y="5680582"/>
              <a:ext cx="27660" cy="23866"/>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32" name="asset_3169_42">
              <a:extLst>
                <a:ext uri="{FF2B5EF4-FFF2-40B4-BE49-F238E27FC236}">
                  <a16:creationId xmlns:a16="http://schemas.microsoft.com/office/drawing/2014/main" id="{631DB92D-913E-B01B-9AEB-960224667825}"/>
                </a:ext>
              </a:extLst>
            </p:cNvPr>
            <p:cNvSpPr>
              <a:spLocks noGrp="1"/>
            </p:cNvSpPr>
            <p:nvPr/>
          </p:nvSpPr>
          <p:spPr>
            <a:xfrm>
              <a:off x="2243804" y="5697201"/>
              <a:ext cx="17846" cy="15398"/>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33" name="asset_3169_43">
              <a:extLst>
                <a:ext uri="{FF2B5EF4-FFF2-40B4-BE49-F238E27FC236}">
                  <a16:creationId xmlns:a16="http://schemas.microsoft.com/office/drawing/2014/main" id="{15790B56-0B8D-756D-0DCC-AB75E3B6FD11}"/>
                </a:ext>
              </a:extLst>
            </p:cNvPr>
            <p:cNvSpPr>
              <a:spLocks noGrp="1"/>
            </p:cNvSpPr>
            <p:nvPr/>
          </p:nvSpPr>
          <p:spPr>
            <a:xfrm>
              <a:off x="2262800" y="5690235"/>
              <a:ext cx="21180" cy="18275"/>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34" name="asset_3169_44">
              <a:extLst>
                <a:ext uri="{FF2B5EF4-FFF2-40B4-BE49-F238E27FC236}">
                  <a16:creationId xmlns:a16="http://schemas.microsoft.com/office/drawing/2014/main" id="{1631C88D-1EB9-D6F4-95AF-DCCB642F9F92}"/>
                </a:ext>
              </a:extLst>
            </p:cNvPr>
            <p:cNvSpPr>
              <a:spLocks noGrp="1"/>
            </p:cNvSpPr>
            <p:nvPr/>
          </p:nvSpPr>
          <p:spPr>
            <a:xfrm>
              <a:off x="2235058" y="5658630"/>
              <a:ext cx="25840" cy="22296"/>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35" name="asset_3169_45">
              <a:extLst>
                <a:ext uri="{FF2B5EF4-FFF2-40B4-BE49-F238E27FC236}">
                  <a16:creationId xmlns:a16="http://schemas.microsoft.com/office/drawing/2014/main" id="{FE9273CF-E566-6F37-1587-2BBB9D1E170A}"/>
                </a:ext>
              </a:extLst>
            </p:cNvPr>
            <p:cNvSpPr>
              <a:spLocks noGrp="1"/>
            </p:cNvSpPr>
            <p:nvPr/>
          </p:nvSpPr>
          <p:spPr>
            <a:xfrm>
              <a:off x="2211228" y="5681493"/>
              <a:ext cx="31451" cy="27137"/>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36" name="asset_3169_46">
              <a:extLst>
                <a:ext uri="{FF2B5EF4-FFF2-40B4-BE49-F238E27FC236}">
                  <a16:creationId xmlns:a16="http://schemas.microsoft.com/office/drawing/2014/main" id="{EE131202-AC5D-2E28-6AED-B98076EEFF5A}"/>
                </a:ext>
              </a:extLst>
            </p:cNvPr>
            <p:cNvSpPr>
              <a:spLocks noGrp="1"/>
            </p:cNvSpPr>
            <p:nvPr/>
          </p:nvSpPr>
          <p:spPr>
            <a:xfrm>
              <a:off x="2234524" y="5703451"/>
              <a:ext cx="21739" cy="18757"/>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37" name="asset_3169_47">
              <a:extLst>
                <a:ext uri="{FF2B5EF4-FFF2-40B4-BE49-F238E27FC236}">
                  <a16:creationId xmlns:a16="http://schemas.microsoft.com/office/drawing/2014/main" id="{4C792408-71CE-6A7F-0B63-11CAA43A6679}"/>
                </a:ext>
              </a:extLst>
            </p:cNvPr>
            <p:cNvSpPr>
              <a:spLocks noGrp="1"/>
            </p:cNvSpPr>
            <p:nvPr/>
          </p:nvSpPr>
          <p:spPr>
            <a:xfrm>
              <a:off x="2269639" y="5693556"/>
              <a:ext cx="19299" cy="16652"/>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38" name="asset_3169_48">
              <a:extLst>
                <a:ext uri="{FF2B5EF4-FFF2-40B4-BE49-F238E27FC236}">
                  <a16:creationId xmlns:a16="http://schemas.microsoft.com/office/drawing/2014/main" id="{8ED39DF3-C54D-C189-3815-4C683D281321}"/>
                </a:ext>
              </a:extLst>
            </p:cNvPr>
            <p:cNvSpPr>
              <a:spLocks noGrp="1"/>
            </p:cNvSpPr>
            <p:nvPr/>
          </p:nvSpPr>
          <p:spPr>
            <a:xfrm>
              <a:off x="2221813" y="5667367"/>
              <a:ext cx="17021" cy="14686"/>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39" name="asset_3169_49">
              <a:extLst>
                <a:ext uri="{FF2B5EF4-FFF2-40B4-BE49-F238E27FC236}">
                  <a16:creationId xmlns:a16="http://schemas.microsoft.com/office/drawing/2014/main" id="{BD482086-500D-6E6D-896E-088B7D13BF76}"/>
                </a:ext>
              </a:extLst>
            </p:cNvPr>
            <p:cNvSpPr>
              <a:spLocks noGrp="1"/>
            </p:cNvSpPr>
            <p:nvPr/>
          </p:nvSpPr>
          <p:spPr>
            <a:xfrm>
              <a:off x="2208530" y="5668919"/>
              <a:ext cx="27524" cy="23749"/>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40" name="asset_3169_50">
              <a:extLst>
                <a:ext uri="{FF2B5EF4-FFF2-40B4-BE49-F238E27FC236}">
                  <a16:creationId xmlns:a16="http://schemas.microsoft.com/office/drawing/2014/main" id="{D0E7FAF9-1563-DE48-E748-9126946B5C8E}"/>
                </a:ext>
              </a:extLst>
            </p:cNvPr>
            <p:cNvSpPr>
              <a:spLocks noGrp="1"/>
            </p:cNvSpPr>
            <p:nvPr/>
          </p:nvSpPr>
          <p:spPr>
            <a:xfrm>
              <a:off x="2251433" y="5689815"/>
              <a:ext cx="17431" cy="15040"/>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41" name="asset_3169_51">
              <a:extLst>
                <a:ext uri="{FF2B5EF4-FFF2-40B4-BE49-F238E27FC236}">
                  <a16:creationId xmlns:a16="http://schemas.microsoft.com/office/drawing/2014/main" id="{E48EE981-48B8-EA3F-9CB0-F29B28DF82E7}"/>
                </a:ext>
              </a:extLst>
            </p:cNvPr>
            <p:cNvSpPr>
              <a:spLocks noGrp="1"/>
            </p:cNvSpPr>
            <p:nvPr/>
          </p:nvSpPr>
          <p:spPr>
            <a:xfrm>
              <a:off x="2187720" y="5657778"/>
              <a:ext cx="125096" cy="109062"/>
            </a:xfrm>
            <a:custGeom>
              <a:avLst/>
              <a:gdLst/>
              <a:ahLst/>
              <a:cxnLst/>
              <a:rect l="0" t="0" r="0" b="0"/>
              <a:pathLst>
                <a:path w="125096" h="109062">
                  <a:moveTo>
                    <a:pt x="0" y="0"/>
                  </a:moveTo>
                  <a:lnTo>
                    <a:pt x="125096" y="0"/>
                  </a:lnTo>
                  <a:lnTo>
                    <a:pt x="125096" y="109062"/>
                  </a:lnTo>
                  <a:lnTo>
                    <a:pt x="0" y="109062"/>
                  </a:lnTo>
                  <a:close/>
                </a:path>
              </a:pathLst>
            </a:custGeom>
            <a:noFill/>
            <a:ln w="3600">
              <a:solidFill>
                <a:srgbClr val="8AB3D9"/>
              </a:solidFill>
            </a:ln>
          </p:spPr>
        </p:sp>
      </p:grpSp>
      <p:sp>
        <p:nvSpPr>
          <p:cNvPr id="1242" name="TextBox 12306">
            <a:extLst>
              <a:ext uri="{FF2B5EF4-FFF2-40B4-BE49-F238E27FC236}">
                <a16:creationId xmlns:a16="http://schemas.microsoft.com/office/drawing/2014/main" id="{18584D7C-FABD-E9F6-72C1-951301DDEDAD}"/>
              </a:ext>
            </a:extLst>
          </p:cNvPr>
          <p:cNvSpPr txBox="1"/>
          <p:nvPr/>
        </p:nvSpPr>
        <p:spPr>
          <a:xfrm>
            <a:off x="5270490" y="2150246"/>
            <a:ext cx="819150" cy="93744"/>
          </a:xfrm>
          <a:prstGeom prst="rect">
            <a:avLst/>
          </a:prstGeom>
          <a:noFill/>
        </p:spPr>
        <p:txBody>
          <a:bodyPr wrap="square" lIns="0" tIns="0" rIns="0" bIns="0" anchor="ctr">
            <a:spAutoFit/>
          </a:bodyPr>
          <a:lstStyle/>
          <a:p>
            <a:pPr algn="l">
              <a:lnSpc>
                <a:spcPct val="105000"/>
              </a:lnSpc>
            </a:pPr>
            <a:r>
              <a:rPr sz="623" b="1" dirty="0" err="1">
                <a:solidFill>
                  <a:srgbClr val="263442"/>
                </a:solidFill>
                <a:latin typeface="Arial"/>
              </a:rPr>
              <a:t>DG-PocketXMol</a:t>
            </a:r>
            <a:endParaRPr sz="623" b="1" dirty="0">
              <a:solidFill>
                <a:srgbClr val="263442"/>
              </a:solidFill>
              <a:latin typeface="Arial"/>
            </a:endParaRPr>
          </a:p>
        </p:txBody>
      </p:sp>
      <p:sp>
        <p:nvSpPr>
          <p:cNvPr id="1243" name="TextBox 12307">
            <a:extLst>
              <a:ext uri="{FF2B5EF4-FFF2-40B4-BE49-F238E27FC236}">
                <a16:creationId xmlns:a16="http://schemas.microsoft.com/office/drawing/2014/main" id="{08906595-0DA8-95EC-8632-3FEAE784B9F6}"/>
              </a:ext>
            </a:extLst>
          </p:cNvPr>
          <p:cNvSpPr txBox="1"/>
          <p:nvPr/>
        </p:nvSpPr>
        <p:spPr>
          <a:xfrm>
            <a:off x="5270983" y="2305119"/>
            <a:ext cx="819150" cy="163763"/>
          </a:xfrm>
          <a:prstGeom prst="rect">
            <a:avLst/>
          </a:prstGeom>
          <a:noFill/>
        </p:spPr>
        <p:txBody>
          <a:bodyPr wrap="square" lIns="0" tIns="0" rIns="0" bIns="0" anchor="ctr">
            <a:spAutoFit/>
          </a:bodyPr>
          <a:lstStyle/>
          <a:p>
            <a:pPr algn="l">
              <a:lnSpc>
                <a:spcPct val="96000"/>
              </a:lnSpc>
            </a:pPr>
            <a:r>
              <a:rPr sz="554" dirty="0">
                <a:solidFill>
                  <a:srgbClr val="263442"/>
                </a:solidFill>
                <a:latin typeface="Arial"/>
              </a:rPr>
              <a:t>Density-conditioned</a:t>
            </a:r>
            <a:endParaRPr lang="en-US" sz="554" dirty="0">
              <a:solidFill>
                <a:srgbClr val="263442"/>
              </a:solidFill>
              <a:latin typeface="Arial"/>
            </a:endParaRPr>
          </a:p>
          <a:p>
            <a:pPr algn="l">
              <a:lnSpc>
                <a:spcPct val="96000"/>
              </a:lnSpc>
            </a:pPr>
            <a:r>
              <a:rPr sz="554" dirty="0">
                <a:solidFill>
                  <a:srgbClr val="263442"/>
                </a:solidFill>
                <a:latin typeface="Arial"/>
              </a:rPr>
              <a:t>fine-tuning</a:t>
            </a:r>
          </a:p>
        </p:txBody>
      </p:sp>
      <p:sp>
        <p:nvSpPr>
          <p:cNvPr id="1484" name="V8 Build site and identity frame">
            <a:extLst>
              <a:ext uri="{FF2B5EF4-FFF2-40B4-BE49-F238E27FC236}">
                <a16:creationId xmlns:a16="http://schemas.microsoft.com/office/drawing/2014/main" id="{9328B906-0B87-B09E-FB06-A9A62F2CE298}"/>
              </a:ext>
            </a:extLst>
          </p:cNvPr>
          <p:cNvSpPr/>
          <p:nvPr/>
        </p:nvSpPr>
        <p:spPr>
          <a:xfrm>
            <a:off x="4996634" y="457662"/>
            <a:ext cx="519754" cy="1228090"/>
          </a:xfrm>
          <a:prstGeom prst="roundRect">
            <a:avLst>
              <a:gd name="adj" fmla="val 5556"/>
            </a:avLst>
          </a:prstGeom>
          <a:noFill/>
          <a:ln w="6985" cap="rnd">
            <a:solidFill>
              <a:srgbClr val="D5CCB8"/>
            </a:solidFill>
            <a:prstDash val="dash"/>
            <a:round/>
          </a:ln>
        </p:spPr>
      </p:sp>
      <p:sp>
        <p:nvSpPr>
          <p:cNvPr id="1485" name="V8 Build pocket and density frame">
            <a:extLst>
              <a:ext uri="{FF2B5EF4-FFF2-40B4-BE49-F238E27FC236}">
                <a16:creationId xmlns:a16="http://schemas.microsoft.com/office/drawing/2014/main" id="{1B6C4D97-E5BD-5494-DBFC-E1D9BAB5B434}"/>
              </a:ext>
            </a:extLst>
          </p:cNvPr>
          <p:cNvSpPr/>
          <p:nvPr/>
        </p:nvSpPr>
        <p:spPr>
          <a:xfrm>
            <a:off x="5564187" y="456353"/>
            <a:ext cx="527685" cy="1228090"/>
          </a:xfrm>
          <a:prstGeom prst="roundRect">
            <a:avLst>
              <a:gd name="adj" fmla="val 6477"/>
            </a:avLst>
          </a:prstGeom>
          <a:noFill/>
          <a:ln w="6985" cap="rnd">
            <a:solidFill>
              <a:srgbClr val="D5CCB8"/>
            </a:solidFill>
            <a:prstDash val="dash"/>
            <a:round/>
          </a:ln>
        </p:spPr>
      </p:sp>
      <p:sp>
        <p:nvSpPr>
          <p:cNvPr id="1486" name="V8 Build inputs to docking">
            <a:extLst>
              <a:ext uri="{FF2B5EF4-FFF2-40B4-BE49-F238E27FC236}">
                <a16:creationId xmlns:a16="http://schemas.microsoft.com/office/drawing/2014/main" id="{8E285AE8-5B25-317D-97AA-75401514E8A1}"/>
              </a:ext>
            </a:extLst>
          </p:cNvPr>
          <p:cNvSpPr/>
          <p:nvPr/>
        </p:nvSpPr>
        <p:spPr>
          <a:xfrm>
            <a:off x="5546090" y="1765305"/>
            <a:ext cx="1" cy="56229"/>
          </a:xfrm>
          <a:custGeom>
            <a:avLst/>
            <a:gdLst/>
            <a:ahLst/>
            <a:cxnLst/>
            <a:rect l="l" t="t" r="r" b="b"/>
            <a:pathLst>
              <a:path w="1" h="113379">
                <a:moveTo>
                  <a:pt x="0" y="0"/>
                </a:moveTo>
                <a:lnTo>
                  <a:pt x="0" y="113379"/>
                </a:lnTo>
              </a:path>
            </a:pathLst>
          </a:custGeom>
          <a:noFill/>
          <a:ln w="13208" cap="rnd">
            <a:solidFill>
              <a:srgbClr val="71808C"/>
            </a:solidFill>
            <a:prstDash val="solid"/>
            <a:round/>
          </a:ln>
        </p:spPr>
      </p:sp>
      <p:sp>
        <p:nvSpPr>
          <p:cNvPr id="1487" name="V8 Build inputs to docking head">
            <a:extLst>
              <a:ext uri="{FF2B5EF4-FFF2-40B4-BE49-F238E27FC236}">
                <a16:creationId xmlns:a16="http://schemas.microsoft.com/office/drawing/2014/main" id="{9813B73F-CCCD-EA9A-376F-456AB1E610B1}"/>
              </a:ext>
            </a:extLst>
          </p:cNvPr>
          <p:cNvSpPr/>
          <p:nvPr/>
        </p:nvSpPr>
        <p:spPr>
          <a:xfrm>
            <a:off x="5524182" y="1800230"/>
            <a:ext cx="43815" cy="38735"/>
          </a:xfrm>
          <a:custGeom>
            <a:avLst/>
            <a:gdLst/>
            <a:ahLst/>
            <a:cxnLst/>
            <a:rect l="l" t="t" r="r" b="b"/>
            <a:pathLst>
              <a:path w="43815" h="38735">
                <a:moveTo>
                  <a:pt x="21908" y="38735"/>
                </a:moveTo>
                <a:lnTo>
                  <a:pt x="43815" y="0"/>
                </a:lnTo>
                <a:lnTo>
                  <a:pt x="0" y="0"/>
                </a:lnTo>
                <a:close/>
              </a:path>
            </a:pathLst>
          </a:custGeom>
          <a:solidFill>
            <a:srgbClr val="71808C"/>
          </a:solidFill>
          <a:ln w="0" cap="rnd">
            <a:noFill/>
          </a:ln>
        </p:spPr>
      </p:sp>
      <p:sp>
        <p:nvSpPr>
          <p:cNvPr id="1488" name="V8 Build docking to pose">
            <a:extLst>
              <a:ext uri="{FF2B5EF4-FFF2-40B4-BE49-F238E27FC236}">
                <a16:creationId xmlns:a16="http://schemas.microsoft.com/office/drawing/2014/main" id="{07679385-E86D-06AF-3A36-FED40D7C95EE}"/>
              </a:ext>
            </a:extLst>
          </p:cNvPr>
          <p:cNvSpPr/>
          <p:nvPr/>
        </p:nvSpPr>
        <p:spPr>
          <a:xfrm>
            <a:off x="5546090" y="3237230"/>
            <a:ext cx="1" cy="113379"/>
          </a:xfrm>
          <a:custGeom>
            <a:avLst/>
            <a:gdLst/>
            <a:ahLst/>
            <a:cxnLst/>
            <a:rect l="l" t="t" r="r" b="b"/>
            <a:pathLst>
              <a:path w="1" h="113379">
                <a:moveTo>
                  <a:pt x="0" y="0"/>
                </a:moveTo>
                <a:lnTo>
                  <a:pt x="0" y="113379"/>
                </a:lnTo>
              </a:path>
            </a:pathLst>
          </a:custGeom>
          <a:noFill/>
          <a:ln w="13208" cap="rnd">
            <a:solidFill>
              <a:srgbClr val="71808C"/>
            </a:solidFill>
            <a:prstDash val="solid"/>
            <a:round/>
          </a:ln>
        </p:spPr>
      </p:sp>
      <p:sp>
        <p:nvSpPr>
          <p:cNvPr id="1489" name="V8 Build docking to pose head">
            <a:extLst>
              <a:ext uri="{FF2B5EF4-FFF2-40B4-BE49-F238E27FC236}">
                <a16:creationId xmlns:a16="http://schemas.microsoft.com/office/drawing/2014/main" id="{B881CA9B-A096-8E3F-9899-573DA90CDCB3}"/>
              </a:ext>
            </a:extLst>
          </p:cNvPr>
          <p:cNvSpPr/>
          <p:nvPr/>
        </p:nvSpPr>
        <p:spPr>
          <a:xfrm>
            <a:off x="5524182" y="3329305"/>
            <a:ext cx="43815" cy="38735"/>
          </a:xfrm>
          <a:custGeom>
            <a:avLst/>
            <a:gdLst/>
            <a:ahLst/>
            <a:cxnLst/>
            <a:rect l="l" t="t" r="r" b="b"/>
            <a:pathLst>
              <a:path w="43815" h="38735">
                <a:moveTo>
                  <a:pt x="21908" y="38735"/>
                </a:moveTo>
                <a:lnTo>
                  <a:pt x="43815" y="0"/>
                </a:lnTo>
                <a:lnTo>
                  <a:pt x="0" y="0"/>
                </a:lnTo>
                <a:close/>
              </a:path>
            </a:pathLst>
          </a:custGeom>
          <a:solidFill>
            <a:srgbClr val="71808C"/>
          </a:solidFill>
          <a:ln w="0" cap="rnd">
            <a:noFill/>
          </a:ln>
        </p:spPr>
      </p:sp>
      <p:grpSp>
        <p:nvGrpSpPr>
          <p:cNvPr id="22" name="Match | Blob contour">
            <a:extLst>
              <a:ext uri="{FF2B5EF4-FFF2-40B4-BE49-F238E27FC236}">
                <a16:creationId xmlns:a16="http://schemas.microsoft.com/office/drawing/2014/main" id="{89DCA6D5-3679-D415-5BE5-92A67333541D}"/>
              </a:ext>
            </a:extLst>
          </p:cNvPr>
          <p:cNvGrpSpPr/>
          <p:nvPr/>
        </p:nvGrpSpPr>
        <p:grpSpPr>
          <a:xfrm>
            <a:off x="5095498" y="565131"/>
            <a:ext cx="291608" cy="199265"/>
            <a:chOff x="1928706" y="3559489"/>
            <a:chExt cx="227897" cy="155682"/>
          </a:xfrm>
        </p:grpSpPr>
        <p:sp>
          <p:nvSpPr>
            <p:cNvPr id="24" name="Candidate blob | editable contour">
              <a:extLst>
                <a:ext uri="{FF2B5EF4-FFF2-40B4-BE49-F238E27FC236}">
                  <a16:creationId xmlns:a16="http://schemas.microsoft.com/office/drawing/2014/main" id="{CEDDC562-8935-F160-6BF6-FBDE4980A530}"/>
                </a:ext>
              </a:extLst>
            </p:cNvPr>
            <p:cNvSpPr/>
            <p:nvPr/>
          </p:nvSpPr>
          <p:spPr>
            <a:xfrm>
              <a:off x="1928706" y="3559489"/>
              <a:ext cx="227897" cy="155682"/>
            </a:xfrm>
            <a:custGeom>
              <a:avLst/>
              <a:gdLst/>
              <a:ahLst/>
              <a:cxnLst/>
              <a:rect l="0" t="0" r="w" b="h"/>
              <a:pathLst>
                <a:path w="227897" h="155682" extrusionOk="0">
                  <a:moveTo>
                    <a:pt x="5338" y="97866"/>
                  </a:moveTo>
                  <a:cubicBezTo>
                    <a:pt x="0" y="80701"/>
                    <a:pt x="18889" y="54504"/>
                    <a:pt x="29976" y="43663"/>
                  </a:cubicBezTo>
                  <a:cubicBezTo>
                    <a:pt x="41062" y="32823"/>
                    <a:pt x="58719" y="39447"/>
                    <a:pt x="71859" y="32823"/>
                  </a:cubicBezTo>
                  <a:cubicBezTo>
                    <a:pt x="84999" y="26198"/>
                    <a:pt x="92391" y="7829"/>
                    <a:pt x="108816" y="3915"/>
                  </a:cubicBezTo>
                  <a:cubicBezTo>
                    <a:pt x="125241" y="0"/>
                    <a:pt x="153984" y="3613"/>
                    <a:pt x="170409" y="9335"/>
                  </a:cubicBezTo>
                  <a:cubicBezTo>
                    <a:pt x="186834" y="15056"/>
                    <a:pt x="198332" y="26198"/>
                    <a:pt x="207366" y="38243"/>
                  </a:cubicBezTo>
                  <a:cubicBezTo>
                    <a:pt x="216399" y="50288"/>
                    <a:pt x="227897" y="67151"/>
                    <a:pt x="224612" y="81605"/>
                  </a:cubicBezTo>
                  <a:cubicBezTo>
                    <a:pt x="221327" y="96059"/>
                    <a:pt x="203259" y="113223"/>
                    <a:pt x="187656" y="124967"/>
                  </a:cubicBezTo>
                  <a:cubicBezTo>
                    <a:pt x="172052" y="136711"/>
                    <a:pt x="151931" y="148455"/>
                    <a:pt x="130989" y="152068"/>
                  </a:cubicBezTo>
                  <a:cubicBezTo>
                    <a:pt x="110048" y="155682"/>
                    <a:pt x="82946" y="155682"/>
                    <a:pt x="62004" y="146648"/>
                  </a:cubicBezTo>
                  <a:cubicBezTo>
                    <a:pt x="41062" y="137614"/>
                    <a:pt x="10676" y="115030"/>
                    <a:pt x="5338" y="97866"/>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26" name="ellipse_2612">
              <a:extLst>
                <a:ext uri="{FF2B5EF4-FFF2-40B4-BE49-F238E27FC236}">
                  <a16:creationId xmlns:a16="http://schemas.microsoft.com/office/drawing/2014/main" id="{9A6165B9-D072-913F-4F98-07DF1CDFAD91}"/>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sp>
        <p:nvSpPr>
          <p:cNvPr id="27" name="Oval 12178">
            <a:extLst>
              <a:ext uri="{FF2B5EF4-FFF2-40B4-BE49-F238E27FC236}">
                <a16:creationId xmlns:a16="http://schemas.microsoft.com/office/drawing/2014/main" id="{BDE1AB30-8167-E025-0D16-C21F1775FD9B}"/>
              </a:ext>
            </a:extLst>
          </p:cNvPr>
          <p:cNvSpPr/>
          <p:nvPr/>
        </p:nvSpPr>
        <p:spPr>
          <a:xfrm>
            <a:off x="5224292" y="648563"/>
            <a:ext cx="34426" cy="34426"/>
          </a:xfrm>
          <a:prstGeom prst="ellipse">
            <a:avLst/>
          </a:prstGeom>
          <a:solidFill>
            <a:srgbClr val="1D4ED8"/>
          </a:solidFill>
          <a:ln w="635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pic>
        <p:nvPicPr>
          <p:cNvPr id="50483" name="图片 50482">
            <a:extLst>
              <a:ext uri="{FF2B5EF4-FFF2-40B4-BE49-F238E27FC236}">
                <a16:creationId xmlns:a16="http://schemas.microsoft.com/office/drawing/2014/main" id="{990BCBFC-9DD9-25BB-4CA2-DDF352D8C2FA}"/>
              </a:ext>
            </a:extLst>
          </p:cNvPr>
          <p:cNvPicPr>
            <a:picLocks noChangeAspect="1"/>
          </p:cNvPicPr>
          <p:nvPr/>
        </p:nvPicPr>
        <p:blipFill>
          <a:blip r:embed="rId5"/>
          <a:stretch/>
        </p:blipFill>
        <p:spPr>
          <a:xfrm>
            <a:off x="5631445" y="485775"/>
            <a:ext cx="414760" cy="342900"/>
          </a:xfrm>
          <a:prstGeom prst="rect">
            <a:avLst/>
          </a:prstGeom>
        </p:spPr>
      </p:pic>
      <p:sp>
        <p:nvSpPr>
          <p:cNvPr id="50484" name="F2-Build-selected">
            <a:extLst>
              <a:ext uri="{FF2B5EF4-FFF2-40B4-BE49-F238E27FC236}">
                <a16:creationId xmlns:a16="http://schemas.microsoft.com/office/drawing/2014/main" id="{6A2264C7-4360-FCD2-C7A2-680D5A04551A}"/>
              </a:ext>
            </a:extLst>
          </p:cNvPr>
          <p:cNvSpPr>
            <a:spLocks noGrp="1"/>
          </p:cNvSpPr>
          <p:nvPr/>
        </p:nvSpPr>
        <p:spPr>
          <a:xfrm>
            <a:off x="5054601" y="1283549"/>
            <a:ext cx="390525" cy="81915"/>
          </a:xfrm>
          <a:prstGeom prst="roundRect">
            <a:avLst>
              <a:gd name="adj" fmla="val 50000"/>
            </a:avLst>
          </a:prstGeom>
          <a:solidFill>
            <a:srgbClr val="DCF8EB"/>
          </a:solidFill>
          <a:ln w="7144">
            <a:solidFill>
              <a:srgbClr val="499D86"/>
            </a:solidFill>
          </a:ln>
        </p:spPr>
      </p:sp>
      <p:sp>
        <p:nvSpPr>
          <p:cNvPr id="50485" name="F2-Build-SMILES-0">
            <a:extLst>
              <a:ext uri="{FF2B5EF4-FFF2-40B4-BE49-F238E27FC236}">
                <a16:creationId xmlns:a16="http://schemas.microsoft.com/office/drawing/2014/main" id="{4008C2B1-D1D4-0B7F-4728-77E5B8661720}"/>
              </a:ext>
            </a:extLst>
          </p:cNvPr>
          <p:cNvSpPr>
            <a:spLocks noGrp="1"/>
          </p:cNvSpPr>
          <p:nvPr/>
        </p:nvSpPr>
        <p:spPr>
          <a:xfrm>
            <a:off x="5101503" y="1136660"/>
            <a:ext cx="361950" cy="74295"/>
          </a:xfrm>
          <a:prstGeom prst="rect">
            <a:avLst/>
          </a:prstGeom>
          <a:noFill/>
          <a:ln w="0">
            <a:noFill/>
          </a:ln>
        </p:spPr>
        <p:txBody>
          <a:bodyPr wrap="none" lIns="0" tIns="0" rIns="0" bIns="0" anchor="ctr">
            <a:noAutofit/>
          </a:bodyPr>
          <a:lstStyle>
            <a:defPPr algn="l">
              <a:defRPr sz="540" b="0">
                <a:solidFill>
                  <a:srgbClr val="263442"/>
                </a:solidFill>
                <a:latin typeface="Arial"/>
                <a:ea typeface="Arial"/>
                <a:cs typeface="Arial"/>
              </a:defRPr>
            </a:defPPr>
            <a:lvl1pPr algn="l">
              <a:defRPr sz="540" b="0">
                <a:solidFill>
                  <a:srgbClr val="263442"/>
                </a:solidFill>
                <a:latin typeface="Arial"/>
                <a:ea typeface="Arial"/>
                <a:cs typeface="Arial"/>
              </a:defRPr>
            </a:lvl1pPr>
            <a:lvl2pPr algn="l">
              <a:defRPr sz="540" b="0">
                <a:solidFill>
                  <a:srgbClr val="263442"/>
                </a:solidFill>
                <a:latin typeface="Arial"/>
                <a:ea typeface="Arial"/>
                <a:cs typeface="Arial"/>
              </a:defRPr>
            </a:lvl2pPr>
            <a:lvl3pPr algn="l">
              <a:defRPr sz="540" b="0">
                <a:solidFill>
                  <a:srgbClr val="263442"/>
                </a:solidFill>
                <a:latin typeface="Arial"/>
                <a:ea typeface="Arial"/>
                <a:cs typeface="Arial"/>
              </a:defRPr>
            </a:lvl3pPr>
            <a:lvl4pPr algn="l">
              <a:defRPr sz="540" b="0">
                <a:solidFill>
                  <a:srgbClr val="263442"/>
                </a:solidFill>
                <a:latin typeface="Arial"/>
                <a:ea typeface="Arial"/>
                <a:cs typeface="Arial"/>
              </a:defRPr>
            </a:lvl4pPr>
            <a:lvl5pPr algn="l">
              <a:defRPr sz="540" b="0">
                <a:solidFill>
                  <a:srgbClr val="263442"/>
                </a:solidFill>
                <a:latin typeface="Arial"/>
                <a:ea typeface="Arial"/>
                <a:cs typeface="Arial"/>
              </a:defRPr>
            </a:lvl5pPr>
            <a:lvl6pPr algn="l">
              <a:defRPr sz="540" b="0">
                <a:solidFill>
                  <a:srgbClr val="263442"/>
                </a:solidFill>
                <a:latin typeface="Arial"/>
                <a:ea typeface="Arial"/>
                <a:cs typeface="Arial"/>
              </a:defRPr>
            </a:lvl6pPr>
            <a:lvl7pPr algn="l">
              <a:defRPr sz="540" b="0">
                <a:solidFill>
                  <a:srgbClr val="263442"/>
                </a:solidFill>
                <a:latin typeface="Arial"/>
                <a:ea typeface="Arial"/>
                <a:cs typeface="Arial"/>
              </a:defRPr>
            </a:lvl7pPr>
            <a:lvl8pPr algn="l">
              <a:defRPr sz="540" b="0">
                <a:solidFill>
                  <a:srgbClr val="263442"/>
                </a:solidFill>
                <a:latin typeface="Arial"/>
                <a:ea typeface="Arial"/>
                <a:cs typeface="Arial"/>
              </a:defRPr>
            </a:lvl8pPr>
            <a:lvl9pPr algn="l">
              <a:defRPr sz="540" b="0">
                <a:solidFill>
                  <a:srgbClr val="263442"/>
                </a:solidFill>
                <a:latin typeface="Arial"/>
                <a:ea typeface="Arial"/>
                <a:cs typeface="Arial"/>
              </a:defRPr>
            </a:lvl9pPr>
          </a:lstStyle>
          <a:p>
            <a:pPr algn="l">
              <a:defRPr sz="540" b="0">
                <a:solidFill>
                  <a:srgbClr val="263442"/>
                </a:solidFill>
                <a:latin typeface="Arial"/>
                <a:ea typeface="Arial"/>
                <a:cs typeface="Arial"/>
              </a:defRPr>
            </a:pPr>
            <a:r>
              <a:rPr sz="480" b="0" dirty="0">
                <a:solidFill>
                  <a:srgbClr val="263442"/>
                </a:solidFill>
                <a:latin typeface="Arial"/>
                <a:ea typeface="Arial"/>
                <a:cs typeface="Arial"/>
              </a:rPr>
              <a:t>CCO</a:t>
            </a:r>
          </a:p>
        </p:txBody>
      </p:sp>
      <p:sp>
        <p:nvSpPr>
          <p:cNvPr id="50486" name="F2-Build-SMILES-7.8">
            <a:extLst>
              <a:ext uri="{FF2B5EF4-FFF2-40B4-BE49-F238E27FC236}">
                <a16:creationId xmlns:a16="http://schemas.microsoft.com/office/drawing/2014/main" id="{86B011E1-6EAB-6837-DA53-54E94AA085EC}"/>
              </a:ext>
            </a:extLst>
          </p:cNvPr>
          <p:cNvSpPr>
            <a:spLocks noGrp="1"/>
          </p:cNvSpPr>
          <p:nvPr/>
        </p:nvSpPr>
        <p:spPr>
          <a:xfrm>
            <a:off x="5101503" y="1199841"/>
            <a:ext cx="361950" cy="74295"/>
          </a:xfrm>
          <a:prstGeom prst="rect">
            <a:avLst/>
          </a:prstGeom>
          <a:noFill/>
          <a:ln w="0">
            <a:noFill/>
          </a:ln>
        </p:spPr>
        <p:txBody>
          <a:bodyPr wrap="none" lIns="0" tIns="0" rIns="0" bIns="0" anchor="ctr">
            <a:noAutofit/>
          </a:bodyPr>
          <a:lstStyle>
            <a:defPPr algn="l">
              <a:defRPr sz="540" b="0">
                <a:solidFill>
                  <a:srgbClr val="263442"/>
                </a:solidFill>
                <a:latin typeface="Arial"/>
                <a:ea typeface="Arial"/>
                <a:cs typeface="Arial"/>
              </a:defRPr>
            </a:defPPr>
            <a:lvl1pPr algn="l">
              <a:defRPr sz="540" b="0">
                <a:solidFill>
                  <a:srgbClr val="263442"/>
                </a:solidFill>
                <a:latin typeface="Arial"/>
                <a:ea typeface="Arial"/>
                <a:cs typeface="Arial"/>
              </a:defRPr>
            </a:lvl1pPr>
            <a:lvl2pPr algn="l">
              <a:defRPr sz="540" b="0">
                <a:solidFill>
                  <a:srgbClr val="263442"/>
                </a:solidFill>
                <a:latin typeface="Arial"/>
                <a:ea typeface="Arial"/>
                <a:cs typeface="Arial"/>
              </a:defRPr>
            </a:lvl2pPr>
            <a:lvl3pPr algn="l">
              <a:defRPr sz="540" b="0">
                <a:solidFill>
                  <a:srgbClr val="263442"/>
                </a:solidFill>
                <a:latin typeface="Arial"/>
                <a:ea typeface="Arial"/>
                <a:cs typeface="Arial"/>
              </a:defRPr>
            </a:lvl3pPr>
            <a:lvl4pPr algn="l">
              <a:defRPr sz="540" b="0">
                <a:solidFill>
                  <a:srgbClr val="263442"/>
                </a:solidFill>
                <a:latin typeface="Arial"/>
                <a:ea typeface="Arial"/>
                <a:cs typeface="Arial"/>
              </a:defRPr>
            </a:lvl4pPr>
            <a:lvl5pPr algn="l">
              <a:defRPr sz="540" b="0">
                <a:solidFill>
                  <a:srgbClr val="263442"/>
                </a:solidFill>
                <a:latin typeface="Arial"/>
                <a:ea typeface="Arial"/>
                <a:cs typeface="Arial"/>
              </a:defRPr>
            </a:lvl5pPr>
            <a:lvl6pPr algn="l">
              <a:defRPr sz="540" b="0">
                <a:solidFill>
                  <a:srgbClr val="263442"/>
                </a:solidFill>
                <a:latin typeface="Arial"/>
                <a:ea typeface="Arial"/>
                <a:cs typeface="Arial"/>
              </a:defRPr>
            </a:lvl6pPr>
            <a:lvl7pPr algn="l">
              <a:defRPr sz="540" b="0">
                <a:solidFill>
                  <a:srgbClr val="263442"/>
                </a:solidFill>
                <a:latin typeface="Arial"/>
                <a:ea typeface="Arial"/>
                <a:cs typeface="Arial"/>
              </a:defRPr>
            </a:lvl7pPr>
            <a:lvl8pPr algn="l">
              <a:defRPr sz="540" b="0">
                <a:solidFill>
                  <a:srgbClr val="263442"/>
                </a:solidFill>
                <a:latin typeface="Arial"/>
                <a:ea typeface="Arial"/>
                <a:cs typeface="Arial"/>
              </a:defRPr>
            </a:lvl8pPr>
            <a:lvl9pPr algn="l">
              <a:defRPr sz="540" b="0">
                <a:solidFill>
                  <a:srgbClr val="263442"/>
                </a:solidFill>
                <a:latin typeface="Arial"/>
                <a:ea typeface="Arial"/>
                <a:cs typeface="Arial"/>
              </a:defRPr>
            </a:lvl9pPr>
          </a:lstStyle>
          <a:p>
            <a:pPr>
              <a:defRPr sz="540" b="0">
                <a:solidFill>
                  <a:srgbClr val="263442"/>
                </a:solidFill>
                <a:latin typeface="Arial"/>
                <a:ea typeface="Arial"/>
                <a:cs typeface="Arial"/>
              </a:defRPr>
            </a:pPr>
            <a:r>
              <a:rPr sz="480" dirty="0"/>
              <a:t>CC(=O)O</a:t>
            </a:r>
          </a:p>
        </p:txBody>
      </p:sp>
      <p:sp>
        <p:nvSpPr>
          <p:cNvPr id="50487" name="F2-Build-continuation">
            <a:extLst>
              <a:ext uri="{FF2B5EF4-FFF2-40B4-BE49-F238E27FC236}">
                <a16:creationId xmlns:a16="http://schemas.microsoft.com/office/drawing/2014/main" id="{57445525-DCC1-B4E7-E3C5-43F5AED1AAB1}"/>
              </a:ext>
            </a:extLst>
          </p:cNvPr>
          <p:cNvSpPr>
            <a:spLocks noGrp="1"/>
          </p:cNvSpPr>
          <p:nvPr/>
        </p:nvSpPr>
        <p:spPr>
          <a:xfrm>
            <a:off x="5106267" y="1268735"/>
            <a:ext cx="6668" cy="6668"/>
          </a:xfrm>
          <a:prstGeom prst="ellipse">
            <a:avLst/>
          </a:prstGeom>
          <a:solidFill>
            <a:srgbClr val="687780"/>
          </a:solidFill>
          <a:ln w="0">
            <a:noFill/>
          </a:ln>
        </p:spPr>
      </p:sp>
      <p:sp>
        <p:nvSpPr>
          <p:cNvPr id="50488" name="F2-Build-continuation">
            <a:extLst>
              <a:ext uri="{FF2B5EF4-FFF2-40B4-BE49-F238E27FC236}">
                <a16:creationId xmlns:a16="http://schemas.microsoft.com/office/drawing/2014/main" id="{D8380CD8-B1B4-24DE-92C0-E1C222863213}"/>
              </a:ext>
            </a:extLst>
          </p:cNvPr>
          <p:cNvSpPr>
            <a:spLocks noGrp="1"/>
          </p:cNvSpPr>
          <p:nvPr/>
        </p:nvSpPr>
        <p:spPr>
          <a:xfrm>
            <a:off x="5119918" y="1268735"/>
            <a:ext cx="6668" cy="6668"/>
          </a:xfrm>
          <a:prstGeom prst="ellipse">
            <a:avLst/>
          </a:prstGeom>
          <a:solidFill>
            <a:srgbClr val="687780"/>
          </a:solidFill>
          <a:ln w="0">
            <a:noFill/>
          </a:ln>
        </p:spPr>
      </p:sp>
      <p:sp>
        <p:nvSpPr>
          <p:cNvPr id="50489" name="F2-Build-continuation">
            <a:extLst>
              <a:ext uri="{FF2B5EF4-FFF2-40B4-BE49-F238E27FC236}">
                <a16:creationId xmlns:a16="http://schemas.microsoft.com/office/drawing/2014/main" id="{A87F8D1D-D087-B895-3967-34FD7403FA3D}"/>
              </a:ext>
            </a:extLst>
          </p:cNvPr>
          <p:cNvSpPr>
            <a:spLocks noGrp="1"/>
          </p:cNvSpPr>
          <p:nvPr/>
        </p:nvSpPr>
        <p:spPr>
          <a:xfrm>
            <a:off x="5135157" y="1268735"/>
            <a:ext cx="6668" cy="6668"/>
          </a:xfrm>
          <a:prstGeom prst="ellipse">
            <a:avLst/>
          </a:prstGeom>
          <a:solidFill>
            <a:srgbClr val="687780"/>
          </a:solidFill>
          <a:ln w="0">
            <a:noFill/>
          </a:ln>
        </p:spPr>
      </p:sp>
      <p:sp>
        <p:nvSpPr>
          <p:cNvPr id="50490" name="F2-Build-SMILES-19.8">
            <a:extLst>
              <a:ext uri="{FF2B5EF4-FFF2-40B4-BE49-F238E27FC236}">
                <a16:creationId xmlns:a16="http://schemas.microsoft.com/office/drawing/2014/main" id="{8D1E4611-7807-D068-11D8-0FDDECDECA18}"/>
              </a:ext>
            </a:extLst>
          </p:cNvPr>
          <p:cNvSpPr>
            <a:spLocks noGrp="1"/>
          </p:cNvSpPr>
          <p:nvPr/>
        </p:nvSpPr>
        <p:spPr>
          <a:xfrm>
            <a:off x="5101503" y="1285559"/>
            <a:ext cx="361950" cy="74295"/>
          </a:xfrm>
          <a:prstGeom prst="rect">
            <a:avLst/>
          </a:prstGeom>
          <a:noFill/>
          <a:ln w="0">
            <a:noFill/>
          </a:ln>
        </p:spPr>
        <p:txBody>
          <a:bodyPr wrap="none" lIns="0" tIns="0" rIns="0" bIns="0" anchor="ctr">
            <a:noAutofit/>
          </a:bodyPr>
          <a:lstStyle>
            <a:defPPr algn="l">
              <a:defRPr sz="540" b="0">
                <a:solidFill>
                  <a:srgbClr val="24634E"/>
                </a:solidFill>
                <a:latin typeface="Arial"/>
                <a:ea typeface="Arial"/>
                <a:cs typeface="Arial"/>
              </a:defRPr>
            </a:defPPr>
            <a:lvl1pPr algn="l">
              <a:defRPr sz="540" b="0">
                <a:solidFill>
                  <a:srgbClr val="24634E"/>
                </a:solidFill>
                <a:latin typeface="Arial"/>
                <a:ea typeface="Arial"/>
                <a:cs typeface="Arial"/>
              </a:defRPr>
            </a:lvl1pPr>
            <a:lvl2pPr algn="l">
              <a:defRPr sz="540" b="0">
                <a:solidFill>
                  <a:srgbClr val="24634E"/>
                </a:solidFill>
                <a:latin typeface="Arial"/>
                <a:ea typeface="Arial"/>
                <a:cs typeface="Arial"/>
              </a:defRPr>
            </a:lvl2pPr>
            <a:lvl3pPr algn="l">
              <a:defRPr sz="540" b="0">
                <a:solidFill>
                  <a:srgbClr val="24634E"/>
                </a:solidFill>
                <a:latin typeface="Arial"/>
                <a:ea typeface="Arial"/>
                <a:cs typeface="Arial"/>
              </a:defRPr>
            </a:lvl3pPr>
            <a:lvl4pPr algn="l">
              <a:defRPr sz="540" b="0">
                <a:solidFill>
                  <a:srgbClr val="24634E"/>
                </a:solidFill>
                <a:latin typeface="Arial"/>
                <a:ea typeface="Arial"/>
                <a:cs typeface="Arial"/>
              </a:defRPr>
            </a:lvl4pPr>
            <a:lvl5pPr algn="l">
              <a:defRPr sz="540" b="0">
                <a:solidFill>
                  <a:srgbClr val="24634E"/>
                </a:solidFill>
                <a:latin typeface="Arial"/>
                <a:ea typeface="Arial"/>
                <a:cs typeface="Arial"/>
              </a:defRPr>
            </a:lvl5pPr>
            <a:lvl6pPr algn="l">
              <a:defRPr sz="540" b="0">
                <a:solidFill>
                  <a:srgbClr val="24634E"/>
                </a:solidFill>
                <a:latin typeface="Arial"/>
                <a:ea typeface="Arial"/>
                <a:cs typeface="Arial"/>
              </a:defRPr>
            </a:lvl6pPr>
            <a:lvl7pPr algn="l">
              <a:defRPr sz="540" b="0">
                <a:solidFill>
                  <a:srgbClr val="24634E"/>
                </a:solidFill>
                <a:latin typeface="Arial"/>
                <a:ea typeface="Arial"/>
                <a:cs typeface="Arial"/>
              </a:defRPr>
            </a:lvl7pPr>
            <a:lvl8pPr algn="l">
              <a:defRPr sz="540" b="0">
                <a:solidFill>
                  <a:srgbClr val="24634E"/>
                </a:solidFill>
                <a:latin typeface="Arial"/>
                <a:ea typeface="Arial"/>
                <a:cs typeface="Arial"/>
              </a:defRPr>
            </a:lvl8pPr>
            <a:lvl9pPr algn="l">
              <a:defRPr sz="540" b="0">
                <a:solidFill>
                  <a:srgbClr val="24634E"/>
                </a:solidFill>
                <a:latin typeface="Arial"/>
                <a:ea typeface="Arial"/>
                <a:cs typeface="Arial"/>
              </a:defRPr>
            </a:lvl9pPr>
          </a:lstStyle>
          <a:p>
            <a:pPr>
              <a:defRPr sz="540" b="0">
                <a:solidFill>
                  <a:srgbClr val="263442"/>
                </a:solidFill>
                <a:latin typeface="Arial"/>
                <a:ea typeface="Arial"/>
                <a:cs typeface="Arial"/>
              </a:defRPr>
            </a:pPr>
            <a:r>
              <a:rPr sz="480" dirty="0">
                <a:solidFill>
                  <a:srgbClr val="263442"/>
                </a:solidFill>
              </a:rPr>
              <a:t>Cc1ccccc1</a:t>
            </a:r>
          </a:p>
        </p:txBody>
      </p:sp>
      <p:sp>
        <p:nvSpPr>
          <p:cNvPr id="50491" name="F2-Build-SMILES-27.599999999999998">
            <a:extLst>
              <a:ext uri="{FF2B5EF4-FFF2-40B4-BE49-F238E27FC236}">
                <a16:creationId xmlns:a16="http://schemas.microsoft.com/office/drawing/2014/main" id="{7C479AF4-50FE-543B-B4FD-111B42F262AA}"/>
              </a:ext>
            </a:extLst>
          </p:cNvPr>
          <p:cNvSpPr>
            <a:spLocks noGrp="1"/>
          </p:cNvSpPr>
          <p:nvPr/>
        </p:nvSpPr>
        <p:spPr>
          <a:xfrm>
            <a:off x="5101503" y="1359854"/>
            <a:ext cx="361950" cy="74295"/>
          </a:xfrm>
          <a:prstGeom prst="rect">
            <a:avLst/>
          </a:prstGeom>
          <a:noFill/>
          <a:ln w="0">
            <a:noFill/>
          </a:ln>
        </p:spPr>
        <p:txBody>
          <a:bodyPr wrap="none" lIns="0" tIns="0" rIns="0" bIns="0" anchor="ctr">
            <a:noAutofit/>
          </a:bodyPr>
          <a:lstStyle>
            <a:defPPr algn="l">
              <a:defRPr sz="540" b="0">
                <a:solidFill>
                  <a:srgbClr val="263442"/>
                </a:solidFill>
                <a:latin typeface="Arial"/>
                <a:ea typeface="Arial"/>
                <a:cs typeface="Arial"/>
              </a:defRPr>
            </a:defPPr>
            <a:lvl1pPr algn="l">
              <a:defRPr sz="540" b="0">
                <a:solidFill>
                  <a:srgbClr val="263442"/>
                </a:solidFill>
                <a:latin typeface="Arial"/>
                <a:ea typeface="Arial"/>
                <a:cs typeface="Arial"/>
              </a:defRPr>
            </a:lvl1pPr>
            <a:lvl2pPr algn="l">
              <a:defRPr sz="540" b="0">
                <a:solidFill>
                  <a:srgbClr val="263442"/>
                </a:solidFill>
                <a:latin typeface="Arial"/>
                <a:ea typeface="Arial"/>
                <a:cs typeface="Arial"/>
              </a:defRPr>
            </a:lvl2pPr>
            <a:lvl3pPr algn="l">
              <a:defRPr sz="540" b="0">
                <a:solidFill>
                  <a:srgbClr val="263442"/>
                </a:solidFill>
                <a:latin typeface="Arial"/>
                <a:ea typeface="Arial"/>
                <a:cs typeface="Arial"/>
              </a:defRPr>
            </a:lvl3pPr>
            <a:lvl4pPr algn="l">
              <a:defRPr sz="540" b="0">
                <a:solidFill>
                  <a:srgbClr val="263442"/>
                </a:solidFill>
                <a:latin typeface="Arial"/>
                <a:ea typeface="Arial"/>
                <a:cs typeface="Arial"/>
              </a:defRPr>
            </a:lvl4pPr>
            <a:lvl5pPr algn="l">
              <a:defRPr sz="540" b="0">
                <a:solidFill>
                  <a:srgbClr val="263442"/>
                </a:solidFill>
                <a:latin typeface="Arial"/>
                <a:ea typeface="Arial"/>
                <a:cs typeface="Arial"/>
              </a:defRPr>
            </a:lvl5pPr>
            <a:lvl6pPr algn="l">
              <a:defRPr sz="540" b="0">
                <a:solidFill>
                  <a:srgbClr val="263442"/>
                </a:solidFill>
                <a:latin typeface="Arial"/>
                <a:ea typeface="Arial"/>
                <a:cs typeface="Arial"/>
              </a:defRPr>
            </a:lvl6pPr>
            <a:lvl7pPr algn="l">
              <a:defRPr sz="540" b="0">
                <a:solidFill>
                  <a:srgbClr val="263442"/>
                </a:solidFill>
                <a:latin typeface="Arial"/>
                <a:ea typeface="Arial"/>
                <a:cs typeface="Arial"/>
              </a:defRPr>
            </a:lvl7pPr>
            <a:lvl8pPr algn="l">
              <a:defRPr sz="540" b="0">
                <a:solidFill>
                  <a:srgbClr val="263442"/>
                </a:solidFill>
                <a:latin typeface="Arial"/>
                <a:ea typeface="Arial"/>
                <a:cs typeface="Arial"/>
              </a:defRPr>
            </a:lvl8pPr>
            <a:lvl9pPr algn="l">
              <a:defRPr sz="540" b="0">
                <a:solidFill>
                  <a:srgbClr val="263442"/>
                </a:solidFill>
                <a:latin typeface="Arial"/>
                <a:ea typeface="Arial"/>
                <a:cs typeface="Arial"/>
              </a:defRPr>
            </a:lvl9pPr>
          </a:lstStyle>
          <a:p>
            <a:pPr>
              <a:defRPr sz="540" b="0">
                <a:solidFill>
                  <a:srgbClr val="263442"/>
                </a:solidFill>
                <a:latin typeface="Arial"/>
                <a:ea typeface="Arial"/>
                <a:cs typeface="Arial"/>
              </a:defRPr>
            </a:pPr>
            <a:r>
              <a:rPr sz="480" dirty="0"/>
              <a:t>CC(N)=O</a:t>
            </a:r>
          </a:p>
        </p:txBody>
      </p:sp>
      <p:pic>
        <p:nvPicPr>
          <p:cNvPr id="50492" name="图片 50491">
            <a:extLst>
              <a:ext uri="{FF2B5EF4-FFF2-40B4-BE49-F238E27FC236}">
                <a16:creationId xmlns:a16="http://schemas.microsoft.com/office/drawing/2014/main" id="{4E683091-6004-F992-1701-5ECCC7280632}"/>
              </a:ext>
            </a:extLst>
          </p:cNvPr>
          <p:cNvPicPr>
            <a:picLocks noChangeAspect="1"/>
          </p:cNvPicPr>
          <p:nvPr/>
        </p:nvPicPr>
        <p:blipFill>
          <a:blip r:embed="rId6"/>
          <a:stretch/>
        </p:blipFill>
        <p:spPr>
          <a:xfrm>
            <a:off x="5149836" y="3476625"/>
            <a:ext cx="806478" cy="666750"/>
          </a:xfrm>
          <a:prstGeom prst="rect">
            <a:avLst/>
          </a:prstGeom>
        </p:spPr>
      </p:pic>
    </p:spTree>
    <p:extLst>
      <p:ext uri="{BB962C8B-B14F-4D97-AF65-F5344CB8AC3E}">
        <p14:creationId xmlns:p14="http://schemas.microsoft.com/office/powerpoint/2010/main" val="3518631150"/>
      </p:ext>
    </p:extLst>
  </p:cSld>
  <p:clrMapOvr>
    <a:masterClrMapping/>
  </p:clrMapOvr>
  <p:extLst>
    <p:ext uri="{6950BFC3-D8DA-4A85-94F7-54DA5524770B}">
      <p188:commentRel xmlns:p188="http://schemas.microsoft.com/office/powerpoint/2018/8/main" r:id="rId3"/>
    </p:ext>
  </p:extLs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352734-FCAE-2B81-54BC-B01F7B050C10}"/>
            </a:ext>
          </a:extLst>
        </p:cNvPr>
        <p:cNvGrpSpPr/>
        <p:nvPr/>
      </p:nvGrpSpPr>
      <p:grpSpPr>
        <a:xfrm>
          <a:off x="0" y="0"/>
          <a:ext cx="0" cy="0"/>
          <a:chOff x="0" y="0"/>
          <a:chExt cx="0" cy="0"/>
        </a:xfrm>
      </p:grpSpPr>
      <p:sp>
        <p:nvSpPr>
          <p:cNvPr id="4" name="Panel | Build background">
            <a:extLst>
              <a:ext uri="{FF2B5EF4-FFF2-40B4-BE49-F238E27FC236}">
                <a16:creationId xmlns:a16="http://schemas.microsoft.com/office/drawing/2014/main" id="{3F93B921-327F-EA56-1B22-0D09369772CD}"/>
              </a:ext>
            </a:extLst>
          </p:cNvPr>
          <p:cNvSpPr/>
          <p:nvPr/>
        </p:nvSpPr>
        <p:spPr>
          <a:xfrm>
            <a:off x="4868797" y="84564"/>
            <a:ext cx="1354615" cy="4331875"/>
          </a:xfrm>
          <a:prstGeom prst="roundRect">
            <a:avLst>
              <a:gd name="adj" fmla="val 2000"/>
            </a:avLst>
          </a:prstGeom>
          <a:solidFill>
            <a:srgbClr val="FAF6EE"/>
          </a:solidFill>
          <a:ln w="9720">
            <a:solidFill>
              <a:srgbClr val="E3D9C6"/>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dirty="0"/>
          </a:p>
        </p:txBody>
      </p:sp>
      <p:sp>
        <p:nvSpPr>
          <p:cNvPr id="11" name="TextBox 8">
            <a:extLst>
              <a:ext uri="{FF2B5EF4-FFF2-40B4-BE49-F238E27FC236}">
                <a16:creationId xmlns:a16="http://schemas.microsoft.com/office/drawing/2014/main" id="{E6455CE4-B1DF-384C-F92E-829DDB28E816}"/>
              </a:ext>
            </a:extLst>
          </p:cNvPr>
          <p:cNvSpPr txBox="1"/>
          <p:nvPr/>
        </p:nvSpPr>
        <p:spPr>
          <a:xfrm>
            <a:off x="4902380" y="107125"/>
            <a:ext cx="174028" cy="149656"/>
          </a:xfrm>
          <a:prstGeom prst="rect">
            <a:avLst/>
          </a:prstGeom>
          <a:noFill/>
        </p:spPr>
        <p:txBody>
          <a:bodyPr wrap="square" lIns="0" tIns="0" rIns="0" bIns="0" anchor="ctr">
            <a:spAutoFit/>
          </a:bodyPr>
          <a:lstStyle/>
          <a:p>
            <a:pPr algn="l">
              <a:lnSpc>
                <a:spcPct val="105000"/>
              </a:lnSpc>
            </a:pPr>
            <a:r>
              <a:rPr sz="995" b="1" dirty="0">
                <a:solidFill>
                  <a:srgbClr val="263442"/>
                </a:solidFill>
                <a:latin typeface="Arial"/>
              </a:rPr>
              <a:t>c</a:t>
            </a:r>
          </a:p>
        </p:txBody>
      </p:sp>
      <p:sp>
        <p:nvSpPr>
          <p:cNvPr id="12" name="TextBox 9">
            <a:extLst>
              <a:ext uri="{FF2B5EF4-FFF2-40B4-BE49-F238E27FC236}">
                <a16:creationId xmlns:a16="http://schemas.microsoft.com/office/drawing/2014/main" id="{081F4C46-44A2-3E43-D338-0A52F1D83598}"/>
              </a:ext>
            </a:extLst>
          </p:cNvPr>
          <p:cNvSpPr txBox="1"/>
          <p:nvPr/>
        </p:nvSpPr>
        <p:spPr>
          <a:xfrm>
            <a:off x="5060587" y="120126"/>
            <a:ext cx="1202377" cy="239809"/>
          </a:xfrm>
          <a:prstGeom prst="rect">
            <a:avLst/>
          </a:prstGeom>
          <a:noFill/>
        </p:spPr>
        <p:txBody>
          <a:bodyPr wrap="square" lIns="0" tIns="0" rIns="0" bIns="0" anchor="ctr">
            <a:spAutoFit/>
          </a:bodyPr>
          <a:lstStyle/>
          <a:p>
            <a:pPr algn="l">
              <a:lnSpc>
                <a:spcPct val="98000"/>
              </a:lnSpc>
            </a:pPr>
            <a:r>
              <a:rPr sz="795" dirty="0">
                <a:solidFill>
                  <a:srgbClr val="263442"/>
                </a:solidFill>
                <a:latin typeface="Arial"/>
              </a:rPr>
              <a:t>Build: downstream</a:t>
            </a:r>
          </a:p>
          <a:p>
            <a:pPr algn="l">
              <a:lnSpc>
                <a:spcPct val="98000"/>
              </a:lnSpc>
            </a:pPr>
            <a:r>
              <a:rPr sz="795" dirty="0">
                <a:solidFill>
                  <a:srgbClr val="263442"/>
                </a:solidFill>
                <a:latin typeface="Arial"/>
              </a:rPr>
              <a:t>pose reconstruction</a:t>
            </a:r>
          </a:p>
        </p:txBody>
      </p:sp>
      <p:sp>
        <p:nvSpPr>
          <p:cNvPr id="768" name="Build four inputs">
            <a:extLst>
              <a:ext uri="{FF2B5EF4-FFF2-40B4-BE49-F238E27FC236}">
                <a16:creationId xmlns:a16="http://schemas.microsoft.com/office/drawing/2014/main" id="{2BF98272-1D43-106D-C4EA-676CFECC33CF}"/>
              </a:ext>
            </a:extLst>
          </p:cNvPr>
          <p:cNvSpPr>
            <a:spLocks noGrp="1"/>
          </p:cNvSpPr>
          <p:nvPr/>
        </p:nvSpPr>
        <p:spPr>
          <a:xfrm>
            <a:off x="4963973" y="420252"/>
            <a:ext cx="1158792" cy="1302153"/>
          </a:xfrm>
          <a:prstGeom prst="roundRect">
            <a:avLst>
              <a:gd name="adj" fmla="val 4554"/>
            </a:avLst>
          </a:prstGeom>
          <a:solidFill>
            <a:srgbClr val="FFFFFF"/>
          </a:solidFill>
          <a:ln w="7290">
            <a:solidFill>
              <a:srgbClr val="DFD6C3"/>
            </a:solidFill>
            <a:prstDash val="solid"/>
          </a:ln>
        </p:spPr>
        <p:txBody>
          <a:bodyPr/>
          <a:lstStyle/>
          <a:p>
            <a:endParaRPr lang="zh-CN" altLang="en-US" dirty="0"/>
          </a:p>
        </p:txBody>
      </p:sp>
      <p:sp>
        <p:nvSpPr>
          <p:cNvPr id="769" name="Site label">
            <a:extLst>
              <a:ext uri="{FF2B5EF4-FFF2-40B4-BE49-F238E27FC236}">
                <a16:creationId xmlns:a16="http://schemas.microsoft.com/office/drawing/2014/main" id="{3B2D181B-8171-23E5-904D-1E8D8B07D388}"/>
              </a:ext>
            </a:extLst>
          </p:cNvPr>
          <p:cNvSpPr>
            <a:spLocks noGrp="1"/>
          </p:cNvSpPr>
          <p:nvPr/>
        </p:nvSpPr>
        <p:spPr>
          <a:xfrm>
            <a:off x="4992638" y="834972"/>
            <a:ext cx="514364" cy="101253"/>
          </a:xfrm>
          <a:prstGeom prst="rect">
            <a:avLst/>
          </a:prstGeom>
          <a:noFill/>
          <a:ln w="6885">
            <a:noFill/>
            <a:prstDash val="solid"/>
          </a:ln>
        </p:spPr>
        <p:txBody>
          <a:bodyPr lIns="0" tIns="0" rIns="0" bIns="0" anchor="ctr"/>
          <a:lstStyle>
            <a:defPPr algn="ctr">
              <a:defRPr sz="695" b="1">
                <a:solidFill>
                  <a:srgbClr val="263442"/>
                </a:solidFill>
                <a:latin typeface="Arial"/>
                <a:ea typeface="Arial"/>
                <a:cs typeface="Arial"/>
              </a:defRPr>
            </a:defPPr>
            <a:lvl1pPr algn="ctr">
              <a:defRPr sz="695" b="1">
                <a:solidFill>
                  <a:srgbClr val="263442"/>
                </a:solidFill>
                <a:latin typeface="Arial"/>
                <a:ea typeface="Arial"/>
                <a:cs typeface="Arial"/>
              </a:defRPr>
            </a:lvl1pPr>
            <a:lvl2pPr algn="ctr">
              <a:defRPr sz="695" b="1">
                <a:solidFill>
                  <a:srgbClr val="263442"/>
                </a:solidFill>
                <a:latin typeface="Arial"/>
                <a:ea typeface="Arial"/>
                <a:cs typeface="Arial"/>
              </a:defRPr>
            </a:lvl2pPr>
            <a:lvl3pPr algn="ctr">
              <a:defRPr sz="695" b="1">
                <a:solidFill>
                  <a:srgbClr val="263442"/>
                </a:solidFill>
                <a:latin typeface="Arial"/>
                <a:ea typeface="Arial"/>
                <a:cs typeface="Arial"/>
              </a:defRPr>
            </a:lvl3pPr>
            <a:lvl4pPr algn="ctr">
              <a:defRPr sz="695" b="1">
                <a:solidFill>
                  <a:srgbClr val="263442"/>
                </a:solidFill>
                <a:latin typeface="Arial"/>
                <a:ea typeface="Arial"/>
                <a:cs typeface="Arial"/>
              </a:defRPr>
            </a:lvl4pPr>
            <a:lvl5pPr algn="ctr">
              <a:defRPr sz="695" b="1">
                <a:solidFill>
                  <a:srgbClr val="263442"/>
                </a:solidFill>
                <a:latin typeface="Arial"/>
                <a:ea typeface="Arial"/>
                <a:cs typeface="Arial"/>
              </a:defRPr>
            </a:lvl5pPr>
            <a:lvl6pPr algn="ctr">
              <a:defRPr sz="695" b="1">
                <a:solidFill>
                  <a:srgbClr val="263442"/>
                </a:solidFill>
                <a:latin typeface="Arial"/>
                <a:ea typeface="Arial"/>
                <a:cs typeface="Arial"/>
              </a:defRPr>
            </a:lvl6pPr>
            <a:lvl7pPr algn="ctr">
              <a:defRPr sz="695" b="1">
                <a:solidFill>
                  <a:srgbClr val="263442"/>
                </a:solidFill>
                <a:latin typeface="Arial"/>
                <a:ea typeface="Arial"/>
                <a:cs typeface="Arial"/>
              </a:defRPr>
            </a:lvl7pPr>
            <a:lvl8pPr algn="ctr">
              <a:defRPr sz="695" b="1">
                <a:solidFill>
                  <a:srgbClr val="263442"/>
                </a:solidFill>
                <a:latin typeface="Arial"/>
                <a:ea typeface="Arial"/>
                <a:cs typeface="Arial"/>
              </a:defRPr>
            </a:lvl8pPr>
            <a:lvl9pPr algn="ctr">
              <a:defRPr sz="695" b="1">
                <a:solidFill>
                  <a:srgbClr val="263442"/>
                </a:solidFill>
                <a:latin typeface="Arial"/>
                <a:ea typeface="Arial"/>
                <a:cs typeface="Arial"/>
              </a:defRPr>
            </a:lvl9pPr>
          </a:lstStyle>
          <a:p>
            <a:pPr algn="ctr">
              <a:defRPr sz="695" b="1">
                <a:solidFill>
                  <a:srgbClr val="263442"/>
                </a:solidFill>
                <a:latin typeface="Arial"/>
                <a:ea typeface="Arial"/>
                <a:cs typeface="Arial"/>
              </a:defRPr>
            </a:pPr>
            <a:r>
              <a:rPr sz="695" b="0" dirty="0">
                <a:solidFill>
                  <a:srgbClr val="263442"/>
                </a:solidFill>
                <a:latin typeface="Arial"/>
                <a:ea typeface="Arial"/>
                <a:cs typeface="Arial"/>
              </a:rPr>
              <a:t>Site</a:t>
            </a:r>
          </a:p>
        </p:txBody>
      </p:sp>
      <p:sp>
        <p:nvSpPr>
          <p:cNvPr id="770" name="Site provenance">
            <a:extLst>
              <a:ext uri="{FF2B5EF4-FFF2-40B4-BE49-F238E27FC236}">
                <a16:creationId xmlns:a16="http://schemas.microsoft.com/office/drawing/2014/main" id="{1D7E3247-83A3-5643-3DAD-7118C029E905}"/>
              </a:ext>
            </a:extLst>
          </p:cNvPr>
          <p:cNvSpPr>
            <a:spLocks noGrp="1"/>
          </p:cNvSpPr>
          <p:nvPr/>
        </p:nvSpPr>
        <p:spPr>
          <a:xfrm>
            <a:off x="4999032" y="921461"/>
            <a:ext cx="514364" cy="85052"/>
          </a:xfrm>
          <a:prstGeom prst="rect">
            <a:avLst/>
          </a:prstGeom>
          <a:noFill/>
          <a:ln w="6885">
            <a:noFill/>
            <a:prstDash val="solid"/>
          </a:ln>
        </p:spPr>
        <p:txBody>
          <a:bodyPr lIns="0" tIns="0" rIns="0" bIns="0" anchor="ctr"/>
          <a:lstStyle>
            <a:defPPr algn="ctr">
              <a:defRPr sz="590" b="0">
                <a:solidFill>
                  <a:srgbClr val="263442"/>
                </a:solidFill>
                <a:latin typeface="Arial"/>
                <a:ea typeface="Arial"/>
                <a:cs typeface="Arial"/>
              </a:defRPr>
            </a:defPPr>
            <a:lvl1pPr algn="ctr">
              <a:defRPr sz="590" b="0">
                <a:solidFill>
                  <a:srgbClr val="263442"/>
                </a:solidFill>
                <a:latin typeface="Arial"/>
                <a:ea typeface="Arial"/>
                <a:cs typeface="Arial"/>
              </a:defRPr>
            </a:lvl1pPr>
            <a:lvl2pPr algn="ctr">
              <a:defRPr sz="590" b="0">
                <a:solidFill>
                  <a:srgbClr val="263442"/>
                </a:solidFill>
                <a:latin typeface="Arial"/>
                <a:ea typeface="Arial"/>
                <a:cs typeface="Arial"/>
              </a:defRPr>
            </a:lvl2pPr>
            <a:lvl3pPr algn="ctr">
              <a:defRPr sz="590" b="0">
                <a:solidFill>
                  <a:srgbClr val="263442"/>
                </a:solidFill>
                <a:latin typeface="Arial"/>
                <a:ea typeface="Arial"/>
                <a:cs typeface="Arial"/>
              </a:defRPr>
            </a:lvl3pPr>
            <a:lvl4pPr algn="ctr">
              <a:defRPr sz="590" b="0">
                <a:solidFill>
                  <a:srgbClr val="263442"/>
                </a:solidFill>
                <a:latin typeface="Arial"/>
                <a:ea typeface="Arial"/>
                <a:cs typeface="Arial"/>
              </a:defRPr>
            </a:lvl4pPr>
            <a:lvl5pPr algn="ctr">
              <a:defRPr sz="590" b="0">
                <a:solidFill>
                  <a:srgbClr val="263442"/>
                </a:solidFill>
                <a:latin typeface="Arial"/>
                <a:ea typeface="Arial"/>
                <a:cs typeface="Arial"/>
              </a:defRPr>
            </a:lvl5pPr>
            <a:lvl6pPr algn="ctr">
              <a:defRPr sz="590" b="0">
                <a:solidFill>
                  <a:srgbClr val="263442"/>
                </a:solidFill>
                <a:latin typeface="Arial"/>
                <a:ea typeface="Arial"/>
                <a:cs typeface="Arial"/>
              </a:defRPr>
            </a:lvl6pPr>
            <a:lvl7pPr algn="ctr">
              <a:defRPr sz="590" b="0">
                <a:solidFill>
                  <a:srgbClr val="263442"/>
                </a:solidFill>
                <a:latin typeface="Arial"/>
                <a:ea typeface="Arial"/>
                <a:cs typeface="Arial"/>
              </a:defRPr>
            </a:lvl7pPr>
            <a:lvl8pPr algn="ctr">
              <a:defRPr sz="590" b="0">
                <a:solidFill>
                  <a:srgbClr val="263442"/>
                </a:solidFill>
                <a:latin typeface="Arial"/>
                <a:ea typeface="Arial"/>
                <a:cs typeface="Arial"/>
              </a:defRPr>
            </a:lvl8pPr>
            <a:lvl9pPr algn="ctr">
              <a:defRPr sz="590" b="0">
                <a:solidFill>
                  <a:srgbClr val="263442"/>
                </a:solidFill>
                <a:latin typeface="Arial"/>
                <a:ea typeface="Arial"/>
                <a:cs typeface="Arial"/>
              </a:defRPr>
            </a:lvl9pPr>
          </a:lstStyle>
          <a:p>
            <a:pPr algn="ctr">
              <a:defRPr sz="590" b="0">
                <a:solidFill>
                  <a:srgbClr val="263442"/>
                </a:solidFill>
                <a:latin typeface="Arial"/>
                <a:ea typeface="Arial"/>
                <a:cs typeface="Arial"/>
              </a:defRPr>
            </a:pPr>
            <a:r>
              <a:rPr sz="550" dirty="0">
                <a:solidFill>
                  <a:srgbClr val="263442"/>
                </a:solidFill>
                <a:latin typeface="Arial"/>
                <a:ea typeface="Arial"/>
                <a:cs typeface="Arial"/>
              </a:rPr>
              <a:t>from Find</a:t>
            </a:r>
          </a:p>
        </p:txBody>
      </p:sp>
      <p:sp>
        <p:nvSpPr>
          <p:cNvPr id="771" name="Pocket label">
            <a:extLst>
              <a:ext uri="{FF2B5EF4-FFF2-40B4-BE49-F238E27FC236}">
                <a16:creationId xmlns:a16="http://schemas.microsoft.com/office/drawing/2014/main" id="{DC9603B8-71EE-2C1D-249F-079678E93D98}"/>
              </a:ext>
            </a:extLst>
          </p:cNvPr>
          <p:cNvSpPr>
            <a:spLocks noGrp="1"/>
          </p:cNvSpPr>
          <p:nvPr/>
        </p:nvSpPr>
        <p:spPr>
          <a:xfrm>
            <a:off x="5581260" y="854408"/>
            <a:ext cx="514364" cy="101253"/>
          </a:xfrm>
          <a:prstGeom prst="rect">
            <a:avLst/>
          </a:prstGeom>
          <a:noFill/>
          <a:ln w="6885">
            <a:noFill/>
            <a:prstDash val="solid"/>
          </a:ln>
        </p:spPr>
        <p:txBody>
          <a:bodyPr lIns="0" tIns="0" rIns="0" bIns="0" anchor="ctr"/>
          <a:lstStyle>
            <a:defPPr algn="ctr">
              <a:defRPr sz="695" b="1">
                <a:solidFill>
                  <a:srgbClr val="263442"/>
                </a:solidFill>
                <a:latin typeface="Arial"/>
                <a:ea typeface="Arial"/>
                <a:cs typeface="Arial"/>
              </a:defRPr>
            </a:defPPr>
            <a:lvl1pPr algn="ctr">
              <a:defRPr sz="695" b="1">
                <a:solidFill>
                  <a:srgbClr val="263442"/>
                </a:solidFill>
                <a:latin typeface="Arial"/>
                <a:ea typeface="Arial"/>
                <a:cs typeface="Arial"/>
              </a:defRPr>
            </a:lvl1pPr>
            <a:lvl2pPr algn="ctr">
              <a:defRPr sz="695" b="1">
                <a:solidFill>
                  <a:srgbClr val="263442"/>
                </a:solidFill>
                <a:latin typeface="Arial"/>
                <a:ea typeface="Arial"/>
                <a:cs typeface="Arial"/>
              </a:defRPr>
            </a:lvl2pPr>
            <a:lvl3pPr algn="ctr">
              <a:defRPr sz="695" b="1">
                <a:solidFill>
                  <a:srgbClr val="263442"/>
                </a:solidFill>
                <a:latin typeface="Arial"/>
                <a:ea typeface="Arial"/>
                <a:cs typeface="Arial"/>
              </a:defRPr>
            </a:lvl3pPr>
            <a:lvl4pPr algn="ctr">
              <a:defRPr sz="695" b="1">
                <a:solidFill>
                  <a:srgbClr val="263442"/>
                </a:solidFill>
                <a:latin typeface="Arial"/>
                <a:ea typeface="Arial"/>
                <a:cs typeface="Arial"/>
              </a:defRPr>
            </a:lvl4pPr>
            <a:lvl5pPr algn="ctr">
              <a:defRPr sz="695" b="1">
                <a:solidFill>
                  <a:srgbClr val="263442"/>
                </a:solidFill>
                <a:latin typeface="Arial"/>
                <a:ea typeface="Arial"/>
                <a:cs typeface="Arial"/>
              </a:defRPr>
            </a:lvl5pPr>
            <a:lvl6pPr algn="ctr">
              <a:defRPr sz="695" b="1">
                <a:solidFill>
                  <a:srgbClr val="263442"/>
                </a:solidFill>
                <a:latin typeface="Arial"/>
                <a:ea typeface="Arial"/>
                <a:cs typeface="Arial"/>
              </a:defRPr>
            </a:lvl6pPr>
            <a:lvl7pPr algn="ctr">
              <a:defRPr sz="695" b="1">
                <a:solidFill>
                  <a:srgbClr val="263442"/>
                </a:solidFill>
                <a:latin typeface="Arial"/>
                <a:ea typeface="Arial"/>
                <a:cs typeface="Arial"/>
              </a:defRPr>
            </a:lvl7pPr>
            <a:lvl8pPr algn="ctr">
              <a:defRPr sz="695" b="1">
                <a:solidFill>
                  <a:srgbClr val="263442"/>
                </a:solidFill>
                <a:latin typeface="Arial"/>
                <a:ea typeface="Arial"/>
                <a:cs typeface="Arial"/>
              </a:defRPr>
            </a:lvl8pPr>
            <a:lvl9pPr algn="ctr">
              <a:defRPr sz="695" b="1">
                <a:solidFill>
                  <a:srgbClr val="263442"/>
                </a:solidFill>
                <a:latin typeface="Arial"/>
                <a:ea typeface="Arial"/>
                <a:cs typeface="Arial"/>
              </a:defRPr>
            </a:lvl9pPr>
          </a:lstStyle>
          <a:p>
            <a:pPr algn="ctr">
              <a:defRPr sz="695" b="1">
                <a:solidFill>
                  <a:srgbClr val="263442"/>
                </a:solidFill>
                <a:latin typeface="Arial"/>
                <a:ea typeface="Arial"/>
                <a:cs typeface="Arial"/>
              </a:defRPr>
            </a:pPr>
            <a:r>
              <a:rPr sz="695" b="0" dirty="0">
                <a:solidFill>
                  <a:srgbClr val="263442"/>
                </a:solidFill>
                <a:latin typeface="Arial"/>
                <a:ea typeface="Arial"/>
                <a:cs typeface="Arial"/>
              </a:rPr>
              <a:t>Pocket</a:t>
            </a:r>
          </a:p>
        </p:txBody>
      </p:sp>
      <p:sp>
        <p:nvSpPr>
          <p:cNvPr id="773" name="SMILES label">
            <a:extLst>
              <a:ext uri="{FF2B5EF4-FFF2-40B4-BE49-F238E27FC236}">
                <a16:creationId xmlns:a16="http://schemas.microsoft.com/office/drawing/2014/main" id="{25FC5404-5A0B-2BE5-8144-C74C3108E008}"/>
              </a:ext>
            </a:extLst>
          </p:cNvPr>
          <p:cNvSpPr>
            <a:spLocks noGrp="1"/>
          </p:cNvSpPr>
          <p:nvPr/>
        </p:nvSpPr>
        <p:spPr>
          <a:xfrm>
            <a:off x="4999664" y="1480722"/>
            <a:ext cx="514364" cy="101253"/>
          </a:xfrm>
          <a:prstGeom prst="rect">
            <a:avLst/>
          </a:prstGeom>
          <a:noFill/>
          <a:ln w="6885">
            <a:noFill/>
            <a:prstDash val="solid"/>
          </a:ln>
        </p:spPr>
        <p:txBody>
          <a:bodyPr lIns="0" tIns="0" rIns="0" bIns="0" anchor="ctr"/>
          <a:lstStyle>
            <a:defPPr algn="ctr">
              <a:defRPr sz="695" b="1">
                <a:solidFill>
                  <a:srgbClr val="263442"/>
                </a:solidFill>
                <a:latin typeface="Arial"/>
                <a:ea typeface="Arial"/>
                <a:cs typeface="Arial"/>
              </a:defRPr>
            </a:defPPr>
            <a:lvl1pPr algn="ctr">
              <a:defRPr sz="695" b="1">
                <a:solidFill>
                  <a:srgbClr val="263442"/>
                </a:solidFill>
                <a:latin typeface="Arial"/>
                <a:ea typeface="Arial"/>
                <a:cs typeface="Arial"/>
              </a:defRPr>
            </a:lvl1pPr>
            <a:lvl2pPr algn="ctr">
              <a:defRPr sz="695" b="1">
                <a:solidFill>
                  <a:srgbClr val="263442"/>
                </a:solidFill>
                <a:latin typeface="Arial"/>
                <a:ea typeface="Arial"/>
                <a:cs typeface="Arial"/>
              </a:defRPr>
            </a:lvl2pPr>
            <a:lvl3pPr algn="ctr">
              <a:defRPr sz="695" b="1">
                <a:solidFill>
                  <a:srgbClr val="263442"/>
                </a:solidFill>
                <a:latin typeface="Arial"/>
                <a:ea typeface="Arial"/>
                <a:cs typeface="Arial"/>
              </a:defRPr>
            </a:lvl3pPr>
            <a:lvl4pPr algn="ctr">
              <a:defRPr sz="695" b="1">
                <a:solidFill>
                  <a:srgbClr val="263442"/>
                </a:solidFill>
                <a:latin typeface="Arial"/>
                <a:ea typeface="Arial"/>
                <a:cs typeface="Arial"/>
              </a:defRPr>
            </a:lvl4pPr>
            <a:lvl5pPr algn="ctr">
              <a:defRPr sz="695" b="1">
                <a:solidFill>
                  <a:srgbClr val="263442"/>
                </a:solidFill>
                <a:latin typeface="Arial"/>
                <a:ea typeface="Arial"/>
                <a:cs typeface="Arial"/>
              </a:defRPr>
            </a:lvl5pPr>
            <a:lvl6pPr algn="ctr">
              <a:defRPr sz="695" b="1">
                <a:solidFill>
                  <a:srgbClr val="263442"/>
                </a:solidFill>
                <a:latin typeface="Arial"/>
                <a:ea typeface="Arial"/>
                <a:cs typeface="Arial"/>
              </a:defRPr>
            </a:lvl6pPr>
            <a:lvl7pPr algn="ctr">
              <a:defRPr sz="695" b="1">
                <a:solidFill>
                  <a:srgbClr val="263442"/>
                </a:solidFill>
                <a:latin typeface="Arial"/>
                <a:ea typeface="Arial"/>
                <a:cs typeface="Arial"/>
              </a:defRPr>
            </a:lvl7pPr>
            <a:lvl8pPr algn="ctr">
              <a:defRPr sz="695" b="1">
                <a:solidFill>
                  <a:srgbClr val="263442"/>
                </a:solidFill>
                <a:latin typeface="Arial"/>
                <a:ea typeface="Arial"/>
                <a:cs typeface="Arial"/>
              </a:defRPr>
            </a:lvl8pPr>
            <a:lvl9pPr algn="ctr">
              <a:defRPr sz="695" b="1">
                <a:solidFill>
                  <a:srgbClr val="263442"/>
                </a:solidFill>
                <a:latin typeface="Arial"/>
                <a:ea typeface="Arial"/>
                <a:cs typeface="Arial"/>
              </a:defRPr>
            </a:lvl9pPr>
          </a:lstStyle>
          <a:p>
            <a:pPr algn="ctr">
              <a:defRPr sz="695" b="1">
                <a:solidFill>
                  <a:srgbClr val="263442"/>
                </a:solidFill>
                <a:latin typeface="Arial"/>
                <a:ea typeface="Arial"/>
                <a:cs typeface="Arial"/>
              </a:defRPr>
            </a:pPr>
            <a:r>
              <a:rPr sz="695" b="0" dirty="0">
                <a:solidFill>
                  <a:srgbClr val="263442"/>
                </a:solidFill>
                <a:latin typeface="Arial"/>
                <a:ea typeface="Arial"/>
                <a:cs typeface="Arial"/>
              </a:rPr>
              <a:t>SMILES</a:t>
            </a:r>
          </a:p>
        </p:txBody>
      </p:sp>
      <p:sp>
        <p:nvSpPr>
          <p:cNvPr id="774" name="SMILES provenance">
            <a:extLst>
              <a:ext uri="{FF2B5EF4-FFF2-40B4-BE49-F238E27FC236}">
                <a16:creationId xmlns:a16="http://schemas.microsoft.com/office/drawing/2014/main" id="{479D80EF-A625-1889-2F4D-C74FF6E2BB39}"/>
              </a:ext>
            </a:extLst>
          </p:cNvPr>
          <p:cNvSpPr>
            <a:spLocks noGrp="1"/>
          </p:cNvSpPr>
          <p:nvPr/>
        </p:nvSpPr>
        <p:spPr>
          <a:xfrm>
            <a:off x="5005380" y="1568821"/>
            <a:ext cx="514364" cy="85052"/>
          </a:xfrm>
          <a:prstGeom prst="rect">
            <a:avLst/>
          </a:prstGeom>
          <a:noFill/>
          <a:ln w="6885">
            <a:noFill/>
            <a:prstDash val="solid"/>
          </a:ln>
        </p:spPr>
        <p:txBody>
          <a:bodyPr lIns="0" tIns="0" rIns="0" bIns="0" anchor="ctr"/>
          <a:lstStyle>
            <a:defPPr algn="ctr">
              <a:defRPr sz="590" b="0">
                <a:solidFill>
                  <a:srgbClr val="263442"/>
                </a:solidFill>
                <a:latin typeface="Arial"/>
                <a:ea typeface="Arial"/>
                <a:cs typeface="Arial"/>
              </a:defRPr>
            </a:defPPr>
            <a:lvl1pPr algn="ctr">
              <a:defRPr sz="590" b="0">
                <a:solidFill>
                  <a:srgbClr val="263442"/>
                </a:solidFill>
                <a:latin typeface="Arial"/>
                <a:ea typeface="Arial"/>
                <a:cs typeface="Arial"/>
              </a:defRPr>
            </a:lvl1pPr>
            <a:lvl2pPr algn="ctr">
              <a:defRPr sz="590" b="0">
                <a:solidFill>
                  <a:srgbClr val="263442"/>
                </a:solidFill>
                <a:latin typeface="Arial"/>
                <a:ea typeface="Arial"/>
                <a:cs typeface="Arial"/>
              </a:defRPr>
            </a:lvl2pPr>
            <a:lvl3pPr algn="ctr">
              <a:defRPr sz="590" b="0">
                <a:solidFill>
                  <a:srgbClr val="263442"/>
                </a:solidFill>
                <a:latin typeface="Arial"/>
                <a:ea typeface="Arial"/>
                <a:cs typeface="Arial"/>
              </a:defRPr>
            </a:lvl3pPr>
            <a:lvl4pPr algn="ctr">
              <a:defRPr sz="590" b="0">
                <a:solidFill>
                  <a:srgbClr val="263442"/>
                </a:solidFill>
                <a:latin typeface="Arial"/>
                <a:ea typeface="Arial"/>
                <a:cs typeface="Arial"/>
              </a:defRPr>
            </a:lvl4pPr>
            <a:lvl5pPr algn="ctr">
              <a:defRPr sz="590" b="0">
                <a:solidFill>
                  <a:srgbClr val="263442"/>
                </a:solidFill>
                <a:latin typeface="Arial"/>
                <a:ea typeface="Arial"/>
                <a:cs typeface="Arial"/>
              </a:defRPr>
            </a:lvl5pPr>
            <a:lvl6pPr algn="ctr">
              <a:defRPr sz="590" b="0">
                <a:solidFill>
                  <a:srgbClr val="263442"/>
                </a:solidFill>
                <a:latin typeface="Arial"/>
                <a:ea typeface="Arial"/>
                <a:cs typeface="Arial"/>
              </a:defRPr>
            </a:lvl6pPr>
            <a:lvl7pPr algn="ctr">
              <a:defRPr sz="590" b="0">
                <a:solidFill>
                  <a:srgbClr val="263442"/>
                </a:solidFill>
                <a:latin typeface="Arial"/>
                <a:ea typeface="Arial"/>
                <a:cs typeface="Arial"/>
              </a:defRPr>
            </a:lvl7pPr>
            <a:lvl8pPr algn="ctr">
              <a:defRPr sz="590" b="0">
                <a:solidFill>
                  <a:srgbClr val="263442"/>
                </a:solidFill>
                <a:latin typeface="Arial"/>
                <a:ea typeface="Arial"/>
                <a:cs typeface="Arial"/>
              </a:defRPr>
            </a:lvl8pPr>
            <a:lvl9pPr algn="ctr">
              <a:defRPr sz="590" b="0">
                <a:solidFill>
                  <a:srgbClr val="263442"/>
                </a:solidFill>
                <a:latin typeface="Arial"/>
                <a:ea typeface="Arial"/>
                <a:cs typeface="Arial"/>
              </a:defRPr>
            </a:lvl9pPr>
          </a:lstStyle>
          <a:p>
            <a:pPr algn="ctr">
              <a:defRPr sz="590" b="0">
                <a:solidFill>
                  <a:srgbClr val="263442"/>
                </a:solidFill>
                <a:latin typeface="Arial"/>
                <a:ea typeface="Arial"/>
                <a:cs typeface="Arial"/>
              </a:defRPr>
            </a:pPr>
            <a:r>
              <a:rPr sz="550" dirty="0">
                <a:solidFill>
                  <a:srgbClr val="263442"/>
                </a:solidFill>
                <a:latin typeface="Arial"/>
                <a:ea typeface="Arial"/>
                <a:cs typeface="Arial"/>
              </a:rPr>
              <a:t>from Match</a:t>
            </a:r>
          </a:p>
        </p:txBody>
      </p:sp>
      <p:sp>
        <p:nvSpPr>
          <p:cNvPr id="775" name="Density input label">
            <a:extLst>
              <a:ext uri="{FF2B5EF4-FFF2-40B4-BE49-F238E27FC236}">
                <a16:creationId xmlns:a16="http://schemas.microsoft.com/office/drawing/2014/main" id="{A743C77B-3F50-BBD8-13CB-52DCF781FE64}"/>
              </a:ext>
            </a:extLst>
          </p:cNvPr>
          <p:cNvSpPr>
            <a:spLocks noGrp="1"/>
          </p:cNvSpPr>
          <p:nvPr/>
        </p:nvSpPr>
        <p:spPr>
          <a:xfrm>
            <a:off x="5574918" y="1480706"/>
            <a:ext cx="514364" cy="101253"/>
          </a:xfrm>
          <a:prstGeom prst="rect">
            <a:avLst/>
          </a:prstGeom>
          <a:noFill/>
          <a:ln w="6885">
            <a:noFill/>
            <a:prstDash val="solid"/>
          </a:ln>
        </p:spPr>
        <p:txBody>
          <a:bodyPr lIns="0" tIns="0" rIns="0" bIns="0" anchor="ctr"/>
          <a:lstStyle>
            <a:defPPr algn="ctr">
              <a:defRPr sz="695" b="1">
                <a:solidFill>
                  <a:srgbClr val="263442"/>
                </a:solidFill>
                <a:latin typeface="Arial"/>
                <a:ea typeface="Arial"/>
                <a:cs typeface="Arial"/>
              </a:defRPr>
            </a:defPPr>
            <a:lvl1pPr algn="ctr">
              <a:defRPr sz="695" b="1">
                <a:solidFill>
                  <a:srgbClr val="263442"/>
                </a:solidFill>
                <a:latin typeface="Arial"/>
                <a:ea typeface="Arial"/>
                <a:cs typeface="Arial"/>
              </a:defRPr>
            </a:lvl1pPr>
            <a:lvl2pPr algn="ctr">
              <a:defRPr sz="695" b="1">
                <a:solidFill>
                  <a:srgbClr val="263442"/>
                </a:solidFill>
                <a:latin typeface="Arial"/>
                <a:ea typeface="Arial"/>
                <a:cs typeface="Arial"/>
              </a:defRPr>
            </a:lvl2pPr>
            <a:lvl3pPr algn="ctr">
              <a:defRPr sz="695" b="1">
                <a:solidFill>
                  <a:srgbClr val="263442"/>
                </a:solidFill>
                <a:latin typeface="Arial"/>
                <a:ea typeface="Arial"/>
                <a:cs typeface="Arial"/>
              </a:defRPr>
            </a:lvl3pPr>
            <a:lvl4pPr algn="ctr">
              <a:defRPr sz="695" b="1">
                <a:solidFill>
                  <a:srgbClr val="263442"/>
                </a:solidFill>
                <a:latin typeface="Arial"/>
                <a:ea typeface="Arial"/>
                <a:cs typeface="Arial"/>
              </a:defRPr>
            </a:lvl4pPr>
            <a:lvl5pPr algn="ctr">
              <a:defRPr sz="695" b="1">
                <a:solidFill>
                  <a:srgbClr val="263442"/>
                </a:solidFill>
                <a:latin typeface="Arial"/>
                <a:ea typeface="Arial"/>
                <a:cs typeface="Arial"/>
              </a:defRPr>
            </a:lvl5pPr>
            <a:lvl6pPr algn="ctr">
              <a:defRPr sz="695" b="1">
                <a:solidFill>
                  <a:srgbClr val="263442"/>
                </a:solidFill>
                <a:latin typeface="Arial"/>
                <a:ea typeface="Arial"/>
                <a:cs typeface="Arial"/>
              </a:defRPr>
            </a:lvl6pPr>
            <a:lvl7pPr algn="ctr">
              <a:defRPr sz="695" b="1">
                <a:solidFill>
                  <a:srgbClr val="263442"/>
                </a:solidFill>
                <a:latin typeface="Arial"/>
                <a:ea typeface="Arial"/>
                <a:cs typeface="Arial"/>
              </a:defRPr>
            </a:lvl7pPr>
            <a:lvl8pPr algn="ctr">
              <a:defRPr sz="695" b="1">
                <a:solidFill>
                  <a:srgbClr val="263442"/>
                </a:solidFill>
                <a:latin typeface="Arial"/>
                <a:ea typeface="Arial"/>
                <a:cs typeface="Arial"/>
              </a:defRPr>
            </a:lvl8pPr>
            <a:lvl9pPr algn="ctr">
              <a:defRPr sz="695" b="1">
                <a:solidFill>
                  <a:srgbClr val="263442"/>
                </a:solidFill>
                <a:latin typeface="Arial"/>
                <a:ea typeface="Arial"/>
                <a:cs typeface="Arial"/>
              </a:defRPr>
            </a:lvl9pPr>
          </a:lstStyle>
          <a:p>
            <a:pPr algn="ctr">
              <a:defRPr sz="695" b="1">
                <a:solidFill>
                  <a:srgbClr val="263442"/>
                </a:solidFill>
                <a:latin typeface="Arial"/>
                <a:ea typeface="Arial"/>
                <a:cs typeface="Arial"/>
              </a:defRPr>
            </a:pPr>
            <a:r>
              <a:rPr sz="695" b="0" dirty="0">
                <a:solidFill>
                  <a:srgbClr val="263442"/>
                </a:solidFill>
                <a:latin typeface="Arial"/>
                <a:ea typeface="Arial"/>
                <a:cs typeface="Arial"/>
              </a:rPr>
              <a:t>Density</a:t>
            </a:r>
          </a:p>
        </p:txBody>
      </p:sp>
      <p:pic>
        <p:nvPicPr>
          <p:cNvPr id="967" name="Build corresponding experimental density" descr="Experimental 9LLG density around chain C1 of the displayed CryoAtom2 receptor, at the original contour level and the identical camera orientation.">
            <a:extLst>
              <a:ext uri="{FF2B5EF4-FFF2-40B4-BE49-F238E27FC236}">
                <a16:creationId xmlns:a16="http://schemas.microsoft.com/office/drawing/2014/main" id="{485B6500-58C3-8694-DCBD-D5824BAE6312}"/>
              </a:ext>
            </a:extLst>
          </p:cNvPr>
          <p:cNvPicPr/>
          <p:nvPr/>
        </p:nvPicPr>
        <p:blipFill>
          <a:blip r:embed="rId4"/>
          <a:stretch>
            <a:fillRect/>
          </a:stretch>
        </p:blipFill>
        <p:spPr>
          <a:xfrm>
            <a:off x="5657542" y="1104265"/>
            <a:ext cx="361766" cy="345440"/>
          </a:xfrm>
          <a:prstGeom prst="rect">
            <a:avLst/>
          </a:prstGeom>
        </p:spPr>
      </p:pic>
      <p:sp>
        <p:nvSpPr>
          <p:cNvPr id="1484" name="V8 Build site and identity frame">
            <a:extLst>
              <a:ext uri="{FF2B5EF4-FFF2-40B4-BE49-F238E27FC236}">
                <a16:creationId xmlns:a16="http://schemas.microsoft.com/office/drawing/2014/main" id="{9328B906-0B87-B09E-FB06-A9A62F2CE298}"/>
              </a:ext>
            </a:extLst>
          </p:cNvPr>
          <p:cNvSpPr/>
          <p:nvPr/>
        </p:nvSpPr>
        <p:spPr>
          <a:xfrm>
            <a:off x="4996634" y="457662"/>
            <a:ext cx="519754" cy="1228090"/>
          </a:xfrm>
          <a:prstGeom prst="roundRect">
            <a:avLst>
              <a:gd name="adj" fmla="val 5556"/>
            </a:avLst>
          </a:prstGeom>
          <a:noFill/>
          <a:ln w="6985" cap="rnd">
            <a:solidFill>
              <a:srgbClr val="D5CCB8"/>
            </a:solidFill>
            <a:prstDash val="dash"/>
            <a:round/>
          </a:ln>
        </p:spPr>
      </p:sp>
      <p:sp>
        <p:nvSpPr>
          <p:cNvPr id="1485" name="V8 Build pocket and density frame">
            <a:extLst>
              <a:ext uri="{FF2B5EF4-FFF2-40B4-BE49-F238E27FC236}">
                <a16:creationId xmlns:a16="http://schemas.microsoft.com/office/drawing/2014/main" id="{1B6C4D97-E5BD-5494-DBFC-E1D9BAB5B434}"/>
              </a:ext>
            </a:extLst>
          </p:cNvPr>
          <p:cNvSpPr/>
          <p:nvPr/>
        </p:nvSpPr>
        <p:spPr>
          <a:xfrm>
            <a:off x="5564187" y="456353"/>
            <a:ext cx="527685" cy="1228090"/>
          </a:xfrm>
          <a:prstGeom prst="roundRect">
            <a:avLst>
              <a:gd name="adj" fmla="val 6477"/>
            </a:avLst>
          </a:prstGeom>
          <a:noFill/>
          <a:ln w="6985" cap="rnd">
            <a:solidFill>
              <a:srgbClr val="D5CCB8"/>
            </a:solidFill>
            <a:prstDash val="dash"/>
            <a:round/>
          </a:ln>
        </p:spPr>
      </p:sp>
      <p:grpSp>
        <p:nvGrpSpPr>
          <p:cNvPr id="22" name="Match | Blob contour">
            <a:extLst>
              <a:ext uri="{FF2B5EF4-FFF2-40B4-BE49-F238E27FC236}">
                <a16:creationId xmlns:a16="http://schemas.microsoft.com/office/drawing/2014/main" id="{89DCA6D5-3679-D415-5BE5-92A67333541D}"/>
              </a:ext>
            </a:extLst>
          </p:cNvPr>
          <p:cNvGrpSpPr/>
          <p:nvPr/>
        </p:nvGrpSpPr>
        <p:grpSpPr>
          <a:xfrm>
            <a:off x="5095498" y="565131"/>
            <a:ext cx="291608" cy="199265"/>
            <a:chOff x="1928706" y="3559489"/>
            <a:chExt cx="227897" cy="155682"/>
          </a:xfrm>
        </p:grpSpPr>
        <p:sp>
          <p:nvSpPr>
            <p:cNvPr id="24" name="Candidate blob | editable contour">
              <a:extLst>
                <a:ext uri="{FF2B5EF4-FFF2-40B4-BE49-F238E27FC236}">
                  <a16:creationId xmlns:a16="http://schemas.microsoft.com/office/drawing/2014/main" id="{CEDDC562-8935-F160-6BF6-FBDE4980A530}"/>
                </a:ext>
              </a:extLst>
            </p:cNvPr>
            <p:cNvSpPr/>
            <p:nvPr/>
          </p:nvSpPr>
          <p:spPr>
            <a:xfrm>
              <a:off x="1928706" y="3559489"/>
              <a:ext cx="227897" cy="155682"/>
            </a:xfrm>
            <a:custGeom>
              <a:avLst/>
              <a:gdLst/>
              <a:ahLst/>
              <a:cxnLst/>
              <a:rect l="0" t="0" r="w" b="h"/>
              <a:pathLst>
                <a:path w="227897" h="155682" extrusionOk="0">
                  <a:moveTo>
                    <a:pt x="5338" y="97866"/>
                  </a:moveTo>
                  <a:cubicBezTo>
                    <a:pt x="0" y="80701"/>
                    <a:pt x="18889" y="54504"/>
                    <a:pt x="29976" y="43663"/>
                  </a:cubicBezTo>
                  <a:cubicBezTo>
                    <a:pt x="41062" y="32823"/>
                    <a:pt x="58719" y="39447"/>
                    <a:pt x="71859" y="32823"/>
                  </a:cubicBezTo>
                  <a:cubicBezTo>
                    <a:pt x="84999" y="26198"/>
                    <a:pt x="92391" y="7829"/>
                    <a:pt x="108816" y="3915"/>
                  </a:cubicBezTo>
                  <a:cubicBezTo>
                    <a:pt x="125241" y="0"/>
                    <a:pt x="153984" y="3613"/>
                    <a:pt x="170409" y="9335"/>
                  </a:cubicBezTo>
                  <a:cubicBezTo>
                    <a:pt x="186834" y="15056"/>
                    <a:pt x="198332" y="26198"/>
                    <a:pt x="207366" y="38243"/>
                  </a:cubicBezTo>
                  <a:cubicBezTo>
                    <a:pt x="216399" y="50288"/>
                    <a:pt x="227897" y="67151"/>
                    <a:pt x="224612" y="81605"/>
                  </a:cubicBezTo>
                  <a:cubicBezTo>
                    <a:pt x="221327" y="96059"/>
                    <a:pt x="203259" y="113223"/>
                    <a:pt x="187656" y="124967"/>
                  </a:cubicBezTo>
                  <a:cubicBezTo>
                    <a:pt x="172052" y="136711"/>
                    <a:pt x="151931" y="148455"/>
                    <a:pt x="130989" y="152068"/>
                  </a:cubicBezTo>
                  <a:cubicBezTo>
                    <a:pt x="110048" y="155682"/>
                    <a:pt x="82946" y="155682"/>
                    <a:pt x="62004" y="146648"/>
                  </a:cubicBezTo>
                  <a:cubicBezTo>
                    <a:pt x="41062" y="137614"/>
                    <a:pt x="10676" y="115030"/>
                    <a:pt x="5338" y="97866"/>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26" name="ellipse_2612">
              <a:extLst>
                <a:ext uri="{FF2B5EF4-FFF2-40B4-BE49-F238E27FC236}">
                  <a16:creationId xmlns:a16="http://schemas.microsoft.com/office/drawing/2014/main" id="{9A6165B9-D072-913F-4F98-07DF1CDFAD91}"/>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sp>
        <p:nvSpPr>
          <p:cNvPr id="27" name="Oval 12178">
            <a:extLst>
              <a:ext uri="{FF2B5EF4-FFF2-40B4-BE49-F238E27FC236}">
                <a16:creationId xmlns:a16="http://schemas.microsoft.com/office/drawing/2014/main" id="{BDE1AB30-8167-E025-0D16-C21F1775FD9B}"/>
              </a:ext>
            </a:extLst>
          </p:cNvPr>
          <p:cNvSpPr/>
          <p:nvPr/>
        </p:nvSpPr>
        <p:spPr>
          <a:xfrm>
            <a:off x="5224292" y="648563"/>
            <a:ext cx="34426" cy="34426"/>
          </a:xfrm>
          <a:prstGeom prst="ellipse">
            <a:avLst/>
          </a:prstGeom>
          <a:solidFill>
            <a:srgbClr val="1D4ED8"/>
          </a:solidFill>
          <a:ln w="635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pic>
        <p:nvPicPr>
          <p:cNvPr id="50483" name="图片 50482">
            <a:extLst>
              <a:ext uri="{FF2B5EF4-FFF2-40B4-BE49-F238E27FC236}">
                <a16:creationId xmlns:a16="http://schemas.microsoft.com/office/drawing/2014/main" id="{990BCBFC-9DD9-25BB-4CA2-DDF352D8C2FA}"/>
              </a:ext>
            </a:extLst>
          </p:cNvPr>
          <p:cNvPicPr>
            <a:picLocks noChangeAspect="1"/>
          </p:cNvPicPr>
          <p:nvPr/>
        </p:nvPicPr>
        <p:blipFill>
          <a:blip r:embed="rId5"/>
          <a:stretch/>
        </p:blipFill>
        <p:spPr>
          <a:xfrm>
            <a:off x="5631445" y="485775"/>
            <a:ext cx="414760" cy="342900"/>
          </a:xfrm>
          <a:prstGeom prst="rect">
            <a:avLst/>
          </a:prstGeom>
        </p:spPr>
      </p:pic>
      <p:sp>
        <p:nvSpPr>
          <p:cNvPr id="50484" name="F2-Build-selected">
            <a:extLst>
              <a:ext uri="{FF2B5EF4-FFF2-40B4-BE49-F238E27FC236}">
                <a16:creationId xmlns:a16="http://schemas.microsoft.com/office/drawing/2014/main" id="{6A2264C7-4360-FCD2-C7A2-680D5A04551A}"/>
              </a:ext>
            </a:extLst>
          </p:cNvPr>
          <p:cNvSpPr>
            <a:spLocks noGrp="1"/>
          </p:cNvSpPr>
          <p:nvPr/>
        </p:nvSpPr>
        <p:spPr>
          <a:xfrm>
            <a:off x="5054601" y="1283549"/>
            <a:ext cx="390525" cy="81915"/>
          </a:xfrm>
          <a:prstGeom prst="roundRect">
            <a:avLst>
              <a:gd name="adj" fmla="val 50000"/>
            </a:avLst>
          </a:prstGeom>
          <a:solidFill>
            <a:srgbClr val="DCF8EB"/>
          </a:solidFill>
          <a:ln w="7144">
            <a:solidFill>
              <a:srgbClr val="499D86"/>
            </a:solidFill>
          </a:ln>
        </p:spPr>
      </p:sp>
      <p:sp>
        <p:nvSpPr>
          <p:cNvPr id="50485" name="F2-Build-SMILES-0">
            <a:extLst>
              <a:ext uri="{FF2B5EF4-FFF2-40B4-BE49-F238E27FC236}">
                <a16:creationId xmlns:a16="http://schemas.microsoft.com/office/drawing/2014/main" id="{4008C2B1-D1D4-0B7F-4728-77E5B8661720}"/>
              </a:ext>
            </a:extLst>
          </p:cNvPr>
          <p:cNvSpPr>
            <a:spLocks noGrp="1"/>
          </p:cNvSpPr>
          <p:nvPr/>
        </p:nvSpPr>
        <p:spPr>
          <a:xfrm>
            <a:off x="5101503" y="1136660"/>
            <a:ext cx="361950" cy="74295"/>
          </a:xfrm>
          <a:prstGeom prst="rect">
            <a:avLst/>
          </a:prstGeom>
          <a:noFill/>
          <a:ln w="0">
            <a:noFill/>
          </a:ln>
        </p:spPr>
        <p:txBody>
          <a:bodyPr wrap="none" lIns="0" tIns="0" rIns="0" bIns="0" anchor="ctr">
            <a:noAutofit/>
          </a:bodyPr>
          <a:lstStyle>
            <a:defPPr algn="l">
              <a:defRPr sz="540" b="0">
                <a:solidFill>
                  <a:srgbClr val="263442"/>
                </a:solidFill>
                <a:latin typeface="Arial"/>
                <a:ea typeface="Arial"/>
                <a:cs typeface="Arial"/>
              </a:defRPr>
            </a:defPPr>
            <a:lvl1pPr algn="l">
              <a:defRPr sz="540" b="0">
                <a:solidFill>
                  <a:srgbClr val="263442"/>
                </a:solidFill>
                <a:latin typeface="Arial"/>
                <a:ea typeface="Arial"/>
                <a:cs typeface="Arial"/>
              </a:defRPr>
            </a:lvl1pPr>
            <a:lvl2pPr algn="l">
              <a:defRPr sz="540" b="0">
                <a:solidFill>
                  <a:srgbClr val="263442"/>
                </a:solidFill>
                <a:latin typeface="Arial"/>
                <a:ea typeface="Arial"/>
                <a:cs typeface="Arial"/>
              </a:defRPr>
            </a:lvl2pPr>
            <a:lvl3pPr algn="l">
              <a:defRPr sz="540" b="0">
                <a:solidFill>
                  <a:srgbClr val="263442"/>
                </a:solidFill>
                <a:latin typeface="Arial"/>
                <a:ea typeface="Arial"/>
                <a:cs typeface="Arial"/>
              </a:defRPr>
            </a:lvl3pPr>
            <a:lvl4pPr algn="l">
              <a:defRPr sz="540" b="0">
                <a:solidFill>
                  <a:srgbClr val="263442"/>
                </a:solidFill>
                <a:latin typeface="Arial"/>
                <a:ea typeface="Arial"/>
                <a:cs typeface="Arial"/>
              </a:defRPr>
            </a:lvl4pPr>
            <a:lvl5pPr algn="l">
              <a:defRPr sz="540" b="0">
                <a:solidFill>
                  <a:srgbClr val="263442"/>
                </a:solidFill>
                <a:latin typeface="Arial"/>
                <a:ea typeface="Arial"/>
                <a:cs typeface="Arial"/>
              </a:defRPr>
            </a:lvl5pPr>
            <a:lvl6pPr algn="l">
              <a:defRPr sz="540" b="0">
                <a:solidFill>
                  <a:srgbClr val="263442"/>
                </a:solidFill>
                <a:latin typeface="Arial"/>
                <a:ea typeface="Arial"/>
                <a:cs typeface="Arial"/>
              </a:defRPr>
            </a:lvl6pPr>
            <a:lvl7pPr algn="l">
              <a:defRPr sz="540" b="0">
                <a:solidFill>
                  <a:srgbClr val="263442"/>
                </a:solidFill>
                <a:latin typeface="Arial"/>
                <a:ea typeface="Arial"/>
                <a:cs typeface="Arial"/>
              </a:defRPr>
            </a:lvl7pPr>
            <a:lvl8pPr algn="l">
              <a:defRPr sz="540" b="0">
                <a:solidFill>
                  <a:srgbClr val="263442"/>
                </a:solidFill>
                <a:latin typeface="Arial"/>
                <a:ea typeface="Arial"/>
                <a:cs typeface="Arial"/>
              </a:defRPr>
            </a:lvl8pPr>
            <a:lvl9pPr algn="l">
              <a:defRPr sz="540" b="0">
                <a:solidFill>
                  <a:srgbClr val="263442"/>
                </a:solidFill>
                <a:latin typeface="Arial"/>
                <a:ea typeface="Arial"/>
                <a:cs typeface="Arial"/>
              </a:defRPr>
            </a:lvl9pPr>
          </a:lstStyle>
          <a:p>
            <a:pPr algn="l">
              <a:defRPr sz="540" b="0">
                <a:solidFill>
                  <a:srgbClr val="263442"/>
                </a:solidFill>
                <a:latin typeface="Arial"/>
                <a:ea typeface="Arial"/>
                <a:cs typeface="Arial"/>
              </a:defRPr>
            </a:pPr>
            <a:r>
              <a:rPr sz="480" b="0" dirty="0">
                <a:solidFill>
                  <a:srgbClr val="263442"/>
                </a:solidFill>
                <a:latin typeface="Arial"/>
                <a:ea typeface="Arial"/>
                <a:cs typeface="Arial"/>
              </a:rPr>
              <a:t>CCO</a:t>
            </a:r>
          </a:p>
        </p:txBody>
      </p:sp>
      <p:sp>
        <p:nvSpPr>
          <p:cNvPr id="50486" name="F2-Build-SMILES-7.8">
            <a:extLst>
              <a:ext uri="{FF2B5EF4-FFF2-40B4-BE49-F238E27FC236}">
                <a16:creationId xmlns:a16="http://schemas.microsoft.com/office/drawing/2014/main" id="{86B011E1-6EAB-6837-DA53-54E94AA085EC}"/>
              </a:ext>
            </a:extLst>
          </p:cNvPr>
          <p:cNvSpPr>
            <a:spLocks noGrp="1"/>
          </p:cNvSpPr>
          <p:nvPr/>
        </p:nvSpPr>
        <p:spPr>
          <a:xfrm>
            <a:off x="5101503" y="1199841"/>
            <a:ext cx="361950" cy="74295"/>
          </a:xfrm>
          <a:prstGeom prst="rect">
            <a:avLst/>
          </a:prstGeom>
          <a:noFill/>
          <a:ln w="0">
            <a:noFill/>
          </a:ln>
        </p:spPr>
        <p:txBody>
          <a:bodyPr wrap="none" lIns="0" tIns="0" rIns="0" bIns="0" anchor="ctr">
            <a:noAutofit/>
          </a:bodyPr>
          <a:lstStyle>
            <a:defPPr algn="l">
              <a:defRPr sz="540" b="0">
                <a:solidFill>
                  <a:srgbClr val="263442"/>
                </a:solidFill>
                <a:latin typeface="Arial"/>
                <a:ea typeface="Arial"/>
                <a:cs typeface="Arial"/>
              </a:defRPr>
            </a:defPPr>
            <a:lvl1pPr algn="l">
              <a:defRPr sz="540" b="0">
                <a:solidFill>
                  <a:srgbClr val="263442"/>
                </a:solidFill>
                <a:latin typeface="Arial"/>
                <a:ea typeface="Arial"/>
                <a:cs typeface="Arial"/>
              </a:defRPr>
            </a:lvl1pPr>
            <a:lvl2pPr algn="l">
              <a:defRPr sz="540" b="0">
                <a:solidFill>
                  <a:srgbClr val="263442"/>
                </a:solidFill>
                <a:latin typeface="Arial"/>
                <a:ea typeface="Arial"/>
                <a:cs typeface="Arial"/>
              </a:defRPr>
            </a:lvl2pPr>
            <a:lvl3pPr algn="l">
              <a:defRPr sz="540" b="0">
                <a:solidFill>
                  <a:srgbClr val="263442"/>
                </a:solidFill>
                <a:latin typeface="Arial"/>
                <a:ea typeface="Arial"/>
                <a:cs typeface="Arial"/>
              </a:defRPr>
            </a:lvl3pPr>
            <a:lvl4pPr algn="l">
              <a:defRPr sz="540" b="0">
                <a:solidFill>
                  <a:srgbClr val="263442"/>
                </a:solidFill>
                <a:latin typeface="Arial"/>
                <a:ea typeface="Arial"/>
                <a:cs typeface="Arial"/>
              </a:defRPr>
            </a:lvl4pPr>
            <a:lvl5pPr algn="l">
              <a:defRPr sz="540" b="0">
                <a:solidFill>
                  <a:srgbClr val="263442"/>
                </a:solidFill>
                <a:latin typeface="Arial"/>
                <a:ea typeface="Arial"/>
                <a:cs typeface="Arial"/>
              </a:defRPr>
            </a:lvl5pPr>
            <a:lvl6pPr algn="l">
              <a:defRPr sz="540" b="0">
                <a:solidFill>
                  <a:srgbClr val="263442"/>
                </a:solidFill>
                <a:latin typeface="Arial"/>
                <a:ea typeface="Arial"/>
                <a:cs typeface="Arial"/>
              </a:defRPr>
            </a:lvl6pPr>
            <a:lvl7pPr algn="l">
              <a:defRPr sz="540" b="0">
                <a:solidFill>
                  <a:srgbClr val="263442"/>
                </a:solidFill>
                <a:latin typeface="Arial"/>
                <a:ea typeface="Arial"/>
                <a:cs typeface="Arial"/>
              </a:defRPr>
            </a:lvl7pPr>
            <a:lvl8pPr algn="l">
              <a:defRPr sz="540" b="0">
                <a:solidFill>
                  <a:srgbClr val="263442"/>
                </a:solidFill>
                <a:latin typeface="Arial"/>
                <a:ea typeface="Arial"/>
                <a:cs typeface="Arial"/>
              </a:defRPr>
            </a:lvl8pPr>
            <a:lvl9pPr algn="l">
              <a:defRPr sz="540" b="0">
                <a:solidFill>
                  <a:srgbClr val="263442"/>
                </a:solidFill>
                <a:latin typeface="Arial"/>
                <a:ea typeface="Arial"/>
                <a:cs typeface="Arial"/>
              </a:defRPr>
            </a:lvl9pPr>
          </a:lstStyle>
          <a:p>
            <a:pPr>
              <a:defRPr sz="540" b="0">
                <a:solidFill>
                  <a:srgbClr val="263442"/>
                </a:solidFill>
                <a:latin typeface="Arial"/>
                <a:ea typeface="Arial"/>
                <a:cs typeface="Arial"/>
              </a:defRPr>
            </a:pPr>
            <a:r>
              <a:rPr sz="480" dirty="0"/>
              <a:t>CC(=O)O</a:t>
            </a:r>
          </a:p>
        </p:txBody>
      </p:sp>
      <p:sp>
        <p:nvSpPr>
          <p:cNvPr id="50487" name="F2-Build-continuation">
            <a:extLst>
              <a:ext uri="{FF2B5EF4-FFF2-40B4-BE49-F238E27FC236}">
                <a16:creationId xmlns:a16="http://schemas.microsoft.com/office/drawing/2014/main" id="{57445525-DCC1-B4E7-E3C5-43F5AED1AAB1}"/>
              </a:ext>
            </a:extLst>
          </p:cNvPr>
          <p:cNvSpPr>
            <a:spLocks noGrp="1"/>
          </p:cNvSpPr>
          <p:nvPr/>
        </p:nvSpPr>
        <p:spPr>
          <a:xfrm>
            <a:off x="5106267" y="1268735"/>
            <a:ext cx="6668" cy="6668"/>
          </a:xfrm>
          <a:prstGeom prst="ellipse">
            <a:avLst/>
          </a:prstGeom>
          <a:solidFill>
            <a:srgbClr val="687780"/>
          </a:solidFill>
          <a:ln w="0">
            <a:noFill/>
          </a:ln>
        </p:spPr>
      </p:sp>
      <p:sp>
        <p:nvSpPr>
          <p:cNvPr id="50488" name="F2-Build-continuation">
            <a:extLst>
              <a:ext uri="{FF2B5EF4-FFF2-40B4-BE49-F238E27FC236}">
                <a16:creationId xmlns:a16="http://schemas.microsoft.com/office/drawing/2014/main" id="{D8380CD8-B1B4-24DE-92C0-E1C222863213}"/>
              </a:ext>
            </a:extLst>
          </p:cNvPr>
          <p:cNvSpPr>
            <a:spLocks noGrp="1"/>
          </p:cNvSpPr>
          <p:nvPr/>
        </p:nvSpPr>
        <p:spPr>
          <a:xfrm>
            <a:off x="5119918" y="1268735"/>
            <a:ext cx="6668" cy="6668"/>
          </a:xfrm>
          <a:prstGeom prst="ellipse">
            <a:avLst/>
          </a:prstGeom>
          <a:solidFill>
            <a:srgbClr val="687780"/>
          </a:solidFill>
          <a:ln w="0">
            <a:noFill/>
          </a:ln>
        </p:spPr>
      </p:sp>
      <p:sp>
        <p:nvSpPr>
          <p:cNvPr id="50489" name="F2-Build-continuation">
            <a:extLst>
              <a:ext uri="{FF2B5EF4-FFF2-40B4-BE49-F238E27FC236}">
                <a16:creationId xmlns:a16="http://schemas.microsoft.com/office/drawing/2014/main" id="{A87F8D1D-D087-B895-3967-34FD7403FA3D}"/>
              </a:ext>
            </a:extLst>
          </p:cNvPr>
          <p:cNvSpPr>
            <a:spLocks noGrp="1"/>
          </p:cNvSpPr>
          <p:nvPr/>
        </p:nvSpPr>
        <p:spPr>
          <a:xfrm>
            <a:off x="5135157" y="1268735"/>
            <a:ext cx="6668" cy="6668"/>
          </a:xfrm>
          <a:prstGeom prst="ellipse">
            <a:avLst/>
          </a:prstGeom>
          <a:solidFill>
            <a:srgbClr val="687780"/>
          </a:solidFill>
          <a:ln w="0">
            <a:noFill/>
          </a:ln>
        </p:spPr>
      </p:sp>
      <p:sp>
        <p:nvSpPr>
          <p:cNvPr id="50490" name="F2-Build-SMILES-19.8">
            <a:extLst>
              <a:ext uri="{FF2B5EF4-FFF2-40B4-BE49-F238E27FC236}">
                <a16:creationId xmlns:a16="http://schemas.microsoft.com/office/drawing/2014/main" id="{8D1E4611-7807-D068-11D8-0FDDECDECA18}"/>
              </a:ext>
            </a:extLst>
          </p:cNvPr>
          <p:cNvSpPr>
            <a:spLocks noGrp="1"/>
          </p:cNvSpPr>
          <p:nvPr/>
        </p:nvSpPr>
        <p:spPr>
          <a:xfrm>
            <a:off x="5101503" y="1285559"/>
            <a:ext cx="361950" cy="74295"/>
          </a:xfrm>
          <a:prstGeom prst="rect">
            <a:avLst/>
          </a:prstGeom>
          <a:noFill/>
          <a:ln w="0">
            <a:noFill/>
          </a:ln>
        </p:spPr>
        <p:txBody>
          <a:bodyPr wrap="none" lIns="0" tIns="0" rIns="0" bIns="0" anchor="ctr">
            <a:noAutofit/>
          </a:bodyPr>
          <a:lstStyle>
            <a:defPPr algn="l">
              <a:defRPr sz="540" b="0">
                <a:solidFill>
                  <a:srgbClr val="24634E"/>
                </a:solidFill>
                <a:latin typeface="Arial"/>
                <a:ea typeface="Arial"/>
                <a:cs typeface="Arial"/>
              </a:defRPr>
            </a:defPPr>
            <a:lvl1pPr algn="l">
              <a:defRPr sz="540" b="0">
                <a:solidFill>
                  <a:srgbClr val="24634E"/>
                </a:solidFill>
                <a:latin typeface="Arial"/>
                <a:ea typeface="Arial"/>
                <a:cs typeface="Arial"/>
              </a:defRPr>
            </a:lvl1pPr>
            <a:lvl2pPr algn="l">
              <a:defRPr sz="540" b="0">
                <a:solidFill>
                  <a:srgbClr val="24634E"/>
                </a:solidFill>
                <a:latin typeface="Arial"/>
                <a:ea typeface="Arial"/>
                <a:cs typeface="Arial"/>
              </a:defRPr>
            </a:lvl2pPr>
            <a:lvl3pPr algn="l">
              <a:defRPr sz="540" b="0">
                <a:solidFill>
                  <a:srgbClr val="24634E"/>
                </a:solidFill>
                <a:latin typeface="Arial"/>
                <a:ea typeface="Arial"/>
                <a:cs typeface="Arial"/>
              </a:defRPr>
            </a:lvl3pPr>
            <a:lvl4pPr algn="l">
              <a:defRPr sz="540" b="0">
                <a:solidFill>
                  <a:srgbClr val="24634E"/>
                </a:solidFill>
                <a:latin typeface="Arial"/>
                <a:ea typeface="Arial"/>
                <a:cs typeface="Arial"/>
              </a:defRPr>
            </a:lvl4pPr>
            <a:lvl5pPr algn="l">
              <a:defRPr sz="540" b="0">
                <a:solidFill>
                  <a:srgbClr val="24634E"/>
                </a:solidFill>
                <a:latin typeface="Arial"/>
                <a:ea typeface="Arial"/>
                <a:cs typeface="Arial"/>
              </a:defRPr>
            </a:lvl5pPr>
            <a:lvl6pPr algn="l">
              <a:defRPr sz="540" b="0">
                <a:solidFill>
                  <a:srgbClr val="24634E"/>
                </a:solidFill>
                <a:latin typeface="Arial"/>
                <a:ea typeface="Arial"/>
                <a:cs typeface="Arial"/>
              </a:defRPr>
            </a:lvl6pPr>
            <a:lvl7pPr algn="l">
              <a:defRPr sz="540" b="0">
                <a:solidFill>
                  <a:srgbClr val="24634E"/>
                </a:solidFill>
                <a:latin typeface="Arial"/>
                <a:ea typeface="Arial"/>
                <a:cs typeface="Arial"/>
              </a:defRPr>
            </a:lvl7pPr>
            <a:lvl8pPr algn="l">
              <a:defRPr sz="540" b="0">
                <a:solidFill>
                  <a:srgbClr val="24634E"/>
                </a:solidFill>
                <a:latin typeface="Arial"/>
                <a:ea typeface="Arial"/>
                <a:cs typeface="Arial"/>
              </a:defRPr>
            </a:lvl8pPr>
            <a:lvl9pPr algn="l">
              <a:defRPr sz="540" b="0">
                <a:solidFill>
                  <a:srgbClr val="24634E"/>
                </a:solidFill>
                <a:latin typeface="Arial"/>
                <a:ea typeface="Arial"/>
                <a:cs typeface="Arial"/>
              </a:defRPr>
            </a:lvl9pPr>
          </a:lstStyle>
          <a:p>
            <a:pPr>
              <a:defRPr sz="540" b="0">
                <a:solidFill>
                  <a:srgbClr val="263442"/>
                </a:solidFill>
                <a:latin typeface="Arial"/>
                <a:ea typeface="Arial"/>
                <a:cs typeface="Arial"/>
              </a:defRPr>
            </a:pPr>
            <a:r>
              <a:rPr sz="480" dirty="0">
                <a:solidFill>
                  <a:srgbClr val="263442"/>
                </a:solidFill>
              </a:rPr>
              <a:t>Cc1ccccc1</a:t>
            </a:r>
          </a:p>
        </p:txBody>
      </p:sp>
      <p:sp>
        <p:nvSpPr>
          <p:cNvPr id="50491" name="F2-Build-SMILES-27.599999999999998">
            <a:extLst>
              <a:ext uri="{FF2B5EF4-FFF2-40B4-BE49-F238E27FC236}">
                <a16:creationId xmlns:a16="http://schemas.microsoft.com/office/drawing/2014/main" id="{7C479AF4-50FE-543B-B4FD-111B42F262AA}"/>
              </a:ext>
            </a:extLst>
          </p:cNvPr>
          <p:cNvSpPr>
            <a:spLocks noGrp="1"/>
          </p:cNvSpPr>
          <p:nvPr/>
        </p:nvSpPr>
        <p:spPr>
          <a:xfrm>
            <a:off x="5101503" y="1359854"/>
            <a:ext cx="361950" cy="74295"/>
          </a:xfrm>
          <a:prstGeom prst="rect">
            <a:avLst/>
          </a:prstGeom>
          <a:noFill/>
          <a:ln w="0">
            <a:noFill/>
          </a:ln>
        </p:spPr>
        <p:txBody>
          <a:bodyPr wrap="none" lIns="0" tIns="0" rIns="0" bIns="0" anchor="ctr">
            <a:noAutofit/>
          </a:bodyPr>
          <a:lstStyle>
            <a:defPPr algn="l">
              <a:defRPr sz="540" b="0">
                <a:solidFill>
                  <a:srgbClr val="263442"/>
                </a:solidFill>
                <a:latin typeface="Arial"/>
                <a:ea typeface="Arial"/>
                <a:cs typeface="Arial"/>
              </a:defRPr>
            </a:defPPr>
            <a:lvl1pPr algn="l">
              <a:defRPr sz="540" b="0">
                <a:solidFill>
                  <a:srgbClr val="263442"/>
                </a:solidFill>
                <a:latin typeface="Arial"/>
                <a:ea typeface="Arial"/>
                <a:cs typeface="Arial"/>
              </a:defRPr>
            </a:lvl1pPr>
            <a:lvl2pPr algn="l">
              <a:defRPr sz="540" b="0">
                <a:solidFill>
                  <a:srgbClr val="263442"/>
                </a:solidFill>
                <a:latin typeface="Arial"/>
                <a:ea typeface="Arial"/>
                <a:cs typeface="Arial"/>
              </a:defRPr>
            </a:lvl2pPr>
            <a:lvl3pPr algn="l">
              <a:defRPr sz="540" b="0">
                <a:solidFill>
                  <a:srgbClr val="263442"/>
                </a:solidFill>
                <a:latin typeface="Arial"/>
                <a:ea typeface="Arial"/>
                <a:cs typeface="Arial"/>
              </a:defRPr>
            </a:lvl3pPr>
            <a:lvl4pPr algn="l">
              <a:defRPr sz="540" b="0">
                <a:solidFill>
                  <a:srgbClr val="263442"/>
                </a:solidFill>
                <a:latin typeface="Arial"/>
                <a:ea typeface="Arial"/>
                <a:cs typeface="Arial"/>
              </a:defRPr>
            </a:lvl4pPr>
            <a:lvl5pPr algn="l">
              <a:defRPr sz="540" b="0">
                <a:solidFill>
                  <a:srgbClr val="263442"/>
                </a:solidFill>
                <a:latin typeface="Arial"/>
                <a:ea typeface="Arial"/>
                <a:cs typeface="Arial"/>
              </a:defRPr>
            </a:lvl5pPr>
            <a:lvl6pPr algn="l">
              <a:defRPr sz="540" b="0">
                <a:solidFill>
                  <a:srgbClr val="263442"/>
                </a:solidFill>
                <a:latin typeface="Arial"/>
                <a:ea typeface="Arial"/>
                <a:cs typeface="Arial"/>
              </a:defRPr>
            </a:lvl6pPr>
            <a:lvl7pPr algn="l">
              <a:defRPr sz="540" b="0">
                <a:solidFill>
                  <a:srgbClr val="263442"/>
                </a:solidFill>
                <a:latin typeface="Arial"/>
                <a:ea typeface="Arial"/>
                <a:cs typeface="Arial"/>
              </a:defRPr>
            </a:lvl7pPr>
            <a:lvl8pPr algn="l">
              <a:defRPr sz="540" b="0">
                <a:solidFill>
                  <a:srgbClr val="263442"/>
                </a:solidFill>
                <a:latin typeface="Arial"/>
                <a:ea typeface="Arial"/>
                <a:cs typeface="Arial"/>
              </a:defRPr>
            </a:lvl8pPr>
            <a:lvl9pPr algn="l">
              <a:defRPr sz="540" b="0">
                <a:solidFill>
                  <a:srgbClr val="263442"/>
                </a:solidFill>
                <a:latin typeface="Arial"/>
                <a:ea typeface="Arial"/>
                <a:cs typeface="Arial"/>
              </a:defRPr>
            </a:lvl9pPr>
          </a:lstStyle>
          <a:p>
            <a:pPr>
              <a:defRPr sz="540" b="0">
                <a:solidFill>
                  <a:srgbClr val="263442"/>
                </a:solidFill>
                <a:latin typeface="Arial"/>
                <a:ea typeface="Arial"/>
                <a:cs typeface="Arial"/>
              </a:defRPr>
            </a:pPr>
            <a:r>
              <a:rPr sz="480" dirty="0"/>
              <a:t>CC(N)=O</a:t>
            </a:r>
          </a:p>
        </p:txBody>
      </p:sp>
      <p:sp>
        <p:nvSpPr>
          <p:cNvPr id="60000" name="Build | compact density-conditioned engine">
            <a:extLst>
              <a:ext uri="{FF2B5EF4-FFF2-40B4-BE49-F238E27FC236}">
                <a16:creationId xmlns:a16="http://schemas.microsoft.com/office/drawing/2014/main" id="{1A72AC86-BC31-4F24-B0F4-BCE54D15A440}"/>
              </a:ext>
            </a:extLst>
          </p:cNvPr>
          <p:cNvSpPr>
            <a:spLocks noGrp="1"/>
          </p:cNvSpPr>
          <p:nvPr/>
        </p:nvSpPr>
        <p:spPr>
          <a:xfrm>
            <a:off x="4996800" y="1915200"/>
            <a:ext cx="1105200" cy="302400"/>
          </a:xfrm>
          <a:prstGeom prst="roundRect">
            <a:avLst>
              <a:gd name="adj" fmla="val 25198"/>
            </a:avLst>
          </a:prstGeom>
          <a:solidFill>
            <a:srgbClr val="FAF1DE"/>
          </a:solidFill>
          <a:ln w="7620">
            <a:solidFill>
              <a:srgbClr val="D8A95A"/>
            </a:solidFill>
          </a:ln>
        </p:spPr>
      </p:sp>
      <p:sp>
        <p:nvSpPr>
          <p:cNvPr id="60001" name="Build | label">
            <a:extLst>
              <a:ext uri="{FF2B5EF4-FFF2-40B4-BE49-F238E27FC236}">
                <a16:creationId xmlns:a16="http://schemas.microsoft.com/office/drawing/2014/main" id="{C924A688-257C-475C-84AB-D8359AB992E8}"/>
              </a:ext>
            </a:extLst>
          </p:cNvPr>
          <p:cNvSpPr>
            <a:spLocks noGrp="1"/>
          </p:cNvSpPr>
          <p:nvPr/>
        </p:nvSpPr>
        <p:spPr>
          <a:xfrm>
            <a:off x="5014800" y="1944000"/>
            <a:ext cx="1069200" cy="111600"/>
          </a:xfrm>
          <a:prstGeom prst="rect">
            <a:avLst/>
          </a:prstGeom>
          <a:noFill/>
          <a:ln w="0">
            <a:noFill/>
          </a:ln>
        </p:spPr>
        <p:txBody>
          <a:bodyPr wrap="none" lIns="0" tIns="0" rIns="0" bIns="0" anchor="ctr">
            <a:noAutofit/>
          </a:bodyPr>
          <a:lstStyle>
            <a:defPPr algn="ctr">
              <a:defRPr sz="690" b="1">
                <a:solidFill>
                  <a:srgbClr val="263442"/>
                </a:solidFill>
                <a:latin typeface="Arial"/>
                <a:ea typeface="Arial"/>
                <a:cs typeface="Arial"/>
              </a:defRPr>
            </a:defPPr>
            <a:lvl1pPr algn="ctr">
              <a:defRPr sz="690" b="1">
                <a:solidFill>
                  <a:srgbClr val="263442"/>
                </a:solidFill>
                <a:latin typeface="Arial"/>
                <a:ea typeface="Arial"/>
                <a:cs typeface="Arial"/>
              </a:defRPr>
            </a:lvl1pPr>
            <a:lvl2pPr algn="ctr">
              <a:defRPr sz="690" b="1">
                <a:solidFill>
                  <a:srgbClr val="263442"/>
                </a:solidFill>
                <a:latin typeface="Arial"/>
                <a:ea typeface="Arial"/>
                <a:cs typeface="Arial"/>
              </a:defRPr>
            </a:lvl2pPr>
            <a:lvl3pPr algn="ctr">
              <a:defRPr sz="690" b="1">
                <a:solidFill>
                  <a:srgbClr val="263442"/>
                </a:solidFill>
                <a:latin typeface="Arial"/>
                <a:ea typeface="Arial"/>
                <a:cs typeface="Arial"/>
              </a:defRPr>
            </a:lvl3pPr>
            <a:lvl4pPr algn="ctr">
              <a:defRPr sz="690" b="1">
                <a:solidFill>
                  <a:srgbClr val="263442"/>
                </a:solidFill>
                <a:latin typeface="Arial"/>
                <a:ea typeface="Arial"/>
                <a:cs typeface="Arial"/>
              </a:defRPr>
            </a:lvl4pPr>
            <a:lvl5pPr algn="ctr">
              <a:defRPr sz="690" b="1">
                <a:solidFill>
                  <a:srgbClr val="263442"/>
                </a:solidFill>
                <a:latin typeface="Arial"/>
                <a:ea typeface="Arial"/>
                <a:cs typeface="Arial"/>
              </a:defRPr>
            </a:lvl5pPr>
            <a:lvl6pPr algn="ctr">
              <a:defRPr sz="690" b="1">
                <a:solidFill>
                  <a:srgbClr val="263442"/>
                </a:solidFill>
                <a:latin typeface="Arial"/>
                <a:ea typeface="Arial"/>
                <a:cs typeface="Arial"/>
              </a:defRPr>
            </a:lvl6pPr>
            <a:lvl7pPr algn="ctr">
              <a:defRPr sz="690" b="1">
                <a:solidFill>
                  <a:srgbClr val="263442"/>
                </a:solidFill>
                <a:latin typeface="Arial"/>
                <a:ea typeface="Arial"/>
                <a:cs typeface="Arial"/>
              </a:defRPr>
            </a:lvl7pPr>
            <a:lvl8pPr algn="ctr">
              <a:defRPr sz="690" b="1">
                <a:solidFill>
                  <a:srgbClr val="263442"/>
                </a:solidFill>
                <a:latin typeface="Arial"/>
                <a:ea typeface="Arial"/>
                <a:cs typeface="Arial"/>
              </a:defRPr>
            </a:lvl8pPr>
            <a:lvl9pPr algn="ctr">
              <a:defRPr sz="690" b="1">
                <a:solidFill>
                  <a:srgbClr val="263442"/>
                </a:solidFill>
                <a:latin typeface="Arial"/>
                <a:ea typeface="Arial"/>
                <a:cs typeface="Arial"/>
              </a:defRPr>
            </a:lvl9pPr>
          </a:lstStyle>
          <a:p>
            <a:pPr algn="ctr">
              <a:defRPr sz="690" b="1">
                <a:solidFill>
                  <a:srgbClr val="263442"/>
                </a:solidFill>
                <a:latin typeface="Arial"/>
                <a:ea typeface="Arial"/>
                <a:cs typeface="Arial"/>
              </a:defRPr>
            </a:pPr>
            <a:r>
              <a:rPr sz="690" b="1">
                <a:solidFill>
                  <a:srgbClr val="263442"/>
                </a:solidFill>
                <a:latin typeface="Arial"/>
                <a:ea typeface="Arial"/>
                <a:cs typeface="Arial"/>
              </a:rPr>
              <a:t>DG-PocketXMol</a:t>
            </a:r>
          </a:p>
        </p:txBody>
      </p:sp>
      <p:sp>
        <p:nvSpPr>
          <p:cNvPr id="60002" name="Build | label">
            <a:extLst>
              <a:ext uri="{FF2B5EF4-FFF2-40B4-BE49-F238E27FC236}">
                <a16:creationId xmlns:a16="http://schemas.microsoft.com/office/drawing/2014/main" id="{F85FF731-0736-4E07-BCF8-31EFC2F51A1D}"/>
              </a:ext>
            </a:extLst>
          </p:cNvPr>
          <p:cNvSpPr>
            <a:spLocks noGrp="1"/>
          </p:cNvSpPr>
          <p:nvPr/>
        </p:nvSpPr>
        <p:spPr>
          <a:xfrm>
            <a:off x="5014800" y="2066400"/>
            <a:ext cx="1069200" cy="100800"/>
          </a:xfrm>
          <a:prstGeom prst="rect">
            <a:avLst/>
          </a:prstGeom>
          <a:noFill/>
          <a:ln w="0">
            <a:noFill/>
          </a:ln>
        </p:spPr>
        <p:txBody>
          <a:bodyPr wrap="none" lIns="0" tIns="0" rIns="0" bIns="0" anchor="ctr">
            <a:noAutofit/>
          </a:bodyPr>
          <a:lstStyle>
            <a:defPPr algn="ctr">
              <a:defRPr sz="580" b="0">
                <a:solidFill>
                  <a:srgbClr val="4D5B64"/>
                </a:solidFill>
                <a:latin typeface="Arial"/>
                <a:ea typeface="Arial"/>
                <a:cs typeface="Arial"/>
              </a:defRPr>
            </a:defPPr>
            <a:lvl1pPr algn="ctr">
              <a:defRPr sz="580" b="0">
                <a:solidFill>
                  <a:srgbClr val="4D5B64"/>
                </a:solidFill>
                <a:latin typeface="Arial"/>
                <a:ea typeface="Arial"/>
                <a:cs typeface="Arial"/>
              </a:defRPr>
            </a:lvl1pPr>
            <a:lvl2pPr algn="ctr">
              <a:defRPr sz="580" b="0">
                <a:solidFill>
                  <a:srgbClr val="4D5B64"/>
                </a:solidFill>
                <a:latin typeface="Arial"/>
                <a:ea typeface="Arial"/>
                <a:cs typeface="Arial"/>
              </a:defRPr>
            </a:lvl2pPr>
            <a:lvl3pPr algn="ctr">
              <a:defRPr sz="580" b="0">
                <a:solidFill>
                  <a:srgbClr val="4D5B64"/>
                </a:solidFill>
                <a:latin typeface="Arial"/>
                <a:ea typeface="Arial"/>
                <a:cs typeface="Arial"/>
              </a:defRPr>
            </a:lvl3pPr>
            <a:lvl4pPr algn="ctr">
              <a:defRPr sz="580" b="0">
                <a:solidFill>
                  <a:srgbClr val="4D5B64"/>
                </a:solidFill>
                <a:latin typeface="Arial"/>
                <a:ea typeface="Arial"/>
                <a:cs typeface="Arial"/>
              </a:defRPr>
            </a:lvl4pPr>
            <a:lvl5pPr algn="ctr">
              <a:defRPr sz="580" b="0">
                <a:solidFill>
                  <a:srgbClr val="4D5B64"/>
                </a:solidFill>
                <a:latin typeface="Arial"/>
                <a:ea typeface="Arial"/>
                <a:cs typeface="Arial"/>
              </a:defRPr>
            </a:lvl5pPr>
            <a:lvl6pPr algn="ctr">
              <a:defRPr sz="580" b="0">
                <a:solidFill>
                  <a:srgbClr val="4D5B64"/>
                </a:solidFill>
                <a:latin typeface="Arial"/>
                <a:ea typeface="Arial"/>
                <a:cs typeface="Arial"/>
              </a:defRPr>
            </a:lvl6pPr>
            <a:lvl7pPr algn="ctr">
              <a:defRPr sz="580" b="0">
                <a:solidFill>
                  <a:srgbClr val="4D5B64"/>
                </a:solidFill>
                <a:latin typeface="Arial"/>
                <a:ea typeface="Arial"/>
                <a:cs typeface="Arial"/>
              </a:defRPr>
            </a:lvl7pPr>
            <a:lvl8pPr algn="ctr">
              <a:defRPr sz="580" b="0">
                <a:solidFill>
                  <a:srgbClr val="4D5B64"/>
                </a:solidFill>
                <a:latin typeface="Arial"/>
                <a:ea typeface="Arial"/>
                <a:cs typeface="Arial"/>
              </a:defRPr>
            </a:lvl8pPr>
            <a:lvl9pPr algn="ctr">
              <a:defRPr sz="580" b="0">
                <a:solidFill>
                  <a:srgbClr val="4D5B64"/>
                </a:solidFill>
                <a:latin typeface="Arial"/>
                <a:ea typeface="Arial"/>
                <a:cs typeface="Arial"/>
              </a:defRPr>
            </a:lvl9pPr>
          </a:lstStyle>
          <a:p>
            <a:pPr algn="ctr">
              <a:defRPr sz="580" b="0">
                <a:solidFill>
                  <a:srgbClr val="4D5B64"/>
                </a:solidFill>
                <a:latin typeface="Arial"/>
                <a:ea typeface="Arial"/>
                <a:cs typeface="Arial"/>
              </a:defRPr>
            </a:pPr>
            <a:r>
              <a:rPr sz="580" b="0">
                <a:solidFill>
                  <a:srgbClr val="4D5B64"/>
                </a:solidFill>
                <a:latin typeface="Arial"/>
                <a:ea typeface="Arial"/>
                <a:cs typeface="Arial"/>
              </a:rPr>
              <a:t>Density-conditioned fine-tuning</a:t>
            </a:r>
          </a:p>
        </p:txBody>
      </p:sp>
      <p:sp>
        <p:nvSpPr>
          <p:cNvPr id="60003" name="Build | inputs to engine">
            <a:extLst>
              <a:ext uri="{FF2B5EF4-FFF2-40B4-BE49-F238E27FC236}">
                <a16:creationId xmlns:a16="http://schemas.microsoft.com/office/drawing/2014/main" id="{9C3557DE-6959-4907-9461-3153A685741E}"/>
              </a:ext>
            </a:extLst>
          </p:cNvPr>
          <p:cNvSpPr>
            <a:spLocks noGrp="1"/>
          </p:cNvSpPr>
          <p:nvPr/>
        </p:nvSpPr>
        <p:spPr>
          <a:xfrm>
            <a:off x="5547600" y="1764000"/>
            <a:ext cx="95" cy="108000"/>
          </a:xfrm>
          <a:custGeom>
            <a:avLst/>
            <a:gdLst/>
            <a:ahLst/>
            <a:cxnLst/>
            <a:rect l="0" t="0" r="0" b="0"/>
            <a:pathLst>
              <a:path w="95" h="108000">
                <a:moveTo>
                  <a:pt x="0" y="0"/>
                </a:moveTo>
                <a:lnTo>
                  <a:pt x="0" y="108000"/>
                </a:lnTo>
              </a:path>
            </a:pathLst>
          </a:custGeom>
          <a:noFill/>
          <a:ln w="8255">
            <a:solidFill>
              <a:srgbClr val="77828C"/>
            </a:solidFill>
          </a:ln>
        </p:spPr>
      </p:sp>
      <p:sp>
        <p:nvSpPr>
          <p:cNvPr id="60004" name="Build | inputs to engine head">
            <a:extLst>
              <a:ext uri="{FF2B5EF4-FFF2-40B4-BE49-F238E27FC236}">
                <a16:creationId xmlns:a16="http://schemas.microsoft.com/office/drawing/2014/main" id="{5B3E351C-FB47-426B-BA8E-65E312802419}"/>
              </a:ext>
            </a:extLst>
          </p:cNvPr>
          <p:cNvSpPr>
            <a:spLocks noGrp="1"/>
          </p:cNvSpPr>
          <p:nvPr/>
        </p:nvSpPr>
        <p:spPr>
          <a:xfrm>
            <a:off x="5533470" y="1844858"/>
            <a:ext cx="28261" cy="27142"/>
          </a:xfrm>
          <a:custGeom>
            <a:avLst/>
            <a:gdLst/>
            <a:ahLst/>
            <a:cxnLst/>
            <a:rect l="0" t="0" r="0" b="0"/>
            <a:pathLst>
              <a:path w="28261" h="27142">
                <a:moveTo>
                  <a:pt x="0" y="0"/>
                </a:moveTo>
                <a:lnTo>
                  <a:pt x="14130" y="27142"/>
                </a:lnTo>
                <a:lnTo>
                  <a:pt x="28261" y="0"/>
                </a:lnTo>
              </a:path>
            </a:pathLst>
          </a:custGeom>
          <a:noFill/>
          <a:ln w="8255">
            <a:solidFill>
              <a:srgbClr val="77828C"/>
            </a:solidFill>
          </a:ln>
        </p:spPr>
      </p:sp>
      <p:sp>
        <p:nvSpPr>
          <p:cNvPr id="60005" name="Build | engine to complex">
            <a:extLst>
              <a:ext uri="{FF2B5EF4-FFF2-40B4-BE49-F238E27FC236}">
                <a16:creationId xmlns:a16="http://schemas.microsoft.com/office/drawing/2014/main" id="{79B26B59-34F9-49AF-A2F7-A3600FDD2EB6}"/>
              </a:ext>
            </a:extLst>
          </p:cNvPr>
          <p:cNvSpPr>
            <a:spLocks noGrp="1"/>
          </p:cNvSpPr>
          <p:nvPr/>
        </p:nvSpPr>
        <p:spPr>
          <a:xfrm>
            <a:off x="5547600" y="2246400"/>
            <a:ext cx="95" cy="64800"/>
          </a:xfrm>
          <a:custGeom>
            <a:avLst/>
            <a:gdLst/>
            <a:ahLst/>
            <a:cxnLst/>
            <a:rect l="0" t="0" r="0" b="0"/>
            <a:pathLst>
              <a:path w="95" h="64800">
                <a:moveTo>
                  <a:pt x="0" y="0"/>
                </a:moveTo>
                <a:lnTo>
                  <a:pt x="0" y="64800"/>
                </a:lnTo>
              </a:path>
            </a:pathLst>
          </a:custGeom>
          <a:noFill/>
          <a:ln w="8255">
            <a:solidFill>
              <a:srgbClr val="77828C"/>
            </a:solidFill>
          </a:ln>
        </p:spPr>
      </p:sp>
      <p:sp>
        <p:nvSpPr>
          <p:cNvPr id="60006" name="Build | engine to complex head">
            <a:extLst>
              <a:ext uri="{FF2B5EF4-FFF2-40B4-BE49-F238E27FC236}">
                <a16:creationId xmlns:a16="http://schemas.microsoft.com/office/drawing/2014/main" id="{FB50AD9F-E98A-4645-AF36-D44FCEABB33B}"/>
              </a:ext>
            </a:extLst>
          </p:cNvPr>
          <p:cNvSpPr>
            <a:spLocks noGrp="1"/>
          </p:cNvSpPr>
          <p:nvPr/>
        </p:nvSpPr>
        <p:spPr>
          <a:xfrm>
            <a:off x="5533470" y="2284058"/>
            <a:ext cx="28261" cy="27142"/>
          </a:xfrm>
          <a:custGeom>
            <a:avLst/>
            <a:gdLst/>
            <a:ahLst/>
            <a:cxnLst/>
            <a:rect l="0" t="0" r="0" b="0"/>
            <a:pathLst>
              <a:path w="28261" h="27142">
                <a:moveTo>
                  <a:pt x="0" y="0"/>
                </a:moveTo>
                <a:lnTo>
                  <a:pt x="14130" y="27142"/>
                </a:lnTo>
                <a:lnTo>
                  <a:pt x="28261" y="0"/>
                </a:lnTo>
              </a:path>
            </a:pathLst>
          </a:custGeom>
          <a:noFill/>
          <a:ln w="8255">
            <a:solidFill>
              <a:srgbClr val="77828C"/>
            </a:solidFill>
          </a:ln>
        </p:spPr>
      </p:sp>
      <p:sp>
        <p:nvSpPr>
          <p:cNvPr id="60007" name="Build | global structure viewport">
            <a:extLst>
              <a:ext uri="{FF2B5EF4-FFF2-40B4-BE49-F238E27FC236}">
                <a16:creationId xmlns:a16="http://schemas.microsoft.com/office/drawing/2014/main" id="{C0DC9EAF-E642-42A3-8CB6-165F959DB0B0}"/>
              </a:ext>
            </a:extLst>
          </p:cNvPr>
          <p:cNvSpPr>
            <a:spLocks noGrp="1"/>
          </p:cNvSpPr>
          <p:nvPr/>
        </p:nvSpPr>
        <p:spPr>
          <a:xfrm>
            <a:off x="4996800" y="2347200"/>
            <a:ext cx="1105200" cy="972000"/>
          </a:xfrm>
          <a:prstGeom prst="roundRect">
            <a:avLst>
              <a:gd name="adj" fmla="val 7840"/>
            </a:avLst>
          </a:prstGeom>
          <a:solidFill>
            <a:srgbClr val="FFFFFF"/>
          </a:solidFill>
          <a:ln w="7620">
            <a:solidFill>
              <a:srgbClr val="C8CFD4"/>
            </a:solidFill>
          </a:ln>
        </p:spPr>
      </p:sp>
      <p:pic>
        <p:nvPicPr>
          <p:cNvPr id="60008" name="图片 60007">
            <a:extLst>
              <a:ext uri="{FF2B5EF4-FFF2-40B4-BE49-F238E27FC236}">
                <a16:creationId xmlns:a16="http://schemas.microsoft.com/office/drawing/2014/main" id="{CDBAC475-BE0F-4988-BB5D-7975A4551630}"/>
              </a:ext>
            </a:extLst>
          </p:cNvPr>
          <p:cNvPicPr>
            <a:picLocks noChangeAspect="1"/>
          </p:cNvPicPr>
          <p:nvPr/>
        </p:nvPicPr>
        <p:blipFill>
          <a:blip r:embed="rId6"/>
          <a:stretch/>
        </p:blipFill>
        <p:spPr>
          <a:xfrm>
            <a:off x="5024057" y="2354400"/>
            <a:ext cx="1050686" cy="817200"/>
          </a:xfrm>
          <a:prstGeom prst="rect">
            <a:avLst/>
          </a:prstGeom>
        </p:spPr>
      </p:pic>
      <p:sp>
        <p:nvSpPr>
          <p:cNvPr id="60009" name="Build | label">
            <a:extLst>
              <a:ext uri="{FF2B5EF4-FFF2-40B4-BE49-F238E27FC236}">
                <a16:creationId xmlns:a16="http://schemas.microsoft.com/office/drawing/2014/main" id="{E8FB1901-D11B-4932-984A-C632CD42918B}"/>
              </a:ext>
            </a:extLst>
          </p:cNvPr>
          <p:cNvSpPr>
            <a:spLocks noGrp="1"/>
          </p:cNvSpPr>
          <p:nvPr/>
        </p:nvSpPr>
        <p:spPr>
          <a:xfrm>
            <a:off x="5004000" y="3193200"/>
            <a:ext cx="1090800" cy="97200"/>
          </a:xfrm>
          <a:prstGeom prst="rect">
            <a:avLst/>
          </a:prstGeom>
          <a:noFill/>
          <a:ln w="0">
            <a:noFill/>
          </a:ln>
        </p:spPr>
        <p:txBody>
          <a:bodyPr wrap="none" lIns="0" tIns="0" rIns="0" bIns="0" anchor="ctr">
            <a:noAutofit/>
          </a:bodyPr>
          <a:lstStyle>
            <a:defPPr algn="ctr">
              <a:defRPr sz="620" b="0">
                <a:solidFill>
                  <a:srgbClr val="263442"/>
                </a:solidFill>
                <a:latin typeface="Arial"/>
                <a:ea typeface="Arial"/>
                <a:cs typeface="Arial"/>
              </a:defRPr>
            </a:defPPr>
            <a:lvl1pPr algn="ctr">
              <a:defRPr sz="620" b="0">
                <a:solidFill>
                  <a:srgbClr val="263442"/>
                </a:solidFill>
                <a:latin typeface="Arial"/>
                <a:ea typeface="Arial"/>
                <a:cs typeface="Arial"/>
              </a:defRPr>
            </a:lvl1pPr>
            <a:lvl2pPr algn="ctr">
              <a:defRPr sz="620" b="0">
                <a:solidFill>
                  <a:srgbClr val="263442"/>
                </a:solidFill>
                <a:latin typeface="Arial"/>
                <a:ea typeface="Arial"/>
                <a:cs typeface="Arial"/>
              </a:defRPr>
            </a:lvl2pPr>
            <a:lvl3pPr algn="ctr">
              <a:defRPr sz="620" b="0">
                <a:solidFill>
                  <a:srgbClr val="263442"/>
                </a:solidFill>
                <a:latin typeface="Arial"/>
                <a:ea typeface="Arial"/>
                <a:cs typeface="Arial"/>
              </a:defRPr>
            </a:lvl3pPr>
            <a:lvl4pPr algn="ctr">
              <a:defRPr sz="620" b="0">
                <a:solidFill>
                  <a:srgbClr val="263442"/>
                </a:solidFill>
                <a:latin typeface="Arial"/>
                <a:ea typeface="Arial"/>
                <a:cs typeface="Arial"/>
              </a:defRPr>
            </a:lvl4pPr>
            <a:lvl5pPr algn="ctr">
              <a:defRPr sz="620" b="0">
                <a:solidFill>
                  <a:srgbClr val="263442"/>
                </a:solidFill>
                <a:latin typeface="Arial"/>
                <a:ea typeface="Arial"/>
                <a:cs typeface="Arial"/>
              </a:defRPr>
            </a:lvl5pPr>
            <a:lvl6pPr algn="ctr">
              <a:defRPr sz="620" b="0">
                <a:solidFill>
                  <a:srgbClr val="263442"/>
                </a:solidFill>
                <a:latin typeface="Arial"/>
                <a:ea typeface="Arial"/>
                <a:cs typeface="Arial"/>
              </a:defRPr>
            </a:lvl6pPr>
            <a:lvl7pPr algn="ctr">
              <a:defRPr sz="620" b="0">
                <a:solidFill>
                  <a:srgbClr val="263442"/>
                </a:solidFill>
                <a:latin typeface="Arial"/>
                <a:ea typeface="Arial"/>
                <a:cs typeface="Arial"/>
              </a:defRPr>
            </a:lvl7pPr>
            <a:lvl8pPr algn="ctr">
              <a:defRPr sz="620" b="0">
                <a:solidFill>
                  <a:srgbClr val="263442"/>
                </a:solidFill>
                <a:latin typeface="Arial"/>
                <a:ea typeface="Arial"/>
                <a:cs typeface="Arial"/>
              </a:defRPr>
            </a:lvl8pPr>
            <a:lvl9pPr algn="ctr">
              <a:defRPr sz="620" b="0">
                <a:solidFill>
                  <a:srgbClr val="263442"/>
                </a:solidFill>
                <a:latin typeface="Arial"/>
                <a:ea typeface="Arial"/>
                <a:cs typeface="Arial"/>
              </a:defRPr>
            </a:lvl9pPr>
          </a:lstStyle>
          <a:p>
            <a:pPr algn="ctr">
              <a:defRPr sz="620" b="0">
                <a:solidFill>
                  <a:srgbClr val="263442"/>
                </a:solidFill>
                <a:latin typeface="Arial"/>
                <a:ea typeface="Arial"/>
                <a:cs typeface="Arial"/>
              </a:defRPr>
            </a:pPr>
            <a:r>
              <a:rPr sz="620" b="0">
                <a:solidFill>
                  <a:srgbClr val="263442"/>
                </a:solidFill>
                <a:latin typeface="Arial"/>
                <a:ea typeface="Arial"/>
                <a:cs typeface="Arial"/>
              </a:rPr>
              <a:t>Receptor–ligand complex</a:t>
            </a:r>
          </a:p>
        </p:txBody>
      </p:sp>
      <p:sp>
        <p:nvSpPr>
          <p:cNvPr id="60010" name="Build | zoom into pocket">
            <a:extLst>
              <a:ext uri="{FF2B5EF4-FFF2-40B4-BE49-F238E27FC236}">
                <a16:creationId xmlns:a16="http://schemas.microsoft.com/office/drawing/2014/main" id="{EDDFCF5B-F91E-4446-83E1-05A071D65ED7}"/>
              </a:ext>
            </a:extLst>
          </p:cNvPr>
          <p:cNvSpPr>
            <a:spLocks noGrp="1"/>
          </p:cNvSpPr>
          <p:nvPr/>
        </p:nvSpPr>
        <p:spPr>
          <a:xfrm>
            <a:off x="5547600" y="3340800"/>
            <a:ext cx="95" cy="122400"/>
          </a:xfrm>
          <a:custGeom>
            <a:avLst/>
            <a:gdLst/>
            <a:ahLst/>
            <a:cxnLst/>
            <a:rect l="0" t="0" r="0" b="0"/>
            <a:pathLst>
              <a:path w="95" h="122400">
                <a:moveTo>
                  <a:pt x="0" y="0"/>
                </a:moveTo>
                <a:lnTo>
                  <a:pt x="0" y="122400"/>
                </a:lnTo>
              </a:path>
            </a:pathLst>
          </a:custGeom>
          <a:noFill/>
          <a:ln w="8255">
            <a:solidFill>
              <a:srgbClr val="77828C"/>
            </a:solidFill>
          </a:ln>
        </p:spPr>
      </p:sp>
      <p:sp>
        <p:nvSpPr>
          <p:cNvPr id="60011" name="Build | zoom into pocket head">
            <a:extLst>
              <a:ext uri="{FF2B5EF4-FFF2-40B4-BE49-F238E27FC236}">
                <a16:creationId xmlns:a16="http://schemas.microsoft.com/office/drawing/2014/main" id="{099B7F87-698B-4178-A640-9276B67D727D}"/>
              </a:ext>
            </a:extLst>
          </p:cNvPr>
          <p:cNvSpPr>
            <a:spLocks noGrp="1"/>
          </p:cNvSpPr>
          <p:nvPr/>
        </p:nvSpPr>
        <p:spPr>
          <a:xfrm>
            <a:off x="5533470" y="3436058"/>
            <a:ext cx="28261" cy="27142"/>
          </a:xfrm>
          <a:custGeom>
            <a:avLst/>
            <a:gdLst/>
            <a:ahLst/>
            <a:cxnLst/>
            <a:rect l="0" t="0" r="0" b="0"/>
            <a:pathLst>
              <a:path w="28261" h="27142">
                <a:moveTo>
                  <a:pt x="0" y="0"/>
                </a:moveTo>
                <a:lnTo>
                  <a:pt x="14130" y="27142"/>
                </a:lnTo>
                <a:lnTo>
                  <a:pt x="28261" y="0"/>
                </a:lnTo>
              </a:path>
            </a:pathLst>
          </a:custGeom>
          <a:noFill/>
          <a:ln w="8255">
            <a:solidFill>
              <a:srgbClr val="77828C"/>
            </a:solidFill>
          </a:ln>
        </p:spPr>
      </p:sp>
      <p:sp>
        <p:nvSpPr>
          <p:cNvPr id="60012" name="Build | label">
            <a:extLst>
              <a:ext uri="{FF2B5EF4-FFF2-40B4-BE49-F238E27FC236}">
                <a16:creationId xmlns:a16="http://schemas.microsoft.com/office/drawing/2014/main" id="{C00C0BFE-8FBA-45D2-A34D-2D253F165FD7}"/>
              </a:ext>
            </a:extLst>
          </p:cNvPr>
          <p:cNvSpPr>
            <a:spLocks noGrp="1"/>
          </p:cNvSpPr>
          <p:nvPr/>
        </p:nvSpPr>
        <p:spPr>
          <a:xfrm>
            <a:off x="5630400" y="3351600"/>
            <a:ext cx="324000" cy="100800"/>
          </a:xfrm>
          <a:prstGeom prst="rect">
            <a:avLst/>
          </a:prstGeom>
          <a:noFill/>
          <a:ln w="0">
            <a:noFill/>
          </a:ln>
        </p:spPr>
        <p:txBody>
          <a:bodyPr wrap="none" lIns="0" tIns="0" rIns="0" bIns="0" anchor="ctr">
            <a:noAutofit/>
          </a:bodyPr>
          <a:lstStyle>
            <a:defPPr algn="ctr">
              <a:defRPr sz="590" b="0">
                <a:solidFill>
                  <a:srgbClr val="596873"/>
                </a:solidFill>
                <a:latin typeface="Arial"/>
                <a:ea typeface="Arial"/>
                <a:cs typeface="Arial"/>
              </a:defRPr>
            </a:defPPr>
            <a:lvl1pPr algn="ctr">
              <a:defRPr sz="590" b="0">
                <a:solidFill>
                  <a:srgbClr val="596873"/>
                </a:solidFill>
                <a:latin typeface="Arial"/>
                <a:ea typeface="Arial"/>
                <a:cs typeface="Arial"/>
              </a:defRPr>
            </a:lvl1pPr>
            <a:lvl2pPr algn="ctr">
              <a:defRPr sz="590" b="0">
                <a:solidFill>
                  <a:srgbClr val="596873"/>
                </a:solidFill>
                <a:latin typeface="Arial"/>
                <a:ea typeface="Arial"/>
                <a:cs typeface="Arial"/>
              </a:defRPr>
            </a:lvl2pPr>
            <a:lvl3pPr algn="ctr">
              <a:defRPr sz="590" b="0">
                <a:solidFill>
                  <a:srgbClr val="596873"/>
                </a:solidFill>
                <a:latin typeface="Arial"/>
                <a:ea typeface="Arial"/>
                <a:cs typeface="Arial"/>
              </a:defRPr>
            </a:lvl3pPr>
            <a:lvl4pPr algn="ctr">
              <a:defRPr sz="590" b="0">
                <a:solidFill>
                  <a:srgbClr val="596873"/>
                </a:solidFill>
                <a:latin typeface="Arial"/>
                <a:ea typeface="Arial"/>
                <a:cs typeface="Arial"/>
              </a:defRPr>
            </a:lvl4pPr>
            <a:lvl5pPr algn="ctr">
              <a:defRPr sz="590" b="0">
                <a:solidFill>
                  <a:srgbClr val="596873"/>
                </a:solidFill>
                <a:latin typeface="Arial"/>
                <a:ea typeface="Arial"/>
                <a:cs typeface="Arial"/>
              </a:defRPr>
            </a:lvl5pPr>
            <a:lvl6pPr algn="ctr">
              <a:defRPr sz="590" b="0">
                <a:solidFill>
                  <a:srgbClr val="596873"/>
                </a:solidFill>
                <a:latin typeface="Arial"/>
                <a:ea typeface="Arial"/>
                <a:cs typeface="Arial"/>
              </a:defRPr>
            </a:lvl6pPr>
            <a:lvl7pPr algn="ctr">
              <a:defRPr sz="590" b="0">
                <a:solidFill>
                  <a:srgbClr val="596873"/>
                </a:solidFill>
                <a:latin typeface="Arial"/>
                <a:ea typeface="Arial"/>
                <a:cs typeface="Arial"/>
              </a:defRPr>
            </a:lvl7pPr>
            <a:lvl8pPr algn="ctr">
              <a:defRPr sz="590" b="0">
                <a:solidFill>
                  <a:srgbClr val="596873"/>
                </a:solidFill>
                <a:latin typeface="Arial"/>
                <a:ea typeface="Arial"/>
                <a:cs typeface="Arial"/>
              </a:defRPr>
            </a:lvl8pPr>
            <a:lvl9pPr algn="ctr">
              <a:defRPr sz="590" b="0">
                <a:solidFill>
                  <a:srgbClr val="596873"/>
                </a:solidFill>
                <a:latin typeface="Arial"/>
                <a:ea typeface="Arial"/>
                <a:cs typeface="Arial"/>
              </a:defRPr>
            </a:lvl9pPr>
          </a:lstStyle>
          <a:p>
            <a:pPr algn="ctr">
              <a:defRPr sz="590" b="0">
                <a:solidFill>
                  <a:srgbClr val="596873"/>
                </a:solidFill>
                <a:latin typeface="Arial"/>
                <a:ea typeface="Arial"/>
                <a:cs typeface="Arial"/>
              </a:defRPr>
            </a:pPr>
            <a:r>
              <a:rPr sz="590" b="0">
                <a:solidFill>
                  <a:srgbClr val="596873"/>
                </a:solidFill>
                <a:latin typeface="Arial"/>
                <a:ea typeface="Arial"/>
                <a:cs typeface="Arial"/>
              </a:rPr>
              <a:t>Zoom</a:t>
            </a:r>
          </a:p>
        </p:txBody>
      </p:sp>
      <p:sp>
        <p:nvSpPr>
          <p:cNvPr id="60013" name="Build | local structure viewport">
            <a:extLst>
              <a:ext uri="{FF2B5EF4-FFF2-40B4-BE49-F238E27FC236}">
                <a16:creationId xmlns:a16="http://schemas.microsoft.com/office/drawing/2014/main" id="{2A254B35-5252-4388-8E46-B9197FBB1D8D}"/>
              </a:ext>
            </a:extLst>
          </p:cNvPr>
          <p:cNvSpPr>
            <a:spLocks noGrp="1"/>
          </p:cNvSpPr>
          <p:nvPr/>
        </p:nvSpPr>
        <p:spPr>
          <a:xfrm>
            <a:off x="4996800" y="3502800"/>
            <a:ext cx="1105200" cy="856800"/>
          </a:xfrm>
          <a:prstGeom prst="roundRect">
            <a:avLst>
              <a:gd name="adj" fmla="val 8894"/>
            </a:avLst>
          </a:prstGeom>
          <a:solidFill>
            <a:srgbClr val="FFFFFF"/>
          </a:solidFill>
          <a:ln w="7620">
            <a:solidFill>
              <a:srgbClr val="C8CFD4"/>
            </a:solidFill>
          </a:ln>
        </p:spPr>
      </p:sp>
      <p:pic>
        <p:nvPicPr>
          <p:cNvPr id="60014" name="图片 60013">
            <a:extLst>
              <a:ext uri="{FF2B5EF4-FFF2-40B4-BE49-F238E27FC236}">
                <a16:creationId xmlns:a16="http://schemas.microsoft.com/office/drawing/2014/main" id="{7C2D01A2-FBD9-4077-8530-DF97C20353A6}"/>
              </a:ext>
            </a:extLst>
          </p:cNvPr>
          <p:cNvPicPr>
            <a:picLocks noChangeAspect="1"/>
          </p:cNvPicPr>
          <p:nvPr/>
        </p:nvPicPr>
        <p:blipFill>
          <a:blip r:embed="rId7"/>
          <a:stretch/>
        </p:blipFill>
        <p:spPr>
          <a:xfrm>
            <a:off x="5075862" y="3520800"/>
            <a:ext cx="947077" cy="684000"/>
          </a:xfrm>
          <a:prstGeom prst="rect">
            <a:avLst/>
          </a:prstGeom>
        </p:spPr>
      </p:pic>
      <p:sp>
        <p:nvSpPr>
          <p:cNvPr id="60015" name="Build | label">
            <a:extLst>
              <a:ext uri="{FF2B5EF4-FFF2-40B4-BE49-F238E27FC236}">
                <a16:creationId xmlns:a16="http://schemas.microsoft.com/office/drawing/2014/main" id="{48E0CA85-1317-4E4D-8972-8C61828243BB}"/>
              </a:ext>
            </a:extLst>
          </p:cNvPr>
          <p:cNvSpPr>
            <a:spLocks noGrp="1"/>
          </p:cNvSpPr>
          <p:nvPr/>
        </p:nvSpPr>
        <p:spPr>
          <a:xfrm>
            <a:off x="5004000" y="4230000"/>
            <a:ext cx="1090800" cy="100800"/>
          </a:xfrm>
          <a:prstGeom prst="rect">
            <a:avLst/>
          </a:prstGeom>
          <a:noFill/>
          <a:ln w="0">
            <a:noFill/>
          </a:ln>
        </p:spPr>
        <p:txBody>
          <a:bodyPr wrap="none" lIns="0" tIns="0" rIns="0" bIns="0" anchor="ctr">
            <a:noAutofit/>
          </a:bodyPr>
          <a:lstStyle>
            <a:defPPr algn="ctr">
              <a:defRPr sz="670" b="0">
                <a:solidFill>
                  <a:srgbClr val="263442"/>
                </a:solidFill>
                <a:latin typeface="Arial"/>
                <a:ea typeface="Arial"/>
                <a:cs typeface="Arial"/>
              </a:defRPr>
            </a:defPPr>
            <a:lvl1pPr algn="ctr">
              <a:defRPr sz="670" b="0">
                <a:solidFill>
                  <a:srgbClr val="263442"/>
                </a:solidFill>
                <a:latin typeface="Arial"/>
                <a:ea typeface="Arial"/>
                <a:cs typeface="Arial"/>
              </a:defRPr>
            </a:lvl1pPr>
            <a:lvl2pPr algn="ctr">
              <a:defRPr sz="670" b="0">
                <a:solidFill>
                  <a:srgbClr val="263442"/>
                </a:solidFill>
                <a:latin typeface="Arial"/>
                <a:ea typeface="Arial"/>
                <a:cs typeface="Arial"/>
              </a:defRPr>
            </a:lvl2pPr>
            <a:lvl3pPr algn="ctr">
              <a:defRPr sz="670" b="0">
                <a:solidFill>
                  <a:srgbClr val="263442"/>
                </a:solidFill>
                <a:latin typeface="Arial"/>
                <a:ea typeface="Arial"/>
                <a:cs typeface="Arial"/>
              </a:defRPr>
            </a:lvl3pPr>
            <a:lvl4pPr algn="ctr">
              <a:defRPr sz="670" b="0">
                <a:solidFill>
                  <a:srgbClr val="263442"/>
                </a:solidFill>
                <a:latin typeface="Arial"/>
                <a:ea typeface="Arial"/>
                <a:cs typeface="Arial"/>
              </a:defRPr>
            </a:lvl4pPr>
            <a:lvl5pPr algn="ctr">
              <a:defRPr sz="670" b="0">
                <a:solidFill>
                  <a:srgbClr val="263442"/>
                </a:solidFill>
                <a:latin typeface="Arial"/>
                <a:ea typeface="Arial"/>
                <a:cs typeface="Arial"/>
              </a:defRPr>
            </a:lvl5pPr>
            <a:lvl6pPr algn="ctr">
              <a:defRPr sz="670" b="0">
                <a:solidFill>
                  <a:srgbClr val="263442"/>
                </a:solidFill>
                <a:latin typeface="Arial"/>
                <a:ea typeface="Arial"/>
                <a:cs typeface="Arial"/>
              </a:defRPr>
            </a:lvl6pPr>
            <a:lvl7pPr algn="ctr">
              <a:defRPr sz="670" b="0">
                <a:solidFill>
                  <a:srgbClr val="263442"/>
                </a:solidFill>
                <a:latin typeface="Arial"/>
                <a:ea typeface="Arial"/>
                <a:cs typeface="Arial"/>
              </a:defRPr>
            </a:lvl7pPr>
            <a:lvl8pPr algn="ctr">
              <a:defRPr sz="670" b="0">
                <a:solidFill>
                  <a:srgbClr val="263442"/>
                </a:solidFill>
                <a:latin typeface="Arial"/>
                <a:ea typeface="Arial"/>
                <a:cs typeface="Arial"/>
              </a:defRPr>
            </a:lvl8pPr>
            <a:lvl9pPr algn="ctr">
              <a:defRPr sz="670" b="0">
                <a:solidFill>
                  <a:srgbClr val="263442"/>
                </a:solidFill>
                <a:latin typeface="Arial"/>
                <a:ea typeface="Arial"/>
                <a:cs typeface="Arial"/>
              </a:defRPr>
            </a:lvl9pPr>
          </a:lstStyle>
          <a:p>
            <a:pPr algn="ctr">
              <a:defRPr sz="670" b="0">
                <a:solidFill>
                  <a:srgbClr val="263442"/>
                </a:solidFill>
                <a:latin typeface="Arial"/>
                <a:ea typeface="Arial"/>
                <a:cs typeface="Arial"/>
              </a:defRPr>
            </a:pPr>
            <a:r>
              <a:rPr sz="670" b="0">
                <a:solidFill>
                  <a:srgbClr val="263442"/>
                </a:solidFill>
                <a:latin typeface="Arial"/>
                <a:ea typeface="Arial"/>
                <a:cs typeface="Arial"/>
              </a:rPr>
              <a:t>All-atom ligand pose</a:t>
            </a:r>
          </a:p>
        </p:txBody>
      </p:sp>
    </p:spTree>
    <p:extLst>
      <p:ext uri="{BB962C8B-B14F-4D97-AF65-F5344CB8AC3E}">
        <p14:creationId xmlns:p14="http://schemas.microsoft.com/office/powerpoint/2010/main" val="1114947086"/>
      </p:ext>
    </p:extLst>
  </p:cSld>
  <p:clrMapOvr>
    <a:masterClrMapping/>
  </p:clrMapOvr>
  <p:extLst>
    <p:ext uri="{6950BFC3-D8DA-4A85-94F7-54DA5524770B}">
      <p188:commentRel xmlns:p188="http://schemas.microsoft.com/office/powerpoint/2018/8/main" r:id="rId3"/>
    </p:ext>
  </p:extLs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352734-FCAE-2B81-54BC-B01F7B050C10}"/>
            </a:ext>
          </a:extLst>
        </p:cNvPr>
        <p:cNvGrpSpPr/>
        <p:nvPr/>
      </p:nvGrpSpPr>
      <p:grpSpPr>
        <a:xfrm>
          <a:off x="0" y="0"/>
          <a:ext cx="0" cy="0"/>
          <a:chOff x="0" y="0"/>
          <a:chExt cx="0" cy="0"/>
        </a:xfrm>
      </p:grpSpPr>
      <p:sp>
        <p:nvSpPr>
          <p:cNvPr id="4" name="Panel | Build background">
            <a:extLst>
              <a:ext uri="{FF2B5EF4-FFF2-40B4-BE49-F238E27FC236}">
                <a16:creationId xmlns:a16="http://schemas.microsoft.com/office/drawing/2014/main" id="{3F93B921-327F-EA56-1B22-0D09369772CD}"/>
              </a:ext>
            </a:extLst>
          </p:cNvPr>
          <p:cNvSpPr/>
          <p:nvPr/>
        </p:nvSpPr>
        <p:spPr>
          <a:xfrm>
            <a:off x="4868797" y="84564"/>
            <a:ext cx="1354615" cy="4331875"/>
          </a:xfrm>
          <a:prstGeom prst="roundRect">
            <a:avLst>
              <a:gd name="adj" fmla="val 2000"/>
            </a:avLst>
          </a:prstGeom>
          <a:solidFill>
            <a:srgbClr val="FAF6EE"/>
          </a:solidFill>
          <a:ln w="9720">
            <a:solidFill>
              <a:srgbClr val="E3D9C6"/>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dirty="0"/>
          </a:p>
        </p:txBody>
      </p:sp>
      <p:sp>
        <p:nvSpPr>
          <p:cNvPr id="11" name="TextBox 8">
            <a:extLst>
              <a:ext uri="{FF2B5EF4-FFF2-40B4-BE49-F238E27FC236}">
                <a16:creationId xmlns:a16="http://schemas.microsoft.com/office/drawing/2014/main" id="{E6455CE4-B1DF-384C-F92E-829DDB28E816}"/>
              </a:ext>
            </a:extLst>
          </p:cNvPr>
          <p:cNvSpPr txBox="1"/>
          <p:nvPr/>
        </p:nvSpPr>
        <p:spPr>
          <a:xfrm>
            <a:off x="4902380" y="107125"/>
            <a:ext cx="174028" cy="149656"/>
          </a:xfrm>
          <a:prstGeom prst="rect">
            <a:avLst/>
          </a:prstGeom>
          <a:noFill/>
        </p:spPr>
        <p:txBody>
          <a:bodyPr wrap="square" lIns="0" tIns="0" rIns="0" bIns="0" anchor="ctr">
            <a:spAutoFit/>
          </a:bodyPr>
          <a:lstStyle/>
          <a:p>
            <a:pPr algn="l">
              <a:lnSpc>
                <a:spcPct val="105000"/>
              </a:lnSpc>
            </a:pPr>
            <a:r>
              <a:rPr sz="995" b="1" dirty="0">
                <a:solidFill>
                  <a:srgbClr val="263442"/>
                </a:solidFill>
                <a:latin typeface="Arial"/>
              </a:rPr>
              <a:t>c</a:t>
            </a:r>
          </a:p>
        </p:txBody>
      </p:sp>
      <p:sp>
        <p:nvSpPr>
          <p:cNvPr id="12" name="TextBox 9">
            <a:extLst>
              <a:ext uri="{FF2B5EF4-FFF2-40B4-BE49-F238E27FC236}">
                <a16:creationId xmlns:a16="http://schemas.microsoft.com/office/drawing/2014/main" id="{081F4C46-44A2-3E43-D338-0A52F1D83598}"/>
              </a:ext>
            </a:extLst>
          </p:cNvPr>
          <p:cNvSpPr txBox="1"/>
          <p:nvPr/>
        </p:nvSpPr>
        <p:spPr>
          <a:xfrm>
            <a:off x="5060587" y="120126"/>
            <a:ext cx="1202377" cy="239809"/>
          </a:xfrm>
          <a:prstGeom prst="rect">
            <a:avLst/>
          </a:prstGeom>
          <a:noFill/>
        </p:spPr>
        <p:txBody>
          <a:bodyPr wrap="square" lIns="0" tIns="0" rIns="0" bIns="0" anchor="ctr">
            <a:spAutoFit/>
          </a:bodyPr>
          <a:lstStyle/>
          <a:p>
            <a:pPr algn="l">
              <a:lnSpc>
                <a:spcPct val="98000"/>
              </a:lnSpc>
            </a:pPr>
            <a:r>
              <a:rPr sz="795" dirty="0">
                <a:solidFill>
                  <a:srgbClr val="263442"/>
                </a:solidFill>
                <a:latin typeface="Arial"/>
              </a:rPr>
              <a:t>Build: downstream</a:t>
            </a:r>
          </a:p>
          <a:p>
            <a:pPr algn="l">
              <a:lnSpc>
                <a:spcPct val="98000"/>
              </a:lnSpc>
            </a:pPr>
            <a:r>
              <a:rPr sz="795" dirty="0">
                <a:solidFill>
                  <a:srgbClr val="263442"/>
                </a:solidFill>
                <a:latin typeface="Arial"/>
              </a:rPr>
              <a:t>pose reconstruction</a:t>
            </a:r>
          </a:p>
        </p:txBody>
      </p:sp>
      <p:sp>
        <p:nvSpPr>
          <p:cNvPr id="768" name="Build four inputs">
            <a:extLst>
              <a:ext uri="{FF2B5EF4-FFF2-40B4-BE49-F238E27FC236}">
                <a16:creationId xmlns:a16="http://schemas.microsoft.com/office/drawing/2014/main" id="{2BF98272-1D43-106D-C4EA-676CFECC33CF}"/>
              </a:ext>
            </a:extLst>
          </p:cNvPr>
          <p:cNvSpPr>
            <a:spLocks noGrp="1"/>
          </p:cNvSpPr>
          <p:nvPr/>
        </p:nvSpPr>
        <p:spPr>
          <a:xfrm>
            <a:off x="4963973" y="420252"/>
            <a:ext cx="1158792" cy="1302153"/>
          </a:xfrm>
          <a:prstGeom prst="roundRect">
            <a:avLst>
              <a:gd name="adj" fmla="val 4554"/>
            </a:avLst>
          </a:prstGeom>
          <a:solidFill>
            <a:srgbClr val="FFFFFF"/>
          </a:solidFill>
          <a:ln w="7290">
            <a:solidFill>
              <a:srgbClr val="DFD6C3"/>
            </a:solidFill>
            <a:prstDash val="solid"/>
          </a:ln>
        </p:spPr>
        <p:txBody>
          <a:bodyPr/>
          <a:lstStyle/>
          <a:p>
            <a:endParaRPr lang="zh-CN" altLang="en-US" dirty="0"/>
          </a:p>
        </p:txBody>
      </p:sp>
      <p:sp>
        <p:nvSpPr>
          <p:cNvPr id="769" name="Site label">
            <a:extLst>
              <a:ext uri="{FF2B5EF4-FFF2-40B4-BE49-F238E27FC236}">
                <a16:creationId xmlns:a16="http://schemas.microsoft.com/office/drawing/2014/main" id="{3B2D181B-8171-23E5-904D-1E8D8B07D388}"/>
              </a:ext>
            </a:extLst>
          </p:cNvPr>
          <p:cNvSpPr>
            <a:spLocks noGrp="1"/>
          </p:cNvSpPr>
          <p:nvPr/>
        </p:nvSpPr>
        <p:spPr>
          <a:xfrm>
            <a:off x="4992638" y="834972"/>
            <a:ext cx="514364" cy="101253"/>
          </a:xfrm>
          <a:prstGeom prst="rect">
            <a:avLst/>
          </a:prstGeom>
          <a:noFill/>
          <a:ln w="6885">
            <a:noFill/>
            <a:prstDash val="solid"/>
          </a:ln>
        </p:spPr>
        <p:txBody>
          <a:bodyPr lIns="0" tIns="0" rIns="0" bIns="0" anchor="ctr"/>
          <a:lstStyle>
            <a:defPPr algn="ctr">
              <a:defRPr sz="695" b="1">
                <a:solidFill>
                  <a:srgbClr val="263442"/>
                </a:solidFill>
                <a:latin typeface="Arial"/>
                <a:ea typeface="Arial"/>
                <a:cs typeface="Arial"/>
              </a:defRPr>
            </a:defPPr>
            <a:lvl1pPr algn="ctr">
              <a:defRPr sz="695" b="1">
                <a:solidFill>
                  <a:srgbClr val="263442"/>
                </a:solidFill>
                <a:latin typeface="Arial"/>
                <a:ea typeface="Arial"/>
                <a:cs typeface="Arial"/>
              </a:defRPr>
            </a:lvl1pPr>
            <a:lvl2pPr algn="ctr">
              <a:defRPr sz="695" b="1">
                <a:solidFill>
                  <a:srgbClr val="263442"/>
                </a:solidFill>
                <a:latin typeface="Arial"/>
                <a:ea typeface="Arial"/>
                <a:cs typeface="Arial"/>
              </a:defRPr>
            </a:lvl2pPr>
            <a:lvl3pPr algn="ctr">
              <a:defRPr sz="695" b="1">
                <a:solidFill>
                  <a:srgbClr val="263442"/>
                </a:solidFill>
                <a:latin typeface="Arial"/>
                <a:ea typeface="Arial"/>
                <a:cs typeface="Arial"/>
              </a:defRPr>
            </a:lvl3pPr>
            <a:lvl4pPr algn="ctr">
              <a:defRPr sz="695" b="1">
                <a:solidFill>
                  <a:srgbClr val="263442"/>
                </a:solidFill>
                <a:latin typeface="Arial"/>
                <a:ea typeface="Arial"/>
                <a:cs typeface="Arial"/>
              </a:defRPr>
            </a:lvl4pPr>
            <a:lvl5pPr algn="ctr">
              <a:defRPr sz="695" b="1">
                <a:solidFill>
                  <a:srgbClr val="263442"/>
                </a:solidFill>
                <a:latin typeface="Arial"/>
                <a:ea typeface="Arial"/>
                <a:cs typeface="Arial"/>
              </a:defRPr>
            </a:lvl5pPr>
            <a:lvl6pPr algn="ctr">
              <a:defRPr sz="695" b="1">
                <a:solidFill>
                  <a:srgbClr val="263442"/>
                </a:solidFill>
                <a:latin typeface="Arial"/>
                <a:ea typeface="Arial"/>
                <a:cs typeface="Arial"/>
              </a:defRPr>
            </a:lvl6pPr>
            <a:lvl7pPr algn="ctr">
              <a:defRPr sz="695" b="1">
                <a:solidFill>
                  <a:srgbClr val="263442"/>
                </a:solidFill>
                <a:latin typeface="Arial"/>
                <a:ea typeface="Arial"/>
                <a:cs typeface="Arial"/>
              </a:defRPr>
            </a:lvl7pPr>
            <a:lvl8pPr algn="ctr">
              <a:defRPr sz="695" b="1">
                <a:solidFill>
                  <a:srgbClr val="263442"/>
                </a:solidFill>
                <a:latin typeface="Arial"/>
                <a:ea typeface="Arial"/>
                <a:cs typeface="Arial"/>
              </a:defRPr>
            </a:lvl8pPr>
            <a:lvl9pPr algn="ctr">
              <a:defRPr sz="695" b="1">
                <a:solidFill>
                  <a:srgbClr val="263442"/>
                </a:solidFill>
                <a:latin typeface="Arial"/>
                <a:ea typeface="Arial"/>
                <a:cs typeface="Arial"/>
              </a:defRPr>
            </a:lvl9pPr>
          </a:lstStyle>
          <a:p>
            <a:pPr algn="ctr">
              <a:defRPr sz="695" b="1">
                <a:solidFill>
                  <a:srgbClr val="263442"/>
                </a:solidFill>
                <a:latin typeface="Arial"/>
                <a:ea typeface="Arial"/>
                <a:cs typeface="Arial"/>
              </a:defRPr>
            </a:pPr>
            <a:r>
              <a:rPr sz="695" b="0" dirty="0">
                <a:solidFill>
                  <a:srgbClr val="263442"/>
                </a:solidFill>
                <a:latin typeface="Arial"/>
                <a:ea typeface="Arial"/>
                <a:cs typeface="Arial"/>
              </a:rPr>
              <a:t>Site</a:t>
            </a:r>
          </a:p>
        </p:txBody>
      </p:sp>
      <p:sp>
        <p:nvSpPr>
          <p:cNvPr id="770" name="Site provenance">
            <a:extLst>
              <a:ext uri="{FF2B5EF4-FFF2-40B4-BE49-F238E27FC236}">
                <a16:creationId xmlns:a16="http://schemas.microsoft.com/office/drawing/2014/main" id="{1D7E3247-83A3-5643-3DAD-7118C029E905}"/>
              </a:ext>
            </a:extLst>
          </p:cNvPr>
          <p:cNvSpPr>
            <a:spLocks noGrp="1"/>
          </p:cNvSpPr>
          <p:nvPr/>
        </p:nvSpPr>
        <p:spPr>
          <a:xfrm>
            <a:off x="4999032" y="921461"/>
            <a:ext cx="514364" cy="85052"/>
          </a:xfrm>
          <a:prstGeom prst="rect">
            <a:avLst/>
          </a:prstGeom>
          <a:noFill/>
          <a:ln w="6885">
            <a:noFill/>
            <a:prstDash val="solid"/>
          </a:ln>
        </p:spPr>
        <p:txBody>
          <a:bodyPr lIns="0" tIns="0" rIns="0" bIns="0" anchor="ctr"/>
          <a:lstStyle>
            <a:defPPr algn="ctr">
              <a:defRPr sz="590" b="0">
                <a:solidFill>
                  <a:srgbClr val="263442"/>
                </a:solidFill>
                <a:latin typeface="Arial"/>
                <a:ea typeface="Arial"/>
                <a:cs typeface="Arial"/>
              </a:defRPr>
            </a:defPPr>
            <a:lvl1pPr algn="ctr">
              <a:defRPr sz="590" b="0">
                <a:solidFill>
                  <a:srgbClr val="263442"/>
                </a:solidFill>
                <a:latin typeface="Arial"/>
                <a:ea typeface="Arial"/>
                <a:cs typeface="Arial"/>
              </a:defRPr>
            </a:lvl1pPr>
            <a:lvl2pPr algn="ctr">
              <a:defRPr sz="590" b="0">
                <a:solidFill>
                  <a:srgbClr val="263442"/>
                </a:solidFill>
                <a:latin typeface="Arial"/>
                <a:ea typeface="Arial"/>
                <a:cs typeface="Arial"/>
              </a:defRPr>
            </a:lvl2pPr>
            <a:lvl3pPr algn="ctr">
              <a:defRPr sz="590" b="0">
                <a:solidFill>
                  <a:srgbClr val="263442"/>
                </a:solidFill>
                <a:latin typeface="Arial"/>
                <a:ea typeface="Arial"/>
                <a:cs typeface="Arial"/>
              </a:defRPr>
            </a:lvl3pPr>
            <a:lvl4pPr algn="ctr">
              <a:defRPr sz="590" b="0">
                <a:solidFill>
                  <a:srgbClr val="263442"/>
                </a:solidFill>
                <a:latin typeface="Arial"/>
                <a:ea typeface="Arial"/>
                <a:cs typeface="Arial"/>
              </a:defRPr>
            </a:lvl4pPr>
            <a:lvl5pPr algn="ctr">
              <a:defRPr sz="590" b="0">
                <a:solidFill>
                  <a:srgbClr val="263442"/>
                </a:solidFill>
                <a:latin typeface="Arial"/>
                <a:ea typeface="Arial"/>
                <a:cs typeface="Arial"/>
              </a:defRPr>
            </a:lvl5pPr>
            <a:lvl6pPr algn="ctr">
              <a:defRPr sz="590" b="0">
                <a:solidFill>
                  <a:srgbClr val="263442"/>
                </a:solidFill>
                <a:latin typeface="Arial"/>
                <a:ea typeface="Arial"/>
                <a:cs typeface="Arial"/>
              </a:defRPr>
            </a:lvl6pPr>
            <a:lvl7pPr algn="ctr">
              <a:defRPr sz="590" b="0">
                <a:solidFill>
                  <a:srgbClr val="263442"/>
                </a:solidFill>
                <a:latin typeface="Arial"/>
                <a:ea typeface="Arial"/>
                <a:cs typeface="Arial"/>
              </a:defRPr>
            </a:lvl7pPr>
            <a:lvl8pPr algn="ctr">
              <a:defRPr sz="590" b="0">
                <a:solidFill>
                  <a:srgbClr val="263442"/>
                </a:solidFill>
                <a:latin typeface="Arial"/>
                <a:ea typeface="Arial"/>
                <a:cs typeface="Arial"/>
              </a:defRPr>
            </a:lvl8pPr>
            <a:lvl9pPr algn="ctr">
              <a:defRPr sz="590" b="0">
                <a:solidFill>
                  <a:srgbClr val="263442"/>
                </a:solidFill>
                <a:latin typeface="Arial"/>
                <a:ea typeface="Arial"/>
                <a:cs typeface="Arial"/>
              </a:defRPr>
            </a:lvl9pPr>
          </a:lstStyle>
          <a:p>
            <a:pPr algn="ctr">
              <a:defRPr sz="590" b="0">
                <a:solidFill>
                  <a:srgbClr val="263442"/>
                </a:solidFill>
                <a:latin typeface="Arial"/>
                <a:ea typeface="Arial"/>
                <a:cs typeface="Arial"/>
              </a:defRPr>
            </a:pPr>
            <a:r>
              <a:rPr sz="550" dirty="0">
                <a:solidFill>
                  <a:srgbClr val="263442"/>
                </a:solidFill>
                <a:latin typeface="Arial"/>
                <a:ea typeface="Arial"/>
                <a:cs typeface="Arial"/>
              </a:rPr>
              <a:t>from Find</a:t>
            </a:r>
          </a:p>
        </p:txBody>
      </p:sp>
      <p:sp>
        <p:nvSpPr>
          <p:cNvPr id="771" name="Pocket label">
            <a:extLst>
              <a:ext uri="{FF2B5EF4-FFF2-40B4-BE49-F238E27FC236}">
                <a16:creationId xmlns:a16="http://schemas.microsoft.com/office/drawing/2014/main" id="{DC9603B8-71EE-2C1D-249F-079678E93D98}"/>
              </a:ext>
            </a:extLst>
          </p:cNvPr>
          <p:cNvSpPr>
            <a:spLocks noGrp="1"/>
          </p:cNvSpPr>
          <p:nvPr/>
        </p:nvSpPr>
        <p:spPr>
          <a:xfrm>
            <a:off x="5581260" y="854408"/>
            <a:ext cx="514364" cy="101253"/>
          </a:xfrm>
          <a:prstGeom prst="rect">
            <a:avLst/>
          </a:prstGeom>
          <a:noFill/>
          <a:ln w="6885">
            <a:noFill/>
            <a:prstDash val="solid"/>
          </a:ln>
        </p:spPr>
        <p:txBody>
          <a:bodyPr lIns="0" tIns="0" rIns="0" bIns="0" anchor="ctr"/>
          <a:lstStyle>
            <a:defPPr algn="ctr">
              <a:defRPr sz="695" b="1">
                <a:solidFill>
                  <a:srgbClr val="263442"/>
                </a:solidFill>
                <a:latin typeface="Arial"/>
                <a:ea typeface="Arial"/>
                <a:cs typeface="Arial"/>
              </a:defRPr>
            </a:defPPr>
            <a:lvl1pPr algn="ctr">
              <a:defRPr sz="695" b="1">
                <a:solidFill>
                  <a:srgbClr val="263442"/>
                </a:solidFill>
                <a:latin typeface="Arial"/>
                <a:ea typeface="Arial"/>
                <a:cs typeface="Arial"/>
              </a:defRPr>
            </a:lvl1pPr>
            <a:lvl2pPr algn="ctr">
              <a:defRPr sz="695" b="1">
                <a:solidFill>
                  <a:srgbClr val="263442"/>
                </a:solidFill>
                <a:latin typeface="Arial"/>
                <a:ea typeface="Arial"/>
                <a:cs typeface="Arial"/>
              </a:defRPr>
            </a:lvl2pPr>
            <a:lvl3pPr algn="ctr">
              <a:defRPr sz="695" b="1">
                <a:solidFill>
                  <a:srgbClr val="263442"/>
                </a:solidFill>
                <a:latin typeface="Arial"/>
                <a:ea typeface="Arial"/>
                <a:cs typeface="Arial"/>
              </a:defRPr>
            </a:lvl3pPr>
            <a:lvl4pPr algn="ctr">
              <a:defRPr sz="695" b="1">
                <a:solidFill>
                  <a:srgbClr val="263442"/>
                </a:solidFill>
                <a:latin typeface="Arial"/>
                <a:ea typeface="Arial"/>
                <a:cs typeface="Arial"/>
              </a:defRPr>
            </a:lvl4pPr>
            <a:lvl5pPr algn="ctr">
              <a:defRPr sz="695" b="1">
                <a:solidFill>
                  <a:srgbClr val="263442"/>
                </a:solidFill>
                <a:latin typeface="Arial"/>
                <a:ea typeface="Arial"/>
                <a:cs typeface="Arial"/>
              </a:defRPr>
            </a:lvl5pPr>
            <a:lvl6pPr algn="ctr">
              <a:defRPr sz="695" b="1">
                <a:solidFill>
                  <a:srgbClr val="263442"/>
                </a:solidFill>
                <a:latin typeface="Arial"/>
                <a:ea typeface="Arial"/>
                <a:cs typeface="Arial"/>
              </a:defRPr>
            </a:lvl6pPr>
            <a:lvl7pPr algn="ctr">
              <a:defRPr sz="695" b="1">
                <a:solidFill>
                  <a:srgbClr val="263442"/>
                </a:solidFill>
                <a:latin typeface="Arial"/>
                <a:ea typeface="Arial"/>
                <a:cs typeface="Arial"/>
              </a:defRPr>
            </a:lvl7pPr>
            <a:lvl8pPr algn="ctr">
              <a:defRPr sz="695" b="1">
                <a:solidFill>
                  <a:srgbClr val="263442"/>
                </a:solidFill>
                <a:latin typeface="Arial"/>
                <a:ea typeface="Arial"/>
                <a:cs typeface="Arial"/>
              </a:defRPr>
            </a:lvl8pPr>
            <a:lvl9pPr algn="ctr">
              <a:defRPr sz="695" b="1">
                <a:solidFill>
                  <a:srgbClr val="263442"/>
                </a:solidFill>
                <a:latin typeface="Arial"/>
                <a:ea typeface="Arial"/>
                <a:cs typeface="Arial"/>
              </a:defRPr>
            </a:lvl9pPr>
          </a:lstStyle>
          <a:p>
            <a:pPr algn="ctr">
              <a:defRPr sz="695" b="1">
                <a:solidFill>
                  <a:srgbClr val="263442"/>
                </a:solidFill>
                <a:latin typeface="Arial"/>
                <a:ea typeface="Arial"/>
                <a:cs typeface="Arial"/>
              </a:defRPr>
            </a:pPr>
            <a:r>
              <a:rPr sz="695" b="0" dirty="0">
                <a:solidFill>
                  <a:srgbClr val="263442"/>
                </a:solidFill>
                <a:latin typeface="Arial"/>
                <a:ea typeface="Arial"/>
                <a:cs typeface="Arial"/>
              </a:rPr>
              <a:t>Pocket</a:t>
            </a:r>
          </a:p>
        </p:txBody>
      </p:sp>
      <p:sp>
        <p:nvSpPr>
          <p:cNvPr id="773" name="SMILES label">
            <a:extLst>
              <a:ext uri="{FF2B5EF4-FFF2-40B4-BE49-F238E27FC236}">
                <a16:creationId xmlns:a16="http://schemas.microsoft.com/office/drawing/2014/main" id="{25FC5404-5A0B-2BE5-8144-C74C3108E008}"/>
              </a:ext>
            </a:extLst>
          </p:cNvPr>
          <p:cNvSpPr>
            <a:spLocks noGrp="1"/>
          </p:cNvSpPr>
          <p:nvPr/>
        </p:nvSpPr>
        <p:spPr>
          <a:xfrm>
            <a:off x="4999664" y="1480722"/>
            <a:ext cx="514364" cy="101253"/>
          </a:xfrm>
          <a:prstGeom prst="rect">
            <a:avLst/>
          </a:prstGeom>
          <a:noFill/>
          <a:ln w="6885">
            <a:noFill/>
            <a:prstDash val="solid"/>
          </a:ln>
        </p:spPr>
        <p:txBody>
          <a:bodyPr lIns="0" tIns="0" rIns="0" bIns="0" anchor="ctr"/>
          <a:lstStyle>
            <a:defPPr algn="ctr">
              <a:defRPr sz="695" b="1">
                <a:solidFill>
                  <a:srgbClr val="263442"/>
                </a:solidFill>
                <a:latin typeface="Arial"/>
                <a:ea typeface="Arial"/>
                <a:cs typeface="Arial"/>
              </a:defRPr>
            </a:defPPr>
            <a:lvl1pPr algn="ctr">
              <a:defRPr sz="695" b="1">
                <a:solidFill>
                  <a:srgbClr val="263442"/>
                </a:solidFill>
                <a:latin typeface="Arial"/>
                <a:ea typeface="Arial"/>
                <a:cs typeface="Arial"/>
              </a:defRPr>
            </a:lvl1pPr>
            <a:lvl2pPr algn="ctr">
              <a:defRPr sz="695" b="1">
                <a:solidFill>
                  <a:srgbClr val="263442"/>
                </a:solidFill>
                <a:latin typeface="Arial"/>
                <a:ea typeface="Arial"/>
                <a:cs typeface="Arial"/>
              </a:defRPr>
            </a:lvl2pPr>
            <a:lvl3pPr algn="ctr">
              <a:defRPr sz="695" b="1">
                <a:solidFill>
                  <a:srgbClr val="263442"/>
                </a:solidFill>
                <a:latin typeface="Arial"/>
                <a:ea typeface="Arial"/>
                <a:cs typeface="Arial"/>
              </a:defRPr>
            </a:lvl3pPr>
            <a:lvl4pPr algn="ctr">
              <a:defRPr sz="695" b="1">
                <a:solidFill>
                  <a:srgbClr val="263442"/>
                </a:solidFill>
                <a:latin typeface="Arial"/>
                <a:ea typeface="Arial"/>
                <a:cs typeface="Arial"/>
              </a:defRPr>
            </a:lvl4pPr>
            <a:lvl5pPr algn="ctr">
              <a:defRPr sz="695" b="1">
                <a:solidFill>
                  <a:srgbClr val="263442"/>
                </a:solidFill>
                <a:latin typeface="Arial"/>
                <a:ea typeface="Arial"/>
                <a:cs typeface="Arial"/>
              </a:defRPr>
            </a:lvl5pPr>
            <a:lvl6pPr algn="ctr">
              <a:defRPr sz="695" b="1">
                <a:solidFill>
                  <a:srgbClr val="263442"/>
                </a:solidFill>
                <a:latin typeface="Arial"/>
                <a:ea typeface="Arial"/>
                <a:cs typeface="Arial"/>
              </a:defRPr>
            </a:lvl6pPr>
            <a:lvl7pPr algn="ctr">
              <a:defRPr sz="695" b="1">
                <a:solidFill>
                  <a:srgbClr val="263442"/>
                </a:solidFill>
                <a:latin typeface="Arial"/>
                <a:ea typeface="Arial"/>
                <a:cs typeface="Arial"/>
              </a:defRPr>
            </a:lvl7pPr>
            <a:lvl8pPr algn="ctr">
              <a:defRPr sz="695" b="1">
                <a:solidFill>
                  <a:srgbClr val="263442"/>
                </a:solidFill>
                <a:latin typeface="Arial"/>
                <a:ea typeface="Arial"/>
                <a:cs typeface="Arial"/>
              </a:defRPr>
            </a:lvl8pPr>
            <a:lvl9pPr algn="ctr">
              <a:defRPr sz="695" b="1">
                <a:solidFill>
                  <a:srgbClr val="263442"/>
                </a:solidFill>
                <a:latin typeface="Arial"/>
                <a:ea typeface="Arial"/>
                <a:cs typeface="Arial"/>
              </a:defRPr>
            </a:lvl9pPr>
          </a:lstStyle>
          <a:p>
            <a:pPr algn="ctr">
              <a:defRPr sz="695" b="1">
                <a:solidFill>
                  <a:srgbClr val="263442"/>
                </a:solidFill>
                <a:latin typeface="Arial"/>
                <a:ea typeface="Arial"/>
                <a:cs typeface="Arial"/>
              </a:defRPr>
            </a:pPr>
            <a:r>
              <a:rPr sz="695" b="0" dirty="0">
                <a:solidFill>
                  <a:srgbClr val="263442"/>
                </a:solidFill>
                <a:latin typeface="Arial"/>
                <a:ea typeface="Arial"/>
                <a:cs typeface="Arial"/>
              </a:rPr>
              <a:t>SMILES</a:t>
            </a:r>
          </a:p>
        </p:txBody>
      </p:sp>
      <p:sp>
        <p:nvSpPr>
          <p:cNvPr id="774" name="SMILES provenance">
            <a:extLst>
              <a:ext uri="{FF2B5EF4-FFF2-40B4-BE49-F238E27FC236}">
                <a16:creationId xmlns:a16="http://schemas.microsoft.com/office/drawing/2014/main" id="{479D80EF-A625-1889-2F4D-C74FF6E2BB39}"/>
              </a:ext>
            </a:extLst>
          </p:cNvPr>
          <p:cNvSpPr>
            <a:spLocks noGrp="1"/>
          </p:cNvSpPr>
          <p:nvPr/>
        </p:nvSpPr>
        <p:spPr>
          <a:xfrm>
            <a:off x="5005380" y="1568821"/>
            <a:ext cx="514364" cy="85052"/>
          </a:xfrm>
          <a:prstGeom prst="rect">
            <a:avLst/>
          </a:prstGeom>
          <a:noFill/>
          <a:ln w="6885">
            <a:noFill/>
            <a:prstDash val="solid"/>
          </a:ln>
        </p:spPr>
        <p:txBody>
          <a:bodyPr lIns="0" tIns="0" rIns="0" bIns="0" anchor="ctr"/>
          <a:lstStyle>
            <a:defPPr algn="ctr">
              <a:defRPr sz="590" b="0">
                <a:solidFill>
                  <a:srgbClr val="263442"/>
                </a:solidFill>
                <a:latin typeface="Arial"/>
                <a:ea typeface="Arial"/>
                <a:cs typeface="Arial"/>
              </a:defRPr>
            </a:defPPr>
            <a:lvl1pPr algn="ctr">
              <a:defRPr sz="590" b="0">
                <a:solidFill>
                  <a:srgbClr val="263442"/>
                </a:solidFill>
                <a:latin typeface="Arial"/>
                <a:ea typeface="Arial"/>
                <a:cs typeface="Arial"/>
              </a:defRPr>
            </a:lvl1pPr>
            <a:lvl2pPr algn="ctr">
              <a:defRPr sz="590" b="0">
                <a:solidFill>
                  <a:srgbClr val="263442"/>
                </a:solidFill>
                <a:latin typeface="Arial"/>
                <a:ea typeface="Arial"/>
                <a:cs typeface="Arial"/>
              </a:defRPr>
            </a:lvl2pPr>
            <a:lvl3pPr algn="ctr">
              <a:defRPr sz="590" b="0">
                <a:solidFill>
                  <a:srgbClr val="263442"/>
                </a:solidFill>
                <a:latin typeface="Arial"/>
                <a:ea typeface="Arial"/>
                <a:cs typeface="Arial"/>
              </a:defRPr>
            </a:lvl3pPr>
            <a:lvl4pPr algn="ctr">
              <a:defRPr sz="590" b="0">
                <a:solidFill>
                  <a:srgbClr val="263442"/>
                </a:solidFill>
                <a:latin typeface="Arial"/>
                <a:ea typeface="Arial"/>
                <a:cs typeface="Arial"/>
              </a:defRPr>
            </a:lvl4pPr>
            <a:lvl5pPr algn="ctr">
              <a:defRPr sz="590" b="0">
                <a:solidFill>
                  <a:srgbClr val="263442"/>
                </a:solidFill>
                <a:latin typeface="Arial"/>
                <a:ea typeface="Arial"/>
                <a:cs typeface="Arial"/>
              </a:defRPr>
            </a:lvl5pPr>
            <a:lvl6pPr algn="ctr">
              <a:defRPr sz="590" b="0">
                <a:solidFill>
                  <a:srgbClr val="263442"/>
                </a:solidFill>
                <a:latin typeface="Arial"/>
                <a:ea typeface="Arial"/>
                <a:cs typeface="Arial"/>
              </a:defRPr>
            </a:lvl6pPr>
            <a:lvl7pPr algn="ctr">
              <a:defRPr sz="590" b="0">
                <a:solidFill>
                  <a:srgbClr val="263442"/>
                </a:solidFill>
                <a:latin typeface="Arial"/>
                <a:ea typeface="Arial"/>
                <a:cs typeface="Arial"/>
              </a:defRPr>
            </a:lvl7pPr>
            <a:lvl8pPr algn="ctr">
              <a:defRPr sz="590" b="0">
                <a:solidFill>
                  <a:srgbClr val="263442"/>
                </a:solidFill>
                <a:latin typeface="Arial"/>
                <a:ea typeface="Arial"/>
                <a:cs typeface="Arial"/>
              </a:defRPr>
            </a:lvl8pPr>
            <a:lvl9pPr algn="ctr">
              <a:defRPr sz="590" b="0">
                <a:solidFill>
                  <a:srgbClr val="263442"/>
                </a:solidFill>
                <a:latin typeface="Arial"/>
                <a:ea typeface="Arial"/>
                <a:cs typeface="Arial"/>
              </a:defRPr>
            </a:lvl9pPr>
          </a:lstStyle>
          <a:p>
            <a:pPr algn="ctr">
              <a:defRPr sz="590" b="0">
                <a:solidFill>
                  <a:srgbClr val="263442"/>
                </a:solidFill>
                <a:latin typeface="Arial"/>
                <a:ea typeface="Arial"/>
                <a:cs typeface="Arial"/>
              </a:defRPr>
            </a:pPr>
            <a:r>
              <a:rPr sz="550" dirty="0">
                <a:solidFill>
                  <a:srgbClr val="263442"/>
                </a:solidFill>
                <a:latin typeface="Arial"/>
                <a:ea typeface="Arial"/>
                <a:cs typeface="Arial"/>
              </a:rPr>
              <a:t>from Match</a:t>
            </a:r>
          </a:p>
        </p:txBody>
      </p:sp>
      <p:sp>
        <p:nvSpPr>
          <p:cNvPr id="775" name="Density input label">
            <a:extLst>
              <a:ext uri="{FF2B5EF4-FFF2-40B4-BE49-F238E27FC236}">
                <a16:creationId xmlns:a16="http://schemas.microsoft.com/office/drawing/2014/main" id="{A743C77B-3F50-BBD8-13CB-52DCF781FE64}"/>
              </a:ext>
            </a:extLst>
          </p:cNvPr>
          <p:cNvSpPr>
            <a:spLocks noGrp="1"/>
          </p:cNvSpPr>
          <p:nvPr/>
        </p:nvSpPr>
        <p:spPr>
          <a:xfrm>
            <a:off x="5574918" y="1480706"/>
            <a:ext cx="514364" cy="101253"/>
          </a:xfrm>
          <a:prstGeom prst="rect">
            <a:avLst/>
          </a:prstGeom>
          <a:noFill/>
          <a:ln w="6885">
            <a:noFill/>
            <a:prstDash val="solid"/>
          </a:ln>
        </p:spPr>
        <p:txBody>
          <a:bodyPr lIns="0" tIns="0" rIns="0" bIns="0" anchor="ctr"/>
          <a:lstStyle>
            <a:defPPr algn="ctr">
              <a:defRPr sz="695" b="1">
                <a:solidFill>
                  <a:srgbClr val="263442"/>
                </a:solidFill>
                <a:latin typeface="Arial"/>
                <a:ea typeface="Arial"/>
                <a:cs typeface="Arial"/>
              </a:defRPr>
            </a:defPPr>
            <a:lvl1pPr algn="ctr">
              <a:defRPr sz="695" b="1">
                <a:solidFill>
                  <a:srgbClr val="263442"/>
                </a:solidFill>
                <a:latin typeface="Arial"/>
                <a:ea typeface="Arial"/>
                <a:cs typeface="Arial"/>
              </a:defRPr>
            </a:lvl1pPr>
            <a:lvl2pPr algn="ctr">
              <a:defRPr sz="695" b="1">
                <a:solidFill>
                  <a:srgbClr val="263442"/>
                </a:solidFill>
                <a:latin typeface="Arial"/>
                <a:ea typeface="Arial"/>
                <a:cs typeface="Arial"/>
              </a:defRPr>
            </a:lvl2pPr>
            <a:lvl3pPr algn="ctr">
              <a:defRPr sz="695" b="1">
                <a:solidFill>
                  <a:srgbClr val="263442"/>
                </a:solidFill>
                <a:latin typeface="Arial"/>
                <a:ea typeface="Arial"/>
                <a:cs typeface="Arial"/>
              </a:defRPr>
            </a:lvl3pPr>
            <a:lvl4pPr algn="ctr">
              <a:defRPr sz="695" b="1">
                <a:solidFill>
                  <a:srgbClr val="263442"/>
                </a:solidFill>
                <a:latin typeface="Arial"/>
                <a:ea typeface="Arial"/>
                <a:cs typeface="Arial"/>
              </a:defRPr>
            </a:lvl4pPr>
            <a:lvl5pPr algn="ctr">
              <a:defRPr sz="695" b="1">
                <a:solidFill>
                  <a:srgbClr val="263442"/>
                </a:solidFill>
                <a:latin typeface="Arial"/>
                <a:ea typeface="Arial"/>
                <a:cs typeface="Arial"/>
              </a:defRPr>
            </a:lvl5pPr>
            <a:lvl6pPr algn="ctr">
              <a:defRPr sz="695" b="1">
                <a:solidFill>
                  <a:srgbClr val="263442"/>
                </a:solidFill>
                <a:latin typeface="Arial"/>
                <a:ea typeface="Arial"/>
                <a:cs typeface="Arial"/>
              </a:defRPr>
            </a:lvl6pPr>
            <a:lvl7pPr algn="ctr">
              <a:defRPr sz="695" b="1">
                <a:solidFill>
                  <a:srgbClr val="263442"/>
                </a:solidFill>
                <a:latin typeface="Arial"/>
                <a:ea typeface="Arial"/>
                <a:cs typeface="Arial"/>
              </a:defRPr>
            </a:lvl7pPr>
            <a:lvl8pPr algn="ctr">
              <a:defRPr sz="695" b="1">
                <a:solidFill>
                  <a:srgbClr val="263442"/>
                </a:solidFill>
                <a:latin typeface="Arial"/>
                <a:ea typeface="Arial"/>
                <a:cs typeface="Arial"/>
              </a:defRPr>
            </a:lvl8pPr>
            <a:lvl9pPr algn="ctr">
              <a:defRPr sz="695" b="1">
                <a:solidFill>
                  <a:srgbClr val="263442"/>
                </a:solidFill>
                <a:latin typeface="Arial"/>
                <a:ea typeface="Arial"/>
                <a:cs typeface="Arial"/>
              </a:defRPr>
            </a:lvl9pPr>
          </a:lstStyle>
          <a:p>
            <a:pPr algn="ctr">
              <a:defRPr sz="695" b="1">
                <a:solidFill>
                  <a:srgbClr val="263442"/>
                </a:solidFill>
                <a:latin typeface="Arial"/>
                <a:ea typeface="Arial"/>
                <a:cs typeface="Arial"/>
              </a:defRPr>
            </a:pPr>
            <a:r>
              <a:rPr sz="695" b="0" dirty="0">
                <a:solidFill>
                  <a:srgbClr val="263442"/>
                </a:solidFill>
                <a:latin typeface="Arial"/>
                <a:ea typeface="Arial"/>
                <a:cs typeface="Arial"/>
              </a:rPr>
              <a:t>Density</a:t>
            </a:r>
          </a:p>
        </p:txBody>
      </p:sp>
      <p:pic>
        <p:nvPicPr>
          <p:cNvPr id="967" name="Build corresponding experimental density" descr="Experimental 9LLG density around chain C1 of the displayed CryoAtom2 receptor, at the original contour level and the identical camera orientation.">
            <a:extLst>
              <a:ext uri="{FF2B5EF4-FFF2-40B4-BE49-F238E27FC236}">
                <a16:creationId xmlns:a16="http://schemas.microsoft.com/office/drawing/2014/main" id="{485B6500-58C3-8694-DCBD-D5824BAE6312}"/>
              </a:ext>
            </a:extLst>
          </p:cNvPr>
          <p:cNvPicPr/>
          <p:nvPr/>
        </p:nvPicPr>
        <p:blipFill>
          <a:blip r:embed="rId4"/>
          <a:stretch>
            <a:fillRect/>
          </a:stretch>
        </p:blipFill>
        <p:spPr>
          <a:xfrm>
            <a:off x="5657542" y="1104265"/>
            <a:ext cx="361766" cy="345440"/>
          </a:xfrm>
          <a:prstGeom prst="rect">
            <a:avLst/>
          </a:prstGeom>
        </p:spPr>
      </p:pic>
      <p:sp>
        <p:nvSpPr>
          <p:cNvPr id="1484" name="V8 Build site and identity frame">
            <a:extLst>
              <a:ext uri="{FF2B5EF4-FFF2-40B4-BE49-F238E27FC236}">
                <a16:creationId xmlns:a16="http://schemas.microsoft.com/office/drawing/2014/main" id="{9328B906-0B87-B09E-FB06-A9A62F2CE298}"/>
              </a:ext>
            </a:extLst>
          </p:cNvPr>
          <p:cNvSpPr/>
          <p:nvPr/>
        </p:nvSpPr>
        <p:spPr>
          <a:xfrm>
            <a:off x="4996634" y="457662"/>
            <a:ext cx="519754" cy="1228090"/>
          </a:xfrm>
          <a:prstGeom prst="roundRect">
            <a:avLst>
              <a:gd name="adj" fmla="val 5556"/>
            </a:avLst>
          </a:prstGeom>
          <a:noFill/>
          <a:ln w="6985" cap="rnd">
            <a:solidFill>
              <a:srgbClr val="D5CCB8"/>
            </a:solidFill>
            <a:prstDash val="dash"/>
            <a:round/>
          </a:ln>
        </p:spPr>
      </p:sp>
      <p:sp>
        <p:nvSpPr>
          <p:cNvPr id="1485" name="V8 Build pocket and density frame">
            <a:extLst>
              <a:ext uri="{FF2B5EF4-FFF2-40B4-BE49-F238E27FC236}">
                <a16:creationId xmlns:a16="http://schemas.microsoft.com/office/drawing/2014/main" id="{1B6C4D97-E5BD-5494-DBFC-E1D9BAB5B434}"/>
              </a:ext>
            </a:extLst>
          </p:cNvPr>
          <p:cNvSpPr/>
          <p:nvPr/>
        </p:nvSpPr>
        <p:spPr>
          <a:xfrm>
            <a:off x="5564187" y="456353"/>
            <a:ext cx="527685" cy="1228090"/>
          </a:xfrm>
          <a:prstGeom prst="roundRect">
            <a:avLst>
              <a:gd name="adj" fmla="val 6477"/>
            </a:avLst>
          </a:prstGeom>
          <a:noFill/>
          <a:ln w="6985" cap="rnd">
            <a:solidFill>
              <a:srgbClr val="D5CCB8"/>
            </a:solidFill>
            <a:prstDash val="dash"/>
            <a:round/>
          </a:ln>
        </p:spPr>
      </p:sp>
      <p:grpSp>
        <p:nvGrpSpPr>
          <p:cNvPr id="22" name="Match | Blob contour">
            <a:extLst>
              <a:ext uri="{FF2B5EF4-FFF2-40B4-BE49-F238E27FC236}">
                <a16:creationId xmlns:a16="http://schemas.microsoft.com/office/drawing/2014/main" id="{89DCA6D5-3679-D415-5BE5-92A67333541D}"/>
              </a:ext>
            </a:extLst>
          </p:cNvPr>
          <p:cNvGrpSpPr/>
          <p:nvPr/>
        </p:nvGrpSpPr>
        <p:grpSpPr>
          <a:xfrm>
            <a:off x="5095498" y="565131"/>
            <a:ext cx="291608" cy="199265"/>
            <a:chOff x="1928706" y="3559489"/>
            <a:chExt cx="227897" cy="155682"/>
          </a:xfrm>
        </p:grpSpPr>
        <p:sp>
          <p:nvSpPr>
            <p:cNvPr id="24" name="Candidate blob | editable contour">
              <a:extLst>
                <a:ext uri="{FF2B5EF4-FFF2-40B4-BE49-F238E27FC236}">
                  <a16:creationId xmlns:a16="http://schemas.microsoft.com/office/drawing/2014/main" id="{CEDDC562-8935-F160-6BF6-FBDE4980A530}"/>
                </a:ext>
              </a:extLst>
            </p:cNvPr>
            <p:cNvSpPr/>
            <p:nvPr/>
          </p:nvSpPr>
          <p:spPr>
            <a:xfrm>
              <a:off x="1928706" y="3559489"/>
              <a:ext cx="227897" cy="155682"/>
            </a:xfrm>
            <a:custGeom>
              <a:avLst/>
              <a:gdLst/>
              <a:ahLst/>
              <a:cxnLst/>
              <a:rect l="0" t="0" r="w" b="h"/>
              <a:pathLst>
                <a:path w="227897" h="155682" extrusionOk="0">
                  <a:moveTo>
                    <a:pt x="5338" y="97866"/>
                  </a:moveTo>
                  <a:cubicBezTo>
                    <a:pt x="0" y="80701"/>
                    <a:pt x="18889" y="54504"/>
                    <a:pt x="29976" y="43663"/>
                  </a:cubicBezTo>
                  <a:cubicBezTo>
                    <a:pt x="41062" y="32823"/>
                    <a:pt x="58719" y="39447"/>
                    <a:pt x="71859" y="32823"/>
                  </a:cubicBezTo>
                  <a:cubicBezTo>
                    <a:pt x="84999" y="26198"/>
                    <a:pt x="92391" y="7829"/>
                    <a:pt x="108816" y="3915"/>
                  </a:cubicBezTo>
                  <a:cubicBezTo>
                    <a:pt x="125241" y="0"/>
                    <a:pt x="153984" y="3613"/>
                    <a:pt x="170409" y="9335"/>
                  </a:cubicBezTo>
                  <a:cubicBezTo>
                    <a:pt x="186834" y="15056"/>
                    <a:pt x="198332" y="26198"/>
                    <a:pt x="207366" y="38243"/>
                  </a:cubicBezTo>
                  <a:cubicBezTo>
                    <a:pt x="216399" y="50288"/>
                    <a:pt x="227897" y="67151"/>
                    <a:pt x="224612" y="81605"/>
                  </a:cubicBezTo>
                  <a:cubicBezTo>
                    <a:pt x="221327" y="96059"/>
                    <a:pt x="203259" y="113223"/>
                    <a:pt x="187656" y="124967"/>
                  </a:cubicBezTo>
                  <a:cubicBezTo>
                    <a:pt x="172052" y="136711"/>
                    <a:pt x="151931" y="148455"/>
                    <a:pt x="130989" y="152068"/>
                  </a:cubicBezTo>
                  <a:cubicBezTo>
                    <a:pt x="110048" y="155682"/>
                    <a:pt x="82946" y="155682"/>
                    <a:pt x="62004" y="146648"/>
                  </a:cubicBezTo>
                  <a:cubicBezTo>
                    <a:pt x="41062" y="137614"/>
                    <a:pt x="10676" y="115030"/>
                    <a:pt x="5338" y="97866"/>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26" name="ellipse_2612">
              <a:extLst>
                <a:ext uri="{FF2B5EF4-FFF2-40B4-BE49-F238E27FC236}">
                  <a16:creationId xmlns:a16="http://schemas.microsoft.com/office/drawing/2014/main" id="{9A6165B9-D072-913F-4F98-07DF1CDFAD91}"/>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sp>
        <p:nvSpPr>
          <p:cNvPr id="27" name="Oval 12178">
            <a:extLst>
              <a:ext uri="{FF2B5EF4-FFF2-40B4-BE49-F238E27FC236}">
                <a16:creationId xmlns:a16="http://schemas.microsoft.com/office/drawing/2014/main" id="{BDE1AB30-8167-E025-0D16-C21F1775FD9B}"/>
              </a:ext>
            </a:extLst>
          </p:cNvPr>
          <p:cNvSpPr/>
          <p:nvPr/>
        </p:nvSpPr>
        <p:spPr>
          <a:xfrm>
            <a:off x="5224292" y="648563"/>
            <a:ext cx="34426" cy="34426"/>
          </a:xfrm>
          <a:prstGeom prst="ellipse">
            <a:avLst/>
          </a:prstGeom>
          <a:solidFill>
            <a:srgbClr val="1D4ED8"/>
          </a:solidFill>
          <a:ln w="635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pic>
        <p:nvPicPr>
          <p:cNvPr id="50483" name="图片 50482">
            <a:extLst>
              <a:ext uri="{FF2B5EF4-FFF2-40B4-BE49-F238E27FC236}">
                <a16:creationId xmlns:a16="http://schemas.microsoft.com/office/drawing/2014/main" id="{990BCBFC-9DD9-25BB-4CA2-DDF352D8C2FA}"/>
              </a:ext>
            </a:extLst>
          </p:cNvPr>
          <p:cNvPicPr>
            <a:picLocks noChangeAspect="1"/>
          </p:cNvPicPr>
          <p:nvPr/>
        </p:nvPicPr>
        <p:blipFill>
          <a:blip r:embed="rId5"/>
          <a:stretch/>
        </p:blipFill>
        <p:spPr>
          <a:xfrm>
            <a:off x="5631445" y="485775"/>
            <a:ext cx="414760" cy="342900"/>
          </a:xfrm>
          <a:prstGeom prst="rect">
            <a:avLst/>
          </a:prstGeom>
        </p:spPr>
      </p:pic>
      <p:sp>
        <p:nvSpPr>
          <p:cNvPr id="50484" name="F2-Build-selected">
            <a:extLst>
              <a:ext uri="{FF2B5EF4-FFF2-40B4-BE49-F238E27FC236}">
                <a16:creationId xmlns:a16="http://schemas.microsoft.com/office/drawing/2014/main" id="{6A2264C7-4360-FCD2-C7A2-680D5A04551A}"/>
              </a:ext>
            </a:extLst>
          </p:cNvPr>
          <p:cNvSpPr>
            <a:spLocks noGrp="1"/>
          </p:cNvSpPr>
          <p:nvPr/>
        </p:nvSpPr>
        <p:spPr>
          <a:xfrm>
            <a:off x="5054601" y="1283549"/>
            <a:ext cx="390525" cy="81915"/>
          </a:xfrm>
          <a:prstGeom prst="roundRect">
            <a:avLst>
              <a:gd name="adj" fmla="val 50000"/>
            </a:avLst>
          </a:prstGeom>
          <a:solidFill>
            <a:srgbClr val="DCF8EB"/>
          </a:solidFill>
          <a:ln w="7144">
            <a:solidFill>
              <a:srgbClr val="499D86"/>
            </a:solidFill>
          </a:ln>
        </p:spPr>
      </p:sp>
      <p:sp>
        <p:nvSpPr>
          <p:cNvPr id="50485" name="F2-Build-SMILES-0">
            <a:extLst>
              <a:ext uri="{FF2B5EF4-FFF2-40B4-BE49-F238E27FC236}">
                <a16:creationId xmlns:a16="http://schemas.microsoft.com/office/drawing/2014/main" id="{4008C2B1-D1D4-0B7F-4728-77E5B8661720}"/>
              </a:ext>
            </a:extLst>
          </p:cNvPr>
          <p:cNvSpPr>
            <a:spLocks noGrp="1"/>
          </p:cNvSpPr>
          <p:nvPr/>
        </p:nvSpPr>
        <p:spPr>
          <a:xfrm>
            <a:off x="5101503" y="1136660"/>
            <a:ext cx="361950" cy="74295"/>
          </a:xfrm>
          <a:prstGeom prst="rect">
            <a:avLst/>
          </a:prstGeom>
          <a:noFill/>
          <a:ln w="0">
            <a:noFill/>
          </a:ln>
        </p:spPr>
        <p:txBody>
          <a:bodyPr wrap="none" lIns="0" tIns="0" rIns="0" bIns="0" anchor="ctr">
            <a:noAutofit/>
          </a:bodyPr>
          <a:lstStyle>
            <a:defPPr algn="l">
              <a:defRPr sz="540" b="0">
                <a:solidFill>
                  <a:srgbClr val="263442"/>
                </a:solidFill>
                <a:latin typeface="Arial"/>
                <a:ea typeface="Arial"/>
                <a:cs typeface="Arial"/>
              </a:defRPr>
            </a:defPPr>
            <a:lvl1pPr algn="l">
              <a:defRPr sz="540" b="0">
                <a:solidFill>
                  <a:srgbClr val="263442"/>
                </a:solidFill>
                <a:latin typeface="Arial"/>
                <a:ea typeface="Arial"/>
                <a:cs typeface="Arial"/>
              </a:defRPr>
            </a:lvl1pPr>
            <a:lvl2pPr algn="l">
              <a:defRPr sz="540" b="0">
                <a:solidFill>
                  <a:srgbClr val="263442"/>
                </a:solidFill>
                <a:latin typeface="Arial"/>
                <a:ea typeface="Arial"/>
                <a:cs typeface="Arial"/>
              </a:defRPr>
            </a:lvl2pPr>
            <a:lvl3pPr algn="l">
              <a:defRPr sz="540" b="0">
                <a:solidFill>
                  <a:srgbClr val="263442"/>
                </a:solidFill>
                <a:latin typeface="Arial"/>
                <a:ea typeface="Arial"/>
                <a:cs typeface="Arial"/>
              </a:defRPr>
            </a:lvl3pPr>
            <a:lvl4pPr algn="l">
              <a:defRPr sz="540" b="0">
                <a:solidFill>
                  <a:srgbClr val="263442"/>
                </a:solidFill>
                <a:latin typeface="Arial"/>
                <a:ea typeface="Arial"/>
                <a:cs typeface="Arial"/>
              </a:defRPr>
            </a:lvl4pPr>
            <a:lvl5pPr algn="l">
              <a:defRPr sz="540" b="0">
                <a:solidFill>
                  <a:srgbClr val="263442"/>
                </a:solidFill>
                <a:latin typeface="Arial"/>
                <a:ea typeface="Arial"/>
                <a:cs typeface="Arial"/>
              </a:defRPr>
            </a:lvl5pPr>
            <a:lvl6pPr algn="l">
              <a:defRPr sz="540" b="0">
                <a:solidFill>
                  <a:srgbClr val="263442"/>
                </a:solidFill>
                <a:latin typeface="Arial"/>
                <a:ea typeface="Arial"/>
                <a:cs typeface="Arial"/>
              </a:defRPr>
            </a:lvl6pPr>
            <a:lvl7pPr algn="l">
              <a:defRPr sz="540" b="0">
                <a:solidFill>
                  <a:srgbClr val="263442"/>
                </a:solidFill>
                <a:latin typeface="Arial"/>
                <a:ea typeface="Arial"/>
                <a:cs typeface="Arial"/>
              </a:defRPr>
            </a:lvl7pPr>
            <a:lvl8pPr algn="l">
              <a:defRPr sz="540" b="0">
                <a:solidFill>
                  <a:srgbClr val="263442"/>
                </a:solidFill>
                <a:latin typeface="Arial"/>
                <a:ea typeface="Arial"/>
                <a:cs typeface="Arial"/>
              </a:defRPr>
            </a:lvl8pPr>
            <a:lvl9pPr algn="l">
              <a:defRPr sz="540" b="0">
                <a:solidFill>
                  <a:srgbClr val="263442"/>
                </a:solidFill>
                <a:latin typeface="Arial"/>
                <a:ea typeface="Arial"/>
                <a:cs typeface="Arial"/>
              </a:defRPr>
            </a:lvl9pPr>
          </a:lstStyle>
          <a:p>
            <a:pPr algn="l">
              <a:defRPr sz="540" b="0">
                <a:solidFill>
                  <a:srgbClr val="263442"/>
                </a:solidFill>
                <a:latin typeface="Arial"/>
                <a:ea typeface="Arial"/>
                <a:cs typeface="Arial"/>
              </a:defRPr>
            </a:pPr>
            <a:r>
              <a:rPr sz="480" b="0" dirty="0">
                <a:solidFill>
                  <a:srgbClr val="263442"/>
                </a:solidFill>
                <a:latin typeface="Arial"/>
                <a:ea typeface="Arial"/>
                <a:cs typeface="Arial"/>
              </a:rPr>
              <a:t>CCO</a:t>
            </a:r>
          </a:p>
        </p:txBody>
      </p:sp>
      <p:sp>
        <p:nvSpPr>
          <p:cNvPr id="50486" name="F2-Build-SMILES-7.8">
            <a:extLst>
              <a:ext uri="{FF2B5EF4-FFF2-40B4-BE49-F238E27FC236}">
                <a16:creationId xmlns:a16="http://schemas.microsoft.com/office/drawing/2014/main" id="{86B011E1-6EAB-6837-DA53-54E94AA085EC}"/>
              </a:ext>
            </a:extLst>
          </p:cNvPr>
          <p:cNvSpPr>
            <a:spLocks noGrp="1"/>
          </p:cNvSpPr>
          <p:nvPr/>
        </p:nvSpPr>
        <p:spPr>
          <a:xfrm>
            <a:off x="5101503" y="1199841"/>
            <a:ext cx="361950" cy="74295"/>
          </a:xfrm>
          <a:prstGeom prst="rect">
            <a:avLst/>
          </a:prstGeom>
          <a:noFill/>
          <a:ln w="0">
            <a:noFill/>
          </a:ln>
        </p:spPr>
        <p:txBody>
          <a:bodyPr wrap="none" lIns="0" tIns="0" rIns="0" bIns="0" anchor="ctr">
            <a:noAutofit/>
          </a:bodyPr>
          <a:lstStyle>
            <a:defPPr algn="l">
              <a:defRPr sz="540" b="0">
                <a:solidFill>
                  <a:srgbClr val="263442"/>
                </a:solidFill>
                <a:latin typeface="Arial"/>
                <a:ea typeface="Arial"/>
                <a:cs typeface="Arial"/>
              </a:defRPr>
            </a:defPPr>
            <a:lvl1pPr algn="l">
              <a:defRPr sz="540" b="0">
                <a:solidFill>
                  <a:srgbClr val="263442"/>
                </a:solidFill>
                <a:latin typeface="Arial"/>
                <a:ea typeface="Arial"/>
                <a:cs typeface="Arial"/>
              </a:defRPr>
            </a:lvl1pPr>
            <a:lvl2pPr algn="l">
              <a:defRPr sz="540" b="0">
                <a:solidFill>
                  <a:srgbClr val="263442"/>
                </a:solidFill>
                <a:latin typeface="Arial"/>
                <a:ea typeface="Arial"/>
                <a:cs typeface="Arial"/>
              </a:defRPr>
            </a:lvl2pPr>
            <a:lvl3pPr algn="l">
              <a:defRPr sz="540" b="0">
                <a:solidFill>
                  <a:srgbClr val="263442"/>
                </a:solidFill>
                <a:latin typeface="Arial"/>
                <a:ea typeface="Arial"/>
                <a:cs typeface="Arial"/>
              </a:defRPr>
            </a:lvl3pPr>
            <a:lvl4pPr algn="l">
              <a:defRPr sz="540" b="0">
                <a:solidFill>
                  <a:srgbClr val="263442"/>
                </a:solidFill>
                <a:latin typeface="Arial"/>
                <a:ea typeface="Arial"/>
                <a:cs typeface="Arial"/>
              </a:defRPr>
            </a:lvl4pPr>
            <a:lvl5pPr algn="l">
              <a:defRPr sz="540" b="0">
                <a:solidFill>
                  <a:srgbClr val="263442"/>
                </a:solidFill>
                <a:latin typeface="Arial"/>
                <a:ea typeface="Arial"/>
                <a:cs typeface="Arial"/>
              </a:defRPr>
            </a:lvl5pPr>
            <a:lvl6pPr algn="l">
              <a:defRPr sz="540" b="0">
                <a:solidFill>
                  <a:srgbClr val="263442"/>
                </a:solidFill>
                <a:latin typeface="Arial"/>
                <a:ea typeface="Arial"/>
                <a:cs typeface="Arial"/>
              </a:defRPr>
            </a:lvl6pPr>
            <a:lvl7pPr algn="l">
              <a:defRPr sz="540" b="0">
                <a:solidFill>
                  <a:srgbClr val="263442"/>
                </a:solidFill>
                <a:latin typeface="Arial"/>
                <a:ea typeface="Arial"/>
                <a:cs typeface="Arial"/>
              </a:defRPr>
            </a:lvl7pPr>
            <a:lvl8pPr algn="l">
              <a:defRPr sz="540" b="0">
                <a:solidFill>
                  <a:srgbClr val="263442"/>
                </a:solidFill>
                <a:latin typeface="Arial"/>
                <a:ea typeface="Arial"/>
                <a:cs typeface="Arial"/>
              </a:defRPr>
            </a:lvl8pPr>
            <a:lvl9pPr algn="l">
              <a:defRPr sz="540" b="0">
                <a:solidFill>
                  <a:srgbClr val="263442"/>
                </a:solidFill>
                <a:latin typeface="Arial"/>
                <a:ea typeface="Arial"/>
                <a:cs typeface="Arial"/>
              </a:defRPr>
            </a:lvl9pPr>
          </a:lstStyle>
          <a:p>
            <a:pPr>
              <a:defRPr sz="540" b="0">
                <a:solidFill>
                  <a:srgbClr val="263442"/>
                </a:solidFill>
                <a:latin typeface="Arial"/>
                <a:ea typeface="Arial"/>
                <a:cs typeface="Arial"/>
              </a:defRPr>
            </a:pPr>
            <a:r>
              <a:rPr sz="480" dirty="0"/>
              <a:t>CC(=O)O</a:t>
            </a:r>
          </a:p>
        </p:txBody>
      </p:sp>
      <p:sp>
        <p:nvSpPr>
          <p:cNvPr id="50487" name="F2-Build-continuation">
            <a:extLst>
              <a:ext uri="{FF2B5EF4-FFF2-40B4-BE49-F238E27FC236}">
                <a16:creationId xmlns:a16="http://schemas.microsoft.com/office/drawing/2014/main" id="{57445525-DCC1-B4E7-E3C5-43F5AED1AAB1}"/>
              </a:ext>
            </a:extLst>
          </p:cNvPr>
          <p:cNvSpPr>
            <a:spLocks noGrp="1"/>
          </p:cNvSpPr>
          <p:nvPr/>
        </p:nvSpPr>
        <p:spPr>
          <a:xfrm>
            <a:off x="5106267" y="1268735"/>
            <a:ext cx="6668" cy="6668"/>
          </a:xfrm>
          <a:prstGeom prst="ellipse">
            <a:avLst/>
          </a:prstGeom>
          <a:solidFill>
            <a:srgbClr val="687780"/>
          </a:solidFill>
          <a:ln w="0">
            <a:noFill/>
          </a:ln>
        </p:spPr>
      </p:sp>
      <p:sp>
        <p:nvSpPr>
          <p:cNvPr id="50488" name="F2-Build-continuation">
            <a:extLst>
              <a:ext uri="{FF2B5EF4-FFF2-40B4-BE49-F238E27FC236}">
                <a16:creationId xmlns:a16="http://schemas.microsoft.com/office/drawing/2014/main" id="{D8380CD8-B1B4-24DE-92C0-E1C222863213}"/>
              </a:ext>
            </a:extLst>
          </p:cNvPr>
          <p:cNvSpPr>
            <a:spLocks noGrp="1"/>
          </p:cNvSpPr>
          <p:nvPr/>
        </p:nvSpPr>
        <p:spPr>
          <a:xfrm>
            <a:off x="5119918" y="1268735"/>
            <a:ext cx="6668" cy="6668"/>
          </a:xfrm>
          <a:prstGeom prst="ellipse">
            <a:avLst/>
          </a:prstGeom>
          <a:solidFill>
            <a:srgbClr val="687780"/>
          </a:solidFill>
          <a:ln w="0">
            <a:noFill/>
          </a:ln>
        </p:spPr>
      </p:sp>
      <p:sp>
        <p:nvSpPr>
          <p:cNvPr id="50489" name="F2-Build-continuation">
            <a:extLst>
              <a:ext uri="{FF2B5EF4-FFF2-40B4-BE49-F238E27FC236}">
                <a16:creationId xmlns:a16="http://schemas.microsoft.com/office/drawing/2014/main" id="{A87F8D1D-D087-B895-3967-34FD7403FA3D}"/>
              </a:ext>
            </a:extLst>
          </p:cNvPr>
          <p:cNvSpPr>
            <a:spLocks noGrp="1"/>
          </p:cNvSpPr>
          <p:nvPr/>
        </p:nvSpPr>
        <p:spPr>
          <a:xfrm>
            <a:off x="5135157" y="1268735"/>
            <a:ext cx="6668" cy="6668"/>
          </a:xfrm>
          <a:prstGeom prst="ellipse">
            <a:avLst/>
          </a:prstGeom>
          <a:solidFill>
            <a:srgbClr val="687780"/>
          </a:solidFill>
          <a:ln w="0">
            <a:noFill/>
          </a:ln>
        </p:spPr>
      </p:sp>
      <p:sp>
        <p:nvSpPr>
          <p:cNvPr id="50490" name="F2-Build-SMILES-19.8">
            <a:extLst>
              <a:ext uri="{FF2B5EF4-FFF2-40B4-BE49-F238E27FC236}">
                <a16:creationId xmlns:a16="http://schemas.microsoft.com/office/drawing/2014/main" id="{8D1E4611-7807-D068-11D8-0FDDECDECA18}"/>
              </a:ext>
            </a:extLst>
          </p:cNvPr>
          <p:cNvSpPr>
            <a:spLocks noGrp="1"/>
          </p:cNvSpPr>
          <p:nvPr/>
        </p:nvSpPr>
        <p:spPr>
          <a:xfrm>
            <a:off x="5101503" y="1285559"/>
            <a:ext cx="361950" cy="74295"/>
          </a:xfrm>
          <a:prstGeom prst="rect">
            <a:avLst/>
          </a:prstGeom>
          <a:noFill/>
          <a:ln w="0">
            <a:noFill/>
          </a:ln>
        </p:spPr>
        <p:txBody>
          <a:bodyPr wrap="none" lIns="0" tIns="0" rIns="0" bIns="0" anchor="ctr">
            <a:noAutofit/>
          </a:bodyPr>
          <a:lstStyle>
            <a:defPPr algn="l">
              <a:defRPr sz="540" b="0">
                <a:solidFill>
                  <a:srgbClr val="24634E"/>
                </a:solidFill>
                <a:latin typeface="Arial"/>
                <a:ea typeface="Arial"/>
                <a:cs typeface="Arial"/>
              </a:defRPr>
            </a:defPPr>
            <a:lvl1pPr algn="l">
              <a:defRPr sz="540" b="0">
                <a:solidFill>
                  <a:srgbClr val="24634E"/>
                </a:solidFill>
                <a:latin typeface="Arial"/>
                <a:ea typeface="Arial"/>
                <a:cs typeface="Arial"/>
              </a:defRPr>
            </a:lvl1pPr>
            <a:lvl2pPr algn="l">
              <a:defRPr sz="540" b="0">
                <a:solidFill>
                  <a:srgbClr val="24634E"/>
                </a:solidFill>
                <a:latin typeface="Arial"/>
                <a:ea typeface="Arial"/>
                <a:cs typeface="Arial"/>
              </a:defRPr>
            </a:lvl2pPr>
            <a:lvl3pPr algn="l">
              <a:defRPr sz="540" b="0">
                <a:solidFill>
                  <a:srgbClr val="24634E"/>
                </a:solidFill>
                <a:latin typeface="Arial"/>
                <a:ea typeface="Arial"/>
                <a:cs typeface="Arial"/>
              </a:defRPr>
            </a:lvl3pPr>
            <a:lvl4pPr algn="l">
              <a:defRPr sz="540" b="0">
                <a:solidFill>
                  <a:srgbClr val="24634E"/>
                </a:solidFill>
                <a:latin typeface="Arial"/>
                <a:ea typeface="Arial"/>
                <a:cs typeface="Arial"/>
              </a:defRPr>
            </a:lvl4pPr>
            <a:lvl5pPr algn="l">
              <a:defRPr sz="540" b="0">
                <a:solidFill>
                  <a:srgbClr val="24634E"/>
                </a:solidFill>
                <a:latin typeface="Arial"/>
                <a:ea typeface="Arial"/>
                <a:cs typeface="Arial"/>
              </a:defRPr>
            </a:lvl5pPr>
            <a:lvl6pPr algn="l">
              <a:defRPr sz="540" b="0">
                <a:solidFill>
                  <a:srgbClr val="24634E"/>
                </a:solidFill>
                <a:latin typeface="Arial"/>
                <a:ea typeface="Arial"/>
                <a:cs typeface="Arial"/>
              </a:defRPr>
            </a:lvl6pPr>
            <a:lvl7pPr algn="l">
              <a:defRPr sz="540" b="0">
                <a:solidFill>
                  <a:srgbClr val="24634E"/>
                </a:solidFill>
                <a:latin typeface="Arial"/>
                <a:ea typeface="Arial"/>
                <a:cs typeface="Arial"/>
              </a:defRPr>
            </a:lvl7pPr>
            <a:lvl8pPr algn="l">
              <a:defRPr sz="540" b="0">
                <a:solidFill>
                  <a:srgbClr val="24634E"/>
                </a:solidFill>
                <a:latin typeface="Arial"/>
                <a:ea typeface="Arial"/>
                <a:cs typeface="Arial"/>
              </a:defRPr>
            </a:lvl8pPr>
            <a:lvl9pPr algn="l">
              <a:defRPr sz="540" b="0">
                <a:solidFill>
                  <a:srgbClr val="24634E"/>
                </a:solidFill>
                <a:latin typeface="Arial"/>
                <a:ea typeface="Arial"/>
                <a:cs typeface="Arial"/>
              </a:defRPr>
            </a:lvl9pPr>
          </a:lstStyle>
          <a:p>
            <a:pPr>
              <a:defRPr sz="540" b="0">
                <a:solidFill>
                  <a:srgbClr val="263442"/>
                </a:solidFill>
                <a:latin typeface="Arial"/>
                <a:ea typeface="Arial"/>
                <a:cs typeface="Arial"/>
              </a:defRPr>
            </a:pPr>
            <a:r>
              <a:rPr sz="480" dirty="0">
                <a:solidFill>
                  <a:srgbClr val="263442"/>
                </a:solidFill>
              </a:rPr>
              <a:t>Cc1ccccc1</a:t>
            </a:r>
          </a:p>
        </p:txBody>
      </p:sp>
      <p:sp>
        <p:nvSpPr>
          <p:cNvPr id="50491" name="F2-Build-SMILES-27.599999999999998">
            <a:extLst>
              <a:ext uri="{FF2B5EF4-FFF2-40B4-BE49-F238E27FC236}">
                <a16:creationId xmlns:a16="http://schemas.microsoft.com/office/drawing/2014/main" id="{7C479AF4-50FE-543B-B4FD-111B42F262AA}"/>
              </a:ext>
            </a:extLst>
          </p:cNvPr>
          <p:cNvSpPr>
            <a:spLocks noGrp="1"/>
          </p:cNvSpPr>
          <p:nvPr/>
        </p:nvSpPr>
        <p:spPr>
          <a:xfrm>
            <a:off x="5101503" y="1359854"/>
            <a:ext cx="361950" cy="74295"/>
          </a:xfrm>
          <a:prstGeom prst="rect">
            <a:avLst/>
          </a:prstGeom>
          <a:noFill/>
          <a:ln w="0">
            <a:noFill/>
          </a:ln>
        </p:spPr>
        <p:txBody>
          <a:bodyPr wrap="none" lIns="0" tIns="0" rIns="0" bIns="0" anchor="ctr">
            <a:noAutofit/>
          </a:bodyPr>
          <a:lstStyle>
            <a:defPPr algn="l">
              <a:defRPr sz="540" b="0">
                <a:solidFill>
                  <a:srgbClr val="263442"/>
                </a:solidFill>
                <a:latin typeface="Arial"/>
                <a:ea typeface="Arial"/>
                <a:cs typeface="Arial"/>
              </a:defRPr>
            </a:defPPr>
            <a:lvl1pPr algn="l">
              <a:defRPr sz="540" b="0">
                <a:solidFill>
                  <a:srgbClr val="263442"/>
                </a:solidFill>
                <a:latin typeface="Arial"/>
                <a:ea typeface="Arial"/>
                <a:cs typeface="Arial"/>
              </a:defRPr>
            </a:lvl1pPr>
            <a:lvl2pPr algn="l">
              <a:defRPr sz="540" b="0">
                <a:solidFill>
                  <a:srgbClr val="263442"/>
                </a:solidFill>
                <a:latin typeface="Arial"/>
                <a:ea typeface="Arial"/>
                <a:cs typeface="Arial"/>
              </a:defRPr>
            </a:lvl2pPr>
            <a:lvl3pPr algn="l">
              <a:defRPr sz="540" b="0">
                <a:solidFill>
                  <a:srgbClr val="263442"/>
                </a:solidFill>
                <a:latin typeface="Arial"/>
                <a:ea typeface="Arial"/>
                <a:cs typeface="Arial"/>
              </a:defRPr>
            </a:lvl3pPr>
            <a:lvl4pPr algn="l">
              <a:defRPr sz="540" b="0">
                <a:solidFill>
                  <a:srgbClr val="263442"/>
                </a:solidFill>
                <a:latin typeface="Arial"/>
                <a:ea typeface="Arial"/>
                <a:cs typeface="Arial"/>
              </a:defRPr>
            </a:lvl4pPr>
            <a:lvl5pPr algn="l">
              <a:defRPr sz="540" b="0">
                <a:solidFill>
                  <a:srgbClr val="263442"/>
                </a:solidFill>
                <a:latin typeface="Arial"/>
                <a:ea typeface="Arial"/>
                <a:cs typeface="Arial"/>
              </a:defRPr>
            </a:lvl5pPr>
            <a:lvl6pPr algn="l">
              <a:defRPr sz="540" b="0">
                <a:solidFill>
                  <a:srgbClr val="263442"/>
                </a:solidFill>
                <a:latin typeface="Arial"/>
                <a:ea typeface="Arial"/>
                <a:cs typeface="Arial"/>
              </a:defRPr>
            </a:lvl6pPr>
            <a:lvl7pPr algn="l">
              <a:defRPr sz="540" b="0">
                <a:solidFill>
                  <a:srgbClr val="263442"/>
                </a:solidFill>
                <a:latin typeface="Arial"/>
                <a:ea typeface="Arial"/>
                <a:cs typeface="Arial"/>
              </a:defRPr>
            </a:lvl7pPr>
            <a:lvl8pPr algn="l">
              <a:defRPr sz="540" b="0">
                <a:solidFill>
                  <a:srgbClr val="263442"/>
                </a:solidFill>
                <a:latin typeface="Arial"/>
                <a:ea typeface="Arial"/>
                <a:cs typeface="Arial"/>
              </a:defRPr>
            </a:lvl8pPr>
            <a:lvl9pPr algn="l">
              <a:defRPr sz="540" b="0">
                <a:solidFill>
                  <a:srgbClr val="263442"/>
                </a:solidFill>
                <a:latin typeface="Arial"/>
                <a:ea typeface="Arial"/>
                <a:cs typeface="Arial"/>
              </a:defRPr>
            </a:lvl9pPr>
          </a:lstStyle>
          <a:p>
            <a:pPr>
              <a:defRPr sz="540" b="0">
                <a:solidFill>
                  <a:srgbClr val="263442"/>
                </a:solidFill>
                <a:latin typeface="Arial"/>
                <a:ea typeface="Arial"/>
                <a:cs typeface="Arial"/>
              </a:defRPr>
            </a:pPr>
            <a:r>
              <a:rPr sz="480" dirty="0"/>
              <a:t>CC(N)=O</a:t>
            </a:r>
          </a:p>
        </p:txBody>
      </p:sp>
      <p:sp>
        <p:nvSpPr>
          <p:cNvPr id="60000" name="Build | inputs to conditioner">
            <a:extLst>
              <a:ext uri="{FF2B5EF4-FFF2-40B4-BE49-F238E27FC236}">
                <a16:creationId xmlns:a16="http://schemas.microsoft.com/office/drawing/2014/main" id="{105CDDE8-CBF1-46D1-91B9-D78BE8C69941}"/>
              </a:ext>
            </a:extLst>
          </p:cNvPr>
          <p:cNvSpPr>
            <a:spLocks noGrp="1"/>
          </p:cNvSpPr>
          <p:nvPr/>
        </p:nvSpPr>
        <p:spPr>
          <a:xfrm>
            <a:off x="5547600" y="1764000"/>
            <a:ext cx="95" cy="108000"/>
          </a:xfrm>
          <a:custGeom>
            <a:avLst/>
            <a:gdLst/>
            <a:ahLst/>
            <a:cxnLst/>
            <a:rect l="0" t="0" r="0" b="0"/>
            <a:pathLst>
              <a:path w="95" h="108000">
                <a:moveTo>
                  <a:pt x="0" y="0"/>
                </a:moveTo>
                <a:lnTo>
                  <a:pt x="0" y="108000"/>
                </a:lnTo>
              </a:path>
            </a:pathLst>
          </a:custGeom>
          <a:noFill/>
          <a:ln w="8255">
            <a:solidFill>
              <a:srgbClr val="77828C"/>
            </a:solidFill>
          </a:ln>
        </p:spPr>
      </p:sp>
      <p:sp>
        <p:nvSpPr>
          <p:cNvPr id="60001" name="Build | inputs to conditioner head">
            <a:extLst>
              <a:ext uri="{FF2B5EF4-FFF2-40B4-BE49-F238E27FC236}">
                <a16:creationId xmlns:a16="http://schemas.microsoft.com/office/drawing/2014/main" id="{C008D087-7580-493F-B469-6C6F37D873CD}"/>
              </a:ext>
            </a:extLst>
          </p:cNvPr>
          <p:cNvSpPr>
            <a:spLocks noGrp="1"/>
          </p:cNvSpPr>
          <p:nvPr/>
        </p:nvSpPr>
        <p:spPr>
          <a:xfrm>
            <a:off x="5533470" y="1844858"/>
            <a:ext cx="28261" cy="27142"/>
          </a:xfrm>
          <a:custGeom>
            <a:avLst/>
            <a:gdLst/>
            <a:ahLst/>
            <a:cxnLst/>
            <a:rect l="0" t="0" r="0" b="0"/>
            <a:pathLst>
              <a:path w="28261" h="27142">
                <a:moveTo>
                  <a:pt x="0" y="0"/>
                </a:moveTo>
                <a:lnTo>
                  <a:pt x="14130" y="27142"/>
                </a:lnTo>
                <a:lnTo>
                  <a:pt x="28261" y="0"/>
                </a:lnTo>
              </a:path>
            </a:pathLst>
          </a:custGeom>
          <a:noFill/>
          <a:ln w="8255">
            <a:solidFill>
              <a:srgbClr val="77828C"/>
            </a:solidFill>
          </a:ln>
        </p:spPr>
      </p:sp>
      <p:sp>
        <p:nvSpPr>
          <p:cNvPr id="60002" name="Build | simplified density-conditioned engine">
            <a:extLst>
              <a:ext uri="{FF2B5EF4-FFF2-40B4-BE49-F238E27FC236}">
                <a16:creationId xmlns:a16="http://schemas.microsoft.com/office/drawing/2014/main" id="{2018B0F3-E3A3-481C-BCFB-AFC01B8A30D8}"/>
              </a:ext>
            </a:extLst>
          </p:cNvPr>
          <p:cNvSpPr>
            <a:spLocks noGrp="1"/>
          </p:cNvSpPr>
          <p:nvPr/>
        </p:nvSpPr>
        <p:spPr>
          <a:xfrm>
            <a:off x="4996800" y="1915200"/>
            <a:ext cx="1105200" cy="1591200"/>
          </a:xfrm>
          <a:prstGeom prst="roundRect">
            <a:avLst>
              <a:gd name="adj" fmla="val 6895"/>
            </a:avLst>
          </a:prstGeom>
          <a:solidFill>
            <a:srgbClr val="FDF9F0"/>
          </a:solidFill>
          <a:ln w="7620">
            <a:solidFill>
              <a:srgbClr val="D8A95A"/>
            </a:solidFill>
          </a:ln>
        </p:spPr>
      </p:sp>
      <p:sp>
        <p:nvSpPr>
          <p:cNvPr id="60003" name="Build | label">
            <a:extLst>
              <a:ext uri="{FF2B5EF4-FFF2-40B4-BE49-F238E27FC236}">
                <a16:creationId xmlns:a16="http://schemas.microsoft.com/office/drawing/2014/main" id="{47B10E1C-0F1B-4D44-B794-969FBC57121E}"/>
              </a:ext>
            </a:extLst>
          </p:cNvPr>
          <p:cNvSpPr>
            <a:spLocks noGrp="1"/>
          </p:cNvSpPr>
          <p:nvPr/>
        </p:nvSpPr>
        <p:spPr>
          <a:xfrm>
            <a:off x="5014800" y="1965600"/>
            <a:ext cx="1069200" cy="111600"/>
          </a:xfrm>
          <a:prstGeom prst="rect">
            <a:avLst/>
          </a:prstGeom>
          <a:noFill/>
          <a:ln w="0">
            <a:noFill/>
          </a:ln>
        </p:spPr>
        <p:txBody>
          <a:bodyPr wrap="none" lIns="0" tIns="0" rIns="0" bIns="0" anchor="ctr">
            <a:noAutofit/>
          </a:bodyPr>
          <a:lstStyle>
            <a:defPPr algn="ctr">
              <a:defRPr sz="690" b="1">
                <a:solidFill>
                  <a:srgbClr val="263442"/>
                </a:solidFill>
                <a:latin typeface="Arial"/>
                <a:ea typeface="Arial"/>
                <a:cs typeface="Arial"/>
              </a:defRPr>
            </a:defPPr>
            <a:lvl1pPr algn="ctr">
              <a:defRPr sz="690" b="1">
                <a:solidFill>
                  <a:srgbClr val="263442"/>
                </a:solidFill>
                <a:latin typeface="Arial"/>
                <a:ea typeface="Arial"/>
                <a:cs typeface="Arial"/>
              </a:defRPr>
            </a:lvl1pPr>
            <a:lvl2pPr algn="ctr">
              <a:defRPr sz="690" b="1">
                <a:solidFill>
                  <a:srgbClr val="263442"/>
                </a:solidFill>
                <a:latin typeface="Arial"/>
                <a:ea typeface="Arial"/>
                <a:cs typeface="Arial"/>
              </a:defRPr>
            </a:lvl2pPr>
            <a:lvl3pPr algn="ctr">
              <a:defRPr sz="690" b="1">
                <a:solidFill>
                  <a:srgbClr val="263442"/>
                </a:solidFill>
                <a:latin typeface="Arial"/>
                <a:ea typeface="Arial"/>
                <a:cs typeface="Arial"/>
              </a:defRPr>
            </a:lvl3pPr>
            <a:lvl4pPr algn="ctr">
              <a:defRPr sz="690" b="1">
                <a:solidFill>
                  <a:srgbClr val="263442"/>
                </a:solidFill>
                <a:latin typeface="Arial"/>
                <a:ea typeface="Arial"/>
                <a:cs typeface="Arial"/>
              </a:defRPr>
            </a:lvl4pPr>
            <a:lvl5pPr algn="ctr">
              <a:defRPr sz="690" b="1">
                <a:solidFill>
                  <a:srgbClr val="263442"/>
                </a:solidFill>
                <a:latin typeface="Arial"/>
                <a:ea typeface="Arial"/>
                <a:cs typeface="Arial"/>
              </a:defRPr>
            </a:lvl5pPr>
            <a:lvl6pPr algn="ctr">
              <a:defRPr sz="690" b="1">
                <a:solidFill>
                  <a:srgbClr val="263442"/>
                </a:solidFill>
                <a:latin typeface="Arial"/>
                <a:ea typeface="Arial"/>
                <a:cs typeface="Arial"/>
              </a:defRPr>
            </a:lvl6pPr>
            <a:lvl7pPr algn="ctr">
              <a:defRPr sz="690" b="1">
                <a:solidFill>
                  <a:srgbClr val="263442"/>
                </a:solidFill>
                <a:latin typeface="Arial"/>
                <a:ea typeface="Arial"/>
                <a:cs typeface="Arial"/>
              </a:defRPr>
            </a:lvl7pPr>
            <a:lvl8pPr algn="ctr">
              <a:defRPr sz="690" b="1">
                <a:solidFill>
                  <a:srgbClr val="263442"/>
                </a:solidFill>
                <a:latin typeface="Arial"/>
                <a:ea typeface="Arial"/>
                <a:cs typeface="Arial"/>
              </a:defRPr>
            </a:lvl8pPr>
            <a:lvl9pPr algn="ctr">
              <a:defRPr sz="690" b="1">
                <a:solidFill>
                  <a:srgbClr val="263442"/>
                </a:solidFill>
                <a:latin typeface="Arial"/>
                <a:ea typeface="Arial"/>
                <a:cs typeface="Arial"/>
              </a:defRPr>
            </a:lvl9pPr>
          </a:lstStyle>
          <a:p>
            <a:pPr algn="ctr">
              <a:defRPr sz="690" b="1">
                <a:solidFill>
                  <a:srgbClr val="263442"/>
                </a:solidFill>
                <a:latin typeface="Arial"/>
                <a:ea typeface="Arial"/>
                <a:cs typeface="Arial"/>
              </a:defRPr>
            </a:pPr>
            <a:r>
              <a:rPr sz="690" b="1">
                <a:solidFill>
                  <a:srgbClr val="263442"/>
                </a:solidFill>
                <a:latin typeface="Arial"/>
                <a:ea typeface="Arial"/>
                <a:cs typeface="Arial"/>
              </a:rPr>
              <a:t>DG-PocketXMol</a:t>
            </a:r>
          </a:p>
        </p:txBody>
      </p:sp>
      <p:sp>
        <p:nvSpPr>
          <p:cNvPr id="60004" name="Build | label">
            <a:extLst>
              <a:ext uri="{FF2B5EF4-FFF2-40B4-BE49-F238E27FC236}">
                <a16:creationId xmlns:a16="http://schemas.microsoft.com/office/drawing/2014/main" id="{0562A8B5-ECF0-4D2C-84DF-239623017D4A}"/>
              </a:ext>
            </a:extLst>
          </p:cNvPr>
          <p:cNvSpPr>
            <a:spLocks noGrp="1"/>
          </p:cNvSpPr>
          <p:nvPr/>
        </p:nvSpPr>
        <p:spPr>
          <a:xfrm>
            <a:off x="5043600" y="2296800"/>
            <a:ext cx="450000" cy="244800"/>
          </a:xfrm>
          <a:prstGeom prst="rect">
            <a:avLst/>
          </a:prstGeom>
          <a:noFill/>
          <a:ln w="0">
            <a:noFill/>
          </a:ln>
        </p:spPr>
        <p:txBody>
          <a:bodyPr wrap="none" lIns="0" tIns="0" rIns="0" bIns="0" anchor="ctr">
            <a:noAutofit/>
          </a:bodyPr>
          <a:lstStyle>
            <a:defPPr algn="ctr">
              <a:defRPr sz="620" b="0">
                <a:solidFill>
                  <a:srgbClr val="263442"/>
                </a:solidFill>
                <a:latin typeface="Arial"/>
                <a:ea typeface="Arial"/>
                <a:cs typeface="Arial"/>
              </a:defRPr>
            </a:defPPr>
            <a:lvl1pPr algn="ctr">
              <a:defRPr sz="620" b="0">
                <a:solidFill>
                  <a:srgbClr val="263442"/>
                </a:solidFill>
                <a:latin typeface="Arial"/>
                <a:ea typeface="Arial"/>
                <a:cs typeface="Arial"/>
              </a:defRPr>
            </a:lvl1pPr>
            <a:lvl2pPr algn="ctr">
              <a:defRPr sz="620" b="0">
                <a:solidFill>
                  <a:srgbClr val="263442"/>
                </a:solidFill>
                <a:latin typeface="Arial"/>
                <a:ea typeface="Arial"/>
                <a:cs typeface="Arial"/>
              </a:defRPr>
            </a:lvl2pPr>
            <a:lvl3pPr algn="ctr">
              <a:defRPr sz="620" b="0">
                <a:solidFill>
                  <a:srgbClr val="263442"/>
                </a:solidFill>
                <a:latin typeface="Arial"/>
                <a:ea typeface="Arial"/>
                <a:cs typeface="Arial"/>
              </a:defRPr>
            </a:lvl3pPr>
            <a:lvl4pPr algn="ctr">
              <a:defRPr sz="620" b="0">
                <a:solidFill>
                  <a:srgbClr val="263442"/>
                </a:solidFill>
                <a:latin typeface="Arial"/>
                <a:ea typeface="Arial"/>
                <a:cs typeface="Arial"/>
              </a:defRPr>
            </a:lvl4pPr>
            <a:lvl5pPr algn="ctr">
              <a:defRPr sz="620" b="0">
                <a:solidFill>
                  <a:srgbClr val="263442"/>
                </a:solidFill>
                <a:latin typeface="Arial"/>
                <a:ea typeface="Arial"/>
                <a:cs typeface="Arial"/>
              </a:defRPr>
            </a:lvl5pPr>
            <a:lvl6pPr algn="ctr">
              <a:defRPr sz="620" b="0">
                <a:solidFill>
                  <a:srgbClr val="263442"/>
                </a:solidFill>
                <a:latin typeface="Arial"/>
                <a:ea typeface="Arial"/>
                <a:cs typeface="Arial"/>
              </a:defRPr>
            </a:lvl6pPr>
            <a:lvl7pPr algn="ctr">
              <a:defRPr sz="620" b="0">
                <a:solidFill>
                  <a:srgbClr val="263442"/>
                </a:solidFill>
                <a:latin typeface="Arial"/>
                <a:ea typeface="Arial"/>
                <a:cs typeface="Arial"/>
              </a:defRPr>
            </a:lvl7pPr>
            <a:lvl8pPr algn="ctr">
              <a:defRPr sz="620" b="0">
                <a:solidFill>
                  <a:srgbClr val="263442"/>
                </a:solidFill>
                <a:latin typeface="Arial"/>
                <a:ea typeface="Arial"/>
                <a:cs typeface="Arial"/>
              </a:defRPr>
            </a:lvl8pPr>
            <a:lvl9pPr algn="ctr">
              <a:defRPr sz="620" b="0">
                <a:solidFill>
                  <a:srgbClr val="263442"/>
                </a:solidFill>
                <a:latin typeface="Arial"/>
                <a:ea typeface="Arial"/>
                <a:cs typeface="Arial"/>
              </a:defRPr>
            </a:lvl9pPr>
          </a:lstStyle>
          <a:p>
            <a:pPr algn="ctr">
              <a:defRPr sz="620" b="0">
                <a:solidFill>
                  <a:srgbClr val="263442"/>
                </a:solidFill>
                <a:latin typeface="Arial"/>
                <a:ea typeface="Arial"/>
                <a:cs typeface="Arial"/>
              </a:defRPr>
            </a:pPr>
            <a:r>
              <a:rPr sz="620" b="0">
                <a:solidFill>
                  <a:srgbClr val="263442"/>
                </a:solidFill>
                <a:latin typeface="Arial"/>
                <a:ea typeface="Arial"/>
                <a:cs typeface="Arial"/>
              </a:rPr>
              <a:t>Atom</a:t>
            </a:r>
          </a:p>
          <a:p>
            <a:pPr algn="ctr">
              <a:defRPr sz="620" b="0">
                <a:solidFill>
                  <a:srgbClr val="263442"/>
                </a:solidFill>
                <a:latin typeface="Arial"/>
                <a:ea typeface="Arial"/>
                <a:cs typeface="Arial"/>
              </a:defRPr>
            </a:pPr>
            <a:r>
              <a:rPr sz="620" b="0">
                <a:solidFill>
                  <a:srgbClr val="263442"/>
                </a:solidFill>
                <a:latin typeface="Arial"/>
                <a:ea typeface="Arial"/>
                <a:cs typeface="Arial"/>
              </a:rPr>
              <a:t>features</a:t>
            </a:r>
          </a:p>
        </p:txBody>
      </p:sp>
      <p:sp>
        <p:nvSpPr>
          <p:cNvPr id="60005" name="Build | label">
            <a:extLst>
              <a:ext uri="{FF2B5EF4-FFF2-40B4-BE49-F238E27FC236}">
                <a16:creationId xmlns:a16="http://schemas.microsoft.com/office/drawing/2014/main" id="{AD29220A-2953-43F3-90A9-FC44DA2E013C}"/>
              </a:ext>
            </a:extLst>
          </p:cNvPr>
          <p:cNvSpPr>
            <a:spLocks noGrp="1"/>
          </p:cNvSpPr>
          <p:nvPr/>
        </p:nvSpPr>
        <p:spPr>
          <a:xfrm>
            <a:off x="5583600" y="2217600"/>
            <a:ext cx="450000" cy="226800"/>
          </a:xfrm>
          <a:prstGeom prst="rect">
            <a:avLst/>
          </a:prstGeom>
          <a:noFill/>
          <a:ln w="0">
            <a:noFill/>
          </a:ln>
        </p:spPr>
        <p:txBody>
          <a:bodyPr wrap="none" lIns="0" tIns="0" rIns="0" bIns="0" anchor="ctr">
            <a:noAutofit/>
          </a:bodyPr>
          <a:lstStyle>
            <a:defPPr algn="ctr">
              <a:defRPr sz="620" b="0">
                <a:solidFill>
                  <a:srgbClr val="263442"/>
                </a:solidFill>
                <a:latin typeface="Arial"/>
                <a:ea typeface="Arial"/>
                <a:cs typeface="Arial"/>
              </a:defRPr>
            </a:defPPr>
            <a:lvl1pPr algn="ctr">
              <a:defRPr sz="620" b="0">
                <a:solidFill>
                  <a:srgbClr val="263442"/>
                </a:solidFill>
                <a:latin typeface="Arial"/>
                <a:ea typeface="Arial"/>
                <a:cs typeface="Arial"/>
              </a:defRPr>
            </a:lvl1pPr>
            <a:lvl2pPr algn="ctr">
              <a:defRPr sz="620" b="0">
                <a:solidFill>
                  <a:srgbClr val="263442"/>
                </a:solidFill>
                <a:latin typeface="Arial"/>
                <a:ea typeface="Arial"/>
                <a:cs typeface="Arial"/>
              </a:defRPr>
            </a:lvl2pPr>
            <a:lvl3pPr algn="ctr">
              <a:defRPr sz="620" b="0">
                <a:solidFill>
                  <a:srgbClr val="263442"/>
                </a:solidFill>
                <a:latin typeface="Arial"/>
                <a:ea typeface="Arial"/>
                <a:cs typeface="Arial"/>
              </a:defRPr>
            </a:lvl3pPr>
            <a:lvl4pPr algn="ctr">
              <a:defRPr sz="620" b="0">
                <a:solidFill>
                  <a:srgbClr val="263442"/>
                </a:solidFill>
                <a:latin typeface="Arial"/>
                <a:ea typeface="Arial"/>
                <a:cs typeface="Arial"/>
              </a:defRPr>
            </a:lvl4pPr>
            <a:lvl5pPr algn="ctr">
              <a:defRPr sz="620" b="0">
                <a:solidFill>
                  <a:srgbClr val="263442"/>
                </a:solidFill>
                <a:latin typeface="Arial"/>
                <a:ea typeface="Arial"/>
                <a:cs typeface="Arial"/>
              </a:defRPr>
            </a:lvl5pPr>
            <a:lvl6pPr algn="ctr">
              <a:defRPr sz="620" b="0">
                <a:solidFill>
                  <a:srgbClr val="263442"/>
                </a:solidFill>
                <a:latin typeface="Arial"/>
                <a:ea typeface="Arial"/>
                <a:cs typeface="Arial"/>
              </a:defRPr>
            </a:lvl6pPr>
            <a:lvl7pPr algn="ctr">
              <a:defRPr sz="620" b="0">
                <a:solidFill>
                  <a:srgbClr val="263442"/>
                </a:solidFill>
                <a:latin typeface="Arial"/>
                <a:ea typeface="Arial"/>
                <a:cs typeface="Arial"/>
              </a:defRPr>
            </a:lvl7pPr>
            <a:lvl8pPr algn="ctr">
              <a:defRPr sz="620" b="0">
                <a:solidFill>
                  <a:srgbClr val="263442"/>
                </a:solidFill>
                <a:latin typeface="Arial"/>
                <a:ea typeface="Arial"/>
                <a:cs typeface="Arial"/>
              </a:defRPr>
            </a:lvl8pPr>
            <a:lvl9pPr algn="ctr">
              <a:defRPr sz="620" b="0">
                <a:solidFill>
                  <a:srgbClr val="263442"/>
                </a:solidFill>
                <a:latin typeface="Arial"/>
                <a:ea typeface="Arial"/>
                <a:cs typeface="Arial"/>
              </a:defRPr>
            </a:lvl9pPr>
          </a:lstStyle>
          <a:p>
            <a:pPr algn="ctr">
              <a:defRPr sz="620" b="0">
                <a:solidFill>
                  <a:srgbClr val="263442"/>
                </a:solidFill>
                <a:latin typeface="Arial"/>
                <a:ea typeface="Arial"/>
                <a:cs typeface="Arial"/>
              </a:defRPr>
            </a:pPr>
            <a:r>
              <a:rPr sz="620" b="0">
                <a:solidFill>
                  <a:srgbClr val="263442"/>
                </a:solidFill>
                <a:latin typeface="Arial"/>
                <a:ea typeface="Arial"/>
                <a:cs typeface="Arial"/>
              </a:rPr>
              <a:t>Density +</a:t>
            </a:r>
          </a:p>
          <a:p>
            <a:pPr algn="ctr">
              <a:defRPr sz="620" b="0">
                <a:solidFill>
                  <a:srgbClr val="263442"/>
                </a:solidFill>
                <a:latin typeface="Arial"/>
                <a:ea typeface="Arial"/>
                <a:cs typeface="Arial"/>
              </a:defRPr>
            </a:pPr>
            <a:r>
              <a:rPr sz="620" b="0">
                <a:solidFill>
                  <a:srgbClr val="263442"/>
                </a:solidFill>
                <a:latin typeface="Arial"/>
                <a:ea typeface="Arial"/>
                <a:cs typeface="Arial"/>
              </a:rPr>
              <a:t>receptor</a:t>
            </a:r>
          </a:p>
        </p:txBody>
      </p:sp>
      <p:sp>
        <p:nvSpPr>
          <p:cNvPr id="60006" name="Build | local density voxel">
            <a:extLst>
              <a:ext uri="{FF2B5EF4-FFF2-40B4-BE49-F238E27FC236}">
                <a16:creationId xmlns:a16="http://schemas.microsoft.com/office/drawing/2014/main" id="{E6B9D61F-24D8-4676-B0B7-EE9C54207883}"/>
              </a:ext>
            </a:extLst>
          </p:cNvPr>
          <p:cNvSpPr>
            <a:spLocks noGrp="1"/>
          </p:cNvSpPr>
          <p:nvPr/>
        </p:nvSpPr>
        <p:spPr>
          <a:xfrm>
            <a:off x="5659200" y="2484000"/>
            <a:ext cx="93600" cy="64800"/>
          </a:xfrm>
          <a:prstGeom prst="rect">
            <a:avLst/>
          </a:prstGeom>
          <a:solidFill>
            <a:srgbClr val="89BED4"/>
          </a:solidFill>
          <a:ln w="7620">
            <a:noFill/>
          </a:ln>
        </p:spPr>
      </p:sp>
      <p:sp>
        <p:nvSpPr>
          <p:cNvPr id="60007" name="Build | local density voxel">
            <a:extLst>
              <a:ext uri="{FF2B5EF4-FFF2-40B4-BE49-F238E27FC236}">
                <a16:creationId xmlns:a16="http://schemas.microsoft.com/office/drawing/2014/main" id="{6D3FAFF6-D0CD-4CDC-B4B6-696B1E6A9FA0}"/>
              </a:ext>
            </a:extLst>
          </p:cNvPr>
          <p:cNvSpPr>
            <a:spLocks noGrp="1"/>
          </p:cNvSpPr>
          <p:nvPr/>
        </p:nvSpPr>
        <p:spPr>
          <a:xfrm>
            <a:off x="5752800" y="2484000"/>
            <a:ext cx="93600" cy="64800"/>
          </a:xfrm>
          <a:prstGeom prst="rect">
            <a:avLst/>
          </a:prstGeom>
          <a:solidFill>
            <a:srgbClr val="B4D9E5"/>
          </a:solidFill>
          <a:ln w="7620">
            <a:noFill/>
          </a:ln>
        </p:spPr>
      </p:sp>
      <p:sp>
        <p:nvSpPr>
          <p:cNvPr id="60008" name="Build | local density voxel">
            <a:extLst>
              <a:ext uri="{FF2B5EF4-FFF2-40B4-BE49-F238E27FC236}">
                <a16:creationId xmlns:a16="http://schemas.microsoft.com/office/drawing/2014/main" id="{8DCDB3BA-0578-43F9-B3E5-2A5CAC3E76E1}"/>
              </a:ext>
            </a:extLst>
          </p:cNvPr>
          <p:cNvSpPr>
            <a:spLocks noGrp="1"/>
          </p:cNvSpPr>
          <p:nvPr/>
        </p:nvSpPr>
        <p:spPr>
          <a:xfrm>
            <a:off x="5846400" y="2484000"/>
            <a:ext cx="93600" cy="64800"/>
          </a:xfrm>
          <a:prstGeom prst="rect">
            <a:avLst/>
          </a:prstGeom>
          <a:solidFill>
            <a:srgbClr val="559EBB"/>
          </a:solidFill>
          <a:ln w="7620">
            <a:noFill/>
          </a:ln>
        </p:spPr>
      </p:sp>
      <p:sp>
        <p:nvSpPr>
          <p:cNvPr id="60009" name="Build | local density voxel">
            <a:extLst>
              <a:ext uri="{FF2B5EF4-FFF2-40B4-BE49-F238E27FC236}">
                <a16:creationId xmlns:a16="http://schemas.microsoft.com/office/drawing/2014/main" id="{A632D31F-D1F7-4839-9F5D-ACAAAB0A5402}"/>
              </a:ext>
            </a:extLst>
          </p:cNvPr>
          <p:cNvSpPr>
            <a:spLocks noGrp="1"/>
          </p:cNvSpPr>
          <p:nvPr/>
        </p:nvSpPr>
        <p:spPr>
          <a:xfrm>
            <a:off x="5659200" y="2548800"/>
            <a:ext cx="93600" cy="64800"/>
          </a:xfrm>
          <a:prstGeom prst="rect">
            <a:avLst/>
          </a:prstGeom>
          <a:solidFill>
            <a:srgbClr val="B4D9E5"/>
          </a:solidFill>
          <a:ln w="7620">
            <a:noFill/>
          </a:ln>
        </p:spPr>
      </p:sp>
      <p:sp>
        <p:nvSpPr>
          <p:cNvPr id="60010" name="Build | local density voxel">
            <a:extLst>
              <a:ext uri="{FF2B5EF4-FFF2-40B4-BE49-F238E27FC236}">
                <a16:creationId xmlns:a16="http://schemas.microsoft.com/office/drawing/2014/main" id="{6E9036E8-5A28-4A8C-98DA-B62FA89B6E36}"/>
              </a:ext>
            </a:extLst>
          </p:cNvPr>
          <p:cNvSpPr>
            <a:spLocks noGrp="1"/>
          </p:cNvSpPr>
          <p:nvPr/>
        </p:nvSpPr>
        <p:spPr>
          <a:xfrm>
            <a:off x="5752800" y="2548800"/>
            <a:ext cx="93600" cy="64800"/>
          </a:xfrm>
          <a:prstGeom prst="rect">
            <a:avLst/>
          </a:prstGeom>
          <a:solidFill>
            <a:srgbClr val="559EBB"/>
          </a:solidFill>
          <a:ln w="7620">
            <a:noFill/>
          </a:ln>
        </p:spPr>
      </p:sp>
      <p:sp>
        <p:nvSpPr>
          <p:cNvPr id="60011" name="Build | local density voxel">
            <a:extLst>
              <a:ext uri="{FF2B5EF4-FFF2-40B4-BE49-F238E27FC236}">
                <a16:creationId xmlns:a16="http://schemas.microsoft.com/office/drawing/2014/main" id="{1088555F-D9FB-4CAE-8E62-5DE8FAC63CCD}"/>
              </a:ext>
            </a:extLst>
          </p:cNvPr>
          <p:cNvSpPr>
            <a:spLocks noGrp="1"/>
          </p:cNvSpPr>
          <p:nvPr/>
        </p:nvSpPr>
        <p:spPr>
          <a:xfrm>
            <a:off x="5846400" y="2548800"/>
            <a:ext cx="93600" cy="64800"/>
          </a:xfrm>
          <a:prstGeom prst="rect">
            <a:avLst/>
          </a:prstGeom>
          <a:solidFill>
            <a:srgbClr val="89BED4"/>
          </a:solidFill>
          <a:ln w="7620">
            <a:noFill/>
          </a:ln>
        </p:spPr>
      </p:sp>
      <p:sp>
        <p:nvSpPr>
          <p:cNvPr id="60012" name="Build | local readout to CNN">
            <a:extLst>
              <a:ext uri="{FF2B5EF4-FFF2-40B4-BE49-F238E27FC236}">
                <a16:creationId xmlns:a16="http://schemas.microsoft.com/office/drawing/2014/main" id="{D9A0B2B0-E3D9-4A95-BB07-E02413034DC0}"/>
              </a:ext>
            </a:extLst>
          </p:cNvPr>
          <p:cNvSpPr>
            <a:spLocks noGrp="1"/>
          </p:cNvSpPr>
          <p:nvPr/>
        </p:nvSpPr>
        <p:spPr>
          <a:xfrm>
            <a:off x="5799600" y="2638800"/>
            <a:ext cx="95" cy="72000"/>
          </a:xfrm>
          <a:custGeom>
            <a:avLst/>
            <a:gdLst/>
            <a:ahLst/>
            <a:cxnLst/>
            <a:rect l="0" t="0" r="0" b="0"/>
            <a:pathLst>
              <a:path w="95" h="72000">
                <a:moveTo>
                  <a:pt x="0" y="0"/>
                </a:moveTo>
                <a:lnTo>
                  <a:pt x="0" y="72000"/>
                </a:lnTo>
              </a:path>
            </a:pathLst>
          </a:custGeom>
          <a:noFill/>
          <a:ln w="8255">
            <a:solidFill>
              <a:srgbClr val="7294A6"/>
            </a:solidFill>
          </a:ln>
        </p:spPr>
      </p:sp>
      <p:sp>
        <p:nvSpPr>
          <p:cNvPr id="60013" name="Build | local readout to CNN head">
            <a:extLst>
              <a:ext uri="{FF2B5EF4-FFF2-40B4-BE49-F238E27FC236}">
                <a16:creationId xmlns:a16="http://schemas.microsoft.com/office/drawing/2014/main" id="{8A5BE4AA-5E68-4B01-8AE8-F9CD96774DCF}"/>
              </a:ext>
            </a:extLst>
          </p:cNvPr>
          <p:cNvSpPr>
            <a:spLocks noGrp="1"/>
          </p:cNvSpPr>
          <p:nvPr/>
        </p:nvSpPr>
        <p:spPr>
          <a:xfrm>
            <a:off x="5785470" y="2683658"/>
            <a:ext cx="28261" cy="27142"/>
          </a:xfrm>
          <a:custGeom>
            <a:avLst/>
            <a:gdLst/>
            <a:ahLst/>
            <a:cxnLst/>
            <a:rect l="0" t="0" r="0" b="0"/>
            <a:pathLst>
              <a:path w="28261" h="27142">
                <a:moveTo>
                  <a:pt x="0" y="0"/>
                </a:moveTo>
                <a:lnTo>
                  <a:pt x="14130" y="27142"/>
                </a:lnTo>
                <a:lnTo>
                  <a:pt x="28261" y="0"/>
                </a:lnTo>
              </a:path>
            </a:pathLst>
          </a:custGeom>
          <a:noFill/>
          <a:ln w="8255">
            <a:solidFill>
              <a:srgbClr val="7294A6"/>
            </a:solidFill>
          </a:ln>
        </p:spPr>
      </p:sp>
      <p:sp>
        <p:nvSpPr>
          <p:cNvPr id="60014" name="Build | local 3D convolution">
            <a:extLst>
              <a:ext uri="{FF2B5EF4-FFF2-40B4-BE49-F238E27FC236}">
                <a16:creationId xmlns:a16="http://schemas.microsoft.com/office/drawing/2014/main" id="{C95B6F78-4BB7-4DF2-8AAA-2566FD8134B8}"/>
              </a:ext>
            </a:extLst>
          </p:cNvPr>
          <p:cNvSpPr>
            <a:spLocks noGrp="1"/>
          </p:cNvSpPr>
          <p:nvPr/>
        </p:nvSpPr>
        <p:spPr>
          <a:xfrm>
            <a:off x="5576400" y="2743200"/>
            <a:ext cx="464400" cy="219600"/>
          </a:xfrm>
          <a:prstGeom prst="roundRect">
            <a:avLst>
              <a:gd name="adj" fmla="val 34699"/>
            </a:avLst>
          </a:prstGeom>
          <a:solidFill>
            <a:srgbClr val="F0F6F9"/>
          </a:solidFill>
          <a:ln w="7620">
            <a:solidFill>
              <a:srgbClr val="C8CFD4"/>
            </a:solidFill>
          </a:ln>
        </p:spPr>
      </p:sp>
      <p:sp>
        <p:nvSpPr>
          <p:cNvPr id="60015" name="Build | label">
            <a:extLst>
              <a:ext uri="{FF2B5EF4-FFF2-40B4-BE49-F238E27FC236}">
                <a16:creationId xmlns:a16="http://schemas.microsoft.com/office/drawing/2014/main" id="{934EC4F5-7E60-41BC-9E12-03824678C801}"/>
              </a:ext>
            </a:extLst>
          </p:cNvPr>
          <p:cNvSpPr>
            <a:spLocks noGrp="1"/>
          </p:cNvSpPr>
          <p:nvPr/>
        </p:nvSpPr>
        <p:spPr>
          <a:xfrm>
            <a:off x="5583600" y="2779200"/>
            <a:ext cx="450000" cy="129600"/>
          </a:xfrm>
          <a:prstGeom prst="rect">
            <a:avLst/>
          </a:prstGeom>
          <a:noFill/>
          <a:ln w="0">
            <a:noFill/>
          </a:ln>
        </p:spPr>
        <p:txBody>
          <a:bodyPr wrap="none" lIns="0" tIns="0" rIns="0" bIns="0" anchor="ctr">
            <a:noAutofit/>
          </a:bodyPr>
          <a:lstStyle>
            <a:defPPr algn="ctr">
              <a:defRPr sz="640" b="0">
                <a:solidFill>
                  <a:srgbClr val="263442"/>
                </a:solidFill>
                <a:latin typeface="Arial"/>
                <a:ea typeface="Arial"/>
                <a:cs typeface="Arial"/>
              </a:defRPr>
            </a:defPPr>
            <a:lvl1pPr algn="ctr">
              <a:defRPr sz="640" b="0">
                <a:solidFill>
                  <a:srgbClr val="263442"/>
                </a:solidFill>
                <a:latin typeface="Arial"/>
                <a:ea typeface="Arial"/>
                <a:cs typeface="Arial"/>
              </a:defRPr>
            </a:lvl1pPr>
            <a:lvl2pPr algn="ctr">
              <a:defRPr sz="640" b="0">
                <a:solidFill>
                  <a:srgbClr val="263442"/>
                </a:solidFill>
                <a:latin typeface="Arial"/>
                <a:ea typeface="Arial"/>
                <a:cs typeface="Arial"/>
              </a:defRPr>
            </a:lvl2pPr>
            <a:lvl3pPr algn="ctr">
              <a:defRPr sz="640" b="0">
                <a:solidFill>
                  <a:srgbClr val="263442"/>
                </a:solidFill>
                <a:latin typeface="Arial"/>
                <a:ea typeface="Arial"/>
                <a:cs typeface="Arial"/>
              </a:defRPr>
            </a:lvl3pPr>
            <a:lvl4pPr algn="ctr">
              <a:defRPr sz="640" b="0">
                <a:solidFill>
                  <a:srgbClr val="263442"/>
                </a:solidFill>
                <a:latin typeface="Arial"/>
                <a:ea typeface="Arial"/>
                <a:cs typeface="Arial"/>
              </a:defRPr>
            </a:lvl4pPr>
            <a:lvl5pPr algn="ctr">
              <a:defRPr sz="640" b="0">
                <a:solidFill>
                  <a:srgbClr val="263442"/>
                </a:solidFill>
                <a:latin typeface="Arial"/>
                <a:ea typeface="Arial"/>
                <a:cs typeface="Arial"/>
              </a:defRPr>
            </a:lvl5pPr>
            <a:lvl6pPr algn="ctr">
              <a:defRPr sz="640" b="0">
                <a:solidFill>
                  <a:srgbClr val="263442"/>
                </a:solidFill>
                <a:latin typeface="Arial"/>
                <a:ea typeface="Arial"/>
                <a:cs typeface="Arial"/>
              </a:defRPr>
            </a:lvl6pPr>
            <a:lvl7pPr algn="ctr">
              <a:defRPr sz="640" b="0">
                <a:solidFill>
                  <a:srgbClr val="263442"/>
                </a:solidFill>
                <a:latin typeface="Arial"/>
                <a:ea typeface="Arial"/>
                <a:cs typeface="Arial"/>
              </a:defRPr>
            </a:lvl7pPr>
            <a:lvl8pPr algn="ctr">
              <a:defRPr sz="640" b="0">
                <a:solidFill>
                  <a:srgbClr val="263442"/>
                </a:solidFill>
                <a:latin typeface="Arial"/>
                <a:ea typeface="Arial"/>
                <a:cs typeface="Arial"/>
              </a:defRPr>
            </a:lvl8pPr>
            <a:lvl9pPr algn="ctr">
              <a:defRPr sz="640" b="0">
                <a:solidFill>
                  <a:srgbClr val="263442"/>
                </a:solidFill>
                <a:latin typeface="Arial"/>
                <a:ea typeface="Arial"/>
                <a:cs typeface="Arial"/>
              </a:defRPr>
            </a:lvl9pPr>
          </a:lstStyle>
          <a:p>
            <a:pPr algn="ctr">
              <a:defRPr sz="640" b="0">
                <a:solidFill>
                  <a:srgbClr val="263442"/>
                </a:solidFill>
                <a:latin typeface="Arial"/>
                <a:ea typeface="Arial"/>
                <a:cs typeface="Arial"/>
              </a:defRPr>
            </a:pPr>
            <a:r>
              <a:rPr sz="640" b="0">
                <a:solidFill>
                  <a:srgbClr val="263442"/>
                </a:solidFill>
                <a:latin typeface="Arial"/>
                <a:ea typeface="Arial"/>
                <a:cs typeface="Arial"/>
              </a:rPr>
              <a:t>3D CNN</a:t>
            </a:r>
          </a:p>
        </p:txBody>
      </p:sp>
      <p:sp>
        <p:nvSpPr>
          <p:cNvPr id="60016" name="Build | atom features into FiLM">
            <a:extLst>
              <a:ext uri="{FF2B5EF4-FFF2-40B4-BE49-F238E27FC236}">
                <a16:creationId xmlns:a16="http://schemas.microsoft.com/office/drawing/2014/main" id="{C37FA5C8-A34E-4104-B525-B8250D0EC742}"/>
              </a:ext>
            </a:extLst>
          </p:cNvPr>
          <p:cNvSpPr>
            <a:spLocks noGrp="1"/>
          </p:cNvSpPr>
          <p:nvPr/>
        </p:nvSpPr>
        <p:spPr>
          <a:xfrm>
            <a:off x="5270400" y="2570400"/>
            <a:ext cx="95" cy="367200"/>
          </a:xfrm>
          <a:custGeom>
            <a:avLst/>
            <a:gdLst/>
            <a:ahLst/>
            <a:cxnLst/>
            <a:rect l="0" t="0" r="0" b="0"/>
            <a:pathLst>
              <a:path w="95" h="367200">
                <a:moveTo>
                  <a:pt x="0" y="0"/>
                </a:moveTo>
                <a:lnTo>
                  <a:pt x="0" y="367200"/>
                </a:lnTo>
              </a:path>
            </a:pathLst>
          </a:custGeom>
          <a:noFill/>
          <a:ln w="8255">
            <a:solidFill>
              <a:srgbClr val="77828C"/>
            </a:solidFill>
          </a:ln>
        </p:spPr>
      </p:sp>
      <p:sp>
        <p:nvSpPr>
          <p:cNvPr id="60017" name="Build | atom features into FiLM head">
            <a:extLst>
              <a:ext uri="{FF2B5EF4-FFF2-40B4-BE49-F238E27FC236}">
                <a16:creationId xmlns:a16="http://schemas.microsoft.com/office/drawing/2014/main" id="{337F5589-DDAD-4699-8434-138DE2E7D1D6}"/>
              </a:ext>
            </a:extLst>
          </p:cNvPr>
          <p:cNvSpPr>
            <a:spLocks noGrp="1"/>
          </p:cNvSpPr>
          <p:nvPr/>
        </p:nvSpPr>
        <p:spPr>
          <a:xfrm>
            <a:off x="5256270" y="2910458"/>
            <a:ext cx="28261" cy="27142"/>
          </a:xfrm>
          <a:custGeom>
            <a:avLst/>
            <a:gdLst/>
            <a:ahLst/>
            <a:cxnLst/>
            <a:rect l="0" t="0" r="0" b="0"/>
            <a:pathLst>
              <a:path w="28261" h="27142">
                <a:moveTo>
                  <a:pt x="0" y="0"/>
                </a:moveTo>
                <a:lnTo>
                  <a:pt x="14130" y="27142"/>
                </a:lnTo>
                <a:lnTo>
                  <a:pt x="28261" y="0"/>
                </a:lnTo>
              </a:path>
            </a:pathLst>
          </a:custGeom>
          <a:noFill/>
          <a:ln w="8255">
            <a:solidFill>
              <a:srgbClr val="77828C"/>
            </a:solidFill>
          </a:ln>
        </p:spPr>
      </p:sp>
      <p:sp>
        <p:nvSpPr>
          <p:cNvPr id="60018" name="Build | feature modulation FiLM">
            <a:extLst>
              <a:ext uri="{FF2B5EF4-FFF2-40B4-BE49-F238E27FC236}">
                <a16:creationId xmlns:a16="http://schemas.microsoft.com/office/drawing/2014/main" id="{5BE2A965-64C6-4D8B-B04A-FE84E573850B}"/>
              </a:ext>
            </a:extLst>
          </p:cNvPr>
          <p:cNvSpPr>
            <a:spLocks noGrp="1"/>
          </p:cNvSpPr>
          <p:nvPr/>
        </p:nvSpPr>
        <p:spPr>
          <a:xfrm>
            <a:off x="5043600" y="2970000"/>
            <a:ext cx="450000" cy="219600"/>
          </a:xfrm>
          <a:prstGeom prst="roundRect">
            <a:avLst>
              <a:gd name="adj" fmla="val 34699"/>
            </a:avLst>
          </a:prstGeom>
          <a:solidFill>
            <a:srgbClr val="EDE7F5"/>
          </a:solidFill>
          <a:ln w="7620">
            <a:solidFill>
              <a:srgbClr val="B8A9D9"/>
            </a:solidFill>
          </a:ln>
        </p:spPr>
      </p:sp>
      <p:sp>
        <p:nvSpPr>
          <p:cNvPr id="60019" name="Build | label">
            <a:extLst>
              <a:ext uri="{FF2B5EF4-FFF2-40B4-BE49-F238E27FC236}">
                <a16:creationId xmlns:a16="http://schemas.microsoft.com/office/drawing/2014/main" id="{E638E754-BD44-49AC-9583-157D6B0D9DAB}"/>
              </a:ext>
            </a:extLst>
          </p:cNvPr>
          <p:cNvSpPr>
            <a:spLocks noGrp="1"/>
          </p:cNvSpPr>
          <p:nvPr/>
        </p:nvSpPr>
        <p:spPr>
          <a:xfrm>
            <a:off x="5054400" y="3009600"/>
            <a:ext cx="428400" cy="129600"/>
          </a:xfrm>
          <a:prstGeom prst="rect">
            <a:avLst/>
          </a:prstGeom>
          <a:noFill/>
          <a:ln w="0">
            <a:noFill/>
          </a:ln>
        </p:spPr>
        <p:txBody>
          <a:bodyPr wrap="none" lIns="0" tIns="0" rIns="0" bIns="0" anchor="ctr">
            <a:noAutofit/>
          </a:bodyPr>
          <a:lstStyle>
            <a:defPPr algn="ctr">
              <a:defRPr sz="670" b="0">
                <a:solidFill>
                  <a:srgbClr val="263442"/>
                </a:solidFill>
                <a:latin typeface="Arial"/>
                <a:ea typeface="Arial"/>
                <a:cs typeface="Arial"/>
              </a:defRPr>
            </a:defPPr>
            <a:lvl1pPr algn="ctr">
              <a:defRPr sz="670" b="0">
                <a:solidFill>
                  <a:srgbClr val="263442"/>
                </a:solidFill>
                <a:latin typeface="Arial"/>
                <a:ea typeface="Arial"/>
                <a:cs typeface="Arial"/>
              </a:defRPr>
            </a:lvl1pPr>
            <a:lvl2pPr algn="ctr">
              <a:defRPr sz="670" b="0">
                <a:solidFill>
                  <a:srgbClr val="263442"/>
                </a:solidFill>
                <a:latin typeface="Arial"/>
                <a:ea typeface="Arial"/>
                <a:cs typeface="Arial"/>
              </a:defRPr>
            </a:lvl2pPr>
            <a:lvl3pPr algn="ctr">
              <a:defRPr sz="670" b="0">
                <a:solidFill>
                  <a:srgbClr val="263442"/>
                </a:solidFill>
                <a:latin typeface="Arial"/>
                <a:ea typeface="Arial"/>
                <a:cs typeface="Arial"/>
              </a:defRPr>
            </a:lvl3pPr>
            <a:lvl4pPr algn="ctr">
              <a:defRPr sz="670" b="0">
                <a:solidFill>
                  <a:srgbClr val="263442"/>
                </a:solidFill>
                <a:latin typeface="Arial"/>
                <a:ea typeface="Arial"/>
                <a:cs typeface="Arial"/>
              </a:defRPr>
            </a:lvl4pPr>
            <a:lvl5pPr algn="ctr">
              <a:defRPr sz="670" b="0">
                <a:solidFill>
                  <a:srgbClr val="263442"/>
                </a:solidFill>
                <a:latin typeface="Arial"/>
                <a:ea typeface="Arial"/>
                <a:cs typeface="Arial"/>
              </a:defRPr>
            </a:lvl5pPr>
            <a:lvl6pPr algn="ctr">
              <a:defRPr sz="670" b="0">
                <a:solidFill>
                  <a:srgbClr val="263442"/>
                </a:solidFill>
                <a:latin typeface="Arial"/>
                <a:ea typeface="Arial"/>
                <a:cs typeface="Arial"/>
              </a:defRPr>
            </a:lvl6pPr>
            <a:lvl7pPr algn="ctr">
              <a:defRPr sz="670" b="0">
                <a:solidFill>
                  <a:srgbClr val="263442"/>
                </a:solidFill>
                <a:latin typeface="Arial"/>
                <a:ea typeface="Arial"/>
                <a:cs typeface="Arial"/>
              </a:defRPr>
            </a:lvl7pPr>
            <a:lvl8pPr algn="ctr">
              <a:defRPr sz="670" b="0">
                <a:solidFill>
                  <a:srgbClr val="263442"/>
                </a:solidFill>
                <a:latin typeface="Arial"/>
                <a:ea typeface="Arial"/>
                <a:cs typeface="Arial"/>
              </a:defRPr>
            </a:lvl8pPr>
            <a:lvl9pPr algn="ctr">
              <a:defRPr sz="670" b="0">
                <a:solidFill>
                  <a:srgbClr val="263442"/>
                </a:solidFill>
                <a:latin typeface="Arial"/>
                <a:ea typeface="Arial"/>
                <a:cs typeface="Arial"/>
              </a:defRPr>
            </a:lvl9pPr>
          </a:lstStyle>
          <a:p>
            <a:pPr algn="ctr">
              <a:defRPr sz="670" b="0">
                <a:solidFill>
                  <a:srgbClr val="263442"/>
                </a:solidFill>
                <a:latin typeface="Arial"/>
                <a:ea typeface="Arial"/>
                <a:cs typeface="Arial"/>
              </a:defRPr>
            </a:pPr>
            <a:r>
              <a:rPr sz="670" b="0">
                <a:solidFill>
                  <a:srgbClr val="263442"/>
                </a:solidFill>
                <a:latin typeface="Arial"/>
                <a:ea typeface="Arial"/>
                <a:cs typeface="Arial"/>
              </a:rPr>
              <a:t>FiLM</a:t>
            </a:r>
          </a:p>
        </p:txBody>
      </p:sp>
      <p:sp>
        <p:nvSpPr>
          <p:cNvPr id="60020" name="Build | density condition into FiLM">
            <a:extLst>
              <a:ext uri="{FF2B5EF4-FFF2-40B4-BE49-F238E27FC236}">
                <a16:creationId xmlns:a16="http://schemas.microsoft.com/office/drawing/2014/main" id="{ACC5BF19-6E98-40E9-9232-1479AF9571FE}"/>
              </a:ext>
            </a:extLst>
          </p:cNvPr>
          <p:cNvSpPr>
            <a:spLocks noGrp="1"/>
          </p:cNvSpPr>
          <p:nvPr/>
        </p:nvSpPr>
        <p:spPr>
          <a:xfrm>
            <a:off x="5518800" y="2991600"/>
            <a:ext cx="280800" cy="90000"/>
          </a:xfrm>
          <a:custGeom>
            <a:avLst/>
            <a:gdLst/>
            <a:ahLst/>
            <a:cxnLst/>
            <a:rect l="0" t="0" r="0" b="0"/>
            <a:pathLst>
              <a:path w="280800" h="90000">
                <a:moveTo>
                  <a:pt x="280800" y="0"/>
                </a:moveTo>
                <a:lnTo>
                  <a:pt x="280800" y="90000"/>
                </a:lnTo>
                <a:lnTo>
                  <a:pt x="0" y="90000"/>
                </a:lnTo>
              </a:path>
            </a:pathLst>
          </a:custGeom>
          <a:noFill/>
          <a:ln w="8255">
            <a:solidFill>
              <a:srgbClr val="7294A6"/>
            </a:solidFill>
          </a:ln>
        </p:spPr>
      </p:sp>
      <p:sp>
        <p:nvSpPr>
          <p:cNvPr id="60021" name="Build | density condition into FiLM head">
            <a:extLst>
              <a:ext uri="{FF2B5EF4-FFF2-40B4-BE49-F238E27FC236}">
                <a16:creationId xmlns:a16="http://schemas.microsoft.com/office/drawing/2014/main" id="{F8D9D542-3CFB-4D6B-96AE-DFF3B5733A83}"/>
              </a:ext>
            </a:extLst>
          </p:cNvPr>
          <p:cNvSpPr>
            <a:spLocks noGrp="1"/>
          </p:cNvSpPr>
          <p:nvPr/>
        </p:nvSpPr>
        <p:spPr>
          <a:xfrm>
            <a:off x="5518800" y="3067470"/>
            <a:ext cx="27142" cy="28261"/>
          </a:xfrm>
          <a:custGeom>
            <a:avLst/>
            <a:gdLst/>
            <a:ahLst/>
            <a:cxnLst/>
            <a:rect l="0" t="0" r="0" b="0"/>
            <a:pathLst>
              <a:path w="27142" h="28261">
                <a:moveTo>
                  <a:pt x="27142" y="0"/>
                </a:moveTo>
                <a:lnTo>
                  <a:pt x="0" y="14130"/>
                </a:lnTo>
                <a:lnTo>
                  <a:pt x="27142" y="28261"/>
                </a:lnTo>
              </a:path>
            </a:pathLst>
          </a:custGeom>
          <a:noFill/>
          <a:ln w="8255">
            <a:solidFill>
              <a:srgbClr val="7294A6"/>
            </a:solidFill>
          </a:ln>
        </p:spPr>
      </p:sp>
      <p:sp>
        <p:nvSpPr>
          <p:cNvPr id="60022" name="Build | modulated features to coordinate update">
            <a:extLst>
              <a:ext uri="{FF2B5EF4-FFF2-40B4-BE49-F238E27FC236}">
                <a16:creationId xmlns:a16="http://schemas.microsoft.com/office/drawing/2014/main" id="{2642EE71-A9C9-4C4E-B05F-A19DB4A83A3A}"/>
              </a:ext>
            </a:extLst>
          </p:cNvPr>
          <p:cNvSpPr>
            <a:spLocks noGrp="1"/>
          </p:cNvSpPr>
          <p:nvPr/>
        </p:nvSpPr>
        <p:spPr>
          <a:xfrm>
            <a:off x="5270400" y="3204000"/>
            <a:ext cx="95" cy="46800"/>
          </a:xfrm>
          <a:custGeom>
            <a:avLst/>
            <a:gdLst/>
            <a:ahLst/>
            <a:cxnLst/>
            <a:rect l="0" t="0" r="0" b="0"/>
            <a:pathLst>
              <a:path w="95" h="46800">
                <a:moveTo>
                  <a:pt x="0" y="0"/>
                </a:moveTo>
                <a:lnTo>
                  <a:pt x="0" y="46800"/>
                </a:lnTo>
              </a:path>
            </a:pathLst>
          </a:custGeom>
          <a:noFill/>
          <a:ln w="8255">
            <a:solidFill>
              <a:srgbClr val="77828C"/>
            </a:solidFill>
          </a:ln>
        </p:spPr>
      </p:sp>
      <p:sp>
        <p:nvSpPr>
          <p:cNvPr id="60023" name="Build | modulated features to coordinate update head">
            <a:extLst>
              <a:ext uri="{FF2B5EF4-FFF2-40B4-BE49-F238E27FC236}">
                <a16:creationId xmlns:a16="http://schemas.microsoft.com/office/drawing/2014/main" id="{13D09B9E-FA0F-4164-AD3E-A36520748ACC}"/>
              </a:ext>
            </a:extLst>
          </p:cNvPr>
          <p:cNvSpPr>
            <a:spLocks noGrp="1"/>
          </p:cNvSpPr>
          <p:nvPr/>
        </p:nvSpPr>
        <p:spPr>
          <a:xfrm>
            <a:off x="5256270" y="3223658"/>
            <a:ext cx="28261" cy="27142"/>
          </a:xfrm>
          <a:custGeom>
            <a:avLst/>
            <a:gdLst/>
            <a:ahLst/>
            <a:cxnLst/>
            <a:rect l="0" t="0" r="0" b="0"/>
            <a:pathLst>
              <a:path w="28261" h="27142">
                <a:moveTo>
                  <a:pt x="0" y="0"/>
                </a:moveTo>
                <a:lnTo>
                  <a:pt x="14130" y="27142"/>
                </a:lnTo>
                <a:lnTo>
                  <a:pt x="28261" y="0"/>
                </a:lnTo>
              </a:path>
            </a:pathLst>
          </a:custGeom>
          <a:noFill/>
          <a:ln w="8255">
            <a:solidFill>
              <a:srgbClr val="77828C"/>
            </a:solidFill>
          </a:ln>
        </p:spPr>
      </p:sp>
      <p:sp>
        <p:nvSpPr>
          <p:cNvPr id="60024" name="Build | coordinate update">
            <a:extLst>
              <a:ext uri="{FF2B5EF4-FFF2-40B4-BE49-F238E27FC236}">
                <a16:creationId xmlns:a16="http://schemas.microsoft.com/office/drawing/2014/main" id="{883EFB34-22A3-42AF-A97E-BA08AD61712B}"/>
              </a:ext>
            </a:extLst>
          </p:cNvPr>
          <p:cNvSpPr>
            <a:spLocks noGrp="1"/>
          </p:cNvSpPr>
          <p:nvPr/>
        </p:nvSpPr>
        <p:spPr>
          <a:xfrm>
            <a:off x="5043600" y="3279600"/>
            <a:ext cx="997200" cy="183600"/>
          </a:xfrm>
          <a:prstGeom prst="roundRect">
            <a:avLst>
              <a:gd name="adj" fmla="val 41503"/>
            </a:avLst>
          </a:prstGeom>
          <a:solidFill>
            <a:srgbClr val="FFFFFF"/>
          </a:solidFill>
          <a:ln w="7620">
            <a:solidFill>
              <a:srgbClr val="C8CFD4"/>
            </a:solidFill>
          </a:ln>
        </p:spPr>
      </p:sp>
      <p:sp>
        <p:nvSpPr>
          <p:cNvPr id="60025" name="Build | label">
            <a:extLst>
              <a:ext uri="{FF2B5EF4-FFF2-40B4-BE49-F238E27FC236}">
                <a16:creationId xmlns:a16="http://schemas.microsoft.com/office/drawing/2014/main" id="{699F0448-4B4C-4E7F-B706-4FA7653D9047}"/>
              </a:ext>
            </a:extLst>
          </p:cNvPr>
          <p:cNvSpPr>
            <a:spLocks noGrp="1"/>
          </p:cNvSpPr>
          <p:nvPr/>
        </p:nvSpPr>
        <p:spPr>
          <a:xfrm>
            <a:off x="5054400" y="3312000"/>
            <a:ext cx="975600" cy="111600"/>
          </a:xfrm>
          <a:prstGeom prst="rect">
            <a:avLst/>
          </a:prstGeom>
          <a:noFill/>
          <a:ln w="0">
            <a:noFill/>
          </a:ln>
        </p:spPr>
        <p:txBody>
          <a:bodyPr wrap="none" lIns="0" tIns="0" rIns="0" bIns="0" anchor="ctr">
            <a:noAutofit/>
          </a:bodyPr>
          <a:lstStyle>
            <a:defPPr algn="ctr">
              <a:defRPr sz="630" b="0">
                <a:solidFill>
                  <a:srgbClr val="263442"/>
                </a:solidFill>
                <a:latin typeface="Arial"/>
                <a:ea typeface="Arial"/>
                <a:cs typeface="Arial"/>
              </a:defRPr>
            </a:defPPr>
            <a:lvl1pPr algn="ctr">
              <a:defRPr sz="630" b="0">
                <a:solidFill>
                  <a:srgbClr val="263442"/>
                </a:solidFill>
                <a:latin typeface="Arial"/>
                <a:ea typeface="Arial"/>
                <a:cs typeface="Arial"/>
              </a:defRPr>
            </a:lvl1pPr>
            <a:lvl2pPr algn="ctr">
              <a:defRPr sz="630" b="0">
                <a:solidFill>
                  <a:srgbClr val="263442"/>
                </a:solidFill>
                <a:latin typeface="Arial"/>
                <a:ea typeface="Arial"/>
                <a:cs typeface="Arial"/>
              </a:defRPr>
            </a:lvl2pPr>
            <a:lvl3pPr algn="ctr">
              <a:defRPr sz="630" b="0">
                <a:solidFill>
                  <a:srgbClr val="263442"/>
                </a:solidFill>
                <a:latin typeface="Arial"/>
                <a:ea typeface="Arial"/>
                <a:cs typeface="Arial"/>
              </a:defRPr>
            </a:lvl3pPr>
            <a:lvl4pPr algn="ctr">
              <a:defRPr sz="630" b="0">
                <a:solidFill>
                  <a:srgbClr val="263442"/>
                </a:solidFill>
                <a:latin typeface="Arial"/>
                <a:ea typeface="Arial"/>
                <a:cs typeface="Arial"/>
              </a:defRPr>
            </a:lvl4pPr>
            <a:lvl5pPr algn="ctr">
              <a:defRPr sz="630" b="0">
                <a:solidFill>
                  <a:srgbClr val="263442"/>
                </a:solidFill>
                <a:latin typeface="Arial"/>
                <a:ea typeface="Arial"/>
                <a:cs typeface="Arial"/>
              </a:defRPr>
            </a:lvl5pPr>
            <a:lvl6pPr algn="ctr">
              <a:defRPr sz="630" b="0">
                <a:solidFill>
                  <a:srgbClr val="263442"/>
                </a:solidFill>
                <a:latin typeface="Arial"/>
                <a:ea typeface="Arial"/>
                <a:cs typeface="Arial"/>
              </a:defRPr>
            </a:lvl6pPr>
            <a:lvl7pPr algn="ctr">
              <a:defRPr sz="630" b="0">
                <a:solidFill>
                  <a:srgbClr val="263442"/>
                </a:solidFill>
                <a:latin typeface="Arial"/>
                <a:ea typeface="Arial"/>
                <a:cs typeface="Arial"/>
              </a:defRPr>
            </a:lvl7pPr>
            <a:lvl8pPr algn="ctr">
              <a:defRPr sz="630" b="0">
                <a:solidFill>
                  <a:srgbClr val="263442"/>
                </a:solidFill>
                <a:latin typeface="Arial"/>
                <a:ea typeface="Arial"/>
                <a:cs typeface="Arial"/>
              </a:defRPr>
            </a:lvl8pPr>
            <a:lvl9pPr algn="ctr">
              <a:defRPr sz="630" b="0">
                <a:solidFill>
                  <a:srgbClr val="263442"/>
                </a:solidFill>
                <a:latin typeface="Arial"/>
                <a:ea typeface="Arial"/>
                <a:cs typeface="Arial"/>
              </a:defRPr>
            </a:lvl9pPr>
          </a:lstStyle>
          <a:p>
            <a:pPr algn="ctr">
              <a:defRPr sz="630" b="0">
                <a:solidFill>
                  <a:srgbClr val="263442"/>
                </a:solidFill>
                <a:latin typeface="Arial"/>
                <a:ea typeface="Arial"/>
                <a:cs typeface="Arial"/>
              </a:defRPr>
            </a:pPr>
            <a:r>
              <a:rPr sz="630" b="0">
                <a:solidFill>
                  <a:srgbClr val="263442"/>
                </a:solidFill>
                <a:latin typeface="Arial"/>
                <a:ea typeface="Arial"/>
                <a:cs typeface="Arial"/>
              </a:rPr>
              <a:t>Coordinate update</a:t>
            </a:r>
          </a:p>
        </p:txBody>
      </p:sp>
      <p:sp>
        <p:nvSpPr>
          <p:cNvPr id="60026" name="Build | updated atom coordinates to pose">
            <a:extLst>
              <a:ext uri="{FF2B5EF4-FFF2-40B4-BE49-F238E27FC236}">
                <a16:creationId xmlns:a16="http://schemas.microsoft.com/office/drawing/2014/main" id="{590CFCCC-7F5E-4D35-970B-961C21AD1FAF}"/>
              </a:ext>
            </a:extLst>
          </p:cNvPr>
          <p:cNvSpPr>
            <a:spLocks noGrp="1"/>
          </p:cNvSpPr>
          <p:nvPr/>
        </p:nvSpPr>
        <p:spPr>
          <a:xfrm>
            <a:off x="5547600" y="3535200"/>
            <a:ext cx="95" cy="64800"/>
          </a:xfrm>
          <a:custGeom>
            <a:avLst/>
            <a:gdLst/>
            <a:ahLst/>
            <a:cxnLst/>
            <a:rect l="0" t="0" r="0" b="0"/>
            <a:pathLst>
              <a:path w="95" h="64800">
                <a:moveTo>
                  <a:pt x="0" y="0"/>
                </a:moveTo>
                <a:lnTo>
                  <a:pt x="0" y="64800"/>
                </a:lnTo>
              </a:path>
            </a:pathLst>
          </a:custGeom>
          <a:noFill/>
          <a:ln w="8255">
            <a:solidFill>
              <a:srgbClr val="77828C"/>
            </a:solidFill>
          </a:ln>
        </p:spPr>
      </p:sp>
      <p:sp>
        <p:nvSpPr>
          <p:cNvPr id="60027" name="Build | updated atom coordinates to pose head">
            <a:extLst>
              <a:ext uri="{FF2B5EF4-FFF2-40B4-BE49-F238E27FC236}">
                <a16:creationId xmlns:a16="http://schemas.microsoft.com/office/drawing/2014/main" id="{CBD28E31-E628-4C58-AAC4-C4D0CEB29FFB}"/>
              </a:ext>
            </a:extLst>
          </p:cNvPr>
          <p:cNvSpPr>
            <a:spLocks noGrp="1"/>
          </p:cNvSpPr>
          <p:nvPr/>
        </p:nvSpPr>
        <p:spPr>
          <a:xfrm>
            <a:off x="5533470" y="3572858"/>
            <a:ext cx="28261" cy="27142"/>
          </a:xfrm>
          <a:custGeom>
            <a:avLst/>
            <a:gdLst/>
            <a:ahLst/>
            <a:cxnLst/>
            <a:rect l="0" t="0" r="0" b="0"/>
            <a:pathLst>
              <a:path w="28261" h="27142">
                <a:moveTo>
                  <a:pt x="0" y="0"/>
                </a:moveTo>
                <a:lnTo>
                  <a:pt x="14130" y="27142"/>
                </a:lnTo>
                <a:lnTo>
                  <a:pt x="28261" y="0"/>
                </a:lnTo>
              </a:path>
            </a:pathLst>
          </a:custGeom>
          <a:noFill/>
          <a:ln w="8255">
            <a:solidFill>
              <a:srgbClr val="77828C"/>
            </a:solidFill>
          </a:ln>
        </p:spPr>
      </p:sp>
      <p:pic>
        <p:nvPicPr>
          <p:cNvPr id="60028" name="图片 60027">
            <a:extLst>
              <a:ext uri="{FF2B5EF4-FFF2-40B4-BE49-F238E27FC236}">
                <a16:creationId xmlns:a16="http://schemas.microsoft.com/office/drawing/2014/main" id="{F95B79DD-2418-4A06-B1EB-7082B8D928ED}"/>
              </a:ext>
            </a:extLst>
          </p:cNvPr>
          <p:cNvPicPr>
            <a:picLocks noChangeAspect="1"/>
          </p:cNvPicPr>
          <p:nvPr/>
        </p:nvPicPr>
        <p:blipFill>
          <a:blip r:embed="rId6"/>
          <a:stretch/>
        </p:blipFill>
        <p:spPr>
          <a:xfrm>
            <a:off x="5113246" y="3618000"/>
            <a:ext cx="872308" cy="630000"/>
          </a:xfrm>
          <a:prstGeom prst="rect">
            <a:avLst/>
          </a:prstGeom>
        </p:spPr>
      </p:pic>
      <p:sp>
        <p:nvSpPr>
          <p:cNvPr id="60029" name="Build | label">
            <a:extLst>
              <a:ext uri="{FF2B5EF4-FFF2-40B4-BE49-F238E27FC236}">
                <a16:creationId xmlns:a16="http://schemas.microsoft.com/office/drawing/2014/main" id="{3AC21760-C0CF-4B5A-A1AF-06B02562DD77}"/>
              </a:ext>
            </a:extLst>
          </p:cNvPr>
          <p:cNvSpPr>
            <a:spLocks noGrp="1"/>
          </p:cNvSpPr>
          <p:nvPr/>
        </p:nvSpPr>
        <p:spPr>
          <a:xfrm>
            <a:off x="5004000" y="4266000"/>
            <a:ext cx="1090800" cy="100800"/>
          </a:xfrm>
          <a:prstGeom prst="rect">
            <a:avLst/>
          </a:prstGeom>
          <a:noFill/>
          <a:ln w="0">
            <a:noFill/>
          </a:ln>
        </p:spPr>
        <p:txBody>
          <a:bodyPr wrap="none" lIns="0" tIns="0" rIns="0" bIns="0" anchor="ctr">
            <a:noAutofit/>
          </a:bodyPr>
          <a:lstStyle>
            <a:defPPr algn="ctr">
              <a:defRPr sz="670" b="0">
                <a:solidFill>
                  <a:srgbClr val="263442"/>
                </a:solidFill>
                <a:latin typeface="Arial"/>
                <a:ea typeface="Arial"/>
                <a:cs typeface="Arial"/>
              </a:defRPr>
            </a:defPPr>
            <a:lvl1pPr algn="ctr">
              <a:defRPr sz="670" b="0">
                <a:solidFill>
                  <a:srgbClr val="263442"/>
                </a:solidFill>
                <a:latin typeface="Arial"/>
                <a:ea typeface="Arial"/>
                <a:cs typeface="Arial"/>
              </a:defRPr>
            </a:lvl1pPr>
            <a:lvl2pPr algn="ctr">
              <a:defRPr sz="670" b="0">
                <a:solidFill>
                  <a:srgbClr val="263442"/>
                </a:solidFill>
                <a:latin typeface="Arial"/>
                <a:ea typeface="Arial"/>
                <a:cs typeface="Arial"/>
              </a:defRPr>
            </a:lvl2pPr>
            <a:lvl3pPr algn="ctr">
              <a:defRPr sz="670" b="0">
                <a:solidFill>
                  <a:srgbClr val="263442"/>
                </a:solidFill>
                <a:latin typeface="Arial"/>
                <a:ea typeface="Arial"/>
                <a:cs typeface="Arial"/>
              </a:defRPr>
            </a:lvl3pPr>
            <a:lvl4pPr algn="ctr">
              <a:defRPr sz="670" b="0">
                <a:solidFill>
                  <a:srgbClr val="263442"/>
                </a:solidFill>
                <a:latin typeface="Arial"/>
                <a:ea typeface="Arial"/>
                <a:cs typeface="Arial"/>
              </a:defRPr>
            </a:lvl4pPr>
            <a:lvl5pPr algn="ctr">
              <a:defRPr sz="670" b="0">
                <a:solidFill>
                  <a:srgbClr val="263442"/>
                </a:solidFill>
                <a:latin typeface="Arial"/>
                <a:ea typeface="Arial"/>
                <a:cs typeface="Arial"/>
              </a:defRPr>
            </a:lvl5pPr>
            <a:lvl6pPr algn="ctr">
              <a:defRPr sz="670" b="0">
                <a:solidFill>
                  <a:srgbClr val="263442"/>
                </a:solidFill>
                <a:latin typeface="Arial"/>
                <a:ea typeface="Arial"/>
                <a:cs typeface="Arial"/>
              </a:defRPr>
            </a:lvl6pPr>
            <a:lvl7pPr algn="ctr">
              <a:defRPr sz="670" b="0">
                <a:solidFill>
                  <a:srgbClr val="263442"/>
                </a:solidFill>
                <a:latin typeface="Arial"/>
                <a:ea typeface="Arial"/>
                <a:cs typeface="Arial"/>
              </a:defRPr>
            </a:lvl7pPr>
            <a:lvl8pPr algn="ctr">
              <a:defRPr sz="670" b="0">
                <a:solidFill>
                  <a:srgbClr val="263442"/>
                </a:solidFill>
                <a:latin typeface="Arial"/>
                <a:ea typeface="Arial"/>
                <a:cs typeface="Arial"/>
              </a:defRPr>
            </a:lvl8pPr>
            <a:lvl9pPr algn="ctr">
              <a:defRPr sz="670" b="0">
                <a:solidFill>
                  <a:srgbClr val="263442"/>
                </a:solidFill>
                <a:latin typeface="Arial"/>
                <a:ea typeface="Arial"/>
                <a:cs typeface="Arial"/>
              </a:defRPr>
            </a:lvl9pPr>
          </a:lstStyle>
          <a:p>
            <a:pPr algn="ctr">
              <a:defRPr sz="670" b="0">
                <a:solidFill>
                  <a:srgbClr val="263442"/>
                </a:solidFill>
                <a:latin typeface="Arial"/>
                <a:ea typeface="Arial"/>
                <a:cs typeface="Arial"/>
              </a:defRPr>
            </a:pPr>
            <a:r>
              <a:rPr sz="670" b="0">
                <a:solidFill>
                  <a:srgbClr val="263442"/>
                </a:solidFill>
                <a:latin typeface="Arial"/>
                <a:ea typeface="Arial"/>
                <a:cs typeface="Arial"/>
              </a:rPr>
              <a:t>All-atom ligand pose</a:t>
            </a:r>
          </a:p>
        </p:txBody>
      </p:sp>
    </p:spTree>
    <p:extLst>
      <p:ext uri="{BB962C8B-B14F-4D97-AF65-F5344CB8AC3E}">
        <p14:creationId xmlns:p14="http://schemas.microsoft.com/office/powerpoint/2010/main" val="1836603306"/>
      </p:ext>
    </p:extLst>
  </p:cSld>
  <p:clrMapOvr>
    <a:masterClrMapping/>
  </p:clrMapOvr>
  <p:extLst>
    <p:ext uri="{6950BFC3-D8DA-4A85-94F7-54DA5524770B}">
      <p188:commentRel xmlns:p188="http://schemas.microsoft.com/office/powerpoint/2018/8/main" r:id="rId3"/>
    </p:ext>
  </p:extLs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352734-FCAE-2B81-54BC-B01F7B050C10}"/>
            </a:ext>
          </a:extLst>
        </p:cNvPr>
        <p:cNvGrpSpPr/>
        <p:nvPr/>
      </p:nvGrpSpPr>
      <p:grpSpPr>
        <a:xfrm>
          <a:off x="0" y="0"/>
          <a:ext cx="0" cy="0"/>
          <a:chOff x="0" y="0"/>
          <a:chExt cx="0" cy="0"/>
        </a:xfrm>
      </p:grpSpPr>
      <p:sp>
        <p:nvSpPr>
          <p:cNvPr id="4" name="Panel | Build background">
            <a:extLst>
              <a:ext uri="{FF2B5EF4-FFF2-40B4-BE49-F238E27FC236}">
                <a16:creationId xmlns:a16="http://schemas.microsoft.com/office/drawing/2014/main" id="{3F93B921-327F-EA56-1B22-0D09369772CD}"/>
              </a:ext>
            </a:extLst>
          </p:cNvPr>
          <p:cNvSpPr/>
          <p:nvPr/>
        </p:nvSpPr>
        <p:spPr>
          <a:xfrm>
            <a:off x="4868797" y="84564"/>
            <a:ext cx="1354615" cy="4331875"/>
          </a:xfrm>
          <a:prstGeom prst="roundRect">
            <a:avLst>
              <a:gd name="adj" fmla="val 2000"/>
            </a:avLst>
          </a:prstGeom>
          <a:solidFill>
            <a:srgbClr val="FAF6EE"/>
          </a:solidFill>
          <a:ln w="9720">
            <a:solidFill>
              <a:srgbClr val="E3D9C6"/>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dirty="0"/>
          </a:p>
        </p:txBody>
      </p:sp>
      <p:sp>
        <p:nvSpPr>
          <p:cNvPr id="11" name="TextBox 8">
            <a:extLst>
              <a:ext uri="{FF2B5EF4-FFF2-40B4-BE49-F238E27FC236}">
                <a16:creationId xmlns:a16="http://schemas.microsoft.com/office/drawing/2014/main" id="{E6455CE4-B1DF-384C-F92E-829DDB28E816}"/>
              </a:ext>
            </a:extLst>
          </p:cNvPr>
          <p:cNvSpPr txBox="1"/>
          <p:nvPr/>
        </p:nvSpPr>
        <p:spPr>
          <a:xfrm>
            <a:off x="4902380" y="107125"/>
            <a:ext cx="174028" cy="149656"/>
          </a:xfrm>
          <a:prstGeom prst="rect">
            <a:avLst/>
          </a:prstGeom>
          <a:noFill/>
        </p:spPr>
        <p:txBody>
          <a:bodyPr wrap="square" lIns="0" tIns="0" rIns="0" bIns="0" anchor="ctr">
            <a:spAutoFit/>
          </a:bodyPr>
          <a:lstStyle/>
          <a:p>
            <a:pPr algn="l">
              <a:lnSpc>
                <a:spcPct val="105000"/>
              </a:lnSpc>
            </a:pPr>
            <a:r>
              <a:rPr sz="995" b="1" dirty="0">
                <a:solidFill>
                  <a:srgbClr val="263442"/>
                </a:solidFill>
                <a:latin typeface="Arial"/>
              </a:rPr>
              <a:t>c</a:t>
            </a:r>
          </a:p>
        </p:txBody>
      </p:sp>
      <p:sp>
        <p:nvSpPr>
          <p:cNvPr id="12" name="TextBox 9">
            <a:extLst>
              <a:ext uri="{FF2B5EF4-FFF2-40B4-BE49-F238E27FC236}">
                <a16:creationId xmlns:a16="http://schemas.microsoft.com/office/drawing/2014/main" id="{081F4C46-44A2-3E43-D338-0A52F1D83598}"/>
              </a:ext>
            </a:extLst>
          </p:cNvPr>
          <p:cNvSpPr txBox="1"/>
          <p:nvPr/>
        </p:nvSpPr>
        <p:spPr>
          <a:xfrm>
            <a:off x="5060587" y="120126"/>
            <a:ext cx="1202377" cy="239809"/>
          </a:xfrm>
          <a:prstGeom prst="rect">
            <a:avLst/>
          </a:prstGeom>
          <a:noFill/>
        </p:spPr>
        <p:txBody>
          <a:bodyPr wrap="square" lIns="0" tIns="0" rIns="0" bIns="0" anchor="ctr">
            <a:spAutoFit/>
          </a:bodyPr>
          <a:lstStyle/>
          <a:p>
            <a:pPr algn="l">
              <a:lnSpc>
                <a:spcPct val="98000"/>
              </a:lnSpc>
            </a:pPr>
            <a:r>
              <a:rPr sz="795" dirty="0">
                <a:solidFill>
                  <a:srgbClr val="263442"/>
                </a:solidFill>
                <a:latin typeface="Arial"/>
              </a:rPr>
              <a:t>Build: downstream</a:t>
            </a:r>
          </a:p>
          <a:p>
            <a:pPr algn="l">
              <a:lnSpc>
                <a:spcPct val="98000"/>
              </a:lnSpc>
            </a:pPr>
            <a:r>
              <a:rPr sz="795" dirty="0">
                <a:solidFill>
                  <a:srgbClr val="263442"/>
                </a:solidFill>
                <a:latin typeface="Arial"/>
              </a:rPr>
              <a:t>pose reconstruction</a:t>
            </a:r>
          </a:p>
        </p:txBody>
      </p:sp>
      <p:sp>
        <p:nvSpPr>
          <p:cNvPr id="768" name="Build four inputs">
            <a:extLst>
              <a:ext uri="{FF2B5EF4-FFF2-40B4-BE49-F238E27FC236}">
                <a16:creationId xmlns:a16="http://schemas.microsoft.com/office/drawing/2014/main" id="{2BF98272-1D43-106D-C4EA-676CFECC33CF}"/>
              </a:ext>
            </a:extLst>
          </p:cNvPr>
          <p:cNvSpPr>
            <a:spLocks noGrp="1"/>
          </p:cNvSpPr>
          <p:nvPr/>
        </p:nvSpPr>
        <p:spPr>
          <a:xfrm>
            <a:off x="4963973" y="420252"/>
            <a:ext cx="1158792" cy="1302153"/>
          </a:xfrm>
          <a:prstGeom prst="roundRect">
            <a:avLst>
              <a:gd name="adj" fmla="val 4554"/>
            </a:avLst>
          </a:prstGeom>
          <a:solidFill>
            <a:srgbClr val="FFFFFF"/>
          </a:solidFill>
          <a:ln w="7290">
            <a:solidFill>
              <a:srgbClr val="DFD6C3"/>
            </a:solidFill>
            <a:prstDash val="solid"/>
          </a:ln>
        </p:spPr>
        <p:txBody>
          <a:bodyPr/>
          <a:lstStyle/>
          <a:p>
            <a:endParaRPr lang="zh-CN" altLang="en-US" dirty="0"/>
          </a:p>
        </p:txBody>
      </p:sp>
      <p:sp>
        <p:nvSpPr>
          <p:cNvPr id="769" name="Site label">
            <a:extLst>
              <a:ext uri="{FF2B5EF4-FFF2-40B4-BE49-F238E27FC236}">
                <a16:creationId xmlns:a16="http://schemas.microsoft.com/office/drawing/2014/main" id="{3B2D181B-8171-23E5-904D-1E8D8B07D388}"/>
              </a:ext>
            </a:extLst>
          </p:cNvPr>
          <p:cNvSpPr>
            <a:spLocks noGrp="1"/>
          </p:cNvSpPr>
          <p:nvPr/>
        </p:nvSpPr>
        <p:spPr>
          <a:xfrm>
            <a:off x="4992638" y="834972"/>
            <a:ext cx="514364" cy="101253"/>
          </a:xfrm>
          <a:prstGeom prst="rect">
            <a:avLst/>
          </a:prstGeom>
          <a:noFill/>
          <a:ln w="6885">
            <a:noFill/>
            <a:prstDash val="solid"/>
          </a:ln>
        </p:spPr>
        <p:txBody>
          <a:bodyPr lIns="0" tIns="0" rIns="0" bIns="0" anchor="ctr"/>
          <a:lstStyle>
            <a:defPPr algn="ctr">
              <a:defRPr sz="695" b="1">
                <a:solidFill>
                  <a:srgbClr val="263442"/>
                </a:solidFill>
                <a:latin typeface="Arial"/>
                <a:ea typeface="Arial"/>
                <a:cs typeface="Arial"/>
              </a:defRPr>
            </a:defPPr>
            <a:lvl1pPr algn="ctr">
              <a:defRPr sz="695" b="1">
                <a:solidFill>
                  <a:srgbClr val="263442"/>
                </a:solidFill>
                <a:latin typeface="Arial"/>
                <a:ea typeface="Arial"/>
                <a:cs typeface="Arial"/>
              </a:defRPr>
            </a:lvl1pPr>
            <a:lvl2pPr algn="ctr">
              <a:defRPr sz="695" b="1">
                <a:solidFill>
                  <a:srgbClr val="263442"/>
                </a:solidFill>
                <a:latin typeface="Arial"/>
                <a:ea typeface="Arial"/>
                <a:cs typeface="Arial"/>
              </a:defRPr>
            </a:lvl2pPr>
            <a:lvl3pPr algn="ctr">
              <a:defRPr sz="695" b="1">
                <a:solidFill>
                  <a:srgbClr val="263442"/>
                </a:solidFill>
                <a:latin typeface="Arial"/>
                <a:ea typeface="Arial"/>
                <a:cs typeface="Arial"/>
              </a:defRPr>
            </a:lvl3pPr>
            <a:lvl4pPr algn="ctr">
              <a:defRPr sz="695" b="1">
                <a:solidFill>
                  <a:srgbClr val="263442"/>
                </a:solidFill>
                <a:latin typeface="Arial"/>
                <a:ea typeface="Arial"/>
                <a:cs typeface="Arial"/>
              </a:defRPr>
            </a:lvl4pPr>
            <a:lvl5pPr algn="ctr">
              <a:defRPr sz="695" b="1">
                <a:solidFill>
                  <a:srgbClr val="263442"/>
                </a:solidFill>
                <a:latin typeface="Arial"/>
                <a:ea typeface="Arial"/>
                <a:cs typeface="Arial"/>
              </a:defRPr>
            </a:lvl5pPr>
            <a:lvl6pPr algn="ctr">
              <a:defRPr sz="695" b="1">
                <a:solidFill>
                  <a:srgbClr val="263442"/>
                </a:solidFill>
                <a:latin typeface="Arial"/>
                <a:ea typeface="Arial"/>
                <a:cs typeface="Arial"/>
              </a:defRPr>
            </a:lvl6pPr>
            <a:lvl7pPr algn="ctr">
              <a:defRPr sz="695" b="1">
                <a:solidFill>
                  <a:srgbClr val="263442"/>
                </a:solidFill>
                <a:latin typeface="Arial"/>
                <a:ea typeface="Arial"/>
                <a:cs typeface="Arial"/>
              </a:defRPr>
            </a:lvl7pPr>
            <a:lvl8pPr algn="ctr">
              <a:defRPr sz="695" b="1">
                <a:solidFill>
                  <a:srgbClr val="263442"/>
                </a:solidFill>
                <a:latin typeface="Arial"/>
                <a:ea typeface="Arial"/>
                <a:cs typeface="Arial"/>
              </a:defRPr>
            </a:lvl8pPr>
            <a:lvl9pPr algn="ctr">
              <a:defRPr sz="695" b="1">
                <a:solidFill>
                  <a:srgbClr val="263442"/>
                </a:solidFill>
                <a:latin typeface="Arial"/>
                <a:ea typeface="Arial"/>
                <a:cs typeface="Arial"/>
              </a:defRPr>
            </a:lvl9pPr>
          </a:lstStyle>
          <a:p>
            <a:pPr algn="ctr">
              <a:defRPr sz="695" b="1">
                <a:solidFill>
                  <a:srgbClr val="263442"/>
                </a:solidFill>
                <a:latin typeface="Arial"/>
                <a:ea typeface="Arial"/>
                <a:cs typeface="Arial"/>
              </a:defRPr>
            </a:pPr>
            <a:r>
              <a:rPr sz="695" b="0" dirty="0">
                <a:solidFill>
                  <a:srgbClr val="263442"/>
                </a:solidFill>
                <a:latin typeface="Arial"/>
                <a:ea typeface="Arial"/>
                <a:cs typeface="Arial"/>
              </a:rPr>
              <a:t>Site</a:t>
            </a:r>
          </a:p>
        </p:txBody>
      </p:sp>
      <p:sp>
        <p:nvSpPr>
          <p:cNvPr id="770" name="Site provenance">
            <a:extLst>
              <a:ext uri="{FF2B5EF4-FFF2-40B4-BE49-F238E27FC236}">
                <a16:creationId xmlns:a16="http://schemas.microsoft.com/office/drawing/2014/main" id="{1D7E3247-83A3-5643-3DAD-7118C029E905}"/>
              </a:ext>
            </a:extLst>
          </p:cNvPr>
          <p:cNvSpPr>
            <a:spLocks noGrp="1"/>
          </p:cNvSpPr>
          <p:nvPr/>
        </p:nvSpPr>
        <p:spPr>
          <a:xfrm>
            <a:off x="4999032" y="921461"/>
            <a:ext cx="514364" cy="85052"/>
          </a:xfrm>
          <a:prstGeom prst="rect">
            <a:avLst/>
          </a:prstGeom>
          <a:noFill/>
          <a:ln w="6885">
            <a:noFill/>
            <a:prstDash val="solid"/>
          </a:ln>
        </p:spPr>
        <p:txBody>
          <a:bodyPr lIns="0" tIns="0" rIns="0" bIns="0" anchor="ctr"/>
          <a:lstStyle>
            <a:defPPr algn="ctr">
              <a:defRPr sz="590" b="0">
                <a:solidFill>
                  <a:srgbClr val="263442"/>
                </a:solidFill>
                <a:latin typeface="Arial"/>
                <a:ea typeface="Arial"/>
                <a:cs typeface="Arial"/>
              </a:defRPr>
            </a:defPPr>
            <a:lvl1pPr algn="ctr">
              <a:defRPr sz="590" b="0">
                <a:solidFill>
                  <a:srgbClr val="263442"/>
                </a:solidFill>
                <a:latin typeface="Arial"/>
                <a:ea typeface="Arial"/>
                <a:cs typeface="Arial"/>
              </a:defRPr>
            </a:lvl1pPr>
            <a:lvl2pPr algn="ctr">
              <a:defRPr sz="590" b="0">
                <a:solidFill>
                  <a:srgbClr val="263442"/>
                </a:solidFill>
                <a:latin typeface="Arial"/>
                <a:ea typeface="Arial"/>
                <a:cs typeface="Arial"/>
              </a:defRPr>
            </a:lvl2pPr>
            <a:lvl3pPr algn="ctr">
              <a:defRPr sz="590" b="0">
                <a:solidFill>
                  <a:srgbClr val="263442"/>
                </a:solidFill>
                <a:latin typeface="Arial"/>
                <a:ea typeface="Arial"/>
                <a:cs typeface="Arial"/>
              </a:defRPr>
            </a:lvl3pPr>
            <a:lvl4pPr algn="ctr">
              <a:defRPr sz="590" b="0">
                <a:solidFill>
                  <a:srgbClr val="263442"/>
                </a:solidFill>
                <a:latin typeface="Arial"/>
                <a:ea typeface="Arial"/>
                <a:cs typeface="Arial"/>
              </a:defRPr>
            </a:lvl4pPr>
            <a:lvl5pPr algn="ctr">
              <a:defRPr sz="590" b="0">
                <a:solidFill>
                  <a:srgbClr val="263442"/>
                </a:solidFill>
                <a:latin typeface="Arial"/>
                <a:ea typeface="Arial"/>
                <a:cs typeface="Arial"/>
              </a:defRPr>
            </a:lvl5pPr>
            <a:lvl6pPr algn="ctr">
              <a:defRPr sz="590" b="0">
                <a:solidFill>
                  <a:srgbClr val="263442"/>
                </a:solidFill>
                <a:latin typeface="Arial"/>
                <a:ea typeface="Arial"/>
                <a:cs typeface="Arial"/>
              </a:defRPr>
            </a:lvl6pPr>
            <a:lvl7pPr algn="ctr">
              <a:defRPr sz="590" b="0">
                <a:solidFill>
                  <a:srgbClr val="263442"/>
                </a:solidFill>
                <a:latin typeface="Arial"/>
                <a:ea typeface="Arial"/>
                <a:cs typeface="Arial"/>
              </a:defRPr>
            </a:lvl7pPr>
            <a:lvl8pPr algn="ctr">
              <a:defRPr sz="590" b="0">
                <a:solidFill>
                  <a:srgbClr val="263442"/>
                </a:solidFill>
                <a:latin typeface="Arial"/>
                <a:ea typeface="Arial"/>
                <a:cs typeface="Arial"/>
              </a:defRPr>
            </a:lvl8pPr>
            <a:lvl9pPr algn="ctr">
              <a:defRPr sz="590" b="0">
                <a:solidFill>
                  <a:srgbClr val="263442"/>
                </a:solidFill>
                <a:latin typeface="Arial"/>
                <a:ea typeface="Arial"/>
                <a:cs typeface="Arial"/>
              </a:defRPr>
            </a:lvl9pPr>
          </a:lstStyle>
          <a:p>
            <a:pPr algn="ctr">
              <a:defRPr sz="590" b="0">
                <a:solidFill>
                  <a:srgbClr val="263442"/>
                </a:solidFill>
                <a:latin typeface="Arial"/>
                <a:ea typeface="Arial"/>
                <a:cs typeface="Arial"/>
              </a:defRPr>
            </a:pPr>
            <a:r>
              <a:rPr sz="550" dirty="0">
                <a:solidFill>
                  <a:srgbClr val="263442"/>
                </a:solidFill>
                <a:latin typeface="Arial"/>
                <a:ea typeface="Arial"/>
                <a:cs typeface="Arial"/>
              </a:rPr>
              <a:t>from Find</a:t>
            </a:r>
          </a:p>
        </p:txBody>
      </p:sp>
      <p:sp>
        <p:nvSpPr>
          <p:cNvPr id="771" name="Pocket label">
            <a:extLst>
              <a:ext uri="{FF2B5EF4-FFF2-40B4-BE49-F238E27FC236}">
                <a16:creationId xmlns:a16="http://schemas.microsoft.com/office/drawing/2014/main" id="{DC9603B8-71EE-2C1D-249F-079678E93D98}"/>
              </a:ext>
            </a:extLst>
          </p:cNvPr>
          <p:cNvSpPr>
            <a:spLocks noGrp="1"/>
          </p:cNvSpPr>
          <p:nvPr/>
        </p:nvSpPr>
        <p:spPr>
          <a:xfrm>
            <a:off x="5581260" y="854408"/>
            <a:ext cx="514364" cy="101253"/>
          </a:xfrm>
          <a:prstGeom prst="rect">
            <a:avLst/>
          </a:prstGeom>
          <a:noFill/>
          <a:ln w="6885">
            <a:noFill/>
            <a:prstDash val="solid"/>
          </a:ln>
        </p:spPr>
        <p:txBody>
          <a:bodyPr lIns="0" tIns="0" rIns="0" bIns="0" anchor="ctr"/>
          <a:lstStyle>
            <a:defPPr algn="ctr">
              <a:defRPr sz="695" b="1">
                <a:solidFill>
                  <a:srgbClr val="263442"/>
                </a:solidFill>
                <a:latin typeface="Arial"/>
                <a:ea typeface="Arial"/>
                <a:cs typeface="Arial"/>
              </a:defRPr>
            </a:defPPr>
            <a:lvl1pPr algn="ctr">
              <a:defRPr sz="695" b="1">
                <a:solidFill>
                  <a:srgbClr val="263442"/>
                </a:solidFill>
                <a:latin typeface="Arial"/>
                <a:ea typeface="Arial"/>
                <a:cs typeface="Arial"/>
              </a:defRPr>
            </a:lvl1pPr>
            <a:lvl2pPr algn="ctr">
              <a:defRPr sz="695" b="1">
                <a:solidFill>
                  <a:srgbClr val="263442"/>
                </a:solidFill>
                <a:latin typeface="Arial"/>
                <a:ea typeface="Arial"/>
                <a:cs typeface="Arial"/>
              </a:defRPr>
            </a:lvl2pPr>
            <a:lvl3pPr algn="ctr">
              <a:defRPr sz="695" b="1">
                <a:solidFill>
                  <a:srgbClr val="263442"/>
                </a:solidFill>
                <a:latin typeface="Arial"/>
                <a:ea typeface="Arial"/>
                <a:cs typeface="Arial"/>
              </a:defRPr>
            </a:lvl3pPr>
            <a:lvl4pPr algn="ctr">
              <a:defRPr sz="695" b="1">
                <a:solidFill>
                  <a:srgbClr val="263442"/>
                </a:solidFill>
                <a:latin typeface="Arial"/>
                <a:ea typeface="Arial"/>
                <a:cs typeface="Arial"/>
              </a:defRPr>
            </a:lvl4pPr>
            <a:lvl5pPr algn="ctr">
              <a:defRPr sz="695" b="1">
                <a:solidFill>
                  <a:srgbClr val="263442"/>
                </a:solidFill>
                <a:latin typeface="Arial"/>
                <a:ea typeface="Arial"/>
                <a:cs typeface="Arial"/>
              </a:defRPr>
            </a:lvl5pPr>
            <a:lvl6pPr algn="ctr">
              <a:defRPr sz="695" b="1">
                <a:solidFill>
                  <a:srgbClr val="263442"/>
                </a:solidFill>
                <a:latin typeface="Arial"/>
                <a:ea typeface="Arial"/>
                <a:cs typeface="Arial"/>
              </a:defRPr>
            </a:lvl6pPr>
            <a:lvl7pPr algn="ctr">
              <a:defRPr sz="695" b="1">
                <a:solidFill>
                  <a:srgbClr val="263442"/>
                </a:solidFill>
                <a:latin typeface="Arial"/>
                <a:ea typeface="Arial"/>
                <a:cs typeface="Arial"/>
              </a:defRPr>
            </a:lvl7pPr>
            <a:lvl8pPr algn="ctr">
              <a:defRPr sz="695" b="1">
                <a:solidFill>
                  <a:srgbClr val="263442"/>
                </a:solidFill>
                <a:latin typeface="Arial"/>
                <a:ea typeface="Arial"/>
                <a:cs typeface="Arial"/>
              </a:defRPr>
            </a:lvl8pPr>
            <a:lvl9pPr algn="ctr">
              <a:defRPr sz="695" b="1">
                <a:solidFill>
                  <a:srgbClr val="263442"/>
                </a:solidFill>
                <a:latin typeface="Arial"/>
                <a:ea typeface="Arial"/>
                <a:cs typeface="Arial"/>
              </a:defRPr>
            </a:lvl9pPr>
          </a:lstStyle>
          <a:p>
            <a:pPr algn="ctr">
              <a:defRPr sz="695" b="1">
                <a:solidFill>
                  <a:srgbClr val="263442"/>
                </a:solidFill>
                <a:latin typeface="Arial"/>
                <a:ea typeface="Arial"/>
                <a:cs typeface="Arial"/>
              </a:defRPr>
            </a:pPr>
            <a:r>
              <a:rPr sz="695" b="0" dirty="0">
                <a:solidFill>
                  <a:srgbClr val="263442"/>
                </a:solidFill>
                <a:latin typeface="Arial"/>
                <a:ea typeface="Arial"/>
                <a:cs typeface="Arial"/>
              </a:rPr>
              <a:t>Pocket</a:t>
            </a:r>
          </a:p>
        </p:txBody>
      </p:sp>
      <p:sp>
        <p:nvSpPr>
          <p:cNvPr id="773" name="SMILES label">
            <a:extLst>
              <a:ext uri="{FF2B5EF4-FFF2-40B4-BE49-F238E27FC236}">
                <a16:creationId xmlns:a16="http://schemas.microsoft.com/office/drawing/2014/main" id="{25FC5404-5A0B-2BE5-8144-C74C3108E008}"/>
              </a:ext>
            </a:extLst>
          </p:cNvPr>
          <p:cNvSpPr>
            <a:spLocks noGrp="1"/>
          </p:cNvSpPr>
          <p:nvPr/>
        </p:nvSpPr>
        <p:spPr>
          <a:xfrm>
            <a:off x="4999664" y="1480722"/>
            <a:ext cx="514364" cy="101253"/>
          </a:xfrm>
          <a:prstGeom prst="rect">
            <a:avLst/>
          </a:prstGeom>
          <a:noFill/>
          <a:ln w="6885">
            <a:noFill/>
            <a:prstDash val="solid"/>
          </a:ln>
        </p:spPr>
        <p:txBody>
          <a:bodyPr lIns="0" tIns="0" rIns="0" bIns="0" anchor="ctr"/>
          <a:lstStyle>
            <a:defPPr algn="ctr">
              <a:defRPr sz="695" b="1">
                <a:solidFill>
                  <a:srgbClr val="263442"/>
                </a:solidFill>
                <a:latin typeface="Arial"/>
                <a:ea typeface="Arial"/>
                <a:cs typeface="Arial"/>
              </a:defRPr>
            </a:defPPr>
            <a:lvl1pPr algn="ctr">
              <a:defRPr sz="695" b="1">
                <a:solidFill>
                  <a:srgbClr val="263442"/>
                </a:solidFill>
                <a:latin typeface="Arial"/>
                <a:ea typeface="Arial"/>
                <a:cs typeface="Arial"/>
              </a:defRPr>
            </a:lvl1pPr>
            <a:lvl2pPr algn="ctr">
              <a:defRPr sz="695" b="1">
                <a:solidFill>
                  <a:srgbClr val="263442"/>
                </a:solidFill>
                <a:latin typeface="Arial"/>
                <a:ea typeface="Arial"/>
                <a:cs typeface="Arial"/>
              </a:defRPr>
            </a:lvl2pPr>
            <a:lvl3pPr algn="ctr">
              <a:defRPr sz="695" b="1">
                <a:solidFill>
                  <a:srgbClr val="263442"/>
                </a:solidFill>
                <a:latin typeface="Arial"/>
                <a:ea typeface="Arial"/>
                <a:cs typeface="Arial"/>
              </a:defRPr>
            </a:lvl3pPr>
            <a:lvl4pPr algn="ctr">
              <a:defRPr sz="695" b="1">
                <a:solidFill>
                  <a:srgbClr val="263442"/>
                </a:solidFill>
                <a:latin typeface="Arial"/>
                <a:ea typeface="Arial"/>
                <a:cs typeface="Arial"/>
              </a:defRPr>
            </a:lvl4pPr>
            <a:lvl5pPr algn="ctr">
              <a:defRPr sz="695" b="1">
                <a:solidFill>
                  <a:srgbClr val="263442"/>
                </a:solidFill>
                <a:latin typeface="Arial"/>
                <a:ea typeface="Arial"/>
                <a:cs typeface="Arial"/>
              </a:defRPr>
            </a:lvl5pPr>
            <a:lvl6pPr algn="ctr">
              <a:defRPr sz="695" b="1">
                <a:solidFill>
                  <a:srgbClr val="263442"/>
                </a:solidFill>
                <a:latin typeface="Arial"/>
                <a:ea typeface="Arial"/>
                <a:cs typeface="Arial"/>
              </a:defRPr>
            </a:lvl6pPr>
            <a:lvl7pPr algn="ctr">
              <a:defRPr sz="695" b="1">
                <a:solidFill>
                  <a:srgbClr val="263442"/>
                </a:solidFill>
                <a:latin typeface="Arial"/>
                <a:ea typeface="Arial"/>
                <a:cs typeface="Arial"/>
              </a:defRPr>
            </a:lvl7pPr>
            <a:lvl8pPr algn="ctr">
              <a:defRPr sz="695" b="1">
                <a:solidFill>
                  <a:srgbClr val="263442"/>
                </a:solidFill>
                <a:latin typeface="Arial"/>
                <a:ea typeface="Arial"/>
                <a:cs typeface="Arial"/>
              </a:defRPr>
            </a:lvl8pPr>
            <a:lvl9pPr algn="ctr">
              <a:defRPr sz="695" b="1">
                <a:solidFill>
                  <a:srgbClr val="263442"/>
                </a:solidFill>
                <a:latin typeface="Arial"/>
                <a:ea typeface="Arial"/>
                <a:cs typeface="Arial"/>
              </a:defRPr>
            </a:lvl9pPr>
          </a:lstStyle>
          <a:p>
            <a:pPr algn="ctr">
              <a:defRPr sz="695" b="1">
                <a:solidFill>
                  <a:srgbClr val="263442"/>
                </a:solidFill>
                <a:latin typeface="Arial"/>
                <a:ea typeface="Arial"/>
                <a:cs typeface="Arial"/>
              </a:defRPr>
            </a:pPr>
            <a:r>
              <a:rPr sz="695" b="0" dirty="0">
                <a:solidFill>
                  <a:srgbClr val="263442"/>
                </a:solidFill>
                <a:latin typeface="Arial"/>
                <a:ea typeface="Arial"/>
                <a:cs typeface="Arial"/>
              </a:rPr>
              <a:t>SMILES</a:t>
            </a:r>
          </a:p>
        </p:txBody>
      </p:sp>
      <p:sp>
        <p:nvSpPr>
          <p:cNvPr id="774" name="SMILES provenance">
            <a:extLst>
              <a:ext uri="{FF2B5EF4-FFF2-40B4-BE49-F238E27FC236}">
                <a16:creationId xmlns:a16="http://schemas.microsoft.com/office/drawing/2014/main" id="{479D80EF-A625-1889-2F4D-C74FF6E2BB39}"/>
              </a:ext>
            </a:extLst>
          </p:cNvPr>
          <p:cNvSpPr>
            <a:spLocks noGrp="1"/>
          </p:cNvSpPr>
          <p:nvPr/>
        </p:nvSpPr>
        <p:spPr>
          <a:xfrm>
            <a:off x="5005380" y="1568821"/>
            <a:ext cx="514364" cy="85052"/>
          </a:xfrm>
          <a:prstGeom prst="rect">
            <a:avLst/>
          </a:prstGeom>
          <a:noFill/>
          <a:ln w="6885">
            <a:noFill/>
            <a:prstDash val="solid"/>
          </a:ln>
        </p:spPr>
        <p:txBody>
          <a:bodyPr lIns="0" tIns="0" rIns="0" bIns="0" anchor="ctr"/>
          <a:lstStyle>
            <a:defPPr algn="ctr">
              <a:defRPr sz="590" b="0">
                <a:solidFill>
                  <a:srgbClr val="263442"/>
                </a:solidFill>
                <a:latin typeface="Arial"/>
                <a:ea typeface="Arial"/>
                <a:cs typeface="Arial"/>
              </a:defRPr>
            </a:defPPr>
            <a:lvl1pPr algn="ctr">
              <a:defRPr sz="590" b="0">
                <a:solidFill>
                  <a:srgbClr val="263442"/>
                </a:solidFill>
                <a:latin typeface="Arial"/>
                <a:ea typeface="Arial"/>
                <a:cs typeface="Arial"/>
              </a:defRPr>
            </a:lvl1pPr>
            <a:lvl2pPr algn="ctr">
              <a:defRPr sz="590" b="0">
                <a:solidFill>
                  <a:srgbClr val="263442"/>
                </a:solidFill>
                <a:latin typeface="Arial"/>
                <a:ea typeface="Arial"/>
                <a:cs typeface="Arial"/>
              </a:defRPr>
            </a:lvl2pPr>
            <a:lvl3pPr algn="ctr">
              <a:defRPr sz="590" b="0">
                <a:solidFill>
                  <a:srgbClr val="263442"/>
                </a:solidFill>
                <a:latin typeface="Arial"/>
                <a:ea typeface="Arial"/>
                <a:cs typeface="Arial"/>
              </a:defRPr>
            </a:lvl3pPr>
            <a:lvl4pPr algn="ctr">
              <a:defRPr sz="590" b="0">
                <a:solidFill>
                  <a:srgbClr val="263442"/>
                </a:solidFill>
                <a:latin typeface="Arial"/>
                <a:ea typeface="Arial"/>
                <a:cs typeface="Arial"/>
              </a:defRPr>
            </a:lvl4pPr>
            <a:lvl5pPr algn="ctr">
              <a:defRPr sz="590" b="0">
                <a:solidFill>
                  <a:srgbClr val="263442"/>
                </a:solidFill>
                <a:latin typeface="Arial"/>
                <a:ea typeface="Arial"/>
                <a:cs typeface="Arial"/>
              </a:defRPr>
            </a:lvl5pPr>
            <a:lvl6pPr algn="ctr">
              <a:defRPr sz="590" b="0">
                <a:solidFill>
                  <a:srgbClr val="263442"/>
                </a:solidFill>
                <a:latin typeface="Arial"/>
                <a:ea typeface="Arial"/>
                <a:cs typeface="Arial"/>
              </a:defRPr>
            </a:lvl6pPr>
            <a:lvl7pPr algn="ctr">
              <a:defRPr sz="590" b="0">
                <a:solidFill>
                  <a:srgbClr val="263442"/>
                </a:solidFill>
                <a:latin typeface="Arial"/>
                <a:ea typeface="Arial"/>
                <a:cs typeface="Arial"/>
              </a:defRPr>
            </a:lvl7pPr>
            <a:lvl8pPr algn="ctr">
              <a:defRPr sz="590" b="0">
                <a:solidFill>
                  <a:srgbClr val="263442"/>
                </a:solidFill>
                <a:latin typeface="Arial"/>
                <a:ea typeface="Arial"/>
                <a:cs typeface="Arial"/>
              </a:defRPr>
            </a:lvl8pPr>
            <a:lvl9pPr algn="ctr">
              <a:defRPr sz="590" b="0">
                <a:solidFill>
                  <a:srgbClr val="263442"/>
                </a:solidFill>
                <a:latin typeface="Arial"/>
                <a:ea typeface="Arial"/>
                <a:cs typeface="Arial"/>
              </a:defRPr>
            </a:lvl9pPr>
          </a:lstStyle>
          <a:p>
            <a:pPr algn="ctr">
              <a:defRPr sz="590" b="0">
                <a:solidFill>
                  <a:srgbClr val="263442"/>
                </a:solidFill>
                <a:latin typeface="Arial"/>
                <a:ea typeface="Arial"/>
                <a:cs typeface="Arial"/>
              </a:defRPr>
            </a:pPr>
            <a:r>
              <a:rPr sz="550" dirty="0">
                <a:solidFill>
                  <a:srgbClr val="263442"/>
                </a:solidFill>
                <a:latin typeface="Arial"/>
                <a:ea typeface="Arial"/>
                <a:cs typeface="Arial"/>
              </a:rPr>
              <a:t>from Match</a:t>
            </a:r>
          </a:p>
        </p:txBody>
      </p:sp>
      <p:sp>
        <p:nvSpPr>
          <p:cNvPr id="775" name="Density input label">
            <a:extLst>
              <a:ext uri="{FF2B5EF4-FFF2-40B4-BE49-F238E27FC236}">
                <a16:creationId xmlns:a16="http://schemas.microsoft.com/office/drawing/2014/main" id="{A743C77B-3F50-BBD8-13CB-52DCF781FE64}"/>
              </a:ext>
            </a:extLst>
          </p:cNvPr>
          <p:cNvSpPr>
            <a:spLocks noGrp="1"/>
          </p:cNvSpPr>
          <p:nvPr/>
        </p:nvSpPr>
        <p:spPr>
          <a:xfrm>
            <a:off x="5574918" y="1480706"/>
            <a:ext cx="514364" cy="101253"/>
          </a:xfrm>
          <a:prstGeom prst="rect">
            <a:avLst/>
          </a:prstGeom>
          <a:noFill/>
          <a:ln w="6885">
            <a:noFill/>
            <a:prstDash val="solid"/>
          </a:ln>
        </p:spPr>
        <p:txBody>
          <a:bodyPr lIns="0" tIns="0" rIns="0" bIns="0" anchor="ctr"/>
          <a:lstStyle>
            <a:defPPr algn="ctr">
              <a:defRPr sz="695" b="1">
                <a:solidFill>
                  <a:srgbClr val="263442"/>
                </a:solidFill>
                <a:latin typeface="Arial"/>
                <a:ea typeface="Arial"/>
                <a:cs typeface="Arial"/>
              </a:defRPr>
            </a:defPPr>
            <a:lvl1pPr algn="ctr">
              <a:defRPr sz="695" b="1">
                <a:solidFill>
                  <a:srgbClr val="263442"/>
                </a:solidFill>
                <a:latin typeface="Arial"/>
                <a:ea typeface="Arial"/>
                <a:cs typeface="Arial"/>
              </a:defRPr>
            </a:lvl1pPr>
            <a:lvl2pPr algn="ctr">
              <a:defRPr sz="695" b="1">
                <a:solidFill>
                  <a:srgbClr val="263442"/>
                </a:solidFill>
                <a:latin typeface="Arial"/>
                <a:ea typeface="Arial"/>
                <a:cs typeface="Arial"/>
              </a:defRPr>
            </a:lvl2pPr>
            <a:lvl3pPr algn="ctr">
              <a:defRPr sz="695" b="1">
                <a:solidFill>
                  <a:srgbClr val="263442"/>
                </a:solidFill>
                <a:latin typeface="Arial"/>
                <a:ea typeface="Arial"/>
                <a:cs typeface="Arial"/>
              </a:defRPr>
            </a:lvl3pPr>
            <a:lvl4pPr algn="ctr">
              <a:defRPr sz="695" b="1">
                <a:solidFill>
                  <a:srgbClr val="263442"/>
                </a:solidFill>
                <a:latin typeface="Arial"/>
                <a:ea typeface="Arial"/>
                <a:cs typeface="Arial"/>
              </a:defRPr>
            </a:lvl4pPr>
            <a:lvl5pPr algn="ctr">
              <a:defRPr sz="695" b="1">
                <a:solidFill>
                  <a:srgbClr val="263442"/>
                </a:solidFill>
                <a:latin typeface="Arial"/>
                <a:ea typeface="Arial"/>
                <a:cs typeface="Arial"/>
              </a:defRPr>
            </a:lvl5pPr>
            <a:lvl6pPr algn="ctr">
              <a:defRPr sz="695" b="1">
                <a:solidFill>
                  <a:srgbClr val="263442"/>
                </a:solidFill>
                <a:latin typeface="Arial"/>
                <a:ea typeface="Arial"/>
                <a:cs typeface="Arial"/>
              </a:defRPr>
            </a:lvl6pPr>
            <a:lvl7pPr algn="ctr">
              <a:defRPr sz="695" b="1">
                <a:solidFill>
                  <a:srgbClr val="263442"/>
                </a:solidFill>
                <a:latin typeface="Arial"/>
                <a:ea typeface="Arial"/>
                <a:cs typeface="Arial"/>
              </a:defRPr>
            </a:lvl7pPr>
            <a:lvl8pPr algn="ctr">
              <a:defRPr sz="695" b="1">
                <a:solidFill>
                  <a:srgbClr val="263442"/>
                </a:solidFill>
                <a:latin typeface="Arial"/>
                <a:ea typeface="Arial"/>
                <a:cs typeface="Arial"/>
              </a:defRPr>
            </a:lvl8pPr>
            <a:lvl9pPr algn="ctr">
              <a:defRPr sz="695" b="1">
                <a:solidFill>
                  <a:srgbClr val="263442"/>
                </a:solidFill>
                <a:latin typeface="Arial"/>
                <a:ea typeface="Arial"/>
                <a:cs typeface="Arial"/>
              </a:defRPr>
            </a:lvl9pPr>
          </a:lstStyle>
          <a:p>
            <a:pPr algn="ctr">
              <a:defRPr sz="695" b="1">
                <a:solidFill>
                  <a:srgbClr val="263442"/>
                </a:solidFill>
                <a:latin typeface="Arial"/>
                <a:ea typeface="Arial"/>
                <a:cs typeface="Arial"/>
              </a:defRPr>
            </a:pPr>
            <a:r>
              <a:rPr sz="695" b="0" dirty="0">
                <a:solidFill>
                  <a:srgbClr val="263442"/>
                </a:solidFill>
                <a:latin typeface="Arial"/>
                <a:ea typeface="Arial"/>
                <a:cs typeface="Arial"/>
              </a:rPr>
              <a:t>Density</a:t>
            </a:r>
          </a:p>
        </p:txBody>
      </p:sp>
      <p:pic>
        <p:nvPicPr>
          <p:cNvPr id="967" name="Build corresponding experimental density" descr="Experimental 9LLG density around chain C1 of the displayed CryoAtom2 receptor, at the original contour level and the identical camera orientation.">
            <a:extLst>
              <a:ext uri="{FF2B5EF4-FFF2-40B4-BE49-F238E27FC236}">
                <a16:creationId xmlns:a16="http://schemas.microsoft.com/office/drawing/2014/main" id="{485B6500-58C3-8694-DCBD-D5824BAE6312}"/>
              </a:ext>
            </a:extLst>
          </p:cNvPr>
          <p:cNvPicPr/>
          <p:nvPr/>
        </p:nvPicPr>
        <p:blipFill>
          <a:blip r:embed="rId4"/>
          <a:stretch>
            <a:fillRect/>
          </a:stretch>
        </p:blipFill>
        <p:spPr>
          <a:xfrm>
            <a:off x="5657542" y="1104265"/>
            <a:ext cx="361766" cy="345440"/>
          </a:xfrm>
          <a:prstGeom prst="rect">
            <a:avLst/>
          </a:prstGeom>
        </p:spPr>
      </p:pic>
      <p:sp>
        <p:nvSpPr>
          <p:cNvPr id="1484" name="V8 Build site and identity frame">
            <a:extLst>
              <a:ext uri="{FF2B5EF4-FFF2-40B4-BE49-F238E27FC236}">
                <a16:creationId xmlns:a16="http://schemas.microsoft.com/office/drawing/2014/main" id="{9328B906-0B87-B09E-FB06-A9A62F2CE298}"/>
              </a:ext>
            </a:extLst>
          </p:cNvPr>
          <p:cNvSpPr/>
          <p:nvPr/>
        </p:nvSpPr>
        <p:spPr>
          <a:xfrm>
            <a:off x="4996634" y="457662"/>
            <a:ext cx="519754" cy="1228090"/>
          </a:xfrm>
          <a:prstGeom prst="roundRect">
            <a:avLst>
              <a:gd name="adj" fmla="val 5556"/>
            </a:avLst>
          </a:prstGeom>
          <a:noFill/>
          <a:ln w="6985" cap="rnd">
            <a:solidFill>
              <a:srgbClr val="D5CCB8"/>
            </a:solidFill>
            <a:prstDash val="dash"/>
            <a:round/>
          </a:ln>
        </p:spPr>
      </p:sp>
      <p:sp>
        <p:nvSpPr>
          <p:cNvPr id="1485" name="V8 Build pocket and density frame">
            <a:extLst>
              <a:ext uri="{FF2B5EF4-FFF2-40B4-BE49-F238E27FC236}">
                <a16:creationId xmlns:a16="http://schemas.microsoft.com/office/drawing/2014/main" id="{1B6C4D97-E5BD-5494-DBFC-E1D9BAB5B434}"/>
              </a:ext>
            </a:extLst>
          </p:cNvPr>
          <p:cNvSpPr/>
          <p:nvPr/>
        </p:nvSpPr>
        <p:spPr>
          <a:xfrm>
            <a:off x="5564187" y="456353"/>
            <a:ext cx="527685" cy="1228090"/>
          </a:xfrm>
          <a:prstGeom prst="roundRect">
            <a:avLst>
              <a:gd name="adj" fmla="val 6477"/>
            </a:avLst>
          </a:prstGeom>
          <a:noFill/>
          <a:ln w="6985" cap="rnd">
            <a:solidFill>
              <a:srgbClr val="D5CCB8"/>
            </a:solidFill>
            <a:prstDash val="dash"/>
            <a:round/>
          </a:ln>
        </p:spPr>
      </p:sp>
      <p:grpSp>
        <p:nvGrpSpPr>
          <p:cNvPr id="22" name="Match | Blob contour">
            <a:extLst>
              <a:ext uri="{FF2B5EF4-FFF2-40B4-BE49-F238E27FC236}">
                <a16:creationId xmlns:a16="http://schemas.microsoft.com/office/drawing/2014/main" id="{89DCA6D5-3679-D415-5BE5-92A67333541D}"/>
              </a:ext>
            </a:extLst>
          </p:cNvPr>
          <p:cNvGrpSpPr/>
          <p:nvPr/>
        </p:nvGrpSpPr>
        <p:grpSpPr>
          <a:xfrm>
            <a:off x="5095498" y="565131"/>
            <a:ext cx="291608" cy="199265"/>
            <a:chOff x="1928706" y="3559489"/>
            <a:chExt cx="227897" cy="155682"/>
          </a:xfrm>
        </p:grpSpPr>
        <p:sp>
          <p:nvSpPr>
            <p:cNvPr id="24" name="Candidate blob | editable contour">
              <a:extLst>
                <a:ext uri="{FF2B5EF4-FFF2-40B4-BE49-F238E27FC236}">
                  <a16:creationId xmlns:a16="http://schemas.microsoft.com/office/drawing/2014/main" id="{CEDDC562-8935-F160-6BF6-FBDE4980A530}"/>
                </a:ext>
              </a:extLst>
            </p:cNvPr>
            <p:cNvSpPr/>
            <p:nvPr/>
          </p:nvSpPr>
          <p:spPr>
            <a:xfrm>
              <a:off x="1928706" y="3559489"/>
              <a:ext cx="227897" cy="155682"/>
            </a:xfrm>
            <a:custGeom>
              <a:avLst/>
              <a:gdLst/>
              <a:ahLst/>
              <a:cxnLst/>
              <a:rect l="0" t="0" r="w" b="h"/>
              <a:pathLst>
                <a:path w="227897" h="155682" extrusionOk="0">
                  <a:moveTo>
                    <a:pt x="5338" y="97866"/>
                  </a:moveTo>
                  <a:cubicBezTo>
                    <a:pt x="0" y="80701"/>
                    <a:pt x="18889" y="54504"/>
                    <a:pt x="29976" y="43663"/>
                  </a:cubicBezTo>
                  <a:cubicBezTo>
                    <a:pt x="41062" y="32823"/>
                    <a:pt x="58719" y="39447"/>
                    <a:pt x="71859" y="32823"/>
                  </a:cubicBezTo>
                  <a:cubicBezTo>
                    <a:pt x="84999" y="26198"/>
                    <a:pt x="92391" y="7829"/>
                    <a:pt x="108816" y="3915"/>
                  </a:cubicBezTo>
                  <a:cubicBezTo>
                    <a:pt x="125241" y="0"/>
                    <a:pt x="153984" y="3613"/>
                    <a:pt x="170409" y="9335"/>
                  </a:cubicBezTo>
                  <a:cubicBezTo>
                    <a:pt x="186834" y="15056"/>
                    <a:pt x="198332" y="26198"/>
                    <a:pt x="207366" y="38243"/>
                  </a:cubicBezTo>
                  <a:cubicBezTo>
                    <a:pt x="216399" y="50288"/>
                    <a:pt x="227897" y="67151"/>
                    <a:pt x="224612" y="81605"/>
                  </a:cubicBezTo>
                  <a:cubicBezTo>
                    <a:pt x="221327" y="96059"/>
                    <a:pt x="203259" y="113223"/>
                    <a:pt x="187656" y="124967"/>
                  </a:cubicBezTo>
                  <a:cubicBezTo>
                    <a:pt x="172052" y="136711"/>
                    <a:pt x="151931" y="148455"/>
                    <a:pt x="130989" y="152068"/>
                  </a:cubicBezTo>
                  <a:cubicBezTo>
                    <a:pt x="110048" y="155682"/>
                    <a:pt x="82946" y="155682"/>
                    <a:pt x="62004" y="146648"/>
                  </a:cubicBezTo>
                  <a:cubicBezTo>
                    <a:pt x="41062" y="137614"/>
                    <a:pt x="10676" y="115030"/>
                    <a:pt x="5338" y="97866"/>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26" name="ellipse_2612">
              <a:extLst>
                <a:ext uri="{FF2B5EF4-FFF2-40B4-BE49-F238E27FC236}">
                  <a16:creationId xmlns:a16="http://schemas.microsoft.com/office/drawing/2014/main" id="{9A6165B9-D072-913F-4F98-07DF1CDFAD91}"/>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sp>
        <p:nvSpPr>
          <p:cNvPr id="27" name="Oval 12178">
            <a:extLst>
              <a:ext uri="{FF2B5EF4-FFF2-40B4-BE49-F238E27FC236}">
                <a16:creationId xmlns:a16="http://schemas.microsoft.com/office/drawing/2014/main" id="{BDE1AB30-8167-E025-0D16-C21F1775FD9B}"/>
              </a:ext>
            </a:extLst>
          </p:cNvPr>
          <p:cNvSpPr/>
          <p:nvPr/>
        </p:nvSpPr>
        <p:spPr>
          <a:xfrm>
            <a:off x="5224292" y="648563"/>
            <a:ext cx="34426" cy="34426"/>
          </a:xfrm>
          <a:prstGeom prst="ellipse">
            <a:avLst/>
          </a:prstGeom>
          <a:solidFill>
            <a:srgbClr val="1D4ED8"/>
          </a:solidFill>
          <a:ln w="635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pic>
        <p:nvPicPr>
          <p:cNvPr id="50483" name="图片 50482">
            <a:extLst>
              <a:ext uri="{FF2B5EF4-FFF2-40B4-BE49-F238E27FC236}">
                <a16:creationId xmlns:a16="http://schemas.microsoft.com/office/drawing/2014/main" id="{990BCBFC-9DD9-25BB-4CA2-DDF352D8C2FA}"/>
              </a:ext>
            </a:extLst>
          </p:cNvPr>
          <p:cNvPicPr>
            <a:picLocks noChangeAspect="1"/>
          </p:cNvPicPr>
          <p:nvPr/>
        </p:nvPicPr>
        <p:blipFill>
          <a:blip r:embed="rId5"/>
          <a:stretch/>
        </p:blipFill>
        <p:spPr>
          <a:xfrm>
            <a:off x="5631445" y="485775"/>
            <a:ext cx="414760" cy="342900"/>
          </a:xfrm>
          <a:prstGeom prst="rect">
            <a:avLst/>
          </a:prstGeom>
        </p:spPr>
      </p:pic>
      <p:sp>
        <p:nvSpPr>
          <p:cNvPr id="50484" name="F2-Build-selected">
            <a:extLst>
              <a:ext uri="{FF2B5EF4-FFF2-40B4-BE49-F238E27FC236}">
                <a16:creationId xmlns:a16="http://schemas.microsoft.com/office/drawing/2014/main" id="{6A2264C7-4360-FCD2-C7A2-680D5A04551A}"/>
              </a:ext>
            </a:extLst>
          </p:cNvPr>
          <p:cNvSpPr>
            <a:spLocks noGrp="1"/>
          </p:cNvSpPr>
          <p:nvPr/>
        </p:nvSpPr>
        <p:spPr>
          <a:xfrm>
            <a:off x="5054601" y="1283549"/>
            <a:ext cx="390525" cy="81915"/>
          </a:xfrm>
          <a:prstGeom prst="roundRect">
            <a:avLst>
              <a:gd name="adj" fmla="val 50000"/>
            </a:avLst>
          </a:prstGeom>
          <a:solidFill>
            <a:srgbClr val="DCF8EB"/>
          </a:solidFill>
          <a:ln w="7144">
            <a:solidFill>
              <a:srgbClr val="499D86"/>
            </a:solidFill>
          </a:ln>
        </p:spPr>
      </p:sp>
      <p:sp>
        <p:nvSpPr>
          <p:cNvPr id="50485" name="F2-Build-SMILES-0">
            <a:extLst>
              <a:ext uri="{FF2B5EF4-FFF2-40B4-BE49-F238E27FC236}">
                <a16:creationId xmlns:a16="http://schemas.microsoft.com/office/drawing/2014/main" id="{4008C2B1-D1D4-0B7F-4728-77E5B8661720}"/>
              </a:ext>
            </a:extLst>
          </p:cNvPr>
          <p:cNvSpPr>
            <a:spLocks noGrp="1"/>
          </p:cNvSpPr>
          <p:nvPr/>
        </p:nvSpPr>
        <p:spPr>
          <a:xfrm>
            <a:off x="5101503" y="1136660"/>
            <a:ext cx="361950" cy="74295"/>
          </a:xfrm>
          <a:prstGeom prst="rect">
            <a:avLst/>
          </a:prstGeom>
          <a:noFill/>
          <a:ln w="0">
            <a:noFill/>
          </a:ln>
        </p:spPr>
        <p:txBody>
          <a:bodyPr wrap="none" lIns="0" tIns="0" rIns="0" bIns="0" anchor="ctr">
            <a:noAutofit/>
          </a:bodyPr>
          <a:lstStyle>
            <a:defPPr algn="l">
              <a:defRPr sz="540" b="0">
                <a:solidFill>
                  <a:srgbClr val="263442"/>
                </a:solidFill>
                <a:latin typeface="Arial"/>
                <a:ea typeface="Arial"/>
                <a:cs typeface="Arial"/>
              </a:defRPr>
            </a:defPPr>
            <a:lvl1pPr algn="l">
              <a:defRPr sz="540" b="0">
                <a:solidFill>
                  <a:srgbClr val="263442"/>
                </a:solidFill>
                <a:latin typeface="Arial"/>
                <a:ea typeface="Arial"/>
                <a:cs typeface="Arial"/>
              </a:defRPr>
            </a:lvl1pPr>
            <a:lvl2pPr algn="l">
              <a:defRPr sz="540" b="0">
                <a:solidFill>
                  <a:srgbClr val="263442"/>
                </a:solidFill>
                <a:latin typeface="Arial"/>
                <a:ea typeface="Arial"/>
                <a:cs typeface="Arial"/>
              </a:defRPr>
            </a:lvl2pPr>
            <a:lvl3pPr algn="l">
              <a:defRPr sz="540" b="0">
                <a:solidFill>
                  <a:srgbClr val="263442"/>
                </a:solidFill>
                <a:latin typeface="Arial"/>
                <a:ea typeface="Arial"/>
                <a:cs typeface="Arial"/>
              </a:defRPr>
            </a:lvl3pPr>
            <a:lvl4pPr algn="l">
              <a:defRPr sz="540" b="0">
                <a:solidFill>
                  <a:srgbClr val="263442"/>
                </a:solidFill>
                <a:latin typeface="Arial"/>
                <a:ea typeface="Arial"/>
                <a:cs typeface="Arial"/>
              </a:defRPr>
            </a:lvl4pPr>
            <a:lvl5pPr algn="l">
              <a:defRPr sz="540" b="0">
                <a:solidFill>
                  <a:srgbClr val="263442"/>
                </a:solidFill>
                <a:latin typeface="Arial"/>
                <a:ea typeface="Arial"/>
                <a:cs typeface="Arial"/>
              </a:defRPr>
            </a:lvl5pPr>
            <a:lvl6pPr algn="l">
              <a:defRPr sz="540" b="0">
                <a:solidFill>
                  <a:srgbClr val="263442"/>
                </a:solidFill>
                <a:latin typeface="Arial"/>
                <a:ea typeface="Arial"/>
                <a:cs typeface="Arial"/>
              </a:defRPr>
            </a:lvl6pPr>
            <a:lvl7pPr algn="l">
              <a:defRPr sz="540" b="0">
                <a:solidFill>
                  <a:srgbClr val="263442"/>
                </a:solidFill>
                <a:latin typeface="Arial"/>
                <a:ea typeface="Arial"/>
                <a:cs typeface="Arial"/>
              </a:defRPr>
            </a:lvl7pPr>
            <a:lvl8pPr algn="l">
              <a:defRPr sz="540" b="0">
                <a:solidFill>
                  <a:srgbClr val="263442"/>
                </a:solidFill>
                <a:latin typeface="Arial"/>
                <a:ea typeface="Arial"/>
                <a:cs typeface="Arial"/>
              </a:defRPr>
            </a:lvl8pPr>
            <a:lvl9pPr algn="l">
              <a:defRPr sz="540" b="0">
                <a:solidFill>
                  <a:srgbClr val="263442"/>
                </a:solidFill>
                <a:latin typeface="Arial"/>
                <a:ea typeface="Arial"/>
                <a:cs typeface="Arial"/>
              </a:defRPr>
            </a:lvl9pPr>
          </a:lstStyle>
          <a:p>
            <a:pPr algn="l">
              <a:defRPr sz="540" b="0">
                <a:solidFill>
                  <a:srgbClr val="263442"/>
                </a:solidFill>
                <a:latin typeface="Arial"/>
                <a:ea typeface="Arial"/>
                <a:cs typeface="Arial"/>
              </a:defRPr>
            </a:pPr>
            <a:r>
              <a:rPr sz="480" b="0" dirty="0">
                <a:solidFill>
                  <a:srgbClr val="263442"/>
                </a:solidFill>
                <a:latin typeface="Arial"/>
                <a:ea typeface="Arial"/>
                <a:cs typeface="Arial"/>
              </a:rPr>
              <a:t>CCO</a:t>
            </a:r>
          </a:p>
        </p:txBody>
      </p:sp>
      <p:sp>
        <p:nvSpPr>
          <p:cNvPr id="50486" name="F2-Build-SMILES-7.8">
            <a:extLst>
              <a:ext uri="{FF2B5EF4-FFF2-40B4-BE49-F238E27FC236}">
                <a16:creationId xmlns:a16="http://schemas.microsoft.com/office/drawing/2014/main" id="{86B011E1-6EAB-6837-DA53-54E94AA085EC}"/>
              </a:ext>
            </a:extLst>
          </p:cNvPr>
          <p:cNvSpPr>
            <a:spLocks noGrp="1"/>
          </p:cNvSpPr>
          <p:nvPr/>
        </p:nvSpPr>
        <p:spPr>
          <a:xfrm>
            <a:off x="5101503" y="1199841"/>
            <a:ext cx="361950" cy="74295"/>
          </a:xfrm>
          <a:prstGeom prst="rect">
            <a:avLst/>
          </a:prstGeom>
          <a:noFill/>
          <a:ln w="0">
            <a:noFill/>
          </a:ln>
        </p:spPr>
        <p:txBody>
          <a:bodyPr wrap="none" lIns="0" tIns="0" rIns="0" bIns="0" anchor="ctr">
            <a:noAutofit/>
          </a:bodyPr>
          <a:lstStyle>
            <a:defPPr algn="l">
              <a:defRPr sz="540" b="0">
                <a:solidFill>
                  <a:srgbClr val="263442"/>
                </a:solidFill>
                <a:latin typeface="Arial"/>
                <a:ea typeface="Arial"/>
                <a:cs typeface="Arial"/>
              </a:defRPr>
            </a:defPPr>
            <a:lvl1pPr algn="l">
              <a:defRPr sz="540" b="0">
                <a:solidFill>
                  <a:srgbClr val="263442"/>
                </a:solidFill>
                <a:latin typeface="Arial"/>
                <a:ea typeface="Arial"/>
                <a:cs typeface="Arial"/>
              </a:defRPr>
            </a:lvl1pPr>
            <a:lvl2pPr algn="l">
              <a:defRPr sz="540" b="0">
                <a:solidFill>
                  <a:srgbClr val="263442"/>
                </a:solidFill>
                <a:latin typeface="Arial"/>
                <a:ea typeface="Arial"/>
                <a:cs typeface="Arial"/>
              </a:defRPr>
            </a:lvl2pPr>
            <a:lvl3pPr algn="l">
              <a:defRPr sz="540" b="0">
                <a:solidFill>
                  <a:srgbClr val="263442"/>
                </a:solidFill>
                <a:latin typeface="Arial"/>
                <a:ea typeface="Arial"/>
                <a:cs typeface="Arial"/>
              </a:defRPr>
            </a:lvl3pPr>
            <a:lvl4pPr algn="l">
              <a:defRPr sz="540" b="0">
                <a:solidFill>
                  <a:srgbClr val="263442"/>
                </a:solidFill>
                <a:latin typeface="Arial"/>
                <a:ea typeface="Arial"/>
                <a:cs typeface="Arial"/>
              </a:defRPr>
            </a:lvl4pPr>
            <a:lvl5pPr algn="l">
              <a:defRPr sz="540" b="0">
                <a:solidFill>
                  <a:srgbClr val="263442"/>
                </a:solidFill>
                <a:latin typeface="Arial"/>
                <a:ea typeface="Arial"/>
                <a:cs typeface="Arial"/>
              </a:defRPr>
            </a:lvl5pPr>
            <a:lvl6pPr algn="l">
              <a:defRPr sz="540" b="0">
                <a:solidFill>
                  <a:srgbClr val="263442"/>
                </a:solidFill>
                <a:latin typeface="Arial"/>
                <a:ea typeface="Arial"/>
                <a:cs typeface="Arial"/>
              </a:defRPr>
            </a:lvl6pPr>
            <a:lvl7pPr algn="l">
              <a:defRPr sz="540" b="0">
                <a:solidFill>
                  <a:srgbClr val="263442"/>
                </a:solidFill>
                <a:latin typeface="Arial"/>
                <a:ea typeface="Arial"/>
                <a:cs typeface="Arial"/>
              </a:defRPr>
            </a:lvl7pPr>
            <a:lvl8pPr algn="l">
              <a:defRPr sz="540" b="0">
                <a:solidFill>
                  <a:srgbClr val="263442"/>
                </a:solidFill>
                <a:latin typeface="Arial"/>
                <a:ea typeface="Arial"/>
                <a:cs typeface="Arial"/>
              </a:defRPr>
            </a:lvl8pPr>
            <a:lvl9pPr algn="l">
              <a:defRPr sz="540" b="0">
                <a:solidFill>
                  <a:srgbClr val="263442"/>
                </a:solidFill>
                <a:latin typeface="Arial"/>
                <a:ea typeface="Arial"/>
                <a:cs typeface="Arial"/>
              </a:defRPr>
            </a:lvl9pPr>
          </a:lstStyle>
          <a:p>
            <a:pPr>
              <a:defRPr sz="540" b="0">
                <a:solidFill>
                  <a:srgbClr val="263442"/>
                </a:solidFill>
                <a:latin typeface="Arial"/>
                <a:ea typeface="Arial"/>
                <a:cs typeface="Arial"/>
              </a:defRPr>
            </a:pPr>
            <a:r>
              <a:rPr sz="480" dirty="0"/>
              <a:t>CC(=O)O</a:t>
            </a:r>
          </a:p>
        </p:txBody>
      </p:sp>
      <p:sp>
        <p:nvSpPr>
          <p:cNvPr id="50487" name="F2-Build-continuation">
            <a:extLst>
              <a:ext uri="{FF2B5EF4-FFF2-40B4-BE49-F238E27FC236}">
                <a16:creationId xmlns:a16="http://schemas.microsoft.com/office/drawing/2014/main" id="{57445525-DCC1-B4E7-E3C5-43F5AED1AAB1}"/>
              </a:ext>
            </a:extLst>
          </p:cNvPr>
          <p:cNvSpPr>
            <a:spLocks noGrp="1"/>
          </p:cNvSpPr>
          <p:nvPr/>
        </p:nvSpPr>
        <p:spPr>
          <a:xfrm>
            <a:off x="5106267" y="1268735"/>
            <a:ext cx="6668" cy="6668"/>
          </a:xfrm>
          <a:prstGeom prst="ellipse">
            <a:avLst/>
          </a:prstGeom>
          <a:solidFill>
            <a:srgbClr val="687780"/>
          </a:solidFill>
          <a:ln w="0">
            <a:noFill/>
          </a:ln>
        </p:spPr>
      </p:sp>
      <p:sp>
        <p:nvSpPr>
          <p:cNvPr id="50488" name="F2-Build-continuation">
            <a:extLst>
              <a:ext uri="{FF2B5EF4-FFF2-40B4-BE49-F238E27FC236}">
                <a16:creationId xmlns:a16="http://schemas.microsoft.com/office/drawing/2014/main" id="{D8380CD8-B1B4-24DE-92C0-E1C222863213}"/>
              </a:ext>
            </a:extLst>
          </p:cNvPr>
          <p:cNvSpPr>
            <a:spLocks noGrp="1"/>
          </p:cNvSpPr>
          <p:nvPr/>
        </p:nvSpPr>
        <p:spPr>
          <a:xfrm>
            <a:off x="5119918" y="1268735"/>
            <a:ext cx="6668" cy="6668"/>
          </a:xfrm>
          <a:prstGeom prst="ellipse">
            <a:avLst/>
          </a:prstGeom>
          <a:solidFill>
            <a:srgbClr val="687780"/>
          </a:solidFill>
          <a:ln w="0">
            <a:noFill/>
          </a:ln>
        </p:spPr>
      </p:sp>
      <p:sp>
        <p:nvSpPr>
          <p:cNvPr id="50489" name="F2-Build-continuation">
            <a:extLst>
              <a:ext uri="{FF2B5EF4-FFF2-40B4-BE49-F238E27FC236}">
                <a16:creationId xmlns:a16="http://schemas.microsoft.com/office/drawing/2014/main" id="{A87F8D1D-D087-B895-3967-34FD7403FA3D}"/>
              </a:ext>
            </a:extLst>
          </p:cNvPr>
          <p:cNvSpPr>
            <a:spLocks noGrp="1"/>
          </p:cNvSpPr>
          <p:nvPr/>
        </p:nvSpPr>
        <p:spPr>
          <a:xfrm>
            <a:off x="5135157" y="1268735"/>
            <a:ext cx="6668" cy="6668"/>
          </a:xfrm>
          <a:prstGeom prst="ellipse">
            <a:avLst/>
          </a:prstGeom>
          <a:solidFill>
            <a:srgbClr val="687780"/>
          </a:solidFill>
          <a:ln w="0">
            <a:noFill/>
          </a:ln>
        </p:spPr>
      </p:sp>
      <p:sp>
        <p:nvSpPr>
          <p:cNvPr id="50490" name="F2-Build-SMILES-19.8">
            <a:extLst>
              <a:ext uri="{FF2B5EF4-FFF2-40B4-BE49-F238E27FC236}">
                <a16:creationId xmlns:a16="http://schemas.microsoft.com/office/drawing/2014/main" id="{8D1E4611-7807-D068-11D8-0FDDECDECA18}"/>
              </a:ext>
            </a:extLst>
          </p:cNvPr>
          <p:cNvSpPr>
            <a:spLocks noGrp="1"/>
          </p:cNvSpPr>
          <p:nvPr/>
        </p:nvSpPr>
        <p:spPr>
          <a:xfrm>
            <a:off x="5101503" y="1285559"/>
            <a:ext cx="361950" cy="74295"/>
          </a:xfrm>
          <a:prstGeom prst="rect">
            <a:avLst/>
          </a:prstGeom>
          <a:noFill/>
          <a:ln w="0">
            <a:noFill/>
          </a:ln>
        </p:spPr>
        <p:txBody>
          <a:bodyPr wrap="none" lIns="0" tIns="0" rIns="0" bIns="0" anchor="ctr">
            <a:noAutofit/>
          </a:bodyPr>
          <a:lstStyle>
            <a:defPPr algn="l">
              <a:defRPr sz="540" b="0">
                <a:solidFill>
                  <a:srgbClr val="24634E"/>
                </a:solidFill>
                <a:latin typeface="Arial"/>
                <a:ea typeface="Arial"/>
                <a:cs typeface="Arial"/>
              </a:defRPr>
            </a:defPPr>
            <a:lvl1pPr algn="l">
              <a:defRPr sz="540" b="0">
                <a:solidFill>
                  <a:srgbClr val="24634E"/>
                </a:solidFill>
                <a:latin typeface="Arial"/>
                <a:ea typeface="Arial"/>
                <a:cs typeface="Arial"/>
              </a:defRPr>
            </a:lvl1pPr>
            <a:lvl2pPr algn="l">
              <a:defRPr sz="540" b="0">
                <a:solidFill>
                  <a:srgbClr val="24634E"/>
                </a:solidFill>
                <a:latin typeface="Arial"/>
                <a:ea typeface="Arial"/>
                <a:cs typeface="Arial"/>
              </a:defRPr>
            </a:lvl2pPr>
            <a:lvl3pPr algn="l">
              <a:defRPr sz="540" b="0">
                <a:solidFill>
                  <a:srgbClr val="24634E"/>
                </a:solidFill>
                <a:latin typeface="Arial"/>
                <a:ea typeface="Arial"/>
                <a:cs typeface="Arial"/>
              </a:defRPr>
            </a:lvl3pPr>
            <a:lvl4pPr algn="l">
              <a:defRPr sz="540" b="0">
                <a:solidFill>
                  <a:srgbClr val="24634E"/>
                </a:solidFill>
                <a:latin typeface="Arial"/>
                <a:ea typeface="Arial"/>
                <a:cs typeface="Arial"/>
              </a:defRPr>
            </a:lvl4pPr>
            <a:lvl5pPr algn="l">
              <a:defRPr sz="540" b="0">
                <a:solidFill>
                  <a:srgbClr val="24634E"/>
                </a:solidFill>
                <a:latin typeface="Arial"/>
                <a:ea typeface="Arial"/>
                <a:cs typeface="Arial"/>
              </a:defRPr>
            </a:lvl5pPr>
            <a:lvl6pPr algn="l">
              <a:defRPr sz="540" b="0">
                <a:solidFill>
                  <a:srgbClr val="24634E"/>
                </a:solidFill>
                <a:latin typeface="Arial"/>
                <a:ea typeface="Arial"/>
                <a:cs typeface="Arial"/>
              </a:defRPr>
            </a:lvl6pPr>
            <a:lvl7pPr algn="l">
              <a:defRPr sz="540" b="0">
                <a:solidFill>
                  <a:srgbClr val="24634E"/>
                </a:solidFill>
                <a:latin typeface="Arial"/>
                <a:ea typeface="Arial"/>
                <a:cs typeface="Arial"/>
              </a:defRPr>
            </a:lvl7pPr>
            <a:lvl8pPr algn="l">
              <a:defRPr sz="540" b="0">
                <a:solidFill>
                  <a:srgbClr val="24634E"/>
                </a:solidFill>
                <a:latin typeface="Arial"/>
                <a:ea typeface="Arial"/>
                <a:cs typeface="Arial"/>
              </a:defRPr>
            </a:lvl8pPr>
            <a:lvl9pPr algn="l">
              <a:defRPr sz="540" b="0">
                <a:solidFill>
                  <a:srgbClr val="24634E"/>
                </a:solidFill>
                <a:latin typeface="Arial"/>
                <a:ea typeface="Arial"/>
                <a:cs typeface="Arial"/>
              </a:defRPr>
            </a:lvl9pPr>
          </a:lstStyle>
          <a:p>
            <a:pPr>
              <a:defRPr sz="540" b="0">
                <a:solidFill>
                  <a:srgbClr val="263442"/>
                </a:solidFill>
                <a:latin typeface="Arial"/>
                <a:ea typeface="Arial"/>
                <a:cs typeface="Arial"/>
              </a:defRPr>
            </a:pPr>
            <a:r>
              <a:rPr sz="480" dirty="0">
                <a:solidFill>
                  <a:srgbClr val="263442"/>
                </a:solidFill>
              </a:rPr>
              <a:t>Cc1ccccc1</a:t>
            </a:r>
          </a:p>
        </p:txBody>
      </p:sp>
      <p:sp>
        <p:nvSpPr>
          <p:cNvPr id="50491" name="F2-Build-SMILES-27.599999999999998">
            <a:extLst>
              <a:ext uri="{FF2B5EF4-FFF2-40B4-BE49-F238E27FC236}">
                <a16:creationId xmlns:a16="http://schemas.microsoft.com/office/drawing/2014/main" id="{7C479AF4-50FE-543B-B4FD-111B42F262AA}"/>
              </a:ext>
            </a:extLst>
          </p:cNvPr>
          <p:cNvSpPr>
            <a:spLocks noGrp="1"/>
          </p:cNvSpPr>
          <p:nvPr/>
        </p:nvSpPr>
        <p:spPr>
          <a:xfrm>
            <a:off x="5101503" y="1359854"/>
            <a:ext cx="361950" cy="74295"/>
          </a:xfrm>
          <a:prstGeom prst="rect">
            <a:avLst/>
          </a:prstGeom>
          <a:noFill/>
          <a:ln w="0">
            <a:noFill/>
          </a:ln>
        </p:spPr>
        <p:txBody>
          <a:bodyPr wrap="none" lIns="0" tIns="0" rIns="0" bIns="0" anchor="ctr">
            <a:noAutofit/>
          </a:bodyPr>
          <a:lstStyle>
            <a:defPPr algn="l">
              <a:defRPr sz="540" b="0">
                <a:solidFill>
                  <a:srgbClr val="263442"/>
                </a:solidFill>
                <a:latin typeface="Arial"/>
                <a:ea typeface="Arial"/>
                <a:cs typeface="Arial"/>
              </a:defRPr>
            </a:defPPr>
            <a:lvl1pPr algn="l">
              <a:defRPr sz="540" b="0">
                <a:solidFill>
                  <a:srgbClr val="263442"/>
                </a:solidFill>
                <a:latin typeface="Arial"/>
                <a:ea typeface="Arial"/>
                <a:cs typeface="Arial"/>
              </a:defRPr>
            </a:lvl1pPr>
            <a:lvl2pPr algn="l">
              <a:defRPr sz="540" b="0">
                <a:solidFill>
                  <a:srgbClr val="263442"/>
                </a:solidFill>
                <a:latin typeface="Arial"/>
                <a:ea typeface="Arial"/>
                <a:cs typeface="Arial"/>
              </a:defRPr>
            </a:lvl2pPr>
            <a:lvl3pPr algn="l">
              <a:defRPr sz="540" b="0">
                <a:solidFill>
                  <a:srgbClr val="263442"/>
                </a:solidFill>
                <a:latin typeface="Arial"/>
                <a:ea typeface="Arial"/>
                <a:cs typeface="Arial"/>
              </a:defRPr>
            </a:lvl3pPr>
            <a:lvl4pPr algn="l">
              <a:defRPr sz="540" b="0">
                <a:solidFill>
                  <a:srgbClr val="263442"/>
                </a:solidFill>
                <a:latin typeface="Arial"/>
                <a:ea typeface="Arial"/>
                <a:cs typeface="Arial"/>
              </a:defRPr>
            </a:lvl4pPr>
            <a:lvl5pPr algn="l">
              <a:defRPr sz="540" b="0">
                <a:solidFill>
                  <a:srgbClr val="263442"/>
                </a:solidFill>
                <a:latin typeface="Arial"/>
                <a:ea typeface="Arial"/>
                <a:cs typeface="Arial"/>
              </a:defRPr>
            </a:lvl5pPr>
            <a:lvl6pPr algn="l">
              <a:defRPr sz="540" b="0">
                <a:solidFill>
                  <a:srgbClr val="263442"/>
                </a:solidFill>
                <a:latin typeface="Arial"/>
                <a:ea typeface="Arial"/>
                <a:cs typeface="Arial"/>
              </a:defRPr>
            </a:lvl6pPr>
            <a:lvl7pPr algn="l">
              <a:defRPr sz="540" b="0">
                <a:solidFill>
                  <a:srgbClr val="263442"/>
                </a:solidFill>
                <a:latin typeface="Arial"/>
                <a:ea typeface="Arial"/>
                <a:cs typeface="Arial"/>
              </a:defRPr>
            </a:lvl7pPr>
            <a:lvl8pPr algn="l">
              <a:defRPr sz="540" b="0">
                <a:solidFill>
                  <a:srgbClr val="263442"/>
                </a:solidFill>
                <a:latin typeface="Arial"/>
                <a:ea typeface="Arial"/>
                <a:cs typeface="Arial"/>
              </a:defRPr>
            </a:lvl8pPr>
            <a:lvl9pPr algn="l">
              <a:defRPr sz="540" b="0">
                <a:solidFill>
                  <a:srgbClr val="263442"/>
                </a:solidFill>
                <a:latin typeface="Arial"/>
                <a:ea typeface="Arial"/>
                <a:cs typeface="Arial"/>
              </a:defRPr>
            </a:lvl9pPr>
          </a:lstStyle>
          <a:p>
            <a:pPr>
              <a:defRPr sz="540" b="0">
                <a:solidFill>
                  <a:srgbClr val="263442"/>
                </a:solidFill>
                <a:latin typeface="Arial"/>
                <a:ea typeface="Arial"/>
                <a:cs typeface="Arial"/>
              </a:defRPr>
            </a:pPr>
            <a:r>
              <a:rPr sz="480" dirty="0"/>
              <a:t>CC(N)=O</a:t>
            </a:r>
          </a:p>
        </p:txBody>
      </p:sp>
      <p:sp>
        <p:nvSpPr>
          <p:cNvPr id="60000" name="Build | compact density-conditioned engine">
            <a:extLst>
              <a:ext uri="{FF2B5EF4-FFF2-40B4-BE49-F238E27FC236}">
                <a16:creationId xmlns:a16="http://schemas.microsoft.com/office/drawing/2014/main" id="{ECB2B766-B9B4-4112-802D-C98FACAB8293}"/>
              </a:ext>
            </a:extLst>
          </p:cNvPr>
          <p:cNvSpPr>
            <a:spLocks noGrp="1"/>
          </p:cNvSpPr>
          <p:nvPr/>
        </p:nvSpPr>
        <p:spPr>
          <a:xfrm>
            <a:off x="4996800" y="1915200"/>
            <a:ext cx="1105200" cy="302400"/>
          </a:xfrm>
          <a:prstGeom prst="roundRect">
            <a:avLst>
              <a:gd name="adj" fmla="val 25198"/>
            </a:avLst>
          </a:prstGeom>
          <a:solidFill>
            <a:srgbClr val="FAF1DE"/>
          </a:solidFill>
          <a:ln w="7620">
            <a:solidFill>
              <a:srgbClr val="D8A95A"/>
            </a:solidFill>
          </a:ln>
        </p:spPr>
      </p:sp>
      <p:sp>
        <p:nvSpPr>
          <p:cNvPr id="60001" name="Build | label">
            <a:extLst>
              <a:ext uri="{FF2B5EF4-FFF2-40B4-BE49-F238E27FC236}">
                <a16:creationId xmlns:a16="http://schemas.microsoft.com/office/drawing/2014/main" id="{79F9B786-D2B3-48E3-8BE5-F360726CE349}"/>
              </a:ext>
            </a:extLst>
          </p:cNvPr>
          <p:cNvSpPr>
            <a:spLocks noGrp="1"/>
          </p:cNvSpPr>
          <p:nvPr/>
        </p:nvSpPr>
        <p:spPr>
          <a:xfrm>
            <a:off x="5014800" y="1944000"/>
            <a:ext cx="1069200" cy="111600"/>
          </a:xfrm>
          <a:prstGeom prst="rect">
            <a:avLst/>
          </a:prstGeom>
          <a:noFill/>
          <a:ln w="0">
            <a:noFill/>
          </a:ln>
        </p:spPr>
        <p:txBody>
          <a:bodyPr wrap="none" lIns="0" tIns="0" rIns="0" bIns="0" anchor="ctr">
            <a:noAutofit/>
          </a:bodyPr>
          <a:lstStyle>
            <a:defPPr algn="ctr">
              <a:defRPr sz="690" b="1">
                <a:solidFill>
                  <a:srgbClr val="263442"/>
                </a:solidFill>
                <a:latin typeface="Arial"/>
                <a:ea typeface="Arial"/>
                <a:cs typeface="Arial"/>
              </a:defRPr>
            </a:defPPr>
            <a:lvl1pPr algn="ctr">
              <a:defRPr sz="690" b="1">
                <a:solidFill>
                  <a:srgbClr val="263442"/>
                </a:solidFill>
                <a:latin typeface="Arial"/>
                <a:ea typeface="Arial"/>
                <a:cs typeface="Arial"/>
              </a:defRPr>
            </a:lvl1pPr>
            <a:lvl2pPr algn="ctr">
              <a:defRPr sz="690" b="1">
                <a:solidFill>
                  <a:srgbClr val="263442"/>
                </a:solidFill>
                <a:latin typeface="Arial"/>
                <a:ea typeface="Arial"/>
                <a:cs typeface="Arial"/>
              </a:defRPr>
            </a:lvl2pPr>
            <a:lvl3pPr algn="ctr">
              <a:defRPr sz="690" b="1">
                <a:solidFill>
                  <a:srgbClr val="263442"/>
                </a:solidFill>
                <a:latin typeface="Arial"/>
                <a:ea typeface="Arial"/>
                <a:cs typeface="Arial"/>
              </a:defRPr>
            </a:lvl3pPr>
            <a:lvl4pPr algn="ctr">
              <a:defRPr sz="690" b="1">
                <a:solidFill>
                  <a:srgbClr val="263442"/>
                </a:solidFill>
                <a:latin typeface="Arial"/>
                <a:ea typeface="Arial"/>
                <a:cs typeface="Arial"/>
              </a:defRPr>
            </a:lvl4pPr>
            <a:lvl5pPr algn="ctr">
              <a:defRPr sz="690" b="1">
                <a:solidFill>
                  <a:srgbClr val="263442"/>
                </a:solidFill>
                <a:latin typeface="Arial"/>
                <a:ea typeface="Arial"/>
                <a:cs typeface="Arial"/>
              </a:defRPr>
            </a:lvl5pPr>
            <a:lvl6pPr algn="ctr">
              <a:defRPr sz="690" b="1">
                <a:solidFill>
                  <a:srgbClr val="263442"/>
                </a:solidFill>
                <a:latin typeface="Arial"/>
                <a:ea typeface="Arial"/>
                <a:cs typeface="Arial"/>
              </a:defRPr>
            </a:lvl6pPr>
            <a:lvl7pPr algn="ctr">
              <a:defRPr sz="690" b="1">
                <a:solidFill>
                  <a:srgbClr val="263442"/>
                </a:solidFill>
                <a:latin typeface="Arial"/>
                <a:ea typeface="Arial"/>
                <a:cs typeface="Arial"/>
              </a:defRPr>
            </a:lvl7pPr>
            <a:lvl8pPr algn="ctr">
              <a:defRPr sz="690" b="1">
                <a:solidFill>
                  <a:srgbClr val="263442"/>
                </a:solidFill>
                <a:latin typeface="Arial"/>
                <a:ea typeface="Arial"/>
                <a:cs typeface="Arial"/>
              </a:defRPr>
            </a:lvl8pPr>
            <a:lvl9pPr algn="ctr">
              <a:defRPr sz="690" b="1">
                <a:solidFill>
                  <a:srgbClr val="263442"/>
                </a:solidFill>
                <a:latin typeface="Arial"/>
                <a:ea typeface="Arial"/>
                <a:cs typeface="Arial"/>
              </a:defRPr>
            </a:lvl9pPr>
          </a:lstStyle>
          <a:p>
            <a:pPr algn="ctr">
              <a:defRPr sz="690" b="1">
                <a:solidFill>
                  <a:srgbClr val="263442"/>
                </a:solidFill>
                <a:latin typeface="Arial"/>
                <a:ea typeface="Arial"/>
                <a:cs typeface="Arial"/>
              </a:defRPr>
            </a:pPr>
            <a:r>
              <a:rPr sz="690" b="1">
                <a:solidFill>
                  <a:srgbClr val="263442"/>
                </a:solidFill>
                <a:latin typeface="Arial"/>
                <a:ea typeface="Arial"/>
                <a:cs typeface="Arial"/>
              </a:rPr>
              <a:t>DG-PocketXMol</a:t>
            </a:r>
          </a:p>
        </p:txBody>
      </p:sp>
      <p:sp>
        <p:nvSpPr>
          <p:cNvPr id="60002" name="Build | label">
            <a:extLst>
              <a:ext uri="{FF2B5EF4-FFF2-40B4-BE49-F238E27FC236}">
                <a16:creationId xmlns:a16="http://schemas.microsoft.com/office/drawing/2014/main" id="{4FBCDC51-7BF6-463D-87B2-7A8058E0D1DF}"/>
              </a:ext>
            </a:extLst>
          </p:cNvPr>
          <p:cNvSpPr>
            <a:spLocks noGrp="1"/>
          </p:cNvSpPr>
          <p:nvPr/>
        </p:nvSpPr>
        <p:spPr>
          <a:xfrm>
            <a:off x="5014800" y="2066400"/>
            <a:ext cx="1069200" cy="100800"/>
          </a:xfrm>
          <a:prstGeom prst="rect">
            <a:avLst/>
          </a:prstGeom>
          <a:noFill/>
          <a:ln w="0">
            <a:noFill/>
          </a:ln>
        </p:spPr>
        <p:txBody>
          <a:bodyPr wrap="none" lIns="0" tIns="0" rIns="0" bIns="0" anchor="ctr">
            <a:noAutofit/>
          </a:bodyPr>
          <a:lstStyle>
            <a:defPPr algn="ctr">
              <a:defRPr sz="580" b="0">
                <a:solidFill>
                  <a:srgbClr val="4D5B64"/>
                </a:solidFill>
                <a:latin typeface="Arial"/>
                <a:ea typeface="Arial"/>
                <a:cs typeface="Arial"/>
              </a:defRPr>
            </a:defPPr>
            <a:lvl1pPr algn="ctr">
              <a:defRPr sz="580" b="0">
                <a:solidFill>
                  <a:srgbClr val="4D5B64"/>
                </a:solidFill>
                <a:latin typeface="Arial"/>
                <a:ea typeface="Arial"/>
                <a:cs typeface="Arial"/>
              </a:defRPr>
            </a:lvl1pPr>
            <a:lvl2pPr algn="ctr">
              <a:defRPr sz="580" b="0">
                <a:solidFill>
                  <a:srgbClr val="4D5B64"/>
                </a:solidFill>
                <a:latin typeface="Arial"/>
                <a:ea typeface="Arial"/>
                <a:cs typeface="Arial"/>
              </a:defRPr>
            </a:lvl2pPr>
            <a:lvl3pPr algn="ctr">
              <a:defRPr sz="580" b="0">
                <a:solidFill>
                  <a:srgbClr val="4D5B64"/>
                </a:solidFill>
                <a:latin typeface="Arial"/>
                <a:ea typeface="Arial"/>
                <a:cs typeface="Arial"/>
              </a:defRPr>
            </a:lvl3pPr>
            <a:lvl4pPr algn="ctr">
              <a:defRPr sz="580" b="0">
                <a:solidFill>
                  <a:srgbClr val="4D5B64"/>
                </a:solidFill>
                <a:latin typeface="Arial"/>
                <a:ea typeface="Arial"/>
                <a:cs typeface="Arial"/>
              </a:defRPr>
            </a:lvl4pPr>
            <a:lvl5pPr algn="ctr">
              <a:defRPr sz="580" b="0">
                <a:solidFill>
                  <a:srgbClr val="4D5B64"/>
                </a:solidFill>
                <a:latin typeface="Arial"/>
                <a:ea typeface="Arial"/>
                <a:cs typeface="Arial"/>
              </a:defRPr>
            </a:lvl5pPr>
            <a:lvl6pPr algn="ctr">
              <a:defRPr sz="580" b="0">
                <a:solidFill>
                  <a:srgbClr val="4D5B64"/>
                </a:solidFill>
                <a:latin typeface="Arial"/>
                <a:ea typeface="Arial"/>
                <a:cs typeface="Arial"/>
              </a:defRPr>
            </a:lvl6pPr>
            <a:lvl7pPr algn="ctr">
              <a:defRPr sz="580" b="0">
                <a:solidFill>
                  <a:srgbClr val="4D5B64"/>
                </a:solidFill>
                <a:latin typeface="Arial"/>
                <a:ea typeface="Arial"/>
                <a:cs typeface="Arial"/>
              </a:defRPr>
            </a:lvl7pPr>
            <a:lvl8pPr algn="ctr">
              <a:defRPr sz="580" b="0">
                <a:solidFill>
                  <a:srgbClr val="4D5B64"/>
                </a:solidFill>
                <a:latin typeface="Arial"/>
                <a:ea typeface="Arial"/>
                <a:cs typeface="Arial"/>
              </a:defRPr>
            </a:lvl8pPr>
            <a:lvl9pPr algn="ctr">
              <a:defRPr sz="580" b="0">
                <a:solidFill>
                  <a:srgbClr val="4D5B64"/>
                </a:solidFill>
                <a:latin typeface="Arial"/>
                <a:ea typeface="Arial"/>
                <a:cs typeface="Arial"/>
              </a:defRPr>
            </a:lvl9pPr>
          </a:lstStyle>
          <a:p>
            <a:pPr algn="ctr">
              <a:defRPr sz="580" b="0">
                <a:solidFill>
                  <a:srgbClr val="4D5B64"/>
                </a:solidFill>
                <a:latin typeface="Arial"/>
                <a:ea typeface="Arial"/>
                <a:cs typeface="Arial"/>
              </a:defRPr>
            </a:pPr>
            <a:r>
              <a:rPr sz="580" b="0">
                <a:solidFill>
                  <a:srgbClr val="4D5B64"/>
                </a:solidFill>
                <a:latin typeface="Arial"/>
                <a:ea typeface="Arial"/>
                <a:cs typeface="Arial"/>
              </a:rPr>
              <a:t>Density-conditioned fine-tuning</a:t>
            </a:r>
          </a:p>
        </p:txBody>
      </p:sp>
      <p:sp>
        <p:nvSpPr>
          <p:cNvPr id="60003" name="Build | inputs to engine">
            <a:extLst>
              <a:ext uri="{FF2B5EF4-FFF2-40B4-BE49-F238E27FC236}">
                <a16:creationId xmlns:a16="http://schemas.microsoft.com/office/drawing/2014/main" id="{2A81B2C1-BE38-4C7C-B034-144E659C73D3}"/>
              </a:ext>
            </a:extLst>
          </p:cNvPr>
          <p:cNvSpPr>
            <a:spLocks noGrp="1"/>
          </p:cNvSpPr>
          <p:nvPr/>
        </p:nvSpPr>
        <p:spPr>
          <a:xfrm>
            <a:off x="5547600" y="1764000"/>
            <a:ext cx="95" cy="108000"/>
          </a:xfrm>
          <a:custGeom>
            <a:avLst/>
            <a:gdLst/>
            <a:ahLst/>
            <a:cxnLst/>
            <a:rect l="0" t="0" r="0" b="0"/>
            <a:pathLst>
              <a:path w="95" h="108000">
                <a:moveTo>
                  <a:pt x="0" y="0"/>
                </a:moveTo>
                <a:lnTo>
                  <a:pt x="0" y="108000"/>
                </a:lnTo>
              </a:path>
            </a:pathLst>
          </a:custGeom>
          <a:noFill/>
          <a:ln w="8255">
            <a:solidFill>
              <a:srgbClr val="77828C"/>
            </a:solidFill>
          </a:ln>
        </p:spPr>
      </p:sp>
      <p:sp>
        <p:nvSpPr>
          <p:cNvPr id="60004" name="Build | inputs to engine head">
            <a:extLst>
              <a:ext uri="{FF2B5EF4-FFF2-40B4-BE49-F238E27FC236}">
                <a16:creationId xmlns:a16="http://schemas.microsoft.com/office/drawing/2014/main" id="{4C771B6A-1164-465E-9AD7-0ED8DDADA81F}"/>
              </a:ext>
            </a:extLst>
          </p:cNvPr>
          <p:cNvSpPr>
            <a:spLocks noGrp="1"/>
          </p:cNvSpPr>
          <p:nvPr/>
        </p:nvSpPr>
        <p:spPr>
          <a:xfrm>
            <a:off x="5533470" y="1844858"/>
            <a:ext cx="28261" cy="27142"/>
          </a:xfrm>
          <a:custGeom>
            <a:avLst/>
            <a:gdLst/>
            <a:ahLst/>
            <a:cxnLst/>
            <a:rect l="0" t="0" r="0" b="0"/>
            <a:pathLst>
              <a:path w="28261" h="27142">
                <a:moveTo>
                  <a:pt x="0" y="0"/>
                </a:moveTo>
                <a:lnTo>
                  <a:pt x="14130" y="27142"/>
                </a:lnTo>
                <a:lnTo>
                  <a:pt x="28261" y="0"/>
                </a:lnTo>
              </a:path>
            </a:pathLst>
          </a:custGeom>
          <a:noFill/>
          <a:ln w="8255">
            <a:solidFill>
              <a:srgbClr val="77828C"/>
            </a:solidFill>
          </a:ln>
        </p:spPr>
      </p:sp>
      <p:sp>
        <p:nvSpPr>
          <p:cNvPr id="60005" name="Build | engine to alternative poses">
            <a:extLst>
              <a:ext uri="{FF2B5EF4-FFF2-40B4-BE49-F238E27FC236}">
                <a16:creationId xmlns:a16="http://schemas.microsoft.com/office/drawing/2014/main" id="{E10BE34A-D6B6-492A-95DC-EEBC1C48FC74}"/>
              </a:ext>
            </a:extLst>
          </p:cNvPr>
          <p:cNvSpPr>
            <a:spLocks noGrp="1"/>
          </p:cNvSpPr>
          <p:nvPr/>
        </p:nvSpPr>
        <p:spPr>
          <a:xfrm>
            <a:off x="5547600" y="2246400"/>
            <a:ext cx="95" cy="64800"/>
          </a:xfrm>
          <a:custGeom>
            <a:avLst/>
            <a:gdLst/>
            <a:ahLst/>
            <a:cxnLst/>
            <a:rect l="0" t="0" r="0" b="0"/>
            <a:pathLst>
              <a:path w="95" h="64800">
                <a:moveTo>
                  <a:pt x="0" y="0"/>
                </a:moveTo>
                <a:lnTo>
                  <a:pt x="0" y="64800"/>
                </a:lnTo>
              </a:path>
            </a:pathLst>
          </a:custGeom>
          <a:noFill/>
          <a:ln w="8255">
            <a:solidFill>
              <a:srgbClr val="77828C"/>
            </a:solidFill>
          </a:ln>
        </p:spPr>
      </p:sp>
      <p:sp>
        <p:nvSpPr>
          <p:cNvPr id="60006" name="Build | engine to alternative poses head">
            <a:extLst>
              <a:ext uri="{FF2B5EF4-FFF2-40B4-BE49-F238E27FC236}">
                <a16:creationId xmlns:a16="http://schemas.microsoft.com/office/drawing/2014/main" id="{457B8A33-5E2F-4C11-B699-9BDB1E7FA1F6}"/>
              </a:ext>
            </a:extLst>
          </p:cNvPr>
          <p:cNvSpPr>
            <a:spLocks noGrp="1"/>
          </p:cNvSpPr>
          <p:nvPr/>
        </p:nvSpPr>
        <p:spPr>
          <a:xfrm>
            <a:off x="5533470" y="2284058"/>
            <a:ext cx="28261" cy="27142"/>
          </a:xfrm>
          <a:custGeom>
            <a:avLst/>
            <a:gdLst/>
            <a:ahLst/>
            <a:cxnLst/>
            <a:rect l="0" t="0" r="0" b="0"/>
            <a:pathLst>
              <a:path w="28261" h="27142">
                <a:moveTo>
                  <a:pt x="0" y="0"/>
                </a:moveTo>
                <a:lnTo>
                  <a:pt x="14130" y="27142"/>
                </a:lnTo>
                <a:lnTo>
                  <a:pt x="28261" y="0"/>
                </a:lnTo>
              </a:path>
            </a:pathLst>
          </a:custGeom>
          <a:noFill/>
          <a:ln w="8255">
            <a:solidFill>
              <a:srgbClr val="77828C"/>
            </a:solidFill>
          </a:ln>
        </p:spPr>
      </p:sp>
      <p:sp>
        <p:nvSpPr>
          <p:cNvPr id="60007" name="Build | alternative pose output">
            <a:extLst>
              <a:ext uri="{FF2B5EF4-FFF2-40B4-BE49-F238E27FC236}">
                <a16:creationId xmlns:a16="http://schemas.microsoft.com/office/drawing/2014/main" id="{CC76E275-6B68-4B6D-8003-9B49760FE017}"/>
              </a:ext>
            </a:extLst>
          </p:cNvPr>
          <p:cNvSpPr>
            <a:spLocks noGrp="1"/>
          </p:cNvSpPr>
          <p:nvPr/>
        </p:nvSpPr>
        <p:spPr>
          <a:xfrm>
            <a:off x="4996800" y="2340000"/>
            <a:ext cx="1105200" cy="2019600"/>
          </a:xfrm>
          <a:prstGeom prst="roundRect">
            <a:avLst>
              <a:gd name="adj" fmla="val 6895"/>
            </a:avLst>
          </a:prstGeom>
          <a:solidFill>
            <a:srgbClr val="FFFFFF"/>
          </a:solidFill>
          <a:ln w="7620">
            <a:solidFill>
              <a:srgbClr val="C8CFD4"/>
            </a:solidFill>
          </a:ln>
        </p:spPr>
      </p:sp>
      <p:pic>
        <p:nvPicPr>
          <p:cNvPr id="60008" name="图片 60007">
            <a:extLst>
              <a:ext uri="{FF2B5EF4-FFF2-40B4-BE49-F238E27FC236}">
                <a16:creationId xmlns:a16="http://schemas.microsoft.com/office/drawing/2014/main" id="{B99AAD69-E1AE-4B74-996B-1605F26BD153}"/>
              </a:ext>
            </a:extLst>
          </p:cNvPr>
          <p:cNvPicPr>
            <a:picLocks noChangeAspect="1"/>
          </p:cNvPicPr>
          <p:nvPr/>
        </p:nvPicPr>
        <p:blipFill>
          <a:blip r:embed="rId6"/>
          <a:stretch/>
        </p:blipFill>
        <p:spPr>
          <a:xfrm>
            <a:off x="5120723" y="2354400"/>
            <a:ext cx="857354" cy="619200"/>
          </a:xfrm>
          <a:prstGeom prst="rect">
            <a:avLst/>
          </a:prstGeom>
        </p:spPr>
      </p:pic>
      <p:sp>
        <p:nvSpPr>
          <p:cNvPr id="60009" name="Build | pose separator 0">
            <a:extLst>
              <a:ext uri="{FF2B5EF4-FFF2-40B4-BE49-F238E27FC236}">
                <a16:creationId xmlns:a16="http://schemas.microsoft.com/office/drawing/2014/main" id="{3487966A-B678-48D2-999C-0911B3599B37}"/>
              </a:ext>
            </a:extLst>
          </p:cNvPr>
          <p:cNvSpPr>
            <a:spLocks noGrp="1"/>
          </p:cNvSpPr>
          <p:nvPr/>
        </p:nvSpPr>
        <p:spPr>
          <a:xfrm>
            <a:off x="5076000" y="2984400"/>
            <a:ext cx="946800" cy="95"/>
          </a:xfrm>
          <a:custGeom>
            <a:avLst/>
            <a:gdLst/>
            <a:ahLst/>
            <a:cxnLst/>
            <a:rect l="0" t="0" r="0" b="0"/>
            <a:pathLst>
              <a:path w="946800" h="95">
                <a:moveTo>
                  <a:pt x="0" y="0"/>
                </a:moveTo>
                <a:lnTo>
                  <a:pt x="946800" y="0"/>
                </a:lnTo>
              </a:path>
            </a:pathLst>
          </a:custGeom>
          <a:noFill/>
          <a:ln w="5080">
            <a:solidFill>
              <a:srgbClr val="E0E4E6"/>
            </a:solidFill>
          </a:ln>
        </p:spPr>
      </p:sp>
      <p:pic>
        <p:nvPicPr>
          <p:cNvPr id="60010" name="图片 60009">
            <a:extLst>
              <a:ext uri="{FF2B5EF4-FFF2-40B4-BE49-F238E27FC236}">
                <a16:creationId xmlns:a16="http://schemas.microsoft.com/office/drawing/2014/main" id="{CBD3B484-630D-4184-A3B9-755EE4C3DB98}"/>
              </a:ext>
            </a:extLst>
          </p:cNvPr>
          <p:cNvPicPr>
            <a:picLocks noChangeAspect="1"/>
          </p:cNvPicPr>
          <p:nvPr/>
        </p:nvPicPr>
        <p:blipFill>
          <a:blip r:embed="rId7"/>
          <a:stretch/>
        </p:blipFill>
        <p:spPr>
          <a:xfrm>
            <a:off x="5120723" y="2991600"/>
            <a:ext cx="857354" cy="619200"/>
          </a:xfrm>
          <a:prstGeom prst="rect">
            <a:avLst/>
          </a:prstGeom>
        </p:spPr>
      </p:pic>
      <p:sp>
        <p:nvSpPr>
          <p:cNvPr id="60011" name="Build | pose separator 1">
            <a:extLst>
              <a:ext uri="{FF2B5EF4-FFF2-40B4-BE49-F238E27FC236}">
                <a16:creationId xmlns:a16="http://schemas.microsoft.com/office/drawing/2014/main" id="{5647E784-2544-4446-943E-E18CA16542A3}"/>
              </a:ext>
            </a:extLst>
          </p:cNvPr>
          <p:cNvSpPr>
            <a:spLocks noGrp="1"/>
          </p:cNvSpPr>
          <p:nvPr/>
        </p:nvSpPr>
        <p:spPr>
          <a:xfrm>
            <a:off x="5076000" y="3621600"/>
            <a:ext cx="946800" cy="95"/>
          </a:xfrm>
          <a:custGeom>
            <a:avLst/>
            <a:gdLst/>
            <a:ahLst/>
            <a:cxnLst/>
            <a:rect l="0" t="0" r="0" b="0"/>
            <a:pathLst>
              <a:path w="946800" h="95">
                <a:moveTo>
                  <a:pt x="0" y="0"/>
                </a:moveTo>
                <a:lnTo>
                  <a:pt x="946800" y="0"/>
                </a:lnTo>
              </a:path>
            </a:pathLst>
          </a:custGeom>
          <a:noFill/>
          <a:ln w="5080">
            <a:solidFill>
              <a:srgbClr val="E0E4E6"/>
            </a:solidFill>
          </a:ln>
        </p:spPr>
      </p:sp>
      <p:pic>
        <p:nvPicPr>
          <p:cNvPr id="60012" name="图片 60011">
            <a:extLst>
              <a:ext uri="{FF2B5EF4-FFF2-40B4-BE49-F238E27FC236}">
                <a16:creationId xmlns:a16="http://schemas.microsoft.com/office/drawing/2014/main" id="{764C8C58-8DAB-4953-BF4A-A7E615488E44}"/>
              </a:ext>
            </a:extLst>
          </p:cNvPr>
          <p:cNvPicPr>
            <a:picLocks noChangeAspect="1"/>
          </p:cNvPicPr>
          <p:nvPr/>
        </p:nvPicPr>
        <p:blipFill>
          <a:blip r:embed="rId8"/>
          <a:stretch/>
        </p:blipFill>
        <p:spPr>
          <a:xfrm>
            <a:off x="5120723" y="3628800"/>
            <a:ext cx="857354" cy="619200"/>
          </a:xfrm>
          <a:prstGeom prst="rect">
            <a:avLst/>
          </a:prstGeom>
        </p:spPr>
      </p:pic>
      <p:sp>
        <p:nvSpPr>
          <p:cNvPr id="60013" name="Build | label">
            <a:extLst>
              <a:ext uri="{FF2B5EF4-FFF2-40B4-BE49-F238E27FC236}">
                <a16:creationId xmlns:a16="http://schemas.microsoft.com/office/drawing/2014/main" id="{4E6BD37D-0AA6-4599-AFC6-8C440519D94F}"/>
              </a:ext>
            </a:extLst>
          </p:cNvPr>
          <p:cNvSpPr>
            <a:spLocks noGrp="1"/>
          </p:cNvSpPr>
          <p:nvPr/>
        </p:nvSpPr>
        <p:spPr>
          <a:xfrm>
            <a:off x="5004000" y="4248000"/>
            <a:ext cx="1090800" cy="100800"/>
          </a:xfrm>
          <a:prstGeom prst="rect">
            <a:avLst/>
          </a:prstGeom>
          <a:noFill/>
          <a:ln w="0">
            <a:noFill/>
          </a:ln>
        </p:spPr>
        <p:txBody>
          <a:bodyPr wrap="none" lIns="0" tIns="0" rIns="0" bIns="0" anchor="ctr">
            <a:noAutofit/>
          </a:bodyPr>
          <a:lstStyle>
            <a:defPPr algn="ctr">
              <a:defRPr sz="670" b="0">
                <a:solidFill>
                  <a:srgbClr val="263442"/>
                </a:solidFill>
                <a:latin typeface="Arial"/>
                <a:ea typeface="Arial"/>
                <a:cs typeface="Arial"/>
              </a:defRPr>
            </a:defPPr>
            <a:lvl1pPr algn="ctr">
              <a:defRPr sz="670" b="0">
                <a:solidFill>
                  <a:srgbClr val="263442"/>
                </a:solidFill>
                <a:latin typeface="Arial"/>
                <a:ea typeface="Arial"/>
                <a:cs typeface="Arial"/>
              </a:defRPr>
            </a:lvl1pPr>
            <a:lvl2pPr algn="ctr">
              <a:defRPr sz="670" b="0">
                <a:solidFill>
                  <a:srgbClr val="263442"/>
                </a:solidFill>
                <a:latin typeface="Arial"/>
                <a:ea typeface="Arial"/>
                <a:cs typeface="Arial"/>
              </a:defRPr>
            </a:lvl2pPr>
            <a:lvl3pPr algn="ctr">
              <a:defRPr sz="670" b="0">
                <a:solidFill>
                  <a:srgbClr val="263442"/>
                </a:solidFill>
                <a:latin typeface="Arial"/>
                <a:ea typeface="Arial"/>
                <a:cs typeface="Arial"/>
              </a:defRPr>
            </a:lvl3pPr>
            <a:lvl4pPr algn="ctr">
              <a:defRPr sz="670" b="0">
                <a:solidFill>
                  <a:srgbClr val="263442"/>
                </a:solidFill>
                <a:latin typeface="Arial"/>
                <a:ea typeface="Arial"/>
                <a:cs typeface="Arial"/>
              </a:defRPr>
            </a:lvl4pPr>
            <a:lvl5pPr algn="ctr">
              <a:defRPr sz="670" b="0">
                <a:solidFill>
                  <a:srgbClr val="263442"/>
                </a:solidFill>
                <a:latin typeface="Arial"/>
                <a:ea typeface="Arial"/>
                <a:cs typeface="Arial"/>
              </a:defRPr>
            </a:lvl5pPr>
            <a:lvl6pPr algn="ctr">
              <a:defRPr sz="670" b="0">
                <a:solidFill>
                  <a:srgbClr val="263442"/>
                </a:solidFill>
                <a:latin typeface="Arial"/>
                <a:ea typeface="Arial"/>
                <a:cs typeface="Arial"/>
              </a:defRPr>
            </a:lvl6pPr>
            <a:lvl7pPr algn="ctr">
              <a:defRPr sz="670" b="0">
                <a:solidFill>
                  <a:srgbClr val="263442"/>
                </a:solidFill>
                <a:latin typeface="Arial"/>
                <a:ea typeface="Arial"/>
                <a:cs typeface="Arial"/>
              </a:defRPr>
            </a:lvl7pPr>
            <a:lvl8pPr algn="ctr">
              <a:defRPr sz="670" b="0">
                <a:solidFill>
                  <a:srgbClr val="263442"/>
                </a:solidFill>
                <a:latin typeface="Arial"/>
                <a:ea typeface="Arial"/>
                <a:cs typeface="Arial"/>
              </a:defRPr>
            </a:lvl8pPr>
            <a:lvl9pPr algn="ctr">
              <a:defRPr sz="670" b="0">
                <a:solidFill>
                  <a:srgbClr val="263442"/>
                </a:solidFill>
                <a:latin typeface="Arial"/>
                <a:ea typeface="Arial"/>
                <a:cs typeface="Arial"/>
              </a:defRPr>
            </a:lvl9pPr>
          </a:lstStyle>
          <a:p>
            <a:pPr algn="ctr">
              <a:defRPr sz="670" b="0">
                <a:solidFill>
                  <a:srgbClr val="263442"/>
                </a:solidFill>
                <a:latin typeface="Arial"/>
                <a:ea typeface="Arial"/>
                <a:cs typeface="Arial"/>
              </a:defRPr>
            </a:pPr>
            <a:r>
              <a:rPr sz="670" b="0">
                <a:solidFill>
                  <a:srgbClr val="263442"/>
                </a:solidFill>
                <a:latin typeface="Arial"/>
                <a:ea typeface="Arial"/>
                <a:cs typeface="Arial"/>
              </a:rPr>
              <a:t>All-atom ligand poses</a:t>
            </a:r>
          </a:p>
        </p:txBody>
      </p:sp>
    </p:spTree>
    <p:extLst>
      <p:ext uri="{BB962C8B-B14F-4D97-AF65-F5344CB8AC3E}">
        <p14:creationId xmlns:p14="http://schemas.microsoft.com/office/powerpoint/2010/main" val="674231016"/>
      </p:ext>
    </p:extLst>
  </p:cSld>
  <p:clrMapOvr>
    <a:masterClrMapping/>
  </p:clrMapOvr>
  <p:extLst>
    <p:ext uri="{6950BFC3-D8DA-4A85-94F7-54DA5524770B}">
      <p188:commentRel xmlns:p188="http://schemas.microsoft.com/office/powerpoint/2018/8/main" r:id="rId3"/>
    </p:ext>
  </p:extLs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352734-FCAE-2B81-54BC-B01F7B050C10}"/>
            </a:ext>
          </a:extLst>
        </p:cNvPr>
        <p:cNvGrpSpPr/>
        <p:nvPr/>
      </p:nvGrpSpPr>
      <p:grpSpPr>
        <a:xfrm>
          <a:off x="0" y="0"/>
          <a:ext cx="0" cy="0"/>
          <a:chOff x="0" y="0"/>
          <a:chExt cx="0" cy="0"/>
        </a:xfrm>
      </p:grpSpPr>
      <p:sp>
        <p:nvSpPr>
          <p:cNvPr id="4" name="Panel | Build background">
            <a:extLst>
              <a:ext uri="{FF2B5EF4-FFF2-40B4-BE49-F238E27FC236}">
                <a16:creationId xmlns:a16="http://schemas.microsoft.com/office/drawing/2014/main" id="{3F93B921-327F-EA56-1B22-0D09369772CD}"/>
              </a:ext>
            </a:extLst>
          </p:cNvPr>
          <p:cNvSpPr/>
          <p:nvPr/>
        </p:nvSpPr>
        <p:spPr>
          <a:xfrm>
            <a:off x="4868797" y="84564"/>
            <a:ext cx="1354615" cy="4331875"/>
          </a:xfrm>
          <a:prstGeom prst="roundRect">
            <a:avLst>
              <a:gd name="adj" fmla="val 2000"/>
            </a:avLst>
          </a:prstGeom>
          <a:solidFill>
            <a:srgbClr val="FAF6EE"/>
          </a:solidFill>
          <a:ln w="9720">
            <a:solidFill>
              <a:srgbClr val="E3D9C6"/>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dirty="0"/>
          </a:p>
        </p:txBody>
      </p:sp>
      <p:sp>
        <p:nvSpPr>
          <p:cNvPr id="11" name="TextBox 8">
            <a:extLst>
              <a:ext uri="{FF2B5EF4-FFF2-40B4-BE49-F238E27FC236}">
                <a16:creationId xmlns:a16="http://schemas.microsoft.com/office/drawing/2014/main" id="{E6455CE4-B1DF-384C-F92E-829DDB28E816}"/>
              </a:ext>
            </a:extLst>
          </p:cNvPr>
          <p:cNvSpPr txBox="1"/>
          <p:nvPr/>
        </p:nvSpPr>
        <p:spPr>
          <a:xfrm>
            <a:off x="4902380" y="107125"/>
            <a:ext cx="174028" cy="149656"/>
          </a:xfrm>
          <a:prstGeom prst="rect">
            <a:avLst/>
          </a:prstGeom>
          <a:noFill/>
        </p:spPr>
        <p:txBody>
          <a:bodyPr wrap="square" lIns="0" tIns="0" rIns="0" bIns="0" anchor="ctr">
            <a:spAutoFit/>
          </a:bodyPr>
          <a:lstStyle/>
          <a:p>
            <a:pPr algn="l">
              <a:lnSpc>
                <a:spcPct val="105000"/>
              </a:lnSpc>
            </a:pPr>
            <a:r>
              <a:rPr sz="995" b="1" dirty="0">
                <a:solidFill>
                  <a:srgbClr val="263442"/>
                </a:solidFill>
                <a:latin typeface="Arial"/>
              </a:rPr>
              <a:t>c</a:t>
            </a:r>
          </a:p>
        </p:txBody>
      </p:sp>
      <p:sp>
        <p:nvSpPr>
          <p:cNvPr id="12" name="TextBox 9">
            <a:extLst>
              <a:ext uri="{FF2B5EF4-FFF2-40B4-BE49-F238E27FC236}">
                <a16:creationId xmlns:a16="http://schemas.microsoft.com/office/drawing/2014/main" id="{081F4C46-44A2-3E43-D338-0A52F1D83598}"/>
              </a:ext>
            </a:extLst>
          </p:cNvPr>
          <p:cNvSpPr txBox="1"/>
          <p:nvPr/>
        </p:nvSpPr>
        <p:spPr>
          <a:xfrm>
            <a:off x="5060587" y="120126"/>
            <a:ext cx="1202377" cy="239809"/>
          </a:xfrm>
          <a:prstGeom prst="rect">
            <a:avLst/>
          </a:prstGeom>
          <a:noFill/>
        </p:spPr>
        <p:txBody>
          <a:bodyPr wrap="square" lIns="0" tIns="0" rIns="0" bIns="0" anchor="ctr">
            <a:spAutoFit/>
          </a:bodyPr>
          <a:lstStyle/>
          <a:p>
            <a:pPr algn="l">
              <a:lnSpc>
                <a:spcPct val="98000"/>
              </a:lnSpc>
            </a:pPr>
            <a:r>
              <a:rPr sz="795" dirty="0">
                <a:solidFill>
                  <a:srgbClr val="263442"/>
                </a:solidFill>
                <a:latin typeface="Arial"/>
              </a:rPr>
              <a:t>Build: downstream</a:t>
            </a:r>
          </a:p>
          <a:p>
            <a:pPr algn="l">
              <a:lnSpc>
                <a:spcPct val="98000"/>
              </a:lnSpc>
            </a:pPr>
            <a:r>
              <a:rPr sz="795" dirty="0">
                <a:solidFill>
                  <a:srgbClr val="263442"/>
                </a:solidFill>
                <a:latin typeface="Arial"/>
              </a:rPr>
              <a:t>pose reconstruction</a:t>
            </a:r>
          </a:p>
        </p:txBody>
      </p:sp>
      <p:sp>
        <p:nvSpPr>
          <p:cNvPr id="768" name="Build four inputs">
            <a:extLst>
              <a:ext uri="{FF2B5EF4-FFF2-40B4-BE49-F238E27FC236}">
                <a16:creationId xmlns:a16="http://schemas.microsoft.com/office/drawing/2014/main" id="{2BF98272-1D43-106D-C4EA-676CFECC33CF}"/>
              </a:ext>
            </a:extLst>
          </p:cNvPr>
          <p:cNvSpPr>
            <a:spLocks noGrp="1"/>
          </p:cNvSpPr>
          <p:nvPr/>
        </p:nvSpPr>
        <p:spPr>
          <a:xfrm>
            <a:off x="4963973" y="420252"/>
            <a:ext cx="1158792" cy="1302153"/>
          </a:xfrm>
          <a:prstGeom prst="roundRect">
            <a:avLst>
              <a:gd name="adj" fmla="val 4554"/>
            </a:avLst>
          </a:prstGeom>
          <a:solidFill>
            <a:srgbClr val="FFFFFF"/>
          </a:solidFill>
          <a:ln w="7290">
            <a:solidFill>
              <a:srgbClr val="DFD6C3"/>
            </a:solidFill>
            <a:prstDash val="solid"/>
          </a:ln>
        </p:spPr>
        <p:txBody>
          <a:bodyPr/>
          <a:lstStyle/>
          <a:p>
            <a:endParaRPr lang="zh-CN" altLang="en-US" dirty="0"/>
          </a:p>
        </p:txBody>
      </p:sp>
      <p:sp>
        <p:nvSpPr>
          <p:cNvPr id="769" name="Site label">
            <a:extLst>
              <a:ext uri="{FF2B5EF4-FFF2-40B4-BE49-F238E27FC236}">
                <a16:creationId xmlns:a16="http://schemas.microsoft.com/office/drawing/2014/main" id="{3B2D181B-8171-23E5-904D-1E8D8B07D388}"/>
              </a:ext>
            </a:extLst>
          </p:cNvPr>
          <p:cNvSpPr>
            <a:spLocks noGrp="1"/>
          </p:cNvSpPr>
          <p:nvPr/>
        </p:nvSpPr>
        <p:spPr>
          <a:xfrm>
            <a:off x="4992638" y="834972"/>
            <a:ext cx="514364" cy="101253"/>
          </a:xfrm>
          <a:prstGeom prst="rect">
            <a:avLst/>
          </a:prstGeom>
          <a:noFill/>
          <a:ln w="6885">
            <a:noFill/>
            <a:prstDash val="solid"/>
          </a:ln>
        </p:spPr>
        <p:txBody>
          <a:bodyPr lIns="0" tIns="0" rIns="0" bIns="0" anchor="ctr"/>
          <a:lstStyle>
            <a:defPPr algn="ctr">
              <a:defRPr sz="695" b="1">
                <a:solidFill>
                  <a:srgbClr val="263442"/>
                </a:solidFill>
                <a:latin typeface="Arial"/>
                <a:ea typeface="Arial"/>
                <a:cs typeface="Arial"/>
              </a:defRPr>
            </a:defPPr>
            <a:lvl1pPr algn="ctr">
              <a:defRPr sz="695" b="1">
                <a:solidFill>
                  <a:srgbClr val="263442"/>
                </a:solidFill>
                <a:latin typeface="Arial"/>
                <a:ea typeface="Arial"/>
                <a:cs typeface="Arial"/>
              </a:defRPr>
            </a:lvl1pPr>
            <a:lvl2pPr algn="ctr">
              <a:defRPr sz="695" b="1">
                <a:solidFill>
                  <a:srgbClr val="263442"/>
                </a:solidFill>
                <a:latin typeface="Arial"/>
                <a:ea typeface="Arial"/>
                <a:cs typeface="Arial"/>
              </a:defRPr>
            </a:lvl2pPr>
            <a:lvl3pPr algn="ctr">
              <a:defRPr sz="695" b="1">
                <a:solidFill>
                  <a:srgbClr val="263442"/>
                </a:solidFill>
                <a:latin typeface="Arial"/>
                <a:ea typeface="Arial"/>
                <a:cs typeface="Arial"/>
              </a:defRPr>
            </a:lvl3pPr>
            <a:lvl4pPr algn="ctr">
              <a:defRPr sz="695" b="1">
                <a:solidFill>
                  <a:srgbClr val="263442"/>
                </a:solidFill>
                <a:latin typeface="Arial"/>
                <a:ea typeface="Arial"/>
                <a:cs typeface="Arial"/>
              </a:defRPr>
            </a:lvl4pPr>
            <a:lvl5pPr algn="ctr">
              <a:defRPr sz="695" b="1">
                <a:solidFill>
                  <a:srgbClr val="263442"/>
                </a:solidFill>
                <a:latin typeface="Arial"/>
                <a:ea typeface="Arial"/>
                <a:cs typeface="Arial"/>
              </a:defRPr>
            </a:lvl5pPr>
            <a:lvl6pPr algn="ctr">
              <a:defRPr sz="695" b="1">
                <a:solidFill>
                  <a:srgbClr val="263442"/>
                </a:solidFill>
                <a:latin typeface="Arial"/>
                <a:ea typeface="Arial"/>
                <a:cs typeface="Arial"/>
              </a:defRPr>
            </a:lvl6pPr>
            <a:lvl7pPr algn="ctr">
              <a:defRPr sz="695" b="1">
                <a:solidFill>
                  <a:srgbClr val="263442"/>
                </a:solidFill>
                <a:latin typeface="Arial"/>
                <a:ea typeface="Arial"/>
                <a:cs typeface="Arial"/>
              </a:defRPr>
            </a:lvl7pPr>
            <a:lvl8pPr algn="ctr">
              <a:defRPr sz="695" b="1">
                <a:solidFill>
                  <a:srgbClr val="263442"/>
                </a:solidFill>
                <a:latin typeface="Arial"/>
                <a:ea typeface="Arial"/>
                <a:cs typeface="Arial"/>
              </a:defRPr>
            </a:lvl8pPr>
            <a:lvl9pPr algn="ctr">
              <a:defRPr sz="695" b="1">
                <a:solidFill>
                  <a:srgbClr val="263442"/>
                </a:solidFill>
                <a:latin typeface="Arial"/>
                <a:ea typeface="Arial"/>
                <a:cs typeface="Arial"/>
              </a:defRPr>
            </a:lvl9pPr>
          </a:lstStyle>
          <a:p>
            <a:pPr algn="ctr">
              <a:defRPr sz="695" b="1">
                <a:solidFill>
                  <a:srgbClr val="263442"/>
                </a:solidFill>
                <a:latin typeface="Arial"/>
                <a:ea typeface="Arial"/>
                <a:cs typeface="Arial"/>
              </a:defRPr>
            </a:pPr>
            <a:r>
              <a:rPr sz="695" b="0" dirty="0">
                <a:solidFill>
                  <a:srgbClr val="263442"/>
                </a:solidFill>
                <a:latin typeface="Arial"/>
                <a:ea typeface="Arial"/>
                <a:cs typeface="Arial"/>
              </a:rPr>
              <a:t>Site</a:t>
            </a:r>
          </a:p>
        </p:txBody>
      </p:sp>
      <p:sp>
        <p:nvSpPr>
          <p:cNvPr id="770" name="Site provenance">
            <a:extLst>
              <a:ext uri="{FF2B5EF4-FFF2-40B4-BE49-F238E27FC236}">
                <a16:creationId xmlns:a16="http://schemas.microsoft.com/office/drawing/2014/main" id="{1D7E3247-83A3-5643-3DAD-7118C029E905}"/>
              </a:ext>
            </a:extLst>
          </p:cNvPr>
          <p:cNvSpPr>
            <a:spLocks noGrp="1"/>
          </p:cNvSpPr>
          <p:nvPr/>
        </p:nvSpPr>
        <p:spPr>
          <a:xfrm>
            <a:off x="4999032" y="921461"/>
            <a:ext cx="514364" cy="85052"/>
          </a:xfrm>
          <a:prstGeom prst="rect">
            <a:avLst/>
          </a:prstGeom>
          <a:noFill/>
          <a:ln w="6885">
            <a:noFill/>
            <a:prstDash val="solid"/>
          </a:ln>
        </p:spPr>
        <p:txBody>
          <a:bodyPr lIns="0" tIns="0" rIns="0" bIns="0" anchor="ctr"/>
          <a:lstStyle>
            <a:defPPr algn="ctr">
              <a:defRPr sz="590" b="0">
                <a:solidFill>
                  <a:srgbClr val="263442"/>
                </a:solidFill>
                <a:latin typeface="Arial"/>
                <a:ea typeface="Arial"/>
                <a:cs typeface="Arial"/>
              </a:defRPr>
            </a:defPPr>
            <a:lvl1pPr algn="ctr">
              <a:defRPr sz="590" b="0">
                <a:solidFill>
                  <a:srgbClr val="263442"/>
                </a:solidFill>
                <a:latin typeface="Arial"/>
                <a:ea typeface="Arial"/>
                <a:cs typeface="Arial"/>
              </a:defRPr>
            </a:lvl1pPr>
            <a:lvl2pPr algn="ctr">
              <a:defRPr sz="590" b="0">
                <a:solidFill>
                  <a:srgbClr val="263442"/>
                </a:solidFill>
                <a:latin typeface="Arial"/>
                <a:ea typeface="Arial"/>
                <a:cs typeface="Arial"/>
              </a:defRPr>
            </a:lvl2pPr>
            <a:lvl3pPr algn="ctr">
              <a:defRPr sz="590" b="0">
                <a:solidFill>
                  <a:srgbClr val="263442"/>
                </a:solidFill>
                <a:latin typeface="Arial"/>
                <a:ea typeface="Arial"/>
                <a:cs typeface="Arial"/>
              </a:defRPr>
            </a:lvl3pPr>
            <a:lvl4pPr algn="ctr">
              <a:defRPr sz="590" b="0">
                <a:solidFill>
                  <a:srgbClr val="263442"/>
                </a:solidFill>
                <a:latin typeface="Arial"/>
                <a:ea typeface="Arial"/>
                <a:cs typeface="Arial"/>
              </a:defRPr>
            </a:lvl4pPr>
            <a:lvl5pPr algn="ctr">
              <a:defRPr sz="590" b="0">
                <a:solidFill>
                  <a:srgbClr val="263442"/>
                </a:solidFill>
                <a:latin typeface="Arial"/>
                <a:ea typeface="Arial"/>
                <a:cs typeface="Arial"/>
              </a:defRPr>
            </a:lvl5pPr>
            <a:lvl6pPr algn="ctr">
              <a:defRPr sz="590" b="0">
                <a:solidFill>
                  <a:srgbClr val="263442"/>
                </a:solidFill>
                <a:latin typeface="Arial"/>
                <a:ea typeface="Arial"/>
                <a:cs typeface="Arial"/>
              </a:defRPr>
            </a:lvl6pPr>
            <a:lvl7pPr algn="ctr">
              <a:defRPr sz="590" b="0">
                <a:solidFill>
                  <a:srgbClr val="263442"/>
                </a:solidFill>
                <a:latin typeface="Arial"/>
                <a:ea typeface="Arial"/>
                <a:cs typeface="Arial"/>
              </a:defRPr>
            </a:lvl7pPr>
            <a:lvl8pPr algn="ctr">
              <a:defRPr sz="590" b="0">
                <a:solidFill>
                  <a:srgbClr val="263442"/>
                </a:solidFill>
                <a:latin typeface="Arial"/>
                <a:ea typeface="Arial"/>
                <a:cs typeface="Arial"/>
              </a:defRPr>
            </a:lvl8pPr>
            <a:lvl9pPr algn="ctr">
              <a:defRPr sz="590" b="0">
                <a:solidFill>
                  <a:srgbClr val="263442"/>
                </a:solidFill>
                <a:latin typeface="Arial"/>
                <a:ea typeface="Arial"/>
                <a:cs typeface="Arial"/>
              </a:defRPr>
            </a:lvl9pPr>
          </a:lstStyle>
          <a:p>
            <a:pPr algn="ctr">
              <a:defRPr sz="590" b="0">
                <a:solidFill>
                  <a:srgbClr val="263442"/>
                </a:solidFill>
                <a:latin typeface="Arial"/>
                <a:ea typeface="Arial"/>
                <a:cs typeface="Arial"/>
              </a:defRPr>
            </a:pPr>
            <a:r>
              <a:rPr sz="550" dirty="0">
                <a:solidFill>
                  <a:srgbClr val="263442"/>
                </a:solidFill>
                <a:latin typeface="Arial"/>
                <a:ea typeface="Arial"/>
                <a:cs typeface="Arial"/>
              </a:rPr>
              <a:t>from Find</a:t>
            </a:r>
          </a:p>
        </p:txBody>
      </p:sp>
      <p:sp>
        <p:nvSpPr>
          <p:cNvPr id="771" name="Pocket label">
            <a:extLst>
              <a:ext uri="{FF2B5EF4-FFF2-40B4-BE49-F238E27FC236}">
                <a16:creationId xmlns:a16="http://schemas.microsoft.com/office/drawing/2014/main" id="{DC9603B8-71EE-2C1D-249F-079678E93D98}"/>
              </a:ext>
            </a:extLst>
          </p:cNvPr>
          <p:cNvSpPr>
            <a:spLocks noGrp="1"/>
          </p:cNvSpPr>
          <p:nvPr/>
        </p:nvSpPr>
        <p:spPr>
          <a:xfrm>
            <a:off x="5581260" y="854408"/>
            <a:ext cx="514364" cy="101253"/>
          </a:xfrm>
          <a:prstGeom prst="rect">
            <a:avLst/>
          </a:prstGeom>
          <a:noFill/>
          <a:ln w="6885">
            <a:noFill/>
            <a:prstDash val="solid"/>
          </a:ln>
        </p:spPr>
        <p:txBody>
          <a:bodyPr lIns="0" tIns="0" rIns="0" bIns="0" anchor="ctr"/>
          <a:lstStyle>
            <a:defPPr algn="ctr">
              <a:defRPr sz="695" b="1">
                <a:solidFill>
                  <a:srgbClr val="263442"/>
                </a:solidFill>
                <a:latin typeface="Arial"/>
                <a:ea typeface="Arial"/>
                <a:cs typeface="Arial"/>
              </a:defRPr>
            </a:defPPr>
            <a:lvl1pPr algn="ctr">
              <a:defRPr sz="695" b="1">
                <a:solidFill>
                  <a:srgbClr val="263442"/>
                </a:solidFill>
                <a:latin typeface="Arial"/>
                <a:ea typeface="Arial"/>
                <a:cs typeface="Arial"/>
              </a:defRPr>
            </a:lvl1pPr>
            <a:lvl2pPr algn="ctr">
              <a:defRPr sz="695" b="1">
                <a:solidFill>
                  <a:srgbClr val="263442"/>
                </a:solidFill>
                <a:latin typeface="Arial"/>
                <a:ea typeface="Arial"/>
                <a:cs typeface="Arial"/>
              </a:defRPr>
            </a:lvl2pPr>
            <a:lvl3pPr algn="ctr">
              <a:defRPr sz="695" b="1">
                <a:solidFill>
                  <a:srgbClr val="263442"/>
                </a:solidFill>
                <a:latin typeface="Arial"/>
                <a:ea typeface="Arial"/>
                <a:cs typeface="Arial"/>
              </a:defRPr>
            </a:lvl3pPr>
            <a:lvl4pPr algn="ctr">
              <a:defRPr sz="695" b="1">
                <a:solidFill>
                  <a:srgbClr val="263442"/>
                </a:solidFill>
                <a:latin typeface="Arial"/>
                <a:ea typeface="Arial"/>
                <a:cs typeface="Arial"/>
              </a:defRPr>
            </a:lvl4pPr>
            <a:lvl5pPr algn="ctr">
              <a:defRPr sz="695" b="1">
                <a:solidFill>
                  <a:srgbClr val="263442"/>
                </a:solidFill>
                <a:latin typeface="Arial"/>
                <a:ea typeface="Arial"/>
                <a:cs typeface="Arial"/>
              </a:defRPr>
            </a:lvl5pPr>
            <a:lvl6pPr algn="ctr">
              <a:defRPr sz="695" b="1">
                <a:solidFill>
                  <a:srgbClr val="263442"/>
                </a:solidFill>
                <a:latin typeface="Arial"/>
                <a:ea typeface="Arial"/>
                <a:cs typeface="Arial"/>
              </a:defRPr>
            </a:lvl6pPr>
            <a:lvl7pPr algn="ctr">
              <a:defRPr sz="695" b="1">
                <a:solidFill>
                  <a:srgbClr val="263442"/>
                </a:solidFill>
                <a:latin typeface="Arial"/>
                <a:ea typeface="Arial"/>
                <a:cs typeface="Arial"/>
              </a:defRPr>
            </a:lvl7pPr>
            <a:lvl8pPr algn="ctr">
              <a:defRPr sz="695" b="1">
                <a:solidFill>
                  <a:srgbClr val="263442"/>
                </a:solidFill>
                <a:latin typeface="Arial"/>
                <a:ea typeface="Arial"/>
                <a:cs typeface="Arial"/>
              </a:defRPr>
            </a:lvl8pPr>
            <a:lvl9pPr algn="ctr">
              <a:defRPr sz="695" b="1">
                <a:solidFill>
                  <a:srgbClr val="263442"/>
                </a:solidFill>
                <a:latin typeface="Arial"/>
                <a:ea typeface="Arial"/>
                <a:cs typeface="Arial"/>
              </a:defRPr>
            </a:lvl9pPr>
          </a:lstStyle>
          <a:p>
            <a:pPr algn="ctr">
              <a:defRPr sz="695" b="1">
                <a:solidFill>
                  <a:srgbClr val="263442"/>
                </a:solidFill>
                <a:latin typeface="Arial"/>
                <a:ea typeface="Arial"/>
                <a:cs typeface="Arial"/>
              </a:defRPr>
            </a:pPr>
            <a:r>
              <a:rPr sz="695" b="0" dirty="0">
                <a:solidFill>
                  <a:srgbClr val="263442"/>
                </a:solidFill>
                <a:latin typeface="Arial"/>
                <a:ea typeface="Arial"/>
                <a:cs typeface="Arial"/>
              </a:rPr>
              <a:t>Pocket</a:t>
            </a:r>
          </a:p>
        </p:txBody>
      </p:sp>
      <p:sp>
        <p:nvSpPr>
          <p:cNvPr id="773" name="SMILES label">
            <a:extLst>
              <a:ext uri="{FF2B5EF4-FFF2-40B4-BE49-F238E27FC236}">
                <a16:creationId xmlns:a16="http://schemas.microsoft.com/office/drawing/2014/main" id="{25FC5404-5A0B-2BE5-8144-C74C3108E008}"/>
              </a:ext>
            </a:extLst>
          </p:cNvPr>
          <p:cNvSpPr>
            <a:spLocks noGrp="1"/>
          </p:cNvSpPr>
          <p:nvPr/>
        </p:nvSpPr>
        <p:spPr>
          <a:xfrm>
            <a:off x="4999664" y="1480722"/>
            <a:ext cx="514364" cy="101253"/>
          </a:xfrm>
          <a:prstGeom prst="rect">
            <a:avLst/>
          </a:prstGeom>
          <a:noFill/>
          <a:ln w="6885">
            <a:noFill/>
            <a:prstDash val="solid"/>
          </a:ln>
        </p:spPr>
        <p:txBody>
          <a:bodyPr lIns="0" tIns="0" rIns="0" bIns="0" anchor="ctr"/>
          <a:lstStyle>
            <a:defPPr algn="ctr">
              <a:defRPr sz="695" b="1">
                <a:solidFill>
                  <a:srgbClr val="263442"/>
                </a:solidFill>
                <a:latin typeface="Arial"/>
                <a:ea typeface="Arial"/>
                <a:cs typeface="Arial"/>
              </a:defRPr>
            </a:defPPr>
            <a:lvl1pPr algn="ctr">
              <a:defRPr sz="695" b="1">
                <a:solidFill>
                  <a:srgbClr val="263442"/>
                </a:solidFill>
                <a:latin typeface="Arial"/>
                <a:ea typeface="Arial"/>
                <a:cs typeface="Arial"/>
              </a:defRPr>
            </a:lvl1pPr>
            <a:lvl2pPr algn="ctr">
              <a:defRPr sz="695" b="1">
                <a:solidFill>
                  <a:srgbClr val="263442"/>
                </a:solidFill>
                <a:latin typeface="Arial"/>
                <a:ea typeface="Arial"/>
                <a:cs typeface="Arial"/>
              </a:defRPr>
            </a:lvl2pPr>
            <a:lvl3pPr algn="ctr">
              <a:defRPr sz="695" b="1">
                <a:solidFill>
                  <a:srgbClr val="263442"/>
                </a:solidFill>
                <a:latin typeface="Arial"/>
                <a:ea typeface="Arial"/>
                <a:cs typeface="Arial"/>
              </a:defRPr>
            </a:lvl3pPr>
            <a:lvl4pPr algn="ctr">
              <a:defRPr sz="695" b="1">
                <a:solidFill>
                  <a:srgbClr val="263442"/>
                </a:solidFill>
                <a:latin typeface="Arial"/>
                <a:ea typeface="Arial"/>
                <a:cs typeface="Arial"/>
              </a:defRPr>
            </a:lvl4pPr>
            <a:lvl5pPr algn="ctr">
              <a:defRPr sz="695" b="1">
                <a:solidFill>
                  <a:srgbClr val="263442"/>
                </a:solidFill>
                <a:latin typeface="Arial"/>
                <a:ea typeface="Arial"/>
                <a:cs typeface="Arial"/>
              </a:defRPr>
            </a:lvl5pPr>
            <a:lvl6pPr algn="ctr">
              <a:defRPr sz="695" b="1">
                <a:solidFill>
                  <a:srgbClr val="263442"/>
                </a:solidFill>
                <a:latin typeface="Arial"/>
                <a:ea typeface="Arial"/>
                <a:cs typeface="Arial"/>
              </a:defRPr>
            </a:lvl6pPr>
            <a:lvl7pPr algn="ctr">
              <a:defRPr sz="695" b="1">
                <a:solidFill>
                  <a:srgbClr val="263442"/>
                </a:solidFill>
                <a:latin typeface="Arial"/>
                <a:ea typeface="Arial"/>
                <a:cs typeface="Arial"/>
              </a:defRPr>
            </a:lvl7pPr>
            <a:lvl8pPr algn="ctr">
              <a:defRPr sz="695" b="1">
                <a:solidFill>
                  <a:srgbClr val="263442"/>
                </a:solidFill>
                <a:latin typeface="Arial"/>
                <a:ea typeface="Arial"/>
                <a:cs typeface="Arial"/>
              </a:defRPr>
            </a:lvl8pPr>
            <a:lvl9pPr algn="ctr">
              <a:defRPr sz="695" b="1">
                <a:solidFill>
                  <a:srgbClr val="263442"/>
                </a:solidFill>
                <a:latin typeface="Arial"/>
                <a:ea typeface="Arial"/>
                <a:cs typeface="Arial"/>
              </a:defRPr>
            </a:lvl9pPr>
          </a:lstStyle>
          <a:p>
            <a:pPr algn="ctr">
              <a:defRPr sz="695" b="1">
                <a:solidFill>
                  <a:srgbClr val="263442"/>
                </a:solidFill>
                <a:latin typeface="Arial"/>
                <a:ea typeface="Arial"/>
                <a:cs typeface="Arial"/>
              </a:defRPr>
            </a:pPr>
            <a:r>
              <a:rPr sz="695" b="0" dirty="0">
                <a:solidFill>
                  <a:srgbClr val="263442"/>
                </a:solidFill>
                <a:latin typeface="Arial"/>
                <a:ea typeface="Arial"/>
                <a:cs typeface="Arial"/>
              </a:rPr>
              <a:t>SMILES</a:t>
            </a:r>
          </a:p>
        </p:txBody>
      </p:sp>
      <p:sp>
        <p:nvSpPr>
          <p:cNvPr id="774" name="SMILES provenance">
            <a:extLst>
              <a:ext uri="{FF2B5EF4-FFF2-40B4-BE49-F238E27FC236}">
                <a16:creationId xmlns:a16="http://schemas.microsoft.com/office/drawing/2014/main" id="{479D80EF-A625-1889-2F4D-C74FF6E2BB39}"/>
              </a:ext>
            </a:extLst>
          </p:cNvPr>
          <p:cNvSpPr>
            <a:spLocks noGrp="1"/>
          </p:cNvSpPr>
          <p:nvPr/>
        </p:nvSpPr>
        <p:spPr>
          <a:xfrm>
            <a:off x="5005380" y="1568821"/>
            <a:ext cx="514364" cy="85052"/>
          </a:xfrm>
          <a:prstGeom prst="rect">
            <a:avLst/>
          </a:prstGeom>
          <a:noFill/>
          <a:ln w="6885">
            <a:noFill/>
            <a:prstDash val="solid"/>
          </a:ln>
        </p:spPr>
        <p:txBody>
          <a:bodyPr lIns="0" tIns="0" rIns="0" bIns="0" anchor="ctr"/>
          <a:lstStyle>
            <a:defPPr algn="ctr">
              <a:defRPr sz="590" b="0">
                <a:solidFill>
                  <a:srgbClr val="263442"/>
                </a:solidFill>
                <a:latin typeface="Arial"/>
                <a:ea typeface="Arial"/>
                <a:cs typeface="Arial"/>
              </a:defRPr>
            </a:defPPr>
            <a:lvl1pPr algn="ctr">
              <a:defRPr sz="590" b="0">
                <a:solidFill>
                  <a:srgbClr val="263442"/>
                </a:solidFill>
                <a:latin typeface="Arial"/>
                <a:ea typeface="Arial"/>
                <a:cs typeface="Arial"/>
              </a:defRPr>
            </a:lvl1pPr>
            <a:lvl2pPr algn="ctr">
              <a:defRPr sz="590" b="0">
                <a:solidFill>
                  <a:srgbClr val="263442"/>
                </a:solidFill>
                <a:latin typeface="Arial"/>
                <a:ea typeface="Arial"/>
                <a:cs typeface="Arial"/>
              </a:defRPr>
            </a:lvl2pPr>
            <a:lvl3pPr algn="ctr">
              <a:defRPr sz="590" b="0">
                <a:solidFill>
                  <a:srgbClr val="263442"/>
                </a:solidFill>
                <a:latin typeface="Arial"/>
                <a:ea typeface="Arial"/>
                <a:cs typeface="Arial"/>
              </a:defRPr>
            </a:lvl3pPr>
            <a:lvl4pPr algn="ctr">
              <a:defRPr sz="590" b="0">
                <a:solidFill>
                  <a:srgbClr val="263442"/>
                </a:solidFill>
                <a:latin typeface="Arial"/>
                <a:ea typeface="Arial"/>
                <a:cs typeface="Arial"/>
              </a:defRPr>
            </a:lvl4pPr>
            <a:lvl5pPr algn="ctr">
              <a:defRPr sz="590" b="0">
                <a:solidFill>
                  <a:srgbClr val="263442"/>
                </a:solidFill>
                <a:latin typeface="Arial"/>
                <a:ea typeface="Arial"/>
                <a:cs typeface="Arial"/>
              </a:defRPr>
            </a:lvl5pPr>
            <a:lvl6pPr algn="ctr">
              <a:defRPr sz="590" b="0">
                <a:solidFill>
                  <a:srgbClr val="263442"/>
                </a:solidFill>
                <a:latin typeface="Arial"/>
                <a:ea typeface="Arial"/>
                <a:cs typeface="Arial"/>
              </a:defRPr>
            </a:lvl6pPr>
            <a:lvl7pPr algn="ctr">
              <a:defRPr sz="590" b="0">
                <a:solidFill>
                  <a:srgbClr val="263442"/>
                </a:solidFill>
                <a:latin typeface="Arial"/>
                <a:ea typeface="Arial"/>
                <a:cs typeface="Arial"/>
              </a:defRPr>
            </a:lvl7pPr>
            <a:lvl8pPr algn="ctr">
              <a:defRPr sz="590" b="0">
                <a:solidFill>
                  <a:srgbClr val="263442"/>
                </a:solidFill>
                <a:latin typeface="Arial"/>
                <a:ea typeface="Arial"/>
                <a:cs typeface="Arial"/>
              </a:defRPr>
            </a:lvl8pPr>
            <a:lvl9pPr algn="ctr">
              <a:defRPr sz="590" b="0">
                <a:solidFill>
                  <a:srgbClr val="263442"/>
                </a:solidFill>
                <a:latin typeface="Arial"/>
                <a:ea typeface="Arial"/>
                <a:cs typeface="Arial"/>
              </a:defRPr>
            </a:lvl9pPr>
          </a:lstStyle>
          <a:p>
            <a:pPr algn="ctr">
              <a:defRPr sz="590" b="0">
                <a:solidFill>
                  <a:srgbClr val="263442"/>
                </a:solidFill>
                <a:latin typeface="Arial"/>
                <a:ea typeface="Arial"/>
                <a:cs typeface="Arial"/>
              </a:defRPr>
            </a:pPr>
            <a:r>
              <a:rPr sz="550" dirty="0">
                <a:solidFill>
                  <a:srgbClr val="263442"/>
                </a:solidFill>
                <a:latin typeface="Arial"/>
                <a:ea typeface="Arial"/>
                <a:cs typeface="Arial"/>
              </a:rPr>
              <a:t>from Match</a:t>
            </a:r>
          </a:p>
        </p:txBody>
      </p:sp>
      <p:sp>
        <p:nvSpPr>
          <p:cNvPr id="775" name="Density input label">
            <a:extLst>
              <a:ext uri="{FF2B5EF4-FFF2-40B4-BE49-F238E27FC236}">
                <a16:creationId xmlns:a16="http://schemas.microsoft.com/office/drawing/2014/main" id="{A743C77B-3F50-BBD8-13CB-52DCF781FE64}"/>
              </a:ext>
            </a:extLst>
          </p:cNvPr>
          <p:cNvSpPr>
            <a:spLocks noGrp="1"/>
          </p:cNvSpPr>
          <p:nvPr/>
        </p:nvSpPr>
        <p:spPr>
          <a:xfrm>
            <a:off x="5574918" y="1480706"/>
            <a:ext cx="514364" cy="101253"/>
          </a:xfrm>
          <a:prstGeom prst="rect">
            <a:avLst/>
          </a:prstGeom>
          <a:noFill/>
          <a:ln w="6885">
            <a:noFill/>
            <a:prstDash val="solid"/>
          </a:ln>
        </p:spPr>
        <p:txBody>
          <a:bodyPr lIns="0" tIns="0" rIns="0" bIns="0" anchor="ctr"/>
          <a:lstStyle>
            <a:defPPr algn="ctr">
              <a:defRPr sz="695" b="1">
                <a:solidFill>
                  <a:srgbClr val="263442"/>
                </a:solidFill>
                <a:latin typeface="Arial"/>
                <a:ea typeface="Arial"/>
                <a:cs typeface="Arial"/>
              </a:defRPr>
            </a:defPPr>
            <a:lvl1pPr algn="ctr">
              <a:defRPr sz="695" b="1">
                <a:solidFill>
                  <a:srgbClr val="263442"/>
                </a:solidFill>
                <a:latin typeface="Arial"/>
                <a:ea typeface="Arial"/>
                <a:cs typeface="Arial"/>
              </a:defRPr>
            </a:lvl1pPr>
            <a:lvl2pPr algn="ctr">
              <a:defRPr sz="695" b="1">
                <a:solidFill>
                  <a:srgbClr val="263442"/>
                </a:solidFill>
                <a:latin typeface="Arial"/>
                <a:ea typeface="Arial"/>
                <a:cs typeface="Arial"/>
              </a:defRPr>
            </a:lvl2pPr>
            <a:lvl3pPr algn="ctr">
              <a:defRPr sz="695" b="1">
                <a:solidFill>
                  <a:srgbClr val="263442"/>
                </a:solidFill>
                <a:latin typeface="Arial"/>
                <a:ea typeface="Arial"/>
                <a:cs typeface="Arial"/>
              </a:defRPr>
            </a:lvl3pPr>
            <a:lvl4pPr algn="ctr">
              <a:defRPr sz="695" b="1">
                <a:solidFill>
                  <a:srgbClr val="263442"/>
                </a:solidFill>
                <a:latin typeface="Arial"/>
                <a:ea typeface="Arial"/>
                <a:cs typeface="Arial"/>
              </a:defRPr>
            </a:lvl4pPr>
            <a:lvl5pPr algn="ctr">
              <a:defRPr sz="695" b="1">
                <a:solidFill>
                  <a:srgbClr val="263442"/>
                </a:solidFill>
                <a:latin typeface="Arial"/>
                <a:ea typeface="Arial"/>
                <a:cs typeface="Arial"/>
              </a:defRPr>
            </a:lvl5pPr>
            <a:lvl6pPr algn="ctr">
              <a:defRPr sz="695" b="1">
                <a:solidFill>
                  <a:srgbClr val="263442"/>
                </a:solidFill>
                <a:latin typeface="Arial"/>
                <a:ea typeface="Arial"/>
                <a:cs typeface="Arial"/>
              </a:defRPr>
            </a:lvl6pPr>
            <a:lvl7pPr algn="ctr">
              <a:defRPr sz="695" b="1">
                <a:solidFill>
                  <a:srgbClr val="263442"/>
                </a:solidFill>
                <a:latin typeface="Arial"/>
                <a:ea typeface="Arial"/>
                <a:cs typeface="Arial"/>
              </a:defRPr>
            </a:lvl7pPr>
            <a:lvl8pPr algn="ctr">
              <a:defRPr sz="695" b="1">
                <a:solidFill>
                  <a:srgbClr val="263442"/>
                </a:solidFill>
                <a:latin typeface="Arial"/>
                <a:ea typeface="Arial"/>
                <a:cs typeface="Arial"/>
              </a:defRPr>
            </a:lvl8pPr>
            <a:lvl9pPr algn="ctr">
              <a:defRPr sz="695" b="1">
                <a:solidFill>
                  <a:srgbClr val="263442"/>
                </a:solidFill>
                <a:latin typeface="Arial"/>
                <a:ea typeface="Arial"/>
                <a:cs typeface="Arial"/>
              </a:defRPr>
            </a:lvl9pPr>
          </a:lstStyle>
          <a:p>
            <a:pPr algn="ctr">
              <a:defRPr sz="695" b="1">
                <a:solidFill>
                  <a:srgbClr val="263442"/>
                </a:solidFill>
                <a:latin typeface="Arial"/>
                <a:ea typeface="Arial"/>
                <a:cs typeface="Arial"/>
              </a:defRPr>
            </a:pPr>
            <a:r>
              <a:rPr sz="695" b="0" dirty="0">
                <a:solidFill>
                  <a:srgbClr val="263442"/>
                </a:solidFill>
                <a:latin typeface="Arial"/>
                <a:ea typeface="Arial"/>
                <a:cs typeface="Arial"/>
              </a:rPr>
              <a:t>Density</a:t>
            </a:r>
          </a:p>
        </p:txBody>
      </p:sp>
      <p:pic>
        <p:nvPicPr>
          <p:cNvPr id="967" name="Build corresponding experimental density" descr="Experimental 9LLG density around chain C1 of the displayed CryoAtom2 receptor, at the original contour level and the identical camera orientation.">
            <a:extLst>
              <a:ext uri="{FF2B5EF4-FFF2-40B4-BE49-F238E27FC236}">
                <a16:creationId xmlns:a16="http://schemas.microsoft.com/office/drawing/2014/main" id="{485B6500-58C3-8694-DCBD-D5824BAE6312}"/>
              </a:ext>
            </a:extLst>
          </p:cNvPr>
          <p:cNvPicPr/>
          <p:nvPr/>
        </p:nvPicPr>
        <p:blipFill>
          <a:blip r:embed="rId4"/>
          <a:stretch>
            <a:fillRect/>
          </a:stretch>
        </p:blipFill>
        <p:spPr>
          <a:xfrm>
            <a:off x="5657542" y="1104265"/>
            <a:ext cx="361766" cy="345440"/>
          </a:xfrm>
          <a:prstGeom prst="rect">
            <a:avLst/>
          </a:prstGeom>
        </p:spPr>
      </p:pic>
      <p:sp>
        <p:nvSpPr>
          <p:cNvPr id="1484" name="V8 Build site and identity frame">
            <a:extLst>
              <a:ext uri="{FF2B5EF4-FFF2-40B4-BE49-F238E27FC236}">
                <a16:creationId xmlns:a16="http://schemas.microsoft.com/office/drawing/2014/main" id="{9328B906-0B87-B09E-FB06-A9A62F2CE298}"/>
              </a:ext>
            </a:extLst>
          </p:cNvPr>
          <p:cNvSpPr/>
          <p:nvPr/>
        </p:nvSpPr>
        <p:spPr>
          <a:xfrm>
            <a:off x="4996634" y="457662"/>
            <a:ext cx="519754" cy="1228090"/>
          </a:xfrm>
          <a:prstGeom prst="roundRect">
            <a:avLst>
              <a:gd name="adj" fmla="val 5556"/>
            </a:avLst>
          </a:prstGeom>
          <a:noFill/>
          <a:ln w="6985" cap="rnd">
            <a:solidFill>
              <a:srgbClr val="D5CCB8"/>
            </a:solidFill>
            <a:prstDash val="dash"/>
            <a:round/>
          </a:ln>
        </p:spPr>
      </p:sp>
      <p:sp>
        <p:nvSpPr>
          <p:cNvPr id="1485" name="V8 Build pocket and density frame">
            <a:extLst>
              <a:ext uri="{FF2B5EF4-FFF2-40B4-BE49-F238E27FC236}">
                <a16:creationId xmlns:a16="http://schemas.microsoft.com/office/drawing/2014/main" id="{1B6C4D97-E5BD-5494-DBFC-E1D9BAB5B434}"/>
              </a:ext>
            </a:extLst>
          </p:cNvPr>
          <p:cNvSpPr/>
          <p:nvPr/>
        </p:nvSpPr>
        <p:spPr>
          <a:xfrm>
            <a:off x="5564187" y="456353"/>
            <a:ext cx="527685" cy="1228090"/>
          </a:xfrm>
          <a:prstGeom prst="roundRect">
            <a:avLst>
              <a:gd name="adj" fmla="val 6477"/>
            </a:avLst>
          </a:prstGeom>
          <a:noFill/>
          <a:ln w="6985" cap="rnd">
            <a:solidFill>
              <a:srgbClr val="D5CCB8"/>
            </a:solidFill>
            <a:prstDash val="dash"/>
            <a:round/>
          </a:ln>
        </p:spPr>
      </p:sp>
      <p:grpSp>
        <p:nvGrpSpPr>
          <p:cNvPr id="22" name="Match | Blob contour">
            <a:extLst>
              <a:ext uri="{FF2B5EF4-FFF2-40B4-BE49-F238E27FC236}">
                <a16:creationId xmlns:a16="http://schemas.microsoft.com/office/drawing/2014/main" id="{89DCA6D5-3679-D415-5BE5-92A67333541D}"/>
              </a:ext>
            </a:extLst>
          </p:cNvPr>
          <p:cNvGrpSpPr/>
          <p:nvPr/>
        </p:nvGrpSpPr>
        <p:grpSpPr>
          <a:xfrm>
            <a:off x="5095498" y="565131"/>
            <a:ext cx="291608" cy="199265"/>
            <a:chOff x="1928706" y="3559489"/>
            <a:chExt cx="227897" cy="155682"/>
          </a:xfrm>
        </p:grpSpPr>
        <p:sp>
          <p:nvSpPr>
            <p:cNvPr id="24" name="Candidate blob | editable contour">
              <a:extLst>
                <a:ext uri="{FF2B5EF4-FFF2-40B4-BE49-F238E27FC236}">
                  <a16:creationId xmlns:a16="http://schemas.microsoft.com/office/drawing/2014/main" id="{CEDDC562-8935-F160-6BF6-FBDE4980A530}"/>
                </a:ext>
              </a:extLst>
            </p:cNvPr>
            <p:cNvSpPr/>
            <p:nvPr/>
          </p:nvSpPr>
          <p:spPr>
            <a:xfrm>
              <a:off x="1928706" y="3559489"/>
              <a:ext cx="227897" cy="155682"/>
            </a:xfrm>
            <a:custGeom>
              <a:avLst/>
              <a:gdLst/>
              <a:ahLst/>
              <a:cxnLst/>
              <a:rect l="0" t="0" r="w" b="h"/>
              <a:pathLst>
                <a:path w="227897" h="155682" extrusionOk="0">
                  <a:moveTo>
                    <a:pt x="5338" y="97866"/>
                  </a:moveTo>
                  <a:cubicBezTo>
                    <a:pt x="0" y="80701"/>
                    <a:pt x="18889" y="54504"/>
                    <a:pt x="29976" y="43663"/>
                  </a:cubicBezTo>
                  <a:cubicBezTo>
                    <a:pt x="41062" y="32823"/>
                    <a:pt x="58719" y="39447"/>
                    <a:pt x="71859" y="32823"/>
                  </a:cubicBezTo>
                  <a:cubicBezTo>
                    <a:pt x="84999" y="26198"/>
                    <a:pt x="92391" y="7829"/>
                    <a:pt x="108816" y="3915"/>
                  </a:cubicBezTo>
                  <a:cubicBezTo>
                    <a:pt x="125241" y="0"/>
                    <a:pt x="153984" y="3613"/>
                    <a:pt x="170409" y="9335"/>
                  </a:cubicBezTo>
                  <a:cubicBezTo>
                    <a:pt x="186834" y="15056"/>
                    <a:pt x="198332" y="26198"/>
                    <a:pt x="207366" y="38243"/>
                  </a:cubicBezTo>
                  <a:cubicBezTo>
                    <a:pt x="216399" y="50288"/>
                    <a:pt x="227897" y="67151"/>
                    <a:pt x="224612" y="81605"/>
                  </a:cubicBezTo>
                  <a:cubicBezTo>
                    <a:pt x="221327" y="96059"/>
                    <a:pt x="203259" y="113223"/>
                    <a:pt x="187656" y="124967"/>
                  </a:cubicBezTo>
                  <a:cubicBezTo>
                    <a:pt x="172052" y="136711"/>
                    <a:pt x="151931" y="148455"/>
                    <a:pt x="130989" y="152068"/>
                  </a:cubicBezTo>
                  <a:cubicBezTo>
                    <a:pt x="110048" y="155682"/>
                    <a:pt x="82946" y="155682"/>
                    <a:pt x="62004" y="146648"/>
                  </a:cubicBezTo>
                  <a:cubicBezTo>
                    <a:pt x="41062" y="137614"/>
                    <a:pt x="10676" y="115030"/>
                    <a:pt x="5338" y="97866"/>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26" name="ellipse_2612">
              <a:extLst>
                <a:ext uri="{FF2B5EF4-FFF2-40B4-BE49-F238E27FC236}">
                  <a16:creationId xmlns:a16="http://schemas.microsoft.com/office/drawing/2014/main" id="{9A6165B9-D072-913F-4F98-07DF1CDFAD91}"/>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sp>
        <p:nvSpPr>
          <p:cNvPr id="27" name="Oval 12178">
            <a:extLst>
              <a:ext uri="{FF2B5EF4-FFF2-40B4-BE49-F238E27FC236}">
                <a16:creationId xmlns:a16="http://schemas.microsoft.com/office/drawing/2014/main" id="{BDE1AB30-8167-E025-0D16-C21F1775FD9B}"/>
              </a:ext>
            </a:extLst>
          </p:cNvPr>
          <p:cNvSpPr/>
          <p:nvPr/>
        </p:nvSpPr>
        <p:spPr>
          <a:xfrm>
            <a:off x="5224292" y="648563"/>
            <a:ext cx="34426" cy="34426"/>
          </a:xfrm>
          <a:prstGeom prst="ellipse">
            <a:avLst/>
          </a:prstGeom>
          <a:solidFill>
            <a:srgbClr val="1D4ED8"/>
          </a:solidFill>
          <a:ln w="635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pic>
        <p:nvPicPr>
          <p:cNvPr id="50483" name="图片 50482">
            <a:extLst>
              <a:ext uri="{FF2B5EF4-FFF2-40B4-BE49-F238E27FC236}">
                <a16:creationId xmlns:a16="http://schemas.microsoft.com/office/drawing/2014/main" id="{990BCBFC-9DD9-25BB-4CA2-DDF352D8C2FA}"/>
              </a:ext>
            </a:extLst>
          </p:cNvPr>
          <p:cNvPicPr>
            <a:picLocks noChangeAspect="1"/>
          </p:cNvPicPr>
          <p:nvPr/>
        </p:nvPicPr>
        <p:blipFill>
          <a:blip r:embed="rId5"/>
          <a:stretch/>
        </p:blipFill>
        <p:spPr>
          <a:xfrm>
            <a:off x="5631445" y="485775"/>
            <a:ext cx="414760" cy="342900"/>
          </a:xfrm>
          <a:prstGeom prst="rect">
            <a:avLst/>
          </a:prstGeom>
        </p:spPr>
      </p:pic>
      <p:sp>
        <p:nvSpPr>
          <p:cNvPr id="50484" name="F2-Build-selected">
            <a:extLst>
              <a:ext uri="{FF2B5EF4-FFF2-40B4-BE49-F238E27FC236}">
                <a16:creationId xmlns:a16="http://schemas.microsoft.com/office/drawing/2014/main" id="{6A2264C7-4360-FCD2-C7A2-680D5A04551A}"/>
              </a:ext>
            </a:extLst>
          </p:cNvPr>
          <p:cNvSpPr>
            <a:spLocks noGrp="1"/>
          </p:cNvSpPr>
          <p:nvPr/>
        </p:nvSpPr>
        <p:spPr>
          <a:xfrm>
            <a:off x="5054601" y="1283549"/>
            <a:ext cx="390525" cy="81915"/>
          </a:xfrm>
          <a:prstGeom prst="roundRect">
            <a:avLst>
              <a:gd name="adj" fmla="val 50000"/>
            </a:avLst>
          </a:prstGeom>
          <a:solidFill>
            <a:srgbClr val="DCF8EB"/>
          </a:solidFill>
          <a:ln w="7144">
            <a:solidFill>
              <a:srgbClr val="499D86"/>
            </a:solidFill>
          </a:ln>
        </p:spPr>
      </p:sp>
      <p:sp>
        <p:nvSpPr>
          <p:cNvPr id="50485" name="F2-Build-SMILES-0">
            <a:extLst>
              <a:ext uri="{FF2B5EF4-FFF2-40B4-BE49-F238E27FC236}">
                <a16:creationId xmlns:a16="http://schemas.microsoft.com/office/drawing/2014/main" id="{4008C2B1-D1D4-0B7F-4728-77E5B8661720}"/>
              </a:ext>
            </a:extLst>
          </p:cNvPr>
          <p:cNvSpPr>
            <a:spLocks noGrp="1"/>
          </p:cNvSpPr>
          <p:nvPr/>
        </p:nvSpPr>
        <p:spPr>
          <a:xfrm>
            <a:off x="5101503" y="1136660"/>
            <a:ext cx="361950" cy="74295"/>
          </a:xfrm>
          <a:prstGeom prst="rect">
            <a:avLst/>
          </a:prstGeom>
          <a:noFill/>
          <a:ln w="0">
            <a:noFill/>
          </a:ln>
        </p:spPr>
        <p:txBody>
          <a:bodyPr wrap="none" lIns="0" tIns="0" rIns="0" bIns="0" anchor="ctr">
            <a:noAutofit/>
          </a:bodyPr>
          <a:lstStyle>
            <a:defPPr algn="l">
              <a:defRPr sz="540" b="0">
                <a:solidFill>
                  <a:srgbClr val="263442"/>
                </a:solidFill>
                <a:latin typeface="Arial"/>
                <a:ea typeface="Arial"/>
                <a:cs typeface="Arial"/>
              </a:defRPr>
            </a:defPPr>
            <a:lvl1pPr algn="l">
              <a:defRPr sz="540" b="0">
                <a:solidFill>
                  <a:srgbClr val="263442"/>
                </a:solidFill>
                <a:latin typeface="Arial"/>
                <a:ea typeface="Arial"/>
                <a:cs typeface="Arial"/>
              </a:defRPr>
            </a:lvl1pPr>
            <a:lvl2pPr algn="l">
              <a:defRPr sz="540" b="0">
                <a:solidFill>
                  <a:srgbClr val="263442"/>
                </a:solidFill>
                <a:latin typeface="Arial"/>
                <a:ea typeface="Arial"/>
                <a:cs typeface="Arial"/>
              </a:defRPr>
            </a:lvl2pPr>
            <a:lvl3pPr algn="l">
              <a:defRPr sz="540" b="0">
                <a:solidFill>
                  <a:srgbClr val="263442"/>
                </a:solidFill>
                <a:latin typeface="Arial"/>
                <a:ea typeface="Arial"/>
                <a:cs typeface="Arial"/>
              </a:defRPr>
            </a:lvl3pPr>
            <a:lvl4pPr algn="l">
              <a:defRPr sz="540" b="0">
                <a:solidFill>
                  <a:srgbClr val="263442"/>
                </a:solidFill>
                <a:latin typeface="Arial"/>
                <a:ea typeface="Arial"/>
                <a:cs typeface="Arial"/>
              </a:defRPr>
            </a:lvl4pPr>
            <a:lvl5pPr algn="l">
              <a:defRPr sz="540" b="0">
                <a:solidFill>
                  <a:srgbClr val="263442"/>
                </a:solidFill>
                <a:latin typeface="Arial"/>
                <a:ea typeface="Arial"/>
                <a:cs typeface="Arial"/>
              </a:defRPr>
            </a:lvl5pPr>
            <a:lvl6pPr algn="l">
              <a:defRPr sz="540" b="0">
                <a:solidFill>
                  <a:srgbClr val="263442"/>
                </a:solidFill>
                <a:latin typeface="Arial"/>
                <a:ea typeface="Arial"/>
                <a:cs typeface="Arial"/>
              </a:defRPr>
            </a:lvl6pPr>
            <a:lvl7pPr algn="l">
              <a:defRPr sz="540" b="0">
                <a:solidFill>
                  <a:srgbClr val="263442"/>
                </a:solidFill>
                <a:latin typeface="Arial"/>
                <a:ea typeface="Arial"/>
                <a:cs typeface="Arial"/>
              </a:defRPr>
            </a:lvl7pPr>
            <a:lvl8pPr algn="l">
              <a:defRPr sz="540" b="0">
                <a:solidFill>
                  <a:srgbClr val="263442"/>
                </a:solidFill>
                <a:latin typeface="Arial"/>
                <a:ea typeface="Arial"/>
                <a:cs typeface="Arial"/>
              </a:defRPr>
            </a:lvl8pPr>
            <a:lvl9pPr algn="l">
              <a:defRPr sz="540" b="0">
                <a:solidFill>
                  <a:srgbClr val="263442"/>
                </a:solidFill>
                <a:latin typeface="Arial"/>
                <a:ea typeface="Arial"/>
                <a:cs typeface="Arial"/>
              </a:defRPr>
            </a:lvl9pPr>
          </a:lstStyle>
          <a:p>
            <a:pPr algn="l">
              <a:defRPr sz="540" b="0">
                <a:solidFill>
                  <a:srgbClr val="263442"/>
                </a:solidFill>
                <a:latin typeface="Arial"/>
                <a:ea typeface="Arial"/>
                <a:cs typeface="Arial"/>
              </a:defRPr>
            </a:pPr>
            <a:r>
              <a:rPr sz="480" b="0" dirty="0">
                <a:solidFill>
                  <a:srgbClr val="263442"/>
                </a:solidFill>
                <a:latin typeface="Arial"/>
                <a:ea typeface="Arial"/>
                <a:cs typeface="Arial"/>
              </a:rPr>
              <a:t>CCO</a:t>
            </a:r>
          </a:p>
        </p:txBody>
      </p:sp>
      <p:sp>
        <p:nvSpPr>
          <p:cNvPr id="50486" name="F2-Build-SMILES-7.8">
            <a:extLst>
              <a:ext uri="{FF2B5EF4-FFF2-40B4-BE49-F238E27FC236}">
                <a16:creationId xmlns:a16="http://schemas.microsoft.com/office/drawing/2014/main" id="{86B011E1-6EAB-6837-DA53-54E94AA085EC}"/>
              </a:ext>
            </a:extLst>
          </p:cNvPr>
          <p:cNvSpPr>
            <a:spLocks noGrp="1"/>
          </p:cNvSpPr>
          <p:nvPr/>
        </p:nvSpPr>
        <p:spPr>
          <a:xfrm>
            <a:off x="5101503" y="1199841"/>
            <a:ext cx="361950" cy="74295"/>
          </a:xfrm>
          <a:prstGeom prst="rect">
            <a:avLst/>
          </a:prstGeom>
          <a:noFill/>
          <a:ln w="0">
            <a:noFill/>
          </a:ln>
        </p:spPr>
        <p:txBody>
          <a:bodyPr wrap="none" lIns="0" tIns="0" rIns="0" bIns="0" anchor="ctr">
            <a:noAutofit/>
          </a:bodyPr>
          <a:lstStyle>
            <a:defPPr algn="l">
              <a:defRPr sz="540" b="0">
                <a:solidFill>
                  <a:srgbClr val="263442"/>
                </a:solidFill>
                <a:latin typeface="Arial"/>
                <a:ea typeface="Arial"/>
                <a:cs typeface="Arial"/>
              </a:defRPr>
            </a:defPPr>
            <a:lvl1pPr algn="l">
              <a:defRPr sz="540" b="0">
                <a:solidFill>
                  <a:srgbClr val="263442"/>
                </a:solidFill>
                <a:latin typeface="Arial"/>
                <a:ea typeface="Arial"/>
                <a:cs typeface="Arial"/>
              </a:defRPr>
            </a:lvl1pPr>
            <a:lvl2pPr algn="l">
              <a:defRPr sz="540" b="0">
                <a:solidFill>
                  <a:srgbClr val="263442"/>
                </a:solidFill>
                <a:latin typeface="Arial"/>
                <a:ea typeface="Arial"/>
                <a:cs typeface="Arial"/>
              </a:defRPr>
            </a:lvl2pPr>
            <a:lvl3pPr algn="l">
              <a:defRPr sz="540" b="0">
                <a:solidFill>
                  <a:srgbClr val="263442"/>
                </a:solidFill>
                <a:latin typeface="Arial"/>
                <a:ea typeface="Arial"/>
                <a:cs typeface="Arial"/>
              </a:defRPr>
            </a:lvl3pPr>
            <a:lvl4pPr algn="l">
              <a:defRPr sz="540" b="0">
                <a:solidFill>
                  <a:srgbClr val="263442"/>
                </a:solidFill>
                <a:latin typeface="Arial"/>
                <a:ea typeface="Arial"/>
                <a:cs typeface="Arial"/>
              </a:defRPr>
            </a:lvl4pPr>
            <a:lvl5pPr algn="l">
              <a:defRPr sz="540" b="0">
                <a:solidFill>
                  <a:srgbClr val="263442"/>
                </a:solidFill>
                <a:latin typeface="Arial"/>
                <a:ea typeface="Arial"/>
                <a:cs typeface="Arial"/>
              </a:defRPr>
            </a:lvl5pPr>
            <a:lvl6pPr algn="l">
              <a:defRPr sz="540" b="0">
                <a:solidFill>
                  <a:srgbClr val="263442"/>
                </a:solidFill>
                <a:latin typeface="Arial"/>
                <a:ea typeface="Arial"/>
                <a:cs typeface="Arial"/>
              </a:defRPr>
            </a:lvl6pPr>
            <a:lvl7pPr algn="l">
              <a:defRPr sz="540" b="0">
                <a:solidFill>
                  <a:srgbClr val="263442"/>
                </a:solidFill>
                <a:latin typeface="Arial"/>
                <a:ea typeface="Arial"/>
                <a:cs typeface="Arial"/>
              </a:defRPr>
            </a:lvl7pPr>
            <a:lvl8pPr algn="l">
              <a:defRPr sz="540" b="0">
                <a:solidFill>
                  <a:srgbClr val="263442"/>
                </a:solidFill>
                <a:latin typeface="Arial"/>
                <a:ea typeface="Arial"/>
                <a:cs typeface="Arial"/>
              </a:defRPr>
            </a:lvl8pPr>
            <a:lvl9pPr algn="l">
              <a:defRPr sz="540" b="0">
                <a:solidFill>
                  <a:srgbClr val="263442"/>
                </a:solidFill>
                <a:latin typeface="Arial"/>
                <a:ea typeface="Arial"/>
                <a:cs typeface="Arial"/>
              </a:defRPr>
            </a:lvl9pPr>
          </a:lstStyle>
          <a:p>
            <a:pPr>
              <a:defRPr sz="540" b="0">
                <a:solidFill>
                  <a:srgbClr val="263442"/>
                </a:solidFill>
                <a:latin typeface="Arial"/>
                <a:ea typeface="Arial"/>
                <a:cs typeface="Arial"/>
              </a:defRPr>
            </a:pPr>
            <a:r>
              <a:rPr sz="480" dirty="0"/>
              <a:t>CC(=O)O</a:t>
            </a:r>
          </a:p>
        </p:txBody>
      </p:sp>
      <p:sp>
        <p:nvSpPr>
          <p:cNvPr id="50487" name="F2-Build-continuation">
            <a:extLst>
              <a:ext uri="{FF2B5EF4-FFF2-40B4-BE49-F238E27FC236}">
                <a16:creationId xmlns:a16="http://schemas.microsoft.com/office/drawing/2014/main" id="{57445525-DCC1-B4E7-E3C5-43F5AED1AAB1}"/>
              </a:ext>
            </a:extLst>
          </p:cNvPr>
          <p:cNvSpPr>
            <a:spLocks noGrp="1"/>
          </p:cNvSpPr>
          <p:nvPr/>
        </p:nvSpPr>
        <p:spPr>
          <a:xfrm>
            <a:off x="5106267" y="1268735"/>
            <a:ext cx="6668" cy="6668"/>
          </a:xfrm>
          <a:prstGeom prst="ellipse">
            <a:avLst/>
          </a:prstGeom>
          <a:solidFill>
            <a:srgbClr val="687780"/>
          </a:solidFill>
          <a:ln w="0">
            <a:noFill/>
          </a:ln>
        </p:spPr>
      </p:sp>
      <p:sp>
        <p:nvSpPr>
          <p:cNvPr id="50488" name="F2-Build-continuation">
            <a:extLst>
              <a:ext uri="{FF2B5EF4-FFF2-40B4-BE49-F238E27FC236}">
                <a16:creationId xmlns:a16="http://schemas.microsoft.com/office/drawing/2014/main" id="{D8380CD8-B1B4-24DE-92C0-E1C222863213}"/>
              </a:ext>
            </a:extLst>
          </p:cNvPr>
          <p:cNvSpPr>
            <a:spLocks noGrp="1"/>
          </p:cNvSpPr>
          <p:nvPr/>
        </p:nvSpPr>
        <p:spPr>
          <a:xfrm>
            <a:off x="5119918" y="1268735"/>
            <a:ext cx="6668" cy="6668"/>
          </a:xfrm>
          <a:prstGeom prst="ellipse">
            <a:avLst/>
          </a:prstGeom>
          <a:solidFill>
            <a:srgbClr val="687780"/>
          </a:solidFill>
          <a:ln w="0">
            <a:noFill/>
          </a:ln>
        </p:spPr>
      </p:sp>
      <p:sp>
        <p:nvSpPr>
          <p:cNvPr id="50489" name="F2-Build-continuation">
            <a:extLst>
              <a:ext uri="{FF2B5EF4-FFF2-40B4-BE49-F238E27FC236}">
                <a16:creationId xmlns:a16="http://schemas.microsoft.com/office/drawing/2014/main" id="{A87F8D1D-D087-B895-3967-34FD7403FA3D}"/>
              </a:ext>
            </a:extLst>
          </p:cNvPr>
          <p:cNvSpPr>
            <a:spLocks noGrp="1"/>
          </p:cNvSpPr>
          <p:nvPr/>
        </p:nvSpPr>
        <p:spPr>
          <a:xfrm>
            <a:off x="5135157" y="1268735"/>
            <a:ext cx="6668" cy="6668"/>
          </a:xfrm>
          <a:prstGeom prst="ellipse">
            <a:avLst/>
          </a:prstGeom>
          <a:solidFill>
            <a:srgbClr val="687780"/>
          </a:solidFill>
          <a:ln w="0">
            <a:noFill/>
          </a:ln>
        </p:spPr>
      </p:sp>
      <p:sp>
        <p:nvSpPr>
          <p:cNvPr id="50490" name="F2-Build-SMILES-19.8">
            <a:extLst>
              <a:ext uri="{FF2B5EF4-FFF2-40B4-BE49-F238E27FC236}">
                <a16:creationId xmlns:a16="http://schemas.microsoft.com/office/drawing/2014/main" id="{8D1E4611-7807-D068-11D8-0FDDECDECA18}"/>
              </a:ext>
            </a:extLst>
          </p:cNvPr>
          <p:cNvSpPr>
            <a:spLocks noGrp="1"/>
          </p:cNvSpPr>
          <p:nvPr/>
        </p:nvSpPr>
        <p:spPr>
          <a:xfrm>
            <a:off x="5101503" y="1285559"/>
            <a:ext cx="361950" cy="74295"/>
          </a:xfrm>
          <a:prstGeom prst="rect">
            <a:avLst/>
          </a:prstGeom>
          <a:noFill/>
          <a:ln w="0">
            <a:noFill/>
          </a:ln>
        </p:spPr>
        <p:txBody>
          <a:bodyPr wrap="none" lIns="0" tIns="0" rIns="0" bIns="0" anchor="ctr">
            <a:noAutofit/>
          </a:bodyPr>
          <a:lstStyle>
            <a:defPPr algn="l">
              <a:defRPr sz="540" b="0">
                <a:solidFill>
                  <a:srgbClr val="24634E"/>
                </a:solidFill>
                <a:latin typeface="Arial"/>
                <a:ea typeface="Arial"/>
                <a:cs typeface="Arial"/>
              </a:defRPr>
            </a:defPPr>
            <a:lvl1pPr algn="l">
              <a:defRPr sz="540" b="0">
                <a:solidFill>
                  <a:srgbClr val="24634E"/>
                </a:solidFill>
                <a:latin typeface="Arial"/>
                <a:ea typeface="Arial"/>
                <a:cs typeface="Arial"/>
              </a:defRPr>
            </a:lvl1pPr>
            <a:lvl2pPr algn="l">
              <a:defRPr sz="540" b="0">
                <a:solidFill>
                  <a:srgbClr val="24634E"/>
                </a:solidFill>
                <a:latin typeface="Arial"/>
                <a:ea typeface="Arial"/>
                <a:cs typeface="Arial"/>
              </a:defRPr>
            </a:lvl2pPr>
            <a:lvl3pPr algn="l">
              <a:defRPr sz="540" b="0">
                <a:solidFill>
                  <a:srgbClr val="24634E"/>
                </a:solidFill>
                <a:latin typeface="Arial"/>
                <a:ea typeface="Arial"/>
                <a:cs typeface="Arial"/>
              </a:defRPr>
            </a:lvl3pPr>
            <a:lvl4pPr algn="l">
              <a:defRPr sz="540" b="0">
                <a:solidFill>
                  <a:srgbClr val="24634E"/>
                </a:solidFill>
                <a:latin typeface="Arial"/>
                <a:ea typeface="Arial"/>
                <a:cs typeface="Arial"/>
              </a:defRPr>
            </a:lvl4pPr>
            <a:lvl5pPr algn="l">
              <a:defRPr sz="540" b="0">
                <a:solidFill>
                  <a:srgbClr val="24634E"/>
                </a:solidFill>
                <a:latin typeface="Arial"/>
                <a:ea typeface="Arial"/>
                <a:cs typeface="Arial"/>
              </a:defRPr>
            </a:lvl5pPr>
            <a:lvl6pPr algn="l">
              <a:defRPr sz="540" b="0">
                <a:solidFill>
                  <a:srgbClr val="24634E"/>
                </a:solidFill>
                <a:latin typeface="Arial"/>
                <a:ea typeface="Arial"/>
                <a:cs typeface="Arial"/>
              </a:defRPr>
            </a:lvl6pPr>
            <a:lvl7pPr algn="l">
              <a:defRPr sz="540" b="0">
                <a:solidFill>
                  <a:srgbClr val="24634E"/>
                </a:solidFill>
                <a:latin typeface="Arial"/>
                <a:ea typeface="Arial"/>
                <a:cs typeface="Arial"/>
              </a:defRPr>
            </a:lvl7pPr>
            <a:lvl8pPr algn="l">
              <a:defRPr sz="540" b="0">
                <a:solidFill>
                  <a:srgbClr val="24634E"/>
                </a:solidFill>
                <a:latin typeface="Arial"/>
                <a:ea typeface="Arial"/>
                <a:cs typeface="Arial"/>
              </a:defRPr>
            </a:lvl8pPr>
            <a:lvl9pPr algn="l">
              <a:defRPr sz="540" b="0">
                <a:solidFill>
                  <a:srgbClr val="24634E"/>
                </a:solidFill>
                <a:latin typeface="Arial"/>
                <a:ea typeface="Arial"/>
                <a:cs typeface="Arial"/>
              </a:defRPr>
            </a:lvl9pPr>
          </a:lstStyle>
          <a:p>
            <a:pPr>
              <a:defRPr sz="540" b="0">
                <a:solidFill>
                  <a:srgbClr val="263442"/>
                </a:solidFill>
                <a:latin typeface="Arial"/>
                <a:ea typeface="Arial"/>
                <a:cs typeface="Arial"/>
              </a:defRPr>
            </a:pPr>
            <a:r>
              <a:rPr sz="480" dirty="0">
                <a:solidFill>
                  <a:srgbClr val="263442"/>
                </a:solidFill>
              </a:rPr>
              <a:t>Cc1ccccc1</a:t>
            </a:r>
          </a:p>
        </p:txBody>
      </p:sp>
      <p:sp>
        <p:nvSpPr>
          <p:cNvPr id="50491" name="F2-Build-SMILES-27.599999999999998">
            <a:extLst>
              <a:ext uri="{FF2B5EF4-FFF2-40B4-BE49-F238E27FC236}">
                <a16:creationId xmlns:a16="http://schemas.microsoft.com/office/drawing/2014/main" id="{7C479AF4-50FE-543B-B4FD-111B42F262AA}"/>
              </a:ext>
            </a:extLst>
          </p:cNvPr>
          <p:cNvSpPr>
            <a:spLocks noGrp="1"/>
          </p:cNvSpPr>
          <p:nvPr/>
        </p:nvSpPr>
        <p:spPr>
          <a:xfrm>
            <a:off x="5101503" y="1359854"/>
            <a:ext cx="361950" cy="74295"/>
          </a:xfrm>
          <a:prstGeom prst="rect">
            <a:avLst/>
          </a:prstGeom>
          <a:noFill/>
          <a:ln w="0">
            <a:noFill/>
          </a:ln>
        </p:spPr>
        <p:txBody>
          <a:bodyPr wrap="none" lIns="0" tIns="0" rIns="0" bIns="0" anchor="ctr">
            <a:noAutofit/>
          </a:bodyPr>
          <a:lstStyle>
            <a:defPPr algn="l">
              <a:defRPr sz="540" b="0">
                <a:solidFill>
                  <a:srgbClr val="263442"/>
                </a:solidFill>
                <a:latin typeface="Arial"/>
                <a:ea typeface="Arial"/>
                <a:cs typeface="Arial"/>
              </a:defRPr>
            </a:defPPr>
            <a:lvl1pPr algn="l">
              <a:defRPr sz="540" b="0">
                <a:solidFill>
                  <a:srgbClr val="263442"/>
                </a:solidFill>
                <a:latin typeface="Arial"/>
                <a:ea typeface="Arial"/>
                <a:cs typeface="Arial"/>
              </a:defRPr>
            </a:lvl1pPr>
            <a:lvl2pPr algn="l">
              <a:defRPr sz="540" b="0">
                <a:solidFill>
                  <a:srgbClr val="263442"/>
                </a:solidFill>
                <a:latin typeface="Arial"/>
                <a:ea typeface="Arial"/>
                <a:cs typeface="Arial"/>
              </a:defRPr>
            </a:lvl2pPr>
            <a:lvl3pPr algn="l">
              <a:defRPr sz="540" b="0">
                <a:solidFill>
                  <a:srgbClr val="263442"/>
                </a:solidFill>
                <a:latin typeface="Arial"/>
                <a:ea typeface="Arial"/>
                <a:cs typeface="Arial"/>
              </a:defRPr>
            </a:lvl3pPr>
            <a:lvl4pPr algn="l">
              <a:defRPr sz="540" b="0">
                <a:solidFill>
                  <a:srgbClr val="263442"/>
                </a:solidFill>
                <a:latin typeface="Arial"/>
                <a:ea typeface="Arial"/>
                <a:cs typeface="Arial"/>
              </a:defRPr>
            </a:lvl4pPr>
            <a:lvl5pPr algn="l">
              <a:defRPr sz="540" b="0">
                <a:solidFill>
                  <a:srgbClr val="263442"/>
                </a:solidFill>
                <a:latin typeface="Arial"/>
                <a:ea typeface="Arial"/>
                <a:cs typeface="Arial"/>
              </a:defRPr>
            </a:lvl5pPr>
            <a:lvl6pPr algn="l">
              <a:defRPr sz="540" b="0">
                <a:solidFill>
                  <a:srgbClr val="263442"/>
                </a:solidFill>
                <a:latin typeface="Arial"/>
                <a:ea typeface="Arial"/>
                <a:cs typeface="Arial"/>
              </a:defRPr>
            </a:lvl6pPr>
            <a:lvl7pPr algn="l">
              <a:defRPr sz="540" b="0">
                <a:solidFill>
                  <a:srgbClr val="263442"/>
                </a:solidFill>
                <a:latin typeface="Arial"/>
                <a:ea typeface="Arial"/>
                <a:cs typeface="Arial"/>
              </a:defRPr>
            </a:lvl7pPr>
            <a:lvl8pPr algn="l">
              <a:defRPr sz="540" b="0">
                <a:solidFill>
                  <a:srgbClr val="263442"/>
                </a:solidFill>
                <a:latin typeface="Arial"/>
                <a:ea typeface="Arial"/>
                <a:cs typeface="Arial"/>
              </a:defRPr>
            </a:lvl8pPr>
            <a:lvl9pPr algn="l">
              <a:defRPr sz="540" b="0">
                <a:solidFill>
                  <a:srgbClr val="263442"/>
                </a:solidFill>
                <a:latin typeface="Arial"/>
                <a:ea typeface="Arial"/>
                <a:cs typeface="Arial"/>
              </a:defRPr>
            </a:lvl9pPr>
          </a:lstStyle>
          <a:p>
            <a:pPr>
              <a:defRPr sz="540" b="0">
                <a:solidFill>
                  <a:srgbClr val="263442"/>
                </a:solidFill>
                <a:latin typeface="Arial"/>
                <a:ea typeface="Arial"/>
                <a:cs typeface="Arial"/>
              </a:defRPr>
            </a:pPr>
            <a:r>
              <a:rPr sz="480" dirty="0"/>
              <a:t>CC(N)=O</a:t>
            </a:r>
          </a:p>
        </p:txBody>
      </p:sp>
      <p:sp>
        <p:nvSpPr>
          <p:cNvPr id="60000" name="Build | label">
            <a:extLst>
              <a:ext uri="{FF2B5EF4-FFF2-40B4-BE49-F238E27FC236}">
                <a16:creationId xmlns:a16="http://schemas.microsoft.com/office/drawing/2014/main" id="{94F47E76-4E22-4758-8CCC-B2F04E9A6457}"/>
              </a:ext>
            </a:extLst>
          </p:cNvPr>
          <p:cNvSpPr>
            <a:spLocks noGrp="1"/>
          </p:cNvSpPr>
          <p:nvPr/>
        </p:nvSpPr>
        <p:spPr>
          <a:xfrm>
            <a:off x="4996800" y="1918800"/>
            <a:ext cx="1105200" cy="115200"/>
          </a:xfrm>
          <a:prstGeom prst="rect">
            <a:avLst/>
          </a:prstGeom>
          <a:noFill/>
          <a:ln w="0">
            <a:noFill/>
          </a:ln>
        </p:spPr>
        <p:txBody>
          <a:bodyPr wrap="none" lIns="0" tIns="0" rIns="0" bIns="0" anchor="ctr">
            <a:noAutofit/>
          </a:bodyPr>
          <a:lstStyle>
            <a:defPPr algn="ctr">
              <a:defRPr sz="690" b="1">
                <a:solidFill>
                  <a:srgbClr val="263442"/>
                </a:solidFill>
                <a:latin typeface="Arial"/>
                <a:ea typeface="Arial"/>
                <a:cs typeface="Arial"/>
              </a:defRPr>
            </a:defPPr>
            <a:lvl1pPr algn="ctr">
              <a:defRPr sz="690" b="1">
                <a:solidFill>
                  <a:srgbClr val="263442"/>
                </a:solidFill>
                <a:latin typeface="Arial"/>
                <a:ea typeface="Arial"/>
                <a:cs typeface="Arial"/>
              </a:defRPr>
            </a:lvl1pPr>
            <a:lvl2pPr algn="ctr">
              <a:defRPr sz="690" b="1">
                <a:solidFill>
                  <a:srgbClr val="263442"/>
                </a:solidFill>
                <a:latin typeface="Arial"/>
                <a:ea typeface="Arial"/>
                <a:cs typeface="Arial"/>
              </a:defRPr>
            </a:lvl2pPr>
            <a:lvl3pPr algn="ctr">
              <a:defRPr sz="690" b="1">
                <a:solidFill>
                  <a:srgbClr val="263442"/>
                </a:solidFill>
                <a:latin typeface="Arial"/>
                <a:ea typeface="Arial"/>
                <a:cs typeface="Arial"/>
              </a:defRPr>
            </a:lvl3pPr>
            <a:lvl4pPr algn="ctr">
              <a:defRPr sz="690" b="1">
                <a:solidFill>
                  <a:srgbClr val="263442"/>
                </a:solidFill>
                <a:latin typeface="Arial"/>
                <a:ea typeface="Arial"/>
                <a:cs typeface="Arial"/>
              </a:defRPr>
            </a:lvl4pPr>
            <a:lvl5pPr algn="ctr">
              <a:defRPr sz="690" b="1">
                <a:solidFill>
                  <a:srgbClr val="263442"/>
                </a:solidFill>
                <a:latin typeface="Arial"/>
                <a:ea typeface="Arial"/>
                <a:cs typeface="Arial"/>
              </a:defRPr>
            </a:lvl5pPr>
            <a:lvl6pPr algn="ctr">
              <a:defRPr sz="690" b="1">
                <a:solidFill>
                  <a:srgbClr val="263442"/>
                </a:solidFill>
                <a:latin typeface="Arial"/>
                <a:ea typeface="Arial"/>
                <a:cs typeface="Arial"/>
              </a:defRPr>
            </a:lvl6pPr>
            <a:lvl7pPr algn="ctr">
              <a:defRPr sz="690" b="1">
                <a:solidFill>
                  <a:srgbClr val="263442"/>
                </a:solidFill>
                <a:latin typeface="Arial"/>
                <a:ea typeface="Arial"/>
                <a:cs typeface="Arial"/>
              </a:defRPr>
            </a:lvl7pPr>
            <a:lvl8pPr algn="ctr">
              <a:defRPr sz="690" b="1">
                <a:solidFill>
                  <a:srgbClr val="263442"/>
                </a:solidFill>
                <a:latin typeface="Arial"/>
                <a:ea typeface="Arial"/>
                <a:cs typeface="Arial"/>
              </a:defRPr>
            </a:lvl8pPr>
            <a:lvl9pPr algn="ctr">
              <a:defRPr sz="690" b="1">
                <a:solidFill>
                  <a:srgbClr val="263442"/>
                </a:solidFill>
                <a:latin typeface="Arial"/>
                <a:ea typeface="Arial"/>
                <a:cs typeface="Arial"/>
              </a:defRPr>
            </a:lvl9pPr>
          </a:lstStyle>
          <a:p>
            <a:pPr algn="ctr">
              <a:defRPr sz="690" b="1">
                <a:solidFill>
                  <a:srgbClr val="263442"/>
                </a:solidFill>
                <a:latin typeface="Arial"/>
                <a:ea typeface="Arial"/>
                <a:cs typeface="Arial"/>
              </a:defRPr>
            </a:pPr>
            <a:r>
              <a:rPr sz="690" b="1">
                <a:solidFill>
                  <a:srgbClr val="263442"/>
                </a:solidFill>
                <a:latin typeface="Arial"/>
                <a:ea typeface="Arial"/>
                <a:cs typeface="Arial"/>
              </a:rPr>
              <a:t>DG-PocketXMol</a:t>
            </a:r>
          </a:p>
        </p:txBody>
      </p:sp>
      <p:sp>
        <p:nvSpPr>
          <p:cNvPr id="60001" name="Build | label">
            <a:extLst>
              <a:ext uri="{FF2B5EF4-FFF2-40B4-BE49-F238E27FC236}">
                <a16:creationId xmlns:a16="http://schemas.microsoft.com/office/drawing/2014/main" id="{8CC2ACF2-436E-4656-ABDA-D819409FB77E}"/>
              </a:ext>
            </a:extLst>
          </p:cNvPr>
          <p:cNvSpPr>
            <a:spLocks noGrp="1"/>
          </p:cNvSpPr>
          <p:nvPr/>
        </p:nvSpPr>
        <p:spPr>
          <a:xfrm>
            <a:off x="4996800" y="2052000"/>
            <a:ext cx="1105200" cy="104400"/>
          </a:xfrm>
          <a:prstGeom prst="rect">
            <a:avLst/>
          </a:prstGeom>
          <a:noFill/>
          <a:ln w="0">
            <a:noFill/>
          </a:ln>
        </p:spPr>
        <p:txBody>
          <a:bodyPr wrap="none" lIns="0" tIns="0" rIns="0" bIns="0" anchor="ctr">
            <a:noAutofit/>
          </a:bodyPr>
          <a:lstStyle>
            <a:defPPr algn="ctr">
              <a:defRPr sz="580" b="0">
                <a:solidFill>
                  <a:srgbClr val="4D5B64"/>
                </a:solidFill>
                <a:latin typeface="Arial"/>
                <a:ea typeface="Arial"/>
                <a:cs typeface="Arial"/>
              </a:defRPr>
            </a:defPPr>
            <a:lvl1pPr algn="ctr">
              <a:defRPr sz="580" b="0">
                <a:solidFill>
                  <a:srgbClr val="4D5B64"/>
                </a:solidFill>
                <a:latin typeface="Arial"/>
                <a:ea typeface="Arial"/>
                <a:cs typeface="Arial"/>
              </a:defRPr>
            </a:lvl1pPr>
            <a:lvl2pPr algn="ctr">
              <a:defRPr sz="580" b="0">
                <a:solidFill>
                  <a:srgbClr val="4D5B64"/>
                </a:solidFill>
                <a:latin typeface="Arial"/>
                <a:ea typeface="Arial"/>
                <a:cs typeface="Arial"/>
              </a:defRPr>
            </a:lvl2pPr>
            <a:lvl3pPr algn="ctr">
              <a:defRPr sz="580" b="0">
                <a:solidFill>
                  <a:srgbClr val="4D5B64"/>
                </a:solidFill>
                <a:latin typeface="Arial"/>
                <a:ea typeface="Arial"/>
                <a:cs typeface="Arial"/>
              </a:defRPr>
            </a:lvl3pPr>
            <a:lvl4pPr algn="ctr">
              <a:defRPr sz="580" b="0">
                <a:solidFill>
                  <a:srgbClr val="4D5B64"/>
                </a:solidFill>
                <a:latin typeface="Arial"/>
                <a:ea typeface="Arial"/>
                <a:cs typeface="Arial"/>
              </a:defRPr>
            </a:lvl4pPr>
            <a:lvl5pPr algn="ctr">
              <a:defRPr sz="580" b="0">
                <a:solidFill>
                  <a:srgbClr val="4D5B64"/>
                </a:solidFill>
                <a:latin typeface="Arial"/>
                <a:ea typeface="Arial"/>
                <a:cs typeface="Arial"/>
              </a:defRPr>
            </a:lvl5pPr>
            <a:lvl6pPr algn="ctr">
              <a:defRPr sz="580" b="0">
                <a:solidFill>
                  <a:srgbClr val="4D5B64"/>
                </a:solidFill>
                <a:latin typeface="Arial"/>
                <a:ea typeface="Arial"/>
                <a:cs typeface="Arial"/>
              </a:defRPr>
            </a:lvl6pPr>
            <a:lvl7pPr algn="ctr">
              <a:defRPr sz="580" b="0">
                <a:solidFill>
                  <a:srgbClr val="4D5B64"/>
                </a:solidFill>
                <a:latin typeface="Arial"/>
                <a:ea typeface="Arial"/>
                <a:cs typeface="Arial"/>
              </a:defRPr>
            </a:lvl7pPr>
            <a:lvl8pPr algn="ctr">
              <a:defRPr sz="580" b="0">
                <a:solidFill>
                  <a:srgbClr val="4D5B64"/>
                </a:solidFill>
                <a:latin typeface="Arial"/>
                <a:ea typeface="Arial"/>
                <a:cs typeface="Arial"/>
              </a:defRPr>
            </a:lvl8pPr>
            <a:lvl9pPr algn="ctr">
              <a:defRPr sz="580" b="0">
                <a:solidFill>
                  <a:srgbClr val="4D5B64"/>
                </a:solidFill>
                <a:latin typeface="Arial"/>
                <a:ea typeface="Arial"/>
                <a:cs typeface="Arial"/>
              </a:defRPr>
            </a:lvl9pPr>
          </a:lstStyle>
          <a:p>
            <a:pPr algn="ctr">
              <a:defRPr sz="580" b="0">
                <a:solidFill>
                  <a:srgbClr val="4D5B64"/>
                </a:solidFill>
                <a:latin typeface="Arial"/>
                <a:ea typeface="Arial"/>
                <a:cs typeface="Arial"/>
              </a:defRPr>
            </a:pPr>
            <a:r>
              <a:rPr sz="580" b="0">
                <a:solidFill>
                  <a:srgbClr val="4D5B64"/>
                </a:solidFill>
                <a:latin typeface="Arial"/>
                <a:ea typeface="Arial"/>
                <a:cs typeface="Arial"/>
              </a:rPr>
              <a:t>Density-conditioned denoising</a:t>
            </a:r>
          </a:p>
        </p:txBody>
      </p:sp>
      <p:sp>
        <p:nvSpPr>
          <p:cNvPr id="60002" name="Build | inputs to iterative denoising">
            <a:extLst>
              <a:ext uri="{FF2B5EF4-FFF2-40B4-BE49-F238E27FC236}">
                <a16:creationId xmlns:a16="http://schemas.microsoft.com/office/drawing/2014/main" id="{CBFA7EAD-E7BF-4BD7-8B83-8F8304737C07}"/>
              </a:ext>
            </a:extLst>
          </p:cNvPr>
          <p:cNvSpPr>
            <a:spLocks noGrp="1"/>
          </p:cNvSpPr>
          <p:nvPr/>
        </p:nvSpPr>
        <p:spPr>
          <a:xfrm>
            <a:off x="5547600" y="1764000"/>
            <a:ext cx="95" cy="100800"/>
          </a:xfrm>
          <a:custGeom>
            <a:avLst/>
            <a:gdLst/>
            <a:ahLst/>
            <a:cxnLst/>
            <a:rect l="0" t="0" r="0" b="0"/>
            <a:pathLst>
              <a:path w="95" h="100800">
                <a:moveTo>
                  <a:pt x="0" y="0"/>
                </a:moveTo>
                <a:lnTo>
                  <a:pt x="0" y="100800"/>
                </a:lnTo>
              </a:path>
            </a:pathLst>
          </a:custGeom>
          <a:noFill/>
          <a:ln w="8255">
            <a:solidFill>
              <a:srgbClr val="77828C"/>
            </a:solidFill>
          </a:ln>
        </p:spPr>
      </p:sp>
      <p:sp>
        <p:nvSpPr>
          <p:cNvPr id="60003" name="Build | inputs to iterative denoising head">
            <a:extLst>
              <a:ext uri="{FF2B5EF4-FFF2-40B4-BE49-F238E27FC236}">
                <a16:creationId xmlns:a16="http://schemas.microsoft.com/office/drawing/2014/main" id="{6184FE44-FA06-4646-B809-221D755989EE}"/>
              </a:ext>
            </a:extLst>
          </p:cNvPr>
          <p:cNvSpPr>
            <a:spLocks noGrp="1"/>
          </p:cNvSpPr>
          <p:nvPr/>
        </p:nvSpPr>
        <p:spPr>
          <a:xfrm>
            <a:off x="5533470" y="1837658"/>
            <a:ext cx="28261" cy="27142"/>
          </a:xfrm>
          <a:custGeom>
            <a:avLst/>
            <a:gdLst/>
            <a:ahLst/>
            <a:cxnLst/>
            <a:rect l="0" t="0" r="0" b="0"/>
            <a:pathLst>
              <a:path w="28261" h="27142">
                <a:moveTo>
                  <a:pt x="0" y="0"/>
                </a:moveTo>
                <a:lnTo>
                  <a:pt x="14130" y="27142"/>
                </a:lnTo>
                <a:lnTo>
                  <a:pt x="28261" y="0"/>
                </a:lnTo>
              </a:path>
            </a:pathLst>
          </a:custGeom>
          <a:noFill/>
          <a:ln w="8255">
            <a:solidFill>
              <a:srgbClr val="77828C"/>
            </a:solidFill>
          </a:ln>
        </p:spPr>
      </p:sp>
      <p:sp>
        <p:nvSpPr>
          <p:cNvPr id="60004" name="Build | denoising stage 0">
            <a:extLst>
              <a:ext uri="{FF2B5EF4-FFF2-40B4-BE49-F238E27FC236}">
                <a16:creationId xmlns:a16="http://schemas.microsoft.com/office/drawing/2014/main" id="{DFC12BD0-1383-45E2-AA7F-D9037C9145B9}"/>
              </a:ext>
            </a:extLst>
          </p:cNvPr>
          <p:cNvSpPr>
            <a:spLocks noGrp="1"/>
          </p:cNvSpPr>
          <p:nvPr/>
        </p:nvSpPr>
        <p:spPr>
          <a:xfrm>
            <a:off x="4996800" y="2314800"/>
            <a:ext cx="324000" cy="187200"/>
          </a:xfrm>
          <a:prstGeom prst="rect">
            <a:avLst/>
          </a:prstGeom>
          <a:noFill/>
          <a:ln w="0">
            <a:noFill/>
          </a:ln>
        </p:spPr>
        <p:txBody>
          <a:bodyPr wrap="none" lIns="0" tIns="0" rIns="0" bIns="0" anchor="ctr">
            <a:noAutofit/>
          </a:bodyPr>
          <a:lstStyle>
            <a:defPPr algn="ctr">
              <a:defRPr sz="580" b="0">
                <a:solidFill>
                  <a:srgbClr val="596873"/>
                </a:solidFill>
                <a:latin typeface="Arial"/>
                <a:ea typeface="Arial"/>
                <a:cs typeface="Arial"/>
              </a:defRPr>
            </a:defPPr>
            <a:lvl1pPr algn="ctr">
              <a:defRPr sz="580" b="0">
                <a:solidFill>
                  <a:srgbClr val="596873"/>
                </a:solidFill>
                <a:latin typeface="Arial"/>
                <a:ea typeface="Arial"/>
                <a:cs typeface="Arial"/>
              </a:defRPr>
            </a:lvl1pPr>
            <a:lvl2pPr algn="ctr">
              <a:defRPr sz="580" b="0">
                <a:solidFill>
                  <a:srgbClr val="596873"/>
                </a:solidFill>
                <a:latin typeface="Arial"/>
                <a:ea typeface="Arial"/>
                <a:cs typeface="Arial"/>
              </a:defRPr>
            </a:lvl2pPr>
            <a:lvl3pPr algn="ctr">
              <a:defRPr sz="580" b="0">
                <a:solidFill>
                  <a:srgbClr val="596873"/>
                </a:solidFill>
                <a:latin typeface="Arial"/>
                <a:ea typeface="Arial"/>
                <a:cs typeface="Arial"/>
              </a:defRPr>
            </a:lvl3pPr>
            <a:lvl4pPr algn="ctr">
              <a:defRPr sz="580" b="0">
                <a:solidFill>
                  <a:srgbClr val="596873"/>
                </a:solidFill>
                <a:latin typeface="Arial"/>
                <a:ea typeface="Arial"/>
                <a:cs typeface="Arial"/>
              </a:defRPr>
            </a:lvl4pPr>
            <a:lvl5pPr algn="ctr">
              <a:defRPr sz="580" b="0">
                <a:solidFill>
                  <a:srgbClr val="596873"/>
                </a:solidFill>
                <a:latin typeface="Arial"/>
                <a:ea typeface="Arial"/>
                <a:cs typeface="Arial"/>
              </a:defRPr>
            </a:lvl5pPr>
            <a:lvl6pPr algn="ctr">
              <a:defRPr sz="580" b="0">
                <a:solidFill>
                  <a:srgbClr val="596873"/>
                </a:solidFill>
                <a:latin typeface="Arial"/>
                <a:ea typeface="Arial"/>
                <a:cs typeface="Arial"/>
              </a:defRPr>
            </a:lvl6pPr>
            <a:lvl7pPr algn="ctr">
              <a:defRPr sz="580" b="0">
                <a:solidFill>
                  <a:srgbClr val="596873"/>
                </a:solidFill>
                <a:latin typeface="Arial"/>
                <a:ea typeface="Arial"/>
                <a:cs typeface="Arial"/>
              </a:defRPr>
            </a:lvl7pPr>
            <a:lvl8pPr algn="ctr">
              <a:defRPr sz="580" b="0">
                <a:solidFill>
                  <a:srgbClr val="596873"/>
                </a:solidFill>
                <a:latin typeface="Arial"/>
                <a:ea typeface="Arial"/>
                <a:cs typeface="Arial"/>
              </a:defRPr>
            </a:lvl8pPr>
            <a:lvl9pPr algn="ctr">
              <a:defRPr sz="580" b="0">
                <a:solidFill>
                  <a:srgbClr val="596873"/>
                </a:solidFill>
                <a:latin typeface="Arial"/>
                <a:ea typeface="Arial"/>
                <a:cs typeface="Arial"/>
              </a:defRPr>
            </a:lvl9pPr>
          </a:lstStyle>
          <a:p>
            <a:pPr algn="ctr">
              <a:defRPr sz="580" b="0">
                <a:solidFill>
                  <a:srgbClr val="596873"/>
                </a:solidFill>
                <a:latin typeface="Arial"/>
                <a:ea typeface="Arial"/>
                <a:cs typeface="Arial"/>
              </a:defRPr>
            </a:pPr>
            <a:r>
              <a:rPr sz="580" b="0">
                <a:solidFill>
                  <a:srgbClr val="596873"/>
                </a:solidFill>
                <a:latin typeface="Arial"/>
                <a:ea typeface="Arial"/>
                <a:cs typeface="Arial"/>
              </a:rPr>
              <a:t>Gaussian</a:t>
            </a:r>
          </a:p>
          <a:p>
            <a:pPr algn="ctr">
              <a:defRPr sz="580" b="0">
                <a:solidFill>
                  <a:srgbClr val="596873"/>
                </a:solidFill>
                <a:latin typeface="Arial"/>
                <a:ea typeface="Arial"/>
                <a:cs typeface="Arial"/>
              </a:defRPr>
            </a:pPr>
            <a:r>
              <a:rPr sz="580" b="0">
                <a:solidFill>
                  <a:srgbClr val="596873"/>
                </a:solidFill>
                <a:latin typeface="Arial"/>
                <a:ea typeface="Arial"/>
                <a:cs typeface="Arial"/>
              </a:rPr>
              <a:t>noise</a:t>
            </a:r>
          </a:p>
        </p:txBody>
      </p:sp>
      <p:pic>
        <p:nvPicPr>
          <p:cNvPr id="60005" name="图片 60004">
            <a:extLst>
              <a:ext uri="{FF2B5EF4-FFF2-40B4-BE49-F238E27FC236}">
                <a16:creationId xmlns:a16="http://schemas.microsoft.com/office/drawing/2014/main" id="{B511FAD9-49E3-44B2-9FEC-182DABD663A7}"/>
              </a:ext>
            </a:extLst>
          </p:cNvPr>
          <p:cNvPicPr>
            <a:picLocks noChangeAspect="1"/>
          </p:cNvPicPr>
          <p:nvPr/>
        </p:nvPicPr>
        <p:blipFill>
          <a:blip r:embed="rId6"/>
          <a:stretch/>
        </p:blipFill>
        <p:spPr>
          <a:xfrm>
            <a:off x="5407892" y="2203200"/>
            <a:ext cx="578215" cy="417600"/>
          </a:xfrm>
          <a:prstGeom prst="rect">
            <a:avLst/>
          </a:prstGeom>
        </p:spPr>
      </p:pic>
      <p:sp>
        <p:nvSpPr>
          <p:cNvPr id="60006" name="Build | denoising transition 0">
            <a:extLst>
              <a:ext uri="{FF2B5EF4-FFF2-40B4-BE49-F238E27FC236}">
                <a16:creationId xmlns:a16="http://schemas.microsoft.com/office/drawing/2014/main" id="{04BCFD61-A8F8-4702-B89C-4217FF18EB8C}"/>
              </a:ext>
            </a:extLst>
          </p:cNvPr>
          <p:cNvSpPr>
            <a:spLocks noGrp="1"/>
          </p:cNvSpPr>
          <p:nvPr/>
        </p:nvSpPr>
        <p:spPr>
          <a:xfrm>
            <a:off x="5698800" y="2599200"/>
            <a:ext cx="95" cy="36000"/>
          </a:xfrm>
          <a:custGeom>
            <a:avLst/>
            <a:gdLst/>
            <a:ahLst/>
            <a:cxnLst/>
            <a:rect l="0" t="0" r="0" b="0"/>
            <a:pathLst>
              <a:path w="95" h="36000">
                <a:moveTo>
                  <a:pt x="0" y="0"/>
                </a:moveTo>
                <a:lnTo>
                  <a:pt x="0" y="36000"/>
                </a:lnTo>
              </a:path>
            </a:pathLst>
          </a:custGeom>
          <a:noFill/>
          <a:ln w="8255">
            <a:solidFill>
              <a:srgbClr val="77828C"/>
            </a:solidFill>
          </a:ln>
        </p:spPr>
      </p:sp>
      <p:sp>
        <p:nvSpPr>
          <p:cNvPr id="60007" name="Build | denoising transition 0 head">
            <a:extLst>
              <a:ext uri="{FF2B5EF4-FFF2-40B4-BE49-F238E27FC236}">
                <a16:creationId xmlns:a16="http://schemas.microsoft.com/office/drawing/2014/main" id="{FA7A6068-02AF-42B9-9252-C6AF8A4D4EF7}"/>
              </a:ext>
            </a:extLst>
          </p:cNvPr>
          <p:cNvSpPr>
            <a:spLocks noGrp="1"/>
          </p:cNvSpPr>
          <p:nvPr/>
        </p:nvSpPr>
        <p:spPr>
          <a:xfrm>
            <a:off x="5684670" y="2608058"/>
            <a:ext cx="28261" cy="27142"/>
          </a:xfrm>
          <a:custGeom>
            <a:avLst/>
            <a:gdLst/>
            <a:ahLst/>
            <a:cxnLst/>
            <a:rect l="0" t="0" r="0" b="0"/>
            <a:pathLst>
              <a:path w="28261" h="27142">
                <a:moveTo>
                  <a:pt x="0" y="0"/>
                </a:moveTo>
                <a:lnTo>
                  <a:pt x="14130" y="27142"/>
                </a:lnTo>
                <a:lnTo>
                  <a:pt x="28261" y="0"/>
                </a:lnTo>
              </a:path>
            </a:pathLst>
          </a:custGeom>
          <a:noFill/>
          <a:ln w="8255">
            <a:solidFill>
              <a:srgbClr val="77828C"/>
            </a:solidFill>
          </a:ln>
        </p:spPr>
      </p:sp>
      <p:sp>
        <p:nvSpPr>
          <p:cNvPr id="60008" name="Build | denoising stage 1">
            <a:extLst>
              <a:ext uri="{FF2B5EF4-FFF2-40B4-BE49-F238E27FC236}">
                <a16:creationId xmlns:a16="http://schemas.microsoft.com/office/drawing/2014/main" id="{7108661C-2C92-49EE-8A82-E0A1B0388AAB}"/>
              </a:ext>
            </a:extLst>
          </p:cNvPr>
          <p:cNvSpPr>
            <a:spLocks noGrp="1"/>
          </p:cNvSpPr>
          <p:nvPr/>
        </p:nvSpPr>
        <p:spPr>
          <a:xfrm>
            <a:off x="4996800" y="2737800"/>
            <a:ext cx="324000" cy="118800"/>
          </a:xfrm>
          <a:prstGeom prst="rect">
            <a:avLst/>
          </a:prstGeom>
          <a:noFill/>
          <a:ln w="0">
            <a:noFill/>
          </a:ln>
        </p:spPr>
        <p:txBody>
          <a:bodyPr wrap="none" lIns="0" tIns="0" rIns="0" bIns="0" anchor="ctr">
            <a:noAutofit/>
          </a:bodyPr>
          <a:lstStyle>
            <a:defPPr algn="ctr">
              <a:defRPr sz="580" b="0">
                <a:solidFill>
                  <a:srgbClr val="596873"/>
                </a:solidFill>
                <a:latin typeface="Arial"/>
                <a:ea typeface="Arial"/>
                <a:cs typeface="Arial"/>
              </a:defRPr>
            </a:defPPr>
            <a:lvl1pPr algn="ctr">
              <a:defRPr sz="580" b="0">
                <a:solidFill>
                  <a:srgbClr val="596873"/>
                </a:solidFill>
                <a:latin typeface="Arial"/>
                <a:ea typeface="Arial"/>
                <a:cs typeface="Arial"/>
              </a:defRPr>
            </a:lvl1pPr>
            <a:lvl2pPr algn="ctr">
              <a:defRPr sz="580" b="0">
                <a:solidFill>
                  <a:srgbClr val="596873"/>
                </a:solidFill>
                <a:latin typeface="Arial"/>
                <a:ea typeface="Arial"/>
                <a:cs typeface="Arial"/>
              </a:defRPr>
            </a:lvl2pPr>
            <a:lvl3pPr algn="ctr">
              <a:defRPr sz="580" b="0">
                <a:solidFill>
                  <a:srgbClr val="596873"/>
                </a:solidFill>
                <a:latin typeface="Arial"/>
                <a:ea typeface="Arial"/>
                <a:cs typeface="Arial"/>
              </a:defRPr>
            </a:lvl3pPr>
            <a:lvl4pPr algn="ctr">
              <a:defRPr sz="580" b="0">
                <a:solidFill>
                  <a:srgbClr val="596873"/>
                </a:solidFill>
                <a:latin typeface="Arial"/>
                <a:ea typeface="Arial"/>
                <a:cs typeface="Arial"/>
              </a:defRPr>
            </a:lvl4pPr>
            <a:lvl5pPr algn="ctr">
              <a:defRPr sz="580" b="0">
                <a:solidFill>
                  <a:srgbClr val="596873"/>
                </a:solidFill>
                <a:latin typeface="Arial"/>
                <a:ea typeface="Arial"/>
                <a:cs typeface="Arial"/>
              </a:defRPr>
            </a:lvl5pPr>
            <a:lvl6pPr algn="ctr">
              <a:defRPr sz="580" b="0">
                <a:solidFill>
                  <a:srgbClr val="596873"/>
                </a:solidFill>
                <a:latin typeface="Arial"/>
                <a:ea typeface="Arial"/>
                <a:cs typeface="Arial"/>
              </a:defRPr>
            </a:lvl6pPr>
            <a:lvl7pPr algn="ctr">
              <a:defRPr sz="580" b="0">
                <a:solidFill>
                  <a:srgbClr val="596873"/>
                </a:solidFill>
                <a:latin typeface="Arial"/>
                <a:ea typeface="Arial"/>
                <a:cs typeface="Arial"/>
              </a:defRPr>
            </a:lvl7pPr>
            <a:lvl8pPr algn="ctr">
              <a:defRPr sz="580" b="0">
                <a:solidFill>
                  <a:srgbClr val="596873"/>
                </a:solidFill>
                <a:latin typeface="Arial"/>
                <a:ea typeface="Arial"/>
                <a:cs typeface="Arial"/>
              </a:defRPr>
            </a:lvl8pPr>
            <a:lvl9pPr algn="ctr">
              <a:defRPr sz="580" b="0">
                <a:solidFill>
                  <a:srgbClr val="596873"/>
                </a:solidFill>
                <a:latin typeface="Arial"/>
                <a:ea typeface="Arial"/>
                <a:cs typeface="Arial"/>
              </a:defRPr>
            </a:lvl9pPr>
          </a:lstStyle>
          <a:p>
            <a:pPr algn="ctr">
              <a:defRPr sz="580" b="0">
                <a:solidFill>
                  <a:srgbClr val="596873"/>
                </a:solidFill>
                <a:latin typeface="Arial"/>
                <a:ea typeface="Arial"/>
                <a:cs typeface="Arial"/>
              </a:defRPr>
            </a:pPr>
            <a:r>
              <a:rPr sz="580" b="0">
                <a:solidFill>
                  <a:srgbClr val="596873"/>
                </a:solidFill>
                <a:latin typeface="Arial"/>
                <a:ea typeface="Arial"/>
                <a:cs typeface="Arial"/>
              </a:rPr>
              <a:t>Early</a:t>
            </a:r>
          </a:p>
        </p:txBody>
      </p:sp>
      <p:pic>
        <p:nvPicPr>
          <p:cNvPr id="60009" name="图片 60008">
            <a:extLst>
              <a:ext uri="{FF2B5EF4-FFF2-40B4-BE49-F238E27FC236}">
                <a16:creationId xmlns:a16="http://schemas.microsoft.com/office/drawing/2014/main" id="{8655EE00-B378-4AAC-BFE4-94F5CCD70AC8}"/>
              </a:ext>
            </a:extLst>
          </p:cNvPr>
          <p:cNvPicPr>
            <a:picLocks noChangeAspect="1"/>
          </p:cNvPicPr>
          <p:nvPr/>
        </p:nvPicPr>
        <p:blipFill>
          <a:blip r:embed="rId7"/>
          <a:stretch/>
        </p:blipFill>
        <p:spPr>
          <a:xfrm>
            <a:off x="5407892" y="2626200"/>
            <a:ext cx="578215" cy="417600"/>
          </a:xfrm>
          <a:prstGeom prst="rect">
            <a:avLst/>
          </a:prstGeom>
        </p:spPr>
      </p:pic>
      <p:sp>
        <p:nvSpPr>
          <p:cNvPr id="60010" name="Build | denoising transition 1">
            <a:extLst>
              <a:ext uri="{FF2B5EF4-FFF2-40B4-BE49-F238E27FC236}">
                <a16:creationId xmlns:a16="http://schemas.microsoft.com/office/drawing/2014/main" id="{8997AD62-2F4C-422B-AE56-59F940577F88}"/>
              </a:ext>
            </a:extLst>
          </p:cNvPr>
          <p:cNvSpPr>
            <a:spLocks noGrp="1"/>
          </p:cNvSpPr>
          <p:nvPr/>
        </p:nvSpPr>
        <p:spPr>
          <a:xfrm>
            <a:off x="5698800" y="3022200"/>
            <a:ext cx="95" cy="36000"/>
          </a:xfrm>
          <a:custGeom>
            <a:avLst/>
            <a:gdLst/>
            <a:ahLst/>
            <a:cxnLst/>
            <a:rect l="0" t="0" r="0" b="0"/>
            <a:pathLst>
              <a:path w="95" h="36000">
                <a:moveTo>
                  <a:pt x="0" y="0"/>
                </a:moveTo>
                <a:lnTo>
                  <a:pt x="0" y="36000"/>
                </a:lnTo>
              </a:path>
            </a:pathLst>
          </a:custGeom>
          <a:noFill/>
          <a:ln w="8255">
            <a:solidFill>
              <a:srgbClr val="77828C"/>
            </a:solidFill>
          </a:ln>
        </p:spPr>
      </p:sp>
      <p:sp>
        <p:nvSpPr>
          <p:cNvPr id="60011" name="Build | denoising transition 1 head">
            <a:extLst>
              <a:ext uri="{FF2B5EF4-FFF2-40B4-BE49-F238E27FC236}">
                <a16:creationId xmlns:a16="http://schemas.microsoft.com/office/drawing/2014/main" id="{14B4A847-0A7B-4CA0-819F-D432252DE537}"/>
              </a:ext>
            </a:extLst>
          </p:cNvPr>
          <p:cNvSpPr>
            <a:spLocks noGrp="1"/>
          </p:cNvSpPr>
          <p:nvPr/>
        </p:nvSpPr>
        <p:spPr>
          <a:xfrm>
            <a:off x="5684670" y="3031058"/>
            <a:ext cx="28261" cy="27142"/>
          </a:xfrm>
          <a:custGeom>
            <a:avLst/>
            <a:gdLst/>
            <a:ahLst/>
            <a:cxnLst/>
            <a:rect l="0" t="0" r="0" b="0"/>
            <a:pathLst>
              <a:path w="28261" h="27142">
                <a:moveTo>
                  <a:pt x="0" y="0"/>
                </a:moveTo>
                <a:lnTo>
                  <a:pt x="14130" y="27142"/>
                </a:lnTo>
                <a:lnTo>
                  <a:pt x="28261" y="0"/>
                </a:lnTo>
              </a:path>
            </a:pathLst>
          </a:custGeom>
          <a:noFill/>
          <a:ln w="8255">
            <a:solidFill>
              <a:srgbClr val="77828C"/>
            </a:solidFill>
          </a:ln>
        </p:spPr>
      </p:sp>
      <p:sp>
        <p:nvSpPr>
          <p:cNvPr id="60012" name="Build | denoising stage 2">
            <a:extLst>
              <a:ext uri="{FF2B5EF4-FFF2-40B4-BE49-F238E27FC236}">
                <a16:creationId xmlns:a16="http://schemas.microsoft.com/office/drawing/2014/main" id="{1FF09CE7-02A7-46AD-9A03-C03CC01F16E0}"/>
              </a:ext>
            </a:extLst>
          </p:cNvPr>
          <p:cNvSpPr>
            <a:spLocks noGrp="1"/>
          </p:cNvSpPr>
          <p:nvPr/>
        </p:nvSpPr>
        <p:spPr>
          <a:xfrm>
            <a:off x="4996800" y="3160800"/>
            <a:ext cx="324000" cy="118800"/>
          </a:xfrm>
          <a:prstGeom prst="rect">
            <a:avLst/>
          </a:prstGeom>
          <a:noFill/>
          <a:ln w="0">
            <a:noFill/>
          </a:ln>
        </p:spPr>
        <p:txBody>
          <a:bodyPr wrap="none" lIns="0" tIns="0" rIns="0" bIns="0" anchor="ctr">
            <a:noAutofit/>
          </a:bodyPr>
          <a:lstStyle>
            <a:defPPr algn="ctr">
              <a:defRPr sz="580" b="0">
                <a:solidFill>
                  <a:srgbClr val="596873"/>
                </a:solidFill>
                <a:latin typeface="Arial"/>
                <a:ea typeface="Arial"/>
                <a:cs typeface="Arial"/>
              </a:defRPr>
            </a:defPPr>
            <a:lvl1pPr algn="ctr">
              <a:defRPr sz="580" b="0">
                <a:solidFill>
                  <a:srgbClr val="596873"/>
                </a:solidFill>
                <a:latin typeface="Arial"/>
                <a:ea typeface="Arial"/>
                <a:cs typeface="Arial"/>
              </a:defRPr>
            </a:lvl1pPr>
            <a:lvl2pPr algn="ctr">
              <a:defRPr sz="580" b="0">
                <a:solidFill>
                  <a:srgbClr val="596873"/>
                </a:solidFill>
                <a:latin typeface="Arial"/>
                <a:ea typeface="Arial"/>
                <a:cs typeface="Arial"/>
              </a:defRPr>
            </a:lvl2pPr>
            <a:lvl3pPr algn="ctr">
              <a:defRPr sz="580" b="0">
                <a:solidFill>
                  <a:srgbClr val="596873"/>
                </a:solidFill>
                <a:latin typeface="Arial"/>
                <a:ea typeface="Arial"/>
                <a:cs typeface="Arial"/>
              </a:defRPr>
            </a:lvl3pPr>
            <a:lvl4pPr algn="ctr">
              <a:defRPr sz="580" b="0">
                <a:solidFill>
                  <a:srgbClr val="596873"/>
                </a:solidFill>
                <a:latin typeface="Arial"/>
                <a:ea typeface="Arial"/>
                <a:cs typeface="Arial"/>
              </a:defRPr>
            </a:lvl4pPr>
            <a:lvl5pPr algn="ctr">
              <a:defRPr sz="580" b="0">
                <a:solidFill>
                  <a:srgbClr val="596873"/>
                </a:solidFill>
                <a:latin typeface="Arial"/>
                <a:ea typeface="Arial"/>
                <a:cs typeface="Arial"/>
              </a:defRPr>
            </a:lvl5pPr>
            <a:lvl6pPr algn="ctr">
              <a:defRPr sz="580" b="0">
                <a:solidFill>
                  <a:srgbClr val="596873"/>
                </a:solidFill>
                <a:latin typeface="Arial"/>
                <a:ea typeface="Arial"/>
                <a:cs typeface="Arial"/>
              </a:defRPr>
            </a:lvl6pPr>
            <a:lvl7pPr algn="ctr">
              <a:defRPr sz="580" b="0">
                <a:solidFill>
                  <a:srgbClr val="596873"/>
                </a:solidFill>
                <a:latin typeface="Arial"/>
                <a:ea typeface="Arial"/>
                <a:cs typeface="Arial"/>
              </a:defRPr>
            </a:lvl7pPr>
            <a:lvl8pPr algn="ctr">
              <a:defRPr sz="580" b="0">
                <a:solidFill>
                  <a:srgbClr val="596873"/>
                </a:solidFill>
                <a:latin typeface="Arial"/>
                <a:ea typeface="Arial"/>
                <a:cs typeface="Arial"/>
              </a:defRPr>
            </a:lvl8pPr>
            <a:lvl9pPr algn="ctr">
              <a:defRPr sz="580" b="0">
                <a:solidFill>
                  <a:srgbClr val="596873"/>
                </a:solidFill>
                <a:latin typeface="Arial"/>
                <a:ea typeface="Arial"/>
                <a:cs typeface="Arial"/>
              </a:defRPr>
            </a:lvl9pPr>
          </a:lstStyle>
          <a:p>
            <a:pPr algn="ctr">
              <a:defRPr sz="580" b="0">
                <a:solidFill>
                  <a:srgbClr val="596873"/>
                </a:solidFill>
                <a:latin typeface="Arial"/>
                <a:ea typeface="Arial"/>
                <a:cs typeface="Arial"/>
              </a:defRPr>
            </a:pPr>
            <a:r>
              <a:rPr sz="580" b="0">
                <a:solidFill>
                  <a:srgbClr val="596873"/>
                </a:solidFill>
                <a:latin typeface="Arial"/>
                <a:ea typeface="Arial"/>
                <a:cs typeface="Arial"/>
              </a:rPr>
              <a:t>Middle</a:t>
            </a:r>
          </a:p>
        </p:txBody>
      </p:sp>
      <p:pic>
        <p:nvPicPr>
          <p:cNvPr id="60013" name="图片 60012">
            <a:extLst>
              <a:ext uri="{FF2B5EF4-FFF2-40B4-BE49-F238E27FC236}">
                <a16:creationId xmlns:a16="http://schemas.microsoft.com/office/drawing/2014/main" id="{9B0A180A-E26A-441A-B601-9B99D0A12D96}"/>
              </a:ext>
            </a:extLst>
          </p:cNvPr>
          <p:cNvPicPr>
            <a:picLocks noChangeAspect="1"/>
          </p:cNvPicPr>
          <p:nvPr/>
        </p:nvPicPr>
        <p:blipFill>
          <a:blip r:embed="rId8"/>
          <a:stretch/>
        </p:blipFill>
        <p:spPr>
          <a:xfrm>
            <a:off x="5407892" y="3049200"/>
            <a:ext cx="578215" cy="417600"/>
          </a:xfrm>
          <a:prstGeom prst="rect">
            <a:avLst/>
          </a:prstGeom>
        </p:spPr>
      </p:pic>
      <p:sp>
        <p:nvSpPr>
          <p:cNvPr id="60014" name="Build | denoising transition 2">
            <a:extLst>
              <a:ext uri="{FF2B5EF4-FFF2-40B4-BE49-F238E27FC236}">
                <a16:creationId xmlns:a16="http://schemas.microsoft.com/office/drawing/2014/main" id="{A3FA7A89-F784-41E1-940E-F57BB6D167B1}"/>
              </a:ext>
            </a:extLst>
          </p:cNvPr>
          <p:cNvSpPr>
            <a:spLocks noGrp="1"/>
          </p:cNvSpPr>
          <p:nvPr/>
        </p:nvSpPr>
        <p:spPr>
          <a:xfrm>
            <a:off x="5698800" y="3445200"/>
            <a:ext cx="95" cy="36000"/>
          </a:xfrm>
          <a:custGeom>
            <a:avLst/>
            <a:gdLst/>
            <a:ahLst/>
            <a:cxnLst/>
            <a:rect l="0" t="0" r="0" b="0"/>
            <a:pathLst>
              <a:path w="95" h="36000">
                <a:moveTo>
                  <a:pt x="0" y="0"/>
                </a:moveTo>
                <a:lnTo>
                  <a:pt x="0" y="36000"/>
                </a:lnTo>
              </a:path>
            </a:pathLst>
          </a:custGeom>
          <a:noFill/>
          <a:ln w="8255">
            <a:solidFill>
              <a:srgbClr val="77828C"/>
            </a:solidFill>
          </a:ln>
        </p:spPr>
      </p:sp>
      <p:sp>
        <p:nvSpPr>
          <p:cNvPr id="60015" name="Build | denoising transition 2 head">
            <a:extLst>
              <a:ext uri="{FF2B5EF4-FFF2-40B4-BE49-F238E27FC236}">
                <a16:creationId xmlns:a16="http://schemas.microsoft.com/office/drawing/2014/main" id="{56778581-E59C-4F0D-9993-4BC262768B0B}"/>
              </a:ext>
            </a:extLst>
          </p:cNvPr>
          <p:cNvSpPr>
            <a:spLocks noGrp="1"/>
          </p:cNvSpPr>
          <p:nvPr/>
        </p:nvSpPr>
        <p:spPr>
          <a:xfrm>
            <a:off x="5684670" y="3454058"/>
            <a:ext cx="28261" cy="27142"/>
          </a:xfrm>
          <a:custGeom>
            <a:avLst/>
            <a:gdLst/>
            <a:ahLst/>
            <a:cxnLst/>
            <a:rect l="0" t="0" r="0" b="0"/>
            <a:pathLst>
              <a:path w="28261" h="27142">
                <a:moveTo>
                  <a:pt x="0" y="0"/>
                </a:moveTo>
                <a:lnTo>
                  <a:pt x="14130" y="27142"/>
                </a:lnTo>
                <a:lnTo>
                  <a:pt x="28261" y="0"/>
                </a:lnTo>
              </a:path>
            </a:pathLst>
          </a:custGeom>
          <a:noFill/>
          <a:ln w="8255">
            <a:solidFill>
              <a:srgbClr val="77828C"/>
            </a:solidFill>
          </a:ln>
        </p:spPr>
      </p:sp>
      <p:sp>
        <p:nvSpPr>
          <p:cNvPr id="60016" name="Build | denoising stage 3">
            <a:extLst>
              <a:ext uri="{FF2B5EF4-FFF2-40B4-BE49-F238E27FC236}">
                <a16:creationId xmlns:a16="http://schemas.microsoft.com/office/drawing/2014/main" id="{CB60D94A-8A3B-4B89-AE69-B910ED41EE47}"/>
              </a:ext>
            </a:extLst>
          </p:cNvPr>
          <p:cNvSpPr>
            <a:spLocks noGrp="1"/>
          </p:cNvSpPr>
          <p:nvPr/>
        </p:nvSpPr>
        <p:spPr>
          <a:xfrm>
            <a:off x="4996800" y="3583800"/>
            <a:ext cx="324000" cy="118800"/>
          </a:xfrm>
          <a:prstGeom prst="rect">
            <a:avLst/>
          </a:prstGeom>
          <a:noFill/>
          <a:ln w="0">
            <a:noFill/>
          </a:ln>
        </p:spPr>
        <p:txBody>
          <a:bodyPr wrap="none" lIns="0" tIns="0" rIns="0" bIns="0" anchor="ctr">
            <a:noAutofit/>
          </a:bodyPr>
          <a:lstStyle>
            <a:defPPr algn="ctr">
              <a:defRPr sz="580" b="0">
                <a:solidFill>
                  <a:srgbClr val="596873"/>
                </a:solidFill>
                <a:latin typeface="Arial"/>
                <a:ea typeface="Arial"/>
                <a:cs typeface="Arial"/>
              </a:defRPr>
            </a:defPPr>
            <a:lvl1pPr algn="ctr">
              <a:defRPr sz="580" b="0">
                <a:solidFill>
                  <a:srgbClr val="596873"/>
                </a:solidFill>
                <a:latin typeface="Arial"/>
                <a:ea typeface="Arial"/>
                <a:cs typeface="Arial"/>
              </a:defRPr>
            </a:lvl1pPr>
            <a:lvl2pPr algn="ctr">
              <a:defRPr sz="580" b="0">
                <a:solidFill>
                  <a:srgbClr val="596873"/>
                </a:solidFill>
                <a:latin typeface="Arial"/>
                <a:ea typeface="Arial"/>
                <a:cs typeface="Arial"/>
              </a:defRPr>
            </a:lvl2pPr>
            <a:lvl3pPr algn="ctr">
              <a:defRPr sz="580" b="0">
                <a:solidFill>
                  <a:srgbClr val="596873"/>
                </a:solidFill>
                <a:latin typeface="Arial"/>
                <a:ea typeface="Arial"/>
                <a:cs typeface="Arial"/>
              </a:defRPr>
            </a:lvl3pPr>
            <a:lvl4pPr algn="ctr">
              <a:defRPr sz="580" b="0">
                <a:solidFill>
                  <a:srgbClr val="596873"/>
                </a:solidFill>
                <a:latin typeface="Arial"/>
                <a:ea typeface="Arial"/>
                <a:cs typeface="Arial"/>
              </a:defRPr>
            </a:lvl4pPr>
            <a:lvl5pPr algn="ctr">
              <a:defRPr sz="580" b="0">
                <a:solidFill>
                  <a:srgbClr val="596873"/>
                </a:solidFill>
                <a:latin typeface="Arial"/>
                <a:ea typeface="Arial"/>
                <a:cs typeface="Arial"/>
              </a:defRPr>
            </a:lvl5pPr>
            <a:lvl6pPr algn="ctr">
              <a:defRPr sz="580" b="0">
                <a:solidFill>
                  <a:srgbClr val="596873"/>
                </a:solidFill>
                <a:latin typeface="Arial"/>
                <a:ea typeface="Arial"/>
                <a:cs typeface="Arial"/>
              </a:defRPr>
            </a:lvl6pPr>
            <a:lvl7pPr algn="ctr">
              <a:defRPr sz="580" b="0">
                <a:solidFill>
                  <a:srgbClr val="596873"/>
                </a:solidFill>
                <a:latin typeface="Arial"/>
                <a:ea typeface="Arial"/>
                <a:cs typeface="Arial"/>
              </a:defRPr>
            </a:lvl7pPr>
            <a:lvl8pPr algn="ctr">
              <a:defRPr sz="580" b="0">
                <a:solidFill>
                  <a:srgbClr val="596873"/>
                </a:solidFill>
                <a:latin typeface="Arial"/>
                <a:ea typeface="Arial"/>
                <a:cs typeface="Arial"/>
              </a:defRPr>
            </a:lvl8pPr>
            <a:lvl9pPr algn="ctr">
              <a:defRPr sz="580" b="0">
                <a:solidFill>
                  <a:srgbClr val="596873"/>
                </a:solidFill>
                <a:latin typeface="Arial"/>
                <a:ea typeface="Arial"/>
                <a:cs typeface="Arial"/>
              </a:defRPr>
            </a:lvl9pPr>
          </a:lstStyle>
          <a:p>
            <a:pPr algn="ctr">
              <a:defRPr sz="580" b="0">
                <a:solidFill>
                  <a:srgbClr val="596873"/>
                </a:solidFill>
                <a:latin typeface="Arial"/>
                <a:ea typeface="Arial"/>
                <a:cs typeface="Arial"/>
              </a:defRPr>
            </a:pPr>
            <a:r>
              <a:rPr sz="580" b="0">
                <a:solidFill>
                  <a:srgbClr val="596873"/>
                </a:solidFill>
                <a:latin typeface="Arial"/>
                <a:ea typeface="Arial"/>
                <a:cs typeface="Arial"/>
              </a:rPr>
              <a:t>Late</a:t>
            </a:r>
          </a:p>
        </p:txBody>
      </p:sp>
      <p:pic>
        <p:nvPicPr>
          <p:cNvPr id="60017" name="图片 60016">
            <a:extLst>
              <a:ext uri="{FF2B5EF4-FFF2-40B4-BE49-F238E27FC236}">
                <a16:creationId xmlns:a16="http://schemas.microsoft.com/office/drawing/2014/main" id="{9D2225E1-BC52-4FFF-B27A-FCEB03F155E0}"/>
              </a:ext>
            </a:extLst>
          </p:cNvPr>
          <p:cNvPicPr>
            <a:picLocks noChangeAspect="1"/>
          </p:cNvPicPr>
          <p:nvPr/>
        </p:nvPicPr>
        <p:blipFill>
          <a:blip r:embed="rId9"/>
          <a:stretch/>
        </p:blipFill>
        <p:spPr>
          <a:xfrm>
            <a:off x="5407892" y="3472200"/>
            <a:ext cx="578215" cy="417600"/>
          </a:xfrm>
          <a:prstGeom prst="rect">
            <a:avLst/>
          </a:prstGeom>
        </p:spPr>
      </p:pic>
      <p:sp>
        <p:nvSpPr>
          <p:cNvPr id="60018" name="Build | denoising transition 3">
            <a:extLst>
              <a:ext uri="{FF2B5EF4-FFF2-40B4-BE49-F238E27FC236}">
                <a16:creationId xmlns:a16="http://schemas.microsoft.com/office/drawing/2014/main" id="{E3B4DFDA-E056-4EBE-B43B-015CF8DEDA24}"/>
              </a:ext>
            </a:extLst>
          </p:cNvPr>
          <p:cNvSpPr>
            <a:spLocks noGrp="1"/>
          </p:cNvSpPr>
          <p:nvPr/>
        </p:nvSpPr>
        <p:spPr>
          <a:xfrm>
            <a:off x="5698800" y="3868200"/>
            <a:ext cx="95" cy="36000"/>
          </a:xfrm>
          <a:custGeom>
            <a:avLst/>
            <a:gdLst/>
            <a:ahLst/>
            <a:cxnLst/>
            <a:rect l="0" t="0" r="0" b="0"/>
            <a:pathLst>
              <a:path w="95" h="36000">
                <a:moveTo>
                  <a:pt x="0" y="0"/>
                </a:moveTo>
                <a:lnTo>
                  <a:pt x="0" y="36000"/>
                </a:lnTo>
              </a:path>
            </a:pathLst>
          </a:custGeom>
          <a:noFill/>
          <a:ln w="8255">
            <a:solidFill>
              <a:srgbClr val="77828C"/>
            </a:solidFill>
          </a:ln>
        </p:spPr>
      </p:sp>
      <p:sp>
        <p:nvSpPr>
          <p:cNvPr id="60019" name="Build | denoising transition 3 head">
            <a:extLst>
              <a:ext uri="{FF2B5EF4-FFF2-40B4-BE49-F238E27FC236}">
                <a16:creationId xmlns:a16="http://schemas.microsoft.com/office/drawing/2014/main" id="{C3993C60-D049-4AD1-B0B1-2EC34F7CE2D5}"/>
              </a:ext>
            </a:extLst>
          </p:cNvPr>
          <p:cNvSpPr>
            <a:spLocks noGrp="1"/>
          </p:cNvSpPr>
          <p:nvPr/>
        </p:nvSpPr>
        <p:spPr>
          <a:xfrm>
            <a:off x="5684670" y="3877058"/>
            <a:ext cx="28261" cy="27142"/>
          </a:xfrm>
          <a:custGeom>
            <a:avLst/>
            <a:gdLst/>
            <a:ahLst/>
            <a:cxnLst/>
            <a:rect l="0" t="0" r="0" b="0"/>
            <a:pathLst>
              <a:path w="28261" h="27142">
                <a:moveTo>
                  <a:pt x="0" y="0"/>
                </a:moveTo>
                <a:lnTo>
                  <a:pt x="14130" y="27142"/>
                </a:lnTo>
                <a:lnTo>
                  <a:pt x="28261" y="0"/>
                </a:lnTo>
              </a:path>
            </a:pathLst>
          </a:custGeom>
          <a:noFill/>
          <a:ln w="8255">
            <a:solidFill>
              <a:srgbClr val="77828C"/>
            </a:solidFill>
          </a:ln>
        </p:spPr>
      </p:sp>
      <p:sp>
        <p:nvSpPr>
          <p:cNvPr id="60020" name="Build | denoising stage 4">
            <a:extLst>
              <a:ext uri="{FF2B5EF4-FFF2-40B4-BE49-F238E27FC236}">
                <a16:creationId xmlns:a16="http://schemas.microsoft.com/office/drawing/2014/main" id="{D0691BAF-6893-4F37-8A7D-5D02B526818F}"/>
              </a:ext>
            </a:extLst>
          </p:cNvPr>
          <p:cNvSpPr>
            <a:spLocks noGrp="1"/>
          </p:cNvSpPr>
          <p:nvPr/>
        </p:nvSpPr>
        <p:spPr>
          <a:xfrm>
            <a:off x="4996800" y="4006800"/>
            <a:ext cx="324000" cy="118800"/>
          </a:xfrm>
          <a:prstGeom prst="rect">
            <a:avLst/>
          </a:prstGeom>
          <a:noFill/>
          <a:ln w="0">
            <a:noFill/>
          </a:ln>
        </p:spPr>
        <p:txBody>
          <a:bodyPr wrap="none" lIns="0" tIns="0" rIns="0" bIns="0" anchor="ctr">
            <a:noAutofit/>
          </a:bodyPr>
          <a:lstStyle>
            <a:defPPr algn="ctr">
              <a:defRPr sz="580" b="0">
                <a:solidFill>
                  <a:srgbClr val="596873"/>
                </a:solidFill>
                <a:latin typeface="Arial"/>
                <a:ea typeface="Arial"/>
                <a:cs typeface="Arial"/>
              </a:defRPr>
            </a:defPPr>
            <a:lvl1pPr algn="ctr">
              <a:defRPr sz="580" b="0">
                <a:solidFill>
                  <a:srgbClr val="596873"/>
                </a:solidFill>
                <a:latin typeface="Arial"/>
                <a:ea typeface="Arial"/>
                <a:cs typeface="Arial"/>
              </a:defRPr>
            </a:lvl1pPr>
            <a:lvl2pPr algn="ctr">
              <a:defRPr sz="580" b="0">
                <a:solidFill>
                  <a:srgbClr val="596873"/>
                </a:solidFill>
                <a:latin typeface="Arial"/>
                <a:ea typeface="Arial"/>
                <a:cs typeface="Arial"/>
              </a:defRPr>
            </a:lvl2pPr>
            <a:lvl3pPr algn="ctr">
              <a:defRPr sz="580" b="0">
                <a:solidFill>
                  <a:srgbClr val="596873"/>
                </a:solidFill>
                <a:latin typeface="Arial"/>
                <a:ea typeface="Arial"/>
                <a:cs typeface="Arial"/>
              </a:defRPr>
            </a:lvl3pPr>
            <a:lvl4pPr algn="ctr">
              <a:defRPr sz="580" b="0">
                <a:solidFill>
                  <a:srgbClr val="596873"/>
                </a:solidFill>
                <a:latin typeface="Arial"/>
                <a:ea typeface="Arial"/>
                <a:cs typeface="Arial"/>
              </a:defRPr>
            </a:lvl4pPr>
            <a:lvl5pPr algn="ctr">
              <a:defRPr sz="580" b="0">
                <a:solidFill>
                  <a:srgbClr val="596873"/>
                </a:solidFill>
                <a:latin typeface="Arial"/>
                <a:ea typeface="Arial"/>
                <a:cs typeface="Arial"/>
              </a:defRPr>
            </a:lvl5pPr>
            <a:lvl6pPr algn="ctr">
              <a:defRPr sz="580" b="0">
                <a:solidFill>
                  <a:srgbClr val="596873"/>
                </a:solidFill>
                <a:latin typeface="Arial"/>
                <a:ea typeface="Arial"/>
                <a:cs typeface="Arial"/>
              </a:defRPr>
            </a:lvl6pPr>
            <a:lvl7pPr algn="ctr">
              <a:defRPr sz="580" b="0">
                <a:solidFill>
                  <a:srgbClr val="596873"/>
                </a:solidFill>
                <a:latin typeface="Arial"/>
                <a:ea typeface="Arial"/>
                <a:cs typeface="Arial"/>
              </a:defRPr>
            </a:lvl7pPr>
            <a:lvl8pPr algn="ctr">
              <a:defRPr sz="580" b="0">
                <a:solidFill>
                  <a:srgbClr val="596873"/>
                </a:solidFill>
                <a:latin typeface="Arial"/>
                <a:ea typeface="Arial"/>
                <a:cs typeface="Arial"/>
              </a:defRPr>
            </a:lvl8pPr>
            <a:lvl9pPr algn="ctr">
              <a:defRPr sz="580" b="0">
                <a:solidFill>
                  <a:srgbClr val="596873"/>
                </a:solidFill>
                <a:latin typeface="Arial"/>
                <a:ea typeface="Arial"/>
                <a:cs typeface="Arial"/>
              </a:defRPr>
            </a:lvl9pPr>
          </a:lstStyle>
          <a:p>
            <a:pPr algn="ctr">
              <a:defRPr sz="580" b="0">
                <a:solidFill>
                  <a:srgbClr val="596873"/>
                </a:solidFill>
                <a:latin typeface="Arial"/>
                <a:ea typeface="Arial"/>
                <a:cs typeface="Arial"/>
              </a:defRPr>
            </a:pPr>
            <a:r>
              <a:rPr sz="580" b="0">
                <a:solidFill>
                  <a:srgbClr val="596873"/>
                </a:solidFill>
                <a:latin typeface="Arial"/>
                <a:ea typeface="Arial"/>
                <a:cs typeface="Arial"/>
              </a:rPr>
              <a:t>Pose</a:t>
            </a:r>
          </a:p>
        </p:txBody>
      </p:sp>
      <p:pic>
        <p:nvPicPr>
          <p:cNvPr id="60021" name="图片 60020">
            <a:extLst>
              <a:ext uri="{FF2B5EF4-FFF2-40B4-BE49-F238E27FC236}">
                <a16:creationId xmlns:a16="http://schemas.microsoft.com/office/drawing/2014/main" id="{D7159C06-D149-4653-9A75-A6A0D31FC7B4}"/>
              </a:ext>
            </a:extLst>
          </p:cNvPr>
          <p:cNvPicPr>
            <a:picLocks noChangeAspect="1"/>
          </p:cNvPicPr>
          <p:nvPr/>
        </p:nvPicPr>
        <p:blipFill>
          <a:blip r:embed="rId10"/>
          <a:stretch/>
        </p:blipFill>
        <p:spPr>
          <a:xfrm>
            <a:off x="5407892" y="3895200"/>
            <a:ext cx="578215" cy="417600"/>
          </a:xfrm>
          <a:prstGeom prst="rect">
            <a:avLst/>
          </a:prstGeom>
        </p:spPr>
      </p:pic>
    </p:spTree>
    <p:extLst>
      <p:ext uri="{BB962C8B-B14F-4D97-AF65-F5344CB8AC3E}">
        <p14:creationId xmlns:p14="http://schemas.microsoft.com/office/powerpoint/2010/main" val="3946011759"/>
      </p:ext>
    </p:extLst>
  </p:cSld>
  <p:clrMapOvr>
    <a:masterClrMapping/>
  </p:clrMapOvr>
  <p:extLst>
    <p:ext uri="{6950BFC3-D8DA-4A85-94F7-54DA5524770B}">
      <p188:commentRel xmlns:p188="http://schemas.microsoft.com/office/powerpoint/2018/8/main" r:id="rId3"/>
    </p:ext>
  </p:extLs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A7B61D-21A6-FDD9-7192-F188A2EF50A9}"/>
            </a:ext>
          </a:extLst>
        </p:cNvPr>
        <p:cNvGrpSpPr/>
        <p:nvPr/>
      </p:nvGrpSpPr>
      <p:grpSpPr>
        <a:xfrm>
          <a:off x="0" y="0"/>
          <a:ext cx="0" cy="0"/>
          <a:chOff x="0" y="0"/>
          <a:chExt cx="0" cy="0"/>
        </a:xfrm>
      </p:grpSpPr>
      <p:sp>
        <p:nvSpPr>
          <p:cNvPr id="4" name="Panel | Build background">
            <a:extLst>
              <a:ext uri="{FF2B5EF4-FFF2-40B4-BE49-F238E27FC236}">
                <a16:creationId xmlns:a16="http://schemas.microsoft.com/office/drawing/2014/main" id="{5E686B21-E8B7-AC16-EC64-C2A3F2E0D587}"/>
              </a:ext>
            </a:extLst>
          </p:cNvPr>
          <p:cNvSpPr/>
          <p:nvPr/>
        </p:nvSpPr>
        <p:spPr>
          <a:xfrm>
            <a:off x="4868797" y="84564"/>
            <a:ext cx="1354615" cy="4331875"/>
          </a:xfrm>
          <a:prstGeom prst="roundRect">
            <a:avLst>
              <a:gd name="adj" fmla="val 2000"/>
            </a:avLst>
          </a:prstGeom>
          <a:solidFill>
            <a:srgbClr val="FAF6EE"/>
          </a:solidFill>
          <a:ln w="9720">
            <a:solidFill>
              <a:srgbClr val="E3D9C6"/>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dirty="0"/>
          </a:p>
        </p:txBody>
      </p:sp>
      <p:sp>
        <p:nvSpPr>
          <p:cNvPr id="11" name="TextBox 8">
            <a:extLst>
              <a:ext uri="{FF2B5EF4-FFF2-40B4-BE49-F238E27FC236}">
                <a16:creationId xmlns:a16="http://schemas.microsoft.com/office/drawing/2014/main" id="{B921C642-6CC8-14CF-3FCA-07998EEF0004}"/>
              </a:ext>
            </a:extLst>
          </p:cNvPr>
          <p:cNvSpPr txBox="1"/>
          <p:nvPr/>
        </p:nvSpPr>
        <p:spPr>
          <a:xfrm>
            <a:off x="4902380" y="107125"/>
            <a:ext cx="174028" cy="149656"/>
          </a:xfrm>
          <a:prstGeom prst="rect">
            <a:avLst/>
          </a:prstGeom>
          <a:noFill/>
        </p:spPr>
        <p:txBody>
          <a:bodyPr wrap="square" lIns="0" tIns="0" rIns="0" bIns="0" anchor="ctr">
            <a:spAutoFit/>
          </a:bodyPr>
          <a:lstStyle/>
          <a:p>
            <a:pPr algn="l">
              <a:lnSpc>
                <a:spcPct val="105000"/>
              </a:lnSpc>
            </a:pPr>
            <a:r>
              <a:rPr sz="995" b="1" dirty="0">
                <a:solidFill>
                  <a:srgbClr val="263442"/>
                </a:solidFill>
                <a:latin typeface="Arial"/>
              </a:rPr>
              <a:t>c</a:t>
            </a:r>
          </a:p>
        </p:txBody>
      </p:sp>
      <p:sp>
        <p:nvSpPr>
          <p:cNvPr id="12" name="TextBox 9">
            <a:extLst>
              <a:ext uri="{FF2B5EF4-FFF2-40B4-BE49-F238E27FC236}">
                <a16:creationId xmlns:a16="http://schemas.microsoft.com/office/drawing/2014/main" id="{1332DD1B-BCC3-3A24-30C5-A3E6D95892AE}"/>
              </a:ext>
            </a:extLst>
          </p:cNvPr>
          <p:cNvSpPr txBox="1"/>
          <p:nvPr/>
        </p:nvSpPr>
        <p:spPr>
          <a:xfrm>
            <a:off x="5060587" y="120126"/>
            <a:ext cx="1202377" cy="239809"/>
          </a:xfrm>
          <a:prstGeom prst="rect">
            <a:avLst/>
          </a:prstGeom>
          <a:noFill/>
        </p:spPr>
        <p:txBody>
          <a:bodyPr wrap="square" lIns="0" tIns="0" rIns="0" bIns="0" anchor="ctr">
            <a:spAutoFit/>
          </a:bodyPr>
          <a:lstStyle/>
          <a:p>
            <a:pPr algn="l">
              <a:lnSpc>
                <a:spcPct val="98000"/>
              </a:lnSpc>
            </a:pPr>
            <a:r>
              <a:rPr sz="795" dirty="0">
                <a:solidFill>
                  <a:srgbClr val="263442"/>
                </a:solidFill>
                <a:latin typeface="Arial"/>
              </a:rPr>
              <a:t>Build: downstream</a:t>
            </a:r>
          </a:p>
          <a:p>
            <a:pPr algn="l">
              <a:lnSpc>
                <a:spcPct val="98000"/>
              </a:lnSpc>
            </a:pPr>
            <a:r>
              <a:rPr sz="795" dirty="0">
                <a:solidFill>
                  <a:srgbClr val="263442"/>
                </a:solidFill>
                <a:latin typeface="Arial"/>
              </a:rPr>
              <a:t>pose reconstruction</a:t>
            </a:r>
          </a:p>
        </p:txBody>
      </p:sp>
      <p:sp>
        <p:nvSpPr>
          <p:cNvPr id="768" name="Build four inputs">
            <a:extLst>
              <a:ext uri="{FF2B5EF4-FFF2-40B4-BE49-F238E27FC236}">
                <a16:creationId xmlns:a16="http://schemas.microsoft.com/office/drawing/2014/main" id="{718B6BE2-227E-FEF3-B9CF-9AFB47E1DAB2}"/>
              </a:ext>
            </a:extLst>
          </p:cNvPr>
          <p:cNvSpPr>
            <a:spLocks noGrp="1"/>
          </p:cNvSpPr>
          <p:nvPr/>
        </p:nvSpPr>
        <p:spPr>
          <a:xfrm>
            <a:off x="4963973" y="420252"/>
            <a:ext cx="1158792" cy="1302153"/>
          </a:xfrm>
          <a:prstGeom prst="roundRect">
            <a:avLst>
              <a:gd name="adj" fmla="val 4554"/>
            </a:avLst>
          </a:prstGeom>
          <a:solidFill>
            <a:srgbClr val="FFFFFF"/>
          </a:solidFill>
          <a:ln w="7290">
            <a:solidFill>
              <a:srgbClr val="DFD6C3"/>
            </a:solidFill>
            <a:prstDash val="solid"/>
          </a:ln>
        </p:spPr>
        <p:txBody>
          <a:bodyPr/>
          <a:lstStyle/>
          <a:p>
            <a:endParaRPr lang="zh-CN" altLang="en-US" dirty="0"/>
          </a:p>
        </p:txBody>
      </p:sp>
      <p:sp>
        <p:nvSpPr>
          <p:cNvPr id="769" name="Site label">
            <a:extLst>
              <a:ext uri="{FF2B5EF4-FFF2-40B4-BE49-F238E27FC236}">
                <a16:creationId xmlns:a16="http://schemas.microsoft.com/office/drawing/2014/main" id="{2F6C99A7-4E05-9371-8BB1-194EC7B49283}"/>
              </a:ext>
            </a:extLst>
          </p:cNvPr>
          <p:cNvSpPr>
            <a:spLocks noGrp="1"/>
          </p:cNvSpPr>
          <p:nvPr/>
        </p:nvSpPr>
        <p:spPr>
          <a:xfrm>
            <a:off x="4992638" y="834972"/>
            <a:ext cx="514364" cy="101253"/>
          </a:xfrm>
          <a:prstGeom prst="rect">
            <a:avLst/>
          </a:prstGeom>
          <a:noFill/>
          <a:ln w="6885">
            <a:noFill/>
            <a:prstDash val="solid"/>
          </a:ln>
        </p:spPr>
        <p:txBody>
          <a:bodyPr lIns="0" tIns="0" rIns="0" bIns="0" anchor="ctr"/>
          <a:lstStyle>
            <a:defPPr algn="ctr">
              <a:defRPr sz="695" b="1">
                <a:solidFill>
                  <a:srgbClr val="263442"/>
                </a:solidFill>
                <a:latin typeface="Arial"/>
                <a:ea typeface="Arial"/>
                <a:cs typeface="Arial"/>
              </a:defRPr>
            </a:defPPr>
            <a:lvl1pPr algn="ctr">
              <a:defRPr sz="695" b="1">
                <a:solidFill>
                  <a:srgbClr val="263442"/>
                </a:solidFill>
                <a:latin typeface="Arial"/>
                <a:ea typeface="Arial"/>
                <a:cs typeface="Arial"/>
              </a:defRPr>
            </a:lvl1pPr>
            <a:lvl2pPr algn="ctr">
              <a:defRPr sz="695" b="1">
                <a:solidFill>
                  <a:srgbClr val="263442"/>
                </a:solidFill>
                <a:latin typeface="Arial"/>
                <a:ea typeface="Arial"/>
                <a:cs typeface="Arial"/>
              </a:defRPr>
            </a:lvl2pPr>
            <a:lvl3pPr algn="ctr">
              <a:defRPr sz="695" b="1">
                <a:solidFill>
                  <a:srgbClr val="263442"/>
                </a:solidFill>
                <a:latin typeface="Arial"/>
                <a:ea typeface="Arial"/>
                <a:cs typeface="Arial"/>
              </a:defRPr>
            </a:lvl3pPr>
            <a:lvl4pPr algn="ctr">
              <a:defRPr sz="695" b="1">
                <a:solidFill>
                  <a:srgbClr val="263442"/>
                </a:solidFill>
                <a:latin typeface="Arial"/>
                <a:ea typeface="Arial"/>
                <a:cs typeface="Arial"/>
              </a:defRPr>
            </a:lvl4pPr>
            <a:lvl5pPr algn="ctr">
              <a:defRPr sz="695" b="1">
                <a:solidFill>
                  <a:srgbClr val="263442"/>
                </a:solidFill>
                <a:latin typeface="Arial"/>
                <a:ea typeface="Arial"/>
                <a:cs typeface="Arial"/>
              </a:defRPr>
            </a:lvl5pPr>
            <a:lvl6pPr algn="ctr">
              <a:defRPr sz="695" b="1">
                <a:solidFill>
                  <a:srgbClr val="263442"/>
                </a:solidFill>
                <a:latin typeface="Arial"/>
                <a:ea typeface="Arial"/>
                <a:cs typeface="Arial"/>
              </a:defRPr>
            </a:lvl6pPr>
            <a:lvl7pPr algn="ctr">
              <a:defRPr sz="695" b="1">
                <a:solidFill>
                  <a:srgbClr val="263442"/>
                </a:solidFill>
                <a:latin typeface="Arial"/>
                <a:ea typeface="Arial"/>
                <a:cs typeface="Arial"/>
              </a:defRPr>
            </a:lvl7pPr>
            <a:lvl8pPr algn="ctr">
              <a:defRPr sz="695" b="1">
                <a:solidFill>
                  <a:srgbClr val="263442"/>
                </a:solidFill>
                <a:latin typeface="Arial"/>
                <a:ea typeface="Arial"/>
                <a:cs typeface="Arial"/>
              </a:defRPr>
            </a:lvl8pPr>
            <a:lvl9pPr algn="ctr">
              <a:defRPr sz="695" b="1">
                <a:solidFill>
                  <a:srgbClr val="263442"/>
                </a:solidFill>
                <a:latin typeface="Arial"/>
                <a:ea typeface="Arial"/>
                <a:cs typeface="Arial"/>
              </a:defRPr>
            </a:lvl9pPr>
          </a:lstStyle>
          <a:p>
            <a:pPr algn="ctr">
              <a:defRPr sz="695" b="1">
                <a:solidFill>
                  <a:srgbClr val="263442"/>
                </a:solidFill>
                <a:latin typeface="Arial"/>
                <a:ea typeface="Arial"/>
                <a:cs typeface="Arial"/>
              </a:defRPr>
            </a:pPr>
            <a:r>
              <a:rPr sz="695" b="0" dirty="0">
                <a:solidFill>
                  <a:srgbClr val="263442"/>
                </a:solidFill>
                <a:latin typeface="Arial"/>
                <a:ea typeface="Arial"/>
                <a:cs typeface="Arial"/>
              </a:rPr>
              <a:t>Site</a:t>
            </a:r>
          </a:p>
        </p:txBody>
      </p:sp>
      <p:sp>
        <p:nvSpPr>
          <p:cNvPr id="770" name="Site provenance">
            <a:extLst>
              <a:ext uri="{FF2B5EF4-FFF2-40B4-BE49-F238E27FC236}">
                <a16:creationId xmlns:a16="http://schemas.microsoft.com/office/drawing/2014/main" id="{6A8CF15F-3469-C462-A48A-B8D432911F48}"/>
              </a:ext>
            </a:extLst>
          </p:cNvPr>
          <p:cNvSpPr>
            <a:spLocks noGrp="1"/>
          </p:cNvSpPr>
          <p:nvPr/>
        </p:nvSpPr>
        <p:spPr>
          <a:xfrm>
            <a:off x="4999032" y="921461"/>
            <a:ext cx="514364" cy="85052"/>
          </a:xfrm>
          <a:prstGeom prst="rect">
            <a:avLst/>
          </a:prstGeom>
          <a:noFill/>
          <a:ln w="6885">
            <a:noFill/>
            <a:prstDash val="solid"/>
          </a:ln>
        </p:spPr>
        <p:txBody>
          <a:bodyPr lIns="0" tIns="0" rIns="0" bIns="0" anchor="ctr"/>
          <a:lstStyle>
            <a:defPPr algn="ctr">
              <a:defRPr sz="590" b="0">
                <a:solidFill>
                  <a:srgbClr val="263442"/>
                </a:solidFill>
                <a:latin typeface="Arial"/>
                <a:ea typeface="Arial"/>
                <a:cs typeface="Arial"/>
              </a:defRPr>
            </a:defPPr>
            <a:lvl1pPr algn="ctr">
              <a:defRPr sz="590" b="0">
                <a:solidFill>
                  <a:srgbClr val="263442"/>
                </a:solidFill>
                <a:latin typeface="Arial"/>
                <a:ea typeface="Arial"/>
                <a:cs typeface="Arial"/>
              </a:defRPr>
            </a:lvl1pPr>
            <a:lvl2pPr algn="ctr">
              <a:defRPr sz="590" b="0">
                <a:solidFill>
                  <a:srgbClr val="263442"/>
                </a:solidFill>
                <a:latin typeface="Arial"/>
                <a:ea typeface="Arial"/>
                <a:cs typeface="Arial"/>
              </a:defRPr>
            </a:lvl2pPr>
            <a:lvl3pPr algn="ctr">
              <a:defRPr sz="590" b="0">
                <a:solidFill>
                  <a:srgbClr val="263442"/>
                </a:solidFill>
                <a:latin typeface="Arial"/>
                <a:ea typeface="Arial"/>
                <a:cs typeface="Arial"/>
              </a:defRPr>
            </a:lvl3pPr>
            <a:lvl4pPr algn="ctr">
              <a:defRPr sz="590" b="0">
                <a:solidFill>
                  <a:srgbClr val="263442"/>
                </a:solidFill>
                <a:latin typeface="Arial"/>
                <a:ea typeface="Arial"/>
                <a:cs typeface="Arial"/>
              </a:defRPr>
            </a:lvl4pPr>
            <a:lvl5pPr algn="ctr">
              <a:defRPr sz="590" b="0">
                <a:solidFill>
                  <a:srgbClr val="263442"/>
                </a:solidFill>
                <a:latin typeface="Arial"/>
                <a:ea typeface="Arial"/>
                <a:cs typeface="Arial"/>
              </a:defRPr>
            </a:lvl5pPr>
            <a:lvl6pPr algn="ctr">
              <a:defRPr sz="590" b="0">
                <a:solidFill>
                  <a:srgbClr val="263442"/>
                </a:solidFill>
                <a:latin typeface="Arial"/>
                <a:ea typeface="Arial"/>
                <a:cs typeface="Arial"/>
              </a:defRPr>
            </a:lvl6pPr>
            <a:lvl7pPr algn="ctr">
              <a:defRPr sz="590" b="0">
                <a:solidFill>
                  <a:srgbClr val="263442"/>
                </a:solidFill>
                <a:latin typeface="Arial"/>
                <a:ea typeface="Arial"/>
                <a:cs typeface="Arial"/>
              </a:defRPr>
            </a:lvl7pPr>
            <a:lvl8pPr algn="ctr">
              <a:defRPr sz="590" b="0">
                <a:solidFill>
                  <a:srgbClr val="263442"/>
                </a:solidFill>
                <a:latin typeface="Arial"/>
                <a:ea typeface="Arial"/>
                <a:cs typeface="Arial"/>
              </a:defRPr>
            </a:lvl8pPr>
            <a:lvl9pPr algn="ctr">
              <a:defRPr sz="590" b="0">
                <a:solidFill>
                  <a:srgbClr val="263442"/>
                </a:solidFill>
                <a:latin typeface="Arial"/>
                <a:ea typeface="Arial"/>
                <a:cs typeface="Arial"/>
              </a:defRPr>
            </a:lvl9pPr>
          </a:lstStyle>
          <a:p>
            <a:pPr algn="ctr">
              <a:defRPr sz="590" b="0">
                <a:solidFill>
                  <a:srgbClr val="263442"/>
                </a:solidFill>
                <a:latin typeface="Arial"/>
                <a:ea typeface="Arial"/>
                <a:cs typeface="Arial"/>
              </a:defRPr>
            </a:pPr>
            <a:r>
              <a:rPr sz="550" dirty="0">
                <a:solidFill>
                  <a:srgbClr val="263442"/>
                </a:solidFill>
                <a:latin typeface="Arial"/>
                <a:ea typeface="Arial"/>
                <a:cs typeface="Arial"/>
              </a:rPr>
              <a:t>from Find</a:t>
            </a:r>
          </a:p>
        </p:txBody>
      </p:sp>
      <p:sp>
        <p:nvSpPr>
          <p:cNvPr id="771" name="Pocket label">
            <a:extLst>
              <a:ext uri="{FF2B5EF4-FFF2-40B4-BE49-F238E27FC236}">
                <a16:creationId xmlns:a16="http://schemas.microsoft.com/office/drawing/2014/main" id="{44DC99B0-8CEC-72E3-BE05-76B9D7EBD192}"/>
              </a:ext>
            </a:extLst>
          </p:cNvPr>
          <p:cNvSpPr>
            <a:spLocks noGrp="1"/>
          </p:cNvSpPr>
          <p:nvPr/>
        </p:nvSpPr>
        <p:spPr>
          <a:xfrm>
            <a:off x="5581260" y="854408"/>
            <a:ext cx="514364" cy="101253"/>
          </a:xfrm>
          <a:prstGeom prst="rect">
            <a:avLst/>
          </a:prstGeom>
          <a:noFill/>
          <a:ln w="6885">
            <a:noFill/>
            <a:prstDash val="solid"/>
          </a:ln>
        </p:spPr>
        <p:txBody>
          <a:bodyPr lIns="0" tIns="0" rIns="0" bIns="0" anchor="ctr"/>
          <a:lstStyle>
            <a:defPPr algn="ctr">
              <a:defRPr sz="695" b="1">
                <a:solidFill>
                  <a:srgbClr val="263442"/>
                </a:solidFill>
                <a:latin typeface="Arial"/>
                <a:ea typeface="Arial"/>
                <a:cs typeface="Arial"/>
              </a:defRPr>
            </a:defPPr>
            <a:lvl1pPr algn="ctr">
              <a:defRPr sz="695" b="1">
                <a:solidFill>
                  <a:srgbClr val="263442"/>
                </a:solidFill>
                <a:latin typeface="Arial"/>
                <a:ea typeface="Arial"/>
                <a:cs typeface="Arial"/>
              </a:defRPr>
            </a:lvl1pPr>
            <a:lvl2pPr algn="ctr">
              <a:defRPr sz="695" b="1">
                <a:solidFill>
                  <a:srgbClr val="263442"/>
                </a:solidFill>
                <a:latin typeface="Arial"/>
                <a:ea typeface="Arial"/>
                <a:cs typeface="Arial"/>
              </a:defRPr>
            </a:lvl2pPr>
            <a:lvl3pPr algn="ctr">
              <a:defRPr sz="695" b="1">
                <a:solidFill>
                  <a:srgbClr val="263442"/>
                </a:solidFill>
                <a:latin typeface="Arial"/>
                <a:ea typeface="Arial"/>
                <a:cs typeface="Arial"/>
              </a:defRPr>
            </a:lvl3pPr>
            <a:lvl4pPr algn="ctr">
              <a:defRPr sz="695" b="1">
                <a:solidFill>
                  <a:srgbClr val="263442"/>
                </a:solidFill>
                <a:latin typeface="Arial"/>
                <a:ea typeface="Arial"/>
                <a:cs typeface="Arial"/>
              </a:defRPr>
            </a:lvl4pPr>
            <a:lvl5pPr algn="ctr">
              <a:defRPr sz="695" b="1">
                <a:solidFill>
                  <a:srgbClr val="263442"/>
                </a:solidFill>
                <a:latin typeface="Arial"/>
                <a:ea typeface="Arial"/>
                <a:cs typeface="Arial"/>
              </a:defRPr>
            </a:lvl5pPr>
            <a:lvl6pPr algn="ctr">
              <a:defRPr sz="695" b="1">
                <a:solidFill>
                  <a:srgbClr val="263442"/>
                </a:solidFill>
                <a:latin typeface="Arial"/>
                <a:ea typeface="Arial"/>
                <a:cs typeface="Arial"/>
              </a:defRPr>
            </a:lvl6pPr>
            <a:lvl7pPr algn="ctr">
              <a:defRPr sz="695" b="1">
                <a:solidFill>
                  <a:srgbClr val="263442"/>
                </a:solidFill>
                <a:latin typeface="Arial"/>
                <a:ea typeface="Arial"/>
                <a:cs typeface="Arial"/>
              </a:defRPr>
            </a:lvl7pPr>
            <a:lvl8pPr algn="ctr">
              <a:defRPr sz="695" b="1">
                <a:solidFill>
                  <a:srgbClr val="263442"/>
                </a:solidFill>
                <a:latin typeface="Arial"/>
                <a:ea typeface="Arial"/>
                <a:cs typeface="Arial"/>
              </a:defRPr>
            </a:lvl8pPr>
            <a:lvl9pPr algn="ctr">
              <a:defRPr sz="695" b="1">
                <a:solidFill>
                  <a:srgbClr val="263442"/>
                </a:solidFill>
                <a:latin typeface="Arial"/>
                <a:ea typeface="Arial"/>
                <a:cs typeface="Arial"/>
              </a:defRPr>
            </a:lvl9pPr>
          </a:lstStyle>
          <a:p>
            <a:pPr algn="ctr">
              <a:defRPr sz="695" b="1">
                <a:solidFill>
                  <a:srgbClr val="263442"/>
                </a:solidFill>
                <a:latin typeface="Arial"/>
                <a:ea typeface="Arial"/>
                <a:cs typeface="Arial"/>
              </a:defRPr>
            </a:pPr>
            <a:r>
              <a:rPr sz="695" b="0" dirty="0">
                <a:solidFill>
                  <a:srgbClr val="263442"/>
                </a:solidFill>
                <a:latin typeface="Arial"/>
                <a:ea typeface="Arial"/>
                <a:cs typeface="Arial"/>
              </a:rPr>
              <a:t>Pocket</a:t>
            </a:r>
          </a:p>
        </p:txBody>
      </p:sp>
      <p:sp>
        <p:nvSpPr>
          <p:cNvPr id="773" name="SMILES label">
            <a:extLst>
              <a:ext uri="{FF2B5EF4-FFF2-40B4-BE49-F238E27FC236}">
                <a16:creationId xmlns:a16="http://schemas.microsoft.com/office/drawing/2014/main" id="{EF9FBD5B-C8BE-DBAF-5691-AA51C6AF0B5C}"/>
              </a:ext>
            </a:extLst>
          </p:cNvPr>
          <p:cNvSpPr>
            <a:spLocks noGrp="1"/>
          </p:cNvSpPr>
          <p:nvPr/>
        </p:nvSpPr>
        <p:spPr>
          <a:xfrm>
            <a:off x="4999664" y="1480722"/>
            <a:ext cx="514364" cy="101253"/>
          </a:xfrm>
          <a:prstGeom prst="rect">
            <a:avLst/>
          </a:prstGeom>
          <a:noFill/>
          <a:ln w="6885">
            <a:noFill/>
            <a:prstDash val="solid"/>
          </a:ln>
        </p:spPr>
        <p:txBody>
          <a:bodyPr lIns="0" tIns="0" rIns="0" bIns="0" anchor="ctr"/>
          <a:lstStyle>
            <a:defPPr algn="ctr">
              <a:defRPr sz="695" b="1">
                <a:solidFill>
                  <a:srgbClr val="263442"/>
                </a:solidFill>
                <a:latin typeface="Arial"/>
                <a:ea typeface="Arial"/>
                <a:cs typeface="Arial"/>
              </a:defRPr>
            </a:defPPr>
            <a:lvl1pPr algn="ctr">
              <a:defRPr sz="695" b="1">
                <a:solidFill>
                  <a:srgbClr val="263442"/>
                </a:solidFill>
                <a:latin typeface="Arial"/>
                <a:ea typeface="Arial"/>
                <a:cs typeface="Arial"/>
              </a:defRPr>
            </a:lvl1pPr>
            <a:lvl2pPr algn="ctr">
              <a:defRPr sz="695" b="1">
                <a:solidFill>
                  <a:srgbClr val="263442"/>
                </a:solidFill>
                <a:latin typeface="Arial"/>
                <a:ea typeface="Arial"/>
                <a:cs typeface="Arial"/>
              </a:defRPr>
            </a:lvl2pPr>
            <a:lvl3pPr algn="ctr">
              <a:defRPr sz="695" b="1">
                <a:solidFill>
                  <a:srgbClr val="263442"/>
                </a:solidFill>
                <a:latin typeface="Arial"/>
                <a:ea typeface="Arial"/>
                <a:cs typeface="Arial"/>
              </a:defRPr>
            </a:lvl3pPr>
            <a:lvl4pPr algn="ctr">
              <a:defRPr sz="695" b="1">
                <a:solidFill>
                  <a:srgbClr val="263442"/>
                </a:solidFill>
                <a:latin typeface="Arial"/>
                <a:ea typeface="Arial"/>
                <a:cs typeface="Arial"/>
              </a:defRPr>
            </a:lvl4pPr>
            <a:lvl5pPr algn="ctr">
              <a:defRPr sz="695" b="1">
                <a:solidFill>
                  <a:srgbClr val="263442"/>
                </a:solidFill>
                <a:latin typeface="Arial"/>
                <a:ea typeface="Arial"/>
                <a:cs typeface="Arial"/>
              </a:defRPr>
            </a:lvl5pPr>
            <a:lvl6pPr algn="ctr">
              <a:defRPr sz="695" b="1">
                <a:solidFill>
                  <a:srgbClr val="263442"/>
                </a:solidFill>
                <a:latin typeface="Arial"/>
                <a:ea typeface="Arial"/>
                <a:cs typeface="Arial"/>
              </a:defRPr>
            </a:lvl6pPr>
            <a:lvl7pPr algn="ctr">
              <a:defRPr sz="695" b="1">
                <a:solidFill>
                  <a:srgbClr val="263442"/>
                </a:solidFill>
                <a:latin typeface="Arial"/>
                <a:ea typeface="Arial"/>
                <a:cs typeface="Arial"/>
              </a:defRPr>
            </a:lvl7pPr>
            <a:lvl8pPr algn="ctr">
              <a:defRPr sz="695" b="1">
                <a:solidFill>
                  <a:srgbClr val="263442"/>
                </a:solidFill>
                <a:latin typeface="Arial"/>
                <a:ea typeface="Arial"/>
                <a:cs typeface="Arial"/>
              </a:defRPr>
            </a:lvl8pPr>
            <a:lvl9pPr algn="ctr">
              <a:defRPr sz="695" b="1">
                <a:solidFill>
                  <a:srgbClr val="263442"/>
                </a:solidFill>
                <a:latin typeface="Arial"/>
                <a:ea typeface="Arial"/>
                <a:cs typeface="Arial"/>
              </a:defRPr>
            </a:lvl9pPr>
          </a:lstStyle>
          <a:p>
            <a:pPr algn="ctr">
              <a:defRPr sz="695" b="1">
                <a:solidFill>
                  <a:srgbClr val="263442"/>
                </a:solidFill>
                <a:latin typeface="Arial"/>
                <a:ea typeface="Arial"/>
                <a:cs typeface="Arial"/>
              </a:defRPr>
            </a:pPr>
            <a:r>
              <a:rPr sz="695" b="0" dirty="0">
                <a:solidFill>
                  <a:srgbClr val="263442"/>
                </a:solidFill>
                <a:latin typeface="Arial"/>
                <a:ea typeface="Arial"/>
                <a:cs typeface="Arial"/>
              </a:rPr>
              <a:t>SMILES</a:t>
            </a:r>
          </a:p>
        </p:txBody>
      </p:sp>
      <p:sp>
        <p:nvSpPr>
          <p:cNvPr id="774" name="SMILES provenance">
            <a:extLst>
              <a:ext uri="{FF2B5EF4-FFF2-40B4-BE49-F238E27FC236}">
                <a16:creationId xmlns:a16="http://schemas.microsoft.com/office/drawing/2014/main" id="{F7D858FB-5D9C-1E73-2D33-4BE879B6232B}"/>
              </a:ext>
            </a:extLst>
          </p:cNvPr>
          <p:cNvSpPr>
            <a:spLocks noGrp="1"/>
          </p:cNvSpPr>
          <p:nvPr/>
        </p:nvSpPr>
        <p:spPr>
          <a:xfrm>
            <a:off x="5005380" y="1568821"/>
            <a:ext cx="514364" cy="85052"/>
          </a:xfrm>
          <a:prstGeom prst="rect">
            <a:avLst/>
          </a:prstGeom>
          <a:noFill/>
          <a:ln w="6885">
            <a:noFill/>
            <a:prstDash val="solid"/>
          </a:ln>
        </p:spPr>
        <p:txBody>
          <a:bodyPr lIns="0" tIns="0" rIns="0" bIns="0" anchor="ctr"/>
          <a:lstStyle>
            <a:defPPr algn="ctr">
              <a:defRPr sz="590" b="0">
                <a:solidFill>
                  <a:srgbClr val="263442"/>
                </a:solidFill>
                <a:latin typeface="Arial"/>
                <a:ea typeface="Arial"/>
                <a:cs typeface="Arial"/>
              </a:defRPr>
            </a:defPPr>
            <a:lvl1pPr algn="ctr">
              <a:defRPr sz="590" b="0">
                <a:solidFill>
                  <a:srgbClr val="263442"/>
                </a:solidFill>
                <a:latin typeface="Arial"/>
                <a:ea typeface="Arial"/>
                <a:cs typeface="Arial"/>
              </a:defRPr>
            </a:lvl1pPr>
            <a:lvl2pPr algn="ctr">
              <a:defRPr sz="590" b="0">
                <a:solidFill>
                  <a:srgbClr val="263442"/>
                </a:solidFill>
                <a:latin typeface="Arial"/>
                <a:ea typeface="Arial"/>
                <a:cs typeface="Arial"/>
              </a:defRPr>
            </a:lvl2pPr>
            <a:lvl3pPr algn="ctr">
              <a:defRPr sz="590" b="0">
                <a:solidFill>
                  <a:srgbClr val="263442"/>
                </a:solidFill>
                <a:latin typeface="Arial"/>
                <a:ea typeface="Arial"/>
                <a:cs typeface="Arial"/>
              </a:defRPr>
            </a:lvl3pPr>
            <a:lvl4pPr algn="ctr">
              <a:defRPr sz="590" b="0">
                <a:solidFill>
                  <a:srgbClr val="263442"/>
                </a:solidFill>
                <a:latin typeface="Arial"/>
                <a:ea typeface="Arial"/>
                <a:cs typeface="Arial"/>
              </a:defRPr>
            </a:lvl4pPr>
            <a:lvl5pPr algn="ctr">
              <a:defRPr sz="590" b="0">
                <a:solidFill>
                  <a:srgbClr val="263442"/>
                </a:solidFill>
                <a:latin typeface="Arial"/>
                <a:ea typeface="Arial"/>
                <a:cs typeface="Arial"/>
              </a:defRPr>
            </a:lvl5pPr>
            <a:lvl6pPr algn="ctr">
              <a:defRPr sz="590" b="0">
                <a:solidFill>
                  <a:srgbClr val="263442"/>
                </a:solidFill>
                <a:latin typeface="Arial"/>
                <a:ea typeface="Arial"/>
                <a:cs typeface="Arial"/>
              </a:defRPr>
            </a:lvl6pPr>
            <a:lvl7pPr algn="ctr">
              <a:defRPr sz="590" b="0">
                <a:solidFill>
                  <a:srgbClr val="263442"/>
                </a:solidFill>
                <a:latin typeface="Arial"/>
                <a:ea typeface="Arial"/>
                <a:cs typeface="Arial"/>
              </a:defRPr>
            </a:lvl7pPr>
            <a:lvl8pPr algn="ctr">
              <a:defRPr sz="590" b="0">
                <a:solidFill>
                  <a:srgbClr val="263442"/>
                </a:solidFill>
                <a:latin typeface="Arial"/>
                <a:ea typeface="Arial"/>
                <a:cs typeface="Arial"/>
              </a:defRPr>
            </a:lvl8pPr>
            <a:lvl9pPr algn="ctr">
              <a:defRPr sz="590" b="0">
                <a:solidFill>
                  <a:srgbClr val="263442"/>
                </a:solidFill>
                <a:latin typeface="Arial"/>
                <a:ea typeface="Arial"/>
                <a:cs typeface="Arial"/>
              </a:defRPr>
            </a:lvl9pPr>
          </a:lstStyle>
          <a:p>
            <a:pPr algn="ctr">
              <a:defRPr sz="590" b="0">
                <a:solidFill>
                  <a:srgbClr val="263442"/>
                </a:solidFill>
                <a:latin typeface="Arial"/>
                <a:ea typeface="Arial"/>
                <a:cs typeface="Arial"/>
              </a:defRPr>
            </a:pPr>
            <a:r>
              <a:rPr sz="550" dirty="0">
                <a:solidFill>
                  <a:srgbClr val="263442"/>
                </a:solidFill>
                <a:latin typeface="Arial"/>
                <a:ea typeface="Arial"/>
                <a:cs typeface="Arial"/>
              </a:rPr>
              <a:t>from Match</a:t>
            </a:r>
          </a:p>
        </p:txBody>
      </p:sp>
      <p:sp>
        <p:nvSpPr>
          <p:cNvPr id="775" name="Density input label">
            <a:extLst>
              <a:ext uri="{FF2B5EF4-FFF2-40B4-BE49-F238E27FC236}">
                <a16:creationId xmlns:a16="http://schemas.microsoft.com/office/drawing/2014/main" id="{EB429BD5-EC34-B94F-39F5-A34E4A479F65}"/>
              </a:ext>
            </a:extLst>
          </p:cNvPr>
          <p:cNvSpPr>
            <a:spLocks noGrp="1"/>
          </p:cNvSpPr>
          <p:nvPr/>
        </p:nvSpPr>
        <p:spPr>
          <a:xfrm>
            <a:off x="5574918" y="1480706"/>
            <a:ext cx="514364" cy="101253"/>
          </a:xfrm>
          <a:prstGeom prst="rect">
            <a:avLst/>
          </a:prstGeom>
          <a:noFill/>
          <a:ln w="6885">
            <a:noFill/>
            <a:prstDash val="solid"/>
          </a:ln>
        </p:spPr>
        <p:txBody>
          <a:bodyPr lIns="0" tIns="0" rIns="0" bIns="0" anchor="ctr"/>
          <a:lstStyle>
            <a:defPPr algn="ctr">
              <a:defRPr sz="695" b="1">
                <a:solidFill>
                  <a:srgbClr val="263442"/>
                </a:solidFill>
                <a:latin typeface="Arial"/>
                <a:ea typeface="Arial"/>
                <a:cs typeface="Arial"/>
              </a:defRPr>
            </a:defPPr>
            <a:lvl1pPr algn="ctr">
              <a:defRPr sz="695" b="1">
                <a:solidFill>
                  <a:srgbClr val="263442"/>
                </a:solidFill>
                <a:latin typeface="Arial"/>
                <a:ea typeface="Arial"/>
                <a:cs typeface="Arial"/>
              </a:defRPr>
            </a:lvl1pPr>
            <a:lvl2pPr algn="ctr">
              <a:defRPr sz="695" b="1">
                <a:solidFill>
                  <a:srgbClr val="263442"/>
                </a:solidFill>
                <a:latin typeface="Arial"/>
                <a:ea typeface="Arial"/>
                <a:cs typeface="Arial"/>
              </a:defRPr>
            </a:lvl2pPr>
            <a:lvl3pPr algn="ctr">
              <a:defRPr sz="695" b="1">
                <a:solidFill>
                  <a:srgbClr val="263442"/>
                </a:solidFill>
                <a:latin typeface="Arial"/>
                <a:ea typeface="Arial"/>
                <a:cs typeface="Arial"/>
              </a:defRPr>
            </a:lvl3pPr>
            <a:lvl4pPr algn="ctr">
              <a:defRPr sz="695" b="1">
                <a:solidFill>
                  <a:srgbClr val="263442"/>
                </a:solidFill>
                <a:latin typeface="Arial"/>
                <a:ea typeface="Arial"/>
                <a:cs typeface="Arial"/>
              </a:defRPr>
            </a:lvl4pPr>
            <a:lvl5pPr algn="ctr">
              <a:defRPr sz="695" b="1">
                <a:solidFill>
                  <a:srgbClr val="263442"/>
                </a:solidFill>
                <a:latin typeface="Arial"/>
                <a:ea typeface="Arial"/>
                <a:cs typeface="Arial"/>
              </a:defRPr>
            </a:lvl5pPr>
            <a:lvl6pPr algn="ctr">
              <a:defRPr sz="695" b="1">
                <a:solidFill>
                  <a:srgbClr val="263442"/>
                </a:solidFill>
                <a:latin typeface="Arial"/>
                <a:ea typeface="Arial"/>
                <a:cs typeface="Arial"/>
              </a:defRPr>
            </a:lvl6pPr>
            <a:lvl7pPr algn="ctr">
              <a:defRPr sz="695" b="1">
                <a:solidFill>
                  <a:srgbClr val="263442"/>
                </a:solidFill>
                <a:latin typeface="Arial"/>
                <a:ea typeface="Arial"/>
                <a:cs typeface="Arial"/>
              </a:defRPr>
            </a:lvl7pPr>
            <a:lvl8pPr algn="ctr">
              <a:defRPr sz="695" b="1">
                <a:solidFill>
                  <a:srgbClr val="263442"/>
                </a:solidFill>
                <a:latin typeface="Arial"/>
                <a:ea typeface="Arial"/>
                <a:cs typeface="Arial"/>
              </a:defRPr>
            </a:lvl8pPr>
            <a:lvl9pPr algn="ctr">
              <a:defRPr sz="695" b="1">
                <a:solidFill>
                  <a:srgbClr val="263442"/>
                </a:solidFill>
                <a:latin typeface="Arial"/>
                <a:ea typeface="Arial"/>
                <a:cs typeface="Arial"/>
              </a:defRPr>
            </a:lvl9pPr>
          </a:lstStyle>
          <a:p>
            <a:pPr algn="ctr">
              <a:defRPr sz="695" b="1">
                <a:solidFill>
                  <a:srgbClr val="263442"/>
                </a:solidFill>
                <a:latin typeface="Arial"/>
                <a:ea typeface="Arial"/>
                <a:cs typeface="Arial"/>
              </a:defRPr>
            </a:pPr>
            <a:r>
              <a:rPr sz="695" b="0" dirty="0">
                <a:solidFill>
                  <a:srgbClr val="263442"/>
                </a:solidFill>
                <a:latin typeface="Arial"/>
                <a:ea typeface="Arial"/>
                <a:cs typeface="Arial"/>
              </a:rPr>
              <a:t>Density</a:t>
            </a:r>
          </a:p>
        </p:txBody>
      </p:sp>
      <p:pic>
        <p:nvPicPr>
          <p:cNvPr id="967" name="Build corresponding experimental density" descr="Experimental 9LLG density around chain C1 of the displayed CryoAtom2 receptor, at the original contour level and the identical camera orientation.">
            <a:extLst>
              <a:ext uri="{FF2B5EF4-FFF2-40B4-BE49-F238E27FC236}">
                <a16:creationId xmlns:a16="http://schemas.microsoft.com/office/drawing/2014/main" id="{6AA42C54-8C0B-DE8F-0B24-F733CA8E2647}"/>
              </a:ext>
            </a:extLst>
          </p:cNvPr>
          <p:cNvPicPr/>
          <p:nvPr/>
        </p:nvPicPr>
        <p:blipFill>
          <a:blip r:embed="rId4"/>
          <a:stretch>
            <a:fillRect/>
          </a:stretch>
        </p:blipFill>
        <p:spPr>
          <a:xfrm>
            <a:off x="5657542" y="1104265"/>
            <a:ext cx="361766" cy="345440"/>
          </a:xfrm>
          <a:prstGeom prst="rect">
            <a:avLst/>
          </a:prstGeom>
        </p:spPr>
      </p:pic>
      <p:sp>
        <p:nvSpPr>
          <p:cNvPr id="1484" name="V8 Build site and identity frame">
            <a:extLst>
              <a:ext uri="{FF2B5EF4-FFF2-40B4-BE49-F238E27FC236}">
                <a16:creationId xmlns:a16="http://schemas.microsoft.com/office/drawing/2014/main" id="{C53157BC-EB0B-0F61-684A-44F35A23363F}"/>
              </a:ext>
            </a:extLst>
          </p:cNvPr>
          <p:cNvSpPr/>
          <p:nvPr/>
        </p:nvSpPr>
        <p:spPr>
          <a:xfrm>
            <a:off x="4996634" y="457662"/>
            <a:ext cx="519754" cy="1228090"/>
          </a:xfrm>
          <a:prstGeom prst="roundRect">
            <a:avLst>
              <a:gd name="adj" fmla="val 5556"/>
            </a:avLst>
          </a:prstGeom>
          <a:noFill/>
          <a:ln w="6985" cap="rnd">
            <a:solidFill>
              <a:srgbClr val="D5CCB8"/>
            </a:solidFill>
            <a:prstDash val="dash"/>
            <a:round/>
          </a:ln>
        </p:spPr>
      </p:sp>
      <p:sp>
        <p:nvSpPr>
          <p:cNvPr id="1485" name="V8 Build pocket and density frame">
            <a:extLst>
              <a:ext uri="{FF2B5EF4-FFF2-40B4-BE49-F238E27FC236}">
                <a16:creationId xmlns:a16="http://schemas.microsoft.com/office/drawing/2014/main" id="{BF58BA89-3F8A-73E7-F71B-B7D2624F8761}"/>
              </a:ext>
            </a:extLst>
          </p:cNvPr>
          <p:cNvSpPr/>
          <p:nvPr/>
        </p:nvSpPr>
        <p:spPr>
          <a:xfrm>
            <a:off x="5564187" y="456353"/>
            <a:ext cx="527685" cy="1228090"/>
          </a:xfrm>
          <a:prstGeom prst="roundRect">
            <a:avLst>
              <a:gd name="adj" fmla="val 6477"/>
            </a:avLst>
          </a:prstGeom>
          <a:noFill/>
          <a:ln w="6985" cap="rnd">
            <a:solidFill>
              <a:srgbClr val="D5CCB8"/>
            </a:solidFill>
            <a:prstDash val="dash"/>
            <a:round/>
          </a:ln>
        </p:spPr>
      </p:sp>
      <p:grpSp>
        <p:nvGrpSpPr>
          <p:cNvPr id="22" name="Match | Blob contour">
            <a:extLst>
              <a:ext uri="{FF2B5EF4-FFF2-40B4-BE49-F238E27FC236}">
                <a16:creationId xmlns:a16="http://schemas.microsoft.com/office/drawing/2014/main" id="{938013AE-8183-E138-6818-C31E16A449FE}"/>
              </a:ext>
            </a:extLst>
          </p:cNvPr>
          <p:cNvGrpSpPr/>
          <p:nvPr/>
        </p:nvGrpSpPr>
        <p:grpSpPr>
          <a:xfrm>
            <a:off x="5095498" y="565131"/>
            <a:ext cx="291608" cy="199265"/>
            <a:chOff x="1928706" y="3559489"/>
            <a:chExt cx="227897" cy="155682"/>
          </a:xfrm>
        </p:grpSpPr>
        <p:sp>
          <p:nvSpPr>
            <p:cNvPr id="24" name="Candidate blob | editable contour">
              <a:extLst>
                <a:ext uri="{FF2B5EF4-FFF2-40B4-BE49-F238E27FC236}">
                  <a16:creationId xmlns:a16="http://schemas.microsoft.com/office/drawing/2014/main" id="{4769237A-3541-E4D2-F608-04942FB83D50}"/>
                </a:ext>
              </a:extLst>
            </p:cNvPr>
            <p:cNvSpPr/>
            <p:nvPr/>
          </p:nvSpPr>
          <p:spPr>
            <a:xfrm>
              <a:off x="1928706" y="3559489"/>
              <a:ext cx="227897" cy="155682"/>
            </a:xfrm>
            <a:custGeom>
              <a:avLst/>
              <a:gdLst/>
              <a:ahLst/>
              <a:cxnLst/>
              <a:rect l="0" t="0" r="w" b="h"/>
              <a:pathLst>
                <a:path w="227897" h="155682" extrusionOk="0">
                  <a:moveTo>
                    <a:pt x="5338" y="97866"/>
                  </a:moveTo>
                  <a:cubicBezTo>
                    <a:pt x="0" y="80701"/>
                    <a:pt x="18889" y="54504"/>
                    <a:pt x="29976" y="43663"/>
                  </a:cubicBezTo>
                  <a:cubicBezTo>
                    <a:pt x="41062" y="32823"/>
                    <a:pt x="58719" y="39447"/>
                    <a:pt x="71859" y="32823"/>
                  </a:cubicBezTo>
                  <a:cubicBezTo>
                    <a:pt x="84999" y="26198"/>
                    <a:pt x="92391" y="7829"/>
                    <a:pt x="108816" y="3915"/>
                  </a:cubicBezTo>
                  <a:cubicBezTo>
                    <a:pt x="125241" y="0"/>
                    <a:pt x="153984" y="3613"/>
                    <a:pt x="170409" y="9335"/>
                  </a:cubicBezTo>
                  <a:cubicBezTo>
                    <a:pt x="186834" y="15056"/>
                    <a:pt x="198332" y="26198"/>
                    <a:pt x="207366" y="38243"/>
                  </a:cubicBezTo>
                  <a:cubicBezTo>
                    <a:pt x="216399" y="50288"/>
                    <a:pt x="227897" y="67151"/>
                    <a:pt x="224612" y="81605"/>
                  </a:cubicBezTo>
                  <a:cubicBezTo>
                    <a:pt x="221327" y="96059"/>
                    <a:pt x="203259" y="113223"/>
                    <a:pt x="187656" y="124967"/>
                  </a:cubicBezTo>
                  <a:cubicBezTo>
                    <a:pt x="172052" y="136711"/>
                    <a:pt x="151931" y="148455"/>
                    <a:pt x="130989" y="152068"/>
                  </a:cubicBezTo>
                  <a:cubicBezTo>
                    <a:pt x="110048" y="155682"/>
                    <a:pt x="82946" y="155682"/>
                    <a:pt x="62004" y="146648"/>
                  </a:cubicBezTo>
                  <a:cubicBezTo>
                    <a:pt x="41062" y="137614"/>
                    <a:pt x="10676" y="115030"/>
                    <a:pt x="5338" y="97866"/>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26" name="ellipse_2612">
              <a:extLst>
                <a:ext uri="{FF2B5EF4-FFF2-40B4-BE49-F238E27FC236}">
                  <a16:creationId xmlns:a16="http://schemas.microsoft.com/office/drawing/2014/main" id="{9A0A99AE-BDC3-DBF7-BCEB-D5C715A85314}"/>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sp>
        <p:nvSpPr>
          <p:cNvPr id="27" name="Oval 12178">
            <a:extLst>
              <a:ext uri="{FF2B5EF4-FFF2-40B4-BE49-F238E27FC236}">
                <a16:creationId xmlns:a16="http://schemas.microsoft.com/office/drawing/2014/main" id="{51F7BCF4-3FF6-5C90-C159-1D97A016DD95}"/>
              </a:ext>
            </a:extLst>
          </p:cNvPr>
          <p:cNvSpPr/>
          <p:nvPr/>
        </p:nvSpPr>
        <p:spPr>
          <a:xfrm>
            <a:off x="5224292" y="648563"/>
            <a:ext cx="34426" cy="34426"/>
          </a:xfrm>
          <a:prstGeom prst="ellipse">
            <a:avLst/>
          </a:prstGeom>
          <a:solidFill>
            <a:srgbClr val="1D4ED8"/>
          </a:solidFill>
          <a:ln w="635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pic>
        <p:nvPicPr>
          <p:cNvPr id="50483" name="图片 50482">
            <a:extLst>
              <a:ext uri="{FF2B5EF4-FFF2-40B4-BE49-F238E27FC236}">
                <a16:creationId xmlns:a16="http://schemas.microsoft.com/office/drawing/2014/main" id="{354B6395-2397-21AD-FE4E-E787A1470B42}"/>
              </a:ext>
            </a:extLst>
          </p:cNvPr>
          <p:cNvPicPr>
            <a:picLocks noChangeAspect="1"/>
          </p:cNvPicPr>
          <p:nvPr/>
        </p:nvPicPr>
        <p:blipFill>
          <a:blip r:embed="rId5"/>
          <a:stretch/>
        </p:blipFill>
        <p:spPr>
          <a:xfrm>
            <a:off x="5631445" y="485775"/>
            <a:ext cx="414760" cy="342900"/>
          </a:xfrm>
          <a:prstGeom prst="rect">
            <a:avLst/>
          </a:prstGeom>
        </p:spPr>
      </p:pic>
      <p:sp>
        <p:nvSpPr>
          <p:cNvPr id="50484" name="F2-Build-selected">
            <a:extLst>
              <a:ext uri="{FF2B5EF4-FFF2-40B4-BE49-F238E27FC236}">
                <a16:creationId xmlns:a16="http://schemas.microsoft.com/office/drawing/2014/main" id="{65E889BB-30A1-1F2A-3327-4B3BAC35952B}"/>
              </a:ext>
            </a:extLst>
          </p:cNvPr>
          <p:cNvSpPr>
            <a:spLocks noGrp="1"/>
          </p:cNvSpPr>
          <p:nvPr/>
        </p:nvSpPr>
        <p:spPr>
          <a:xfrm>
            <a:off x="5054601" y="1283549"/>
            <a:ext cx="390525" cy="81915"/>
          </a:xfrm>
          <a:prstGeom prst="roundRect">
            <a:avLst>
              <a:gd name="adj" fmla="val 50000"/>
            </a:avLst>
          </a:prstGeom>
          <a:solidFill>
            <a:srgbClr val="DCF8EB"/>
          </a:solidFill>
          <a:ln w="7144">
            <a:solidFill>
              <a:srgbClr val="499D86"/>
            </a:solidFill>
          </a:ln>
        </p:spPr>
      </p:sp>
      <p:sp>
        <p:nvSpPr>
          <p:cNvPr id="50485" name="F2-Build-SMILES-0">
            <a:extLst>
              <a:ext uri="{FF2B5EF4-FFF2-40B4-BE49-F238E27FC236}">
                <a16:creationId xmlns:a16="http://schemas.microsoft.com/office/drawing/2014/main" id="{35D13EFA-3CA3-1A5A-6BBF-D546768BABA1}"/>
              </a:ext>
            </a:extLst>
          </p:cNvPr>
          <p:cNvSpPr>
            <a:spLocks noGrp="1"/>
          </p:cNvSpPr>
          <p:nvPr/>
        </p:nvSpPr>
        <p:spPr>
          <a:xfrm>
            <a:off x="5101503" y="1136660"/>
            <a:ext cx="361950" cy="74295"/>
          </a:xfrm>
          <a:prstGeom prst="rect">
            <a:avLst/>
          </a:prstGeom>
          <a:noFill/>
          <a:ln w="0">
            <a:noFill/>
          </a:ln>
        </p:spPr>
        <p:txBody>
          <a:bodyPr wrap="none" lIns="0" tIns="0" rIns="0" bIns="0" anchor="ctr">
            <a:noAutofit/>
          </a:bodyPr>
          <a:lstStyle>
            <a:defPPr algn="l">
              <a:defRPr sz="540" b="0">
                <a:solidFill>
                  <a:srgbClr val="263442"/>
                </a:solidFill>
                <a:latin typeface="Arial"/>
                <a:ea typeface="Arial"/>
                <a:cs typeface="Arial"/>
              </a:defRPr>
            </a:defPPr>
            <a:lvl1pPr algn="l">
              <a:defRPr sz="540" b="0">
                <a:solidFill>
                  <a:srgbClr val="263442"/>
                </a:solidFill>
                <a:latin typeface="Arial"/>
                <a:ea typeface="Arial"/>
                <a:cs typeface="Arial"/>
              </a:defRPr>
            </a:lvl1pPr>
            <a:lvl2pPr algn="l">
              <a:defRPr sz="540" b="0">
                <a:solidFill>
                  <a:srgbClr val="263442"/>
                </a:solidFill>
                <a:latin typeface="Arial"/>
                <a:ea typeface="Arial"/>
                <a:cs typeface="Arial"/>
              </a:defRPr>
            </a:lvl2pPr>
            <a:lvl3pPr algn="l">
              <a:defRPr sz="540" b="0">
                <a:solidFill>
                  <a:srgbClr val="263442"/>
                </a:solidFill>
                <a:latin typeface="Arial"/>
                <a:ea typeface="Arial"/>
                <a:cs typeface="Arial"/>
              </a:defRPr>
            </a:lvl3pPr>
            <a:lvl4pPr algn="l">
              <a:defRPr sz="540" b="0">
                <a:solidFill>
                  <a:srgbClr val="263442"/>
                </a:solidFill>
                <a:latin typeface="Arial"/>
                <a:ea typeface="Arial"/>
                <a:cs typeface="Arial"/>
              </a:defRPr>
            </a:lvl4pPr>
            <a:lvl5pPr algn="l">
              <a:defRPr sz="540" b="0">
                <a:solidFill>
                  <a:srgbClr val="263442"/>
                </a:solidFill>
                <a:latin typeface="Arial"/>
                <a:ea typeface="Arial"/>
                <a:cs typeface="Arial"/>
              </a:defRPr>
            </a:lvl5pPr>
            <a:lvl6pPr algn="l">
              <a:defRPr sz="540" b="0">
                <a:solidFill>
                  <a:srgbClr val="263442"/>
                </a:solidFill>
                <a:latin typeface="Arial"/>
                <a:ea typeface="Arial"/>
                <a:cs typeface="Arial"/>
              </a:defRPr>
            </a:lvl6pPr>
            <a:lvl7pPr algn="l">
              <a:defRPr sz="540" b="0">
                <a:solidFill>
                  <a:srgbClr val="263442"/>
                </a:solidFill>
                <a:latin typeface="Arial"/>
                <a:ea typeface="Arial"/>
                <a:cs typeface="Arial"/>
              </a:defRPr>
            </a:lvl7pPr>
            <a:lvl8pPr algn="l">
              <a:defRPr sz="540" b="0">
                <a:solidFill>
                  <a:srgbClr val="263442"/>
                </a:solidFill>
                <a:latin typeface="Arial"/>
                <a:ea typeface="Arial"/>
                <a:cs typeface="Arial"/>
              </a:defRPr>
            </a:lvl8pPr>
            <a:lvl9pPr algn="l">
              <a:defRPr sz="540" b="0">
                <a:solidFill>
                  <a:srgbClr val="263442"/>
                </a:solidFill>
                <a:latin typeface="Arial"/>
                <a:ea typeface="Arial"/>
                <a:cs typeface="Arial"/>
              </a:defRPr>
            </a:lvl9pPr>
          </a:lstStyle>
          <a:p>
            <a:pPr algn="l">
              <a:defRPr sz="540" b="0">
                <a:solidFill>
                  <a:srgbClr val="263442"/>
                </a:solidFill>
                <a:latin typeface="Arial"/>
                <a:ea typeface="Arial"/>
                <a:cs typeface="Arial"/>
              </a:defRPr>
            </a:pPr>
            <a:r>
              <a:rPr sz="480" b="0" dirty="0">
                <a:solidFill>
                  <a:srgbClr val="263442"/>
                </a:solidFill>
                <a:latin typeface="Arial"/>
                <a:ea typeface="Arial"/>
                <a:cs typeface="Arial"/>
              </a:rPr>
              <a:t>CCO</a:t>
            </a:r>
          </a:p>
        </p:txBody>
      </p:sp>
      <p:sp>
        <p:nvSpPr>
          <p:cNvPr id="50486" name="F2-Build-SMILES-7.8">
            <a:extLst>
              <a:ext uri="{FF2B5EF4-FFF2-40B4-BE49-F238E27FC236}">
                <a16:creationId xmlns:a16="http://schemas.microsoft.com/office/drawing/2014/main" id="{3F77D437-9723-1061-EADD-6FB26E188133}"/>
              </a:ext>
            </a:extLst>
          </p:cNvPr>
          <p:cNvSpPr>
            <a:spLocks noGrp="1"/>
          </p:cNvSpPr>
          <p:nvPr/>
        </p:nvSpPr>
        <p:spPr>
          <a:xfrm>
            <a:off x="5101503" y="1199841"/>
            <a:ext cx="361950" cy="74295"/>
          </a:xfrm>
          <a:prstGeom prst="rect">
            <a:avLst/>
          </a:prstGeom>
          <a:noFill/>
          <a:ln w="0">
            <a:noFill/>
          </a:ln>
        </p:spPr>
        <p:txBody>
          <a:bodyPr wrap="none" lIns="0" tIns="0" rIns="0" bIns="0" anchor="ctr">
            <a:noAutofit/>
          </a:bodyPr>
          <a:lstStyle>
            <a:defPPr algn="l">
              <a:defRPr sz="540" b="0">
                <a:solidFill>
                  <a:srgbClr val="263442"/>
                </a:solidFill>
                <a:latin typeface="Arial"/>
                <a:ea typeface="Arial"/>
                <a:cs typeface="Arial"/>
              </a:defRPr>
            </a:defPPr>
            <a:lvl1pPr algn="l">
              <a:defRPr sz="540" b="0">
                <a:solidFill>
                  <a:srgbClr val="263442"/>
                </a:solidFill>
                <a:latin typeface="Arial"/>
                <a:ea typeface="Arial"/>
                <a:cs typeface="Arial"/>
              </a:defRPr>
            </a:lvl1pPr>
            <a:lvl2pPr algn="l">
              <a:defRPr sz="540" b="0">
                <a:solidFill>
                  <a:srgbClr val="263442"/>
                </a:solidFill>
                <a:latin typeface="Arial"/>
                <a:ea typeface="Arial"/>
                <a:cs typeface="Arial"/>
              </a:defRPr>
            </a:lvl2pPr>
            <a:lvl3pPr algn="l">
              <a:defRPr sz="540" b="0">
                <a:solidFill>
                  <a:srgbClr val="263442"/>
                </a:solidFill>
                <a:latin typeface="Arial"/>
                <a:ea typeface="Arial"/>
                <a:cs typeface="Arial"/>
              </a:defRPr>
            </a:lvl3pPr>
            <a:lvl4pPr algn="l">
              <a:defRPr sz="540" b="0">
                <a:solidFill>
                  <a:srgbClr val="263442"/>
                </a:solidFill>
                <a:latin typeface="Arial"/>
                <a:ea typeface="Arial"/>
                <a:cs typeface="Arial"/>
              </a:defRPr>
            </a:lvl4pPr>
            <a:lvl5pPr algn="l">
              <a:defRPr sz="540" b="0">
                <a:solidFill>
                  <a:srgbClr val="263442"/>
                </a:solidFill>
                <a:latin typeface="Arial"/>
                <a:ea typeface="Arial"/>
                <a:cs typeface="Arial"/>
              </a:defRPr>
            </a:lvl5pPr>
            <a:lvl6pPr algn="l">
              <a:defRPr sz="540" b="0">
                <a:solidFill>
                  <a:srgbClr val="263442"/>
                </a:solidFill>
                <a:latin typeface="Arial"/>
                <a:ea typeface="Arial"/>
                <a:cs typeface="Arial"/>
              </a:defRPr>
            </a:lvl6pPr>
            <a:lvl7pPr algn="l">
              <a:defRPr sz="540" b="0">
                <a:solidFill>
                  <a:srgbClr val="263442"/>
                </a:solidFill>
                <a:latin typeface="Arial"/>
                <a:ea typeface="Arial"/>
                <a:cs typeface="Arial"/>
              </a:defRPr>
            </a:lvl7pPr>
            <a:lvl8pPr algn="l">
              <a:defRPr sz="540" b="0">
                <a:solidFill>
                  <a:srgbClr val="263442"/>
                </a:solidFill>
                <a:latin typeface="Arial"/>
                <a:ea typeface="Arial"/>
                <a:cs typeface="Arial"/>
              </a:defRPr>
            </a:lvl8pPr>
            <a:lvl9pPr algn="l">
              <a:defRPr sz="540" b="0">
                <a:solidFill>
                  <a:srgbClr val="263442"/>
                </a:solidFill>
                <a:latin typeface="Arial"/>
                <a:ea typeface="Arial"/>
                <a:cs typeface="Arial"/>
              </a:defRPr>
            </a:lvl9pPr>
          </a:lstStyle>
          <a:p>
            <a:pPr>
              <a:defRPr sz="540" b="0">
                <a:solidFill>
                  <a:srgbClr val="263442"/>
                </a:solidFill>
                <a:latin typeface="Arial"/>
                <a:ea typeface="Arial"/>
                <a:cs typeface="Arial"/>
              </a:defRPr>
            </a:pPr>
            <a:r>
              <a:rPr sz="480" dirty="0"/>
              <a:t>CC(=O)O</a:t>
            </a:r>
          </a:p>
        </p:txBody>
      </p:sp>
      <p:sp>
        <p:nvSpPr>
          <p:cNvPr id="50487" name="F2-Build-continuation">
            <a:extLst>
              <a:ext uri="{FF2B5EF4-FFF2-40B4-BE49-F238E27FC236}">
                <a16:creationId xmlns:a16="http://schemas.microsoft.com/office/drawing/2014/main" id="{75B2B500-6C8C-2AE7-A7ED-37DB4C40F52E}"/>
              </a:ext>
            </a:extLst>
          </p:cNvPr>
          <p:cNvSpPr>
            <a:spLocks noGrp="1"/>
          </p:cNvSpPr>
          <p:nvPr/>
        </p:nvSpPr>
        <p:spPr>
          <a:xfrm>
            <a:off x="5106267" y="1268735"/>
            <a:ext cx="6668" cy="6668"/>
          </a:xfrm>
          <a:prstGeom prst="ellipse">
            <a:avLst/>
          </a:prstGeom>
          <a:solidFill>
            <a:srgbClr val="687780"/>
          </a:solidFill>
          <a:ln w="0">
            <a:noFill/>
          </a:ln>
        </p:spPr>
      </p:sp>
      <p:sp>
        <p:nvSpPr>
          <p:cNvPr id="50488" name="F2-Build-continuation">
            <a:extLst>
              <a:ext uri="{FF2B5EF4-FFF2-40B4-BE49-F238E27FC236}">
                <a16:creationId xmlns:a16="http://schemas.microsoft.com/office/drawing/2014/main" id="{02962920-A62C-ABC5-4E20-BBE66D63E571}"/>
              </a:ext>
            </a:extLst>
          </p:cNvPr>
          <p:cNvSpPr>
            <a:spLocks noGrp="1"/>
          </p:cNvSpPr>
          <p:nvPr/>
        </p:nvSpPr>
        <p:spPr>
          <a:xfrm>
            <a:off x="5119918" y="1268735"/>
            <a:ext cx="6668" cy="6668"/>
          </a:xfrm>
          <a:prstGeom prst="ellipse">
            <a:avLst/>
          </a:prstGeom>
          <a:solidFill>
            <a:srgbClr val="687780"/>
          </a:solidFill>
          <a:ln w="0">
            <a:noFill/>
          </a:ln>
        </p:spPr>
      </p:sp>
      <p:sp>
        <p:nvSpPr>
          <p:cNvPr id="50489" name="F2-Build-continuation">
            <a:extLst>
              <a:ext uri="{FF2B5EF4-FFF2-40B4-BE49-F238E27FC236}">
                <a16:creationId xmlns:a16="http://schemas.microsoft.com/office/drawing/2014/main" id="{B14C1191-0E04-C556-2DBB-CBFC30E307EE}"/>
              </a:ext>
            </a:extLst>
          </p:cNvPr>
          <p:cNvSpPr>
            <a:spLocks noGrp="1"/>
          </p:cNvSpPr>
          <p:nvPr/>
        </p:nvSpPr>
        <p:spPr>
          <a:xfrm>
            <a:off x="5135157" y="1268735"/>
            <a:ext cx="6668" cy="6668"/>
          </a:xfrm>
          <a:prstGeom prst="ellipse">
            <a:avLst/>
          </a:prstGeom>
          <a:solidFill>
            <a:srgbClr val="687780"/>
          </a:solidFill>
          <a:ln w="0">
            <a:noFill/>
          </a:ln>
        </p:spPr>
      </p:sp>
      <p:sp>
        <p:nvSpPr>
          <p:cNvPr id="50490" name="F2-Build-SMILES-19.8">
            <a:extLst>
              <a:ext uri="{FF2B5EF4-FFF2-40B4-BE49-F238E27FC236}">
                <a16:creationId xmlns:a16="http://schemas.microsoft.com/office/drawing/2014/main" id="{F953F5AB-0837-E32A-00EB-CFEEF1D44856}"/>
              </a:ext>
            </a:extLst>
          </p:cNvPr>
          <p:cNvSpPr>
            <a:spLocks noGrp="1"/>
          </p:cNvSpPr>
          <p:nvPr/>
        </p:nvSpPr>
        <p:spPr>
          <a:xfrm>
            <a:off x="5101503" y="1285559"/>
            <a:ext cx="361950" cy="74295"/>
          </a:xfrm>
          <a:prstGeom prst="rect">
            <a:avLst/>
          </a:prstGeom>
          <a:noFill/>
          <a:ln w="0">
            <a:noFill/>
          </a:ln>
        </p:spPr>
        <p:txBody>
          <a:bodyPr wrap="none" lIns="0" tIns="0" rIns="0" bIns="0" anchor="ctr">
            <a:noAutofit/>
          </a:bodyPr>
          <a:lstStyle>
            <a:defPPr algn="l">
              <a:defRPr sz="540" b="0">
                <a:solidFill>
                  <a:srgbClr val="24634E"/>
                </a:solidFill>
                <a:latin typeface="Arial"/>
                <a:ea typeface="Arial"/>
                <a:cs typeface="Arial"/>
              </a:defRPr>
            </a:defPPr>
            <a:lvl1pPr algn="l">
              <a:defRPr sz="540" b="0">
                <a:solidFill>
                  <a:srgbClr val="24634E"/>
                </a:solidFill>
                <a:latin typeface="Arial"/>
                <a:ea typeface="Arial"/>
                <a:cs typeface="Arial"/>
              </a:defRPr>
            </a:lvl1pPr>
            <a:lvl2pPr algn="l">
              <a:defRPr sz="540" b="0">
                <a:solidFill>
                  <a:srgbClr val="24634E"/>
                </a:solidFill>
                <a:latin typeface="Arial"/>
                <a:ea typeface="Arial"/>
                <a:cs typeface="Arial"/>
              </a:defRPr>
            </a:lvl2pPr>
            <a:lvl3pPr algn="l">
              <a:defRPr sz="540" b="0">
                <a:solidFill>
                  <a:srgbClr val="24634E"/>
                </a:solidFill>
                <a:latin typeface="Arial"/>
                <a:ea typeface="Arial"/>
                <a:cs typeface="Arial"/>
              </a:defRPr>
            </a:lvl3pPr>
            <a:lvl4pPr algn="l">
              <a:defRPr sz="540" b="0">
                <a:solidFill>
                  <a:srgbClr val="24634E"/>
                </a:solidFill>
                <a:latin typeface="Arial"/>
                <a:ea typeface="Arial"/>
                <a:cs typeface="Arial"/>
              </a:defRPr>
            </a:lvl4pPr>
            <a:lvl5pPr algn="l">
              <a:defRPr sz="540" b="0">
                <a:solidFill>
                  <a:srgbClr val="24634E"/>
                </a:solidFill>
                <a:latin typeface="Arial"/>
                <a:ea typeface="Arial"/>
                <a:cs typeface="Arial"/>
              </a:defRPr>
            </a:lvl5pPr>
            <a:lvl6pPr algn="l">
              <a:defRPr sz="540" b="0">
                <a:solidFill>
                  <a:srgbClr val="24634E"/>
                </a:solidFill>
                <a:latin typeface="Arial"/>
                <a:ea typeface="Arial"/>
                <a:cs typeface="Arial"/>
              </a:defRPr>
            </a:lvl6pPr>
            <a:lvl7pPr algn="l">
              <a:defRPr sz="540" b="0">
                <a:solidFill>
                  <a:srgbClr val="24634E"/>
                </a:solidFill>
                <a:latin typeface="Arial"/>
                <a:ea typeface="Arial"/>
                <a:cs typeface="Arial"/>
              </a:defRPr>
            </a:lvl7pPr>
            <a:lvl8pPr algn="l">
              <a:defRPr sz="540" b="0">
                <a:solidFill>
                  <a:srgbClr val="24634E"/>
                </a:solidFill>
                <a:latin typeface="Arial"/>
                <a:ea typeface="Arial"/>
                <a:cs typeface="Arial"/>
              </a:defRPr>
            </a:lvl8pPr>
            <a:lvl9pPr algn="l">
              <a:defRPr sz="540" b="0">
                <a:solidFill>
                  <a:srgbClr val="24634E"/>
                </a:solidFill>
                <a:latin typeface="Arial"/>
                <a:ea typeface="Arial"/>
                <a:cs typeface="Arial"/>
              </a:defRPr>
            </a:lvl9pPr>
          </a:lstStyle>
          <a:p>
            <a:pPr>
              <a:defRPr sz="540" b="0">
                <a:solidFill>
                  <a:srgbClr val="263442"/>
                </a:solidFill>
                <a:latin typeface="Arial"/>
                <a:ea typeface="Arial"/>
                <a:cs typeface="Arial"/>
              </a:defRPr>
            </a:pPr>
            <a:r>
              <a:rPr sz="480" dirty="0">
                <a:solidFill>
                  <a:srgbClr val="263442"/>
                </a:solidFill>
              </a:rPr>
              <a:t>Cc1ccccc1</a:t>
            </a:r>
          </a:p>
        </p:txBody>
      </p:sp>
      <p:sp>
        <p:nvSpPr>
          <p:cNvPr id="50491" name="F2-Build-SMILES-27.599999999999998">
            <a:extLst>
              <a:ext uri="{FF2B5EF4-FFF2-40B4-BE49-F238E27FC236}">
                <a16:creationId xmlns:a16="http://schemas.microsoft.com/office/drawing/2014/main" id="{FBCEDC7F-78BD-5556-EBFA-0090E75BF03D}"/>
              </a:ext>
            </a:extLst>
          </p:cNvPr>
          <p:cNvSpPr>
            <a:spLocks noGrp="1"/>
          </p:cNvSpPr>
          <p:nvPr/>
        </p:nvSpPr>
        <p:spPr>
          <a:xfrm>
            <a:off x="5101503" y="1359854"/>
            <a:ext cx="361950" cy="74295"/>
          </a:xfrm>
          <a:prstGeom prst="rect">
            <a:avLst/>
          </a:prstGeom>
          <a:noFill/>
          <a:ln w="0">
            <a:noFill/>
          </a:ln>
        </p:spPr>
        <p:txBody>
          <a:bodyPr wrap="none" lIns="0" tIns="0" rIns="0" bIns="0" anchor="ctr">
            <a:noAutofit/>
          </a:bodyPr>
          <a:lstStyle>
            <a:defPPr algn="l">
              <a:defRPr sz="540" b="0">
                <a:solidFill>
                  <a:srgbClr val="263442"/>
                </a:solidFill>
                <a:latin typeface="Arial"/>
                <a:ea typeface="Arial"/>
                <a:cs typeface="Arial"/>
              </a:defRPr>
            </a:defPPr>
            <a:lvl1pPr algn="l">
              <a:defRPr sz="540" b="0">
                <a:solidFill>
                  <a:srgbClr val="263442"/>
                </a:solidFill>
                <a:latin typeface="Arial"/>
                <a:ea typeface="Arial"/>
                <a:cs typeface="Arial"/>
              </a:defRPr>
            </a:lvl1pPr>
            <a:lvl2pPr algn="l">
              <a:defRPr sz="540" b="0">
                <a:solidFill>
                  <a:srgbClr val="263442"/>
                </a:solidFill>
                <a:latin typeface="Arial"/>
                <a:ea typeface="Arial"/>
                <a:cs typeface="Arial"/>
              </a:defRPr>
            </a:lvl2pPr>
            <a:lvl3pPr algn="l">
              <a:defRPr sz="540" b="0">
                <a:solidFill>
                  <a:srgbClr val="263442"/>
                </a:solidFill>
                <a:latin typeface="Arial"/>
                <a:ea typeface="Arial"/>
                <a:cs typeface="Arial"/>
              </a:defRPr>
            </a:lvl3pPr>
            <a:lvl4pPr algn="l">
              <a:defRPr sz="540" b="0">
                <a:solidFill>
                  <a:srgbClr val="263442"/>
                </a:solidFill>
                <a:latin typeface="Arial"/>
                <a:ea typeface="Arial"/>
                <a:cs typeface="Arial"/>
              </a:defRPr>
            </a:lvl4pPr>
            <a:lvl5pPr algn="l">
              <a:defRPr sz="540" b="0">
                <a:solidFill>
                  <a:srgbClr val="263442"/>
                </a:solidFill>
                <a:latin typeface="Arial"/>
                <a:ea typeface="Arial"/>
                <a:cs typeface="Arial"/>
              </a:defRPr>
            </a:lvl5pPr>
            <a:lvl6pPr algn="l">
              <a:defRPr sz="540" b="0">
                <a:solidFill>
                  <a:srgbClr val="263442"/>
                </a:solidFill>
                <a:latin typeface="Arial"/>
                <a:ea typeface="Arial"/>
                <a:cs typeface="Arial"/>
              </a:defRPr>
            </a:lvl6pPr>
            <a:lvl7pPr algn="l">
              <a:defRPr sz="540" b="0">
                <a:solidFill>
                  <a:srgbClr val="263442"/>
                </a:solidFill>
                <a:latin typeface="Arial"/>
                <a:ea typeface="Arial"/>
                <a:cs typeface="Arial"/>
              </a:defRPr>
            </a:lvl7pPr>
            <a:lvl8pPr algn="l">
              <a:defRPr sz="540" b="0">
                <a:solidFill>
                  <a:srgbClr val="263442"/>
                </a:solidFill>
                <a:latin typeface="Arial"/>
                <a:ea typeface="Arial"/>
                <a:cs typeface="Arial"/>
              </a:defRPr>
            </a:lvl8pPr>
            <a:lvl9pPr algn="l">
              <a:defRPr sz="540" b="0">
                <a:solidFill>
                  <a:srgbClr val="263442"/>
                </a:solidFill>
                <a:latin typeface="Arial"/>
                <a:ea typeface="Arial"/>
                <a:cs typeface="Arial"/>
              </a:defRPr>
            </a:lvl9pPr>
          </a:lstStyle>
          <a:p>
            <a:pPr>
              <a:defRPr sz="540" b="0">
                <a:solidFill>
                  <a:srgbClr val="263442"/>
                </a:solidFill>
                <a:latin typeface="Arial"/>
                <a:ea typeface="Arial"/>
                <a:cs typeface="Arial"/>
              </a:defRPr>
            </a:pPr>
            <a:r>
              <a:rPr sz="480" dirty="0"/>
              <a:t>CC(N)=O</a:t>
            </a:r>
          </a:p>
        </p:txBody>
      </p:sp>
      <p:sp>
        <p:nvSpPr>
          <p:cNvPr id="60002" name="Build | inputs to iterative denoising">
            <a:extLst>
              <a:ext uri="{FF2B5EF4-FFF2-40B4-BE49-F238E27FC236}">
                <a16:creationId xmlns:a16="http://schemas.microsoft.com/office/drawing/2014/main" id="{3389E37B-F5DC-F9E2-861A-53D48C9E0167}"/>
              </a:ext>
            </a:extLst>
          </p:cNvPr>
          <p:cNvSpPr>
            <a:spLocks noGrp="1"/>
          </p:cNvSpPr>
          <p:nvPr/>
        </p:nvSpPr>
        <p:spPr>
          <a:xfrm>
            <a:off x="5547600" y="1774677"/>
            <a:ext cx="95" cy="100800"/>
          </a:xfrm>
          <a:custGeom>
            <a:avLst/>
            <a:gdLst/>
            <a:ahLst/>
            <a:cxnLst/>
            <a:rect l="0" t="0" r="0" b="0"/>
            <a:pathLst>
              <a:path w="95" h="100800">
                <a:moveTo>
                  <a:pt x="0" y="0"/>
                </a:moveTo>
                <a:lnTo>
                  <a:pt x="0" y="100800"/>
                </a:lnTo>
              </a:path>
            </a:pathLst>
          </a:custGeom>
          <a:noFill/>
          <a:ln w="8255">
            <a:solidFill>
              <a:srgbClr val="77828C"/>
            </a:solidFill>
          </a:ln>
        </p:spPr>
      </p:sp>
      <p:sp>
        <p:nvSpPr>
          <p:cNvPr id="60003" name="Build | inputs to iterative denoising head">
            <a:extLst>
              <a:ext uri="{FF2B5EF4-FFF2-40B4-BE49-F238E27FC236}">
                <a16:creationId xmlns:a16="http://schemas.microsoft.com/office/drawing/2014/main" id="{4CC3A3B3-1F45-DD6C-D88F-EEB4141AA588}"/>
              </a:ext>
            </a:extLst>
          </p:cNvPr>
          <p:cNvSpPr>
            <a:spLocks noGrp="1"/>
          </p:cNvSpPr>
          <p:nvPr/>
        </p:nvSpPr>
        <p:spPr>
          <a:xfrm>
            <a:off x="5533470" y="1848335"/>
            <a:ext cx="28261" cy="27142"/>
          </a:xfrm>
          <a:custGeom>
            <a:avLst/>
            <a:gdLst/>
            <a:ahLst/>
            <a:cxnLst/>
            <a:rect l="0" t="0" r="0" b="0"/>
            <a:pathLst>
              <a:path w="28261" h="27142">
                <a:moveTo>
                  <a:pt x="0" y="0"/>
                </a:moveTo>
                <a:lnTo>
                  <a:pt x="14130" y="27142"/>
                </a:lnTo>
                <a:lnTo>
                  <a:pt x="28261" y="0"/>
                </a:lnTo>
              </a:path>
            </a:pathLst>
          </a:custGeom>
          <a:noFill/>
          <a:ln w="8255">
            <a:solidFill>
              <a:srgbClr val="77828C"/>
            </a:solidFill>
          </a:ln>
        </p:spPr>
      </p:sp>
      <p:sp>
        <p:nvSpPr>
          <p:cNvPr id="60004" name="Build | denoising stage 0">
            <a:extLst>
              <a:ext uri="{FF2B5EF4-FFF2-40B4-BE49-F238E27FC236}">
                <a16:creationId xmlns:a16="http://schemas.microsoft.com/office/drawing/2014/main" id="{B30BF1D1-E3C9-27D7-23DF-364B24C27793}"/>
              </a:ext>
            </a:extLst>
          </p:cNvPr>
          <p:cNvSpPr>
            <a:spLocks noGrp="1"/>
          </p:cNvSpPr>
          <p:nvPr/>
        </p:nvSpPr>
        <p:spPr>
          <a:xfrm>
            <a:off x="5014346" y="2490900"/>
            <a:ext cx="324000" cy="187200"/>
          </a:xfrm>
          <a:prstGeom prst="rect">
            <a:avLst/>
          </a:prstGeom>
          <a:noFill/>
          <a:ln w="0">
            <a:noFill/>
          </a:ln>
        </p:spPr>
        <p:txBody>
          <a:bodyPr wrap="none" lIns="0" tIns="0" rIns="0" bIns="0" anchor="ctr">
            <a:noAutofit/>
          </a:bodyPr>
          <a:lstStyle>
            <a:defPPr algn="ctr">
              <a:defRPr sz="580" b="0">
                <a:solidFill>
                  <a:srgbClr val="596873"/>
                </a:solidFill>
                <a:latin typeface="Arial"/>
                <a:ea typeface="Arial"/>
                <a:cs typeface="Arial"/>
              </a:defRPr>
            </a:defPPr>
            <a:lvl1pPr algn="ctr">
              <a:defRPr sz="580" b="0">
                <a:solidFill>
                  <a:srgbClr val="596873"/>
                </a:solidFill>
                <a:latin typeface="Arial"/>
                <a:ea typeface="Arial"/>
                <a:cs typeface="Arial"/>
              </a:defRPr>
            </a:lvl1pPr>
            <a:lvl2pPr algn="ctr">
              <a:defRPr sz="580" b="0">
                <a:solidFill>
                  <a:srgbClr val="596873"/>
                </a:solidFill>
                <a:latin typeface="Arial"/>
                <a:ea typeface="Arial"/>
                <a:cs typeface="Arial"/>
              </a:defRPr>
            </a:lvl2pPr>
            <a:lvl3pPr algn="ctr">
              <a:defRPr sz="580" b="0">
                <a:solidFill>
                  <a:srgbClr val="596873"/>
                </a:solidFill>
                <a:latin typeface="Arial"/>
                <a:ea typeface="Arial"/>
                <a:cs typeface="Arial"/>
              </a:defRPr>
            </a:lvl3pPr>
            <a:lvl4pPr algn="ctr">
              <a:defRPr sz="580" b="0">
                <a:solidFill>
                  <a:srgbClr val="596873"/>
                </a:solidFill>
                <a:latin typeface="Arial"/>
                <a:ea typeface="Arial"/>
                <a:cs typeface="Arial"/>
              </a:defRPr>
            </a:lvl4pPr>
            <a:lvl5pPr algn="ctr">
              <a:defRPr sz="580" b="0">
                <a:solidFill>
                  <a:srgbClr val="596873"/>
                </a:solidFill>
                <a:latin typeface="Arial"/>
                <a:ea typeface="Arial"/>
                <a:cs typeface="Arial"/>
              </a:defRPr>
            </a:lvl5pPr>
            <a:lvl6pPr algn="ctr">
              <a:defRPr sz="580" b="0">
                <a:solidFill>
                  <a:srgbClr val="596873"/>
                </a:solidFill>
                <a:latin typeface="Arial"/>
                <a:ea typeface="Arial"/>
                <a:cs typeface="Arial"/>
              </a:defRPr>
            </a:lvl6pPr>
            <a:lvl7pPr algn="ctr">
              <a:defRPr sz="580" b="0">
                <a:solidFill>
                  <a:srgbClr val="596873"/>
                </a:solidFill>
                <a:latin typeface="Arial"/>
                <a:ea typeface="Arial"/>
                <a:cs typeface="Arial"/>
              </a:defRPr>
            </a:lvl7pPr>
            <a:lvl8pPr algn="ctr">
              <a:defRPr sz="580" b="0">
                <a:solidFill>
                  <a:srgbClr val="596873"/>
                </a:solidFill>
                <a:latin typeface="Arial"/>
                <a:ea typeface="Arial"/>
                <a:cs typeface="Arial"/>
              </a:defRPr>
            </a:lvl8pPr>
            <a:lvl9pPr algn="ctr">
              <a:defRPr sz="580" b="0">
                <a:solidFill>
                  <a:srgbClr val="596873"/>
                </a:solidFill>
                <a:latin typeface="Arial"/>
                <a:ea typeface="Arial"/>
                <a:cs typeface="Arial"/>
              </a:defRPr>
            </a:lvl9pPr>
          </a:lstStyle>
          <a:p>
            <a:pPr algn="ctr">
              <a:defRPr sz="580" b="0">
                <a:solidFill>
                  <a:srgbClr val="596873"/>
                </a:solidFill>
                <a:latin typeface="Arial"/>
                <a:ea typeface="Arial"/>
                <a:cs typeface="Arial"/>
              </a:defRPr>
            </a:pPr>
            <a:r>
              <a:rPr sz="580" b="0" dirty="0">
                <a:solidFill>
                  <a:srgbClr val="596873"/>
                </a:solidFill>
                <a:latin typeface="Arial"/>
                <a:ea typeface="Arial"/>
                <a:cs typeface="Arial"/>
              </a:rPr>
              <a:t>Gaussian</a:t>
            </a:r>
          </a:p>
          <a:p>
            <a:pPr algn="ctr">
              <a:defRPr sz="580" b="0">
                <a:solidFill>
                  <a:srgbClr val="596873"/>
                </a:solidFill>
                <a:latin typeface="Arial"/>
                <a:ea typeface="Arial"/>
                <a:cs typeface="Arial"/>
              </a:defRPr>
            </a:pPr>
            <a:r>
              <a:rPr sz="580" b="0" dirty="0">
                <a:solidFill>
                  <a:srgbClr val="596873"/>
                </a:solidFill>
                <a:latin typeface="Arial"/>
                <a:ea typeface="Arial"/>
                <a:cs typeface="Arial"/>
              </a:rPr>
              <a:t>noise</a:t>
            </a:r>
          </a:p>
        </p:txBody>
      </p:sp>
      <p:pic>
        <p:nvPicPr>
          <p:cNvPr id="60005" name="图片 60004">
            <a:extLst>
              <a:ext uri="{FF2B5EF4-FFF2-40B4-BE49-F238E27FC236}">
                <a16:creationId xmlns:a16="http://schemas.microsoft.com/office/drawing/2014/main" id="{91280CC3-70F4-CD4E-7EAB-22D9B8126B15}"/>
              </a:ext>
            </a:extLst>
          </p:cNvPr>
          <p:cNvPicPr>
            <a:picLocks noChangeAspect="1"/>
          </p:cNvPicPr>
          <p:nvPr/>
        </p:nvPicPr>
        <p:blipFill>
          <a:blip r:embed="rId6"/>
          <a:stretch/>
        </p:blipFill>
        <p:spPr>
          <a:xfrm>
            <a:off x="5473551" y="2422737"/>
            <a:ext cx="477349" cy="344752"/>
          </a:xfrm>
          <a:prstGeom prst="rect">
            <a:avLst/>
          </a:prstGeom>
        </p:spPr>
      </p:pic>
      <p:pic>
        <p:nvPicPr>
          <p:cNvPr id="60009" name="图片 60008">
            <a:extLst>
              <a:ext uri="{FF2B5EF4-FFF2-40B4-BE49-F238E27FC236}">
                <a16:creationId xmlns:a16="http://schemas.microsoft.com/office/drawing/2014/main" id="{DE265A86-E1FE-484E-6F9D-AADC60D81C6E}"/>
              </a:ext>
            </a:extLst>
          </p:cNvPr>
          <p:cNvPicPr>
            <a:picLocks noChangeAspect="1"/>
          </p:cNvPicPr>
          <p:nvPr/>
        </p:nvPicPr>
        <p:blipFill>
          <a:blip r:embed="rId7"/>
          <a:stretch/>
        </p:blipFill>
        <p:spPr>
          <a:xfrm>
            <a:off x="5483229" y="2791467"/>
            <a:ext cx="478523" cy="345600"/>
          </a:xfrm>
          <a:prstGeom prst="rect">
            <a:avLst/>
          </a:prstGeom>
        </p:spPr>
      </p:pic>
      <p:sp>
        <p:nvSpPr>
          <p:cNvPr id="60012" name="Build | denoising stage 2">
            <a:extLst>
              <a:ext uri="{FF2B5EF4-FFF2-40B4-BE49-F238E27FC236}">
                <a16:creationId xmlns:a16="http://schemas.microsoft.com/office/drawing/2014/main" id="{90379AA8-3965-C741-C97F-B74487FE623B}"/>
              </a:ext>
            </a:extLst>
          </p:cNvPr>
          <p:cNvSpPr>
            <a:spLocks noGrp="1"/>
          </p:cNvSpPr>
          <p:nvPr/>
        </p:nvSpPr>
        <p:spPr>
          <a:xfrm>
            <a:off x="5008587" y="2974840"/>
            <a:ext cx="324000" cy="118800"/>
          </a:xfrm>
          <a:prstGeom prst="rect">
            <a:avLst/>
          </a:prstGeom>
          <a:noFill/>
          <a:ln w="0">
            <a:noFill/>
          </a:ln>
        </p:spPr>
        <p:txBody>
          <a:bodyPr wrap="none" lIns="0" tIns="0" rIns="0" bIns="0" anchor="ctr">
            <a:noAutofit/>
          </a:bodyPr>
          <a:lstStyle>
            <a:defPPr algn="ctr">
              <a:defRPr sz="580" b="0">
                <a:solidFill>
                  <a:srgbClr val="596873"/>
                </a:solidFill>
                <a:latin typeface="Arial"/>
                <a:ea typeface="Arial"/>
                <a:cs typeface="Arial"/>
              </a:defRPr>
            </a:defPPr>
            <a:lvl1pPr algn="ctr">
              <a:defRPr sz="580" b="0">
                <a:solidFill>
                  <a:srgbClr val="596873"/>
                </a:solidFill>
                <a:latin typeface="Arial"/>
                <a:ea typeface="Arial"/>
                <a:cs typeface="Arial"/>
              </a:defRPr>
            </a:lvl1pPr>
            <a:lvl2pPr algn="ctr">
              <a:defRPr sz="580" b="0">
                <a:solidFill>
                  <a:srgbClr val="596873"/>
                </a:solidFill>
                <a:latin typeface="Arial"/>
                <a:ea typeface="Arial"/>
                <a:cs typeface="Arial"/>
              </a:defRPr>
            </a:lvl2pPr>
            <a:lvl3pPr algn="ctr">
              <a:defRPr sz="580" b="0">
                <a:solidFill>
                  <a:srgbClr val="596873"/>
                </a:solidFill>
                <a:latin typeface="Arial"/>
                <a:ea typeface="Arial"/>
                <a:cs typeface="Arial"/>
              </a:defRPr>
            </a:lvl3pPr>
            <a:lvl4pPr algn="ctr">
              <a:defRPr sz="580" b="0">
                <a:solidFill>
                  <a:srgbClr val="596873"/>
                </a:solidFill>
                <a:latin typeface="Arial"/>
                <a:ea typeface="Arial"/>
                <a:cs typeface="Arial"/>
              </a:defRPr>
            </a:lvl4pPr>
            <a:lvl5pPr algn="ctr">
              <a:defRPr sz="580" b="0">
                <a:solidFill>
                  <a:srgbClr val="596873"/>
                </a:solidFill>
                <a:latin typeface="Arial"/>
                <a:ea typeface="Arial"/>
                <a:cs typeface="Arial"/>
              </a:defRPr>
            </a:lvl5pPr>
            <a:lvl6pPr algn="ctr">
              <a:defRPr sz="580" b="0">
                <a:solidFill>
                  <a:srgbClr val="596873"/>
                </a:solidFill>
                <a:latin typeface="Arial"/>
                <a:ea typeface="Arial"/>
                <a:cs typeface="Arial"/>
              </a:defRPr>
            </a:lvl6pPr>
            <a:lvl7pPr algn="ctr">
              <a:defRPr sz="580" b="0">
                <a:solidFill>
                  <a:srgbClr val="596873"/>
                </a:solidFill>
                <a:latin typeface="Arial"/>
                <a:ea typeface="Arial"/>
                <a:cs typeface="Arial"/>
              </a:defRPr>
            </a:lvl7pPr>
            <a:lvl8pPr algn="ctr">
              <a:defRPr sz="580" b="0">
                <a:solidFill>
                  <a:srgbClr val="596873"/>
                </a:solidFill>
                <a:latin typeface="Arial"/>
                <a:ea typeface="Arial"/>
                <a:cs typeface="Arial"/>
              </a:defRPr>
            </a:lvl8pPr>
            <a:lvl9pPr algn="ctr">
              <a:defRPr sz="580" b="0">
                <a:solidFill>
                  <a:srgbClr val="596873"/>
                </a:solidFill>
                <a:latin typeface="Arial"/>
                <a:ea typeface="Arial"/>
                <a:cs typeface="Arial"/>
              </a:defRPr>
            </a:lvl9pPr>
          </a:lstStyle>
          <a:p>
            <a:pPr algn="ctr">
              <a:defRPr sz="580" b="0">
                <a:solidFill>
                  <a:srgbClr val="596873"/>
                </a:solidFill>
                <a:latin typeface="Arial"/>
                <a:ea typeface="Arial"/>
                <a:cs typeface="Arial"/>
              </a:defRPr>
            </a:pPr>
            <a:r>
              <a:rPr lang="en-US" sz="580" b="0" dirty="0">
                <a:solidFill>
                  <a:srgbClr val="596873"/>
                </a:solidFill>
                <a:latin typeface="Arial"/>
                <a:ea typeface="Arial"/>
                <a:cs typeface="Arial"/>
              </a:rPr>
              <a:t>D</a:t>
            </a:r>
            <a:r>
              <a:rPr lang="en-US" altLang="zh-CN" sz="580" b="0" dirty="0">
                <a:solidFill>
                  <a:srgbClr val="596873"/>
                </a:solidFill>
                <a:latin typeface="Arial"/>
                <a:ea typeface="Arial"/>
                <a:cs typeface="Arial"/>
              </a:rPr>
              <a:t>enoising</a:t>
            </a:r>
            <a:endParaRPr sz="580" b="0" dirty="0">
              <a:solidFill>
                <a:srgbClr val="596873"/>
              </a:solidFill>
              <a:latin typeface="Arial"/>
              <a:ea typeface="Arial"/>
              <a:cs typeface="Arial"/>
            </a:endParaRPr>
          </a:p>
        </p:txBody>
      </p:sp>
      <p:pic>
        <p:nvPicPr>
          <p:cNvPr id="60013" name="图片 60012">
            <a:extLst>
              <a:ext uri="{FF2B5EF4-FFF2-40B4-BE49-F238E27FC236}">
                <a16:creationId xmlns:a16="http://schemas.microsoft.com/office/drawing/2014/main" id="{5575AAAC-CE79-4A8F-AA62-3F742DD32FAB}"/>
              </a:ext>
            </a:extLst>
          </p:cNvPr>
          <p:cNvPicPr>
            <a:picLocks noChangeAspect="1"/>
          </p:cNvPicPr>
          <p:nvPr/>
        </p:nvPicPr>
        <p:blipFill>
          <a:blip r:embed="rId8"/>
          <a:stretch/>
        </p:blipFill>
        <p:spPr>
          <a:xfrm>
            <a:off x="5472963" y="3164962"/>
            <a:ext cx="478523" cy="345600"/>
          </a:xfrm>
          <a:prstGeom prst="rect">
            <a:avLst/>
          </a:prstGeom>
        </p:spPr>
      </p:pic>
      <p:sp>
        <p:nvSpPr>
          <p:cNvPr id="3" name="Build | local structure viewport">
            <a:extLst>
              <a:ext uri="{FF2B5EF4-FFF2-40B4-BE49-F238E27FC236}">
                <a16:creationId xmlns:a16="http://schemas.microsoft.com/office/drawing/2014/main" id="{3B341B47-62D9-0055-2A69-ADB9FDCD26E0}"/>
              </a:ext>
            </a:extLst>
          </p:cNvPr>
          <p:cNvSpPr>
            <a:spLocks noGrp="1"/>
          </p:cNvSpPr>
          <p:nvPr/>
        </p:nvSpPr>
        <p:spPr>
          <a:xfrm>
            <a:off x="5034655" y="3612697"/>
            <a:ext cx="1012331" cy="735989"/>
          </a:xfrm>
          <a:prstGeom prst="roundRect">
            <a:avLst>
              <a:gd name="adj" fmla="val 8894"/>
            </a:avLst>
          </a:prstGeom>
          <a:solidFill>
            <a:srgbClr val="FFFFFF"/>
          </a:solidFill>
          <a:ln w="7620">
            <a:solidFill>
              <a:srgbClr val="C8CFD4"/>
            </a:solidFill>
          </a:ln>
        </p:spPr>
      </p:sp>
      <p:sp>
        <p:nvSpPr>
          <p:cNvPr id="8" name="Build | label">
            <a:extLst>
              <a:ext uri="{FF2B5EF4-FFF2-40B4-BE49-F238E27FC236}">
                <a16:creationId xmlns:a16="http://schemas.microsoft.com/office/drawing/2014/main" id="{B69D9F74-4A44-B737-48C2-DF01C65E36A6}"/>
              </a:ext>
            </a:extLst>
          </p:cNvPr>
          <p:cNvSpPr>
            <a:spLocks noGrp="1"/>
          </p:cNvSpPr>
          <p:nvPr/>
        </p:nvSpPr>
        <p:spPr>
          <a:xfrm>
            <a:off x="5009487" y="4217257"/>
            <a:ext cx="1090800" cy="100800"/>
          </a:xfrm>
          <a:prstGeom prst="rect">
            <a:avLst/>
          </a:prstGeom>
          <a:noFill/>
          <a:ln w="0">
            <a:noFill/>
          </a:ln>
        </p:spPr>
        <p:txBody>
          <a:bodyPr wrap="none" lIns="0" tIns="0" rIns="0" bIns="0" anchor="ctr">
            <a:noAutofit/>
          </a:bodyPr>
          <a:lstStyle>
            <a:defPPr algn="ctr">
              <a:defRPr sz="670" b="0">
                <a:solidFill>
                  <a:srgbClr val="263442"/>
                </a:solidFill>
                <a:latin typeface="Arial"/>
                <a:ea typeface="Arial"/>
                <a:cs typeface="Arial"/>
              </a:defRPr>
            </a:defPPr>
            <a:lvl1pPr algn="ctr">
              <a:defRPr sz="670" b="0">
                <a:solidFill>
                  <a:srgbClr val="263442"/>
                </a:solidFill>
                <a:latin typeface="Arial"/>
                <a:ea typeface="Arial"/>
                <a:cs typeface="Arial"/>
              </a:defRPr>
            </a:lvl1pPr>
            <a:lvl2pPr algn="ctr">
              <a:defRPr sz="670" b="0">
                <a:solidFill>
                  <a:srgbClr val="263442"/>
                </a:solidFill>
                <a:latin typeface="Arial"/>
                <a:ea typeface="Arial"/>
                <a:cs typeface="Arial"/>
              </a:defRPr>
            </a:lvl2pPr>
            <a:lvl3pPr algn="ctr">
              <a:defRPr sz="670" b="0">
                <a:solidFill>
                  <a:srgbClr val="263442"/>
                </a:solidFill>
                <a:latin typeface="Arial"/>
                <a:ea typeface="Arial"/>
                <a:cs typeface="Arial"/>
              </a:defRPr>
            </a:lvl3pPr>
            <a:lvl4pPr algn="ctr">
              <a:defRPr sz="670" b="0">
                <a:solidFill>
                  <a:srgbClr val="263442"/>
                </a:solidFill>
                <a:latin typeface="Arial"/>
                <a:ea typeface="Arial"/>
                <a:cs typeface="Arial"/>
              </a:defRPr>
            </a:lvl4pPr>
            <a:lvl5pPr algn="ctr">
              <a:defRPr sz="670" b="0">
                <a:solidFill>
                  <a:srgbClr val="263442"/>
                </a:solidFill>
                <a:latin typeface="Arial"/>
                <a:ea typeface="Arial"/>
                <a:cs typeface="Arial"/>
              </a:defRPr>
            </a:lvl5pPr>
            <a:lvl6pPr algn="ctr">
              <a:defRPr sz="670" b="0">
                <a:solidFill>
                  <a:srgbClr val="263442"/>
                </a:solidFill>
                <a:latin typeface="Arial"/>
                <a:ea typeface="Arial"/>
                <a:cs typeface="Arial"/>
              </a:defRPr>
            </a:lvl6pPr>
            <a:lvl7pPr algn="ctr">
              <a:defRPr sz="670" b="0">
                <a:solidFill>
                  <a:srgbClr val="263442"/>
                </a:solidFill>
                <a:latin typeface="Arial"/>
                <a:ea typeface="Arial"/>
                <a:cs typeface="Arial"/>
              </a:defRPr>
            </a:lvl7pPr>
            <a:lvl8pPr algn="ctr">
              <a:defRPr sz="670" b="0">
                <a:solidFill>
                  <a:srgbClr val="263442"/>
                </a:solidFill>
                <a:latin typeface="Arial"/>
                <a:ea typeface="Arial"/>
                <a:cs typeface="Arial"/>
              </a:defRPr>
            </a:lvl8pPr>
            <a:lvl9pPr algn="ctr">
              <a:defRPr sz="670" b="0">
                <a:solidFill>
                  <a:srgbClr val="263442"/>
                </a:solidFill>
                <a:latin typeface="Arial"/>
                <a:ea typeface="Arial"/>
                <a:cs typeface="Arial"/>
              </a:defRPr>
            </a:lvl9pPr>
          </a:lstStyle>
          <a:p>
            <a:pPr algn="ctr">
              <a:defRPr sz="670" b="0">
                <a:solidFill>
                  <a:srgbClr val="263442"/>
                </a:solidFill>
                <a:latin typeface="Arial"/>
                <a:ea typeface="Arial"/>
                <a:cs typeface="Arial"/>
              </a:defRPr>
            </a:pPr>
            <a:r>
              <a:rPr sz="670" b="0" dirty="0">
                <a:solidFill>
                  <a:srgbClr val="263442"/>
                </a:solidFill>
                <a:latin typeface="Arial"/>
                <a:ea typeface="Arial"/>
                <a:cs typeface="Arial"/>
              </a:rPr>
              <a:t>All-atom ligand pose</a:t>
            </a:r>
            <a:r>
              <a:rPr lang="en-US" sz="670" b="0" dirty="0">
                <a:solidFill>
                  <a:srgbClr val="263442"/>
                </a:solidFill>
                <a:latin typeface="Arial"/>
                <a:ea typeface="Arial"/>
                <a:cs typeface="Arial"/>
              </a:rPr>
              <a:t>(s)</a:t>
            </a:r>
            <a:endParaRPr sz="670" b="0" dirty="0">
              <a:solidFill>
                <a:srgbClr val="263442"/>
              </a:solidFill>
              <a:latin typeface="Arial"/>
              <a:ea typeface="Arial"/>
              <a:cs typeface="Arial"/>
            </a:endParaRPr>
          </a:p>
        </p:txBody>
      </p:sp>
      <p:sp>
        <p:nvSpPr>
          <p:cNvPr id="10" name="Build | inputs to iterative denoising">
            <a:extLst>
              <a:ext uri="{FF2B5EF4-FFF2-40B4-BE49-F238E27FC236}">
                <a16:creationId xmlns:a16="http://schemas.microsoft.com/office/drawing/2014/main" id="{B56C2746-0CB1-DB89-C9E3-5F0D0C129E2E}"/>
              </a:ext>
            </a:extLst>
          </p:cNvPr>
          <p:cNvSpPr>
            <a:spLocks noGrp="1"/>
          </p:cNvSpPr>
          <p:nvPr/>
        </p:nvSpPr>
        <p:spPr>
          <a:xfrm flipH="1">
            <a:off x="5300905" y="2502829"/>
            <a:ext cx="69223" cy="1043423"/>
          </a:xfrm>
          <a:custGeom>
            <a:avLst/>
            <a:gdLst/>
            <a:ahLst/>
            <a:cxnLst/>
            <a:rect l="0" t="0" r="0" b="0"/>
            <a:pathLst>
              <a:path w="95" h="100800">
                <a:moveTo>
                  <a:pt x="0" y="0"/>
                </a:moveTo>
                <a:lnTo>
                  <a:pt x="0" y="100800"/>
                </a:lnTo>
              </a:path>
            </a:pathLst>
          </a:custGeom>
          <a:noFill/>
          <a:ln w="8255">
            <a:solidFill>
              <a:srgbClr val="77828C"/>
            </a:solidFill>
          </a:ln>
        </p:spPr>
      </p:sp>
      <p:sp>
        <p:nvSpPr>
          <p:cNvPr id="14" name="Build | inputs to iterative denoising head">
            <a:extLst>
              <a:ext uri="{FF2B5EF4-FFF2-40B4-BE49-F238E27FC236}">
                <a16:creationId xmlns:a16="http://schemas.microsoft.com/office/drawing/2014/main" id="{EEBCE58B-41F6-9942-9A21-6BEF84E6B238}"/>
              </a:ext>
            </a:extLst>
          </p:cNvPr>
          <p:cNvSpPr>
            <a:spLocks noGrp="1"/>
          </p:cNvSpPr>
          <p:nvPr/>
        </p:nvSpPr>
        <p:spPr>
          <a:xfrm>
            <a:off x="5354208" y="3525770"/>
            <a:ext cx="28261" cy="27142"/>
          </a:xfrm>
          <a:custGeom>
            <a:avLst/>
            <a:gdLst/>
            <a:ahLst/>
            <a:cxnLst/>
            <a:rect l="0" t="0" r="0" b="0"/>
            <a:pathLst>
              <a:path w="28261" h="27142">
                <a:moveTo>
                  <a:pt x="0" y="0"/>
                </a:moveTo>
                <a:lnTo>
                  <a:pt x="14130" y="27142"/>
                </a:lnTo>
                <a:lnTo>
                  <a:pt x="28261" y="0"/>
                </a:lnTo>
              </a:path>
            </a:pathLst>
          </a:custGeom>
          <a:noFill/>
          <a:ln w="8255">
            <a:solidFill>
              <a:srgbClr val="77828C"/>
            </a:solidFill>
          </a:ln>
        </p:spPr>
      </p:sp>
      <p:sp>
        <p:nvSpPr>
          <p:cNvPr id="15" name="Build | Default PocketXMol card">
            <a:extLst>
              <a:ext uri="{FF2B5EF4-FFF2-40B4-BE49-F238E27FC236}">
                <a16:creationId xmlns:a16="http://schemas.microsoft.com/office/drawing/2014/main" id="{A6BEF467-11D7-24DA-70C6-C6BF3B8AED94}"/>
              </a:ext>
            </a:extLst>
          </p:cNvPr>
          <p:cNvSpPr/>
          <p:nvPr/>
        </p:nvSpPr>
        <p:spPr>
          <a:xfrm>
            <a:off x="4999032" y="1900178"/>
            <a:ext cx="1106490" cy="456341"/>
          </a:xfrm>
          <a:prstGeom prst="roundRect">
            <a:avLst>
              <a:gd name="adj" fmla="val 8000"/>
            </a:avLst>
          </a:prstGeom>
          <a:solidFill>
            <a:srgbClr val="FAF1DE"/>
          </a:solidFill>
          <a:ln w="7290">
            <a:solidFill>
              <a:srgbClr val="D8A95A"/>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grpSp>
        <p:nvGrpSpPr>
          <p:cNvPr id="16" name="Build | Density cube icon">
            <a:extLst>
              <a:ext uri="{FF2B5EF4-FFF2-40B4-BE49-F238E27FC236}">
                <a16:creationId xmlns:a16="http://schemas.microsoft.com/office/drawing/2014/main" id="{DBD9D38F-7ADA-670E-7D19-0A4B301F802D}"/>
              </a:ext>
            </a:extLst>
          </p:cNvPr>
          <p:cNvGrpSpPr/>
          <p:nvPr/>
        </p:nvGrpSpPr>
        <p:grpSpPr>
          <a:xfrm>
            <a:off x="5031164" y="1982142"/>
            <a:ext cx="213580" cy="227238"/>
            <a:chOff x="2187720" y="5635440"/>
            <a:chExt cx="154440" cy="131400"/>
          </a:xfrm>
        </p:grpSpPr>
        <p:sp>
          <p:nvSpPr>
            <p:cNvPr id="17" name="asset_3169_0">
              <a:extLst>
                <a:ext uri="{FF2B5EF4-FFF2-40B4-BE49-F238E27FC236}">
                  <a16:creationId xmlns:a16="http://schemas.microsoft.com/office/drawing/2014/main" id="{45B92FA9-A8FE-8FB1-A89C-4090B539C597}"/>
                </a:ext>
              </a:extLst>
            </p:cNvPr>
            <p:cNvSpPr>
              <a:spLocks noGrp="1"/>
            </p:cNvSpPr>
            <p:nvPr/>
          </p:nvSpPr>
          <p:spPr>
            <a:xfrm>
              <a:off x="2187720" y="5635440"/>
              <a:ext cx="154440" cy="22338"/>
            </a:xfrm>
            <a:custGeom>
              <a:avLst/>
              <a:gdLst/>
              <a:ahLst/>
              <a:cxnLst/>
              <a:rect l="0" t="0" r="0" b="0"/>
              <a:pathLst>
                <a:path w="154440" h="22338">
                  <a:moveTo>
                    <a:pt x="0" y="22338"/>
                  </a:moveTo>
                  <a:lnTo>
                    <a:pt x="29344" y="0"/>
                  </a:lnTo>
                  <a:lnTo>
                    <a:pt x="154440" y="0"/>
                  </a:lnTo>
                  <a:lnTo>
                    <a:pt x="125096" y="22338"/>
                  </a:lnTo>
                  <a:close/>
                </a:path>
              </a:pathLst>
            </a:custGeom>
            <a:gradFill>
              <a:gsLst>
                <a:gs pos="0">
                  <a:srgbClr val="FAFDFF">
                    <a:alpha val="65000"/>
                  </a:srgbClr>
                </a:gs>
                <a:gs pos="100000">
                  <a:srgbClr val="D9EAFA">
                    <a:alpha val="45000"/>
                  </a:srgbClr>
                </a:gs>
              </a:gsLst>
              <a:lin ang="5400000"/>
            </a:gradFill>
            <a:ln w="2700">
              <a:solidFill>
                <a:srgbClr val="A3C3E2"/>
              </a:solidFill>
            </a:ln>
          </p:spPr>
        </p:sp>
        <p:sp>
          <p:nvSpPr>
            <p:cNvPr id="18" name="asset_3169_1">
              <a:extLst>
                <a:ext uri="{FF2B5EF4-FFF2-40B4-BE49-F238E27FC236}">
                  <a16:creationId xmlns:a16="http://schemas.microsoft.com/office/drawing/2014/main" id="{9D68DE2F-1A95-B31F-A0DB-03771D927257}"/>
                </a:ext>
              </a:extLst>
            </p:cNvPr>
            <p:cNvSpPr>
              <a:spLocks noGrp="1"/>
            </p:cNvSpPr>
            <p:nvPr/>
          </p:nvSpPr>
          <p:spPr>
            <a:xfrm>
              <a:off x="2312816" y="5635440"/>
              <a:ext cx="29344" cy="131400"/>
            </a:xfrm>
            <a:custGeom>
              <a:avLst/>
              <a:gdLst/>
              <a:ahLst/>
              <a:cxnLst/>
              <a:rect l="0" t="0" r="0" b="0"/>
              <a:pathLst>
                <a:path w="29344" h="131400">
                  <a:moveTo>
                    <a:pt x="0" y="22338"/>
                  </a:moveTo>
                  <a:lnTo>
                    <a:pt x="29344" y="0"/>
                  </a:lnTo>
                  <a:lnTo>
                    <a:pt x="29344" y="109062"/>
                  </a:lnTo>
                  <a:lnTo>
                    <a:pt x="0" y="131400"/>
                  </a:lnTo>
                  <a:close/>
                </a:path>
              </a:pathLst>
            </a:custGeom>
            <a:solidFill>
              <a:srgbClr val="C9DFF3">
                <a:alpha val="22000"/>
              </a:srgbClr>
            </a:solidFill>
            <a:ln w="2700">
              <a:solidFill>
                <a:srgbClr val="A3C3E2"/>
              </a:solidFill>
            </a:ln>
          </p:spPr>
        </p:sp>
        <p:sp>
          <p:nvSpPr>
            <p:cNvPr id="19" name="asset_3169_2">
              <a:extLst>
                <a:ext uri="{FF2B5EF4-FFF2-40B4-BE49-F238E27FC236}">
                  <a16:creationId xmlns:a16="http://schemas.microsoft.com/office/drawing/2014/main" id="{24577DB1-4D51-DACD-4386-F05AA19AFAD2}"/>
                </a:ext>
              </a:extLst>
            </p:cNvPr>
            <p:cNvSpPr>
              <a:spLocks noGrp="1"/>
            </p:cNvSpPr>
            <p:nvPr/>
          </p:nvSpPr>
          <p:spPr>
            <a:xfrm>
              <a:off x="2187720" y="5657778"/>
              <a:ext cx="125096" cy="109062"/>
            </a:xfrm>
            <a:prstGeom prst="rect">
              <a:avLst/>
            </a:prstGeom>
            <a:solidFill>
              <a:srgbClr val="E7F1FC">
                <a:alpha val="20000"/>
              </a:srgbClr>
            </a:solidFill>
            <a:ln w="2700">
              <a:solidFill>
                <a:srgbClr val="ABC9E7"/>
              </a:solidFill>
            </a:ln>
          </p:spPr>
        </p:sp>
        <p:sp>
          <p:nvSpPr>
            <p:cNvPr id="20" name="asset_3169_3">
              <a:extLst>
                <a:ext uri="{FF2B5EF4-FFF2-40B4-BE49-F238E27FC236}">
                  <a16:creationId xmlns:a16="http://schemas.microsoft.com/office/drawing/2014/main" id="{4CCB5D1A-AEB6-87AC-D89D-34F14905204F}"/>
                </a:ext>
              </a:extLst>
            </p:cNvPr>
            <p:cNvSpPr>
              <a:spLocks noGrp="1"/>
            </p:cNvSpPr>
            <p:nvPr/>
          </p:nvSpPr>
          <p:spPr>
            <a:xfrm>
              <a:off x="2218994" y="5657778"/>
              <a:ext cx="4" cy="109062"/>
            </a:xfrm>
            <a:prstGeom prst="line">
              <a:avLst/>
            </a:prstGeom>
            <a:noFill/>
            <a:ln w="1980">
              <a:solidFill>
                <a:srgbClr val="B8D2EB">
                  <a:alpha val="33000"/>
                </a:srgbClr>
              </a:solidFill>
            </a:ln>
          </p:spPr>
        </p:sp>
        <p:sp>
          <p:nvSpPr>
            <p:cNvPr id="21" name="asset_3169_4">
              <a:extLst>
                <a:ext uri="{FF2B5EF4-FFF2-40B4-BE49-F238E27FC236}">
                  <a16:creationId xmlns:a16="http://schemas.microsoft.com/office/drawing/2014/main" id="{C056131E-4BBB-0E7C-E54F-35504ABC5969}"/>
                </a:ext>
              </a:extLst>
            </p:cNvPr>
            <p:cNvSpPr>
              <a:spLocks noGrp="1"/>
            </p:cNvSpPr>
            <p:nvPr/>
          </p:nvSpPr>
          <p:spPr>
            <a:xfrm>
              <a:off x="2187720" y="5685044"/>
              <a:ext cx="125096" cy="4"/>
            </a:xfrm>
            <a:prstGeom prst="line">
              <a:avLst/>
            </a:prstGeom>
            <a:noFill/>
            <a:ln w="1980">
              <a:solidFill>
                <a:srgbClr val="B8D2EB">
                  <a:alpha val="33000"/>
                </a:srgbClr>
              </a:solidFill>
            </a:ln>
          </p:spPr>
        </p:sp>
        <p:sp>
          <p:nvSpPr>
            <p:cNvPr id="23" name="asset_3169_5">
              <a:extLst>
                <a:ext uri="{FF2B5EF4-FFF2-40B4-BE49-F238E27FC236}">
                  <a16:creationId xmlns:a16="http://schemas.microsoft.com/office/drawing/2014/main" id="{84DB8CE2-D261-DEB5-8508-781430985F14}"/>
                </a:ext>
              </a:extLst>
            </p:cNvPr>
            <p:cNvSpPr>
              <a:spLocks noGrp="1"/>
            </p:cNvSpPr>
            <p:nvPr/>
          </p:nvSpPr>
          <p:spPr>
            <a:xfrm>
              <a:off x="2250268" y="5657778"/>
              <a:ext cx="4" cy="109062"/>
            </a:xfrm>
            <a:prstGeom prst="line">
              <a:avLst/>
            </a:prstGeom>
            <a:noFill/>
            <a:ln w="1980">
              <a:solidFill>
                <a:srgbClr val="B8D2EB">
                  <a:alpha val="33000"/>
                </a:srgbClr>
              </a:solidFill>
            </a:ln>
          </p:spPr>
        </p:sp>
        <p:sp>
          <p:nvSpPr>
            <p:cNvPr id="25" name="asset_3169_6">
              <a:extLst>
                <a:ext uri="{FF2B5EF4-FFF2-40B4-BE49-F238E27FC236}">
                  <a16:creationId xmlns:a16="http://schemas.microsoft.com/office/drawing/2014/main" id="{7A62937F-446B-AFAD-97D6-C1747DD38776}"/>
                </a:ext>
              </a:extLst>
            </p:cNvPr>
            <p:cNvSpPr>
              <a:spLocks noGrp="1"/>
            </p:cNvSpPr>
            <p:nvPr/>
          </p:nvSpPr>
          <p:spPr>
            <a:xfrm>
              <a:off x="2187720" y="5712309"/>
              <a:ext cx="125096" cy="4"/>
            </a:xfrm>
            <a:prstGeom prst="line">
              <a:avLst/>
            </a:prstGeom>
            <a:noFill/>
            <a:ln w="1980">
              <a:solidFill>
                <a:srgbClr val="B8D2EB">
                  <a:alpha val="33000"/>
                </a:srgbClr>
              </a:solidFill>
            </a:ln>
          </p:spPr>
        </p:sp>
        <p:sp>
          <p:nvSpPr>
            <p:cNvPr id="28" name="asset_3169_7">
              <a:extLst>
                <a:ext uri="{FF2B5EF4-FFF2-40B4-BE49-F238E27FC236}">
                  <a16:creationId xmlns:a16="http://schemas.microsoft.com/office/drawing/2014/main" id="{5F755F8E-B8E3-E73C-54F4-D1335B03FFCB}"/>
                </a:ext>
              </a:extLst>
            </p:cNvPr>
            <p:cNvSpPr>
              <a:spLocks noGrp="1"/>
            </p:cNvSpPr>
            <p:nvPr/>
          </p:nvSpPr>
          <p:spPr>
            <a:xfrm>
              <a:off x="2281542" y="5657778"/>
              <a:ext cx="4" cy="109062"/>
            </a:xfrm>
            <a:prstGeom prst="line">
              <a:avLst/>
            </a:prstGeom>
            <a:noFill/>
            <a:ln w="1980">
              <a:solidFill>
                <a:srgbClr val="B8D2EB">
                  <a:alpha val="33000"/>
                </a:srgbClr>
              </a:solidFill>
            </a:ln>
          </p:spPr>
        </p:sp>
        <p:sp>
          <p:nvSpPr>
            <p:cNvPr id="29" name="asset_3169_8">
              <a:extLst>
                <a:ext uri="{FF2B5EF4-FFF2-40B4-BE49-F238E27FC236}">
                  <a16:creationId xmlns:a16="http://schemas.microsoft.com/office/drawing/2014/main" id="{B4F72193-D285-74C6-7BD5-D1E9D7ECCCED}"/>
                </a:ext>
              </a:extLst>
            </p:cNvPr>
            <p:cNvSpPr>
              <a:spLocks noGrp="1"/>
            </p:cNvSpPr>
            <p:nvPr/>
          </p:nvSpPr>
          <p:spPr>
            <a:xfrm>
              <a:off x="2187720" y="5739574"/>
              <a:ext cx="125096" cy="4"/>
            </a:xfrm>
            <a:prstGeom prst="line">
              <a:avLst/>
            </a:prstGeom>
            <a:noFill/>
            <a:ln w="1980">
              <a:solidFill>
                <a:srgbClr val="B8D2EB">
                  <a:alpha val="33000"/>
                </a:srgbClr>
              </a:solidFill>
            </a:ln>
          </p:spPr>
        </p:sp>
        <p:sp>
          <p:nvSpPr>
            <p:cNvPr id="30" name="asset_3169_9">
              <a:extLst>
                <a:ext uri="{FF2B5EF4-FFF2-40B4-BE49-F238E27FC236}">
                  <a16:creationId xmlns:a16="http://schemas.microsoft.com/office/drawing/2014/main" id="{77BE4C0F-6BAC-209B-E21A-18D10FDCB99E}"/>
                </a:ext>
              </a:extLst>
            </p:cNvPr>
            <p:cNvSpPr>
              <a:spLocks noGrp="1"/>
            </p:cNvSpPr>
            <p:nvPr/>
          </p:nvSpPr>
          <p:spPr>
            <a:xfrm>
              <a:off x="2198791" y="5672574"/>
              <a:ext cx="58245" cy="50256"/>
            </a:xfrm>
            <a:prstGeom prst="ellipse">
              <a:avLst/>
            </a:prstGeom>
            <a:gradFill>
              <a:gsLst>
                <a:gs pos="0">
                  <a:srgbClr val="E5F0FF">
                    <a:alpha val="55000"/>
                  </a:srgbClr>
                </a:gs>
                <a:gs pos="48000">
                  <a:srgbClr val="7DA9DB">
                    <a:alpha val="60000"/>
                  </a:srgbClr>
                </a:gs>
                <a:gs pos="100000">
                  <a:srgbClr val="7DA9DB">
                    <a:alpha val="35000"/>
                  </a:srgbClr>
                </a:gs>
              </a:gsLst>
              <a:lin ang="8400000"/>
            </a:gradFill>
            <a:ln w="3600">
              <a:noFill/>
            </a:ln>
            <a:effectLst>
              <a:softEdge rad="4320"/>
            </a:effectLst>
          </p:spPr>
        </p:sp>
        <p:sp>
          <p:nvSpPr>
            <p:cNvPr id="31" name="asset_3169_10">
              <a:extLst>
                <a:ext uri="{FF2B5EF4-FFF2-40B4-BE49-F238E27FC236}">
                  <a16:creationId xmlns:a16="http://schemas.microsoft.com/office/drawing/2014/main" id="{B6E5267F-644D-81D4-2A37-E1BCCF6EC00B}"/>
                </a:ext>
              </a:extLst>
            </p:cNvPr>
            <p:cNvSpPr>
              <a:spLocks noGrp="1"/>
            </p:cNvSpPr>
            <p:nvPr/>
          </p:nvSpPr>
          <p:spPr>
            <a:xfrm>
              <a:off x="2225487" y="5687232"/>
              <a:ext cx="63099" cy="54444"/>
            </a:xfrm>
            <a:prstGeom prst="ellipse">
              <a:avLst/>
            </a:prstGeom>
            <a:gradFill>
              <a:gsLst>
                <a:gs pos="0">
                  <a:srgbClr val="E5F0FF">
                    <a:alpha val="55000"/>
                  </a:srgbClr>
                </a:gs>
                <a:gs pos="48000">
                  <a:srgbClr val="7DA9DB">
                    <a:alpha val="60000"/>
                  </a:srgbClr>
                </a:gs>
                <a:gs pos="100000">
                  <a:srgbClr val="7DA9DB">
                    <a:alpha val="35000"/>
                  </a:srgbClr>
                </a:gs>
              </a:gsLst>
              <a:lin ang="8400000"/>
            </a:gradFill>
            <a:ln w="3600">
              <a:noFill/>
            </a:ln>
            <a:effectLst>
              <a:softEdge rad="4320"/>
            </a:effectLst>
          </p:spPr>
        </p:sp>
        <p:sp>
          <p:nvSpPr>
            <p:cNvPr id="32" name="asset_3169_11">
              <a:extLst>
                <a:ext uri="{FF2B5EF4-FFF2-40B4-BE49-F238E27FC236}">
                  <a16:creationId xmlns:a16="http://schemas.microsoft.com/office/drawing/2014/main" id="{00193272-65DF-521D-BC70-C550C1979B63}"/>
                </a:ext>
              </a:extLst>
            </p:cNvPr>
            <p:cNvSpPr>
              <a:spLocks noGrp="1"/>
            </p:cNvSpPr>
            <p:nvPr/>
          </p:nvSpPr>
          <p:spPr>
            <a:xfrm>
              <a:off x="2248542" y="5660010"/>
              <a:ext cx="55818" cy="48162"/>
            </a:xfrm>
            <a:prstGeom prst="ellipse">
              <a:avLst/>
            </a:prstGeom>
            <a:gradFill>
              <a:gsLst>
                <a:gs pos="0">
                  <a:srgbClr val="E5F0FF">
                    <a:alpha val="55000"/>
                  </a:srgbClr>
                </a:gs>
                <a:gs pos="48000">
                  <a:srgbClr val="7DA9DB">
                    <a:alpha val="60000"/>
                  </a:srgbClr>
                </a:gs>
                <a:gs pos="100000">
                  <a:srgbClr val="7DA9DB">
                    <a:alpha val="35000"/>
                  </a:srgbClr>
                </a:gs>
              </a:gsLst>
              <a:lin ang="8400000"/>
            </a:gradFill>
            <a:ln w="3600">
              <a:noFill/>
            </a:ln>
            <a:effectLst>
              <a:softEdge rad="4320"/>
            </a:effectLst>
          </p:spPr>
        </p:sp>
        <p:sp>
          <p:nvSpPr>
            <p:cNvPr id="33" name="asset_3169_12">
              <a:extLst>
                <a:ext uri="{FF2B5EF4-FFF2-40B4-BE49-F238E27FC236}">
                  <a16:creationId xmlns:a16="http://schemas.microsoft.com/office/drawing/2014/main" id="{0FB584E0-9797-C582-D447-2F684A90A5CF}"/>
                </a:ext>
              </a:extLst>
            </p:cNvPr>
            <p:cNvSpPr>
              <a:spLocks noGrp="1"/>
            </p:cNvSpPr>
            <p:nvPr/>
          </p:nvSpPr>
          <p:spPr>
            <a:xfrm>
              <a:off x="2223060" y="5652681"/>
              <a:ext cx="53391" cy="46068"/>
            </a:xfrm>
            <a:prstGeom prst="ellipse">
              <a:avLst/>
            </a:prstGeom>
            <a:gradFill>
              <a:gsLst>
                <a:gs pos="0">
                  <a:srgbClr val="E5F0FF">
                    <a:alpha val="55000"/>
                  </a:srgbClr>
                </a:gs>
                <a:gs pos="48000">
                  <a:srgbClr val="7DA9DB">
                    <a:alpha val="60000"/>
                  </a:srgbClr>
                </a:gs>
                <a:gs pos="100000">
                  <a:srgbClr val="7DA9DB">
                    <a:alpha val="35000"/>
                  </a:srgbClr>
                </a:gs>
              </a:gsLst>
              <a:lin ang="8400000"/>
            </a:gradFill>
            <a:ln w="3600">
              <a:noFill/>
            </a:ln>
            <a:effectLst>
              <a:softEdge rad="4320"/>
            </a:effectLst>
          </p:spPr>
        </p:sp>
        <p:sp>
          <p:nvSpPr>
            <p:cNvPr id="34" name="asset_3169_13">
              <a:extLst>
                <a:ext uri="{FF2B5EF4-FFF2-40B4-BE49-F238E27FC236}">
                  <a16:creationId xmlns:a16="http://schemas.microsoft.com/office/drawing/2014/main" id="{C4034C60-5B50-0842-71F6-19E1380F1041}"/>
                </a:ext>
              </a:extLst>
            </p:cNvPr>
            <p:cNvSpPr>
              <a:spLocks noGrp="1"/>
            </p:cNvSpPr>
            <p:nvPr/>
          </p:nvSpPr>
          <p:spPr>
            <a:xfrm>
              <a:off x="2207281" y="5693871"/>
              <a:ext cx="30911" cy="26671"/>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35" name="asset_3169_14">
              <a:extLst>
                <a:ext uri="{FF2B5EF4-FFF2-40B4-BE49-F238E27FC236}">
                  <a16:creationId xmlns:a16="http://schemas.microsoft.com/office/drawing/2014/main" id="{C2CE9413-559A-2E52-AB3B-395AEA4092CF}"/>
                </a:ext>
              </a:extLst>
            </p:cNvPr>
            <p:cNvSpPr>
              <a:spLocks noGrp="1"/>
            </p:cNvSpPr>
            <p:nvPr/>
          </p:nvSpPr>
          <p:spPr>
            <a:xfrm>
              <a:off x="2253557" y="5697302"/>
              <a:ext cx="21556" cy="18600"/>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36" name="asset_3169_15">
              <a:extLst>
                <a:ext uri="{FF2B5EF4-FFF2-40B4-BE49-F238E27FC236}">
                  <a16:creationId xmlns:a16="http://schemas.microsoft.com/office/drawing/2014/main" id="{F74A8A65-2FB4-66D8-F6C1-30A9D24C30EA}"/>
                </a:ext>
              </a:extLst>
            </p:cNvPr>
            <p:cNvSpPr>
              <a:spLocks noGrp="1"/>
            </p:cNvSpPr>
            <p:nvPr/>
          </p:nvSpPr>
          <p:spPr>
            <a:xfrm>
              <a:off x="2278359" y="5672317"/>
              <a:ext cx="20931" cy="18060"/>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37" name="asset_3169_16">
              <a:extLst>
                <a:ext uri="{FF2B5EF4-FFF2-40B4-BE49-F238E27FC236}">
                  <a16:creationId xmlns:a16="http://schemas.microsoft.com/office/drawing/2014/main" id="{58540110-3868-201D-0F9B-A2279B8D2E27}"/>
                </a:ext>
              </a:extLst>
            </p:cNvPr>
            <p:cNvSpPr>
              <a:spLocks noGrp="1"/>
            </p:cNvSpPr>
            <p:nvPr/>
          </p:nvSpPr>
          <p:spPr>
            <a:xfrm>
              <a:off x="2235959" y="5649092"/>
              <a:ext cx="26179" cy="22588"/>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38" name="asset_3169_17">
              <a:extLst>
                <a:ext uri="{FF2B5EF4-FFF2-40B4-BE49-F238E27FC236}">
                  <a16:creationId xmlns:a16="http://schemas.microsoft.com/office/drawing/2014/main" id="{B1E98D3B-3C3A-44E9-AF25-0B3FC9450DD2}"/>
                </a:ext>
              </a:extLst>
            </p:cNvPr>
            <p:cNvSpPr>
              <a:spLocks noGrp="1"/>
            </p:cNvSpPr>
            <p:nvPr/>
          </p:nvSpPr>
          <p:spPr>
            <a:xfrm>
              <a:off x="2230057" y="5690206"/>
              <a:ext cx="17158" cy="14805"/>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39" name="asset_3169_18">
              <a:extLst>
                <a:ext uri="{FF2B5EF4-FFF2-40B4-BE49-F238E27FC236}">
                  <a16:creationId xmlns:a16="http://schemas.microsoft.com/office/drawing/2014/main" id="{22A79543-B9A8-3F55-1F41-716843B59CCF}"/>
                </a:ext>
              </a:extLst>
            </p:cNvPr>
            <p:cNvSpPr>
              <a:spLocks noGrp="1"/>
            </p:cNvSpPr>
            <p:nvPr/>
          </p:nvSpPr>
          <p:spPr>
            <a:xfrm>
              <a:off x="2228799" y="5700798"/>
              <a:ext cx="17470" cy="15073"/>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40" name="asset_3169_19">
              <a:extLst>
                <a:ext uri="{FF2B5EF4-FFF2-40B4-BE49-F238E27FC236}">
                  <a16:creationId xmlns:a16="http://schemas.microsoft.com/office/drawing/2014/main" id="{77BC702A-2DE1-0C35-0CCA-55E12B540179}"/>
                </a:ext>
              </a:extLst>
            </p:cNvPr>
            <p:cNvSpPr>
              <a:spLocks noGrp="1"/>
            </p:cNvSpPr>
            <p:nvPr/>
          </p:nvSpPr>
          <p:spPr>
            <a:xfrm>
              <a:off x="2264745" y="5672793"/>
              <a:ext cx="22335" cy="19272"/>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41" name="asset_3169_20">
              <a:extLst>
                <a:ext uri="{FF2B5EF4-FFF2-40B4-BE49-F238E27FC236}">
                  <a16:creationId xmlns:a16="http://schemas.microsoft.com/office/drawing/2014/main" id="{243F6F95-1DD5-5480-5430-ACA0FBAF8513}"/>
                </a:ext>
              </a:extLst>
            </p:cNvPr>
            <p:cNvSpPr>
              <a:spLocks noGrp="1"/>
            </p:cNvSpPr>
            <p:nvPr/>
          </p:nvSpPr>
          <p:spPr>
            <a:xfrm>
              <a:off x="2247802" y="5671816"/>
              <a:ext cx="29288" cy="25271"/>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42" name="asset_3169_21">
              <a:extLst>
                <a:ext uri="{FF2B5EF4-FFF2-40B4-BE49-F238E27FC236}">
                  <a16:creationId xmlns:a16="http://schemas.microsoft.com/office/drawing/2014/main" id="{47B4D64D-C25C-7187-354B-C836694A20F9}"/>
                </a:ext>
              </a:extLst>
            </p:cNvPr>
            <p:cNvSpPr>
              <a:spLocks noGrp="1"/>
            </p:cNvSpPr>
            <p:nvPr/>
          </p:nvSpPr>
          <p:spPr>
            <a:xfrm>
              <a:off x="2221472" y="5673188"/>
              <a:ext cx="24803" cy="21401"/>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43" name="asset_3169_22">
              <a:extLst>
                <a:ext uri="{FF2B5EF4-FFF2-40B4-BE49-F238E27FC236}">
                  <a16:creationId xmlns:a16="http://schemas.microsoft.com/office/drawing/2014/main" id="{8921F878-581F-9BBA-8421-D95306EB4702}"/>
                </a:ext>
              </a:extLst>
            </p:cNvPr>
            <p:cNvSpPr>
              <a:spLocks noGrp="1"/>
            </p:cNvSpPr>
            <p:nvPr/>
          </p:nvSpPr>
          <p:spPr>
            <a:xfrm>
              <a:off x="2231057" y="5701581"/>
              <a:ext cx="27548" cy="23769"/>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44" name="asset_3169_23">
              <a:extLst>
                <a:ext uri="{FF2B5EF4-FFF2-40B4-BE49-F238E27FC236}">
                  <a16:creationId xmlns:a16="http://schemas.microsoft.com/office/drawing/2014/main" id="{E5A645E5-22AB-12C5-2077-B6AAB3253FFF}"/>
                </a:ext>
              </a:extLst>
            </p:cNvPr>
            <p:cNvSpPr>
              <a:spLocks noGrp="1"/>
            </p:cNvSpPr>
            <p:nvPr/>
          </p:nvSpPr>
          <p:spPr>
            <a:xfrm>
              <a:off x="2264932" y="5667506"/>
              <a:ext cx="28421" cy="24522"/>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45" name="asset_3169_24">
              <a:extLst>
                <a:ext uri="{FF2B5EF4-FFF2-40B4-BE49-F238E27FC236}">
                  <a16:creationId xmlns:a16="http://schemas.microsoft.com/office/drawing/2014/main" id="{2F2C8DDE-133A-4E76-B733-40C1A89FB3A4}"/>
                </a:ext>
              </a:extLst>
            </p:cNvPr>
            <p:cNvSpPr>
              <a:spLocks noGrp="1"/>
            </p:cNvSpPr>
            <p:nvPr/>
          </p:nvSpPr>
          <p:spPr>
            <a:xfrm>
              <a:off x="2231286" y="5661727"/>
              <a:ext cx="25293" cy="21823"/>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46" name="asset_3169_25">
              <a:extLst>
                <a:ext uri="{FF2B5EF4-FFF2-40B4-BE49-F238E27FC236}">
                  <a16:creationId xmlns:a16="http://schemas.microsoft.com/office/drawing/2014/main" id="{BA42055B-2239-8758-B705-5B5F0152C086}"/>
                </a:ext>
              </a:extLst>
            </p:cNvPr>
            <p:cNvSpPr>
              <a:spLocks noGrp="1"/>
            </p:cNvSpPr>
            <p:nvPr/>
          </p:nvSpPr>
          <p:spPr>
            <a:xfrm>
              <a:off x="2203520" y="5678934"/>
              <a:ext cx="26056" cy="22482"/>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47" name="asset_3169_26">
              <a:extLst>
                <a:ext uri="{FF2B5EF4-FFF2-40B4-BE49-F238E27FC236}">
                  <a16:creationId xmlns:a16="http://schemas.microsoft.com/office/drawing/2014/main" id="{83E57D2C-608C-B18B-83CC-A89D2FE06E8A}"/>
                </a:ext>
              </a:extLst>
            </p:cNvPr>
            <p:cNvSpPr>
              <a:spLocks noGrp="1"/>
            </p:cNvSpPr>
            <p:nvPr/>
          </p:nvSpPr>
          <p:spPr>
            <a:xfrm>
              <a:off x="2258761" y="5717055"/>
              <a:ext cx="20939" cy="18067"/>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48" name="asset_3169_27">
              <a:extLst>
                <a:ext uri="{FF2B5EF4-FFF2-40B4-BE49-F238E27FC236}">
                  <a16:creationId xmlns:a16="http://schemas.microsoft.com/office/drawing/2014/main" id="{9B84DB51-5ECA-CAE2-0220-6B477D28EF2A}"/>
                </a:ext>
              </a:extLst>
            </p:cNvPr>
            <p:cNvSpPr>
              <a:spLocks noGrp="1"/>
            </p:cNvSpPr>
            <p:nvPr/>
          </p:nvSpPr>
          <p:spPr>
            <a:xfrm>
              <a:off x="2262469" y="5681666"/>
              <a:ext cx="24125" cy="20816"/>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49" name="asset_3169_28">
              <a:extLst>
                <a:ext uri="{FF2B5EF4-FFF2-40B4-BE49-F238E27FC236}">
                  <a16:creationId xmlns:a16="http://schemas.microsoft.com/office/drawing/2014/main" id="{74FE9631-71E8-AFF3-5EFE-A8258C1326EA}"/>
                </a:ext>
              </a:extLst>
            </p:cNvPr>
            <p:cNvSpPr>
              <a:spLocks noGrp="1"/>
            </p:cNvSpPr>
            <p:nvPr/>
          </p:nvSpPr>
          <p:spPr>
            <a:xfrm>
              <a:off x="2238082" y="5671347"/>
              <a:ext cx="27389" cy="23632"/>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50" name="asset_3169_29">
              <a:extLst>
                <a:ext uri="{FF2B5EF4-FFF2-40B4-BE49-F238E27FC236}">
                  <a16:creationId xmlns:a16="http://schemas.microsoft.com/office/drawing/2014/main" id="{D8D95F0A-F5B9-5882-10A4-36849F60C91F}"/>
                </a:ext>
              </a:extLst>
            </p:cNvPr>
            <p:cNvSpPr>
              <a:spLocks noGrp="1"/>
            </p:cNvSpPr>
            <p:nvPr/>
          </p:nvSpPr>
          <p:spPr>
            <a:xfrm>
              <a:off x="2220795" y="5698579"/>
              <a:ext cx="25648" cy="22130"/>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51" name="asset_3169_30">
              <a:extLst>
                <a:ext uri="{FF2B5EF4-FFF2-40B4-BE49-F238E27FC236}">
                  <a16:creationId xmlns:a16="http://schemas.microsoft.com/office/drawing/2014/main" id="{E0052C15-82FA-C9ED-85AD-009BBAE55256}"/>
                </a:ext>
              </a:extLst>
            </p:cNvPr>
            <p:cNvSpPr>
              <a:spLocks noGrp="1"/>
            </p:cNvSpPr>
            <p:nvPr/>
          </p:nvSpPr>
          <p:spPr>
            <a:xfrm>
              <a:off x="2243067" y="5723084"/>
              <a:ext cx="17688" cy="15262"/>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52" name="asset_3169_31">
              <a:extLst>
                <a:ext uri="{FF2B5EF4-FFF2-40B4-BE49-F238E27FC236}">
                  <a16:creationId xmlns:a16="http://schemas.microsoft.com/office/drawing/2014/main" id="{16C87DF7-6E6D-199D-CA78-CC7F570FE993}"/>
                </a:ext>
              </a:extLst>
            </p:cNvPr>
            <p:cNvSpPr>
              <a:spLocks noGrp="1"/>
            </p:cNvSpPr>
            <p:nvPr/>
          </p:nvSpPr>
          <p:spPr>
            <a:xfrm>
              <a:off x="2257337" y="5659622"/>
              <a:ext cx="26336" cy="22723"/>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53" name="asset_3169_32">
              <a:extLst>
                <a:ext uri="{FF2B5EF4-FFF2-40B4-BE49-F238E27FC236}">
                  <a16:creationId xmlns:a16="http://schemas.microsoft.com/office/drawing/2014/main" id="{BC2C4A71-1C42-CC12-672A-C182635BD7A4}"/>
                </a:ext>
              </a:extLst>
            </p:cNvPr>
            <p:cNvSpPr>
              <a:spLocks noGrp="1"/>
            </p:cNvSpPr>
            <p:nvPr/>
          </p:nvSpPr>
          <p:spPr>
            <a:xfrm>
              <a:off x="2256492" y="5666095"/>
              <a:ext cx="23460" cy="20242"/>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54" name="asset_3169_33">
              <a:extLst>
                <a:ext uri="{FF2B5EF4-FFF2-40B4-BE49-F238E27FC236}">
                  <a16:creationId xmlns:a16="http://schemas.microsoft.com/office/drawing/2014/main" id="{8190C49F-8ABB-19E1-9635-2B0DCBE52912}"/>
                </a:ext>
              </a:extLst>
            </p:cNvPr>
            <p:cNvSpPr>
              <a:spLocks noGrp="1"/>
            </p:cNvSpPr>
            <p:nvPr/>
          </p:nvSpPr>
          <p:spPr>
            <a:xfrm>
              <a:off x="2210503" y="5688799"/>
              <a:ext cx="30840" cy="26610"/>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55" name="asset_3169_34">
              <a:extLst>
                <a:ext uri="{FF2B5EF4-FFF2-40B4-BE49-F238E27FC236}">
                  <a16:creationId xmlns:a16="http://schemas.microsoft.com/office/drawing/2014/main" id="{B4058285-7079-FFBB-568D-5D36A07792FC}"/>
                </a:ext>
              </a:extLst>
            </p:cNvPr>
            <p:cNvSpPr>
              <a:spLocks noGrp="1"/>
            </p:cNvSpPr>
            <p:nvPr/>
          </p:nvSpPr>
          <p:spPr>
            <a:xfrm>
              <a:off x="2236186" y="5705144"/>
              <a:ext cx="22611" cy="19510"/>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56" name="asset_3169_35">
              <a:extLst>
                <a:ext uri="{FF2B5EF4-FFF2-40B4-BE49-F238E27FC236}">
                  <a16:creationId xmlns:a16="http://schemas.microsoft.com/office/drawing/2014/main" id="{CDF7A74B-1515-39FD-E546-7510995F69F0}"/>
                </a:ext>
              </a:extLst>
            </p:cNvPr>
            <p:cNvSpPr>
              <a:spLocks noGrp="1"/>
            </p:cNvSpPr>
            <p:nvPr/>
          </p:nvSpPr>
          <p:spPr>
            <a:xfrm>
              <a:off x="2260671" y="5685042"/>
              <a:ext cx="19267" cy="16624"/>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57" name="asset_3169_36">
              <a:extLst>
                <a:ext uri="{FF2B5EF4-FFF2-40B4-BE49-F238E27FC236}">
                  <a16:creationId xmlns:a16="http://schemas.microsoft.com/office/drawing/2014/main" id="{3ECB7EDE-4431-291B-3062-9BD836876416}"/>
                </a:ext>
              </a:extLst>
            </p:cNvPr>
            <p:cNvSpPr>
              <a:spLocks noGrp="1"/>
            </p:cNvSpPr>
            <p:nvPr/>
          </p:nvSpPr>
          <p:spPr>
            <a:xfrm>
              <a:off x="2255827" y="5658297"/>
              <a:ext cx="24486" cy="21128"/>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58" name="asset_3169_37">
              <a:extLst>
                <a:ext uri="{FF2B5EF4-FFF2-40B4-BE49-F238E27FC236}">
                  <a16:creationId xmlns:a16="http://schemas.microsoft.com/office/drawing/2014/main" id="{60B46F2F-653C-31F6-6E6B-65E71B5875A6}"/>
                </a:ext>
              </a:extLst>
            </p:cNvPr>
            <p:cNvSpPr>
              <a:spLocks noGrp="1"/>
            </p:cNvSpPr>
            <p:nvPr/>
          </p:nvSpPr>
          <p:spPr>
            <a:xfrm>
              <a:off x="2212444" y="5679829"/>
              <a:ext cx="19456" cy="16787"/>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59" name="asset_3169_38">
              <a:extLst>
                <a:ext uri="{FF2B5EF4-FFF2-40B4-BE49-F238E27FC236}">
                  <a16:creationId xmlns:a16="http://schemas.microsoft.com/office/drawing/2014/main" id="{A59C7E7E-6A99-D233-8B0A-41B21042CAE6}"/>
                </a:ext>
              </a:extLst>
            </p:cNvPr>
            <p:cNvSpPr>
              <a:spLocks noGrp="1"/>
            </p:cNvSpPr>
            <p:nvPr/>
          </p:nvSpPr>
          <p:spPr>
            <a:xfrm>
              <a:off x="2240936" y="5686210"/>
              <a:ext cx="21405" cy="18469"/>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60" name="asset_3169_39">
              <a:extLst>
                <a:ext uri="{FF2B5EF4-FFF2-40B4-BE49-F238E27FC236}">
                  <a16:creationId xmlns:a16="http://schemas.microsoft.com/office/drawing/2014/main" id="{527EBB4A-663D-D6B8-8E32-4D6735805D98}"/>
                </a:ext>
              </a:extLst>
            </p:cNvPr>
            <p:cNvSpPr>
              <a:spLocks noGrp="1"/>
            </p:cNvSpPr>
            <p:nvPr/>
          </p:nvSpPr>
          <p:spPr>
            <a:xfrm>
              <a:off x="2265093" y="5678881"/>
              <a:ext cx="26532" cy="22893"/>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61" name="asset_3169_40">
              <a:extLst>
                <a:ext uri="{FF2B5EF4-FFF2-40B4-BE49-F238E27FC236}">
                  <a16:creationId xmlns:a16="http://schemas.microsoft.com/office/drawing/2014/main" id="{0CF8D253-BDD7-2CF1-5A45-5D78DFF32388}"/>
                </a:ext>
              </a:extLst>
            </p:cNvPr>
            <p:cNvSpPr>
              <a:spLocks noGrp="1"/>
            </p:cNvSpPr>
            <p:nvPr/>
          </p:nvSpPr>
          <p:spPr>
            <a:xfrm>
              <a:off x="2229701" y="5665168"/>
              <a:ext cx="29465" cy="25424"/>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62" name="asset_3169_41">
              <a:extLst>
                <a:ext uri="{FF2B5EF4-FFF2-40B4-BE49-F238E27FC236}">
                  <a16:creationId xmlns:a16="http://schemas.microsoft.com/office/drawing/2014/main" id="{C892E618-6E74-D371-AC70-F3976463F098}"/>
                </a:ext>
              </a:extLst>
            </p:cNvPr>
            <p:cNvSpPr>
              <a:spLocks noGrp="1"/>
            </p:cNvSpPr>
            <p:nvPr/>
          </p:nvSpPr>
          <p:spPr>
            <a:xfrm>
              <a:off x="2222658" y="5680582"/>
              <a:ext cx="27660" cy="23866"/>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63" name="asset_3169_42">
              <a:extLst>
                <a:ext uri="{FF2B5EF4-FFF2-40B4-BE49-F238E27FC236}">
                  <a16:creationId xmlns:a16="http://schemas.microsoft.com/office/drawing/2014/main" id="{6EF58466-86B8-1AEB-8581-11A08CA1F8EE}"/>
                </a:ext>
              </a:extLst>
            </p:cNvPr>
            <p:cNvSpPr>
              <a:spLocks noGrp="1"/>
            </p:cNvSpPr>
            <p:nvPr/>
          </p:nvSpPr>
          <p:spPr>
            <a:xfrm>
              <a:off x="2243804" y="5697201"/>
              <a:ext cx="17846" cy="15398"/>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960" name="asset_3169_43">
              <a:extLst>
                <a:ext uri="{FF2B5EF4-FFF2-40B4-BE49-F238E27FC236}">
                  <a16:creationId xmlns:a16="http://schemas.microsoft.com/office/drawing/2014/main" id="{95BB9201-A2F4-9FE8-68EB-CB403F7B0240}"/>
                </a:ext>
              </a:extLst>
            </p:cNvPr>
            <p:cNvSpPr>
              <a:spLocks noGrp="1"/>
            </p:cNvSpPr>
            <p:nvPr/>
          </p:nvSpPr>
          <p:spPr>
            <a:xfrm>
              <a:off x="2262800" y="5690235"/>
              <a:ext cx="21180" cy="18275"/>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961" name="asset_3169_44">
              <a:extLst>
                <a:ext uri="{FF2B5EF4-FFF2-40B4-BE49-F238E27FC236}">
                  <a16:creationId xmlns:a16="http://schemas.microsoft.com/office/drawing/2014/main" id="{4683445B-2F62-0AB7-426E-1A142B1A9E5E}"/>
                </a:ext>
              </a:extLst>
            </p:cNvPr>
            <p:cNvSpPr>
              <a:spLocks noGrp="1"/>
            </p:cNvSpPr>
            <p:nvPr/>
          </p:nvSpPr>
          <p:spPr>
            <a:xfrm>
              <a:off x="2235058" y="5658630"/>
              <a:ext cx="25840" cy="22296"/>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962" name="asset_3169_45">
              <a:extLst>
                <a:ext uri="{FF2B5EF4-FFF2-40B4-BE49-F238E27FC236}">
                  <a16:creationId xmlns:a16="http://schemas.microsoft.com/office/drawing/2014/main" id="{0444AE9F-ABB1-443B-EBD2-F82564334209}"/>
                </a:ext>
              </a:extLst>
            </p:cNvPr>
            <p:cNvSpPr>
              <a:spLocks noGrp="1"/>
            </p:cNvSpPr>
            <p:nvPr/>
          </p:nvSpPr>
          <p:spPr>
            <a:xfrm>
              <a:off x="2211228" y="5681493"/>
              <a:ext cx="31451" cy="27137"/>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963" name="asset_3169_46">
              <a:extLst>
                <a:ext uri="{FF2B5EF4-FFF2-40B4-BE49-F238E27FC236}">
                  <a16:creationId xmlns:a16="http://schemas.microsoft.com/office/drawing/2014/main" id="{4043BAD1-7E81-D24C-7668-C56AD3748ED0}"/>
                </a:ext>
              </a:extLst>
            </p:cNvPr>
            <p:cNvSpPr>
              <a:spLocks noGrp="1"/>
            </p:cNvSpPr>
            <p:nvPr/>
          </p:nvSpPr>
          <p:spPr>
            <a:xfrm>
              <a:off x="2234524" y="5703451"/>
              <a:ext cx="21739" cy="18757"/>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964" name="asset_3169_47">
              <a:extLst>
                <a:ext uri="{FF2B5EF4-FFF2-40B4-BE49-F238E27FC236}">
                  <a16:creationId xmlns:a16="http://schemas.microsoft.com/office/drawing/2014/main" id="{5D98A435-87AE-10CB-31A8-8CF4A12E374A}"/>
                </a:ext>
              </a:extLst>
            </p:cNvPr>
            <p:cNvSpPr>
              <a:spLocks noGrp="1"/>
            </p:cNvSpPr>
            <p:nvPr/>
          </p:nvSpPr>
          <p:spPr>
            <a:xfrm>
              <a:off x="2269639" y="5693556"/>
              <a:ext cx="19299" cy="16652"/>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965" name="asset_3169_48">
              <a:extLst>
                <a:ext uri="{FF2B5EF4-FFF2-40B4-BE49-F238E27FC236}">
                  <a16:creationId xmlns:a16="http://schemas.microsoft.com/office/drawing/2014/main" id="{5011B345-12A9-BF7E-CCEA-56CAF45C0591}"/>
                </a:ext>
              </a:extLst>
            </p:cNvPr>
            <p:cNvSpPr>
              <a:spLocks noGrp="1"/>
            </p:cNvSpPr>
            <p:nvPr/>
          </p:nvSpPr>
          <p:spPr>
            <a:xfrm>
              <a:off x="2221813" y="5667367"/>
              <a:ext cx="17021" cy="14686"/>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966" name="asset_3169_49">
              <a:extLst>
                <a:ext uri="{FF2B5EF4-FFF2-40B4-BE49-F238E27FC236}">
                  <a16:creationId xmlns:a16="http://schemas.microsoft.com/office/drawing/2014/main" id="{179DA82A-6A8D-77BB-9DEE-D36A5A02458E}"/>
                </a:ext>
              </a:extLst>
            </p:cNvPr>
            <p:cNvSpPr>
              <a:spLocks noGrp="1"/>
            </p:cNvSpPr>
            <p:nvPr/>
          </p:nvSpPr>
          <p:spPr>
            <a:xfrm>
              <a:off x="2208530" y="5668919"/>
              <a:ext cx="27524" cy="23749"/>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968" name="asset_3169_50">
              <a:extLst>
                <a:ext uri="{FF2B5EF4-FFF2-40B4-BE49-F238E27FC236}">
                  <a16:creationId xmlns:a16="http://schemas.microsoft.com/office/drawing/2014/main" id="{11B4D85A-1104-A746-9D38-146EAAD40939}"/>
                </a:ext>
              </a:extLst>
            </p:cNvPr>
            <p:cNvSpPr>
              <a:spLocks noGrp="1"/>
            </p:cNvSpPr>
            <p:nvPr/>
          </p:nvSpPr>
          <p:spPr>
            <a:xfrm>
              <a:off x="2251433" y="5689815"/>
              <a:ext cx="17431" cy="15040"/>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969" name="asset_3169_51">
              <a:extLst>
                <a:ext uri="{FF2B5EF4-FFF2-40B4-BE49-F238E27FC236}">
                  <a16:creationId xmlns:a16="http://schemas.microsoft.com/office/drawing/2014/main" id="{AC5E5E26-694F-62D0-01A8-1D06CD1EEEB5}"/>
                </a:ext>
              </a:extLst>
            </p:cNvPr>
            <p:cNvSpPr>
              <a:spLocks noGrp="1"/>
            </p:cNvSpPr>
            <p:nvPr/>
          </p:nvSpPr>
          <p:spPr>
            <a:xfrm>
              <a:off x="2187720" y="5657778"/>
              <a:ext cx="125096" cy="109062"/>
            </a:xfrm>
            <a:custGeom>
              <a:avLst/>
              <a:gdLst/>
              <a:ahLst/>
              <a:cxnLst/>
              <a:rect l="0" t="0" r="0" b="0"/>
              <a:pathLst>
                <a:path w="125096" h="109062">
                  <a:moveTo>
                    <a:pt x="0" y="0"/>
                  </a:moveTo>
                  <a:lnTo>
                    <a:pt x="125096" y="0"/>
                  </a:lnTo>
                  <a:lnTo>
                    <a:pt x="125096" y="109062"/>
                  </a:lnTo>
                  <a:lnTo>
                    <a:pt x="0" y="109062"/>
                  </a:lnTo>
                  <a:close/>
                </a:path>
              </a:pathLst>
            </a:custGeom>
            <a:noFill/>
            <a:ln w="3600">
              <a:solidFill>
                <a:srgbClr val="8AB3D9"/>
              </a:solidFill>
            </a:ln>
          </p:spPr>
        </p:sp>
      </p:grpSp>
      <p:sp>
        <p:nvSpPr>
          <p:cNvPr id="970" name="TextBox 12306">
            <a:extLst>
              <a:ext uri="{FF2B5EF4-FFF2-40B4-BE49-F238E27FC236}">
                <a16:creationId xmlns:a16="http://schemas.microsoft.com/office/drawing/2014/main" id="{71581103-F0C6-7E81-7CAC-5B3BD9102366}"/>
              </a:ext>
            </a:extLst>
          </p:cNvPr>
          <p:cNvSpPr txBox="1"/>
          <p:nvPr/>
        </p:nvSpPr>
        <p:spPr>
          <a:xfrm>
            <a:off x="5276711" y="1960854"/>
            <a:ext cx="819150" cy="93744"/>
          </a:xfrm>
          <a:prstGeom prst="rect">
            <a:avLst/>
          </a:prstGeom>
          <a:noFill/>
        </p:spPr>
        <p:txBody>
          <a:bodyPr wrap="square" lIns="0" tIns="0" rIns="0" bIns="0" anchor="ctr">
            <a:spAutoFit/>
          </a:bodyPr>
          <a:lstStyle/>
          <a:p>
            <a:pPr algn="l">
              <a:lnSpc>
                <a:spcPct val="105000"/>
              </a:lnSpc>
            </a:pPr>
            <a:r>
              <a:rPr sz="623" b="1" dirty="0" err="1">
                <a:solidFill>
                  <a:srgbClr val="263442"/>
                </a:solidFill>
                <a:latin typeface="Arial"/>
              </a:rPr>
              <a:t>DG-PocketXMol</a:t>
            </a:r>
            <a:endParaRPr sz="623" b="1" dirty="0">
              <a:solidFill>
                <a:srgbClr val="263442"/>
              </a:solidFill>
              <a:latin typeface="Arial"/>
            </a:endParaRPr>
          </a:p>
        </p:txBody>
      </p:sp>
      <p:sp>
        <p:nvSpPr>
          <p:cNvPr id="971" name="TextBox 12307">
            <a:extLst>
              <a:ext uri="{FF2B5EF4-FFF2-40B4-BE49-F238E27FC236}">
                <a16:creationId xmlns:a16="http://schemas.microsoft.com/office/drawing/2014/main" id="{FC4C4D55-4EA3-AE03-F9BD-3FBFE613C4B0}"/>
              </a:ext>
            </a:extLst>
          </p:cNvPr>
          <p:cNvSpPr txBox="1"/>
          <p:nvPr/>
        </p:nvSpPr>
        <p:spPr>
          <a:xfrm>
            <a:off x="5277204" y="2115727"/>
            <a:ext cx="819150" cy="163763"/>
          </a:xfrm>
          <a:prstGeom prst="rect">
            <a:avLst/>
          </a:prstGeom>
          <a:noFill/>
        </p:spPr>
        <p:txBody>
          <a:bodyPr wrap="square" lIns="0" tIns="0" rIns="0" bIns="0" anchor="ctr">
            <a:spAutoFit/>
          </a:bodyPr>
          <a:lstStyle/>
          <a:p>
            <a:pPr algn="l">
              <a:lnSpc>
                <a:spcPct val="96000"/>
              </a:lnSpc>
            </a:pPr>
            <a:r>
              <a:rPr sz="554" dirty="0">
                <a:solidFill>
                  <a:srgbClr val="263442"/>
                </a:solidFill>
                <a:latin typeface="Arial"/>
              </a:rPr>
              <a:t>Density-conditioned</a:t>
            </a:r>
            <a:endParaRPr lang="en-US" sz="554" dirty="0">
              <a:solidFill>
                <a:srgbClr val="263442"/>
              </a:solidFill>
              <a:latin typeface="Arial"/>
            </a:endParaRPr>
          </a:p>
          <a:p>
            <a:pPr algn="l">
              <a:lnSpc>
                <a:spcPct val="96000"/>
              </a:lnSpc>
            </a:pPr>
            <a:r>
              <a:rPr sz="554" dirty="0">
                <a:solidFill>
                  <a:srgbClr val="263442"/>
                </a:solidFill>
                <a:latin typeface="Arial"/>
              </a:rPr>
              <a:t>fine-tuning</a:t>
            </a:r>
          </a:p>
        </p:txBody>
      </p:sp>
      <p:sp>
        <p:nvSpPr>
          <p:cNvPr id="972" name="文本框 971">
            <a:extLst>
              <a:ext uri="{FF2B5EF4-FFF2-40B4-BE49-F238E27FC236}">
                <a16:creationId xmlns:a16="http://schemas.microsoft.com/office/drawing/2014/main" id="{FEBBFA62-62B4-40F1-F4EC-02232CF7E647}"/>
              </a:ext>
            </a:extLst>
          </p:cNvPr>
          <p:cNvSpPr txBox="1"/>
          <p:nvPr/>
        </p:nvSpPr>
        <p:spPr>
          <a:xfrm>
            <a:off x="5519338" y="3396595"/>
            <a:ext cx="369012" cy="246221"/>
          </a:xfrm>
          <a:prstGeom prst="rect">
            <a:avLst/>
          </a:prstGeom>
          <a:noFill/>
        </p:spPr>
        <p:txBody>
          <a:bodyPr wrap="none" rtlCol="0">
            <a:spAutoFit/>
          </a:bodyPr>
          <a:lstStyle/>
          <a:p>
            <a:r>
              <a:rPr lang="en-US" altLang="zh-CN" sz="1000" dirty="0"/>
              <a:t>……</a:t>
            </a:r>
            <a:endParaRPr lang="zh-CN" altLang="en-US" sz="1000" dirty="0"/>
          </a:p>
        </p:txBody>
      </p:sp>
      <p:pic>
        <p:nvPicPr>
          <p:cNvPr id="978" name="图片 977">
            <a:extLst>
              <a:ext uri="{FF2B5EF4-FFF2-40B4-BE49-F238E27FC236}">
                <a16:creationId xmlns:a16="http://schemas.microsoft.com/office/drawing/2014/main" id="{52B299FF-448C-5FE5-A243-D25FB3AC2B99}"/>
              </a:ext>
            </a:extLst>
          </p:cNvPr>
          <p:cNvPicPr>
            <a:picLocks noChangeAspect="1"/>
          </p:cNvPicPr>
          <p:nvPr/>
        </p:nvPicPr>
        <p:blipFill>
          <a:blip r:embed="rId9"/>
          <a:stretch/>
        </p:blipFill>
        <p:spPr>
          <a:xfrm>
            <a:off x="5109601" y="3645105"/>
            <a:ext cx="814847" cy="588501"/>
          </a:xfrm>
          <a:prstGeom prst="rect">
            <a:avLst/>
          </a:prstGeom>
        </p:spPr>
      </p:pic>
    </p:spTree>
    <p:extLst>
      <p:ext uri="{BB962C8B-B14F-4D97-AF65-F5344CB8AC3E}">
        <p14:creationId xmlns:p14="http://schemas.microsoft.com/office/powerpoint/2010/main" val="3371416680"/>
      </p:ext>
    </p:extLst>
  </p:cSld>
  <p:clrMapOvr>
    <a:masterClrMapping/>
  </p:clrMapOvr>
  <p:extLst>
    <p:ext uri="{6950BFC3-D8DA-4A85-94F7-54DA5524770B}">
      <p188:commentRel xmlns:p188="http://schemas.microsoft.com/office/powerpoint/2018/8/main" r:id="rId3"/>
    </p:ext>
  </p:extLs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3A6E18-01F8-B0BA-F43F-91B3A30C3C3E}"/>
            </a:ext>
          </a:extLst>
        </p:cNvPr>
        <p:cNvGrpSpPr/>
        <p:nvPr/>
      </p:nvGrpSpPr>
      <p:grpSpPr>
        <a:xfrm>
          <a:off x="0" y="0"/>
          <a:ext cx="0" cy="0"/>
          <a:chOff x="0" y="0"/>
          <a:chExt cx="0" cy="0"/>
        </a:xfrm>
      </p:grpSpPr>
      <p:sp>
        <p:nvSpPr>
          <p:cNvPr id="2" name="Panel | Find background">
            <a:extLst>
              <a:ext uri="{FF2B5EF4-FFF2-40B4-BE49-F238E27FC236}">
                <a16:creationId xmlns:a16="http://schemas.microsoft.com/office/drawing/2014/main" id="{A9090686-8929-C0A0-CCD3-B88878102309}"/>
              </a:ext>
            </a:extLst>
          </p:cNvPr>
          <p:cNvSpPr/>
          <p:nvPr/>
        </p:nvSpPr>
        <p:spPr>
          <a:xfrm>
            <a:off x="450985" y="89164"/>
            <a:ext cx="4381930" cy="1756103"/>
          </a:xfrm>
          <a:prstGeom prst="roundRect">
            <a:avLst>
              <a:gd name="adj" fmla="val 2000"/>
            </a:avLst>
          </a:prstGeom>
          <a:solidFill>
            <a:srgbClr val="F4F7FB"/>
          </a:solidFill>
          <a:ln w="9720">
            <a:solidFill>
              <a:srgbClr val="CFDBE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dirty="0"/>
          </a:p>
        </p:txBody>
      </p:sp>
      <p:sp>
        <p:nvSpPr>
          <p:cNvPr id="3" name="Panel | Match background">
            <a:extLst>
              <a:ext uri="{FF2B5EF4-FFF2-40B4-BE49-F238E27FC236}">
                <a16:creationId xmlns:a16="http://schemas.microsoft.com/office/drawing/2014/main" id="{28703D02-0EE9-C5A6-609C-08019DDE7E4E}"/>
              </a:ext>
            </a:extLst>
          </p:cNvPr>
          <p:cNvSpPr/>
          <p:nvPr/>
        </p:nvSpPr>
        <p:spPr>
          <a:xfrm>
            <a:off x="450985" y="1884235"/>
            <a:ext cx="4381930" cy="2532204"/>
          </a:xfrm>
          <a:prstGeom prst="roundRect">
            <a:avLst>
              <a:gd name="adj" fmla="val 2000"/>
            </a:avLst>
          </a:prstGeom>
          <a:solidFill>
            <a:srgbClr val="F2F9F6"/>
          </a:solidFill>
          <a:ln w="9720">
            <a:solidFill>
              <a:srgbClr val="C8E2D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dirty="0"/>
          </a:p>
        </p:txBody>
      </p:sp>
      <p:grpSp>
        <p:nvGrpSpPr>
          <p:cNvPr id="5" name="Input boundary layer">
            <a:extLst>
              <a:ext uri="{FF2B5EF4-FFF2-40B4-BE49-F238E27FC236}">
                <a16:creationId xmlns:a16="http://schemas.microsoft.com/office/drawing/2014/main" id="{DDB8823C-1C5D-EC2B-D97C-140C79222FB0}"/>
              </a:ext>
            </a:extLst>
          </p:cNvPr>
          <p:cNvGrpSpPr/>
          <p:nvPr/>
        </p:nvGrpSpPr>
        <p:grpSpPr>
          <a:xfrm>
            <a:off x="592345" y="2245791"/>
            <a:ext cx="1345044" cy="1068019"/>
            <a:chOff x="1393071" y="5281627"/>
            <a:chExt cx="3163259" cy="2511755"/>
          </a:xfrm>
        </p:grpSpPr>
        <p:sp>
          <p:nvSpPr>
            <p:cNvPr id="1478" name="V8 Match input boundary">
              <a:extLst>
                <a:ext uri="{FF2B5EF4-FFF2-40B4-BE49-F238E27FC236}">
                  <a16:creationId xmlns:a16="http://schemas.microsoft.com/office/drawing/2014/main" id="{7D0554F4-AE1C-63F1-A885-352F5424EDA9}"/>
                </a:ext>
              </a:extLst>
            </p:cNvPr>
            <p:cNvSpPr/>
            <p:nvPr/>
          </p:nvSpPr>
          <p:spPr>
            <a:xfrm>
              <a:off x="1393071" y="5281627"/>
              <a:ext cx="3163259" cy="2511755"/>
            </a:xfrm>
            <a:custGeom>
              <a:avLst/>
              <a:gdLst/>
              <a:ahLst/>
              <a:cxnLst/>
              <a:rect l="l" t="t" r="r" b="b"/>
              <a:pathLst>
                <a:path w="1345044" h="1068019">
                  <a:moveTo>
                    <a:pt x="31750" y="0"/>
                  </a:moveTo>
                  <a:lnTo>
                    <a:pt x="893699" y="0"/>
                  </a:lnTo>
                  <a:cubicBezTo>
                    <a:pt x="911162" y="0"/>
                    <a:pt x="925449" y="14288"/>
                    <a:pt x="925449" y="31750"/>
                  </a:cubicBezTo>
                  <a:lnTo>
                    <a:pt x="925449" y="489521"/>
                  </a:lnTo>
                  <a:cubicBezTo>
                    <a:pt x="925449" y="506984"/>
                    <a:pt x="939736" y="521271"/>
                    <a:pt x="957199" y="521271"/>
                  </a:cubicBezTo>
                  <a:lnTo>
                    <a:pt x="1313294" y="521271"/>
                  </a:lnTo>
                  <a:cubicBezTo>
                    <a:pt x="1330757" y="521271"/>
                    <a:pt x="1345044" y="535559"/>
                    <a:pt x="1345044" y="553021"/>
                  </a:cubicBezTo>
                  <a:lnTo>
                    <a:pt x="1345044" y="1036269"/>
                  </a:lnTo>
                  <a:cubicBezTo>
                    <a:pt x="1345044" y="1053732"/>
                    <a:pt x="1330757" y="1068019"/>
                    <a:pt x="1313294" y="1068019"/>
                  </a:cubicBezTo>
                  <a:lnTo>
                    <a:pt x="31750" y="1068019"/>
                  </a:lnTo>
                  <a:cubicBezTo>
                    <a:pt x="14288" y="1068019"/>
                    <a:pt x="0" y="1053732"/>
                    <a:pt x="0" y="1036269"/>
                  </a:cubicBezTo>
                  <a:lnTo>
                    <a:pt x="0" y="31750"/>
                  </a:lnTo>
                  <a:cubicBezTo>
                    <a:pt x="0" y="14288"/>
                    <a:pt x="14288" y="0"/>
                    <a:pt x="31750" y="0"/>
                  </a:cubicBezTo>
                  <a:close/>
                </a:path>
              </a:pathLst>
            </a:custGeom>
            <a:solidFill>
              <a:srgbClr val="FFFFFF"/>
            </a:solidFill>
            <a:ln w="7290" cap="rnd">
              <a:solidFill>
                <a:srgbClr val="B6CEC5"/>
              </a:solidFill>
              <a:prstDash val="solid"/>
              <a:round/>
            </a:ln>
          </p:spPr>
          <p:txBody>
            <a:bodyPr/>
            <a:lstStyle/>
            <a:p>
              <a:endParaRPr lang="zh-CN" altLang="en-US" dirty="0"/>
            </a:p>
          </p:txBody>
        </p:sp>
      </p:grpSp>
      <p:sp>
        <p:nvSpPr>
          <p:cNvPr id="7" name="TextBox 4">
            <a:extLst>
              <a:ext uri="{FF2B5EF4-FFF2-40B4-BE49-F238E27FC236}">
                <a16:creationId xmlns:a16="http://schemas.microsoft.com/office/drawing/2014/main" id="{ADBC3EDA-5434-B072-0369-64F7979021C5}"/>
              </a:ext>
            </a:extLst>
          </p:cNvPr>
          <p:cNvSpPr txBox="1"/>
          <p:nvPr/>
        </p:nvSpPr>
        <p:spPr>
          <a:xfrm>
            <a:off x="519056" y="107111"/>
            <a:ext cx="174028" cy="149656"/>
          </a:xfrm>
          <a:prstGeom prst="rect">
            <a:avLst/>
          </a:prstGeom>
          <a:noFill/>
        </p:spPr>
        <p:txBody>
          <a:bodyPr wrap="square" lIns="0" tIns="0" rIns="0" bIns="0" anchor="ctr">
            <a:spAutoFit/>
          </a:bodyPr>
          <a:lstStyle/>
          <a:p>
            <a:pPr algn="l">
              <a:lnSpc>
                <a:spcPct val="105000"/>
              </a:lnSpc>
            </a:pPr>
            <a:r>
              <a:rPr sz="995" b="1" dirty="0">
                <a:solidFill>
                  <a:srgbClr val="263442"/>
                </a:solidFill>
                <a:latin typeface="Arial"/>
              </a:rPr>
              <a:t>a</a:t>
            </a:r>
          </a:p>
        </p:txBody>
      </p:sp>
      <p:sp>
        <p:nvSpPr>
          <p:cNvPr id="8" name="TextBox 5">
            <a:extLst>
              <a:ext uri="{FF2B5EF4-FFF2-40B4-BE49-F238E27FC236}">
                <a16:creationId xmlns:a16="http://schemas.microsoft.com/office/drawing/2014/main" id="{BDE65E3A-EB06-F9D8-4F70-55D863BF89FB}"/>
              </a:ext>
            </a:extLst>
          </p:cNvPr>
          <p:cNvSpPr txBox="1"/>
          <p:nvPr/>
        </p:nvSpPr>
        <p:spPr>
          <a:xfrm>
            <a:off x="677263" y="124527"/>
            <a:ext cx="2531320" cy="123624"/>
          </a:xfrm>
          <a:prstGeom prst="rect">
            <a:avLst/>
          </a:prstGeom>
          <a:noFill/>
        </p:spPr>
        <p:txBody>
          <a:bodyPr wrap="square" lIns="0" tIns="0" rIns="0" bIns="0" anchor="ctr">
            <a:spAutoFit/>
          </a:bodyPr>
          <a:lstStyle/>
          <a:p>
            <a:pPr algn="l">
              <a:lnSpc>
                <a:spcPct val="105000"/>
              </a:lnSpc>
            </a:pPr>
            <a:r>
              <a:rPr sz="822">
                <a:solidFill>
                  <a:srgbClr val="263442"/>
                </a:solidFill>
                <a:latin typeface="Arial"/>
              </a:rPr>
              <a:t>Find: locate ligand regions</a:t>
            </a:r>
          </a:p>
        </p:txBody>
      </p:sp>
      <p:sp>
        <p:nvSpPr>
          <p:cNvPr id="9" name="TextBox 6">
            <a:extLst>
              <a:ext uri="{FF2B5EF4-FFF2-40B4-BE49-F238E27FC236}">
                <a16:creationId xmlns:a16="http://schemas.microsoft.com/office/drawing/2014/main" id="{F3FF857A-DE19-FC06-9455-89983F39C003}"/>
              </a:ext>
            </a:extLst>
          </p:cNvPr>
          <p:cNvSpPr txBox="1"/>
          <p:nvPr/>
        </p:nvSpPr>
        <p:spPr>
          <a:xfrm>
            <a:off x="519056" y="1909702"/>
            <a:ext cx="174028" cy="149656"/>
          </a:xfrm>
          <a:prstGeom prst="rect">
            <a:avLst/>
          </a:prstGeom>
          <a:noFill/>
        </p:spPr>
        <p:txBody>
          <a:bodyPr wrap="square" lIns="0" tIns="0" rIns="0" bIns="0" anchor="ctr">
            <a:spAutoFit/>
          </a:bodyPr>
          <a:lstStyle/>
          <a:p>
            <a:pPr>
              <a:lnSpc>
                <a:spcPct val="105000"/>
              </a:lnSpc>
            </a:pPr>
            <a:r>
              <a:rPr sz="995" b="1" dirty="0">
                <a:solidFill>
                  <a:srgbClr val="263442"/>
                </a:solidFill>
                <a:latin typeface="Arial"/>
              </a:rPr>
              <a:t>b</a:t>
            </a:r>
          </a:p>
        </p:txBody>
      </p:sp>
      <p:sp>
        <p:nvSpPr>
          <p:cNvPr id="10" name="TextBox 7">
            <a:extLst>
              <a:ext uri="{FF2B5EF4-FFF2-40B4-BE49-F238E27FC236}">
                <a16:creationId xmlns:a16="http://schemas.microsoft.com/office/drawing/2014/main" id="{70ECA487-21BB-6209-C18F-3026009B4E59}"/>
              </a:ext>
            </a:extLst>
          </p:cNvPr>
          <p:cNvSpPr txBox="1"/>
          <p:nvPr/>
        </p:nvSpPr>
        <p:spPr>
          <a:xfrm>
            <a:off x="677200" y="1931954"/>
            <a:ext cx="2847735" cy="123624"/>
          </a:xfrm>
          <a:prstGeom prst="rect">
            <a:avLst/>
          </a:prstGeom>
          <a:noFill/>
        </p:spPr>
        <p:txBody>
          <a:bodyPr wrap="square" lIns="0" tIns="0" rIns="0" bIns="0" anchor="ctr">
            <a:spAutoFit/>
          </a:bodyPr>
          <a:lstStyle/>
          <a:p>
            <a:pPr algn="l">
              <a:lnSpc>
                <a:spcPct val="105000"/>
              </a:lnSpc>
            </a:pPr>
            <a:r>
              <a:rPr sz="822" dirty="0">
                <a:solidFill>
                  <a:srgbClr val="263442"/>
                </a:solidFill>
                <a:latin typeface="Arial"/>
              </a:rPr>
              <a:t>Match: candidate-to-identity assignment</a:t>
            </a:r>
          </a:p>
        </p:txBody>
      </p:sp>
      <p:sp>
        <p:nvSpPr>
          <p:cNvPr id="13" name="Find | Density card">
            <a:extLst>
              <a:ext uri="{FF2B5EF4-FFF2-40B4-BE49-F238E27FC236}">
                <a16:creationId xmlns:a16="http://schemas.microsoft.com/office/drawing/2014/main" id="{CAB7453E-57E4-6069-E17B-BEBD584DE9C5}"/>
              </a:ext>
            </a:extLst>
          </p:cNvPr>
          <p:cNvSpPr/>
          <p:nvPr/>
        </p:nvSpPr>
        <p:spPr>
          <a:xfrm>
            <a:off x="540853" y="284774"/>
            <a:ext cx="488504" cy="680292"/>
          </a:xfrm>
          <a:prstGeom prst="roundRect">
            <a:avLst>
              <a:gd name="adj" fmla="val 6000"/>
            </a:avLst>
          </a:prstGeom>
          <a:solidFill>
            <a:srgbClr val="FFFFFF"/>
          </a:solidFill>
          <a:ln w="7290">
            <a:solidFill>
              <a:srgbClr val="CBD6E2"/>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14" name="TextBox 11">
            <a:extLst>
              <a:ext uri="{FF2B5EF4-FFF2-40B4-BE49-F238E27FC236}">
                <a16:creationId xmlns:a16="http://schemas.microsoft.com/office/drawing/2014/main" id="{E13F9DB9-2915-4D37-1A15-4DD879957FE6}"/>
              </a:ext>
            </a:extLst>
          </p:cNvPr>
          <p:cNvSpPr txBox="1"/>
          <p:nvPr/>
        </p:nvSpPr>
        <p:spPr>
          <a:xfrm>
            <a:off x="460928" y="318294"/>
            <a:ext cx="664471" cy="101503"/>
          </a:xfrm>
          <a:prstGeom prst="rect">
            <a:avLst/>
          </a:prstGeom>
          <a:noFill/>
        </p:spPr>
        <p:txBody>
          <a:bodyPr wrap="square" lIns="0" tIns="0" rIns="0" bIns="0" anchor="ctr">
            <a:spAutoFit/>
          </a:bodyPr>
          <a:lstStyle/>
          <a:p>
            <a:pPr algn="ctr">
              <a:lnSpc>
                <a:spcPct val="105000"/>
              </a:lnSpc>
            </a:pPr>
            <a:r>
              <a:rPr sz="675" dirty="0">
                <a:solidFill>
                  <a:srgbClr val="263442"/>
                </a:solidFill>
                <a:latin typeface="Arial"/>
              </a:rPr>
              <a:t>Density</a:t>
            </a:r>
          </a:p>
        </p:txBody>
      </p:sp>
      <p:sp>
        <p:nvSpPr>
          <p:cNvPr id="235" name="Find | Receptor card">
            <a:extLst>
              <a:ext uri="{FF2B5EF4-FFF2-40B4-BE49-F238E27FC236}">
                <a16:creationId xmlns:a16="http://schemas.microsoft.com/office/drawing/2014/main" id="{C39711EA-1578-1FDC-F7E5-415822DEC84F}"/>
              </a:ext>
            </a:extLst>
          </p:cNvPr>
          <p:cNvSpPr/>
          <p:nvPr/>
        </p:nvSpPr>
        <p:spPr>
          <a:xfrm>
            <a:off x="540852" y="1028349"/>
            <a:ext cx="489611" cy="727754"/>
          </a:xfrm>
          <a:prstGeom prst="roundRect">
            <a:avLst>
              <a:gd name="adj" fmla="val 6000"/>
            </a:avLst>
          </a:prstGeom>
          <a:solidFill>
            <a:srgbClr val="FFFFFF"/>
          </a:solidFill>
          <a:ln w="7290">
            <a:solidFill>
              <a:srgbClr val="CBD6E2"/>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236" name="TextBox 6212">
            <a:extLst>
              <a:ext uri="{FF2B5EF4-FFF2-40B4-BE49-F238E27FC236}">
                <a16:creationId xmlns:a16="http://schemas.microsoft.com/office/drawing/2014/main" id="{4566817F-CA11-3CA5-4ED5-534E4B65A1C1}"/>
              </a:ext>
            </a:extLst>
          </p:cNvPr>
          <p:cNvSpPr txBox="1"/>
          <p:nvPr/>
        </p:nvSpPr>
        <p:spPr>
          <a:xfrm>
            <a:off x="434702" y="1053973"/>
            <a:ext cx="664471" cy="101503"/>
          </a:xfrm>
          <a:prstGeom prst="rect">
            <a:avLst/>
          </a:prstGeom>
          <a:noFill/>
        </p:spPr>
        <p:txBody>
          <a:bodyPr wrap="square" lIns="0" tIns="0" rIns="0" bIns="0" anchor="ctr">
            <a:spAutoFit/>
          </a:bodyPr>
          <a:lstStyle/>
          <a:p>
            <a:pPr algn="ctr">
              <a:lnSpc>
                <a:spcPct val="105000"/>
              </a:lnSpc>
            </a:pPr>
            <a:r>
              <a:rPr sz="675" dirty="0">
                <a:solidFill>
                  <a:srgbClr val="263442"/>
                </a:solidFill>
                <a:latin typeface="Arial"/>
              </a:rPr>
              <a:t>Receptor</a:t>
            </a:r>
          </a:p>
        </p:txBody>
      </p:sp>
      <p:sp>
        <p:nvSpPr>
          <p:cNvPr id="237" name="Find | 3D voxel U-Net box">
            <a:extLst>
              <a:ext uri="{FF2B5EF4-FFF2-40B4-BE49-F238E27FC236}">
                <a16:creationId xmlns:a16="http://schemas.microsoft.com/office/drawing/2014/main" id="{84C31B5C-DB46-3102-A094-A625CBC3795B}"/>
              </a:ext>
            </a:extLst>
          </p:cNvPr>
          <p:cNvSpPr/>
          <p:nvPr/>
        </p:nvSpPr>
        <p:spPr>
          <a:xfrm>
            <a:off x="1932849" y="284774"/>
            <a:ext cx="2183263" cy="743575"/>
          </a:xfrm>
          <a:prstGeom prst="roundRect">
            <a:avLst>
              <a:gd name="adj" fmla="val 5000"/>
            </a:avLst>
          </a:prstGeom>
          <a:solidFill>
            <a:srgbClr val="EDF3FA"/>
          </a:solidFill>
          <a:ln w="7290">
            <a:solidFill>
              <a:srgbClr val="C3D4E6"/>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238" name="TextBox 6223">
            <a:extLst>
              <a:ext uri="{FF2B5EF4-FFF2-40B4-BE49-F238E27FC236}">
                <a16:creationId xmlns:a16="http://schemas.microsoft.com/office/drawing/2014/main" id="{D0BEE622-6A06-FAEC-A1B9-E12DAFA59B95}"/>
              </a:ext>
            </a:extLst>
          </p:cNvPr>
          <p:cNvSpPr txBox="1"/>
          <p:nvPr/>
        </p:nvSpPr>
        <p:spPr>
          <a:xfrm>
            <a:off x="1932849" y="310561"/>
            <a:ext cx="2183263" cy="106632"/>
          </a:xfrm>
          <a:prstGeom prst="rect">
            <a:avLst/>
          </a:prstGeom>
          <a:noFill/>
        </p:spPr>
        <p:txBody>
          <a:bodyPr wrap="square" lIns="0" tIns="0" rIns="0" bIns="0" anchor="ctr">
            <a:spAutoFit/>
          </a:bodyPr>
          <a:lstStyle/>
          <a:p>
            <a:pPr algn="ctr">
              <a:lnSpc>
                <a:spcPct val="105000"/>
              </a:lnSpc>
            </a:pPr>
            <a:r>
              <a:rPr sz="709">
                <a:solidFill>
                  <a:srgbClr val="263442"/>
                </a:solidFill>
                <a:latin typeface="Arial"/>
              </a:rPr>
              <a:t>3D voxel U-Net</a:t>
            </a:r>
          </a:p>
        </p:txBody>
      </p:sp>
      <p:sp>
        <p:nvSpPr>
          <p:cNvPr id="239" name="TextBox 6224">
            <a:extLst>
              <a:ext uri="{FF2B5EF4-FFF2-40B4-BE49-F238E27FC236}">
                <a16:creationId xmlns:a16="http://schemas.microsoft.com/office/drawing/2014/main" id="{6162AD09-868A-9802-DD3F-493AE18E658B}"/>
              </a:ext>
            </a:extLst>
          </p:cNvPr>
          <p:cNvSpPr txBox="1"/>
          <p:nvPr/>
        </p:nvSpPr>
        <p:spPr>
          <a:xfrm>
            <a:off x="1932704" y="415407"/>
            <a:ext cx="2183414" cy="84510"/>
          </a:xfrm>
          <a:prstGeom prst="rect">
            <a:avLst/>
          </a:prstGeom>
          <a:noFill/>
        </p:spPr>
        <p:txBody>
          <a:bodyPr wrap="square" lIns="0" tIns="0" rIns="0" bIns="0" anchor="ctr">
            <a:spAutoFit/>
          </a:bodyPr>
          <a:lstStyle/>
          <a:p>
            <a:pPr algn="ctr">
              <a:lnSpc>
                <a:spcPct val="105000"/>
              </a:lnSpc>
            </a:pPr>
            <a:r>
              <a:rPr sz="562" i="1" dirty="0">
                <a:solidFill>
                  <a:srgbClr val="263442"/>
                </a:solidFill>
                <a:latin typeface="Arial"/>
              </a:rPr>
              <a:t>Skip connections</a:t>
            </a:r>
          </a:p>
        </p:txBody>
      </p:sp>
      <p:sp>
        <p:nvSpPr>
          <p:cNvPr id="240" name="TextBox 10003">
            <a:extLst>
              <a:ext uri="{FF2B5EF4-FFF2-40B4-BE49-F238E27FC236}">
                <a16:creationId xmlns:a16="http://schemas.microsoft.com/office/drawing/2014/main" id="{09C48FDC-7786-8263-4A08-E75021FC8287}"/>
              </a:ext>
            </a:extLst>
          </p:cNvPr>
          <p:cNvSpPr txBox="1"/>
          <p:nvPr/>
        </p:nvSpPr>
        <p:spPr>
          <a:xfrm>
            <a:off x="2098966" y="905035"/>
            <a:ext cx="553726" cy="88422"/>
          </a:xfrm>
          <a:prstGeom prst="rect">
            <a:avLst/>
          </a:prstGeom>
          <a:noFill/>
        </p:spPr>
        <p:txBody>
          <a:bodyPr wrap="square" lIns="0" tIns="0" rIns="0" bIns="0" anchor="ctr">
            <a:spAutoFit/>
          </a:bodyPr>
          <a:lstStyle/>
          <a:p>
            <a:pPr algn="ctr">
              <a:lnSpc>
                <a:spcPct val="105000"/>
              </a:lnSpc>
            </a:pPr>
            <a:r>
              <a:rPr sz="588">
                <a:solidFill>
                  <a:srgbClr val="263442"/>
                </a:solidFill>
                <a:latin typeface="Arial"/>
              </a:rPr>
              <a:t>Encoder</a:t>
            </a:r>
          </a:p>
        </p:txBody>
      </p:sp>
      <p:sp>
        <p:nvSpPr>
          <p:cNvPr id="241" name="TextBox 10004">
            <a:extLst>
              <a:ext uri="{FF2B5EF4-FFF2-40B4-BE49-F238E27FC236}">
                <a16:creationId xmlns:a16="http://schemas.microsoft.com/office/drawing/2014/main" id="{5D7C6AF6-28C5-C78C-2A6D-53148E9C5409}"/>
              </a:ext>
            </a:extLst>
          </p:cNvPr>
          <p:cNvSpPr txBox="1"/>
          <p:nvPr/>
        </p:nvSpPr>
        <p:spPr>
          <a:xfrm>
            <a:off x="2747617" y="905035"/>
            <a:ext cx="553726" cy="88422"/>
          </a:xfrm>
          <a:prstGeom prst="rect">
            <a:avLst/>
          </a:prstGeom>
          <a:noFill/>
        </p:spPr>
        <p:txBody>
          <a:bodyPr wrap="square" lIns="0" tIns="0" rIns="0" bIns="0" anchor="ctr">
            <a:spAutoFit/>
          </a:bodyPr>
          <a:lstStyle/>
          <a:p>
            <a:pPr algn="ctr">
              <a:lnSpc>
                <a:spcPct val="105000"/>
              </a:lnSpc>
            </a:pPr>
            <a:r>
              <a:rPr sz="588">
                <a:solidFill>
                  <a:srgbClr val="263442"/>
                </a:solidFill>
                <a:latin typeface="Arial"/>
              </a:rPr>
              <a:t>Bottleneck</a:t>
            </a:r>
          </a:p>
        </p:txBody>
      </p:sp>
      <p:sp>
        <p:nvSpPr>
          <p:cNvPr id="242" name="TextBox 10005">
            <a:extLst>
              <a:ext uri="{FF2B5EF4-FFF2-40B4-BE49-F238E27FC236}">
                <a16:creationId xmlns:a16="http://schemas.microsoft.com/office/drawing/2014/main" id="{7CC49EB1-DBD1-A7E7-516D-CECCC1D041F1}"/>
              </a:ext>
            </a:extLst>
          </p:cNvPr>
          <p:cNvSpPr txBox="1"/>
          <p:nvPr/>
        </p:nvSpPr>
        <p:spPr>
          <a:xfrm>
            <a:off x="3396268" y="905035"/>
            <a:ext cx="553726" cy="88422"/>
          </a:xfrm>
          <a:prstGeom prst="rect">
            <a:avLst/>
          </a:prstGeom>
          <a:noFill/>
        </p:spPr>
        <p:txBody>
          <a:bodyPr wrap="square" lIns="0" tIns="0" rIns="0" bIns="0" anchor="ctr">
            <a:spAutoFit/>
          </a:bodyPr>
          <a:lstStyle/>
          <a:p>
            <a:pPr algn="ctr">
              <a:lnSpc>
                <a:spcPct val="105000"/>
              </a:lnSpc>
            </a:pPr>
            <a:r>
              <a:rPr sz="588">
                <a:solidFill>
                  <a:srgbClr val="263442"/>
                </a:solidFill>
                <a:latin typeface="Arial"/>
              </a:rPr>
              <a:t>Decoder</a:t>
            </a:r>
          </a:p>
        </p:txBody>
      </p:sp>
      <p:sp>
        <p:nvSpPr>
          <p:cNvPr id="243" name="Find | Point Transformer V3 box">
            <a:extLst>
              <a:ext uri="{FF2B5EF4-FFF2-40B4-BE49-F238E27FC236}">
                <a16:creationId xmlns:a16="http://schemas.microsoft.com/office/drawing/2014/main" id="{E6BB0EBE-E97F-0460-89AE-378626BAD4D7}"/>
              </a:ext>
            </a:extLst>
          </p:cNvPr>
          <p:cNvSpPr/>
          <p:nvPr/>
        </p:nvSpPr>
        <p:spPr>
          <a:xfrm>
            <a:off x="1932849" y="1170736"/>
            <a:ext cx="2183263" cy="585368"/>
          </a:xfrm>
          <a:prstGeom prst="roundRect">
            <a:avLst>
              <a:gd name="adj" fmla="val 5000"/>
            </a:avLst>
          </a:prstGeom>
          <a:solidFill>
            <a:srgbClr val="EDF3FA"/>
          </a:solidFill>
          <a:ln w="7290">
            <a:solidFill>
              <a:srgbClr val="C3D4E6"/>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dirty="0"/>
          </a:p>
        </p:txBody>
      </p:sp>
      <p:grpSp>
        <p:nvGrpSpPr>
          <p:cNvPr id="244" name="Find | PTV3 stage 1 (no pseudo)">
            <a:extLst>
              <a:ext uri="{FF2B5EF4-FFF2-40B4-BE49-F238E27FC236}">
                <a16:creationId xmlns:a16="http://schemas.microsoft.com/office/drawing/2014/main" id="{B4F71929-AC06-8CA3-B3DD-0D60585A9033}"/>
              </a:ext>
            </a:extLst>
          </p:cNvPr>
          <p:cNvGrpSpPr/>
          <p:nvPr/>
        </p:nvGrpSpPr>
        <p:grpSpPr>
          <a:xfrm>
            <a:off x="2023818" y="1222153"/>
            <a:ext cx="276863" cy="197759"/>
            <a:chOff x="1837958" y="1438830"/>
            <a:chExt cx="279225" cy="243090"/>
          </a:xfrm>
        </p:grpSpPr>
        <p:sp>
          <p:nvSpPr>
            <p:cNvPr id="245" name="rect_1844">
              <a:extLst>
                <a:ext uri="{FF2B5EF4-FFF2-40B4-BE49-F238E27FC236}">
                  <a16:creationId xmlns:a16="http://schemas.microsoft.com/office/drawing/2014/main" id="{660AA888-4092-6DA6-78D3-4B888E2B2DA3}"/>
                </a:ext>
              </a:extLst>
            </p:cNvPr>
            <p:cNvSpPr/>
            <p:nvPr/>
          </p:nvSpPr>
          <p:spPr>
            <a:xfrm>
              <a:off x="1837958" y="1438830"/>
              <a:ext cx="279225" cy="243090"/>
            </a:xfrm>
            <a:prstGeom prst="roundRect">
              <a:avLst>
                <a:gd name="adj" fmla="val 6757"/>
              </a:avLst>
            </a:prstGeom>
            <a:solidFill>
              <a:srgbClr val="F8F5FC"/>
            </a:solidFill>
            <a:ln w="2540" cap="rnd" cmpd="sng" algn="ctr">
              <a:solidFill>
                <a:srgbClr val="C3D4E6"/>
              </a:solidFill>
              <a:prstDash val="solid"/>
              <a:round/>
              <a:headEnd type="none" w="med" len="med"/>
              <a:tailEnd type="none" w="med" len="med"/>
            </a:ln>
            <a:effectLst/>
          </p:spPr>
        </p:sp>
        <p:sp>
          <p:nvSpPr>
            <p:cNvPr id="246" name="ellipse_1845">
              <a:extLst>
                <a:ext uri="{FF2B5EF4-FFF2-40B4-BE49-F238E27FC236}">
                  <a16:creationId xmlns:a16="http://schemas.microsoft.com/office/drawing/2014/main" id="{8ED69D04-8A29-A5B5-FEDE-87DBF5A86A21}"/>
                </a:ext>
              </a:extLst>
            </p:cNvPr>
            <p:cNvSpPr/>
            <p:nvPr/>
          </p:nvSpPr>
          <p:spPr>
            <a:xfrm>
              <a:off x="1911179" y="1549889"/>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47" name="ellipse_1846">
              <a:extLst>
                <a:ext uri="{FF2B5EF4-FFF2-40B4-BE49-F238E27FC236}">
                  <a16:creationId xmlns:a16="http://schemas.microsoft.com/office/drawing/2014/main" id="{2F757B70-05BB-1D52-EAD7-99F943EE0786}"/>
                </a:ext>
              </a:extLst>
            </p:cNvPr>
            <p:cNvSpPr/>
            <p:nvPr/>
          </p:nvSpPr>
          <p:spPr>
            <a:xfrm>
              <a:off x="2016057" y="1569177"/>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48" name="ellipse_1847">
              <a:extLst>
                <a:ext uri="{FF2B5EF4-FFF2-40B4-BE49-F238E27FC236}">
                  <a16:creationId xmlns:a16="http://schemas.microsoft.com/office/drawing/2014/main" id="{33900347-5FB5-F6C0-81F6-93C079B537C5}"/>
                </a:ext>
              </a:extLst>
            </p:cNvPr>
            <p:cNvSpPr/>
            <p:nvPr/>
          </p:nvSpPr>
          <p:spPr>
            <a:xfrm>
              <a:off x="1901005" y="1463226"/>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49" name="ellipse_1848">
              <a:extLst>
                <a:ext uri="{FF2B5EF4-FFF2-40B4-BE49-F238E27FC236}">
                  <a16:creationId xmlns:a16="http://schemas.microsoft.com/office/drawing/2014/main" id="{D9E3B372-BB0F-C9A4-3974-A8E7AF7737B7}"/>
                </a:ext>
              </a:extLst>
            </p:cNvPr>
            <p:cNvSpPr/>
            <p:nvPr/>
          </p:nvSpPr>
          <p:spPr>
            <a:xfrm>
              <a:off x="1966917" y="1491223"/>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50" name="ellipse_1849">
              <a:extLst>
                <a:ext uri="{FF2B5EF4-FFF2-40B4-BE49-F238E27FC236}">
                  <a16:creationId xmlns:a16="http://schemas.microsoft.com/office/drawing/2014/main" id="{65731899-DB97-2E91-5665-E8C978110F71}"/>
                </a:ext>
              </a:extLst>
            </p:cNvPr>
            <p:cNvSpPr/>
            <p:nvPr/>
          </p:nvSpPr>
          <p:spPr>
            <a:xfrm>
              <a:off x="1981202" y="1461977"/>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51" name="ellipse_1850">
              <a:extLst>
                <a:ext uri="{FF2B5EF4-FFF2-40B4-BE49-F238E27FC236}">
                  <a16:creationId xmlns:a16="http://schemas.microsoft.com/office/drawing/2014/main" id="{FB870BF7-7DC4-B374-8AD0-46EC506BB29E}"/>
                </a:ext>
              </a:extLst>
            </p:cNvPr>
            <p:cNvSpPr/>
            <p:nvPr/>
          </p:nvSpPr>
          <p:spPr>
            <a:xfrm>
              <a:off x="2025801" y="1522781"/>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52" name="ellipse_1851">
              <a:extLst>
                <a:ext uri="{FF2B5EF4-FFF2-40B4-BE49-F238E27FC236}">
                  <a16:creationId xmlns:a16="http://schemas.microsoft.com/office/drawing/2014/main" id="{FB5210B2-4DAF-5841-3925-445BB6BA8E65}"/>
                </a:ext>
              </a:extLst>
            </p:cNvPr>
            <p:cNvSpPr/>
            <p:nvPr/>
          </p:nvSpPr>
          <p:spPr>
            <a:xfrm>
              <a:off x="1923657" y="1574090"/>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53" name="ellipse_1852">
              <a:extLst>
                <a:ext uri="{FF2B5EF4-FFF2-40B4-BE49-F238E27FC236}">
                  <a16:creationId xmlns:a16="http://schemas.microsoft.com/office/drawing/2014/main" id="{5E297BB0-4B0B-7393-6335-0A8D413997FE}"/>
                </a:ext>
              </a:extLst>
            </p:cNvPr>
            <p:cNvSpPr/>
            <p:nvPr/>
          </p:nvSpPr>
          <p:spPr>
            <a:xfrm>
              <a:off x="2046951" y="1492683"/>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54" name="ellipse_1853">
              <a:extLst>
                <a:ext uri="{FF2B5EF4-FFF2-40B4-BE49-F238E27FC236}">
                  <a16:creationId xmlns:a16="http://schemas.microsoft.com/office/drawing/2014/main" id="{3460EDB7-F270-4A51-230E-76F07C518E5B}"/>
                </a:ext>
              </a:extLst>
            </p:cNvPr>
            <p:cNvSpPr/>
            <p:nvPr/>
          </p:nvSpPr>
          <p:spPr>
            <a:xfrm>
              <a:off x="1971403" y="1621226"/>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55" name="ellipse_1854">
              <a:extLst>
                <a:ext uri="{FF2B5EF4-FFF2-40B4-BE49-F238E27FC236}">
                  <a16:creationId xmlns:a16="http://schemas.microsoft.com/office/drawing/2014/main" id="{D7F22E2B-29AF-AAFC-9390-4763B76AC824}"/>
                </a:ext>
              </a:extLst>
            </p:cNvPr>
            <p:cNvSpPr/>
            <p:nvPr/>
          </p:nvSpPr>
          <p:spPr>
            <a:xfrm>
              <a:off x="1916632" y="1483703"/>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grpSp>
      <p:grpSp>
        <p:nvGrpSpPr>
          <p:cNvPr id="256" name="Find | PTV3 stage 2 (no pseudo)">
            <a:extLst>
              <a:ext uri="{FF2B5EF4-FFF2-40B4-BE49-F238E27FC236}">
                <a16:creationId xmlns:a16="http://schemas.microsoft.com/office/drawing/2014/main" id="{F4A044B8-F6CD-9A28-3075-23E9F1427BD6}"/>
              </a:ext>
            </a:extLst>
          </p:cNvPr>
          <p:cNvGrpSpPr/>
          <p:nvPr/>
        </p:nvGrpSpPr>
        <p:grpSpPr>
          <a:xfrm>
            <a:off x="2454581" y="1218198"/>
            <a:ext cx="269656" cy="205670"/>
            <a:chOff x="2276505" y="1465110"/>
            <a:chExt cx="243090" cy="190530"/>
          </a:xfrm>
        </p:grpSpPr>
        <p:sp>
          <p:nvSpPr>
            <p:cNvPr id="257" name="rect_1860">
              <a:extLst>
                <a:ext uri="{FF2B5EF4-FFF2-40B4-BE49-F238E27FC236}">
                  <a16:creationId xmlns:a16="http://schemas.microsoft.com/office/drawing/2014/main" id="{2A2BC9FE-9931-3C68-E213-012D2334D100}"/>
                </a:ext>
              </a:extLst>
            </p:cNvPr>
            <p:cNvSpPr/>
            <p:nvPr/>
          </p:nvSpPr>
          <p:spPr>
            <a:xfrm>
              <a:off x="2276505" y="1465110"/>
              <a:ext cx="243090" cy="190530"/>
            </a:xfrm>
            <a:prstGeom prst="roundRect">
              <a:avLst>
                <a:gd name="adj" fmla="val 8621"/>
              </a:avLst>
            </a:prstGeom>
            <a:solidFill>
              <a:srgbClr val="F8F5FC"/>
            </a:solidFill>
            <a:ln w="2540" cap="rnd" cmpd="sng" algn="ctr">
              <a:solidFill>
                <a:srgbClr val="C3D4E6"/>
              </a:solidFill>
              <a:prstDash val="solid"/>
              <a:round/>
              <a:headEnd type="none" w="med" len="med"/>
              <a:tailEnd type="none" w="med" len="med"/>
            </a:ln>
            <a:effectLst/>
          </p:spPr>
        </p:sp>
        <p:sp>
          <p:nvSpPr>
            <p:cNvPr id="258" name="ellipse_1861">
              <a:extLst>
                <a:ext uri="{FF2B5EF4-FFF2-40B4-BE49-F238E27FC236}">
                  <a16:creationId xmlns:a16="http://schemas.microsoft.com/office/drawing/2014/main" id="{0D3FC1DA-E4D9-46A0-549F-86D3BA55D6FD}"/>
                </a:ext>
              </a:extLst>
            </p:cNvPr>
            <p:cNvSpPr/>
            <p:nvPr/>
          </p:nvSpPr>
          <p:spPr>
            <a:xfrm>
              <a:off x="2443383" y="1475381"/>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59" name="ellipse_1862">
              <a:extLst>
                <a:ext uri="{FF2B5EF4-FFF2-40B4-BE49-F238E27FC236}">
                  <a16:creationId xmlns:a16="http://schemas.microsoft.com/office/drawing/2014/main" id="{2E76A36E-124A-FF28-5F0C-9D8A556CAB6E}"/>
                </a:ext>
              </a:extLst>
            </p:cNvPr>
            <p:cNvSpPr/>
            <p:nvPr/>
          </p:nvSpPr>
          <p:spPr>
            <a:xfrm>
              <a:off x="2334302" y="1490546"/>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60" name="ellipse_1863">
              <a:extLst>
                <a:ext uri="{FF2B5EF4-FFF2-40B4-BE49-F238E27FC236}">
                  <a16:creationId xmlns:a16="http://schemas.microsoft.com/office/drawing/2014/main" id="{D535EE24-6485-F339-2CB7-F9EF085CB943}"/>
                </a:ext>
              </a:extLst>
            </p:cNvPr>
            <p:cNvSpPr/>
            <p:nvPr/>
          </p:nvSpPr>
          <p:spPr>
            <a:xfrm>
              <a:off x="2421391" y="1518211"/>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61" name="ellipse_1864">
              <a:extLst>
                <a:ext uri="{FF2B5EF4-FFF2-40B4-BE49-F238E27FC236}">
                  <a16:creationId xmlns:a16="http://schemas.microsoft.com/office/drawing/2014/main" id="{3E3B8E8E-0D51-B463-1AC5-8ABBD0D94E5F}"/>
                </a:ext>
              </a:extLst>
            </p:cNvPr>
            <p:cNvSpPr/>
            <p:nvPr/>
          </p:nvSpPr>
          <p:spPr>
            <a:xfrm>
              <a:off x="2395798" y="1481756"/>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62" name="ellipse_1865">
              <a:extLst>
                <a:ext uri="{FF2B5EF4-FFF2-40B4-BE49-F238E27FC236}">
                  <a16:creationId xmlns:a16="http://schemas.microsoft.com/office/drawing/2014/main" id="{A78CC97C-CF00-B4B4-232A-6540F415567F}"/>
                </a:ext>
              </a:extLst>
            </p:cNvPr>
            <p:cNvSpPr/>
            <p:nvPr/>
          </p:nvSpPr>
          <p:spPr>
            <a:xfrm>
              <a:off x="2345071" y="1608888"/>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63" name="ellipse_1866">
              <a:extLst>
                <a:ext uri="{FF2B5EF4-FFF2-40B4-BE49-F238E27FC236}">
                  <a16:creationId xmlns:a16="http://schemas.microsoft.com/office/drawing/2014/main" id="{1C7DD56E-5535-8B2E-615C-21EEB3FC0B60}"/>
                </a:ext>
              </a:extLst>
            </p:cNvPr>
            <p:cNvSpPr/>
            <p:nvPr/>
          </p:nvSpPr>
          <p:spPr>
            <a:xfrm>
              <a:off x="2455927" y="1523542"/>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64" name="ellipse_1867">
              <a:extLst>
                <a:ext uri="{FF2B5EF4-FFF2-40B4-BE49-F238E27FC236}">
                  <a16:creationId xmlns:a16="http://schemas.microsoft.com/office/drawing/2014/main" id="{53E5DFEF-A738-E1E2-6D82-562898867479}"/>
                </a:ext>
              </a:extLst>
            </p:cNvPr>
            <p:cNvSpPr/>
            <p:nvPr/>
          </p:nvSpPr>
          <p:spPr>
            <a:xfrm>
              <a:off x="2415612" y="1538275"/>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65" name="ellipse_1868">
              <a:extLst>
                <a:ext uri="{FF2B5EF4-FFF2-40B4-BE49-F238E27FC236}">
                  <a16:creationId xmlns:a16="http://schemas.microsoft.com/office/drawing/2014/main" id="{9F15DB89-4578-E9D4-B66C-9772D337DE92}"/>
                </a:ext>
              </a:extLst>
            </p:cNvPr>
            <p:cNvSpPr/>
            <p:nvPr/>
          </p:nvSpPr>
          <p:spPr>
            <a:xfrm>
              <a:off x="2384162" y="1553850"/>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grpSp>
      <p:grpSp>
        <p:nvGrpSpPr>
          <p:cNvPr id="266" name="Find | PTV3 stage 3 (no pseudo)">
            <a:extLst>
              <a:ext uri="{FF2B5EF4-FFF2-40B4-BE49-F238E27FC236}">
                <a16:creationId xmlns:a16="http://schemas.microsoft.com/office/drawing/2014/main" id="{8E5AF76E-A5D2-A1C4-1196-A1FB989CBECC}"/>
              </a:ext>
            </a:extLst>
          </p:cNvPr>
          <p:cNvGrpSpPr/>
          <p:nvPr/>
        </p:nvGrpSpPr>
        <p:grpSpPr>
          <a:xfrm>
            <a:off x="2902421" y="1230063"/>
            <a:ext cx="244120" cy="181939"/>
            <a:chOff x="2703555" y="1491390"/>
            <a:chExt cx="190530" cy="137970"/>
          </a:xfrm>
        </p:grpSpPr>
        <p:sp>
          <p:nvSpPr>
            <p:cNvPr id="267" name="rect_1874">
              <a:extLst>
                <a:ext uri="{FF2B5EF4-FFF2-40B4-BE49-F238E27FC236}">
                  <a16:creationId xmlns:a16="http://schemas.microsoft.com/office/drawing/2014/main" id="{75101B77-5988-FEB7-22BD-46F0384ADBC8}"/>
                </a:ext>
              </a:extLst>
            </p:cNvPr>
            <p:cNvSpPr/>
            <p:nvPr/>
          </p:nvSpPr>
          <p:spPr>
            <a:xfrm>
              <a:off x="2703555" y="1491390"/>
              <a:ext cx="190530" cy="137970"/>
            </a:xfrm>
            <a:prstGeom prst="roundRect">
              <a:avLst>
                <a:gd name="adj" fmla="val 11905"/>
              </a:avLst>
            </a:prstGeom>
            <a:solidFill>
              <a:srgbClr val="F8F5FC"/>
            </a:solidFill>
            <a:ln w="2540" cap="rnd" cmpd="sng" algn="ctr">
              <a:solidFill>
                <a:srgbClr val="C3D4E6"/>
              </a:solidFill>
              <a:prstDash val="solid"/>
              <a:round/>
              <a:headEnd type="none" w="med" len="med"/>
              <a:tailEnd type="none" w="med" len="med"/>
            </a:ln>
            <a:effectLst/>
          </p:spPr>
        </p:sp>
        <p:sp>
          <p:nvSpPr>
            <p:cNvPr id="268" name="ellipse_1875">
              <a:extLst>
                <a:ext uri="{FF2B5EF4-FFF2-40B4-BE49-F238E27FC236}">
                  <a16:creationId xmlns:a16="http://schemas.microsoft.com/office/drawing/2014/main" id="{0F3768B9-45DC-D239-6ECE-6B199905A0E6}"/>
                </a:ext>
              </a:extLst>
            </p:cNvPr>
            <p:cNvSpPr/>
            <p:nvPr/>
          </p:nvSpPr>
          <p:spPr>
            <a:xfrm>
              <a:off x="2782342" y="1524860"/>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69" name="ellipse_1876">
              <a:extLst>
                <a:ext uri="{FF2B5EF4-FFF2-40B4-BE49-F238E27FC236}">
                  <a16:creationId xmlns:a16="http://schemas.microsoft.com/office/drawing/2014/main" id="{9AC2E9D9-EA81-CB60-9668-376E55C3B65A}"/>
                </a:ext>
              </a:extLst>
            </p:cNvPr>
            <p:cNvSpPr/>
            <p:nvPr/>
          </p:nvSpPr>
          <p:spPr>
            <a:xfrm>
              <a:off x="2750750" y="1594469"/>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70" name="ellipse_1877">
              <a:extLst>
                <a:ext uri="{FF2B5EF4-FFF2-40B4-BE49-F238E27FC236}">
                  <a16:creationId xmlns:a16="http://schemas.microsoft.com/office/drawing/2014/main" id="{193512C0-B984-BF26-53B2-A4C133832B19}"/>
                </a:ext>
              </a:extLst>
            </p:cNvPr>
            <p:cNvSpPr/>
            <p:nvPr/>
          </p:nvSpPr>
          <p:spPr>
            <a:xfrm>
              <a:off x="2743887" y="1497155"/>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71" name="ellipse_1878">
              <a:extLst>
                <a:ext uri="{FF2B5EF4-FFF2-40B4-BE49-F238E27FC236}">
                  <a16:creationId xmlns:a16="http://schemas.microsoft.com/office/drawing/2014/main" id="{010957FC-182F-1FF9-1554-385555C7E5BB}"/>
                </a:ext>
              </a:extLst>
            </p:cNvPr>
            <p:cNvSpPr/>
            <p:nvPr/>
          </p:nvSpPr>
          <p:spPr>
            <a:xfrm>
              <a:off x="2833390" y="1511327"/>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72" name="ellipse_1879">
              <a:extLst>
                <a:ext uri="{FF2B5EF4-FFF2-40B4-BE49-F238E27FC236}">
                  <a16:creationId xmlns:a16="http://schemas.microsoft.com/office/drawing/2014/main" id="{D3BED3D3-6945-FBFB-0ADC-29AB3D61D264}"/>
                </a:ext>
              </a:extLst>
            </p:cNvPr>
            <p:cNvSpPr/>
            <p:nvPr/>
          </p:nvSpPr>
          <p:spPr>
            <a:xfrm>
              <a:off x="2831792" y="1567728"/>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grpSp>
      <p:grpSp>
        <p:nvGrpSpPr>
          <p:cNvPr id="273" name="Find | PTV3 stage 4 (no pseudo)">
            <a:extLst>
              <a:ext uri="{FF2B5EF4-FFF2-40B4-BE49-F238E27FC236}">
                <a16:creationId xmlns:a16="http://schemas.microsoft.com/office/drawing/2014/main" id="{6152C243-7C11-72B4-655A-F6C20103F058}"/>
              </a:ext>
            </a:extLst>
          </p:cNvPr>
          <p:cNvGrpSpPr/>
          <p:nvPr/>
        </p:nvGrpSpPr>
        <p:grpSpPr>
          <a:xfrm>
            <a:off x="3324724" y="1218198"/>
            <a:ext cx="269656" cy="205670"/>
            <a:chOff x="3097755" y="1465110"/>
            <a:chExt cx="243090" cy="190530"/>
          </a:xfrm>
        </p:grpSpPr>
        <p:sp>
          <p:nvSpPr>
            <p:cNvPr id="274" name="rect_1885">
              <a:extLst>
                <a:ext uri="{FF2B5EF4-FFF2-40B4-BE49-F238E27FC236}">
                  <a16:creationId xmlns:a16="http://schemas.microsoft.com/office/drawing/2014/main" id="{02A84936-E0C4-22EE-AB39-B8147866C1E6}"/>
                </a:ext>
              </a:extLst>
            </p:cNvPr>
            <p:cNvSpPr/>
            <p:nvPr/>
          </p:nvSpPr>
          <p:spPr>
            <a:xfrm>
              <a:off x="3097755" y="1465110"/>
              <a:ext cx="243090" cy="190530"/>
            </a:xfrm>
            <a:prstGeom prst="roundRect">
              <a:avLst>
                <a:gd name="adj" fmla="val 8621"/>
              </a:avLst>
            </a:prstGeom>
            <a:solidFill>
              <a:srgbClr val="F8F5FC"/>
            </a:solidFill>
            <a:ln w="2540" cap="rnd" cmpd="sng" algn="ctr">
              <a:solidFill>
                <a:srgbClr val="C3D4E6"/>
              </a:solidFill>
              <a:prstDash val="solid"/>
              <a:round/>
              <a:headEnd type="none" w="med" len="med"/>
              <a:tailEnd type="none" w="med" len="med"/>
            </a:ln>
            <a:effectLst/>
          </p:spPr>
        </p:sp>
        <p:sp>
          <p:nvSpPr>
            <p:cNvPr id="275" name="ellipse_1886">
              <a:extLst>
                <a:ext uri="{FF2B5EF4-FFF2-40B4-BE49-F238E27FC236}">
                  <a16:creationId xmlns:a16="http://schemas.microsoft.com/office/drawing/2014/main" id="{28C5B77C-D4DA-25CA-7F5E-FFB406D4948B}"/>
                </a:ext>
              </a:extLst>
            </p:cNvPr>
            <p:cNvSpPr/>
            <p:nvPr/>
          </p:nvSpPr>
          <p:spPr>
            <a:xfrm>
              <a:off x="3274804" y="1547857"/>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76" name="ellipse_1887">
              <a:extLst>
                <a:ext uri="{FF2B5EF4-FFF2-40B4-BE49-F238E27FC236}">
                  <a16:creationId xmlns:a16="http://schemas.microsoft.com/office/drawing/2014/main" id="{4B9C2CC8-3618-CEA6-223F-481DE7645A74}"/>
                </a:ext>
              </a:extLst>
            </p:cNvPr>
            <p:cNvSpPr/>
            <p:nvPr/>
          </p:nvSpPr>
          <p:spPr>
            <a:xfrm>
              <a:off x="3235593" y="1568791"/>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77" name="ellipse_1888">
              <a:extLst>
                <a:ext uri="{FF2B5EF4-FFF2-40B4-BE49-F238E27FC236}">
                  <a16:creationId xmlns:a16="http://schemas.microsoft.com/office/drawing/2014/main" id="{116AA07D-1658-6583-2048-22DAA979C713}"/>
                </a:ext>
              </a:extLst>
            </p:cNvPr>
            <p:cNvSpPr/>
            <p:nvPr/>
          </p:nvSpPr>
          <p:spPr>
            <a:xfrm>
              <a:off x="3215524" y="1548395"/>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78" name="ellipse_1889">
              <a:extLst>
                <a:ext uri="{FF2B5EF4-FFF2-40B4-BE49-F238E27FC236}">
                  <a16:creationId xmlns:a16="http://schemas.microsoft.com/office/drawing/2014/main" id="{B9996B1C-4365-A5B2-A0FA-BEEE1AE3580D}"/>
                </a:ext>
              </a:extLst>
            </p:cNvPr>
            <p:cNvSpPr/>
            <p:nvPr/>
          </p:nvSpPr>
          <p:spPr>
            <a:xfrm>
              <a:off x="3114632" y="1579955"/>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79" name="ellipse_1890">
              <a:extLst>
                <a:ext uri="{FF2B5EF4-FFF2-40B4-BE49-F238E27FC236}">
                  <a16:creationId xmlns:a16="http://schemas.microsoft.com/office/drawing/2014/main" id="{B24EA66B-C475-FD74-3653-99240EA2FC7D}"/>
                </a:ext>
              </a:extLst>
            </p:cNvPr>
            <p:cNvSpPr/>
            <p:nvPr/>
          </p:nvSpPr>
          <p:spPr>
            <a:xfrm>
              <a:off x="3288227" y="1584140"/>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80" name="ellipse_1891">
              <a:extLst>
                <a:ext uri="{FF2B5EF4-FFF2-40B4-BE49-F238E27FC236}">
                  <a16:creationId xmlns:a16="http://schemas.microsoft.com/office/drawing/2014/main" id="{7C05A257-A858-E4EC-CE72-2E262BB52B07}"/>
                </a:ext>
              </a:extLst>
            </p:cNvPr>
            <p:cNvSpPr/>
            <p:nvPr/>
          </p:nvSpPr>
          <p:spPr>
            <a:xfrm>
              <a:off x="3206468" y="1610077"/>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81" name="ellipse_1892">
              <a:extLst>
                <a:ext uri="{FF2B5EF4-FFF2-40B4-BE49-F238E27FC236}">
                  <a16:creationId xmlns:a16="http://schemas.microsoft.com/office/drawing/2014/main" id="{5029BF78-C694-94BA-2390-D6FC0A6BFD81}"/>
                </a:ext>
              </a:extLst>
            </p:cNvPr>
            <p:cNvSpPr/>
            <p:nvPr/>
          </p:nvSpPr>
          <p:spPr>
            <a:xfrm>
              <a:off x="3224851" y="1612180"/>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82" name="ellipse_1893">
              <a:extLst>
                <a:ext uri="{FF2B5EF4-FFF2-40B4-BE49-F238E27FC236}">
                  <a16:creationId xmlns:a16="http://schemas.microsoft.com/office/drawing/2014/main" id="{B400169A-5E49-FEE5-1915-FCB9E751F312}"/>
                </a:ext>
              </a:extLst>
            </p:cNvPr>
            <p:cNvSpPr/>
            <p:nvPr/>
          </p:nvSpPr>
          <p:spPr>
            <a:xfrm>
              <a:off x="3255857" y="1477242"/>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grpSp>
      <p:grpSp>
        <p:nvGrpSpPr>
          <p:cNvPr id="283" name="Find | PTV3 stage 5 (no pseudo)">
            <a:extLst>
              <a:ext uri="{FF2B5EF4-FFF2-40B4-BE49-F238E27FC236}">
                <a16:creationId xmlns:a16="http://schemas.microsoft.com/office/drawing/2014/main" id="{FE5D4BB8-AE08-CFDC-14F9-58D62B643799}"/>
              </a:ext>
            </a:extLst>
          </p:cNvPr>
          <p:cNvGrpSpPr/>
          <p:nvPr/>
        </p:nvGrpSpPr>
        <p:grpSpPr>
          <a:xfrm>
            <a:off x="3748279" y="1222153"/>
            <a:ext cx="276863" cy="197759"/>
            <a:chOff x="3473888" y="1438830"/>
            <a:chExt cx="279225" cy="243090"/>
          </a:xfrm>
        </p:grpSpPr>
        <p:sp>
          <p:nvSpPr>
            <p:cNvPr id="284" name="rect_1899">
              <a:extLst>
                <a:ext uri="{FF2B5EF4-FFF2-40B4-BE49-F238E27FC236}">
                  <a16:creationId xmlns:a16="http://schemas.microsoft.com/office/drawing/2014/main" id="{3C966A44-931E-3C61-C3E2-9910BF785D0E}"/>
                </a:ext>
              </a:extLst>
            </p:cNvPr>
            <p:cNvSpPr/>
            <p:nvPr/>
          </p:nvSpPr>
          <p:spPr>
            <a:xfrm>
              <a:off x="3473888" y="1438830"/>
              <a:ext cx="279225" cy="243090"/>
            </a:xfrm>
            <a:prstGeom prst="roundRect">
              <a:avLst>
                <a:gd name="adj" fmla="val 6757"/>
              </a:avLst>
            </a:prstGeom>
            <a:solidFill>
              <a:srgbClr val="F8F5FC"/>
            </a:solidFill>
            <a:ln w="2540" cap="rnd" cmpd="sng" algn="ctr">
              <a:solidFill>
                <a:srgbClr val="C3D4E6"/>
              </a:solidFill>
              <a:prstDash val="solid"/>
              <a:round/>
              <a:headEnd type="none" w="med" len="med"/>
              <a:tailEnd type="none" w="med" len="med"/>
            </a:ln>
            <a:effectLst/>
          </p:spPr>
        </p:sp>
        <p:sp>
          <p:nvSpPr>
            <p:cNvPr id="285" name="ellipse_1900">
              <a:extLst>
                <a:ext uri="{FF2B5EF4-FFF2-40B4-BE49-F238E27FC236}">
                  <a16:creationId xmlns:a16="http://schemas.microsoft.com/office/drawing/2014/main" id="{0734BB70-ADDB-68EE-E4C9-F1E9F19AF6E7}"/>
                </a:ext>
              </a:extLst>
            </p:cNvPr>
            <p:cNvSpPr/>
            <p:nvPr/>
          </p:nvSpPr>
          <p:spPr>
            <a:xfrm>
              <a:off x="3538819" y="1482538"/>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86" name="ellipse_1901">
              <a:extLst>
                <a:ext uri="{FF2B5EF4-FFF2-40B4-BE49-F238E27FC236}">
                  <a16:creationId xmlns:a16="http://schemas.microsoft.com/office/drawing/2014/main" id="{50CDA3FC-9E47-A0FF-54FE-0B291B80C55E}"/>
                </a:ext>
              </a:extLst>
            </p:cNvPr>
            <p:cNvSpPr/>
            <p:nvPr/>
          </p:nvSpPr>
          <p:spPr>
            <a:xfrm>
              <a:off x="3631999" y="1578094"/>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87" name="ellipse_1902">
              <a:extLst>
                <a:ext uri="{FF2B5EF4-FFF2-40B4-BE49-F238E27FC236}">
                  <a16:creationId xmlns:a16="http://schemas.microsoft.com/office/drawing/2014/main" id="{FDEE2D57-7D4E-037C-452C-66A797AB07C9}"/>
                </a:ext>
              </a:extLst>
            </p:cNvPr>
            <p:cNvSpPr/>
            <p:nvPr/>
          </p:nvSpPr>
          <p:spPr>
            <a:xfrm>
              <a:off x="3687564" y="1590175"/>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88" name="ellipse_1903">
              <a:extLst>
                <a:ext uri="{FF2B5EF4-FFF2-40B4-BE49-F238E27FC236}">
                  <a16:creationId xmlns:a16="http://schemas.microsoft.com/office/drawing/2014/main" id="{B2C7060E-B2BB-F02D-5B6F-B7D323B087B4}"/>
                </a:ext>
              </a:extLst>
            </p:cNvPr>
            <p:cNvSpPr/>
            <p:nvPr/>
          </p:nvSpPr>
          <p:spPr>
            <a:xfrm>
              <a:off x="3686262" y="1625396"/>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89" name="ellipse_1904">
              <a:extLst>
                <a:ext uri="{FF2B5EF4-FFF2-40B4-BE49-F238E27FC236}">
                  <a16:creationId xmlns:a16="http://schemas.microsoft.com/office/drawing/2014/main" id="{7DE1C447-AFD4-DD7C-5DE0-0E96E8153D12}"/>
                </a:ext>
              </a:extLst>
            </p:cNvPr>
            <p:cNvSpPr/>
            <p:nvPr/>
          </p:nvSpPr>
          <p:spPr>
            <a:xfrm>
              <a:off x="3673847" y="1457259"/>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90" name="ellipse_1905">
              <a:extLst>
                <a:ext uri="{FF2B5EF4-FFF2-40B4-BE49-F238E27FC236}">
                  <a16:creationId xmlns:a16="http://schemas.microsoft.com/office/drawing/2014/main" id="{536BBD44-5D8E-E642-7EFE-DC301B9D3F7F}"/>
                </a:ext>
              </a:extLst>
            </p:cNvPr>
            <p:cNvSpPr/>
            <p:nvPr/>
          </p:nvSpPr>
          <p:spPr>
            <a:xfrm>
              <a:off x="3580150" y="1603047"/>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91" name="ellipse_1906">
              <a:extLst>
                <a:ext uri="{FF2B5EF4-FFF2-40B4-BE49-F238E27FC236}">
                  <a16:creationId xmlns:a16="http://schemas.microsoft.com/office/drawing/2014/main" id="{2D018CC6-8BB4-0573-830A-62F9771BB455}"/>
                </a:ext>
              </a:extLst>
            </p:cNvPr>
            <p:cNvSpPr/>
            <p:nvPr/>
          </p:nvSpPr>
          <p:spPr>
            <a:xfrm>
              <a:off x="3499431" y="1479999"/>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92" name="ellipse_1907">
              <a:extLst>
                <a:ext uri="{FF2B5EF4-FFF2-40B4-BE49-F238E27FC236}">
                  <a16:creationId xmlns:a16="http://schemas.microsoft.com/office/drawing/2014/main" id="{3D9BABC9-7179-80DF-931B-76C5D153BFA2}"/>
                </a:ext>
              </a:extLst>
            </p:cNvPr>
            <p:cNvSpPr/>
            <p:nvPr/>
          </p:nvSpPr>
          <p:spPr>
            <a:xfrm>
              <a:off x="3698498" y="1633754"/>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93" name="ellipse_1908">
              <a:extLst>
                <a:ext uri="{FF2B5EF4-FFF2-40B4-BE49-F238E27FC236}">
                  <a16:creationId xmlns:a16="http://schemas.microsoft.com/office/drawing/2014/main" id="{BF41BEF8-8F67-637A-F426-1015DD3C37FC}"/>
                </a:ext>
              </a:extLst>
            </p:cNvPr>
            <p:cNvSpPr/>
            <p:nvPr/>
          </p:nvSpPr>
          <p:spPr>
            <a:xfrm>
              <a:off x="3664475" y="1606687"/>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94" name="ellipse_1909">
              <a:extLst>
                <a:ext uri="{FF2B5EF4-FFF2-40B4-BE49-F238E27FC236}">
                  <a16:creationId xmlns:a16="http://schemas.microsoft.com/office/drawing/2014/main" id="{E57407DB-12F2-A10B-73ED-904E74E89684}"/>
                </a:ext>
              </a:extLst>
            </p:cNvPr>
            <p:cNvSpPr/>
            <p:nvPr/>
          </p:nvSpPr>
          <p:spPr>
            <a:xfrm>
              <a:off x="3577670" y="1575000"/>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grpSp>
      <p:sp>
        <p:nvSpPr>
          <p:cNvPr id="297" name="TextBox 12152">
            <a:extLst>
              <a:ext uri="{FF2B5EF4-FFF2-40B4-BE49-F238E27FC236}">
                <a16:creationId xmlns:a16="http://schemas.microsoft.com/office/drawing/2014/main" id="{DA95DC65-9861-CC7E-7EFC-4B9E07722C91}"/>
              </a:ext>
            </a:extLst>
          </p:cNvPr>
          <p:cNvSpPr txBox="1"/>
          <p:nvPr/>
        </p:nvSpPr>
        <p:spPr>
          <a:xfrm>
            <a:off x="1932849" y="1615773"/>
            <a:ext cx="2183263" cy="106632"/>
          </a:xfrm>
          <a:prstGeom prst="rect">
            <a:avLst/>
          </a:prstGeom>
          <a:noFill/>
        </p:spPr>
        <p:txBody>
          <a:bodyPr wrap="square" lIns="0" tIns="0" rIns="0" bIns="0" anchor="ctr">
            <a:spAutoFit/>
          </a:bodyPr>
          <a:lstStyle/>
          <a:p>
            <a:pPr algn="ctr">
              <a:lnSpc>
                <a:spcPct val="105000"/>
              </a:lnSpc>
            </a:pPr>
            <a:r>
              <a:rPr sz="709">
                <a:solidFill>
                  <a:srgbClr val="263442"/>
                </a:solidFill>
                <a:latin typeface="Arial"/>
              </a:rPr>
              <a:t>Point Transformer V3</a:t>
            </a:r>
          </a:p>
        </p:txBody>
      </p:sp>
      <p:sp>
        <p:nvSpPr>
          <p:cNvPr id="298" name="TextBox 12153">
            <a:extLst>
              <a:ext uri="{FF2B5EF4-FFF2-40B4-BE49-F238E27FC236}">
                <a16:creationId xmlns:a16="http://schemas.microsoft.com/office/drawing/2014/main" id="{522E41DD-5F6E-76BD-E92F-5CBA886A651B}"/>
              </a:ext>
            </a:extLst>
          </p:cNvPr>
          <p:cNvSpPr txBox="1"/>
          <p:nvPr/>
        </p:nvSpPr>
        <p:spPr>
          <a:xfrm>
            <a:off x="2779258" y="1058360"/>
            <a:ext cx="767306" cy="88422"/>
          </a:xfrm>
          <a:prstGeom prst="rect">
            <a:avLst/>
          </a:prstGeom>
          <a:noFill/>
        </p:spPr>
        <p:txBody>
          <a:bodyPr wrap="square" lIns="0" tIns="0" rIns="0" bIns="0" anchor="ctr">
            <a:spAutoFit/>
          </a:bodyPr>
          <a:lstStyle/>
          <a:p>
            <a:pPr algn="ctr">
              <a:lnSpc>
                <a:spcPct val="105000"/>
              </a:lnSpc>
            </a:pPr>
            <a:r>
              <a:rPr lang="en-US" sz="588" dirty="0">
                <a:solidFill>
                  <a:srgbClr val="263442"/>
                </a:solidFill>
                <a:latin typeface="Arial"/>
              </a:rPr>
              <a:t>F</a:t>
            </a:r>
            <a:r>
              <a:rPr sz="588" dirty="0">
                <a:solidFill>
                  <a:srgbClr val="263442"/>
                </a:solidFill>
                <a:latin typeface="Arial"/>
              </a:rPr>
              <a:t>usion</a:t>
            </a:r>
          </a:p>
        </p:txBody>
      </p:sp>
      <p:sp>
        <p:nvSpPr>
          <p:cNvPr id="299" name="Find | Blobs output card">
            <a:extLst>
              <a:ext uri="{FF2B5EF4-FFF2-40B4-BE49-F238E27FC236}">
                <a16:creationId xmlns:a16="http://schemas.microsoft.com/office/drawing/2014/main" id="{6A602B9B-DE58-7AA0-FDBA-741F60C78A9B}"/>
              </a:ext>
            </a:extLst>
          </p:cNvPr>
          <p:cNvSpPr/>
          <p:nvPr/>
        </p:nvSpPr>
        <p:spPr>
          <a:xfrm>
            <a:off x="4300068" y="284775"/>
            <a:ext cx="442980" cy="1471328"/>
          </a:xfrm>
          <a:prstGeom prst="roundRect">
            <a:avLst>
              <a:gd name="adj" fmla="val 6000"/>
            </a:avLst>
          </a:prstGeom>
          <a:solidFill>
            <a:srgbClr val="FFFFFF"/>
          </a:solidFill>
          <a:ln w="7290">
            <a:solidFill>
              <a:srgbClr val="CBD6E2"/>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300" name="TextBox 12155">
            <a:extLst>
              <a:ext uri="{FF2B5EF4-FFF2-40B4-BE49-F238E27FC236}">
                <a16:creationId xmlns:a16="http://schemas.microsoft.com/office/drawing/2014/main" id="{1F7C0F6F-D082-C8AA-DE11-4286EF42AADB}"/>
              </a:ext>
            </a:extLst>
          </p:cNvPr>
          <p:cNvSpPr txBox="1"/>
          <p:nvPr/>
        </p:nvSpPr>
        <p:spPr>
          <a:xfrm>
            <a:off x="4185689" y="307007"/>
            <a:ext cx="696113" cy="111954"/>
          </a:xfrm>
          <a:prstGeom prst="rect">
            <a:avLst/>
          </a:prstGeom>
          <a:noFill/>
        </p:spPr>
        <p:txBody>
          <a:bodyPr wrap="square" lIns="0" tIns="0" rIns="0" bIns="0" anchor="ctr">
            <a:spAutoFit/>
          </a:bodyPr>
          <a:lstStyle/>
          <a:p>
            <a:pPr algn="ctr">
              <a:lnSpc>
                <a:spcPct val="105000"/>
              </a:lnSpc>
            </a:pPr>
            <a:r>
              <a:rPr sz="744" dirty="0">
                <a:solidFill>
                  <a:srgbClr val="263442"/>
                </a:solidFill>
                <a:latin typeface="Arial"/>
              </a:rPr>
              <a:t>Blobs</a:t>
            </a:r>
          </a:p>
        </p:txBody>
      </p:sp>
      <p:sp>
        <p:nvSpPr>
          <p:cNvPr id="301" name="TextBox 12160">
            <a:extLst>
              <a:ext uri="{FF2B5EF4-FFF2-40B4-BE49-F238E27FC236}">
                <a16:creationId xmlns:a16="http://schemas.microsoft.com/office/drawing/2014/main" id="{EBF2AA16-9B52-B84F-43EE-03BA82B2D4CA}"/>
              </a:ext>
            </a:extLst>
          </p:cNvPr>
          <p:cNvSpPr txBox="1"/>
          <p:nvPr/>
        </p:nvSpPr>
        <p:spPr>
          <a:xfrm>
            <a:off x="616744" y="2090304"/>
            <a:ext cx="1186556" cy="107978"/>
          </a:xfrm>
          <a:prstGeom prst="rect">
            <a:avLst/>
          </a:prstGeom>
          <a:noFill/>
        </p:spPr>
        <p:txBody>
          <a:bodyPr wrap="square" lIns="0" tIns="0" rIns="0" bIns="0" anchor="ctr">
            <a:spAutoFit/>
          </a:bodyPr>
          <a:lstStyle/>
          <a:p>
            <a:pPr algn="l">
              <a:lnSpc>
                <a:spcPct val="105000"/>
              </a:lnSpc>
            </a:pPr>
            <a:r>
              <a:rPr sz="718" dirty="0">
                <a:solidFill>
                  <a:srgbClr val="263442"/>
                </a:solidFill>
                <a:latin typeface="Arial"/>
              </a:rPr>
              <a:t>Candidate encoder</a:t>
            </a:r>
          </a:p>
        </p:txBody>
      </p:sp>
      <p:sp>
        <p:nvSpPr>
          <p:cNvPr id="302" name="TextBox 12161">
            <a:extLst>
              <a:ext uri="{FF2B5EF4-FFF2-40B4-BE49-F238E27FC236}">
                <a16:creationId xmlns:a16="http://schemas.microsoft.com/office/drawing/2014/main" id="{1FD101AA-9130-CD96-6414-B193E6D36851}"/>
              </a:ext>
            </a:extLst>
          </p:cNvPr>
          <p:cNvSpPr txBox="1"/>
          <p:nvPr/>
        </p:nvSpPr>
        <p:spPr>
          <a:xfrm>
            <a:off x="2752186" y="2090304"/>
            <a:ext cx="1186556" cy="107978"/>
          </a:xfrm>
          <a:prstGeom prst="rect">
            <a:avLst/>
          </a:prstGeom>
          <a:noFill/>
        </p:spPr>
        <p:txBody>
          <a:bodyPr wrap="square" lIns="0" tIns="0" rIns="0" bIns="0" anchor="ctr">
            <a:spAutoFit/>
          </a:bodyPr>
          <a:lstStyle/>
          <a:p>
            <a:pPr algn="l">
              <a:lnSpc>
                <a:spcPct val="105000"/>
              </a:lnSpc>
            </a:pPr>
            <a:r>
              <a:rPr sz="718" dirty="0">
                <a:solidFill>
                  <a:srgbClr val="263442"/>
                </a:solidFill>
                <a:latin typeface="Arial"/>
              </a:rPr>
              <a:t>Identity encoder</a:t>
            </a:r>
          </a:p>
        </p:txBody>
      </p:sp>
      <p:sp>
        <p:nvSpPr>
          <p:cNvPr id="303" name="Match | Center divider">
            <a:extLst>
              <a:ext uri="{FF2B5EF4-FFF2-40B4-BE49-F238E27FC236}">
                <a16:creationId xmlns:a16="http://schemas.microsoft.com/office/drawing/2014/main" id="{5A593D05-94F5-C55B-C8C6-B8F9E86B08C6}"/>
              </a:ext>
            </a:extLst>
          </p:cNvPr>
          <p:cNvSpPr/>
          <p:nvPr/>
        </p:nvSpPr>
        <p:spPr>
          <a:xfrm>
            <a:off x="2605556" y="2119981"/>
            <a:ext cx="1" cy="1945952"/>
          </a:xfrm>
          <a:custGeom>
            <a:avLst/>
            <a:gdLst/>
            <a:ahLst/>
            <a:cxnLst/>
            <a:rect l="0" t="0" r="w" b="h"/>
            <a:pathLst>
              <a:path w="1" h="2249424">
                <a:moveTo>
                  <a:pt x="0" y="0"/>
                </a:moveTo>
                <a:lnTo>
                  <a:pt x="0" y="2249424"/>
                </a:lnTo>
              </a:path>
            </a:pathLst>
          </a:custGeom>
          <a:noFill/>
          <a:ln w="9525" cap="rnd" cmpd="sng" algn="ctr">
            <a:solidFill>
              <a:srgbClr val="D0E2DA"/>
            </a:solidFill>
            <a:prstDash val="solid"/>
            <a:round/>
            <a:headEnd type="none" w="med" len="med"/>
            <a:tailEnd type="none" w="med" len="med"/>
          </a:ln>
        </p:spPr>
      </p:sp>
      <p:sp>
        <p:nvSpPr>
          <p:cNvPr id="304" name="TextBox 12164">
            <a:extLst>
              <a:ext uri="{FF2B5EF4-FFF2-40B4-BE49-F238E27FC236}">
                <a16:creationId xmlns:a16="http://schemas.microsoft.com/office/drawing/2014/main" id="{DA6D9C81-D325-B373-1580-DEE13789E3EE}"/>
              </a:ext>
            </a:extLst>
          </p:cNvPr>
          <p:cNvSpPr txBox="1"/>
          <p:nvPr/>
        </p:nvSpPr>
        <p:spPr>
          <a:xfrm>
            <a:off x="608834" y="2270869"/>
            <a:ext cx="442981" cy="93744"/>
          </a:xfrm>
          <a:prstGeom prst="rect">
            <a:avLst/>
          </a:prstGeom>
          <a:noFill/>
        </p:spPr>
        <p:txBody>
          <a:bodyPr wrap="square" lIns="0" tIns="0" rIns="0" bIns="0" anchor="ctr">
            <a:spAutoFit/>
          </a:bodyPr>
          <a:lstStyle/>
          <a:p>
            <a:pPr algn="ctr">
              <a:lnSpc>
                <a:spcPct val="105000"/>
              </a:lnSpc>
            </a:pPr>
            <a:r>
              <a:rPr sz="623">
                <a:solidFill>
                  <a:srgbClr val="263442"/>
                </a:solidFill>
                <a:latin typeface="Arial"/>
              </a:rPr>
              <a:t>Receptor</a:t>
            </a:r>
          </a:p>
        </p:txBody>
      </p:sp>
      <p:sp>
        <p:nvSpPr>
          <p:cNvPr id="305" name="TextBox 12166">
            <a:extLst>
              <a:ext uri="{FF2B5EF4-FFF2-40B4-BE49-F238E27FC236}">
                <a16:creationId xmlns:a16="http://schemas.microsoft.com/office/drawing/2014/main" id="{6E830D7E-FC74-3019-18B2-DDE04B6E60D0}"/>
              </a:ext>
            </a:extLst>
          </p:cNvPr>
          <p:cNvSpPr txBox="1"/>
          <p:nvPr/>
        </p:nvSpPr>
        <p:spPr>
          <a:xfrm>
            <a:off x="1091367" y="2270869"/>
            <a:ext cx="442981" cy="93744"/>
          </a:xfrm>
          <a:prstGeom prst="rect">
            <a:avLst/>
          </a:prstGeom>
          <a:noFill/>
        </p:spPr>
        <p:txBody>
          <a:bodyPr wrap="square" lIns="0" tIns="0" rIns="0" bIns="0" anchor="ctr">
            <a:spAutoFit/>
          </a:bodyPr>
          <a:lstStyle/>
          <a:p>
            <a:pPr algn="ctr">
              <a:lnSpc>
                <a:spcPct val="105000"/>
              </a:lnSpc>
            </a:pPr>
            <a:r>
              <a:rPr sz="623" dirty="0">
                <a:solidFill>
                  <a:srgbClr val="263442"/>
                </a:solidFill>
                <a:latin typeface="Arial"/>
              </a:rPr>
              <a:t>Density</a:t>
            </a:r>
          </a:p>
        </p:txBody>
      </p:sp>
      <p:pic>
        <p:nvPicPr>
          <p:cNvPr id="306" name="Match corresponding experimental density" descr="Experimental 9LLG density around chain C1 of the displayed CryoAtom2 receptor, at the original contour level and the identical camera orientation.">
            <a:extLst>
              <a:ext uri="{FF2B5EF4-FFF2-40B4-BE49-F238E27FC236}">
                <a16:creationId xmlns:a16="http://schemas.microsoft.com/office/drawing/2014/main" id="{7A47CBDC-2732-4D0F-C4FF-972DA2F1AA3E}"/>
              </a:ext>
            </a:extLst>
          </p:cNvPr>
          <p:cNvPicPr/>
          <p:nvPr/>
        </p:nvPicPr>
        <p:blipFill>
          <a:blip r:embed="rId4"/>
          <a:stretch>
            <a:fillRect/>
          </a:stretch>
        </p:blipFill>
        <p:spPr>
          <a:xfrm>
            <a:off x="1138851" y="2380847"/>
            <a:ext cx="347980" cy="332276"/>
          </a:xfrm>
          <a:prstGeom prst="rect">
            <a:avLst/>
          </a:prstGeom>
        </p:spPr>
      </p:pic>
      <p:sp>
        <p:nvSpPr>
          <p:cNvPr id="526" name="TextBox 12168">
            <a:extLst>
              <a:ext uri="{FF2B5EF4-FFF2-40B4-BE49-F238E27FC236}">
                <a16:creationId xmlns:a16="http://schemas.microsoft.com/office/drawing/2014/main" id="{50BD09F1-2D4A-FA0A-7AF2-981DD7585F3A}"/>
              </a:ext>
            </a:extLst>
          </p:cNvPr>
          <p:cNvSpPr txBox="1"/>
          <p:nvPr/>
        </p:nvSpPr>
        <p:spPr>
          <a:xfrm>
            <a:off x="648883" y="2851277"/>
            <a:ext cx="340209" cy="97203"/>
          </a:xfrm>
          <a:prstGeom prst="rect">
            <a:avLst/>
          </a:prstGeom>
          <a:noFill/>
        </p:spPr>
        <p:txBody>
          <a:bodyPr wrap="square" lIns="0" tIns="0" rIns="0" bIns="0" anchor="ctr">
            <a:spAutoFit/>
          </a:bodyPr>
          <a:lstStyle/>
          <a:p>
            <a:pPr algn="ctr">
              <a:lnSpc>
                <a:spcPct val="105000"/>
              </a:lnSpc>
            </a:pPr>
            <a:r>
              <a:rPr sz="623">
                <a:solidFill>
                  <a:srgbClr val="263442"/>
                </a:solidFill>
                <a:latin typeface="Arial"/>
              </a:rPr>
              <a:t>Pocket</a:t>
            </a:r>
          </a:p>
        </p:txBody>
      </p:sp>
      <p:sp>
        <p:nvSpPr>
          <p:cNvPr id="613" name="TextBox 12177">
            <a:extLst>
              <a:ext uri="{FF2B5EF4-FFF2-40B4-BE49-F238E27FC236}">
                <a16:creationId xmlns:a16="http://schemas.microsoft.com/office/drawing/2014/main" id="{086F717F-C0B1-CD04-AFB8-166092CD717F}"/>
              </a:ext>
            </a:extLst>
          </p:cNvPr>
          <p:cNvSpPr txBox="1"/>
          <p:nvPr/>
        </p:nvSpPr>
        <p:spPr>
          <a:xfrm>
            <a:off x="1098445" y="2851277"/>
            <a:ext cx="340209" cy="97203"/>
          </a:xfrm>
          <a:prstGeom prst="rect">
            <a:avLst/>
          </a:prstGeom>
          <a:noFill/>
        </p:spPr>
        <p:txBody>
          <a:bodyPr wrap="square" lIns="0" tIns="0" rIns="0" bIns="0" anchor="ctr">
            <a:spAutoFit/>
          </a:bodyPr>
          <a:lstStyle/>
          <a:p>
            <a:pPr algn="ctr">
              <a:lnSpc>
                <a:spcPct val="105000"/>
              </a:lnSpc>
            </a:pPr>
            <a:r>
              <a:rPr sz="623">
                <a:solidFill>
                  <a:srgbClr val="263442"/>
                </a:solidFill>
                <a:latin typeface="Arial"/>
              </a:rPr>
              <a:t>Blob</a:t>
            </a:r>
          </a:p>
        </p:txBody>
      </p:sp>
      <p:grpSp>
        <p:nvGrpSpPr>
          <p:cNvPr id="614" name="Match | Blob contour">
            <a:extLst>
              <a:ext uri="{FF2B5EF4-FFF2-40B4-BE49-F238E27FC236}">
                <a16:creationId xmlns:a16="http://schemas.microsoft.com/office/drawing/2014/main" id="{ECF83E2A-3199-B09F-F90E-31DC9848C382}"/>
              </a:ext>
            </a:extLst>
          </p:cNvPr>
          <p:cNvGrpSpPr/>
          <p:nvPr/>
        </p:nvGrpSpPr>
        <p:grpSpPr>
          <a:xfrm>
            <a:off x="1122154" y="3036990"/>
            <a:ext cx="291608" cy="199265"/>
            <a:chOff x="1928706" y="3559489"/>
            <a:chExt cx="227897" cy="155682"/>
          </a:xfrm>
        </p:grpSpPr>
        <p:sp>
          <p:nvSpPr>
            <p:cNvPr id="615" name="Candidate blob | editable contour">
              <a:extLst>
                <a:ext uri="{FF2B5EF4-FFF2-40B4-BE49-F238E27FC236}">
                  <a16:creationId xmlns:a16="http://schemas.microsoft.com/office/drawing/2014/main" id="{513F782E-E1DE-1B64-68A9-FB54BE71715F}"/>
                </a:ext>
              </a:extLst>
            </p:cNvPr>
            <p:cNvSpPr/>
            <p:nvPr/>
          </p:nvSpPr>
          <p:spPr>
            <a:xfrm>
              <a:off x="1928706" y="3559489"/>
              <a:ext cx="227897" cy="155682"/>
            </a:xfrm>
            <a:custGeom>
              <a:avLst/>
              <a:gdLst/>
              <a:ahLst/>
              <a:cxnLst/>
              <a:rect l="0" t="0" r="w" b="h"/>
              <a:pathLst>
                <a:path w="227897" h="155682" extrusionOk="0">
                  <a:moveTo>
                    <a:pt x="5338" y="97866"/>
                  </a:moveTo>
                  <a:cubicBezTo>
                    <a:pt x="0" y="80701"/>
                    <a:pt x="18889" y="54504"/>
                    <a:pt x="29976" y="43663"/>
                  </a:cubicBezTo>
                  <a:cubicBezTo>
                    <a:pt x="41062" y="32823"/>
                    <a:pt x="58719" y="39447"/>
                    <a:pt x="71859" y="32823"/>
                  </a:cubicBezTo>
                  <a:cubicBezTo>
                    <a:pt x="84999" y="26198"/>
                    <a:pt x="92391" y="7829"/>
                    <a:pt x="108816" y="3915"/>
                  </a:cubicBezTo>
                  <a:cubicBezTo>
                    <a:pt x="125241" y="0"/>
                    <a:pt x="153984" y="3613"/>
                    <a:pt x="170409" y="9335"/>
                  </a:cubicBezTo>
                  <a:cubicBezTo>
                    <a:pt x="186834" y="15056"/>
                    <a:pt x="198332" y="26198"/>
                    <a:pt x="207366" y="38243"/>
                  </a:cubicBezTo>
                  <a:cubicBezTo>
                    <a:pt x="216399" y="50288"/>
                    <a:pt x="227897" y="67151"/>
                    <a:pt x="224612" y="81605"/>
                  </a:cubicBezTo>
                  <a:cubicBezTo>
                    <a:pt x="221327" y="96059"/>
                    <a:pt x="203259" y="113223"/>
                    <a:pt x="187656" y="124967"/>
                  </a:cubicBezTo>
                  <a:cubicBezTo>
                    <a:pt x="172052" y="136711"/>
                    <a:pt x="151931" y="148455"/>
                    <a:pt x="130989" y="152068"/>
                  </a:cubicBezTo>
                  <a:cubicBezTo>
                    <a:pt x="110048" y="155682"/>
                    <a:pt x="82946" y="155682"/>
                    <a:pt x="62004" y="146648"/>
                  </a:cubicBezTo>
                  <a:cubicBezTo>
                    <a:pt x="41062" y="137614"/>
                    <a:pt x="10676" y="115030"/>
                    <a:pt x="5338" y="97866"/>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616" name="ellipse_2612">
              <a:extLst>
                <a:ext uri="{FF2B5EF4-FFF2-40B4-BE49-F238E27FC236}">
                  <a16:creationId xmlns:a16="http://schemas.microsoft.com/office/drawing/2014/main" id="{12A4650A-7359-9456-1843-A3C9E08B2497}"/>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sp>
        <p:nvSpPr>
          <p:cNvPr id="618" name="TextBox 12186">
            <a:extLst>
              <a:ext uri="{FF2B5EF4-FFF2-40B4-BE49-F238E27FC236}">
                <a16:creationId xmlns:a16="http://schemas.microsoft.com/office/drawing/2014/main" id="{88505915-A113-7FAA-6C15-3F2B10F6D7CB}"/>
              </a:ext>
            </a:extLst>
          </p:cNvPr>
          <p:cNvSpPr txBox="1"/>
          <p:nvPr/>
        </p:nvSpPr>
        <p:spPr>
          <a:xfrm>
            <a:off x="1640255" y="2259965"/>
            <a:ext cx="286938" cy="92333"/>
          </a:xfrm>
          <a:prstGeom prst="rect">
            <a:avLst/>
          </a:prstGeom>
          <a:noFill/>
        </p:spPr>
        <p:txBody>
          <a:bodyPr wrap="none" lIns="0" tIns="0" rIns="0" bIns="0" anchor="ctr">
            <a:spAutoFit/>
          </a:bodyPr>
          <a:lstStyle/>
          <a:p>
            <a:pPr algn="ctr">
              <a:lnSpc>
                <a:spcPct val="105000"/>
              </a:lnSpc>
            </a:pPr>
            <a:r>
              <a:rPr sz="614">
                <a:solidFill>
                  <a:srgbClr val="263442"/>
                </a:solidFill>
                <a:latin typeface="Arial"/>
              </a:rPr>
              <a:t>48³ crop</a:t>
            </a:r>
          </a:p>
        </p:txBody>
      </p:sp>
      <p:grpSp>
        <p:nvGrpSpPr>
          <p:cNvPr id="619" name="48^3 crop 3D cube">
            <a:extLst>
              <a:ext uri="{FF2B5EF4-FFF2-40B4-BE49-F238E27FC236}">
                <a16:creationId xmlns:a16="http://schemas.microsoft.com/office/drawing/2014/main" id="{50441A72-5112-E010-1BBD-72FFF87A8B6E}"/>
              </a:ext>
            </a:extLst>
          </p:cNvPr>
          <p:cNvGrpSpPr/>
          <p:nvPr/>
        </p:nvGrpSpPr>
        <p:grpSpPr>
          <a:xfrm>
            <a:off x="1657361" y="2353114"/>
            <a:ext cx="251107" cy="197645"/>
            <a:chOff x="4043880" y="489960"/>
            <a:chExt cx="571680" cy="450000"/>
          </a:xfrm>
        </p:grpSpPr>
        <p:sp>
          <p:nvSpPr>
            <p:cNvPr id="620" name="asset_2027_0">
              <a:extLst>
                <a:ext uri="{FF2B5EF4-FFF2-40B4-BE49-F238E27FC236}">
                  <a16:creationId xmlns:a16="http://schemas.microsoft.com/office/drawing/2014/main" id="{2C26482F-D7D7-E3F6-FBCD-22AC82315E62}"/>
                </a:ext>
              </a:extLst>
            </p:cNvPr>
            <p:cNvSpPr>
              <a:spLocks noGrp="1"/>
            </p:cNvSpPr>
            <p:nvPr/>
          </p:nvSpPr>
          <p:spPr>
            <a:xfrm>
              <a:off x="4043880" y="489960"/>
              <a:ext cx="571680" cy="76500"/>
            </a:xfrm>
            <a:custGeom>
              <a:avLst/>
              <a:gdLst/>
              <a:ahLst/>
              <a:cxnLst/>
              <a:rect l="0" t="0" r="0" b="0"/>
              <a:pathLst>
                <a:path w="571680" h="76500">
                  <a:moveTo>
                    <a:pt x="0" y="76500"/>
                  </a:moveTo>
                  <a:lnTo>
                    <a:pt x="108619" y="0"/>
                  </a:lnTo>
                  <a:lnTo>
                    <a:pt x="571680" y="0"/>
                  </a:lnTo>
                  <a:lnTo>
                    <a:pt x="463061" y="76500"/>
                  </a:lnTo>
                  <a:close/>
                </a:path>
              </a:pathLst>
            </a:custGeom>
            <a:gradFill>
              <a:gsLst>
                <a:gs pos="0">
                  <a:srgbClr val="FAFDFF">
                    <a:alpha val="65000"/>
                  </a:srgbClr>
                </a:gs>
                <a:gs pos="100000">
                  <a:srgbClr val="D9EAFA">
                    <a:alpha val="45000"/>
                  </a:srgbClr>
                </a:gs>
              </a:gsLst>
              <a:lin ang="5400000"/>
            </a:gradFill>
            <a:ln w="2700">
              <a:solidFill>
                <a:srgbClr val="A3C3E2"/>
              </a:solidFill>
            </a:ln>
          </p:spPr>
        </p:sp>
        <p:sp>
          <p:nvSpPr>
            <p:cNvPr id="621" name="asset_2027_1">
              <a:extLst>
                <a:ext uri="{FF2B5EF4-FFF2-40B4-BE49-F238E27FC236}">
                  <a16:creationId xmlns:a16="http://schemas.microsoft.com/office/drawing/2014/main" id="{F28AFBA7-0A71-99DE-9FF9-EBD0ADC1144C}"/>
                </a:ext>
              </a:extLst>
            </p:cNvPr>
            <p:cNvSpPr>
              <a:spLocks noGrp="1"/>
            </p:cNvSpPr>
            <p:nvPr/>
          </p:nvSpPr>
          <p:spPr>
            <a:xfrm>
              <a:off x="4506941" y="489960"/>
              <a:ext cx="108619" cy="450000"/>
            </a:xfrm>
            <a:custGeom>
              <a:avLst/>
              <a:gdLst/>
              <a:ahLst/>
              <a:cxnLst/>
              <a:rect l="0" t="0" r="0" b="0"/>
              <a:pathLst>
                <a:path w="108619" h="450000">
                  <a:moveTo>
                    <a:pt x="0" y="76500"/>
                  </a:moveTo>
                  <a:lnTo>
                    <a:pt x="108619" y="0"/>
                  </a:lnTo>
                  <a:lnTo>
                    <a:pt x="108619" y="373500"/>
                  </a:lnTo>
                  <a:lnTo>
                    <a:pt x="0" y="450000"/>
                  </a:lnTo>
                  <a:close/>
                </a:path>
              </a:pathLst>
            </a:custGeom>
            <a:solidFill>
              <a:srgbClr val="C9DFF3">
                <a:alpha val="22000"/>
              </a:srgbClr>
            </a:solidFill>
            <a:ln w="2700">
              <a:solidFill>
                <a:srgbClr val="A3C3E2"/>
              </a:solidFill>
            </a:ln>
          </p:spPr>
        </p:sp>
        <p:sp>
          <p:nvSpPr>
            <p:cNvPr id="622" name="asset_2027_2">
              <a:extLst>
                <a:ext uri="{FF2B5EF4-FFF2-40B4-BE49-F238E27FC236}">
                  <a16:creationId xmlns:a16="http://schemas.microsoft.com/office/drawing/2014/main" id="{97E064B3-0050-239C-C963-C5E4E31B84D2}"/>
                </a:ext>
              </a:extLst>
            </p:cNvPr>
            <p:cNvSpPr>
              <a:spLocks noGrp="1"/>
            </p:cNvSpPr>
            <p:nvPr/>
          </p:nvSpPr>
          <p:spPr>
            <a:xfrm>
              <a:off x="4043880" y="566460"/>
              <a:ext cx="463061" cy="373500"/>
            </a:xfrm>
            <a:prstGeom prst="rect">
              <a:avLst/>
            </a:prstGeom>
            <a:solidFill>
              <a:srgbClr val="E7F1FC">
                <a:alpha val="20000"/>
              </a:srgbClr>
            </a:solidFill>
            <a:ln w="2700">
              <a:solidFill>
                <a:srgbClr val="ABC9E7"/>
              </a:solidFill>
            </a:ln>
          </p:spPr>
        </p:sp>
        <p:sp>
          <p:nvSpPr>
            <p:cNvPr id="623" name="asset_2027_3">
              <a:extLst>
                <a:ext uri="{FF2B5EF4-FFF2-40B4-BE49-F238E27FC236}">
                  <a16:creationId xmlns:a16="http://schemas.microsoft.com/office/drawing/2014/main" id="{A2C54284-938E-B40D-7CE6-20A987BE1447}"/>
                </a:ext>
              </a:extLst>
            </p:cNvPr>
            <p:cNvSpPr>
              <a:spLocks noGrp="1"/>
            </p:cNvSpPr>
            <p:nvPr/>
          </p:nvSpPr>
          <p:spPr>
            <a:xfrm>
              <a:off x="4159645" y="566460"/>
              <a:ext cx="4" cy="373500"/>
            </a:xfrm>
            <a:prstGeom prst="line">
              <a:avLst/>
            </a:prstGeom>
            <a:noFill/>
            <a:ln w="1980">
              <a:solidFill>
                <a:srgbClr val="B8D2EB">
                  <a:alpha val="33000"/>
                </a:srgbClr>
              </a:solidFill>
            </a:ln>
          </p:spPr>
        </p:sp>
        <p:sp>
          <p:nvSpPr>
            <p:cNvPr id="624" name="asset_2027_4">
              <a:extLst>
                <a:ext uri="{FF2B5EF4-FFF2-40B4-BE49-F238E27FC236}">
                  <a16:creationId xmlns:a16="http://schemas.microsoft.com/office/drawing/2014/main" id="{0F8960CE-A059-8D07-91FB-C97F3078BCD9}"/>
                </a:ext>
              </a:extLst>
            </p:cNvPr>
            <p:cNvSpPr>
              <a:spLocks noGrp="1"/>
            </p:cNvSpPr>
            <p:nvPr/>
          </p:nvSpPr>
          <p:spPr>
            <a:xfrm>
              <a:off x="4043880" y="659835"/>
              <a:ext cx="463061" cy="4"/>
            </a:xfrm>
            <a:prstGeom prst="line">
              <a:avLst/>
            </a:prstGeom>
            <a:noFill/>
            <a:ln w="1980">
              <a:solidFill>
                <a:srgbClr val="B8D2EB">
                  <a:alpha val="33000"/>
                </a:srgbClr>
              </a:solidFill>
            </a:ln>
          </p:spPr>
        </p:sp>
        <p:sp>
          <p:nvSpPr>
            <p:cNvPr id="625" name="asset_2027_5">
              <a:extLst>
                <a:ext uri="{FF2B5EF4-FFF2-40B4-BE49-F238E27FC236}">
                  <a16:creationId xmlns:a16="http://schemas.microsoft.com/office/drawing/2014/main" id="{A5646F3B-E3B0-7C1C-2E27-F9E967647A65}"/>
                </a:ext>
              </a:extLst>
            </p:cNvPr>
            <p:cNvSpPr>
              <a:spLocks noGrp="1"/>
            </p:cNvSpPr>
            <p:nvPr/>
          </p:nvSpPr>
          <p:spPr>
            <a:xfrm>
              <a:off x="4275410" y="566460"/>
              <a:ext cx="4" cy="373500"/>
            </a:xfrm>
            <a:prstGeom prst="line">
              <a:avLst/>
            </a:prstGeom>
            <a:noFill/>
            <a:ln w="1980">
              <a:solidFill>
                <a:srgbClr val="B8D2EB">
                  <a:alpha val="33000"/>
                </a:srgbClr>
              </a:solidFill>
            </a:ln>
          </p:spPr>
        </p:sp>
        <p:sp>
          <p:nvSpPr>
            <p:cNvPr id="626" name="asset_2027_6">
              <a:extLst>
                <a:ext uri="{FF2B5EF4-FFF2-40B4-BE49-F238E27FC236}">
                  <a16:creationId xmlns:a16="http://schemas.microsoft.com/office/drawing/2014/main" id="{49CF1756-587C-D73A-CFD0-CE93821E4BC5}"/>
                </a:ext>
              </a:extLst>
            </p:cNvPr>
            <p:cNvSpPr>
              <a:spLocks noGrp="1"/>
            </p:cNvSpPr>
            <p:nvPr/>
          </p:nvSpPr>
          <p:spPr>
            <a:xfrm>
              <a:off x="4043880" y="753210"/>
              <a:ext cx="463061" cy="4"/>
            </a:xfrm>
            <a:prstGeom prst="line">
              <a:avLst/>
            </a:prstGeom>
            <a:noFill/>
            <a:ln w="1980">
              <a:solidFill>
                <a:srgbClr val="B8D2EB">
                  <a:alpha val="33000"/>
                </a:srgbClr>
              </a:solidFill>
            </a:ln>
          </p:spPr>
        </p:sp>
        <p:sp>
          <p:nvSpPr>
            <p:cNvPr id="627" name="asset_2027_7">
              <a:extLst>
                <a:ext uri="{FF2B5EF4-FFF2-40B4-BE49-F238E27FC236}">
                  <a16:creationId xmlns:a16="http://schemas.microsoft.com/office/drawing/2014/main" id="{617A40D8-F985-CF5E-C184-9CEE010688B0}"/>
                </a:ext>
              </a:extLst>
            </p:cNvPr>
            <p:cNvSpPr>
              <a:spLocks noGrp="1"/>
            </p:cNvSpPr>
            <p:nvPr/>
          </p:nvSpPr>
          <p:spPr>
            <a:xfrm>
              <a:off x="4391176" y="566460"/>
              <a:ext cx="4" cy="373500"/>
            </a:xfrm>
            <a:prstGeom prst="line">
              <a:avLst/>
            </a:prstGeom>
            <a:noFill/>
            <a:ln w="1980">
              <a:solidFill>
                <a:srgbClr val="B8D2EB">
                  <a:alpha val="33000"/>
                </a:srgbClr>
              </a:solidFill>
            </a:ln>
          </p:spPr>
        </p:sp>
        <p:sp>
          <p:nvSpPr>
            <p:cNvPr id="628" name="asset_2027_8">
              <a:extLst>
                <a:ext uri="{FF2B5EF4-FFF2-40B4-BE49-F238E27FC236}">
                  <a16:creationId xmlns:a16="http://schemas.microsoft.com/office/drawing/2014/main" id="{D74C2F96-9830-4E45-47CF-280DBDF3BBA6}"/>
                </a:ext>
              </a:extLst>
            </p:cNvPr>
            <p:cNvSpPr>
              <a:spLocks noGrp="1"/>
            </p:cNvSpPr>
            <p:nvPr/>
          </p:nvSpPr>
          <p:spPr>
            <a:xfrm>
              <a:off x="4043880" y="846585"/>
              <a:ext cx="463061" cy="4"/>
            </a:xfrm>
            <a:prstGeom prst="line">
              <a:avLst/>
            </a:prstGeom>
            <a:noFill/>
            <a:ln w="1980">
              <a:solidFill>
                <a:srgbClr val="B8D2EB">
                  <a:alpha val="33000"/>
                </a:srgbClr>
              </a:solidFill>
            </a:ln>
          </p:spPr>
        </p:sp>
        <p:sp>
          <p:nvSpPr>
            <p:cNvPr id="629" name="asset_2027_53">
              <a:extLst>
                <a:ext uri="{FF2B5EF4-FFF2-40B4-BE49-F238E27FC236}">
                  <a16:creationId xmlns:a16="http://schemas.microsoft.com/office/drawing/2014/main" id="{B57D82E4-2BD4-33AA-2164-941D5F47EC2E}"/>
                </a:ext>
              </a:extLst>
            </p:cNvPr>
            <p:cNvSpPr>
              <a:spLocks noGrp="1"/>
            </p:cNvSpPr>
            <p:nvPr/>
          </p:nvSpPr>
          <p:spPr>
            <a:xfrm>
              <a:off x="4043880" y="566460"/>
              <a:ext cx="463061" cy="373500"/>
            </a:xfrm>
            <a:custGeom>
              <a:avLst/>
              <a:gdLst/>
              <a:ahLst/>
              <a:cxnLst/>
              <a:rect l="0" t="0" r="0" b="0"/>
              <a:pathLst>
                <a:path w="463061" h="373500">
                  <a:moveTo>
                    <a:pt x="0" y="0"/>
                  </a:moveTo>
                  <a:lnTo>
                    <a:pt x="463061" y="0"/>
                  </a:lnTo>
                  <a:lnTo>
                    <a:pt x="463061" y="373500"/>
                  </a:lnTo>
                  <a:lnTo>
                    <a:pt x="0" y="373500"/>
                  </a:lnTo>
                  <a:close/>
                </a:path>
              </a:pathLst>
            </a:custGeom>
            <a:noFill/>
            <a:ln w="3600">
              <a:solidFill>
                <a:srgbClr val="8AB3D9"/>
              </a:solidFill>
            </a:ln>
          </p:spPr>
        </p:sp>
      </p:grpSp>
      <p:grpSp>
        <p:nvGrpSpPr>
          <p:cNvPr id="630" name="48^3 crop centered blob">
            <a:extLst>
              <a:ext uri="{FF2B5EF4-FFF2-40B4-BE49-F238E27FC236}">
                <a16:creationId xmlns:a16="http://schemas.microsoft.com/office/drawing/2014/main" id="{05F07842-8C1D-D758-5B6A-3324A46B243F}"/>
              </a:ext>
            </a:extLst>
          </p:cNvPr>
          <p:cNvGrpSpPr/>
          <p:nvPr/>
        </p:nvGrpSpPr>
        <p:grpSpPr>
          <a:xfrm>
            <a:off x="1720137" y="2424395"/>
            <a:ext cx="110568" cy="75332"/>
            <a:chOff x="1928706" y="3559489"/>
            <a:chExt cx="227897" cy="155682"/>
          </a:xfrm>
        </p:grpSpPr>
        <p:sp>
          <p:nvSpPr>
            <p:cNvPr id="631" name="Candidate blob | editable contour">
              <a:extLst>
                <a:ext uri="{FF2B5EF4-FFF2-40B4-BE49-F238E27FC236}">
                  <a16:creationId xmlns:a16="http://schemas.microsoft.com/office/drawing/2014/main" id="{9098312C-2F0E-B28B-B660-F9C51272B948}"/>
                </a:ext>
              </a:extLst>
            </p:cNvPr>
            <p:cNvSpPr/>
            <p:nvPr/>
          </p:nvSpPr>
          <p:spPr>
            <a:xfrm>
              <a:off x="1928706" y="3559489"/>
              <a:ext cx="227897" cy="155682"/>
            </a:xfrm>
            <a:custGeom>
              <a:avLst/>
              <a:gdLst/>
              <a:ahLst/>
              <a:cxnLst/>
              <a:rect l="0" t="0" r="w" b="h"/>
              <a:pathLst>
                <a:path w="227897" h="155682" extrusionOk="0">
                  <a:moveTo>
                    <a:pt x="5338" y="97866"/>
                  </a:moveTo>
                  <a:cubicBezTo>
                    <a:pt x="0" y="80701"/>
                    <a:pt x="18889" y="54504"/>
                    <a:pt x="29976" y="43663"/>
                  </a:cubicBezTo>
                  <a:cubicBezTo>
                    <a:pt x="41062" y="32823"/>
                    <a:pt x="58719" y="39447"/>
                    <a:pt x="71859" y="32823"/>
                  </a:cubicBezTo>
                  <a:cubicBezTo>
                    <a:pt x="84999" y="26198"/>
                    <a:pt x="92391" y="7829"/>
                    <a:pt x="108816" y="3915"/>
                  </a:cubicBezTo>
                  <a:cubicBezTo>
                    <a:pt x="125241" y="0"/>
                    <a:pt x="153984" y="3613"/>
                    <a:pt x="170409" y="9335"/>
                  </a:cubicBezTo>
                  <a:cubicBezTo>
                    <a:pt x="186834" y="15056"/>
                    <a:pt x="198332" y="26198"/>
                    <a:pt x="207366" y="38243"/>
                  </a:cubicBezTo>
                  <a:cubicBezTo>
                    <a:pt x="216399" y="50288"/>
                    <a:pt x="227897" y="67151"/>
                    <a:pt x="224612" y="81605"/>
                  </a:cubicBezTo>
                  <a:cubicBezTo>
                    <a:pt x="221327" y="96059"/>
                    <a:pt x="203259" y="113223"/>
                    <a:pt x="187656" y="124967"/>
                  </a:cubicBezTo>
                  <a:cubicBezTo>
                    <a:pt x="172052" y="136711"/>
                    <a:pt x="151931" y="148455"/>
                    <a:pt x="130989" y="152068"/>
                  </a:cubicBezTo>
                  <a:cubicBezTo>
                    <a:pt x="110048" y="155682"/>
                    <a:pt x="82946" y="155682"/>
                    <a:pt x="62004" y="146648"/>
                  </a:cubicBezTo>
                  <a:cubicBezTo>
                    <a:pt x="41062" y="137614"/>
                    <a:pt x="10676" y="115030"/>
                    <a:pt x="5338" y="97866"/>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632" name="ellipse_2612">
              <a:extLst>
                <a:ext uri="{FF2B5EF4-FFF2-40B4-BE49-F238E27FC236}">
                  <a16:creationId xmlns:a16="http://schemas.microsoft.com/office/drawing/2014/main" id="{ACF53CE3-1C37-025F-02A8-70EEA8DCFD7B}"/>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sp>
        <p:nvSpPr>
          <p:cNvPr id="633" name="Blob centroid marker">
            <a:extLst>
              <a:ext uri="{FF2B5EF4-FFF2-40B4-BE49-F238E27FC236}">
                <a16:creationId xmlns:a16="http://schemas.microsoft.com/office/drawing/2014/main" id="{EDD959CF-D4D3-5624-F7B2-BF9345634585}"/>
              </a:ext>
            </a:extLst>
          </p:cNvPr>
          <p:cNvSpPr/>
          <p:nvPr/>
        </p:nvSpPr>
        <p:spPr>
          <a:xfrm>
            <a:off x="1763068" y="2450316"/>
            <a:ext cx="24301" cy="24301"/>
          </a:xfrm>
          <a:prstGeom prst="ellipse">
            <a:avLst/>
          </a:prstGeom>
          <a:solidFill>
            <a:srgbClr val="1D4ED8"/>
          </a:solidFill>
          <a:ln w="762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34" name="TextBox 12188">
            <a:extLst>
              <a:ext uri="{FF2B5EF4-FFF2-40B4-BE49-F238E27FC236}">
                <a16:creationId xmlns:a16="http://schemas.microsoft.com/office/drawing/2014/main" id="{2C0C5B7E-EB59-C12C-034A-66725ABF262F}"/>
              </a:ext>
            </a:extLst>
          </p:cNvPr>
          <p:cNvSpPr txBox="1"/>
          <p:nvPr/>
        </p:nvSpPr>
        <p:spPr>
          <a:xfrm>
            <a:off x="1598897" y="2614551"/>
            <a:ext cx="328616" cy="92333"/>
          </a:xfrm>
          <a:prstGeom prst="rect">
            <a:avLst/>
          </a:prstGeom>
          <a:noFill/>
        </p:spPr>
        <p:txBody>
          <a:bodyPr wrap="none" lIns="0" tIns="0" rIns="0" bIns="0" anchor="ctr">
            <a:spAutoFit/>
          </a:bodyPr>
          <a:lstStyle/>
          <a:p>
            <a:pPr algn="ctr">
              <a:lnSpc>
                <a:spcPct val="105000"/>
              </a:lnSpc>
            </a:pPr>
            <a:r>
              <a:rPr sz="614" dirty="0">
                <a:solidFill>
                  <a:srgbClr val="263442"/>
                </a:solidFill>
                <a:latin typeface="Arial"/>
              </a:rPr>
              <a:t>3D U-Net</a:t>
            </a:r>
          </a:p>
        </p:txBody>
      </p:sp>
      <p:sp>
        <p:nvSpPr>
          <p:cNvPr id="635" name="TextBox 12189">
            <a:extLst>
              <a:ext uri="{FF2B5EF4-FFF2-40B4-BE49-F238E27FC236}">
                <a16:creationId xmlns:a16="http://schemas.microsoft.com/office/drawing/2014/main" id="{8153BF98-6A0C-0786-710E-3D0EE8987AAA}"/>
              </a:ext>
            </a:extLst>
          </p:cNvPr>
          <p:cNvSpPr txBox="1"/>
          <p:nvPr/>
        </p:nvSpPr>
        <p:spPr>
          <a:xfrm>
            <a:off x="2016116" y="2623546"/>
            <a:ext cx="514564" cy="90218"/>
          </a:xfrm>
          <a:prstGeom prst="rect">
            <a:avLst/>
          </a:prstGeom>
          <a:noFill/>
        </p:spPr>
        <p:txBody>
          <a:bodyPr wrap="none" lIns="0" tIns="0" rIns="0" bIns="0" anchor="ctr">
            <a:spAutoFit/>
          </a:bodyPr>
          <a:lstStyle/>
          <a:p>
            <a:pPr algn="ctr">
              <a:lnSpc>
                <a:spcPct val="105000"/>
              </a:lnSpc>
            </a:pPr>
            <a:r>
              <a:rPr lang="en-US" sz="600" dirty="0">
                <a:solidFill>
                  <a:srgbClr val="263442"/>
                </a:solidFill>
                <a:latin typeface="Arial"/>
              </a:rPr>
              <a:t>B</a:t>
            </a:r>
            <a:r>
              <a:rPr lang="en-US" altLang="zh-CN" sz="600" dirty="0">
                <a:solidFill>
                  <a:srgbClr val="263442"/>
                </a:solidFill>
                <a:latin typeface="Arial"/>
              </a:rPr>
              <a:t>ase s</a:t>
            </a:r>
            <a:r>
              <a:rPr sz="600" dirty="0">
                <a:solidFill>
                  <a:srgbClr val="263442"/>
                </a:solidFill>
                <a:latin typeface="Arial"/>
              </a:rPr>
              <a:t>ummary</a:t>
            </a:r>
          </a:p>
        </p:txBody>
      </p:sp>
      <p:sp>
        <p:nvSpPr>
          <p:cNvPr id="636" name="Math | h_j^vox">
            <a:extLst>
              <a:ext uri="{FF2B5EF4-FFF2-40B4-BE49-F238E27FC236}">
                <a16:creationId xmlns:a16="http://schemas.microsoft.com/office/drawing/2014/main" id="{93EC2205-1821-C3E9-E08B-23B27F07452E}"/>
              </a:ext>
            </a:extLst>
          </p:cNvPr>
          <p:cNvSpPr txBox="1"/>
          <p:nvPr/>
        </p:nvSpPr>
        <p:spPr>
          <a:xfrm>
            <a:off x="2191874" y="2371206"/>
            <a:ext cx="169918" cy="126509"/>
          </a:xfrm>
          <a:prstGeom prst="rect">
            <a:avLst/>
          </a:prstGeom>
          <a:noFill/>
        </p:spPr>
        <p:txBody>
          <a:bodyPr wrap="none" lIns="0" tIns="0" rIns="0" bIns="0" anchor="ctr">
            <a:spAutoFit/>
          </a:bodyPr>
          <a:lstStyle/>
          <a:p>
            <a:pPr algn="ctr"/>
            <a:r>
              <a:rPr sz="855" i="1">
                <a:solidFill>
                  <a:srgbClr val="263442"/>
                </a:solidFill>
                <a:latin typeface="Times New Roman"/>
              </a:rPr>
              <a:t>h</a:t>
            </a:r>
            <a:r>
              <a:rPr sz="780" i="1" baseline="-28000">
                <a:solidFill>
                  <a:srgbClr val="263442"/>
                </a:solidFill>
                <a:latin typeface="Times New Roman"/>
              </a:rPr>
              <a:t>j</a:t>
            </a:r>
            <a:r>
              <a:rPr sz="780" baseline="32000">
                <a:solidFill>
                  <a:srgbClr val="263442"/>
                </a:solidFill>
                <a:latin typeface="Arial"/>
              </a:rPr>
              <a:t>vox</a:t>
            </a:r>
          </a:p>
        </p:txBody>
      </p:sp>
      <p:sp>
        <p:nvSpPr>
          <p:cNvPr id="637" name="Base summary bar_1">
            <a:extLst>
              <a:ext uri="{FF2B5EF4-FFF2-40B4-BE49-F238E27FC236}">
                <a16:creationId xmlns:a16="http://schemas.microsoft.com/office/drawing/2014/main" id="{99E9D3C4-A8BD-9C93-615E-C771AE07C8E3}"/>
              </a:ext>
            </a:extLst>
          </p:cNvPr>
          <p:cNvSpPr/>
          <p:nvPr/>
        </p:nvSpPr>
        <p:spPr>
          <a:xfrm>
            <a:off x="2095404" y="2549118"/>
            <a:ext cx="44072" cy="59328"/>
          </a:xfrm>
          <a:prstGeom prst="rect">
            <a:avLst/>
          </a:prstGeom>
          <a:solidFill>
            <a:srgbClr val="367FB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38" name="Base summary bar_2">
            <a:extLst>
              <a:ext uri="{FF2B5EF4-FFF2-40B4-BE49-F238E27FC236}">
                <a16:creationId xmlns:a16="http://schemas.microsoft.com/office/drawing/2014/main" id="{6BC787CE-AF83-7509-7C88-9AB58DB6F66F}"/>
              </a:ext>
            </a:extLst>
          </p:cNvPr>
          <p:cNvSpPr/>
          <p:nvPr/>
        </p:nvSpPr>
        <p:spPr>
          <a:xfrm>
            <a:off x="2143431" y="2549118"/>
            <a:ext cx="44072" cy="59328"/>
          </a:xfrm>
          <a:prstGeom prst="rect">
            <a:avLst/>
          </a:prstGeom>
          <a:solidFill>
            <a:srgbClr val="7EAED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39" name="Base summary bar_3">
            <a:extLst>
              <a:ext uri="{FF2B5EF4-FFF2-40B4-BE49-F238E27FC236}">
                <a16:creationId xmlns:a16="http://schemas.microsoft.com/office/drawing/2014/main" id="{269240CC-07F6-8569-D6D0-2E898FDFE671}"/>
              </a:ext>
            </a:extLst>
          </p:cNvPr>
          <p:cNvSpPr/>
          <p:nvPr/>
        </p:nvSpPr>
        <p:spPr>
          <a:xfrm>
            <a:off x="2191458" y="2549118"/>
            <a:ext cx="44072" cy="59328"/>
          </a:xfrm>
          <a:prstGeom prst="rect">
            <a:avLst/>
          </a:prstGeom>
          <a:solidFill>
            <a:srgbClr val="BCD8E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40" name="Base summary bar_4">
            <a:extLst>
              <a:ext uri="{FF2B5EF4-FFF2-40B4-BE49-F238E27FC236}">
                <a16:creationId xmlns:a16="http://schemas.microsoft.com/office/drawing/2014/main" id="{D027E165-A9E7-E339-F192-6FC69D94CA5E}"/>
              </a:ext>
            </a:extLst>
          </p:cNvPr>
          <p:cNvSpPr/>
          <p:nvPr/>
        </p:nvSpPr>
        <p:spPr>
          <a:xfrm>
            <a:off x="2239486" y="2549118"/>
            <a:ext cx="44072" cy="59328"/>
          </a:xfrm>
          <a:prstGeom prst="rect">
            <a:avLst/>
          </a:prstGeom>
          <a:solidFill>
            <a:srgbClr val="88C3B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41" name="Base summary bar_5">
            <a:extLst>
              <a:ext uri="{FF2B5EF4-FFF2-40B4-BE49-F238E27FC236}">
                <a16:creationId xmlns:a16="http://schemas.microsoft.com/office/drawing/2014/main" id="{AF544338-D23E-CE3C-A6B8-4FA37DCAD82E}"/>
              </a:ext>
            </a:extLst>
          </p:cNvPr>
          <p:cNvSpPr/>
          <p:nvPr/>
        </p:nvSpPr>
        <p:spPr>
          <a:xfrm>
            <a:off x="2287514" y="2549118"/>
            <a:ext cx="44072" cy="59328"/>
          </a:xfrm>
          <a:prstGeom prst="rect">
            <a:avLst/>
          </a:prstGeom>
          <a:solidFill>
            <a:srgbClr val="23877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42" name="Base summary bar_6">
            <a:extLst>
              <a:ext uri="{FF2B5EF4-FFF2-40B4-BE49-F238E27FC236}">
                <a16:creationId xmlns:a16="http://schemas.microsoft.com/office/drawing/2014/main" id="{9F80EB35-B4A7-2FA2-7A0C-B02A9915E4EB}"/>
              </a:ext>
            </a:extLst>
          </p:cNvPr>
          <p:cNvSpPr/>
          <p:nvPr/>
        </p:nvSpPr>
        <p:spPr>
          <a:xfrm>
            <a:off x="2335541" y="2549118"/>
            <a:ext cx="44072" cy="59328"/>
          </a:xfrm>
          <a:prstGeom prst="rect">
            <a:avLst/>
          </a:prstGeom>
          <a:solidFill>
            <a:srgbClr val="B1A4C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43" name="Base summary bar_7">
            <a:extLst>
              <a:ext uri="{FF2B5EF4-FFF2-40B4-BE49-F238E27FC236}">
                <a16:creationId xmlns:a16="http://schemas.microsoft.com/office/drawing/2014/main" id="{763E1301-00D0-44E1-3425-288C0321EC85}"/>
              </a:ext>
            </a:extLst>
          </p:cNvPr>
          <p:cNvSpPr/>
          <p:nvPr/>
        </p:nvSpPr>
        <p:spPr>
          <a:xfrm>
            <a:off x="2383568" y="2549118"/>
            <a:ext cx="44072" cy="59328"/>
          </a:xfrm>
          <a:prstGeom prst="rect">
            <a:avLst/>
          </a:prstGeom>
          <a:solidFill>
            <a:srgbClr val="D4CBE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44" name="Op | Mean/max pool">
            <a:extLst>
              <a:ext uri="{FF2B5EF4-FFF2-40B4-BE49-F238E27FC236}">
                <a16:creationId xmlns:a16="http://schemas.microsoft.com/office/drawing/2014/main" id="{C4850A78-C957-EF45-0669-F1FA2501E311}"/>
              </a:ext>
            </a:extLst>
          </p:cNvPr>
          <p:cNvSpPr/>
          <p:nvPr/>
        </p:nvSpPr>
        <p:spPr>
          <a:xfrm>
            <a:off x="608834" y="3452879"/>
            <a:ext cx="617009" cy="150297"/>
          </a:xfrm>
          <a:prstGeom prst="roundRect">
            <a:avLst>
              <a:gd name="adj" fmla="val 18000"/>
            </a:avLst>
          </a:prstGeom>
          <a:solidFill>
            <a:srgbClr val="E9F3EE"/>
          </a:solidFill>
          <a:ln w="7290">
            <a:solidFill>
              <a:srgbClr val="68AC9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Mean/max pool</a:t>
            </a:r>
          </a:p>
        </p:txBody>
      </p:sp>
      <p:sp>
        <p:nvSpPr>
          <p:cNvPr id="645" name="Op | Cross-attention">
            <a:extLst>
              <a:ext uri="{FF2B5EF4-FFF2-40B4-BE49-F238E27FC236}">
                <a16:creationId xmlns:a16="http://schemas.microsoft.com/office/drawing/2014/main" id="{11FEE5AE-99F9-B083-0D93-CFC8DBD07D63}"/>
              </a:ext>
            </a:extLst>
          </p:cNvPr>
          <p:cNvSpPr/>
          <p:nvPr/>
        </p:nvSpPr>
        <p:spPr>
          <a:xfrm>
            <a:off x="1304947" y="3452879"/>
            <a:ext cx="648651" cy="150297"/>
          </a:xfrm>
          <a:prstGeom prst="roundRect">
            <a:avLst>
              <a:gd name="adj" fmla="val 18000"/>
            </a:avLst>
          </a:prstGeom>
          <a:solidFill>
            <a:srgbClr val="E9F3EE"/>
          </a:solidFill>
          <a:ln w="7290">
            <a:solidFill>
              <a:srgbClr val="68AC9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Cross-attention</a:t>
            </a:r>
          </a:p>
        </p:txBody>
      </p:sp>
      <p:sp>
        <p:nvSpPr>
          <p:cNvPr id="646" name="TextBox 12200">
            <a:extLst>
              <a:ext uri="{FF2B5EF4-FFF2-40B4-BE49-F238E27FC236}">
                <a16:creationId xmlns:a16="http://schemas.microsoft.com/office/drawing/2014/main" id="{884D8F93-171F-A6AB-A603-7E1006874447}"/>
              </a:ext>
            </a:extLst>
          </p:cNvPr>
          <p:cNvSpPr txBox="1"/>
          <p:nvPr/>
        </p:nvSpPr>
        <p:spPr>
          <a:xfrm>
            <a:off x="1674244" y="3370950"/>
            <a:ext cx="134652" cy="80599"/>
          </a:xfrm>
          <a:prstGeom prst="rect">
            <a:avLst/>
          </a:prstGeom>
          <a:noFill/>
        </p:spPr>
        <p:txBody>
          <a:bodyPr wrap="none" lIns="0" tIns="0" rIns="0" bIns="0" anchor="ctr">
            <a:spAutoFit/>
          </a:bodyPr>
          <a:lstStyle/>
          <a:p>
            <a:pPr algn="l">
              <a:lnSpc>
                <a:spcPct val="105000"/>
              </a:lnSpc>
            </a:pPr>
            <a:r>
              <a:rPr sz="536" dirty="0">
                <a:solidFill>
                  <a:srgbClr val="263442"/>
                </a:solidFill>
                <a:latin typeface="Arial"/>
              </a:rPr>
              <a:t>K, V</a:t>
            </a:r>
          </a:p>
        </p:txBody>
      </p:sp>
      <p:sp>
        <p:nvSpPr>
          <p:cNvPr id="647" name="Op | FiLM">
            <a:extLst>
              <a:ext uri="{FF2B5EF4-FFF2-40B4-BE49-F238E27FC236}">
                <a16:creationId xmlns:a16="http://schemas.microsoft.com/office/drawing/2014/main" id="{59F3449A-984C-C7E7-FC02-0C47B43E0DFD}"/>
              </a:ext>
            </a:extLst>
          </p:cNvPr>
          <p:cNvSpPr/>
          <p:nvPr/>
        </p:nvSpPr>
        <p:spPr>
          <a:xfrm>
            <a:off x="2095987" y="3738251"/>
            <a:ext cx="300518" cy="150259"/>
          </a:xfrm>
          <a:prstGeom prst="roundRect">
            <a:avLst>
              <a:gd name="adj" fmla="val 25000"/>
            </a:avLst>
          </a:prstGeom>
          <a:solidFill>
            <a:srgbClr val="EDE7F5"/>
          </a:solidFill>
          <a:ln w="7290">
            <a:solidFill>
              <a:srgbClr val="B8A9D9"/>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623">
                <a:solidFill>
                  <a:srgbClr val="263442"/>
                </a:solidFill>
                <a:latin typeface="Arial"/>
              </a:rPr>
              <a:t>FiLM</a:t>
            </a:r>
          </a:p>
        </p:txBody>
      </p:sp>
      <p:sp>
        <p:nvSpPr>
          <p:cNvPr id="648" name="TextBox 12202">
            <a:extLst>
              <a:ext uri="{FF2B5EF4-FFF2-40B4-BE49-F238E27FC236}">
                <a16:creationId xmlns:a16="http://schemas.microsoft.com/office/drawing/2014/main" id="{6F9F40E0-7819-CEA2-6131-C4ABBC19B945}"/>
              </a:ext>
            </a:extLst>
          </p:cNvPr>
          <p:cNvSpPr txBox="1"/>
          <p:nvPr/>
        </p:nvSpPr>
        <p:spPr>
          <a:xfrm>
            <a:off x="2029743" y="3431411"/>
            <a:ext cx="126566" cy="84510"/>
          </a:xfrm>
          <a:prstGeom prst="rect">
            <a:avLst/>
          </a:prstGeom>
          <a:noFill/>
        </p:spPr>
        <p:txBody>
          <a:bodyPr wrap="square" lIns="0" tIns="0" rIns="0" bIns="0" anchor="ctr">
            <a:spAutoFit/>
          </a:bodyPr>
          <a:lstStyle/>
          <a:p>
            <a:pPr algn="ctr">
              <a:lnSpc>
                <a:spcPct val="105000"/>
              </a:lnSpc>
            </a:pPr>
            <a:r>
              <a:rPr sz="562" dirty="0">
                <a:solidFill>
                  <a:srgbClr val="263442"/>
                </a:solidFill>
                <a:latin typeface="Arial"/>
              </a:rPr>
              <a:t>Q</a:t>
            </a:r>
          </a:p>
        </p:txBody>
      </p:sp>
      <p:sp>
        <p:nvSpPr>
          <p:cNvPr id="649" name="Op | MLP">
            <a:extLst>
              <a:ext uri="{FF2B5EF4-FFF2-40B4-BE49-F238E27FC236}">
                <a16:creationId xmlns:a16="http://schemas.microsoft.com/office/drawing/2014/main" id="{554F5441-96D3-CFD3-6A6E-CA8C906F4B29}"/>
              </a:ext>
            </a:extLst>
          </p:cNvPr>
          <p:cNvSpPr/>
          <p:nvPr/>
        </p:nvSpPr>
        <p:spPr>
          <a:xfrm>
            <a:off x="1099255" y="3738251"/>
            <a:ext cx="347904" cy="150259"/>
          </a:xfrm>
          <a:prstGeom prst="roundRect">
            <a:avLst>
              <a:gd name="adj" fmla="val 18000"/>
            </a:avLst>
          </a:prstGeom>
          <a:solidFill>
            <a:srgbClr val="E9F3EE"/>
          </a:solidFill>
          <a:ln w="7290">
            <a:solidFill>
              <a:srgbClr val="68AC9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MLP</a:t>
            </a:r>
          </a:p>
        </p:txBody>
      </p:sp>
      <p:sp>
        <p:nvSpPr>
          <p:cNvPr id="650" name="h_j bar_1">
            <a:extLst>
              <a:ext uri="{FF2B5EF4-FFF2-40B4-BE49-F238E27FC236}">
                <a16:creationId xmlns:a16="http://schemas.microsoft.com/office/drawing/2014/main" id="{99BF7016-0AEC-5CA1-43D0-0CC405933ADD}"/>
              </a:ext>
            </a:extLst>
          </p:cNvPr>
          <p:cNvSpPr/>
          <p:nvPr/>
        </p:nvSpPr>
        <p:spPr>
          <a:xfrm>
            <a:off x="2080164" y="3989994"/>
            <a:ext cx="44072" cy="56955"/>
          </a:xfrm>
          <a:prstGeom prst="rect">
            <a:avLst/>
          </a:prstGeom>
          <a:solidFill>
            <a:srgbClr val="367FB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51" name="h_j bar_2">
            <a:extLst>
              <a:ext uri="{FF2B5EF4-FFF2-40B4-BE49-F238E27FC236}">
                <a16:creationId xmlns:a16="http://schemas.microsoft.com/office/drawing/2014/main" id="{71708831-906F-DB31-D516-DA6520DB6B6E}"/>
              </a:ext>
            </a:extLst>
          </p:cNvPr>
          <p:cNvSpPr/>
          <p:nvPr/>
        </p:nvSpPr>
        <p:spPr>
          <a:xfrm>
            <a:off x="2128191" y="3989994"/>
            <a:ext cx="44072" cy="56955"/>
          </a:xfrm>
          <a:prstGeom prst="rect">
            <a:avLst/>
          </a:prstGeom>
          <a:solidFill>
            <a:srgbClr val="7EAED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52" name="h_j bar_3">
            <a:extLst>
              <a:ext uri="{FF2B5EF4-FFF2-40B4-BE49-F238E27FC236}">
                <a16:creationId xmlns:a16="http://schemas.microsoft.com/office/drawing/2014/main" id="{E1CF9CE6-644D-2199-D558-FB2748AF4CA8}"/>
              </a:ext>
            </a:extLst>
          </p:cNvPr>
          <p:cNvSpPr/>
          <p:nvPr/>
        </p:nvSpPr>
        <p:spPr>
          <a:xfrm>
            <a:off x="2176218" y="3989994"/>
            <a:ext cx="44072" cy="56955"/>
          </a:xfrm>
          <a:prstGeom prst="rect">
            <a:avLst/>
          </a:prstGeom>
          <a:solidFill>
            <a:srgbClr val="BCD8E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53" name="h_j bar_4">
            <a:extLst>
              <a:ext uri="{FF2B5EF4-FFF2-40B4-BE49-F238E27FC236}">
                <a16:creationId xmlns:a16="http://schemas.microsoft.com/office/drawing/2014/main" id="{0B1E11C4-B6B0-8410-69CA-ECA06B016C11}"/>
              </a:ext>
            </a:extLst>
          </p:cNvPr>
          <p:cNvSpPr/>
          <p:nvPr/>
        </p:nvSpPr>
        <p:spPr>
          <a:xfrm>
            <a:off x="2224246" y="3989994"/>
            <a:ext cx="44072" cy="56955"/>
          </a:xfrm>
          <a:prstGeom prst="rect">
            <a:avLst/>
          </a:prstGeom>
          <a:solidFill>
            <a:srgbClr val="88C3B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54" name="h_j bar_5">
            <a:extLst>
              <a:ext uri="{FF2B5EF4-FFF2-40B4-BE49-F238E27FC236}">
                <a16:creationId xmlns:a16="http://schemas.microsoft.com/office/drawing/2014/main" id="{2A27D763-25D4-1A48-A9AB-8AE10B5867F3}"/>
              </a:ext>
            </a:extLst>
          </p:cNvPr>
          <p:cNvSpPr/>
          <p:nvPr/>
        </p:nvSpPr>
        <p:spPr>
          <a:xfrm>
            <a:off x="2272274" y="3989994"/>
            <a:ext cx="44072" cy="56955"/>
          </a:xfrm>
          <a:prstGeom prst="rect">
            <a:avLst/>
          </a:prstGeom>
          <a:solidFill>
            <a:srgbClr val="23877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55" name="h_j bar_6">
            <a:extLst>
              <a:ext uri="{FF2B5EF4-FFF2-40B4-BE49-F238E27FC236}">
                <a16:creationId xmlns:a16="http://schemas.microsoft.com/office/drawing/2014/main" id="{CC2DBA64-D0DF-1160-5FEF-C265BF4EAB35}"/>
              </a:ext>
            </a:extLst>
          </p:cNvPr>
          <p:cNvSpPr/>
          <p:nvPr/>
        </p:nvSpPr>
        <p:spPr>
          <a:xfrm>
            <a:off x="2320301" y="3989994"/>
            <a:ext cx="44072" cy="56955"/>
          </a:xfrm>
          <a:prstGeom prst="rect">
            <a:avLst/>
          </a:prstGeom>
          <a:solidFill>
            <a:srgbClr val="B1A4C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56" name="h_j bar_7">
            <a:extLst>
              <a:ext uri="{FF2B5EF4-FFF2-40B4-BE49-F238E27FC236}">
                <a16:creationId xmlns:a16="http://schemas.microsoft.com/office/drawing/2014/main" id="{3E031F7D-E2D9-9D11-0526-4D352C453584}"/>
              </a:ext>
            </a:extLst>
          </p:cNvPr>
          <p:cNvSpPr/>
          <p:nvPr/>
        </p:nvSpPr>
        <p:spPr>
          <a:xfrm>
            <a:off x="2368328" y="3989994"/>
            <a:ext cx="44072" cy="56955"/>
          </a:xfrm>
          <a:prstGeom prst="rect">
            <a:avLst/>
          </a:prstGeom>
          <a:solidFill>
            <a:srgbClr val="D4CBE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57" name="Math | h_j^">
            <a:extLst>
              <a:ext uri="{FF2B5EF4-FFF2-40B4-BE49-F238E27FC236}">
                <a16:creationId xmlns:a16="http://schemas.microsoft.com/office/drawing/2014/main" id="{9AC920D3-16D2-273E-04D3-53357E82FB0E}"/>
              </a:ext>
            </a:extLst>
          </p:cNvPr>
          <p:cNvSpPr txBox="1"/>
          <p:nvPr/>
        </p:nvSpPr>
        <p:spPr>
          <a:xfrm>
            <a:off x="1986964" y="3936721"/>
            <a:ext cx="70532" cy="126509"/>
          </a:xfrm>
          <a:prstGeom prst="rect">
            <a:avLst/>
          </a:prstGeom>
          <a:noFill/>
        </p:spPr>
        <p:txBody>
          <a:bodyPr wrap="none" lIns="0" tIns="0" rIns="0" bIns="0" anchor="ctr">
            <a:spAutoFit/>
          </a:bodyPr>
          <a:lstStyle/>
          <a:p>
            <a:pPr algn="ctr"/>
            <a:r>
              <a:rPr sz="855" i="1" dirty="0" err="1">
                <a:solidFill>
                  <a:srgbClr val="263442"/>
                </a:solidFill>
                <a:latin typeface="Times New Roman"/>
              </a:rPr>
              <a:t>h</a:t>
            </a:r>
            <a:r>
              <a:rPr sz="780" i="1" baseline="-28000" dirty="0" err="1">
                <a:solidFill>
                  <a:srgbClr val="263442"/>
                </a:solidFill>
                <a:latin typeface="Times New Roman"/>
              </a:rPr>
              <a:t>j</a:t>
            </a:r>
            <a:endParaRPr sz="780" i="1" baseline="-28000" dirty="0">
              <a:solidFill>
                <a:srgbClr val="263442"/>
              </a:solidFill>
              <a:latin typeface="Times New Roman"/>
            </a:endParaRPr>
          </a:p>
        </p:txBody>
      </p:sp>
      <p:sp>
        <p:nvSpPr>
          <p:cNvPr id="658" name="Op | Foreground head">
            <a:extLst>
              <a:ext uri="{FF2B5EF4-FFF2-40B4-BE49-F238E27FC236}">
                <a16:creationId xmlns:a16="http://schemas.microsoft.com/office/drawing/2014/main" id="{772C4BD8-070D-6A2C-3C5B-CCE55BD09041}"/>
              </a:ext>
            </a:extLst>
          </p:cNvPr>
          <p:cNvSpPr/>
          <p:nvPr/>
        </p:nvSpPr>
        <p:spPr>
          <a:xfrm>
            <a:off x="695848" y="4181937"/>
            <a:ext cx="696113" cy="150297"/>
          </a:xfrm>
          <a:prstGeom prst="roundRect">
            <a:avLst>
              <a:gd name="adj" fmla="val 18000"/>
            </a:avLst>
          </a:prstGeom>
          <a:solidFill>
            <a:srgbClr val="E9F3EE"/>
          </a:solidFill>
          <a:ln w="7290">
            <a:solidFill>
              <a:srgbClr val="68AC9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Foreground head</a:t>
            </a:r>
          </a:p>
        </p:txBody>
      </p:sp>
      <p:sp>
        <p:nvSpPr>
          <p:cNvPr id="659" name="Math | p_j^fg">
            <a:extLst>
              <a:ext uri="{FF2B5EF4-FFF2-40B4-BE49-F238E27FC236}">
                <a16:creationId xmlns:a16="http://schemas.microsoft.com/office/drawing/2014/main" id="{04752E8A-9FFA-1739-18D7-365FF5D9A529}"/>
              </a:ext>
            </a:extLst>
          </p:cNvPr>
          <p:cNvSpPr txBox="1"/>
          <p:nvPr/>
        </p:nvSpPr>
        <p:spPr>
          <a:xfrm>
            <a:off x="1697293" y="4176444"/>
            <a:ext cx="121828" cy="122341"/>
          </a:xfrm>
          <a:prstGeom prst="rect">
            <a:avLst/>
          </a:prstGeom>
          <a:noFill/>
        </p:spPr>
        <p:txBody>
          <a:bodyPr wrap="none" lIns="0" tIns="0" rIns="0" bIns="0" anchor="ctr">
            <a:spAutoFit/>
          </a:bodyPr>
          <a:lstStyle/>
          <a:p>
            <a:pPr algn="ctr"/>
            <a:r>
              <a:rPr sz="827" i="1" dirty="0" err="1">
                <a:solidFill>
                  <a:srgbClr val="263442"/>
                </a:solidFill>
                <a:latin typeface="Times New Roman"/>
              </a:rPr>
              <a:t>p</a:t>
            </a:r>
            <a:r>
              <a:rPr sz="780" i="1" baseline="-28000" dirty="0" err="1">
                <a:solidFill>
                  <a:srgbClr val="263442"/>
                </a:solidFill>
                <a:latin typeface="Times New Roman"/>
              </a:rPr>
              <a:t>j</a:t>
            </a:r>
            <a:r>
              <a:rPr sz="780" baseline="32000" dirty="0" err="1">
                <a:solidFill>
                  <a:srgbClr val="263442"/>
                </a:solidFill>
                <a:latin typeface="Arial"/>
              </a:rPr>
              <a:t>fg</a:t>
            </a:r>
            <a:endParaRPr sz="780" baseline="32000" dirty="0">
              <a:solidFill>
                <a:srgbClr val="263442"/>
              </a:solidFill>
              <a:latin typeface="Arial"/>
            </a:endParaRPr>
          </a:p>
        </p:txBody>
      </p:sp>
      <p:sp>
        <p:nvSpPr>
          <p:cNvPr id="660" name="TextBox 12215">
            <a:extLst>
              <a:ext uri="{FF2B5EF4-FFF2-40B4-BE49-F238E27FC236}">
                <a16:creationId xmlns:a16="http://schemas.microsoft.com/office/drawing/2014/main" id="{C45D4B31-EE62-7047-2BD0-7D7B985DADC4}"/>
              </a:ext>
            </a:extLst>
          </p:cNvPr>
          <p:cNvSpPr txBox="1"/>
          <p:nvPr/>
        </p:nvSpPr>
        <p:spPr>
          <a:xfrm>
            <a:off x="1428555" y="4310121"/>
            <a:ext cx="666849" cy="79445"/>
          </a:xfrm>
          <a:prstGeom prst="rect">
            <a:avLst/>
          </a:prstGeom>
          <a:noFill/>
        </p:spPr>
        <p:txBody>
          <a:bodyPr wrap="none" lIns="0" tIns="0" rIns="0" bIns="0" anchor="ctr">
            <a:spAutoFit/>
          </a:bodyPr>
          <a:lstStyle/>
          <a:p>
            <a:pPr algn="l">
              <a:lnSpc>
                <a:spcPct val="105000"/>
              </a:lnSpc>
            </a:pPr>
            <a:r>
              <a:rPr sz="528" dirty="0">
                <a:solidFill>
                  <a:srgbClr val="263442"/>
                </a:solidFill>
                <a:latin typeface="Arial"/>
              </a:rPr>
              <a:t>Foreground probability</a:t>
            </a:r>
          </a:p>
        </p:txBody>
      </p:sp>
      <p:sp>
        <p:nvSpPr>
          <p:cNvPr id="661" name="TextBox 12216">
            <a:extLst>
              <a:ext uri="{FF2B5EF4-FFF2-40B4-BE49-F238E27FC236}">
                <a16:creationId xmlns:a16="http://schemas.microsoft.com/office/drawing/2014/main" id="{978E7CF5-ACF2-460D-26F2-9B198BAAC63B}"/>
              </a:ext>
            </a:extLst>
          </p:cNvPr>
          <p:cNvSpPr txBox="1"/>
          <p:nvPr/>
        </p:nvSpPr>
        <p:spPr>
          <a:xfrm>
            <a:off x="3071869" y="2206291"/>
            <a:ext cx="1195840" cy="88422"/>
          </a:xfrm>
          <a:prstGeom prst="rect">
            <a:avLst/>
          </a:prstGeom>
          <a:noFill/>
        </p:spPr>
        <p:txBody>
          <a:bodyPr wrap="none" lIns="0" tIns="0" rIns="0" bIns="0" anchor="ctr">
            <a:spAutoFit/>
          </a:bodyPr>
          <a:lstStyle/>
          <a:p>
            <a:pPr algn="ctr">
              <a:lnSpc>
                <a:spcPct val="105000"/>
              </a:lnSpc>
            </a:pPr>
            <a:r>
              <a:rPr sz="588">
                <a:solidFill>
                  <a:srgbClr val="263442"/>
                </a:solidFill>
                <a:latin typeface="Arial"/>
              </a:rPr>
              <a:t>User-provided SMILES · same PDB</a:t>
            </a:r>
          </a:p>
        </p:txBody>
      </p:sp>
      <p:sp>
        <p:nvSpPr>
          <p:cNvPr id="662" name="Identity | SMILES list card">
            <a:extLst>
              <a:ext uri="{FF2B5EF4-FFF2-40B4-BE49-F238E27FC236}">
                <a16:creationId xmlns:a16="http://schemas.microsoft.com/office/drawing/2014/main" id="{7DA7890B-AB79-9717-CAA6-1EEE08F32188}"/>
              </a:ext>
            </a:extLst>
          </p:cNvPr>
          <p:cNvSpPr/>
          <p:nvPr/>
        </p:nvSpPr>
        <p:spPr>
          <a:xfrm>
            <a:off x="3250539" y="2309830"/>
            <a:ext cx="838500" cy="512745"/>
          </a:xfrm>
          <a:prstGeom prst="roundRect">
            <a:avLst>
              <a:gd name="adj" fmla="val 6000"/>
            </a:avLst>
          </a:prstGeom>
          <a:solidFill>
            <a:srgbClr val="FFFFFF"/>
          </a:solidFill>
          <a:ln w="7290">
            <a:solidFill>
              <a:srgbClr val="D0E0DA"/>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63" name="TextBox 12218">
            <a:extLst>
              <a:ext uri="{FF2B5EF4-FFF2-40B4-BE49-F238E27FC236}">
                <a16:creationId xmlns:a16="http://schemas.microsoft.com/office/drawing/2014/main" id="{86BB59AD-D134-C7C6-AEC0-14F6157A5F0B}"/>
              </a:ext>
            </a:extLst>
          </p:cNvPr>
          <p:cNvSpPr txBox="1"/>
          <p:nvPr/>
        </p:nvSpPr>
        <p:spPr>
          <a:xfrm>
            <a:off x="3305912" y="2338063"/>
            <a:ext cx="727754" cy="85921"/>
          </a:xfrm>
          <a:prstGeom prst="rect">
            <a:avLst/>
          </a:prstGeom>
          <a:noFill/>
        </p:spPr>
        <p:txBody>
          <a:bodyPr wrap="square" lIns="0" tIns="0" rIns="0" bIns="0" anchor="ctr">
            <a:spAutoFit/>
          </a:bodyPr>
          <a:lstStyle/>
          <a:p>
            <a:pPr algn="l">
              <a:lnSpc>
                <a:spcPct val="105000"/>
              </a:lnSpc>
            </a:pPr>
            <a:r>
              <a:rPr sz="571" dirty="0">
                <a:solidFill>
                  <a:srgbClr val="263442"/>
                </a:solidFill>
                <a:latin typeface="Arial"/>
              </a:rPr>
              <a:t>1   CCO</a:t>
            </a:r>
          </a:p>
        </p:txBody>
      </p:sp>
      <p:sp>
        <p:nvSpPr>
          <p:cNvPr id="664" name="TextBox 12219">
            <a:extLst>
              <a:ext uri="{FF2B5EF4-FFF2-40B4-BE49-F238E27FC236}">
                <a16:creationId xmlns:a16="http://schemas.microsoft.com/office/drawing/2014/main" id="{D5CEF1E2-0003-83A9-6C8B-869DF460C92C}"/>
              </a:ext>
            </a:extLst>
          </p:cNvPr>
          <p:cNvSpPr txBox="1"/>
          <p:nvPr/>
        </p:nvSpPr>
        <p:spPr>
          <a:xfrm>
            <a:off x="3305912" y="2440897"/>
            <a:ext cx="727754" cy="85921"/>
          </a:xfrm>
          <a:prstGeom prst="rect">
            <a:avLst/>
          </a:prstGeom>
          <a:noFill/>
        </p:spPr>
        <p:txBody>
          <a:bodyPr wrap="square" lIns="0" tIns="0" rIns="0" bIns="0" anchor="ctr">
            <a:spAutoFit/>
          </a:bodyPr>
          <a:lstStyle/>
          <a:p>
            <a:pPr algn="l">
              <a:lnSpc>
                <a:spcPct val="105000"/>
              </a:lnSpc>
            </a:pPr>
            <a:r>
              <a:rPr sz="571" dirty="0">
                <a:solidFill>
                  <a:srgbClr val="263442"/>
                </a:solidFill>
                <a:latin typeface="Arial"/>
              </a:rPr>
              <a:t>2   CC(=O)O</a:t>
            </a:r>
          </a:p>
        </p:txBody>
      </p:sp>
      <p:sp>
        <p:nvSpPr>
          <p:cNvPr id="665" name="Identity | Selected k pill">
            <a:extLst>
              <a:ext uri="{FF2B5EF4-FFF2-40B4-BE49-F238E27FC236}">
                <a16:creationId xmlns:a16="http://schemas.microsoft.com/office/drawing/2014/main" id="{484884C0-9180-67EB-D183-0D32CB2F3899}"/>
              </a:ext>
            </a:extLst>
          </p:cNvPr>
          <p:cNvSpPr/>
          <p:nvPr/>
        </p:nvSpPr>
        <p:spPr>
          <a:xfrm>
            <a:off x="3282181" y="2562853"/>
            <a:ext cx="775217" cy="118656"/>
          </a:xfrm>
          <a:prstGeom prst="roundRect">
            <a:avLst>
              <a:gd name="adj" fmla="val 18000"/>
            </a:avLst>
          </a:prstGeom>
          <a:solidFill>
            <a:srgbClr val="DCFCE7"/>
          </a:solidFill>
          <a:ln w="8890">
            <a:solidFill>
              <a:srgbClr val="3E997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66" name="TextBox 12222">
            <a:extLst>
              <a:ext uri="{FF2B5EF4-FFF2-40B4-BE49-F238E27FC236}">
                <a16:creationId xmlns:a16="http://schemas.microsoft.com/office/drawing/2014/main" id="{AF18D027-6125-FBDF-9BCD-9060B5C5E099}"/>
              </a:ext>
            </a:extLst>
          </p:cNvPr>
          <p:cNvSpPr txBox="1"/>
          <p:nvPr/>
        </p:nvSpPr>
        <p:spPr>
          <a:xfrm>
            <a:off x="3313822" y="2585570"/>
            <a:ext cx="711934" cy="85921"/>
          </a:xfrm>
          <a:prstGeom prst="rect">
            <a:avLst/>
          </a:prstGeom>
          <a:noFill/>
        </p:spPr>
        <p:txBody>
          <a:bodyPr wrap="square" lIns="0" tIns="0" rIns="0" bIns="0" anchor="ctr">
            <a:spAutoFit/>
          </a:bodyPr>
          <a:lstStyle/>
          <a:p>
            <a:pPr algn="l">
              <a:lnSpc>
                <a:spcPct val="105000"/>
              </a:lnSpc>
            </a:pPr>
            <a:r>
              <a:rPr sz="571" dirty="0">
                <a:solidFill>
                  <a:srgbClr val="263442"/>
                </a:solidFill>
                <a:latin typeface="Arial"/>
              </a:rPr>
              <a:t>k   Cc1ccccc1</a:t>
            </a:r>
          </a:p>
        </p:txBody>
      </p:sp>
      <p:sp>
        <p:nvSpPr>
          <p:cNvPr id="667" name="TextBox 12224">
            <a:extLst>
              <a:ext uri="{FF2B5EF4-FFF2-40B4-BE49-F238E27FC236}">
                <a16:creationId xmlns:a16="http://schemas.microsoft.com/office/drawing/2014/main" id="{4F02AD2D-3369-26A3-6D2F-44659C880CB7}"/>
              </a:ext>
            </a:extLst>
          </p:cNvPr>
          <p:cNvSpPr txBox="1"/>
          <p:nvPr/>
        </p:nvSpPr>
        <p:spPr>
          <a:xfrm>
            <a:off x="3305912" y="2714369"/>
            <a:ext cx="727754" cy="85921"/>
          </a:xfrm>
          <a:prstGeom prst="rect">
            <a:avLst/>
          </a:prstGeom>
          <a:noFill/>
        </p:spPr>
        <p:txBody>
          <a:bodyPr wrap="square" lIns="0" tIns="0" rIns="0" bIns="0" anchor="ctr">
            <a:spAutoFit/>
          </a:bodyPr>
          <a:lstStyle/>
          <a:p>
            <a:pPr algn="l">
              <a:lnSpc>
                <a:spcPct val="105000"/>
              </a:lnSpc>
            </a:pPr>
            <a:r>
              <a:rPr sz="571" dirty="0">
                <a:solidFill>
                  <a:srgbClr val="263442"/>
                </a:solidFill>
                <a:latin typeface="Arial"/>
              </a:rPr>
              <a:t>K   CC(N)=O</a:t>
            </a:r>
          </a:p>
        </p:txBody>
      </p:sp>
      <p:sp>
        <p:nvSpPr>
          <p:cNvPr id="668" name="TextBox 12225">
            <a:extLst>
              <a:ext uri="{FF2B5EF4-FFF2-40B4-BE49-F238E27FC236}">
                <a16:creationId xmlns:a16="http://schemas.microsoft.com/office/drawing/2014/main" id="{3E613D72-90CB-62FD-E861-8FE6E2F065B8}"/>
              </a:ext>
            </a:extLst>
          </p:cNvPr>
          <p:cNvSpPr txBox="1"/>
          <p:nvPr/>
        </p:nvSpPr>
        <p:spPr>
          <a:xfrm>
            <a:off x="2786686" y="2643822"/>
            <a:ext cx="181140" cy="80599"/>
          </a:xfrm>
          <a:prstGeom prst="rect">
            <a:avLst/>
          </a:prstGeom>
          <a:noFill/>
        </p:spPr>
        <p:txBody>
          <a:bodyPr wrap="none" lIns="0" tIns="0" rIns="0" bIns="0" anchor="ctr">
            <a:spAutoFit/>
          </a:bodyPr>
          <a:lstStyle/>
          <a:p>
            <a:pPr algn="l">
              <a:lnSpc>
                <a:spcPct val="105000"/>
              </a:lnSpc>
            </a:pPr>
            <a:r>
              <a:rPr sz="536" dirty="0" err="1">
                <a:solidFill>
                  <a:srgbClr val="263442"/>
                </a:solidFill>
                <a:latin typeface="Arial"/>
              </a:rPr>
              <a:t>RDKit</a:t>
            </a:r>
            <a:endParaRPr sz="536" dirty="0">
              <a:solidFill>
                <a:srgbClr val="263442"/>
              </a:solidFill>
              <a:latin typeface="Arial"/>
            </a:endParaRPr>
          </a:p>
        </p:txBody>
      </p:sp>
      <p:grpSp>
        <p:nvGrpSpPr>
          <p:cNvPr id="669" name="Identity | Own molecular graph">
            <a:extLst>
              <a:ext uri="{FF2B5EF4-FFF2-40B4-BE49-F238E27FC236}">
                <a16:creationId xmlns:a16="http://schemas.microsoft.com/office/drawing/2014/main" id="{683652C7-CC94-2A9C-935C-36CF7B7EB5E8}"/>
              </a:ext>
            </a:extLst>
          </p:cNvPr>
          <p:cNvGrpSpPr/>
          <p:nvPr/>
        </p:nvGrpSpPr>
        <p:grpSpPr>
          <a:xfrm>
            <a:off x="2862931" y="2888431"/>
            <a:ext cx="284773" cy="171742"/>
            <a:chOff x="3366271" y="3721905"/>
            <a:chExt cx="311024" cy="187573"/>
          </a:xfrm>
        </p:grpSpPr>
        <p:cxnSp>
          <p:nvCxnSpPr>
            <p:cNvPr id="670" name="path_2698">
              <a:extLst>
                <a:ext uri="{FF2B5EF4-FFF2-40B4-BE49-F238E27FC236}">
                  <a16:creationId xmlns:a16="http://schemas.microsoft.com/office/drawing/2014/main" id="{08C9C74A-0B12-2E3C-023F-C3DCDEFB7AF1}"/>
                </a:ext>
              </a:extLst>
            </p:cNvPr>
            <p:cNvCxnSpPr/>
            <p:nvPr/>
          </p:nvCxnSpPr>
          <p:spPr>
            <a:xfrm flipV="1">
              <a:off x="3381053" y="3736688"/>
              <a:ext cx="63663" cy="70463"/>
            </a:xfrm>
            <a:prstGeom prst="line">
              <a:avLst/>
            </a:prstGeom>
            <a:noFill/>
            <a:ln w="5256" cap="rnd" cmpd="sng" algn="ctr">
              <a:solidFill>
                <a:srgbClr val="238777"/>
              </a:solidFill>
              <a:prstDash val="solid"/>
              <a:round/>
              <a:headEnd type="none" w="med" len="med"/>
              <a:tailEnd type="none" w="med" len="med"/>
            </a:ln>
            <a:effectLst/>
          </p:spPr>
        </p:cxnSp>
        <p:cxnSp>
          <p:nvCxnSpPr>
            <p:cNvPr id="671" name="path_2699">
              <a:extLst>
                <a:ext uri="{FF2B5EF4-FFF2-40B4-BE49-F238E27FC236}">
                  <a16:creationId xmlns:a16="http://schemas.microsoft.com/office/drawing/2014/main" id="{1CF65ECB-9AC9-C310-5460-0B86FF6B2BC5}"/>
                </a:ext>
              </a:extLst>
            </p:cNvPr>
            <p:cNvCxnSpPr/>
            <p:nvPr/>
          </p:nvCxnSpPr>
          <p:spPr>
            <a:xfrm>
              <a:off x="3444717" y="3736688"/>
              <a:ext cx="113924" cy="14947"/>
            </a:xfrm>
            <a:prstGeom prst="line">
              <a:avLst/>
            </a:prstGeom>
            <a:noFill/>
            <a:ln w="5256" cap="rnd" cmpd="sng" algn="ctr">
              <a:solidFill>
                <a:srgbClr val="238777"/>
              </a:solidFill>
              <a:prstDash val="solid"/>
              <a:round/>
              <a:headEnd type="none" w="med" len="med"/>
              <a:tailEnd type="none" w="med" len="med"/>
            </a:ln>
            <a:effectLst/>
          </p:spPr>
        </p:cxnSp>
        <p:cxnSp>
          <p:nvCxnSpPr>
            <p:cNvPr id="672" name="path_2700">
              <a:extLst>
                <a:ext uri="{FF2B5EF4-FFF2-40B4-BE49-F238E27FC236}">
                  <a16:creationId xmlns:a16="http://schemas.microsoft.com/office/drawing/2014/main" id="{47F0AAAA-D782-D4D4-41E7-7304CCE8D568}"/>
                </a:ext>
              </a:extLst>
            </p:cNvPr>
            <p:cNvCxnSpPr/>
            <p:nvPr/>
          </p:nvCxnSpPr>
          <p:spPr>
            <a:xfrm>
              <a:off x="3558640" y="3751634"/>
              <a:ext cx="73715" cy="64058"/>
            </a:xfrm>
            <a:prstGeom prst="line">
              <a:avLst/>
            </a:prstGeom>
            <a:noFill/>
            <a:ln w="5256" cap="rnd" cmpd="sng" algn="ctr">
              <a:solidFill>
                <a:srgbClr val="238777"/>
              </a:solidFill>
              <a:prstDash val="solid"/>
              <a:round/>
              <a:headEnd type="none" w="med" len="med"/>
              <a:tailEnd type="none" w="med" len="med"/>
            </a:ln>
            <a:effectLst/>
          </p:spPr>
        </p:cxnSp>
        <p:cxnSp>
          <p:nvCxnSpPr>
            <p:cNvPr id="673" name="path_2701">
              <a:extLst>
                <a:ext uri="{FF2B5EF4-FFF2-40B4-BE49-F238E27FC236}">
                  <a16:creationId xmlns:a16="http://schemas.microsoft.com/office/drawing/2014/main" id="{672DEF92-FEF6-A8B8-A079-671D6D70071E}"/>
                </a:ext>
              </a:extLst>
            </p:cNvPr>
            <p:cNvCxnSpPr/>
            <p:nvPr/>
          </p:nvCxnSpPr>
          <p:spPr>
            <a:xfrm flipH="1">
              <a:off x="3561991" y="3815692"/>
              <a:ext cx="70365" cy="79004"/>
            </a:xfrm>
            <a:prstGeom prst="line">
              <a:avLst/>
            </a:prstGeom>
            <a:noFill/>
            <a:ln w="5256" cap="rnd" cmpd="sng" algn="ctr">
              <a:solidFill>
                <a:srgbClr val="238777"/>
              </a:solidFill>
              <a:prstDash val="solid"/>
              <a:round/>
              <a:headEnd type="none" w="med" len="med"/>
              <a:tailEnd type="none" w="med" len="med"/>
            </a:ln>
            <a:effectLst/>
          </p:spPr>
        </p:cxnSp>
        <p:cxnSp>
          <p:nvCxnSpPr>
            <p:cNvPr id="674" name="path_2702">
              <a:extLst>
                <a:ext uri="{FF2B5EF4-FFF2-40B4-BE49-F238E27FC236}">
                  <a16:creationId xmlns:a16="http://schemas.microsoft.com/office/drawing/2014/main" id="{B02A38E3-8AB1-C1CA-A784-7A02E63B2D09}"/>
                </a:ext>
              </a:extLst>
            </p:cNvPr>
            <p:cNvCxnSpPr/>
            <p:nvPr/>
          </p:nvCxnSpPr>
          <p:spPr>
            <a:xfrm flipH="1" flipV="1">
              <a:off x="3444717" y="3875479"/>
              <a:ext cx="117275" cy="19217"/>
            </a:xfrm>
            <a:prstGeom prst="line">
              <a:avLst/>
            </a:prstGeom>
            <a:noFill/>
            <a:ln w="5256" cap="rnd" cmpd="sng" algn="ctr">
              <a:solidFill>
                <a:srgbClr val="238777"/>
              </a:solidFill>
              <a:prstDash val="solid"/>
              <a:round/>
              <a:headEnd type="none" w="med" len="med"/>
              <a:tailEnd type="none" w="med" len="med"/>
            </a:ln>
            <a:effectLst/>
          </p:spPr>
        </p:cxnSp>
        <p:cxnSp>
          <p:nvCxnSpPr>
            <p:cNvPr id="675" name="path_2703">
              <a:extLst>
                <a:ext uri="{FF2B5EF4-FFF2-40B4-BE49-F238E27FC236}">
                  <a16:creationId xmlns:a16="http://schemas.microsoft.com/office/drawing/2014/main" id="{5EB27651-D3BE-22CD-39D8-D428781F5F97}"/>
                </a:ext>
              </a:extLst>
            </p:cNvPr>
            <p:cNvCxnSpPr/>
            <p:nvPr/>
          </p:nvCxnSpPr>
          <p:spPr>
            <a:xfrm flipH="1" flipV="1">
              <a:off x="3381053" y="3807151"/>
              <a:ext cx="63663" cy="68328"/>
            </a:xfrm>
            <a:prstGeom prst="line">
              <a:avLst/>
            </a:prstGeom>
            <a:noFill/>
            <a:ln w="5256" cap="rnd" cmpd="sng" algn="ctr">
              <a:solidFill>
                <a:srgbClr val="238777"/>
              </a:solidFill>
              <a:prstDash val="solid"/>
              <a:round/>
              <a:headEnd type="none" w="med" len="med"/>
              <a:tailEnd type="none" w="med" len="med"/>
            </a:ln>
            <a:effectLst/>
          </p:spPr>
        </p:cxnSp>
        <p:cxnSp>
          <p:nvCxnSpPr>
            <p:cNvPr id="676" name="path_2704">
              <a:extLst>
                <a:ext uri="{FF2B5EF4-FFF2-40B4-BE49-F238E27FC236}">
                  <a16:creationId xmlns:a16="http://schemas.microsoft.com/office/drawing/2014/main" id="{A3592B63-1411-3F57-5878-96E17C30AD75}"/>
                </a:ext>
              </a:extLst>
            </p:cNvPr>
            <p:cNvCxnSpPr/>
            <p:nvPr/>
          </p:nvCxnSpPr>
          <p:spPr>
            <a:xfrm flipV="1">
              <a:off x="3558640" y="3745228"/>
              <a:ext cx="103872" cy="6406"/>
            </a:xfrm>
            <a:prstGeom prst="line">
              <a:avLst/>
            </a:prstGeom>
            <a:noFill/>
            <a:ln w="5256" cap="rnd" cmpd="sng" algn="ctr">
              <a:solidFill>
                <a:srgbClr val="238777"/>
              </a:solidFill>
              <a:prstDash val="solid"/>
              <a:round/>
              <a:headEnd type="none" w="med" len="med"/>
              <a:tailEnd type="none" w="med" len="med"/>
            </a:ln>
            <a:effectLst/>
          </p:spPr>
        </p:cxnSp>
        <p:sp>
          <p:nvSpPr>
            <p:cNvPr id="677" name="ellipse_2705">
              <a:extLst>
                <a:ext uri="{FF2B5EF4-FFF2-40B4-BE49-F238E27FC236}">
                  <a16:creationId xmlns:a16="http://schemas.microsoft.com/office/drawing/2014/main" id="{C3D36D22-8CEB-B663-A605-02E9CFFED0C1}"/>
                </a:ext>
              </a:extLst>
            </p:cNvPr>
            <p:cNvSpPr/>
            <p:nvPr/>
          </p:nvSpPr>
          <p:spPr>
            <a:xfrm>
              <a:off x="3366271" y="3792368"/>
              <a:ext cx="29565" cy="29565"/>
            </a:xfrm>
            <a:prstGeom prst="ellipse">
              <a:avLst/>
            </a:prstGeom>
            <a:gradFill flip="none" rotWithShape="1">
              <a:gsLst>
                <a:gs pos="0">
                  <a:srgbClr val="DEEDEB"/>
                </a:gs>
                <a:gs pos="43000">
                  <a:srgbClr val="61A99D"/>
                </a:gs>
                <a:gs pos="100000">
                  <a:srgbClr val="267D72"/>
                </a:gs>
              </a:gsLst>
              <a:lin ang="2700000" scaled="1"/>
              <a:tileRect/>
            </a:gradFill>
            <a:ln w="1807" cap="rnd" cmpd="sng" algn="ctr">
              <a:noFill/>
              <a:prstDash val="solid"/>
              <a:round/>
              <a:headEnd type="none" w="med" len="med"/>
              <a:tailEnd type="none" w="med" len="med"/>
            </a:ln>
            <a:effectLst/>
          </p:spPr>
        </p:sp>
        <p:sp>
          <p:nvSpPr>
            <p:cNvPr id="678" name="ellipse_2706">
              <a:extLst>
                <a:ext uri="{FF2B5EF4-FFF2-40B4-BE49-F238E27FC236}">
                  <a16:creationId xmlns:a16="http://schemas.microsoft.com/office/drawing/2014/main" id="{1F86BCBC-B96E-6EC5-AC9B-22A20629DF0F}"/>
                </a:ext>
              </a:extLst>
            </p:cNvPr>
            <p:cNvSpPr/>
            <p:nvPr/>
          </p:nvSpPr>
          <p:spPr>
            <a:xfrm>
              <a:off x="3429934" y="3721905"/>
              <a:ext cx="29565" cy="29565"/>
            </a:xfrm>
            <a:prstGeom prst="ellipse">
              <a:avLst/>
            </a:prstGeom>
            <a:gradFill flip="none" rotWithShape="1">
              <a:gsLst>
                <a:gs pos="0">
                  <a:srgbClr val="DEEDEB"/>
                </a:gs>
                <a:gs pos="43000">
                  <a:srgbClr val="61A99D"/>
                </a:gs>
                <a:gs pos="100000">
                  <a:srgbClr val="267D72"/>
                </a:gs>
              </a:gsLst>
              <a:lin ang="2700000" scaled="1"/>
              <a:tileRect/>
            </a:gradFill>
            <a:ln w="1807" cap="rnd" cmpd="sng" algn="ctr">
              <a:noFill/>
              <a:prstDash val="solid"/>
              <a:round/>
              <a:headEnd type="none" w="med" len="med"/>
              <a:tailEnd type="none" w="med" len="med"/>
            </a:ln>
            <a:effectLst/>
          </p:spPr>
        </p:sp>
        <p:sp>
          <p:nvSpPr>
            <p:cNvPr id="679" name="ellipse_2707">
              <a:extLst>
                <a:ext uri="{FF2B5EF4-FFF2-40B4-BE49-F238E27FC236}">
                  <a16:creationId xmlns:a16="http://schemas.microsoft.com/office/drawing/2014/main" id="{0D7ED534-2755-74EA-6149-4A7E3A7E8992}"/>
                </a:ext>
              </a:extLst>
            </p:cNvPr>
            <p:cNvSpPr/>
            <p:nvPr/>
          </p:nvSpPr>
          <p:spPr>
            <a:xfrm>
              <a:off x="3543858" y="3736852"/>
              <a:ext cx="29565" cy="29565"/>
            </a:xfrm>
            <a:prstGeom prst="ellipse">
              <a:avLst/>
            </a:prstGeom>
            <a:gradFill flip="none" rotWithShape="1">
              <a:gsLst>
                <a:gs pos="0">
                  <a:srgbClr val="DEEDEB"/>
                </a:gs>
                <a:gs pos="43000">
                  <a:srgbClr val="61A99D"/>
                </a:gs>
                <a:gs pos="100000">
                  <a:srgbClr val="267D72"/>
                </a:gs>
              </a:gsLst>
              <a:lin ang="2700000" scaled="1"/>
              <a:tileRect/>
            </a:gradFill>
            <a:ln w="1807" cap="rnd" cmpd="sng" algn="ctr">
              <a:noFill/>
              <a:prstDash val="solid"/>
              <a:round/>
              <a:headEnd type="none" w="med" len="med"/>
              <a:tailEnd type="none" w="med" len="med"/>
            </a:ln>
            <a:effectLst/>
          </p:spPr>
        </p:sp>
        <p:sp>
          <p:nvSpPr>
            <p:cNvPr id="680" name="ellipse_2708">
              <a:extLst>
                <a:ext uri="{FF2B5EF4-FFF2-40B4-BE49-F238E27FC236}">
                  <a16:creationId xmlns:a16="http://schemas.microsoft.com/office/drawing/2014/main" id="{01CC7294-C7B5-D1A4-A138-902105284B89}"/>
                </a:ext>
              </a:extLst>
            </p:cNvPr>
            <p:cNvSpPr/>
            <p:nvPr/>
          </p:nvSpPr>
          <p:spPr>
            <a:xfrm>
              <a:off x="3617573" y="3800909"/>
              <a:ext cx="29565" cy="29565"/>
            </a:xfrm>
            <a:prstGeom prst="ellipse">
              <a:avLst/>
            </a:prstGeom>
            <a:gradFill flip="none" rotWithShape="1">
              <a:gsLst>
                <a:gs pos="0">
                  <a:srgbClr val="DEEDEB"/>
                </a:gs>
                <a:gs pos="43000">
                  <a:srgbClr val="61A99D"/>
                </a:gs>
                <a:gs pos="100000">
                  <a:srgbClr val="267D72"/>
                </a:gs>
              </a:gsLst>
              <a:lin ang="2700000" scaled="1"/>
              <a:tileRect/>
            </a:gradFill>
            <a:ln w="1807" cap="rnd" cmpd="sng" algn="ctr">
              <a:noFill/>
              <a:prstDash val="solid"/>
              <a:round/>
              <a:headEnd type="none" w="med" len="med"/>
              <a:tailEnd type="none" w="med" len="med"/>
            </a:ln>
            <a:effectLst/>
          </p:spPr>
        </p:sp>
        <p:sp>
          <p:nvSpPr>
            <p:cNvPr id="681" name="ellipse_2709">
              <a:extLst>
                <a:ext uri="{FF2B5EF4-FFF2-40B4-BE49-F238E27FC236}">
                  <a16:creationId xmlns:a16="http://schemas.microsoft.com/office/drawing/2014/main" id="{80734E48-9DE8-B4FD-D0D4-D53693BBEADF}"/>
                </a:ext>
              </a:extLst>
            </p:cNvPr>
            <p:cNvSpPr/>
            <p:nvPr/>
          </p:nvSpPr>
          <p:spPr>
            <a:xfrm>
              <a:off x="3547209" y="3879913"/>
              <a:ext cx="29565" cy="29565"/>
            </a:xfrm>
            <a:prstGeom prst="ellipse">
              <a:avLst/>
            </a:prstGeom>
            <a:gradFill flip="none" rotWithShape="1">
              <a:gsLst>
                <a:gs pos="0">
                  <a:srgbClr val="DEEDEB"/>
                </a:gs>
                <a:gs pos="43000">
                  <a:srgbClr val="61A99D"/>
                </a:gs>
                <a:gs pos="100000">
                  <a:srgbClr val="267D72"/>
                </a:gs>
              </a:gsLst>
              <a:lin ang="2700000" scaled="1"/>
              <a:tileRect/>
            </a:gradFill>
            <a:ln w="1807" cap="rnd" cmpd="sng" algn="ctr">
              <a:noFill/>
              <a:prstDash val="solid"/>
              <a:round/>
              <a:headEnd type="none" w="med" len="med"/>
              <a:tailEnd type="none" w="med" len="med"/>
            </a:ln>
            <a:effectLst/>
          </p:spPr>
        </p:sp>
        <p:sp>
          <p:nvSpPr>
            <p:cNvPr id="682" name="ellipse_2710">
              <a:extLst>
                <a:ext uri="{FF2B5EF4-FFF2-40B4-BE49-F238E27FC236}">
                  <a16:creationId xmlns:a16="http://schemas.microsoft.com/office/drawing/2014/main" id="{3DB6F677-E1A0-2C7D-CADD-FB389865F633}"/>
                </a:ext>
              </a:extLst>
            </p:cNvPr>
            <p:cNvSpPr/>
            <p:nvPr/>
          </p:nvSpPr>
          <p:spPr>
            <a:xfrm>
              <a:off x="3429934" y="3860696"/>
              <a:ext cx="29565" cy="29565"/>
            </a:xfrm>
            <a:prstGeom prst="ellipse">
              <a:avLst/>
            </a:prstGeom>
            <a:gradFill flip="none" rotWithShape="1">
              <a:gsLst>
                <a:gs pos="0">
                  <a:srgbClr val="DEEDEB"/>
                </a:gs>
                <a:gs pos="43000">
                  <a:srgbClr val="61A99D"/>
                </a:gs>
                <a:gs pos="100000">
                  <a:srgbClr val="267D72"/>
                </a:gs>
              </a:gsLst>
              <a:lin ang="2700000" scaled="1"/>
              <a:tileRect/>
            </a:gradFill>
            <a:ln w="1807" cap="rnd" cmpd="sng" algn="ctr">
              <a:noFill/>
              <a:prstDash val="solid"/>
              <a:round/>
              <a:headEnd type="none" w="med" len="med"/>
              <a:tailEnd type="none" w="med" len="med"/>
            </a:ln>
            <a:effectLst/>
          </p:spPr>
        </p:sp>
        <p:sp>
          <p:nvSpPr>
            <p:cNvPr id="683" name="ellipse_2711">
              <a:extLst>
                <a:ext uri="{FF2B5EF4-FFF2-40B4-BE49-F238E27FC236}">
                  <a16:creationId xmlns:a16="http://schemas.microsoft.com/office/drawing/2014/main" id="{D105DBC9-3C6D-0576-1E95-E04BFA9EB1EF}"/>
                </a:ext>
              </a:extLst>
            </p:cNvPr>
            <p:cNvSpPr/>
            <p:nvPr/>
          </p:nvSpPr>
          <p:spPr>
            <a:xfrm>
              <a:off x="3647730" y="3730446"/>
              <a:ext cx="29565" cy="29565"/>
            </a:xfrm>
            <a:prstGeom prst="ellipse">
              <a:avLst/>
            </a:prstGeom>
            <a:gradFill flip="none" rotWithShape="1">
              <a:gsLst>
                <a:gs pos="0">
                  <a:srgbClr val="DEEDEB"/>
                </a:gs>
                <a:gs pos="43000">
                  <a:srgbClr val="61A99D"/>
                </a:gs>
                <a:gs pos="100000">
                  <a:srgbClr val="267D72"/>
                </a:gs>
              </a:gsLst>
              <a:lin ang="2700000" scaled="1"/>
              <a:tileRect/>
            </a:gradFill>
            <a:ln w="1807" cap="rnd" cmpd="sng" algn="ctr">
              <a:noFill/>
              <a:prstDash val="solid"/>
              <a:round/>
              <a:headEnd type="none" w="med" len="med"/>
              <a:tailEnd type="none" w="med" len="med"/>
            </a:ln>
            <a:effectLst/>
          </p:spPr>
        </p:sp>
      </p:grpSp>
      <p:sp>
        <p:nvSpPr>
          <p:cNvPr id="684" name="TextBox 12226">
            <a:extLst>
              <a:ext uri="{FF2B5EF4-FFF2-40B4-BE49-F238E27FC236}">
                <a16:creationId xmlns:a16="http://schemas.microsoft.com/office/drawing/2014/main" id="{43DBD103-E22F-DA52-F0ED-122A5CA41D61}"/>
              </a:ext>
            </a:extLst>
          </p:cNvPr>
          <p:cNvSpPr txBox="1"/>
          <p:nvPr/>
        </p:nvSpPr>
        <p:spPr>
          <a:xfrm>
            <a:off x="2837002" y="3080344"/>
            <a:ext cx="336631" cy="80599"/>
          </a:xfrm>
          <a:prstGeom prst="rect">
            <a:avLst/>
          </a:prstGeom>
          <a:noFill/>
        </p:spPr>
        <p:txBody>
          <a:bodyPr wrap="none" lIns="0" tIns="0" rIns="0" bIns="0" anchor="ctr">
            <a:spAutoFit/>
          </a:bodyPr>
          <a:lstStyle/>
          <a:p>
            <a:pPr algn="ctr">
              <a:lnSpc>
                <a:spcPct val="105000"/>
              </a:lnSpc>
            </a:pPr>
            <a:r>
              <a:rPr sz="536">
                <a:solidFill>
                  <a:srgbClr val="263442"/>
                </a:solidFill>
                <a:latin typeface="Arial"/>
              </a:rPr>
              <a:t>Own graph</a:t>
            </a:r>
          </a:p>
        </p:txBody>
      </p:sp>
      <p:sp>
        <p:nvSpPr>
          <p:cNvPr id="685" name="Op | GNN">
            <a:extLst>
              <a:ext uri="{FF2B5EF4-FFF2-40B4-BE49-F238E27FC236}">
                <a16:creationId xmlns:a16="http://schemas.microsoft.com/office/drawing/2014/main" id="{98330FF3-2E5A-32C3-D33C-D78225E1943D}"/>
              </a:ext>
            </a:extLst>
          </p:cNvPr>
          <p:cNvSpPr/>
          <p:nvPr/>
        </p:nvSpPr>
        <p:spPr>
          <a:xfrm>
            <a:off x="2823379" y="3239299"/>
            <a:ext cx="363877" cy="134476"/>
          </a:xfrm>
          <a:prstGeom prst="roundRect">
            <a:avLst>
              <a:gd name="adj" fmla="val 18000"/>
            </a:avLst>
          </a:prstGeom>
          <a:solidFill>
            <a:srgbClr val="E9F3EE"/>
          </a:solidFill>
          <a:ln w="7290">
            <a:solidFill>
              <a:srgbClr val="68AC9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GNN</a:t>
            </a:r>
          </a:p>
        </p:txBody>
      </p:sp>
      <p:sp>
        <p:nvSpPr>
          <p:cNvPr id="686" name="TextBox 12228">
            <a:extLst>
              <a:ext uri="{FF2B5EF4-FFF2-40B4-BE49-F238E27FC236}">
                <a16:creationId xmlns:a16="http://schemas.microsoft.com/office/drawing/2014/main" id="{26538413-3AE9-9872-D0A6-0AEA9E6FF809}"/>
              </a:ext>
            </a:extLst>
          </p:cNvPr>
          <p:cNvSpPr txBox="1"/>
          <p:nvPr/>
        </p:nvSpPr>
        <p:spPr>
          <a:xfrm>
            <a:off x="3036959" y="3388848"/>
            <a:ext cx="134652" cy="80599"/>
          </a:xfrm>
          <a:prstGeom prst="rect">
            <a:avLst/>
          </a:prstGeom>
          <a:noFill/>
        </p:spPr>
        <p:txBody>
          <a:bodyPr wrap="none" lIns="0" tIns="0" rIns="0" bIns="0" anchor="ctr">
            <a:spAutoFit/>
          </a:bodyPr>
          <a:lstStyle/>
          <a:p>
            <a:pPr algn="l">
              <a:lnSpc>
                <a:spcPct val="105000"/>
              </a:lnSpc>
            </a:pPr>
            <a:r>
              <a:rPr sz="536" dirty="0">
                <a:solidFill>
                  <a:srgbClr val="263442"/>
                </a:solidFill>
                <a:latin typeface="Arial"/>
              </a:rPr>
              <a:t>K, V</a:t>
            </a:r>
          </a:p>
        </p:txBody>
      </p:sp>
      <p:sp>
        <p:nvSpPr>
          <p:cNvPr id="687" name="Op | Graph attention">
            <a:extLst>
              <a:ext uri="{FF2B5EF4-FFF2-40B4-BE49-F238E27FC236}">
                <a16:creationId xmlns:a16="http://schemas.microsoft.com/office/drawing/2014/main" id="{5F3701CD-DCA3-D9CA-7FA3-D737E8718A60}"/>
              </a:ext>
            </a:extLst>
          </p:cNvPr>
          <p:cNvSpPr/>
          <p:nvPr/>
        </p:nvSpPr>
        <p:spPr>
          <a:xfrm>
            <a:off x="2696813" y="3500341"/>
            <a:ext cx="617009" cy="150297"/>
          </a:xfrm>
          <a:prstGeom prst="roundRect">
            <a:avLst>
              <a:gd name="adj" fmla="val 18000"/>
            </a:avLst>
          </a:prstGeom>
          <a:solidFill>
            <a:srgbClr val="E9F3EE"/>
          </a:solidFill>
          <a:ln w="7290">
            <a:solidFill>
              <a:srgbClr val="68AC9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Graph</a:t>
            </a:r>
            <a:r>
              <a:rPr sz="580" dirty="0">
                <a:solidFill>
                  <a:srgbClr val="263442"/>
                </a:solidFill>
                <a:latin typeface="Arial"/>
              </a:rPr>
              <a:t> </a:t>
            </a:r>
            <a:r>
              <a:rPr sz="588" dirty="0">
                <a:solidFill>
                  <a:srgbClr val="263442"/>
                </a:solidFill>
                <a:latin typeface="Arial"/>
              </a:rPr>
              <a:t>attention</a:t>
            </a:r>
          </a:p>
        </p:txBody>
      </p:sp>
      <p:sp>
        <p:nvSpPr>
          <p:cNvPr id="688" name="Op | SMI-TED">
            <a:extLst>
              <a:ext uri="{FF2B5EF4-FFF2-40B4-BE49-F238E27FC236}">
                <a16:creationId xmlns:a16="http://schemas.microsoft.com/office/drawing/2014/main" id="{9F250B16-9768-CC2C-86AF-59769C8EEC4C}"/>
              </a:ext>
            </a:extLst>
          </p:cNvPr>
          <p:cNvSpPr/>
          <p:nvPr/>
        </p:nvSpPr>
        <p:spPr>
          <a:xfrm>
            <a:off x="3459362" y="2971538"/>
            <a:ext cx="427160" cy="134476"/>
          </a:xfrm>
          <a:prstGeom prst="roundRect">
            <a:avLst>
              <a:gd name="adj" fmla="val 18000"/>
            </a:avLst>
          </a:prstGeom>
          <a:solidFill>
            <a:srgbClr val="E9F3EE"/>
          </a:solidFill>
          <a:ln w="7290">
            <a:solidFill>
              <a:srgbClr val="68AC9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SMI-TED</a:t>
            </a:r>
          </a:p>
        </p:txBody>
      </p:sp>
      <p:sp>
        <p:nvSpPr>
          <p:cNvPr id="689" name="Language vector v_k_1">
            <a:extLst>
              <a:ext uri="{FF2B5EF4-FFF2-40B4-BE49-F238E27FC236}">
                <a16:creationId xmlns:a16="http://schemas.microsoft.com/office/drawing/2014/main" id="{E695888D-D925-5392-2451-D7757F2B6BC7}"/>
              </a:ext>
            </a:extLst>
          </p:cNvPr>
          <p:cNvSpPr/>
          <p:nvPr/>
        </p:nvSpPr>
        <p:spPr>
          <a:xfrm>
            <a:off x="3527403" y="3547013"/>
            <a:ext cx="37291" cy="56955"/>
          </a:xfrm>
          <a:prstGeom prst="rect">
            <a:avLst/>
          </a:prstGeom>
          <a:solidFill>
            <a:srgbClr val="3C9B8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90" name="Language vector v_k_2">
            <a:extLst>
              <a:ext uri="{FF2B5EF4-FFF2-40B4-BE49-F238E27FC236}">
                <a16:creationId xmlns:a16="http://schemas.microsoft.com/office/drawing/2014/main" id="{914284BD-BAB8-4AEA-A1F1-E7FC853BC87F}"/>
              </a:ext>
            </a:extLst>
          </p:cNvPr>
          <p:cNvSpPr/>
          <p:nvPr/>
        </p:nvSpPr>
        <p:spPr>
          <a:xfrm>
            <a:off x="3568650" y="3547013"/>
            <a:ext cx="37291" cy="56955"/>
          </a:xfrm>
          <a:prstGeom prst="rect">
            <a:avLst/>
          </a:prstGeom>
          <a:solidFill>
            <a:srgbClr val="6FB9A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91" name="Language vector v_k_3">
            <a:extLst>
              <a:ext uri="{FF2B5EF4-FFF2-40B4-BE49-F238E27FC236}">
                <a16:creationId xmlns:a16="http://schemas.microsoft.com/office/drawing/2014/main" id="{A224CED9-3025-4474-CF80-E118B0ACA7AB}"/>
              </a:ext>
            </a:extLst>
          </p:cNvPr>
          <p:cNvSpPr/>
          <p:nvPr/>
        </p:nvSpPr>
        <p:spPr>
          <a:xfrm>
            <a:off x="3609897" y="3547013"/>
            <a:ext cx="37291" cy="56955"/>
          </a:xfrm>
          <a:prstGeom prst="rect">
            <a:avLst/>
          </a:prstGeom>
          <a:solidFill>
            <a:srgbClr val="ADD8C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92" name="Language vector v_k_4">
            <a:extLst>
              <a:ext uri="{FF2B5EF4-FFF2-40B4-BE49-F238E27FC236}">
                <a16:creationId xmlns:a16="http://schemas.microsoft.com/office/drawing/2014/main" id="{3641CBF3-C5A5-2DC2-88CA-B3F2C816508D}"/>
              </a:ext>
            </a:extLst>
          </p:cNvPr>
          <p:cNvSpPr/>
          <p:nvPr/>
        </p:nvSpPr>
        <p:spPr>
          <a:xfrm>
            <a:off x="3651144" y="3547013"/>
            <a:ext cx="37291" cy="56955"/>
          </a:xfrm>
          <a:prstGeom prst="rect">
            <a:avLst/>
          </a:prstGeom>
          <a:solidFill>
            <a:srgbClr val="CBE7D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93" name="Language vector v_k_5">
            <a:extLst>
              <a:ext uri="{FF2B5EF4-FFF2-40B4-BE49-F238E27FC236}">
                <a16:creationId xmlns:a16="http://schemas.microsoft.com/office/drawing/2014/main" id="{B6BA4357-39F7-598C-72FA-2FC00B25A10F}"/>
              </a:ext>
            </a:extLst>
          </p:cNvPr>
          <p:cNvSpPr/>
          <p:nvPr/>
        </p:nvSpPr>
        <p:spPr>
          <a:xfrm>
            <a:off x="3692391" y="3547013"/>
            <a:ext cx="37291" cy="56955"/>
          </a:xfrm>
          <a:prstGeom prst="rect">
            <a:avLst/>
          </a:prstGeom>
          <a:solidFill>
            <a:srgbClr val="3C9B8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94" name="Language vector v_k_6">
            <a:extLst>
              <a:ext uri="{FF2B5EF4-FFF2-40B4-BE49-F238E27FC236}">
                <a16:creationId xmlns:a16="http://schemas.microsoft.com/office/drawing/2014/main" id="{14F9C08B-08C8-5CC8-21F6-EC42430BFA81}"/>
              </a:ext>
            </a:extLst>
          </p:cNvPr>
          <p:cNvSpPr/>
          <p:nvPr/>
        </p:nvSpPr>
        <p:spPr>
          <a:xfrm>
            <a:off x="3733638" y="3547013"/>
            <a:ext cx="37291" cy="56955"/>
          </a:xfrm>
          <a:prstGeom prst="rect">
            <a:avLst/>
          </a:prstGeom>
          <a:solidFill>
            <a:srgbClr val="6FB9A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95" name="Language vector v_k_7">
            <a:extLst>
              <a:ext uri="{FF2B5EF4-FFF2-40B4-BE49-F238E27FC236}">
                <a16:creationId xmlns:a16="http://schemas.microsoft.com/office/drawing/2014/main" id="{52E0E1B7-31F4-244C-BA32-494F415D5F2F}"/>
              </a:ext>
            </a:extLst>
          </p:cNvPr>
          <p:cNvSpPr/>
          <p:nvPr/>
        </p:nvSpPr>
        <p:spPr>
          <a:xfrm>
            <a:off x="3774885" y="3547013"/>
            <a:ext cx="37291" cy="56955"/>
          </a:xfrm>
          <a:prstGeom prst="rect">
            <a:avLst/>
          </a:prstGeom>
          <a:solidFill>
            <a:srgbClr val="ADD8C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96" name="TextBox 12239">
            <a:extLst>
              <a:ext uri="{FF2B5EF4-FFF2-40B4-BE49-F238E27FC236}">
                <a16:creationId xmlns:a16="http://schemas.microsoft.com/office/drawing/2014/main" id="{DE6BD61F-48C0-C267-E36F-0AC7BC24100D}"/>
              </a:ext>
            </a:extLst>
          </p:cNvPr>
          <p:cNvSpPr txBox="1"/>
          <p:nvPr/>
        </p:nvSpPr>
        <p:spPr>
          <a:xfrm>
            <a:off x="3353374" y="3475189"/>
            <a:ext cx="126566" cy="81946"/>
          </a:xfrm>
          <a:prstGeom prst="rect">
            <a:avLst/>
          </a:prstGeom>
          <a:noFill/>
        </p:spPr>
        <p:txBody>
          <a:bodyPr wrap="square" lIns="0" tIns="0" rIns="0" bIns="0" anchor="ctr">
            <a:spAutoFit/>
          </a:bodyPr>
          <a:lstStyle/>
          <a:p>
            <a:pPr algn="ctr">
              <a:lnSpc>
                <a:spcPct val="105000"/>
              </a:lnSpc>
            </a:pPr>
            <a:r>
              <a:rPr sz="545" dirty="0">
                <a:solidFill>
                  <a:srgbClr val="263442"/>
                </a:solidFill>
                <a:latin typeface="Arial"/>
              </a:rPr>
              <a:t>Q</a:t>
            </a:r>
          </a:p>
        </p:txBody>
      </p:sp>
      <p:sp>
        <p:nvSpPr>
          <p:cNvPr id="697" name="TextBox 12240">
            <a:extLst>
              <a:ext uri="{FF2B5EF4-FFF2-40B4-BE49-F238E27FC236}">
                <a16:creationId xmlns:a16="http://schemas.microsoft.com/office/drawing/2014/main" id="{2ACBC05C-C556-BA36-3DA9-0D37D9382C06}"/>
              </a:ext>
            </a:extLst>
          </p:cNvPr>
          <p:cNvSpPr txBox="1"/>
          <p:nvPr/>
        </p:nvSpPr>
        <p:spPr>
          <a:xfrm>
            <a:off x="3859638" y="3475189"/>
            <a:ext cx="126566" cy="81946"/>
          </a:xfrm>
          <a:prstGeom prst="rect">
            <a:avLst/>
          </a:prstGeom>
          <a:noFill/>
        </p:spPr>
        <p:txBody>
          <a:bodyPr wrap="square" lIns="0" tIns="0" rIns="0" bIns="0" anchor="ctr">
            <a:spAutoFit/>
          </a:bodyPr>
          <a:lstStyle/>
          <a:p>
            <a:pPr algn="ctr">
              <a:lnSpc>
                <a:spcPct val="105000"/>
              </a:lnSpc>
            </a:pPr>
            <a:r>
              <a:rPr sz="545">
                <a:solidFill>
                  <a:srgbClr val="263442"/>
                </a:solidFill>
                <a:latin typeface="Arial"/>
              </a:rPr>
              <a:t>Q</a:t>
            </a:r>
          </a:p>
        </p:txBody>
      </p:sp>
      <p:sp>
        <p:nvSpPr>
          <p:cNvPr id="698" name="TextBox 12241">
            <a:extLst>
              <a:ext uri="{FF2B5EF4-FFF2-40B4-BE49-F238E27FC236}">
                <a16:creationId xmlns:a16="http://schemas.microsoft.com/office/drawing/2014/main" id="{0B3A68EF-7CF9-A2EB-24B2-085C5BF1F71F}"/>
              </a:ext>
            </a:extLst>
          </p:cNvPr>
          <p:cNvSpPr txBox="1"/>
          <p:nvPr/>
        </p:nvSpPr>
        <p:spPr>
          <a:xfrm>
            <a:off x="4373812" y="2542416"/>
            <a:ext cx="379698" cy="151836"/>
          </a:xfrm>
          <a:prstGeom prst="rect">
            <a:avLst/>
          </a:prstGeom>
          <a:noFill/>
        </p:spPr>
        <p:txBody>
          <a:bodyPr wrap="square" lIns="0" tIns="0" rIns="0" bIns="0" anchor="ctr">
            <a:spAutoFit/>
          </a:bodyPr>
          <a:lstStyle/>
          <a:p>
            <a:pPr algn="l">
              <a:lnSpc>
                <a:spcPct val="95000"/>
              </a:lnSpc>
            </a:pPr>
            <a:r>
              <a:rPr lang="en-US" sz="519" dirty="0">
                <a:solidFill>
                  <a:srgbClr val="263442"/>
                </a:solidFill>
                <a:latin typeface="Arial"/>
              </a:rPr>
              <a:t>  </a:t>
            </a:r>
            <a:r>
              <a:rPr sz="519" dirty="0">
                <a:solidFill>
                  <a:srgbClr val="263442"/>
                </a:solidFill>
                <a:latin typeface="Arial"/>
              </a:rPr>
              <a:t>Other</a:t>
            </a:r>
          </a:p>
          <a:p>
            <a:pPr algn="l">
              <a:lnSpc>
                <a:spcPct val="95000"/>
              </a:lnSpc>
            </a:pPr>
            <a:r>
              <a:rPr sz="519" dirty="0">
                <a:solidFill>
                  <a:srgbClr val="263442"/>
                </a:solidFill>
                <a:latin typeface="Arial"/>
              </a:rPr>
              <a:t>identities</a:t>
            </a:r>
          </a:p>
        </p:txBody>
      </p:sp>
      <p:sp>
        <p:nvSpPr>
          <p:cNvPr id="699" name="Op | SMI-TED">
            <a:extLst>
              <a:ext uri="{FF2B5EF4-FFF2-40B4-BE49-F238E27FC236}">
                <a16:creationId xmlns:a16="http://schemas.microsoft.com/office/drawing/2014/main" id="{6691CF15-5DAD-F305-5973-B1ACEFFF5CBF}"/>
              </a:ext>
            </a:extLst>
          </p:cNvPr>
          <p:cNvSpPr/>
          <p:nvPr/>
        </p:nvSpPr>
        <p:spPr>
          <a:xfrm>
            <a:off x="4140927" y="2967199"/>
            <a:ext cx="427160" cy="134476"/>
          </a:xfrm>
          <a:prstGeom prst="roundRect">
            <a:avLst>
              <a:gd name="adj" fmla="val 18000"/>
            </a:avLst>
          </a:prstGeom>
          <a:solidFill>
            <a:srgbClr val="E9F3EE"/>
          </a:solidFill>
          <a:ln w="7290">
            <a:solidFill>
              <a:srgbClr val="68AC9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SMI-TED</a:t>
            </a:r>
          </a:p>
        </p:txBody>
      </p:sp>
      <p:sp>
        <p:nvSpPr>
          <p:cNvPr id="700" name="TextBox 12244">
            <a:extLst>
              <a:ext uri="{FF2B5EF4-FFF2-40B4-BE49-F238E27FC236}">
                <a16:creationId xmlns:a16="http://schemas.microsoft.com/office/drawing/2014/main" id="{13C55E5C-99C8-F46D-3353-FED4827206EC}"/>
              </a:ext>
            </a:extLst>
          </p:cNvPr>
          <p:cNvSpPr txBox="1"/>
          <p:nvPr/>
        </p:nvSpPr>
        <p:spPr>
          <a:xfrm>
            <a:off x="4128591" y="3197919"/>
            <a:ext cx="79104" cy="67711"/>
          </a:xfrm>
          <a:prstGeom prst="rect">
            <a:avLst/>
          </a:prstGeom>
          <a:noFill/>
        </p:spPr>
        <p:txBody>
          <a:bodyPr wrap="square" lIns="0" tIns="0" rIns="0" bIns="0" anchor="ctr">
            <a:spAutoFit/>
          </a:bodyPr>
          <a:lstStyle/>
          <a:p>
            <a:pPr algn="ctr">
              <a:lnSpc>
                <a:spcPct val="105000"/>
              </a:lnSpc>
            </a:pPr>
            <a:r>
              <a:rPr sz="522" dirty="0">
                <a:solidFill>
                  <a:srgbClr val="263442"/>
                </a:solidFill>
                <a:latin typeface="Arial"/>
              </a:rPr>
              <a:t>1</a:t>
            </a:r>
          </a:p>
        </p:txBody>
      </p:sp>
      <p:sp>
        <p:nvSpPr>
          <p:cNvPr id="701" name="Context bar 1_1">
            <a:extLst>
              <a:ext uri="{FF2B5EF4-FFF2-40B4-BE49-F238E27FC236}">
                <a16:creationId xmlns:a16="http://schemas.microsoft.com/office/drawing/2014/main" id="{F675EB2C-E3F4-CF25-F2F9-B217A0C64998}"/>
              </a:ext>
            </a:extLst>
          </p:cNvPr>
          <p:cNvSpPr/>
          <p:nvPr/>
        </p:nvSpPr>
        <p:spPr>
          <a:xfrm>
            <a:off x="4223515" y="3223887"/>
            <a:ext cx="44166" cy="34806"/>
          </a:xfrm>
          <a:prstGeom prst="rect">
            <a:avLst/>
          </a:prstGeom>
          <a:solidFill>
            <a:srgbClr val="5A82B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02" name="Context bar 1_2">
            <a:extLst>
              <a:ext uri="{FF2B5EF4-FFF2-40B4-BE49-F238E27FC236}">
                <a16:creationId xmlns:a16="http://schemas.microsoft.com/office/drawing/2014/main" id="{7015B7C2-EE7A-8CD3-BF9A-C8F6C295F2D3}"/>
              </a:ext>
            </a:extLst>
          </p:cNvPr>
          <p:cNvSpPr/>
          <p:nvPr/>
        </p:nvSpPr>
        <p:spPr>
          <a:xfrm>
            <a:off x="4271637" y="3223887"/>
            <a:ext cx="44166" cy="34806"/>
          </a:xfrm>
          <a:prstGeom prst="rect">
            <a:avLst/>
          </a:prstGeom>
          <a:solidFill>
            <a:srgbClr val="8BAAD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03" name="Context bar 1_3">
            <a:extLst>
              <a:ext uri="{FF2B5EF4-FFF2-40B4-BE49-F238E27FC236}">
                <a16:creationId xmlns:a16="http://schemas.microsoft.com/office/drawing/2014/main" id="{0283D963-CC89-9552-BBFA-44417F9A5810}"/>
              </a:ext>
            </a:extLst>
          </p:cNvPr>
          <p:cNvSpPr/>
          <p:nvPr/>
        </p:nvSpPr>
        <p:spPr>
          <a:xfrm>
            <a:off x="4319758" y="3223887"/>
            <a:ext cx="44166" cy="34806"/>
          </a:xfrm>
          <a:prstGeom prst="rect">
            <a:avLst/>
          </a:prstGeom>
          <a:solidFill>
            <a:srgbClr val="BFD2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04" name="Context bar 1_4">
            <a:extLst>
              <a:ext uri="{FF2B5EF4-FFF2-40B4-BE49-F238E27FC236}">
                <a16:creationId xmlns:a16="http://schemas.microsoft.com/office/drawing/2014/main" id="{DFE762FA-D62F-609E-23C6-B16577CF789A}"/>
              </a:ext>
            </a:extLst>
          </p:cNvPr>
          <p:cNvSpPr/>
          <p:nvPr/>
        </p:nvSpPr>
        <p:spPr>
          <a:xfrm>
            <a:off x="4367880" y="3223887"/>
            <a:ext cx="44166" cy="34806"/>
          </a:xfrm>
          <a:prstGeom prst="rect">
            <a:avLst/>
          </a:prstGeom>
          <a:solidFill>
            <a:srgbClr val="7397C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05" name="Context bar 1_5">
            <a:extLst>
              <a:ext uri="{FF2B5EF4-FFF2-40B4-BE49-F238E27FC236}">
                <a16:creationId xmlns:a16="http://schemas.microsoft.com/office/drawing/2014/main" id="{8A2B1ECE-222F-713D-5115-87805A38C6E9}"/>
              </a:ext>
            </a:extLst>
          </p:cNvPr>
          <p:cNvSpPr/>
          <p:nvPr/>
        </p:nvSpPr>
        <p:spPr>
          <a:xfrm>
            <a:off x="4416001" y="3223887"/>
            <a:ext cx="44166" cy="34806"/>
          </a:xfrm>
          <a:prstGeom prst="rect">
            <a:avLst/>
          </a:prstGeom>
          <a:solidFill>
            <a:srgbClr val="5A82B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06" name="Context bar 1_6">
            <a:extLst>
              <a:ext uri="{FF2B5EF4-FFF2-40B4-BE49-F238E27FC236}">
                <a16:creationId xmlns:a16="http://schemas.microsoft.com/office/drawing/2014/main" id="{F9202696-646F-1763-9139-E44B52B50C5F}"/>
              </a:ext>
            </a:extLst>
          </p:cNvPr>
          <p:cNvSpPr/>
          <p:nvPr/>
        </p:nvSpPr>
        <p:spPr>
          <a:xfrm>
            <a:off x="4464123" y="3223887"/>
            <a:ext cx="44166" cy="34806"/>
          </a:xfrm>
          <a:prstGeom prst="rect">
            <a:avLst/>
          </a:prstGeom>
          <a:solidFill>
            <a:srgbClr val="8BAAD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07" name="TextBox 12251">
            <a:extLst>
              <a:ext uri="{FF2B5EF4-FFF2-40B4-BE49-F238E27FC236}">
                <a16:creationId xmlns:a16="http://schemas.microsoft.com/office/drawing/2014/main" id="{7BC06DFD-B767-BA41-2B05-2B0A38358B92}"/>
              </a:ext>
            </a:extLst>
          </p:cNvPr>
          <p:cNvSpPr txBox="1"/>
          <p:nvPr/>
        </p:nvSpPr>
        <p:spPr>
          <a:xfrm>
            <a:off x="4128591" y="3270220"/>
            <a:ext cx="79104" cy="67711"/>
          </a:xfrm>
          <a:prstGeom prst="rect">
            <a:avLst/>
          </a:prstGeom>
          <a:noFill/>
        </p:spPr>
        <p:txBody>
          <a:bodyPr wrap="square" lIns="0" tIns="0" rIns="0" bIns="0" anchor="ctr">
            <a:spAutoFit/>
          </a:bodyPr>
          <a:lstStyle/>
          <a:p>
            <a:pPr algn="ctr">
              <a:lnSpc>
                <a:spcPct val="105000"/>
              </a:lnSpc>
            </a:pPr>
            <a:r>
              <a:rPr sz="522" dirty="0">
                <a:solidFill>
                  <a:srgbClr val="263442"/>
                </a:solidFill>
                <a:latin typeface="Arial"/>
              </a:rPr>
              <a:t>2</a:t>
            </a:r>
          </a:p>
        </p:txBody>
      </p:sp>
      <p:sp>
        <p:nvSpPr>
          <p:cNvPr id="708" name="Context bar 2_1">
            <a:extLst>
              <a:ext uri="{FF2B5EF4-FFF2-40B4-BE49-F238E27FC236}">
                <a16:creationId xmlns:a16="http://schemas.microsoft.com/office/drawing/2014/main" id="{520858ED-2877-9676-9DDD-53EAA8E37558}"/>
              </a:ext>
            </a:extLst>
          </p:cNvPr>
          <p:cNvSpPr/>
          <p:nvPr/>
        </p:nvSpPr>
        <p:spPr>
          <a:xfrm>
            <a:off x="4223515" y="3286664"/>
            <a:ext cx="44166" cy="34806"/>
          </a:xfrm>
          <a:prstGeom prst="rect">
            <a:avLst/>
          </a:prstGeom>
          <a:solidFill>
            <a:srgbClr val="A67C4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09" name="Context bar 2_2">
            <a:extLst>
              <a:ext uri="{FF2B5EF4-FFF2-40B4-BE49-F238E27FC236}">
                <a16:creationId xmlns:a16="http://schemas.microsoft.com/office/drawing/2014/main" id="{50A3D4F9-D9FE-CC8B-21E7-D32E326D8875}"/>
              </a:ext>
            </a:extLst>
          </p:cNvPr>
          <p:cNvSpPr/>
          <p:nvPr/>
        </p:nvSpPr>
        <p:spPr>
          <a:xfrm>
            <a:off x="4271637" y="3286664"/>
            <a:ext cx="44166" cy="34806"/>
          </a:xfrm>
          <a:prstGeom prst="rect">
            <a:avLst/>
          </a:prstGeom>
          <a:solidFill>
            <a:srgbClr val="C6A37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10" name="Context bar 2_3">
            <a:extLst>
              <a:ext uri="{FF2B5EF4-FFF2-40B4-BE49-F238E27FC236}">
                <a16:creationId xmlns:a16="http://schemas.microsoft.com/office/drawing/2014/main" id="{4471AA3C-5A9C-CEE5-0418-953EC2227441}"/>
              </a:ext>
            </a:extLst>
          </p:cNvPr>
          <p:cNvSpPr/>
          <p:nvPr/>
        </p:nvSpPr>
        <p:spPr>
          <a:xfrm>
            <a:off x="4319758" y="3286664"/>
            <a:ext cx="44166" cy="34806"/>
          </a:xfrm>
          <a:prstGeom prst="rect">
            <a:avLst/>
          </a:prstGeom>
          <a:solidFill>
            <a:srgbClr val="E0CCB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11" name="Context bar 2_4">
            <a:extLst>
              <a:ext uri="{FF2B5EF4-FFF2-40B4-BE49-F238E27FC236}">
                <a16:creationId xmlns:a16="http://schemas.microsoft.com/office/drawing/2014/main" id="{B321BB44-18FA-E7F3-2924-BC94493FEA4A}"/>
              </a:ext>
            </a:extLst>
          </p:cNvPr>
          <p:cNvSpPr/>
          <p:nvPr/>
        </p:nvSpPr>
        <p:spPr>
          <a:xfrm>
            <a:off x="4367880" y="3286664"/>
            <a:ext cx="44166" cy="34806"/>
          </a:xfrm>
          <a:prstGeom prst="rect">
            <a:avLst/>
          </a:prstGeom>
          <a:solidFill>
            <a:srgbClr val="B58E5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12" name="Context bar 2_5">
            <a:extLst>
              <a:ext uri="{FF2B5EF4-FFF2-40B4-BE49-F238E27FC236}">
                <a16:creationId xmlns:a16="http://schemas.microsoft.com/office/drawing/2014/main" id="{BF58521A-8C41-BE24-9704-AEAF70385316}"/>
              </a:ext>
            </a:extLst>
          </p:cNvPr>
          <p:cNvSpPr/>
          <p:nvPr/>
        </p:nvSpPr>
        <p:spPr>
          <a:xfrm>
            <a:off x="4416001" y="3286664"/>
            <a:ext cx="44166" cy="34806"/>
          </a:xfrm>
          <a:prstGeom prst="rect">
            <a:avLst/>
          </a:prstGeom>
          <a:solidFill>
            <a:srgbClr val="A67C4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13" name="Context bar 2_6">
            <a:extLst>
              <a:ext uri="{FF2B5EF4-FFF2-40B4-BE49-F238E27FC236}">
                <a16:creationId xmlns:a16="http://schemas.microsoft.com/office/drawing/2014/main" id="{4283B810-9FFF-25F8-1960-4F272603052B}"/>
              </a:ext>
            </a:extLst>
          </p:cNvPr>
          <p:cNvSpPr/>
          <p:nvPr/>
        </p:nvSpPr>
        <p:spPr>
          <a:xfrm>
            <a:off x="4464123" y="3286664"/>
            <a:ext cx="44166" cy="34806"/>
          </a:xfrm>
          <a:prstGeom prst="rect">
            <a:avLst/>
          </a:prstGeom>
          <a:solidFill>
            <a:srgbClr val="C6A37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14" name="TextBox 12258">
            <a:extLst>
              <a:ext uri="{FF2B5EF4-FFF2-40B4-BE49-F238E27FC236}">
                <a16:creationId xmlns:a16="http://schemas.microsoft.com/office/drawing/2014/main" id="{D4C78125-5C89-7F13-017C-2E1C11AE7FDD}"/>
              </a:ext>
            </a:extLst>
          </p:cNvPr>
          <p:cNvSpPr txBox="1"/>
          <p:nvPr/>
        </p:nvSpPr>
        <p:spPr>
          <a:xfrm>
            <a:off x="4128591" y="3342522"/>
            <a:ext cx="79104" cy="67711"/>
          </a:xfrm>
          <a:prstGeom prst="rect">
            <a:avLst/>
          </a:prstGeom>
          <a:noFill/>
        </p:spPr>
        <p:txBody>
          <a:bodyPr wrap="square" lIns="0" tIns="0" rIns="0" bIns="0" anchor="ctr">
            <a:spAutoFit/>
          </a:bodyPr>
          <a:lstStyle/>
          <a:p>
            <a:pPr algn="ctr">
              <a:lnSpc>
                <a:spcPct val="105000"/>
              </a:lnSpc>
            </a:pPr>
            <a:r>
              <a:rPr sz="522" dirty="0">
                <a:solidFill>
                  <a:srgbClr val="263442"/>
                </a:solidFill>
                <a:latin typeface="Arial"/>
              </a:rPr>
              <a:t>K</a:t>
            </a:r>
          </a:p>
        </p:txBody>
      </p:sp>
      <p:sp>
        <p:nvSpPr>
          <p:cNvPr id="715" name="Context bar K_1">
            <a:extLst>
              <a:ext uri="{FF2B5EF4-FFF2-40B4-BE49-F238E27FC236}">
                <a16:creationId xmlns:a16="http://schemas.microsoft.com/office/drawing/2014/main" id="{6C63634F-2307-320B-8E95-2B6ADA84F565}"/>
              </a:ext>
            </a:extLst>
          </p:cNvPr>
          <p:cNvSpPr/>
          <p:nvPr/>
        </p:nvSpPr>
        <p:spPr>
          <a:xfrm>
            <a:off x="4223515" y="3349440"/>
            <a:ext cx="44166" cy="34806"/>
          </a:xfrm>
          <a:prstGeom prst="rect">
            <a:avLst/>
          </a:prstGeom>
          <a:solidFill>
            <a:srgbClr val="7A68A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16" name="Context bar K_2">
            <a:extLst>
              <a:ext uri="{FF2B5EF4-FFF2-40B4-BE49-F238E27FC236}">
                <a16:creationId xmlns:a16="http://schemas.microsoft.com/office/drawing/2014/main" id="{582A4CF2-1B99-BCF5-A8D3-EE93D5F5B81F}"/>
              </a:ext>
            </a:extLst>
          </p:cNvPr>
          <p:cNvSpPr/>
          <p:nvPr/>
        </p:nvSpPr>
        <p:spPr>
          <a:xfrm>
            <a:off x="4271637" y="3349440"/>
            <a:ext cx="44166" cy="34806"/>
          </a:xfrm>
          <a:prstGeom prst="rect">
            <a:avLst/>
          </a:prstGeom>
          <a:solidFill>
            <a:srgbClr val="A193C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17" name="Context bar K_3">
            <a:extLst>
              <a:ext uri="{FF2B5EF4-FFF2-40B4-BE49-F238E27FC236}">
                <a16:creationId xmlns:a16="http://schemas.microsoft.com/office/drawing/2014/main" id="{607B41B1-A111-8D93-E207-5DF6221B54D2}"/>
              </a:ext>
            </a:extLst>
          </p:cNvPr>
          <p:cNvSpPr/>
          <p:nvPr/>
        </p:nvSpPr>
        <p:spPr>
          <a:xfrm>
            <a:off x="4319758" y="3349440"/>
            <a:ext cx="44166" cy="34806"/>
          </a:xfrm>
          <a:prstGeom prst="rect">
            <a:avLst/>
          </a:prstGeom>
          <a:solidFill>
            <a:srgbClr val="CBC2E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18" name="Context bar K_4">
            <a:extLst>
              <a:ext uri="{FF2B5EF4-FFF2-40B4-BE49-F238E27FC236}">
                <a16:creationId xmlns:a16="http://schemas.microsoft.com/office/drawing/2014/main" id="{9539C2E7-004F-E86E-852E-98E80C399402}"/>
              </a:ext>
            </a:extLst>
          </p:cNvPr>
          <p:cNvSpPr/>
          <p:nvPr/>
        </p:nvSpPr>
        <p:spPr>
          <a:xfrm>
            <a:off x="4367880" y="3349440"/>
            <a:ext cx="44166" cy="34806"/>
          </a:xfrm>
          <a:prstGeom prst="rect">
            <a:avLst/>
          </a:prstGeom>
          <a:solidFill>
            <a:srgbClr val="8E7DB5"/>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19" name="Context bar K_5">
            <a:extLst>
              <a:ext uri="{FF2B5EF4-FFF2-40B4-BE49-F238E27FC236}">
                <a16:creationId xmlns:a16="http://schemas.microsoft.com/office/drawing/2014/main" id="{2DE0B959-537B-893B-9987-81BBF3647FFD}"/>
              </a:ext>
            </a:extLst>
          </p:cNvPr>
          <p:cNvSpPr/>
          <p:nvPr/>
        </p:nvSpPr>
        <p:spPr>
          <a:xfrm>
            <a:off x="4416001" y="3349440"/>
            <a:ext cx="44166" cy="34806"/>
          </a:xfrm>
          <a:prstGeom prst="rect">
            <a:avLst/>
          </a:prstGeom>
          <a:solidFill>
            <a:srgbClr val="7A68A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20" name="Context bar K_6">
            <a:extLst>
              <a:ext uri="{FF2B5EF4-FFF2-40B4-BE49-F238E27FC236}">
                <a16:creationId xmlns:a16="http://schemas.microsoft.com/office/drawing/2014/main" id="{147CE38B-269C-4BBA-77C6-2810C1D11F1C}"/>
              </a:ext>
            </a:extLst>
          </p:cNvPr>
          <p:cNvSpPr/>
          <p:nvPr/>
        </p:nvSpPr>
        <p:spPr>
          <a:xfrm>
            <a:off x="4464123" y="3349440"/>
            <a:ext cx="44166" cy="34806"/>
          </a:xfrm>
          <a:prstGeom prst="rect">
            <a:avLst/>
          </a:prstGeom>
          <a:solidFill>
            <a:srgbClr val="A193C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21" name="TextBox 12265">
            <a:extLst>
              <a:ext uri="{FF2B5EF4-FFF2-40B4-BE49-F238E27FC236}">
                <a16:creationId xmlns:a16="http://schemas.microsoft.com/office/drawing/2014/main" id="{979CEBC9-AC70-1276-123A-637171F58084}"/>
              </a:ext>
            </a:extLst>
          </p:cNvPr>
          <p:cNvSpPr txBox="1"/>
          <p:nvPr/>
        </p:nvSpPr>
        <p:spPr>
          <a:xfrm>
            <a:off x="4381723" y="3400472"/>
            <a:ext cx="134652" cy="80599"/>
          </a:xfrm>
          <a:prstGeom prst="rect">
            <a:avLst/>
          </a:prstGeom>
          <a:noFill/>
        </p:spPr>
        <p:txBody>
          <a:bodyPr wrap="none" lIns="0" tIns="0" rIns="0" bIns="0" anchor="ctr">
            <a:spAutoFit/>
          </a:bodyPr>
          <a:lstStyle/>
          <a:p>
            <a:pPr algn="l">
              <a:lnSpc>
                <a:spcPct val="105000"/>
              </a:lnSpc>
            </a:pPr>
            <a:r>
              <a:rPr sz="536" dirty="0">
                <a:solidFill>
                  <a:srgbClr val="263442"/>
                </a:solidFill>
                <a:latin typeface="Arial"/>
              </a:rPr>
              <a:t>K, V</a:t>
            </a:r>
          </a:p>
        </p:txBody>
      </p:sp>
      <p:sp>
        <p:nvSpPr>
          <p:cNvPr id="722" name="Op | Context attention">
            <a:extLst>
              <a:ext uri="{FF2B5EF4-FFF2-40B4-BE49-F238E27FC236}">
                <a16:creationId xmlns:a16="http://schemas.microsoft.com/office/drawing/2014/main" id="{640CE564-549E-0D15-B50A-E392C9DB6304}"/>
              </a:ext>
            </a:extLst>
          </p:cNvPr>
          <p:cNvSpPr/>
          <p:nvPr/>
        </p:nvSpPr>
        <p:spPr>
          <a:xfrm>
            <a:off x="4025756" y="3500341"/>
            <a:ext cx="648651" cy="150297"/>
          </a:xfrm>
          <a:prstGeom prst="roundRect">
            <a:avLst>
              <a:gd name="adj" fmla="val 18000"/>
            </a:avLst>
          </a:prstGeom>
          <a:solidFill>
            <a:srgbClr val="E9F3EE"/>
          </a:solidFill>
          <a:ln w="7290">
            <a:solidFill>
              <a:srgbClr val="68AC9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Context</a:t>
            </a:r>
            <a:r>
              <a:rPr sz="580" dirty="0">
                <a:solidFill>
                  <a:srgbClr val="263442"/>
                </a:solidFill>
                <a:latin typeface="Arial"/>
              </a:rPr>
              <a:t> attention</a:t>
            </a:r>
          </a:p>
        </p:txBody>
      </p:sp>
      <p:sp>
        <p:nvSpPr>
          <p:cNvPr id="723" name="Op | Fusion">
            <a:extLst>
              <a:ext uri="{FF2B5EF4-FFF2-40B4-BE49-F238E27FC236}">
                <a16:creationId xmlns:a16="http://schemas.microsoft.com/office/drawing/2014/main" id="{FF74A918-BF09-C9F6-6A9B-D421CF97BC33}"/>
              </a:ext>
            </a:extLst>
          </p:cNvPr>
          <p:cNvSpPr/>
          <p:nvPr/>
        </p:nvSpPr>
        <p:spPr>
          <a:xfrm>
            <a:off x="3479940" y="3733697"/>
            <a:ext cx="379698" cy="142387"/>
          </a:xfrm>
          <a:prstGeom prst="roundRect">
            <a:avLst>
              <a:gd name="adj" fmla="val 18000"/>
            </a:avLst>
          </a:prstGeom>
          <a:solidFill>
            <a:srgbClr val="EDE7F5"/>
          </a:solidFill>
          <a:ln w="7290">
            <a:solidFill>
              <a:srgbClr val="B8A9D9"/>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Fusion</a:t>
            </a:r>
          </a:p>
        </p:txBody>
      </p:sp>
      <p:sp>
        <p:nvSpPr>
          <p:cNvPr id="724" name="g_k bar_1">
            <a:extLst>
              <a:ext uri="{FF2B5EF4-FFF2-40B4-BE49-F238E27FC236}">
                <a16:creationId xmlns:a16="http://schemas.microsoft.com/office/drawing/2014/main" id="{CB9A6A2F-14EE-2004-CB53-FCE391ACED69}"/>
              </a:ext>
            </a:extLst>
          </p:cNvPr>
          <p:cNvSpPr/>
          <p:nvPr/>
        </p:nvSpPr>
        <p:spPr>
          <a:xfrm>
            <a:off x="3503672" y="3989994"/>
            <a:ext cx="44072" cy="56955"/>
          </a:xfrm>
          <a:prstGeom prst="rect">
            <a:avLst/>
          </a:prstGeom>
          <a:solidFill>
            <a:srgbClr val="3E997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25" name="g_k bar_2">
            <a:extLst>
              <a:ext uri="{FF2B5EF4-FFF2-40B4-BE49-F238E27FC236}">
                <a16:creationId xmlns:a16="http://schemas.microsoft.com/office/drawing/2014/main" id="{E39FC69E-11ED-3FA2-32B9-5945059F2213}"/>
              </a:ext>
            </a:extLst>
          </p:cNvPr>
          <p:cNvSpPr/>
          <p:nvPr/>
        </p:nvSpPr>
        <p:spPr>
          <a:xfrm>
            <a:off x="3551699" y="3989994"/>
            <a:ext cx="44072" cy="56955"/>
          </a:xfrm>
          <a:prstGeom prst="rect">
            <a:avLst/>
          </a:prstGeom>
          <a:solidFill>
            <a:srgbClr val="83C2A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26" name="g_k bar_3">
            <a:extLst>
              <a:ext uri="{FF2B5EF4-FFF2-40B4-BE49-F238E27FC236}">
                <a16:creationId xmlns:a16="http://schemas.microsoft.com/office/drawing/2014/main" id="{543C1079-397B-91D4-0D56-9824953F1A51}"/>
              </a:ext>
            </a:extLst>
          </p:cNvPr>
          <p:cNvSpPr/>
          <p:nvPr/>
        </p:nvSpPr>
        <p:spPr>
          <a:xfrm>
            <a:off x="3599726" y="3989994"/>
            <a:ext cx="44072" cy="56955"/>
          </a:xfrm>
          <a:prstGeom prst="rect">
            <a:avLst/>
          </a:prstGeom>
          <a:solidFill>
            <a:srgbClr val="BCDDC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27" name="g_k bar_4">
            <a:extLst>
              <a:ext uri="{FF2B5EF4-FFF2-40B4-BE49-F238E27FC236}">
                <a16:creationId xmlns:a16="http://schemas.microsoft.com/office/drawing/2014/main" id="{72768CF4-9EFB-DF24-7C89-6D351C730BA5}"/>
              </a:ext>
            </a:extLst>
          </p:cNvPr>
          <p:cNvSpPr/>
          <p:nvPr/>
        </p:nvSpPr>
        <p:spPr>
          <a:xfrm>
            <a:off x="3647753" y="3989994"/>
            <a:ext cx="44072" cy="56955"/>
          </a:xfrm>
          <a:prstGeom prst="rect">
            <a:avLst/>
          </a:prstGeom>
          <a:solidFill>
            <a:srgbClr val="68AB9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28" name="g_k bar_5">
            <a:extLst>
              <a:ext uri="{FF2B5EF4-FFF2-40B4-BE49-F238E27FC236}">
                <a16:creationId xmlns:a16="http://schemas.microsoft.com/office/drawing/2014/main" id="{4025AE17-AFDD-1F7D-9368-8E976FBC9D73}"/>
              </a:ext>
            </a:extLst>
          </p:cNvPr>
          <p:cNvSpPr/>
          <p:nvPr/>
        </p:nvSpPr>
        <p:spPr>
          <a:xfrm>
            <a:off x="3695781" y="3989994"/>
            <a:ext cx="44072" cy="56955"/>
          </a:xfrm>
          <a:prstGeom prst="rect">
            <a:avLst/>
          </a:prstGeom>
          <a:solidFill>
            <a:srgbClr val="3E997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29" name="g_k bar_6">
            <a:extLst>
              <a:ext uri="{FF2B5EF4-FFF2-40B4-BE49-F238E27FC236}">
                <a16:creationId xmlns:a16="http://schemas.microsoft.com/office/drawing/2014/main" id="{894C2CFF-A654-8C7B-2480-AC98400CE487}"/>
              </a:ext>
            </a:extLst>
          </p:cNvPr>
          <p:cNvSpPr/>
          <p:nvPr/>
        </p:nvSpPr>
        <p:spPr>
          <a:xfrm>
            <a:off x="3743808" y="3989994"/>
            <a:ext cx="44072" cy="56955"/>
          </a:xfrm>
          <a:prstGeom prst="rect">
            <a:avLst/>
          </a:prstGeom>
          <a:solidFill>
            <a:srgbClr val="83C2A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30" name="g_k bar_7">
            <a:extLst>
              <a:ext uri="{FF2B5EF4-FFF2-40B4-BE49-F238E27FC236}">
                <a16:creationId xmlns:a16="http://schemas.microsoft.com/office/drawing/2014/main" id="{DC10EA75-05BB-E415-682D-FAFCD65B7377}"/>
              </a:ext>
            </a:extLst>
          </p:cNvPr>
          <p:cNvSpPr/>
          <p:nvPr/>
        </p:nvSpPr>
        <p:spPr>
          <a:xfrm>
            <a:off x="3791835" y="3989994"/>
            <a:ext cx="44072" cy="56955"/>
          </a:xfrm>
          <a:prstGeom prst="rect">
            <a:avLst/>
          </a:prstGeom>
          <a:solidFill>
            <a:srgbClr val="BCDDC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31" name="Math | g_k^">
            <a:extLst>
              <a:ext uri="{FF2B5EF4-FFF2-40B4-BE49-F238E27FC236}">
                <a16:creationId xmlns:a16="http://schemas.microsoft.com/office/drawing/2014/main" id="{45321F2B-F3FA-58E1-92FE-B69A1AB20949}"/>
              </a:ext>
            </a:extLst>
          </p:cNvPr>
          <p:cNvSpPr txBox="1"/>
          <p:nvPr/>
        </p:nvSpPr>
        <p:spPr>
          <a:xfrm>
            <a:off x="3872532" y="3947306"/>
            <a:ext cx="84960" cy="126509"/>
          </a:xfrm>
          <a:prstGeom prst="rect">
            <a:avLst/>
          </a:prstGeom>
          <a:noFill/>
        </p:spPr>
        <p:txBody>
          <a:bodyPr wrap="none" lIns="0" tIns="0" rIns="0" bIns="0" anchor="ctr">
            <a:spAutoFit/>
          </a:bodyPr>
          <a:lstStyle/>
          <a:p>
            <a:pPr algn="ctr"/>
            <a:r>
              <a:rPr sz="855" i="1">
                <a:solidFill>
                  <a:srgbClr val="263442"/>
                </a:solidFill>
                <a:latin typeface="Times New Roman"/>
              </a:rPr>
              <a:t>g</a:t>
            </a:r>
            <a:r>
              <a:rPr sz="780" i="1" baseline="-28000">
                <a:solidFill>
                  <a:srgbClr val="263442"/>
                </a:solidFill>
                <a:latin typeface="Times New Roman"/>
              </a:rPr>
              <a:t>k</a:t>
            </a:r>
          </a:p>
        </p:txBody>
      </p:sp>
      <p:sp>
        <p:nvSpPr>
          <p:cNvPr id="732" name="Op | Cosine score">
            <a:extLst>
              <a:ext uri="{FF2B5EF4-FFF2-40B4-BE49-F238E27FC236}">
                <a16:creationId xmlns:a16="http://schemas.microsoft.com/office/drawing/2014/main" id="{9B88858F-88C1-DA3F-1992-E9C76D0D80AF}"/>
              </a:ext>
            </a:extLst>
          </p:cNvPr>
          <p:cNvSpPr/>
          <p:nvPr/>
        </p:nvSpPr>
        <p:spPr>
          <a:xfrm>
            <a:off x="3279920" y="4162465"/>
            <a:ext cx="569547" cy="150297"/>
          </a:xfrm>
          <a:prstGeom prst="roundRect">
            <a:avLst>
              <a:gd name="adj" fmla="val 18000"/>
            </a:avLst>
          </a:prstGeom>
          <a:solidFill>
            <a:srgbClr val="E9F3EE"/>
          </a:solidFill>
          <a:ln w="7290">
            <a:solidFill>
              <a:srgbClr val="68AC9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Cosine score</a:t>
            </a:r>
          </a:p>
        </p:txBody>
      </p:sp>
      <p:sp>
        <p:nvSpPr>
          <p:cNvPr id="733" name="TextBox 12277">
            <a:extLst>
              <a:ext uri="{FF2B5EF4-FFF2-40B4-BE49-F238E27FC236}">
                <a16:creationId xmlns:a16="http://schemas.microsoft.com/office/drawing/2014/main" id="{7D6970C3-E7E9-652B-644D-A057CB503545}"/>
              </a:ext>
            </a:extLst>
          </p:cNvPr>
          <p:cNvSpPr txBox="1"/>
          <p:nvPr/>
        </p:nvSpPr>
        <p:spPr>
          <a:xfrm>
            <a:off x="3275392" y="4326634"/>
            <a:ext cx="585097" cy="79445"/>
          </a:xfrm>
          <a:prstGeom prst="rect">
            <a:avLst/>
          </a:prstGeom>
          <a:noFill/>
        </p:spPr>
        <p:txBody>
          <a:bodyPr wrap="none" lIns="0" tIns="0" rIns="0" bIns="0" anchor="ctr">
            <a:spAutoFit/>
          </a:bodyPr>
          <a:lstStyle/>
          <a:p>
            <a:pPr algn="ctr">
              <a:lnSpc>
                <a:spcPct val="105000"/>
              </a:lnSpc>
            </a:pPr>
            <a:r>
              <a:rPr sz="528" dirty="0">
                <a:solidFill>
                  <a:srgbClr val="263442"/>
                </a:solidFill>
                <a:latin typeface="Arial"/>
              </a:rPr>
              <a:t>Learned projections</a:t>
            </a:r>
          </a:p>
        </p:txBody>
      </p:sp>
      <p:sp>
        <p:nvSpPr>
          <p:cNvPr id="734" name="Math | s_j,k^">
            <a:extLst>
              <a:ext uri="{FF2B5EF4-FFF2-40B4-BE49-F238E27FC236}">
                <a16:creationId xmlns:a16="http://schemas.microsoft.com/office/drawing/2014/main" id="{BD0A37AE-0CF6-77DD-8048-3FF0945F4158}"/>
              </a:ext>
            </a:extLst>
          </p:cNvPr>
          <p:cNvSpPr txBox="1"/>
          <p:nvPr/>
        </p:nvSpPr>
        <p:spPr>
          <a:xfrm>
            <a:off x="3930163" y="4086560"/>
            <a:ext cx="104196" cy="117083"/>
          </a:xfrm>
          <a:prstGeom prst="rect">
            <a:avLst/>
          </a:prstGeom>
          <a:noFill/>
        </p:spPr>
        <p:txBody>
          <a:bodyPr wrap="none" lIns="0" tIns="0" rIns="0" bIns="0" anchor="ctr">
            <a:spAutoFit/>
          </a:bodyPr>
          <a:lstStyle/>
          <a:p>
            <a:pPr algn="ctr"/>
            <a:r>
              <a:rPr sz="791" i="1" dirty="0" err="1">
                <a:solidFill>
                  <a:srgbClr val="263442"/>
                </a:solidFill>
                <a:latin typeface="Times New Roman"/>
              </a:rPr>
              <a:t>s</a:t>
            </a:r>
            <a:r>
              <a:rPr sz="780" i="1" baseline="-28000" dirty="0" err="1">
                <a:solidFill>
                  <a:srgbClr val="263442"/>
                </a:solidFill>
                <a:latin typeface="Times New Roman"/>
              </a:rPr>
              <a:t>j,k</a:t>
            </a:r>
            <a:endParaRPr sz="780" i="1" baseline="-28000" dirty="0">
              <a:solidFill>
                <a:srgbClr val="263442"/>
              </a:solidFill>
              <a:latin typeface="Times New Roman"/>
            </a:endParaRPr>
          </a:p>
        </p:txBody>
      </p:sp>
      <p:sp>
        <p:nvSpPr>
          <p:cNvPr id="735" name="TextBox 12279">
            <a:extLst>
              <a:ext uri="{FF2B5EF4-FFF2-40B4-BE49-F238E27FC236}">
                <a16:creationId xmlns:a16="http://schemas.microsoft.com/office/drawing/2014/main" id="{C56E8311-ADDA-7C63-9110-2C3006BDD08E}"/>
              </a:ext>
            </a:extLst>
          </p:cNvPr>
          <p:cNvSpPr txBox="1"/>
          <p:nvPr/>
        </p:nvSpPr>
        <p:spPr>
          <a:xfrm>
            <a:off x="4189537" y="3931330"/>
            <a:ext cx="479297" cy="87268"/>
          </a:xfrm>
          <a:prstGeom prst="rect">
            <a:avLst/>
          </a:prstGeom>
          <a:noFill/>
        </p:spPr>
        <p:txBody>
          <a:bodyPr wrap="none" lIns="0" tIns="0" rIns="0" bIns="0" anchor="ctr">
            <a:spAutoFit/>
          </a:bodyPr>
          <a:lstStyle/>
          <a:p>
            <a:pPr algn="ctr">
              <a:lnSpc>
                <a:spcPct val="105000"/>
              </a:lnSpc>
            </a:pPr>
            <a:r>
              <a:rPr sz="580">
                <a:solidFill>
                  <a:srgbClr val="263442"/>
                </a:solidFill>
                <a:latin typeface="Arial"/>
              </a:rPr>
              <a:t>Identity scores</a:t>
            </a:r>
          </a:p>
        </p:txBody>
      </p:sp>
      <p:sp>
        <p:nvSpPr>
          <p:cNvPr id="736" name="TextBox 12280">
            <a:extLst>
              <a:ext uri="{FF2B5EF4-FFF2-40B4-BE49-F238E27FC236}">
                <a16:creationId xmlns:a16="http://schemas.microsoft.com/office/drawing/2014/main" id="{C640A1D5-D4D1-3FBF-0F27-45AD836A7FCE}"/>
              </a:ext>
            </a:extLst>
          </p:cNvPr>
          <p:cNvSpPr txBox="1"/>
          <p:nvPr/>
        </p:nvSpPr>
        <p:spPr>
          <a:xfrm>
            <a:off x="4428041" y="4018471"/>
            <a:ext cx="102835" cy="85921"/>
          </a:xfrm>
          <a:prstGeom prst="rect">
            <a:avLst/>
          </a:prstGeom>
          <a:noFill/>
        </p:spPr>
        <p:txBody>
          <a:bodyPr wrap="square" lIns="0" tIns="0" rIns="0" bIns="0" anchor="ctr">
            <a:spAutoFit/>
          </a:bodyPr>
          <a:lstStyle/>
          <a:p>
            <a:pPr algn="ctr">
              <a:lnSpc>
                <a:spcPct val="105000"/>
              </a:lnSpc>
            </a:pPr>
            <a:r>
              <a:rPr sz="571" dirty="0">
                <a:solidFill>
                  <a:srgbClr val="263442"/>
                </a:solidFill>
                <a:latin typeface="Arial"/>
              </a:rPr>
              <a:t>k</a:t>
            </a:r>
          </a:p>
        </p:txBody>
      </p:sp>
      <p:sp>
        <p:nvSpPr>
          <p:cNvPr id="737" name="TextBox 12281">
            <a:extLst>
              <a:ext uri="{FF2B5EF4-FFF2-40B4-BE49-F238E27FC236}">
                <a16:creationId xmlns:a16="http://schemas.microsoft.com/office/drawing/2014/main" id="{F472392A-4724-5EDA-C6D8-557EF063B52F}"/>
              </a:ext>
            </a:extLst>
          </p:cNvPr>
          <p:cNvSpPr txBox="1"/>
          <p:nvPr/>
        </p:nvSpPr>
        <p:spPr>
          <a:xfrm>
            <a:off x="4128591" y="4169314"/>
            <a:ext cx="87014" cy="85921"/>
          </a:xfrm>
          <a:prstGeom prst="rect">
            <a:avLst/>
          </a:prstGeom>
          <a:noFill/>
        </p:spPr>
        <p:txBody>
          <a:bodyPr wrap="square" lIns="0" tIns="0" rIns="0" bIns="0" anchor="ctr">
            <a:spAutoFit/>
          </a:bodyPr>
          <a:lstStyle/>
          <a:p>
            <a:pPr algn="ctr">
              <a:lnSpc>
                <a:spcPct val="105000"/>
              </a:lnSpc>
            </a:pPr>
            <a:r>
              <a:rPr sz="571">
                <a:solidFill>
                  <a:srgbClr val="263442"/>
                </a:solidFill>
                <a:latin typeface="Arial"/>
              </a:rPr>
              <a:t>j</a:t>
            </a:r>
          </a:p>
        </p:txBody>
      </p:sp>
      <p:sp>
        <p:nvSpPr>
          <p:cNvPr id="738" name="Matrix cell (0,0)">
            <a:extLst>
              <a:ext uri="{FF2B5EF4-FFF2-40B4-BE49-F238E27FC236}">
                <a16:creationId xmlns:a16="http://schemas.microsoft.com/office/drawing/2014/main" id="{1FAFF817-C1CE-5F45-E950-98E19AE452CF}"/>
              </a:ext>
            </a:extLst>
          </p:cNvPr>
          <p:cNvSpPr/>
          <p:nvPr/>
        </p:nvSpPr>
        <p:spPr>
          <a:xfrm>
            <a:off x="4223515" y="4105485"/>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39" name="Matrix cell (0,1)">
            <a:extLst>
              <a:ext uri="{FF2B5EF4-FFF2-40B4-BE49-F238E27FC236}">
                <a16:creationId xmlns:a16="http://schemas.microsoft.com/office/drawing/2014/main" id="{ED9FACB8-4D6A-044F-997F-E09503AC15AA}"/>
              </a:ext>
            </a:extLst>
          </p:cNvPr>
          <p:cNvSpPr/>
          <p:nvPr/>
        </p:nvSpPr>
        <p:spPr>
          <a:xfrm>
            <a:off x="4326350" y="4105485"/>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0" name="Matrix cell (0,2)">
            <a:extLst>
              <a:ext uri="{FF2B5EF4-FFF2-40B4-BE49-F238E27FC236}">
                <a16:creationId xmlns:a16="http://schemas.microsoft.com/office/drawing/2014/main" id="{DE25E670-FAB3-667C-5777-C71ED9075845}"/>
              </a:ext>
            </a:extLst>
          </p:cNvPr>
          <p:cNvSpPr/>
          <p:nvPr/>
        </p:nvSpPr>
        <p:spPr>
          <a:xfrm>
            <a:off x="4429185" y="4105485"/>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1" name="Matrix cell (0,3)">
            <a:extLst>
              <a:ext uri="{FF2B5EF4-FFF2-40B4-BE49-F238E27FC236}">
                <a16:creationId xmlns:a16="http://schemas.microsoft.com/office/drawing/2014/main" id="{D15A0AB1-9BF7-4E76-6CED-C525DFBAA5F7}"/>
              </a:ext>
            </a:extLst>
          </p:cNvPr>
          <p:cNvSpPr/>
          <p:nvPr/>
        </p:nvSpPr>
        <p:spPr>
          <a:xfrm>
            <a:off x="4532020" y="4105485"/>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2" name="Matrix cell (1,0)">
            <a:extLst>
              <a:ext uri="{FF2B5EF4-FFF2-40B4-BE49-F238E27FC236}">
                <a16:creationId xmlns:a16="http://schemas.microsoft.com/office/drawing/2014/main" id="{5C20FC23-8B30-D896-36CC-91D73273996F}"/>
              </a:ext>
            </a:extLst>
          </p:cNvPr>
          <p:cNvSpPr/>
          <p:nvPr/>
        </p:nvSpPr>
        <p:spPr>
          <a:xfrm>
            <a:off x="4223515" y="4176678"/>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3" name="Matrix cell (1,1)">
            <a:extLst>
              <a:ext uri="{FF2B5EF4-FFF2-40B4-BE49-F238E27FC236}">
                <a16:creationId xmlns:a16="http://schemas.microsoft.com/office/drawing/2014/main" id="{023C0380-7EA8-B629-5738-AD00698F49B6}"/>
              </a:ext>
            </a:extLst>
          </p:cNvPr>
          <p:cNvSpPr/>
          <p:nvPr/>
        </p:nvSpPr>
        <p:spPr>
          <a:xfrm>
            <a:off x="4326350" y="4176678"/>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4" name="Matrix cell (1,2)">
            <a:extLst>
              <a:ext uri="{FF2B5EF4-FFF2-40B4-BE49-F238E27FC236}">
                <a16:creationId xmlns:a16="http://schemas.microsoft.com/office/drawing/2014/main" id="{12FBEABC-63F9-0304-4A97-80811BFE2B66}"/>
              </a:ext>
            </a:extLst>
          </p:cNvPr>
          <p:cNvSpPr/>
          <p:nvPr/>
        </p:nvSpPr>
        <p:spPr>
          <a:xfrm>
            <a:off x="4429185" y="4176678"/>
            <a:ext cx="102835" cy="71193"/>
          </a:xfrm>
          <a:prstGeom prst="rect">
            <a:avLst/>
          </a:prstGeom>
          <a:solidFill>
            <a:srgbClr val="3C9486"/>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5" name="Matrix cell (1,3)">
            <a:extLst>
              <a:ext uri="{FF2B5EF4-FFF2-40B4-BE49-F238E27FC236}">
                <a16:creationId xmlns:a16="http://schemas.microsoft.com/office/drawing/2014/main" id="{90D1E1D0-D1D8-F490-5B4D-27F3093D1ECE}"/>
              </a:ext>
            </a:extLst>
          </p:cNvPr>
          <p:cNvSpPr/>
          <p:nvPr/>
        </p:nvSpPr>
        <p:spPr>
          <a:xfrm>
            <a:off x="4532020" y="4176678"/>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6" name="Matrix cell (2,0)">
            <a:extLst>
              <a:ext uri="{FF2B5EF4-FFF2-40B4-BE49-F238E27FC236}">
                <a16:creationId xmlns:a16="http://schemas.microsoft.com/office/drawing/2014/main" id="{158A66BE-E7B7-0506-657E-0BF13A0E4F5E}"/>
              </a:ext>
            </a:extLst>
          </p:cNvPr>
          <p:cNvSpPr/>
          <p:nvPr/>
        </p:nvSpPr>
        <p:spPr>
          <a:xfrm>
            <a:off x="4223515" y="4247872"/>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7" name="Matrix cell (2,1)">
            <a:extLst>
              <a:ext uri="{FF2B5EF4-FFF2-40B4-BE49-F238E27FC236}">
                <a16:creationId xmlns:a16="http://schemas.microsoft.com/office/drawing/2014/main" id="{3B18D166-F88A-573E-0225-1ACB99CB2512}"/>
              </a:ext>
            </a:extLst>
          </p:cNvPr>
          <p:cNvSpPr/>
          <p:nvPr/>
        </p:nvSpPr>
        <p:spPr>
          <a:xfrm>
            <a:off x="4326350" y="4247872"/>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8" name="Matrix cell (2,2)">
            <a:extLst>
              <a:ext uri="{FF2B5EF4-FFF2-40B4-BE49-F238E27FC236}">
                <a16:creationId xmlns:a16="http://schemas.microsoft.com/office/drawing/2014/main" id="{FC858539-3EA9-E4FE-E803-0C8FFAD3870F}"/>
              </a:ext>
            </a:extLst>
          </p:cNvPr>
          <p:cNvSpPr/>
          <p:nvPr/>
        </p:nvSpPr>
        <p:spPr>
          <a:xfrm>
            <a:off x="4429185" y="4247872"/>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9" name="Matrix cell (2,3)">
            <a:extLst>
              <a:ext uri="{FF2B5EF4-FFF2-40B4-BE49-F238E27FC236}">
                <a16:creationId xmlns:a16="http://schemas.microsoft.com/office/drawing/2014/main" id="{3713326C-75C4-31D8-12F4-1CA18BF652D7}"/>
              </a:ext>
            </a:extLst>
          </p:cNvPr>
          <p:cNvSpPr/>
          <p:nvPr/>
        </p:nvSpPr>
        <p:spPr>
          <a:xfrm>
            <a:off x="4532020" y="4247872"/>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50" name="TextBox 12294">
            <a:extLst>
              <a:ext uri="{FF2B5EF4-FFF2-40B4-BE49-F238E27FC236}">
                <a16:creationId xmlns:a16="http://schemas.microsoft.com/office/drawing/2014/main" id="{E992C05A-634A-6CF2-2936-1480C4EA17F1}"/>
              </a:ext>
            </a:extLst>
          </p:cNvPr>
          <p:cNvSpPr txBox="1"/>
          <p:nvPr/>
        </p:nvSpPr>
        <p:spPr>
          <a:xfrm>
            <a:off x="4223516" y="4312989"/>
            <a:ext cx="411339" cy="82587"/>
          </a:xfrm>
          <a:prstGeom prst="rect">
            <a:avLst/>
          </a:prstGeom>
          <a:noFill/>
        </p:spPr>
        <p:txBody>
          <a:bodyPr wrap="square" lIns="0" tIns="0" rIns="0" bIns="0" anchor="ctr">
            <a:spAutoFit/>
          </a:bodyPr>
          <a:lstStyle/>
          <a:p>
            <a:pPr algn="ctr">
              <a:lnSpc>
                <a:spcPct val="105000"/>
              </a:lnSpc>
            </a:pPr>
            <a:r>
              <a:rPr sz="536">
                <a:solidFill>
                  <a:srgbClr val="263442"/>
                </a:solidFill>
                <a:latin typeface="Arial"/>
              </a:rPr>
              <a:t>J × K</a:t>
            </a:r>
          </a:p>
        </p:txBody>
      </p:sp>
      <p:grpSp>
        <p:nvGrpSpPr>
          <p:cNvPr id="751" name="组合 13795">
            <a:extLst>
              <a:ext uri="{FF2B5EF4-FFF2-40B4-BE49-F238E27FC236}">
                <a16:creationId xmlns:a16="http://schemas.microsoft.com/office/drawing/2014/main" id="{7EA912CF-516A-2745-A5D0-8704116A4D72}"/>
              </a:ext>
            </a:extLst>
          </p:cNvPr>
          <p:cNvGrpSpPr/>
          <p:nvPr/>
        </p:nvGrpSpPr>
        <p:grpSpPr>
          <a:xfrm>
            <a:off x="2038007" y="554865"/>
            <a:ext cx="1978883" cy="340209"/>
            <a:chOff x="6312668" y="2448732"/>
            <a:chExt cx="1215499" cy="343631"/>
          </a:xfrm>
        </p:grpSpPr>
        <p:pic>
          <p:nvPicPr>
            <p:cNvPr id="752" name="图片 12">
              <a:extLst>
                <a:ext uri="{FF2B5EF4-FFF2-40B4-BE49-F238E27FC236}">
                  <a16:creationId xmlns:a16="http://schemas.microsoft.com/office/drawing/2014/main" id="{521CB8EA-9697-F11D-7107-B4A42B988070}"/>
                </a:ext>
              </a:extLst>
            </p:cNvPr>
            <p:cNvPicPr>
              <a:picLocks/>
            </p:cNvPicPr>
            <p:nvPr/>
          </p:nvPicPr>
          <p:blipFill>
            <a:blip r:embed="rId5"/>
            <a:srcRect l="70243" t="-18171" b="-1"/>
            <a:stretch>
              <a:fillRect/>
            </a:stretch>
          </p:blipFill>
          <p:spPr>
            <a:xfrm>
              <a:off x="7112075" y="2448732"/>
              <a:ext cx="416092" cy="323855"/>
            </a:xfrm>
            <a:prstGeom prst="rect">
              <a:avLst/>
            </a:prstGeom>
          </p:spPr>
        </p:pic>
        <p:pic>
          <p:nvPicPr>
            <p:cNvPr id="753" name="图片 12">
              <a:extLst>
                <a:ext uri="{FF2B5EF4-FFF2-40B4-BE49-F238E27FC236}">
                  <a16:creationId xmlns:a16="http://schemas.microsoft.com/office/drawing/2014/main" id="{546466D8-C7C6-7C8A-3307-95F68FB4F610}"/>
                </a:ext>
              </a:extLst>
            </p:cNvPr>
            <p:cNvPicPr>
              <a:picLocks/>
            </p:cNvPicPr>
            <p:nvPr/>
          </p:nvPicPr>
          <p:blipFill>
            <a:blip r:embed="rId5"/>
            <a:srcRect r="70534" b="-8235"/>
            <a:stretch>
              <a:fillRect/>
            </a:stretch>
          </p:blipFill>
          <p:spPr>
            <a:xfrm>
              <a:off x="6312668" y="2495741"/>
              <a:ext cx="412024" cy="296622"/>
            </a:xfrm>
            <a:prstGeom prst="rect">
              <a:avLst/>
            </a:prstGeom>
          </p:spPr>
        </p:pic>
        <p:pic>
          <p:nvPicPr>
            <p:cNvPr id="754" name="Picture 10000" descr="unet_block_18.png">
              <a:extLst>
                <a:ext uri="{FF2B5EF4-FFF2-40B4-BE49-F238E27FC236}">
                  <a16:creationId xmlns:a16="http://schemas.microsoft.com/office/drawing/2014/main" id="{75A7694C-DEA5-AFE8-E284-0A0D89F845C1}"/>
                </a:ext>
              </a:extLst>
            </p:cNvPr>
            <p:cNvPicPr>
              <a:picLocks noChangeAspect="1"/>
            </p:cNvPicPr>
            <p:nvPr/>
          </p:nvPicPr>
          <p:blipFill>
            <a:blip r:embed="rId6"/>
            <a:stretch>
              <a:fillRect/>
            </a:stretch>
          </p:blipFill>
          <p:spPr>
            <a:xfrm>
              <a:off x="6776851" y="2645026"/>
              <a:ext cx="276863" cy="126566"/>
            </a:xfrm>
            <a:prstGeom prst="rect">
              <a:avLst/>
            </a:prstGeom>
          </p:spPr>
        </p:pic>
      </p:grpSp>
      <p:grpSp>
        <p:nvGrpSpPr>
          <p:cNvPr id="755" name="Find candidate blob 1">
            <a:extLst>
              <a:ext uri="{FF2B5EF4-FFF2-40B4-BE49-F238E27FC236}">
                <a16:creationId xmlns:a16="http://schemas.microsoft.com/office/drawing/2014/main" id="{3B821B97-56A6-DCED-E85F-DBF945F3EA13}"/>
              </a:ext>
            </a:extLst>
          </p:cNvPr>
          <p:cNvGrpSpPr/>
          <p:nvPr/>
        </p:nvGrpSpPr>
        <p:grpSpPr>
          <a:xfrm>
            <a:off x="4357668" y="1039644"/>
            <a:ext cx="163890" cy="111953"/>
            <a:chOff x="1928706" y="3559489"/>
            <a:chExt cx="227897" cy="155682"/>
          </a:xfrm>
        </p:grpSpPr>
        <p:sp>
          <p:nvSpPr>
            <p:cNvPr id="756" name="Candidate blob | editable contour">
              <a:extLst>
                <a:ext uri="{FF2B5EF4-FFF2-40B4-BE49-F238E27FC236}">
                  <a16:creationId xmlns:a16="http://schemas.microsoft.com/office/drawing/2014/main" id="{B3B117DA-D182-38E6-AD16-B4776AD2C7B7}"/>
                </a:ext>
              </a:extLst>
            </p:cNvPr>
            <p:cNvSpPr/>
            <p:nvPr/>
          </p:nvSpPr>
          <p:spPr>
            <a:xfrm>
              <a:off x="1928706" y="3559489"/>
              <a:ext cx="227897" cy="155682"/>
            </a:xfrm>
            <a:custGeom>
              <a:avLst/>
              <a:gdLst/>
              <a:ahLst/>
              <a:cxnLst/>
              <a:rect l="0" t="0" r="w" b="h"/>
              <a:pathLst>
                <a:path w="227897" h="155682" extrusionOk="0">
                  <a:moveTo>
                    <a:pt x="5338" y="97866"/>
                  </a:moveTo>
                  <a:cubicBezTo>
                    <a:pt x="0" y="80701"/>
                    <a:pt x="18889" y="54504"/>
                    <a:pt x="29976" y="43663"/>
                  </a:cubicBezTo>
                  <a:cubicBezTo>
                    <a:pt x="41062" y="32823"/>
                    <a:pt x="58719" y="39447"/>
                    <a:pt x="71859" y="32823"/>
                  </a:cubicBezTo>
                  <a:cubicBezTo>
                    <a:pt x="84999" y="26198"/>
                    <a:pt x="92391" y="7829"/>
                    <a:pt x="108816" y="3915"/>
                  </a:cubicBezTo>
                  <a:cubicBezTo>
                    <a:pt x="125241" y="0"/>
                    <a:pt x="153984" y="3613"/>
                    <a:pt x="170409" y="9335"/>
                  </a:cubicBezTo>
                  <a:cubicBezTo>
                    <a:pt x="186834" y="15056"/>
                    <a:pt x="198332" y="26198"/>
                    <a:pt x="207366" y="38243"/>
                  </a:cubicBezTo>
                  <a:cubicBezTo>
                    <a:pt x="216399" y="50288"/>
                    <a:pt x="227897" y="67151"/>
                    <a:pt x="224612" y="81605"/>
                  </a:cubicBezTo>
                  <a:cubicBezTo>
                    <a:pt x="221327" y="96059"/>
                    <a:pt x="203259" y="113223"/>
                    <a:pt x="187656" y="124967"/>
                  </a:cubicBezTo>
                  <a:cubicBezTo>
                    <a:pt x="172052" y="136711"/>
                    <a:pt x="151931" y="148455"/>
                    <a:pt x="130989" y="152068"/>
                  </a:cubicBezTo>
                  <a:cubicBezTo>
                    <a:pt x="110048" y="155682"/>
                    <a:pt x="82946" y="155682"/>
                    <a:pt x="62004" y="146648"/>
                  </a:cubicBezTo>
                  <a:cubicBezTo>
                    <a:pt x="41062" y="137614"/>
                    <a:pt x="10676" y="115030"/>
                    <a:pt x="5338" y="97866"/>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757" name="ellipse_2612">
              <a:extLst>
                <a:ext uri="{FF2B5EF4-FFF2-40B4-BE49-F238E27FC236}">
                  <a16:creationId xmlns:a16="http://schemas.microsoft.com/office/drawing/2014/main" id="{901C6437-E94C-AFDE-D242-E688A89ABBDB}"/>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grpSp>
        <p:nvGrpSpPr>
          <p:cNvPr id="758" name="Find candidate blob 2">
            <a:extLst>
              <a:ext uri="{FF2B5EF4-FFF2-40B4-BE49-F238E27FC236}">
                <a16:creationId xmlns:a16="http://schemas.microsoft.com/office/drawing/2014/main" id="{00C0C92B-D4C8-0994-E860-1581EB873D86}"/>
              </a:ext>
            </a:extLst>
          </p:cNvPr>
          <p:cNvGrpSpPr/>
          <p:nvPr/>
        </p:nvGrpSpPr>
        <p:grpSpPr>
          <a:xfrm>
            <a:off x="4352956" y="917369"/>
            <a:ext cx="168602" cy="95394"/>
            <a:chOff x="1928706" y="3559489"/>
            <a:chExt cx="227897" cy="155682"/>
          </a:xfrm>
        </p:grpSpPr>
        <p:sp>
          <p:nvSpPr>
            <p:cNvPr id="759" name="Candidate blob | editable contour">
              <a:extLst>
                <a:ext uri="{FF2B5EF4-FFF2-40B4-BE49-F238E27FC236}">
                  <a16:creationId xmlns:a16="http://schemas.microsoft.com/office/drawing/2014/main" id="{A172A8B3-EFA3-33C9-CD2B-307B24D7293D}"/>
                </a:ext>
              </a:extLst>
            </p:cNvPr>
            <p:cNvSpPr/>
            <p:nvPr/>
          </p:nvSpPr>
          <p:spPr>
            <a:xfrm>
              <a:off x="1928706" y="3559489"/>
              <a:ext cx="227897" cy="155682"/>
            </a:xfrm>
            <a:custGeom>
              <a:avLst/>
              <a:gdLst/>
              <a:ahLst/>
              <a:cxnLst/>
              <a:rect l="0" t="0" r="w" b="h"/>
              <a:pathLst>
                <a:path w="227897" h="155682" extrusionOk="0">
                  <a:moveTo>
                    <a:pt x="3521" y="100385"/>
                  </a:moveTo>
                  <a:cubicBezTo>
                    <a:pt x="0" y="80701"/>
                    <a:pt x="26006" y="62787"/>
                    <a:pt x="43453" y="54263"/>
                  </a:cubicBezTo>
                  <a:cubicBezTo>
                    <a:pt x="58843" y="43224"/>
                    <a:pt x="83460" y="52781"/>
                    <a:pt x="99588" y="43358"/>
                  </a:cubicBezTo>
                  <a:cubicBezTo>
                    <a:pt x="112436" y="32945"/>
                    <a:pt x="102548" y="9475"/>
                    <a:pt x="114181" y="4123"/>
                  </a:cubicBezTo>
                  <a:cubicBezTo>
                    <a:pt x="125241" y="0"/>
                    <a:pt x="158214" y="2398"/>
                    <a:pt x="179365" y="5837"/>
                  </a:cubicBezTo>
                  <a:cubicBezTo>
                    <a:pt x="197301" y="9996"/>
                    <a:pt x="210134" y="19340"/>
                    <a:pt x="216909" y="31256"/>
                  </a:cubicBezTo>
                  <a:cubicBezTo>
                    <a:pt x="221237" y="45342"/>
                    <a:pt x="227897" y="67151"/>
                    <a:pt x="224378" y="79920"/>
                  </a:cubicBezTo>
                  <a:cubicBezTo>
                    <a:pt x="219253" y="92918"/>
                    <a:pt x="191986" y="104353"/>
                    <a:pt x="170629" y="115250"/>
                  </a:cubicBezTo>
                  <a:cubicBezTo>
                    <a:pt x="155563" y="129736"/>
                    <a:pt x="143418" y="146104"/>
                    <a:pt x="126157" y="151452"/>
                  </a:cubicBezTo>
                  <a:cubicBezTo>
                    <a:pt x="110048" y="155682"/>
                    <a:pt x="82946" y="155682"/>
                    <a:pt x="52808" y="150002"/>
                  </a:cubicBezTo>
                  <a:cubicBezTo>
                    <a:pt x="28847" y="143645"/>
                    <a:pt x="5675" y="118994"/>
                    <a:pt x="3521" y="100385"/>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760" name="ellipse_2612">
              <a:extLst>
                <a:ext uri="{FF2B5EF4-FFF2-40B4-BE49-F238E27FC236}">
                  <a16:creationId xmlns:a16="http://schemas.microsoft.com/office/drawing/2014/main" id="{CF37E813-914E-4383-9CE9-1C5F4095124F}"/>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grpSp>
        <p:nvGrpSpPr>
          <p:cNvPr id="761" name="Find candidate blob 3">
            <a:extLst>
              <a:ext uri="{FF2B5EF4-FFF2-40B4-BE49-F238E27FC236}">
                <a16:creationId xmlns:a16="http://schemas.microsoft.com/office/drawing/2014/main" id="{D7299A48-8BF0-7050-EF56-14DA3F495CB7}"/>
              </a:ext>
            </a:extLst>
          </p:cNvPr>
          <p:cNvGrpSpPr/>
          <p:nvPr/>
        </p:nvGrpSpPr>
        <p:grpSpPr>
          <a:xfrm rot="364243">
            <a:off x="4559731" y="1028968"/>
            <a:ext cx="127658" cy="129194"/>
            <a:chOff x="1928706" y="3559489"/>
            <a:chExt cx="227897" cy="155682"/>
          </a:xfrm>
        </p:grpSpPr>
        <p:sp>
          <p:nvSpPr>
            <p:cNvPr id="762" name="Candidate blob | editable contour">
              <a:extLst>
                <a:ext uri="{FF2B5EF4-FFF2-40B4-BE49-F238E27FC236}">
                  <a16:creationId xmlns:a16="http://schemas.microsoft.com/office/drawing/2014/main" id="{8902F596-0D84-3C56-EB93-D63FC7E9041E}"/>
                </a:ext>
              </a:extLst>
            </p:cNvPr>
            <p:cNvSpPr/>
            <p:nvPr/>
          </p:nvSpPr>
          <p:spPr>
            <a:xfrm>
              <a:off x="1928706" y="3559489"/>
              <a:ext cx="227897" cy="155682"/>
            </a:xfrm>
            <a:custGeom>
              <a:avLst/>
              <a:gdLst/>
              <a:ahLst/>
              <a:cxnLst/>
              <a:rect l="0" t="0" r="w" b="h"/>
              <a:pathLst>
                <a:path w="227897" h="155682" extrusionOk="0">
                  <a:moveTo>
                    <a:pt x="4633" y="103508"/>
                  </a:moveTo>
                  <a:cubicBezTo>
                    <a:pt x="0" y="80701"/>
                    <a:pt x="17781" y="72087"/>
                    <a:pt x="35225" y="64107"/>
                  </a:cubicBezTo>
                  <a:cubicBezTo>
                    <a:pt x="54476" y="49917"/>
                    <a:pt x="72264" y="52549"/>
                    <a:pt x="92778" y="35736"/>
                  </a:cubicBezTo>
                  <a:cubicBezTo>
                    <a:pt x="110195" y="21040"/>
                    <a:pt x="104326" y="5059"/>
                    <a:pt x="115221" y="1753"/>
                  </a:cubicBezTo>
                  <a:cubicBezTo>
                    <a:pt x="125241" y="0"/>
                    <a:pt x="159037" y="3786"/>
                    <a:pt x="180838" y="12966"/>
                  </a:cubicBezTo>
                  <a:cubicBezTo>
                    <a:pt x="198427" y="23372"/>
                    <a:pt x="209170" y="39484"/>
                    <a:pt x="212983" y="52913"/>
                  </a:cubicBezTo>
                  <a:cubicBezTo>
                    <a:pt x="216818" y="61184"/>
                    <a:pt x="227897" y="67151"/>
                    <a:pt x="223406" y="85389"/>
                  </a:cubicBezTo>
                  <a:cubicBezTo>
                    <a:pt x="220211" y="103077"/>
                    <a:pt x="208185" y="131257"/>
                    <a:pt x="201464" y="141174"/>
                  </a:cubicBezTo>
                  <a:cubicBezTo>
                    <a:pt x="189414" y="144450"/>
                    <a:pt x="161966" y="148455"/>
                    <a:pt x="136762" y="150513"/>
                  </a:cubicBezTo>
                  <a:cubicBezTo>
                    <a:pt x="110048" y="155682"/>
                    <a:pt x="82946" y="155682"/>
                    <a:pt x="72733" y="149421"/>
                  </a:cubicBezTo>
                  <a:cubicBezTo>
                    <a:pt x="54091" y="147525"/>
                    <a:pt x="13199" y="123788"/>
                    <a:pt x="4633" y="103508"/>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763" name="ellipse_2612">
              <a:extLst>
                <a:ext uri="{FF2B5EF4-FFF2-40B4-BE49-F238E27FC236}">
                  <a16:creationId xmlns:a16="http://schemas.microsoft.com/office/drawing/2014/main" id="{85D74281-2FE6-E2D2-EFBA-AF54A45686E3}"/>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sp>
        <p:nvSpPr>
          <p:cNvPr id="765" name="Find auxiliary label">
            <a:extLst>
              <a:ext uri="{FF2B5EF4-FFF2-40B4-BE49-F238E27FC236}">
                <a16:creationId xmlns:a16="http://schemas.microsoft.com/office/drawing/2014/main" id="{CAD88599-B783-720B-B6BD-9F787FCB6CF4}"/>
              </a:ext>
            </a:extLst>
          </p:cNvPr>
          <p:cNvSpPr>
            <a:spLocks noGrp="1"/>
          </p:cNvSpPr>
          <p:nvPr/>
        </p:nvSpPr>
        <p:spPr>
          <a:xfrm>
            <a:off x="4315962" y="1518303"/>
            <a:ext cx="433362" cy="157954"/>
          </a:xfrm>
          <a:prstGeom prst="rect">
            <a:avLst/>
          </a:prstGeom>
          <a:noFill/>
          <a:ln w="6885">
            <a:noFill/>
            <a:prstDash val="solid"/>
          </a:ln>
        </p:spPr>
        <p:txBody>
          <a:bodyPr lIns="0" tIns="0" rIns="0" bIns="0" anchor="ctr"/>
          <a:lstStyle>
            <a:defPPr algn="ctr">
              <a:defRPr sz="590" b="0">
                <a:solidFill>
                  <a:srgbClr val="263442"/>
                </a:solidFill>
                <a:latin typeface="Arial"/>
                <a:ea typeface="Arial"/>
                <a:cs typeface="Arial"/>
              </a:defRPr>
            </a:defPPr>
            <a:lvl1pPr algn="ctr">
              <a:defRPr sz="590" b="0">
                <a:solidFill>
                  <a:srgbClr val="263442"/>
                </a:solidFill>
                <a:latin typeface="Arial"/>
                <a:ea typeface="Arial"/>
                <a:cs typeface="Arial"/>
              </a:defRPr>
            </a:lvl1pPr>
            <a:lvl2pPr algn="ctr">
              <a:defRPr sz="590" b="0">
                <a:solidFill>
                  <a:srgbClr val="263442"/>
                </a:solidFill>
                <a:latin typeface="Arial"/>
                <a:ea typeface="Arial"/>
                <a:cs typeface="Arial"/>
              </a:defRPr>
            </a:lvl2pPr>
            <a:lvl3pPr algn="ctr">
              <a:defRPr sz="590" b="0">
                <a:solidFill>
                  <a:srgbClr val="263442"/>
                </a:solidFill>
                <a:latin typeface="Arial"/>
                <a:ea typeface="Arial"/>
                <a:cs typeface="Arial"/>
              </a:defRPr>
            </a:lvl3pPr>
            <a:lvl4pPr algn="ctr">
              <a:defRPr sz="590" b="0">
                <a:solidFill>
                  <a:srgbClr val="263442"/>
                </a:solidFill>
                <a:latin typeface="Arial"/>
                <a:ea typeface="Arial"/>
                <a:cs typeface="Arial"/>
              </a:defRPr>
            </a:lvl4pPr>
            <a:lvl5pPr algn="ctr">
              <a:defRPr sz="590" b="0">
                <a:solidFill>
                  <a:srgbClr val="263442"/>
                </a:solidFill>
                <a:latin typeface="Arial"/>
                <a:ea typeface="Arial"/>
                <a:cs typeface="Arial"/>
              </a:defRPr>
            </a:lvl5pPr>
            <a:lvl6pPr algn="ctr">
              <a:defRPr sz="590" b="0">
                <a:solidFill>
                  <a:srgbClr val="263442"/>
                </a:solidFill>
                <a:latin typeface="Arial"/>
                <a:ea typeface="Arial"/>
                <a:cs typeface="Arial"/>
              </a:defRPr>
            </a:lvl6pPr>
            <a:lvl7pPr algn="ctr">
              <a:defRPr sz="590" b="0">
                <a:solidFill>
                  <a:srgbClr val="263442"/>
                </a:solidFill>
                <a:latin typeface="Arial"/>
                <a:ea typeface="Arial"/>
                <a:cs typeface="Arial"/>
              </a:defRPr>
            </a:lvl7pPr>
            <a:lvl8pPr algn="ctr">
              <a:defRPr sz="590" b="0">
                <a:solidFill>
                  <a:srgbClr val="263442"/>
                </a:solidFill>
                <a:latin typeface="Arial"/>
                <a:ea typeface="Arial"/>
                <a:cs typeface="Arial"/>
              </a:defRPr>
            </a:lvl8pPr>
            <a:lvl9pPr algn="ctr">
              <a:defRPr sz="590" b="0">
                <a:solidFill>
                  <a:srgbClr val="263442"/>
                </a:solidFill>
                <a:latin typeface="Arial"/>
                <a:ea typeface="Arial"/>
                <a:cs typeface="Arial"/>
              </a:defRPr>
            </a:lvl9pPr>
          </a:lstStyle>
          <a:p>
            <a:pPr algn="ctr">
              <a:defRPr sz="590" b="0">
                <a:solidFill>
                  <a:srgbClr val="263442"/>
                </a:solidFill>
                <a:latin typeface="Arial"/>
                <a:ea typeface="Arial"/>
                <a:cs typeface="Arial"/>
              </a:defRPr>
            </a:pPr>
            <a:r>
              <a:rPr sz="590" dirty="0">
                <a:solidFill>
                  <a:srgbClr val="263442"/>
                </a:solidFill>
                <a:latin typeface="Arial"/>
                <a:ea typeface="Arial"/>
                <a:cs typeface="Arial"/>
              </a:rPr>
              <a:t>Auxiliary</a:t>
            </a:r>
          </a:p>
          <a:p>
            <a:pPr algn="ctr">
              <a:defRPr sz="590" b="0">
                <a:solidFill>
                  <a:srgbClr val="263442"/>
                </a:solidFill>
                <a:latin typeface="Arial"/>
                <a:ea typeface="Arial"/>
                <a:cs typeface="Arial"/>
              </a:defRPr>
            </a:pPr>
            <a:r>
              <a:rPr sz="590" dirty="0">
                <a:solidFill>
                  <a:srgbClr val="263442"/>
                </a:solidFill>
                <a:latin typeface="Arial"/>
                <a:ea typeface="Arial"/>
                <a:cs typeface="Arial"/>
              </a:rPr>
              <a:t>features</a:t>
            </a:r>
          </a:p>
        </p:txBody>
      </p:sp>
      <p:sp>
        <p:nvSpPr>
          <p:cNvPr id="766" name="Match auxiliary label">
            <a:extLst>
              <a:ext uri="{FF2B5EF4-FFF2-40B4-BE49-F238E27FC236}">
                <a16:creationId xmlns:a16="http://schemas.microsoft.com/office/drawing/2014/main" id="{C154BF4F-4214-59BC-DCE1-F9C23194AC63}"/>
              </a:ext>
            </a:extLst>
          </p:cNvPr>
          <p:cNvSpPr>
            <a:spLocks noGrp="1"/>
          </p:cNvSpPr>
          <p:nvPr/>
        </p:nvSpPr>
        <p:spPr>
          <a:xfrm>
            <a:off x="1539032" y="2843177"/>
            <a:ext cx="405011" cy="174155"/>
          </a:xfrm>
          <a:prstGeom prst="rect">
            <a:avLst/>
          </a:prstGeom>
          <a:noFill/>
          <a:ln w="6885">
            <a:noFill/>
            <a:prstDash val="solid"/>
          </a:ln>
        </p:spPr>
        <p:txBody>
          <a:bodyPr lIns="0" tIns="0" rIns="0" bIns="0" anchor="ctr"/>
          <a:lstStyle>
            <a:defPPr algn="ctr">
              <a:defRPr sz="590" b="1">
                <a:solidFill>
                  <a:srgbClr val="263442"/>
                </a:solidFill>
                <a:latin typeface="Arial"/>
                <a:ea typeface="Arial"/>
                <a:cs typeface="Arial"/>
              </a:defRPr>
            </a:defPPr>
            <a:lvl1pPr algn="ctr">
              <a:defRPr sz="590" b="1">
                <a:solidFill>
                  <a:srgbClr val="263442"/>
                </a:solidFill>
                <a:latin typeface="Arial"/>
                <a:ea typeface="Arial"/>
                <a:cs typeface="Arial"/>
              </a:defRPr>
            </a:lvl1pPr>
            <a:lvl2pPr algn="ctr">
              <a:defRPr sz="590" b="1">
                <a:solidFill>
                  <a:srgbClr val="263442"/>
                </a:solidFill>
                <a:latin typeface="Arial"/>
                <a:ea typeface="Arial"/>
                <a:cs typeface="Arial"/>
              </a:defRPr>
            </a:lvl2pPr>
            <a:lvl3pPr algn="ctr">
              <a:defRPr sz="590" b="1">
                <a:solidFill>
                  <a:srgbClr val="263442"/>
                </a:solidFill>
                <a:latin typeface="Arial"/>
                <a:ea typeface="Arial"/>
                <a:cs typeface="Arial"/>
              </a:defRPr>
            </a:lvl3pPr>
            <a:lvl4pPr algn="ctr">
              <a:defRPr sz="590" b="1">
                <a:solidFill>
                  <a:srgbClr val="263442"/>
                </a:solidFill>
                <a:latin typeface="Arial"/>
                <a:ea typeface="Arial"/>
                <a:cs typeface="Arial"/>
              </a:defRPr>
            </a:lvl4pPr>
            <a:lvl5pPr algn="ctr">
              <a:defRPr sz="590" b="1">
                <a:solidFill>
                  <a:srgbClr val="263442"/>
                </a:solidFill>
                <a:latin typeface="Arial"/>
                <a:ea typeface="Arial"/>
                <a:cs typeface="Arial"/>
              </a:defRPr>
            </a:lvl5pPr>
            <a:lvl6pPr algn="ctr">
              <a:defRPr sz="590" b="1">
                <a:solidFill>
                  <a:srgbClr val="263442"/>
                </a:solidFill>
                <a:latin typeface="Arial"/>
                <a:ea typeface="Arial"/>
                <a:cs typeface="Arial"/>
              </a:defRPr>
            </a:lvl6pPr>
            <a:lvl7pPr algn="ctr">
              <a:defRPr sz="590" b="1">
                <a:solidFill>
                  <a:srgbClr val="263442"/>
                </a:solidFill>
                <a:latin typeface="Arial"/>
                <a:ea typeface="Arial"/>
                <a:cs typeface="Arial"/>
              </a:defRPr>
            </a:lvl7pPr>
            <a:lvl8pPr algn="ctr">
              <a:defRPr sz="590" b="1">
                <a:solidFill>
                  <a:srgbClr val="263442"/>
                </a:solidFill>
                <a:latin typeface="Arial"/>
                <a:ea typeface="Arial"/>
                <a:cs typeface="Arial"/>
              </a:defRPr>
            </a:lvl8pPr>
            <a:lvl9pPr algn="ctr">
              <a:defRPr sz="590" b="1">
                <a:solidFill>
                  <a:srgbClr val="263442"/>
                </a:solidFill>
                <a:latin typeface="Arial"/>
                <a:ea typeface="Arial"/>
                <a:cs typeface="Arial"/>
              </a:defRPr>
            </a:lvl9pPr>
          </a:lstStyle>
          <a:p>
            <a:pPr algn="ctr">
              <a:defRPr sz="590" b="1">
                <a:solidFill>
                  <a:srgbClr val="263442"/>
                </a:solidFill>
                <a:latin typeface="Arial"/>
                <a:ea typeface="Arial"/>
                <a:cs typeface="Arial"/>
              </a:defRPr>
            </a:pPr>
            <a:r>
              <a:rPr sz="590" b="0" dirty="0">
                <a:solidFill>
                  <a:srgbClr val="263442"/>
                </a:solidFill>
                <a:latin typeface="Arial"/>
                <a:ea typeface="Arial"/>
                <a:cs typeface="Arial"/>
              </a:rPr>
              <a:t>Auxiliary</a:t>
            </a:r>
          </a:p>
          <a:p>
            <a:pPr algn="ctr">
              <a:defRPr sz="590" b="1">
                <a:solidFill>
                  <a:srgbClr val="263442"/>
                </a:solidFill>
                <a:latin typeface="Arial"/>
                <a:ea typeface="Arial"/>
                <a:cs typeface="Arial"/>
              </a:defRPr>
            </a:pPr>
            <a:r>
              <a:rPr sz="590" b="0" dirty="0">
                <a:solidFill>
                  <a:srgbClr val="263442"/>
                </a:solidFill>
                <a:latin typeface="Arial"/>
                <a:ea typeface="Arial"/>
                <a:cs typeface="Arial"/>
              </a:rPr>
              <a:t>features</a:t>
            </a:r>
          </a:p>
        </p:txBody>
      </p:sp>
      <p:sp>
        <p:nvSpPr>
          <p:cNvPr id="767" name="Concat label">
            <a:extLst>
              <a:ext uri="{FF2B5EF4-FFF2-40B4-BE49-F238E27FC236}">
                <a16:creationId xmlns:a16="http://schemas.microsoft.com/office/drawing/2014/main" id="{9D20C35C-694E-CDD5-F90A-040BE36EEE21}"/>
              </a:ext>
            </a:extLst>
          </p:cNvPr>
          <p:cNvSpPr>
            <a:spLocks noGrp="1"/>
          </p:cNvSpPr>
          <p:nvPr/>
        </p:nvSpPr>
        <p:spPr>
          <a:xfrm>
            <a:off x="1141938" y="3608830"/>
            <a:ext cx="259207" cy="81002"/>
          </a:xfrm>
          <a:prstGeom prst="rect">
            <a:avLst/>
          </a:prstGeom>
          <a:noFill/>
          <a:ln w="6885">
            <a:noFill/>
            <a:prstDash val="solid"/>
          </a:ln>
        </p:spPr>
        <p:txBody>
          <a:bodyPr lIns="0" tIns="0" rIns="0" bIns="0" anchor="ctr"/>
          <a:lstStyle>
            <a:defPPr algn="ctr">
              <a:defRPr sz="568" b="0">
                <a:solidFill>
                  <a:srgbClr val="263442"/>
                </a:solidFill>
                <a:latin typeface="Arial"/>
                <a:ea typeface="Arial"/>
                <a:cs typeface="Arial"/>
              </a:defRPr>
            </a:defPPr>
            <a:lvl1pPr algn="ctr">
              <a:defRPr sz="568" b="0">
                <a:solidFill>
                  <a:srgbClr val="263442"/>
                </a:solidFill>
                <a:latin typeface="Arial"/>
                <a:ea typeface="Arial"/>
                <a:cs typeface="Arial"/>
              </a:defRPr>
            </a:lvl1pPr>
            <a:lvl2pPr algn="ctr">
              <a:defRPr sz="568" b="0">
                <a:solidFill>
                  <a:srgbClr val="263442"/>
                </a:solidFill>
                <a:latin typeface="Arial"/>
                <a:ea typeface="Arial"/>
                <a:cs typeface="Arial"/>
              </a:defRPr>
            </a:lvl2pPr>
            <a:lvl3pPr algn="ctr">
              <a:defRPr sz="568" b="0">
                <a:solidFill>
                  <a:srgbClr val="263442"/>
                </a:solidFill>
                <a:latin typeface="Arial"/>
                <a:ea typeface="Arial"/>
                <a:cs typeface="Arial"/>
              </a:defRPr>
            </a:lvl3pPr>
            <a:lvl4pPr algn="ctr">
              <a:defRPr sz="568" b="0">
                <a:solidFill>
                  <a:srgbClr val="263442"/>
                </a:solidFill>
                <a:latin typeface="Arial"/>
                <a:ea typeface="Arial"/>
                <a:cs typeface="Arial"/>
              </a:defRPr>
            </a:lvl4pPr>
            <a:lvl5pPr algn="ctr">
              <a:defRPr sz="568" b="0">
                <a:solidFill>
                  <a:srgbClr val="263442"/>
                </a:solidFill>
                <a:latin typeface="Arial"/>
                <a:ea typeface="Arial"/>
                <a:cs typeface="Arial"/>
              </a:defRPr>
            </a:lvl5pPr>
            <a:lvl6pPr algn="ctr">
              <a:defRPr sz="568" b="0">
                <a:solidFill>
                  <a:srgbClr val="263442"/>
                </a:solidFill>
                <a:latin typeface="Arial"/>
                <a:ea typeface="Arial"/>
                <a:cs typeface="Arial"/>
              </a:defRPr>
            </a:lvl6pPr>
            <a:lvl7pPr algn="ctr">
              <a:defRPr sz="568" b="0">
                <a:solidFill>
                  <a:srgbClr val="263442"/>
                </a:solidFill>
                <a:latin typeface="Arial"/>
                <a:ea typeface="Arial"/>
                <a:cs typeface="Arial"/>
              </a:defRPr>
            </a:lvl7pPr>
            <a:lvl8pPr algn="ctr">
              <a:defRPr sz="568" b="0">
                <a:solidFill>
                  <a:srgbClr val="263442"/>
                </a:solidFill>
                <a:latin typeface="Arial"/>
                <a:ea typeface="Arial"/>
                <a:cs typeface="Arial"/>
              </a:defRPr>
            </a:lvl8pPr>
            <a:lvl9pPr algn="ctr">
              <a:defRPr sz="568" b="0">
                <a:solidFill>
                  <a:srgbClr val="263442"/>
                </a:solidFill>
                <a:latin typeface="Arial"/>
                <a:ea typeface="Arial"/>
                <a:cs typeface="Arial"/>
              </a:defRPr>
            </a:lvl9pPr>
          </a:lstStyle>
          <a:p>
            <a:pPr algn="ctr">
              <a:defRPr sz="568" b="0">
                <a:solidFill>
                  <a:srgbClr val="263442"/>
                </a:solidFill>
                <a:latin typeface="Arial"/>
                <a:ea typeface="Arial"/>
                <a:cs typeface="Arial"/>
              </a:defRPr>
            </a:pPr>
            <a:r>
              <a:rPr sz="568" dirty="0" err="1">
                <a:solidFill>
                  <a:srgbClr val="263442"/>
                </a:solidFill>
                <a:latin typeface="Arial"/>
                <a:ea typeface="Arial"/>
                <a:cs typeface="Arial"/>
              </a:rPr>
              <a:t>Concat</a:t>
            </a:r>
            <a:endParaRPr sz="568" dirty="0">
              <a:solidFill>
                <a:srgbClr val="263442"/>
              </a:solidFill>
              <a:latin typeface="Arial"/>
              <a:ea typeface="Arial"/>
              <a:cs typeface="Arial"/>
            </a:endParaRPr>
          </a:p>
        </p:txBody>
      </p:sp>
      <p:grpSp>
        <p:nvGrpSpPr>
          <p:cNvPr id="1248" name="Unified flow and feature elements">
            <a:extLst>
              <a:ext uri="{FF2B5EF4-FFF2-40B4-BE49-F238E27FC236}">
                <a16:creationId xmlns:a16="http://schemas.microsoft.com/office/drawing/2014/main" id="{DA74696D-FF4F-021F-A459-9CD0851351CF}"/>
              </a:ext>
            </a:extLst>
          </p:cNvPr>
          <p:cNvGrpSpPr/>
          <p:nvPr/>
        </p:nvGrpSpPr>
        <p:grpSpPr>
          <a:xfrm>
            <a:off x="906174" y="284723"/>
            <a:ext cx="3778711" cy="3984382"/>
            <a:chOff x="2131133" y="669608"/>
            <a:chExt cx="8886725" cy="9370426"/>
          </a:xfrm>
        </p:grpSpPr>
        <p:sp>
          <p:nvSpPr>
            <p:cNvPr id="1249" name="Preprocessing refined">
              <a:extLst>
                <a:ext uri="{FF2B5EF4-FFF2-40B4-BE49-F238E27FC236}">
                  <a16:creationId xmlns:a16="http://schemas.microsoft.com/office/drawing/2014/main" id="{A3A31885-181B-CF24-BE30-3ED8DAACE460}"/>
                </a:ext>
              </a:extLst>
            </p:cNvPr>
            <p:cNvSpPr>
              <a:spLocks noGrp="1"/>
            </p:cNvSpPr>
            <p:nvPr/>
          </p:nvSpPr>
          <p:spPr>
            <a:xfrm>
              <a:off x="3122581" y="669608"/>
              <a:ext cx="1028701" cy="3460433"/>
            </a:xfrm>
            <a:prstGeom prst="roundRect">
              <a:avLst>
                <a:gd name="adj" fmla="val 6481"/>
              </a:avLst>
            </a:prstGeom>
            <a:solidFill>
              <a:srgbClr val="E8EFF7"/>
            </a:solidFill>
            <a:ln w="7290">
              <a:solidFill>
                <a:srgbClr val="C4D1E1"/>
              </a:solidFill>
            </a:ln>
          </p:spPr>
        </p:sp>
        <p:sp>
          <p:nvSpPr>
            <p:cNvPr id="1250" name="Preprocessing divider refined">
              <a:extLst>
                <a:ext uri="{FF2B5EF4-FFF2-40B4-BE49-F238E27FC236}">
                  <a16:creationId xmlns:a16="http://schemas.microsoft.com/office/drawing/2014/main" id="{E21BD2F9-92DD-96F0-3AAF-0957638A49FB}"/>
                </a:ext>
              </a:extLst>
            </p:cNvPr>
            <p:cNvSpPr>
              <a:spLocks noGrp="1"/>
            </p:cNvSpPr>
            <p:nvPr/>
          </p:nvSpPr>
          <p:spPr>
            <a:xfrm>
              <a:off x="3199219" y="2418363"/>
              <a:ext cx="800100" cy="190"/>
            </a:xfrm>
            <a:custGeom>
              <a:avLst/>
              <a:gdLst/>
              <a:ahLst/>
              <a:cxnLst/>
              <a:rect l="0" t="0" r="0" b="0"/>
              <a:pathLst>
                <a:path w="800100" h="191">
                  <a:moveTo>
                    <a:pt x="0" y="0"/>
                  </a:moveTo>
                  <a:lnTo>
                    <a:pt x="800100" y="0"/>
                  </a:lnTo>
                </a:path>
              </a:pathLst>
            </a:custGeom>
            <a:noFill/>
            <a:ln w="6075">
              <a:solidFill>
                <a:srgbClr val="C4D1E1"/>
              </a:solidFill>
              <a:prstDash val="solid"/>
            </a:ln>
          </p:spPr>
        </p:sp>
        <p:sp>
          <p:nvSpPr>
            <p:cNvPr id="1251" name="Density bank refined">
              <a:extLst>
                <a:ext uri="{FF2B5EF4-FFF2-40B4-BE49-F238E27FC236}">
                  <a16:creationId xmlns:a16="http://schemas.microsoft.com/office/drawing/2014/main" id="{1E51E71A-A2BC-0776-E4CA-D30FBB1BE241}"/>
                </a:ext>
              </a:extLst>
            </p:cNvPr>
            <p:cNvSpPr>
              <a:spLocks noGrp="1"/>
            </p:cNvSpPr>
            <p:nvPr/>
          </p:nvSpPr>
          <p:spPr>
            <a:xfrm>
              <a:off x="3160769" y="695478"/>
              <a:ext cx="990599" cy="457199"/>
            </a:xfrm>
            <a:prstGeom prst="rect">
              <a:avLst/>
            </a:prstGeom>
            <a:noFill/>
            <a:ln w="7290">
              <a:noFill/>
            </a:ln>
          </p:spPr>
          <p:txBody>
            <a:bodyPr lIns="0" tIns="0" rIns="0" bIns="0" anchor="ctr"/>
            <a:lstStyle>
              <a:defPPr algn="ctr">
                <a:defRPr sz="612">
                  <a:solidFill>
                    <a:srgbClr val="263442"/>
                  </a:solidFill>
                  <a:latin typeface="Arial"/>
                  <a:ea typeface="Arial"/>
                  <a:cs typeface="Arial"/>
                </a:defRPr>
              </a:defPPr>
              <a:lvl1pPr algn="ctr">
                <a:defRPr sz="612">
                  <a:solidFill>
                    <a:srgbClr val="263442"/>
                  </a:solidFill>
                  <a:latin typeface="Arial"/>
                  <a:ea typeface="Arial"/>
                  <a:cs typeface="Arial"/>
                </a:defRPr>
              </a:lvl1pPr>
              <a:lvl2pPr algn="ctr">
                <a:defRPr sz="612">
                  <a:solidFill>
                    <a:srgbClr val="263442"/>
                  </a:solidFill>
                  <a:latin typeface="Arial"/>
                  <a:ea typeface="Arial"/>
                  <a:cs typeface="Arial"/>
                </a:defRPr>
              </a:lvl2pPr>
              <a:lvl3pPr algn="ctr">
                <a:defRPr sz="612">
                  <a:solidFill>
                    <a:srgbClr val="263442"/>
                  </a:solidFill>
                  <a:latin typeface="Arial"/>
                  <a:ea typeface="Arial"/>
                  <a:cs typeface="Arial"/>
                </a:defRPr>
              </a:lvl3pPr>
              <a:lvl4pPr algn="ctr">
                <a:defRPr sz="612">
                  <a:solidFill>
                    <a:srgbClr val="263442"/>
                  </a:solidFill>
                  <a:latin typeface="Arial"/>
                  <a:ea typeface="Arial"/>
                  <a:cs typeface="Arial"/>
                </a:defRPr>
              </a:lvl4pPr>
              <a:lvl5pPr algn="ctr">
                <a:defRPr sz="612">
                  <a:solidFill>
                    <a:srgbClr val="263442"/>
                  </a:solidFill>
                  <a:latin typeface="Arial"/>
                  <a:ea typeface="Arial"/>
                  <a:cs typeface="Arial"/>
                </a:defRPr>
              </a:lvl5pPr>
              <a:lvl6pPr algn="ctr">
                <a:defRPr sz="612">
                  <a:solidFill>
                    <a:srgbClr val="263442"/>
                  </a:solidFill>
                  <a:latin typeface="Arial"/>
                  <a:ea typeface="Arial"/>
                  <a:cs typeface="Arial"/>
                </a:defRPr>
              </a:lvl6pPr>
              <a:lvl7pPr algn="ctr">
                <a:defRPr sz="612">
                  <a:solidFill>
                    <a:srgbClr val="263442"/>
                  </a:solidFill>
                  <a:latin typeface="Arial"/>
                  <a:ea typeface="Arial"/>
                  <a:cs typeface="Arial"/>
                </a:defRPr>
              </a:lvl7pPr>
              <a:lvl8pPr algn="ctr">
                <a:defRPr sz="612">
                  <a:solidFill>
                    <a:srgbClr val="263442"/>
                  </a:solidFill>
                  <a:latin typeface="Arial"/>
                  <a:ea typeface="Arial"/>
                  <a:cs typeface="Arial"/>
                </a:defRPr>
              </a:lvl8pPr>
              <a:lvl9pPr algn="ctr">
                <a:defRPr sz="612">
                  <a:solidFill>
                    <a:srgbClr val="263442"/>
                  </a:solidFill>
                  <a:latin typeface="Arial"/>
                  <a:ea typeface="Arial"/>
                  <a:cs typeface="Arial"/>
                </a:defRPr>
              </a:lvl9pPr>
            </a:lstStyle>
            <a:p>
              <a:pPr algn="ctr">
                <a:defRPr sz="612">
                  <a:solidFill>
                    <a:srgbClr val="263442"/>
                  </a:solidFill>
                  <a:latin typeface="Arial"/>
                  <a:ea typeface="Arial"/>
                  <a:cs typeface="Arial"/>
                </a:defRPr>
              </a:pPr>
              <a:r>
                <a:rPr sz="550" dirty="0">
                  <a:solidFill>
                    <a:srgbClr val="263442"/>
                  </a:solidFill>
                  <a:latin typeface="Arial"/>
                  <a:ea typeface="Arial"/>
                  <a:cs typeface="Arial"/>
                </a:rPr>
                <a:t>Density</a:t>
              </a:r>
            </a:p>
            <a:p>
              <a:pPr algn="ctr">
                <a:defRPr sz="612">
                  <a:solidFill>
                    <a:srgbClr val="263442"/>
                  </a:solidFill>
                  <a:latin typeface="Arial"/>
                  <a:ea typeface="Arial"/>
                  <a:cs typeface="Arial"/>
                </a:defRPr>
              </a:pPr>
              <a:r>
                <a:rPr lang="en-US" sz="550" dirty="0">
                  <a:solidFill>
                    <a:srgbClr val="263442"/>
                  </a:solidFill>
                  <a:latin typeface="Arial"/>
                  <a:ea typeface="Arial"/>
                  <a:cs typeface="Arial"/>
                </a:rPr>
                <a:t>B</a:t>
              </a:r>
              <a:r>
                <a:rPr sz="550" dirty="0">
                  <a:solidFill>
                    <a:srgbClr val="263442"/>
                  </a:solidFill>
                  <a:latin typeface="Arial"/>
                  <a:ea typeface="Arial"/>
                  <a:cs typeface="Arial"/>
                </a:rPr>
                <a:t>ank</a:t>
              </a:r>
            </a:p>
          </p:txBody>
        </p:sp>
        <p:sp>
          <p:nvSpPr>
            <p:cNvPr id="1252" name="Embedding head refined">
              <a:extLst>
                <a:ext uri="{FF2B5EF4-FFF2-40B4-BE49-F238E27FC236}">
                  <a16:creationId xmlns:a16="http://schemas.microsoft.com/office/drawing/2014/main" id="{58C61B38-F8DB-1F98-DEE4-C9D7130E2730}"/>
                </a:ext>
              </a:extLst>
            </p:cNvPr>
            <p:cNvSpPr>
              <a:spLocks noGrp="1"/>
            </p:cNvSpPr>
            <p:nvPr/>
          </p:nvSpPr>
          <p:spPr>
            <a:xfrm>
              <a:off x="3122433" y="2542570"/>
              <a:ext cx="990599" cy="457199"/>
            </a:xfrm>
            <a:prstGeom prst="rect">
              <a:avLst/>
            </a:prstGeom>
            <a:noFill/>
            <a:ln w="7290">
              <a:noFill/>
            </a:ln>
          </p:spPr>
          <p:txBody>
            <a:bodyPr lIns="0" tIns="0" rIns="0" bIns="0" anchor="ctr"/>
            <a:lstStyle>
              <a:defPPr algn="ctr">
                <a:defRPr sz="612">
                  <a:solidFill>
                    <a:srgbClr val="263442"/>
                  </a:solidFill>
                  <a:latin typeface="Arial"/>
                  <a:ea typeface="Arial"/>
                  <a:cs typeface="Arial"/>
                </a:defRPr>
              </a:defPPr>
              <a:lvl1pPr algn="ctr">
                <a:defRPr sz="612">
                  <a:solidFill>
                    <a:srgbClr val="263442"/>
                  </a:solidFill>
                  <a:latin typeface="Arial"/>
                  <a:ea typeface="Arial"/>
                  <a:cs typeface="Arial"/>
                </a:defRPr>
              </a:lvl1pPr>
              <a:lvl2pPr algn="ctr">
                <a:defRPr sz="612">
                  <a:solidFill>
                    <a:srgbClr val="263442"/>
                  </a:solidFill>
                  <a:latin typeface="Arial"/>
                  <a:ea typeface="Arial"/>
                  <a:cs typeface="Arial"/>
                </a:defRPr>
              </a:lvl2pPr>
              <a:lvl3pPr algn="ctr">
                <a:defRPr sz="612">
                  <a:solidFill>
                    <a:srgbClr val="263442"/>
                  </a:solidFill>
                  <a:latin typeface="Arial"/>
                  <a:ea typeface="Arial"/>
                  <a:cs typeface="Arial"/>
                </a:defRPr>
              </a:lvl3pPr>
              <a:lvl4pPr algn="ctr">
                <a:defRPr sz="612">
                  <a:solidFill>
                    <a:srgbClr val="263442"/>
                  </a:solidFill>
                  <a:latin typeface="Arial"/>
                  <a:ea typeface="Arial"/>
                  <a:cs typeface="Arial"/>
                </a:defRPr>
              </a:lvl4pPr>
              <a:lvl5pPr algn="ctr">
                <a:defRPr sz="612">
                  <a:solidFill>
                    <a:srgbClr val="263442"/>
                  </a:solidFill>
                  <a:latin typeface="Arial"/>
                  <a:ea typeface="Arial"/>
                  <a:cs typeface="Arial"/>
                </a:defRPr>
              </a:lvl5pPr>
              <a:lvl6pPr algn="ctr">
                <a:defRPr sz="612">
                  <a:solidFill>
                    <a:srgbClr val="263442"/>
                  </a:solidFill>
                  <a:latin typeface="Arial"/>
                  <a:ea typeface="Arial"/>
                  <a:cs typeface="Arial"/>
                </a:defRPr>
              </a:lvl6pPr>
              <a:lvl7pPr algn="ctr">
                <a:defRPr sz="612">
                  <a:solidFill>
                    <a:srgbClr val="263442"/>
                  </a:solidFill>
                  <a:latin typeface="Arial"/>
                  <a:ea typeface="Arial"/>
                  <a:cs typeface="Arial"/>
                </a:defRPr>
              </a:lvl7pPr>
              <a:lvl8pPr algn="ctr">
                <a:defRPr sz="612">
                  <a:solidFill>
                    <a:srgbClr val="263442"/>
                  </a:solidFill>
                  <a:latin typeface="Arial"/>
                  <a:ea typeface="Arial"/>
                  <a:cs typeface="Arial"/>
                </a:defRPr>
              </a:lvl8pPr>
              <a:lvl9pPr algn="ctr">
                <a:defRPr sz="612">
                  <a:solidFill>
                    <a:srgbClr val="263442"/>
                  </a:solidFill>
                  <a:latin typeface="Arial"/>
                  <a:ea typeface="Arial"/>
                  <a:cs typeface="Arial"/>
                </a:defRPr>
              </a:lvl9pPr>
            </a:lstStyle>
            <a:p>
              <a:pPr algn="ctr">
                <a:defRPr sz="612">
                  <a:solidFill>
                    <a:srgbClr val="263442"/>
                  </a:solidFill>
                  <a:latin typeface="Arial"/>
                  <a:ea typeface="Arial"/>
                  <a:cs typeface="Arial"/>
                </a:defRPr>
              </a:pPr>
              <a:r>
                <a:rPr lang="en-US" sz="550" dirty="0">
                  <a:solidFill>
                    <a:srgbClr val="263442"/>
                  </a:solidFill>
                  <a:latin typeface="Arial"/>
                  <a:ea typeface="Arial"/>
                  <a:cs typeface="Arial"/>
                </a:rPr>
                <a:t>Atom embeddings</a:t>
              </a:r>
              <a:endParaRPr sz="550" dirty="0">
                <a:solidFill>
                  <a:srgbClr val="263442"/>
                </a:solidFill>
                <a:latin typeface="Arial"/>
                <a:ea typeface="Arial"/>
                <a:cs typeface="Arial"/>
              </a:endParaRPr>
            </a:p>
          </p:txBody>
        </p:sp>
        <p:sp>
          <p:nvSpPr>
            <p:cNvPr id="1253" name="Find matrix 0-0">
              <a:extLst>
                <a:ext uri="{FF2B5EF4-FFF2-40B4-BE49-F238E27FC236}">
                  <a16:creationId xmlns:a16="http://schemas.microsoft.com/office/drawing/2014/main" id="{BBF0C328-3AF9-A068-FA92-FBF890856A66}"/>
                </a:ext>
              </a:extLst>
            </p:cNvPr>
            <p:cNvSpPr>
              <a:spLocks noGrp="1"/>
            </p:cNvSpPr>
            <p:nvPr/>
          </p:nvSpPr>
          <p:spPr>
            <a:xfrm>
              <a:off x="10255382" y="3200400"/>
              <a:ext cx="91559" cy="70009"/>
            </a:xfrm>
            <a:prstGeom prst="rect">
              <a:avLst/>
            </a:prstGeom>
            <a:solidFill>
              <a:srgbClr val="3E8F9A"/>
            </a:solidFill>
            <a:ln w="7290">
              <a:noFill/>
            </a:ln>
          </p:spPr>
        </p:sp>
        <p:sp>
          <p:nvSpPr>
            <p:cNvPr id="1254" name="Find matrix 0-1">
              <a:extLst>
                <a:ext uri="{FF2B5EF4-FFF2-40B4-BE49-F238E27FC236}">
                  <a16:creationId xmlns:a16="http://schemas.microsoft.com/office/drawing/2014/main" id="{3474DD36-B24E-DC42-848D-72CE3DEC2274}"/>
                </a:ext>
              </a:extLst>
            </p:cNvPr>
            <p:cNvSpPr>
              <a:spLocks noGrp="1"/>
            </p:cNvSpPr>
            <p:nvPr/>
          </p:nvSpPr>
          <p:spPr>
            <a:xfrm>
              <a:off x="10351227" y="3200400"/>
              <a:ext cx="91559" cy="70009"/>
            </a:xfrm>
            <a:prstGeom prst="rect">
              <a:avLst/>
            </a:prstGeom>
            <a:solidFill>
              <a:srgbClr val="5B9FB6"/>
            </a:solidFill>
            <a:ln w="7290">
              <a:noFill/>
            </a:ln>
          </p:spPr>
        </p:sp>
        <p:sp>
          <p:nvSpPr>
            <p:cNvPr id="1255" name="Find matrix 0-2">
              <a:extLst>
                <a:ext uri="{FF2B5EF4-FFF2-40B4-BE49-F238E27FC236}">
                  <a16:creationId xmlns:a16="http://schemas.microsoft.com/office/drawing/2014/main" id="{F807BDD1-EE13-F00C-2E77-C8910F6ACC73}"/>
                </a:ext>
              </a:extLst>
            </p:cNvPr>
            <p:cNvSpPr>
              <a:spLocks noGrp="1"/>
            </p:cNvSpPr>
            <p:nvPr/>
          </p:nvSpPr>
          <p:spPr>
            <a:xfrm>
              <a:off x="10447072" y="3200400"/>
              <a:ext cx="91559" cy="70009"/>
            </a:xfrm>
            <a:prstGeom prst="rect">
              <a:avLst/>
            </a:prstGeom>
            <a:solidFill>
              <a:srgbClr val="A3CDDA"/>
            </a:solidFill>
            <a:ln w="7290">
              <a:noFill/>
            </a:ln>
          </p:spPr>
        </p:sp>
        <p:sp>
          <p:nvSpPr>
            <p:cNvPr id="1256" name="Find matrix 0-3">
              <a:extLst>
                <a:ext uri="{FF2B5EF4-FFF2-40B4-BE49-F238E27FC236}">
                  <a16:creationId xmlns:a16="http://schemas.microsoft.com/office/drawing/2014/main" id="{DB1A890F-778A-35C9-7AE1-C0AE618D52CF}"/>
                </a:ext>
              </a:extLst>
            </p:cNvPr>
            <p:cNvSpPr>
              <a:spLocks noGrp="1"/>
            </p:cNvSpPr>
            <p:nvPr/>
          </p:nvSpPr>
          <p:spPr>
            <a:xfrm>
              <a:off x="10542917" y="3200400"/>
              <a:ext cx="91559" cy="70009"/>
            </a:xfrm>
            <a:prstGeom prst="rect">
              <a:avLst/>
            </a:prstGeom>
            <a:solidFill>
              <a:srgbClr val="88BEC3"/>
            </a:solidFill>
            <a:ln w="7290">
              <a:noFill/>
            </a:ln>
          </p:spPr>
        </p:sp>
        <p:sp>
          <p:nvSpPr>
            <p:cNvPr id="1257" name="Find matrix 0-4">
              <a:extLst>
                <a:ext uri="{FF2B5EF4-FFF2-40B4-BE49-F238E27FC236}">
                  <a16:creationId xmlns:a16="http://schemas.microsoft.com/office/drawing/2014/main" id="{B445D6B3-6FC7-4615-5975-85730846D82F}"/>
                </a:ext>
              </a:extLst>
            </p:cNvPr>
            <p:cNvSpPr>
              <a:spLocks noGrp="1"/>
            </p:cNvSpPr>
            <p:nvPr/>
          </p:nvSpPr>
          <p:spPr>
            <a:xfrm>
              <a:off x="10638763" y="3200400"/>
              <a:ext cx="91559" cy="70009"/>
            </a:xfrm>
            <a:prstGeom prst="rect">
              <a:avLst/>
            </a:prstGeom>
            <a:solidFill>
              <a:srgbClr val="67AD9F"/>
            </a:solidFill>
            <a:ln w="7290">
              <a:noFill/>
            </a:ln>
          </p:spPr>
        </p:sp>
        <p:sp>
          <p:nvSpPr>
            <p:cNvPr id="1258" name="Find matrix 0-5">
              <a:extLst>
                <a:ext uri="{FF2B5EF4-FFF2-40B4-BE49-F238E27FC236}">
                  <a16:creationId xmlns:a16="http://schemas.microsoft.com/office/drawing/2014/main" id="{EDF77049-6933-CA1B-21BD-2D261FB460F5}"/>
                </a:ext>
              </a:extLst>
            </p:cNvPr>
            <p:cNvSpPr>
              <a:spLocks noGrp="1"/>
            </p:cNvSpPr>
            <p:nvPr/>
          </p:nvSpPr>
          <p:spPr>
            <a:xfrm>
              <a:off x="10734608" y="3200400"/>
              <a:ext cx="91559" cy="70009"/>
            </a:xfrm>
            <a:prstGeom prst="rect">
              <a:avLst/>
            </a:prstGeom>
            <a:solidFill>
              <a:srgbClr val="C4DDE0"/>
            </a:solidFill>
            <a:ln w="7290">
              <a:noFill/>
            </a:ln>
          </p:spPr>
        </p:sp>
        <p:sp>
          <p:nvSpPr>
            <p:cNvPr id="1259" name="Find matrix 0-6">
              <a:extLst>
                <a:ext uri="{FF2B5EF4-FFF2-40B4-BE49-F238E27FC236}">
                  <a16:creationId xmlns:a16="http://schemas.microsoft.com/office/drawing/2014/main" id="{F24780FB-09E3-AE39-557B-018C817CABA7}"/>
                </a:ext>
              </a:extLst>
            </p:cNvPr>
            <p:cNvSpPr>
              <a:spLocks noGrp="1"/>
            </p:cNvSpPr>
            <p:nvPr/>
          </p:nvSpPr>
          <p:spPr>
            <a:xfrm>
              <a:off x="10830453" y="3200400"/>
              <a:ext cx="91559" cy="70009"/>
            </a:xfrm>
            <a:prstGeom prst="rect">
              <a:avLst/>
            </a:prstGeom>
            <a:solidFill>
              <a:srgbClr val="B6D8CC"/>
            </a:solidFill>
            <a:ln w="7290">
              <a:noFill/>
            </a:ln>
          </p:spPr>
        </p:sp>
        <p:sp>
          <p:nvSpPr>
            <p:cNvPr id="1260" name="Find matrix 0-7">
              <a:extLst>
                <a:ext uri="{FF2B5EF4-FFF2-40B4-BE49-F238E27FC236}">
                  <a16:creationId xmlns:a16="http://schemas.microsoft.com/office/drawing/2014/main" id="{69791062-44B8-8426-AAD4-DD68B1FF31BA}"/>
                </a:ext>
              </a:extLst>
            </p:cNvPr>
            <p:cNvSpPr>
              <a:spLocks noGrp="1"/>
            </p:cNvSpPr>
            <p:nvPr/>
          </p:nvSpPr>
          <p:spPr>
            <a:xfrm>
              <a:off x="10926299" y="3200400"/>
              <a:ext cx="91559" cy="70009"/>
            </a:xfrm>
            <a:prstGeom prst="rect">
              <a:avLst/>
            </a:prstGeom>
            <a:solidFill>
              <a:srgbClr val="D6E5ED"/>
            </a:solidFill>
            <a:ln w="7290">
              <a:noFill/>
            </a:ln>
          </p:spPr>
        </p:sp>
        <p:sp>
          <p:nvSpPr>
            <p:cNvPr id="1261" name="Find matrix 1-0">
              <a:extLst>
                <a:ext uri="{FF2B5EF4-FFF2-40B4-BE49-F238E27FC236}">
                  <a16:creationId xmlns:a16="http://schemas.microsoft.com/office/drawing/2014/main" id="{DAD773D5-9108-C0B7-81D5-AC1CF98B49B0}"/>
                </a:ext>
              </a:extLst>
            </p:cNvPr>
            <p:cNvSpPr>
              <a:spLocks noGrp="1"/>
            </p:cNvSpPr>
            <p:nvPr/>
          </p:nvSpPr>
          <p:spPr>
            <a:xfrm>
              <a:off x="10255382" y="3274695"/>
              <a:ext cx="91559" cy="70009"/>
            </a:xfrm>
            <a:prstGeom prst="rect">
              <a:avLst/>
            </a:prstGeom>
            <a:solidFill>
              <a:srgbClr val="A3CDDA"/>
            </a:solidFill>
            <a:ln w="7290">
              <a:noFill/>
            </a:ln>
          </p:spPr>
        </p:sp>
        <p:sp>
          <p:nvSpPr>
            <p:cNvPr id="1262" name="Find matrix 1-1">
              <a:extLst>
                <a:ext uri="{FF2B5EF4-FFF2-40B4-BE49-F238E27FC236}">
                  <a16:creationId xmlns:a16="http://schemas.microsoft.com/office/drawing/2014/main" id="{FD6D65E0-3CD4-81C9-A7EC-EE4D1EA03DA1}"/>
                </a:ext>
              </a:extLst>
            </p:cNvPr>
            <p:cNvSpPr>
              <a:spLocks noGrp="1"/>
            </p:cNvSpPr>
            <p:nvPr/>
          </p:nvSpPr>
          <p:spPr>
            <a:xfrm>
              <a:off x="10351227" y="3274695"/>
              <a:ext cx="91559" cy="70009"/>
            </a:xfrm>
            <a:prstGeom prst="rect">
              <a:avLst/>
            </a:prstGeom>
            <a:solidFill>
              <a:srgbClr val="B6D8CC"/>
            </a:solidFill>
            <a:ln w="7290">
              <a:noFill/>
            </a:ln>
          </p:spPr>
        </p:sp>
        <p:sp>
          <p:nvSpPr>
            <p:cNvPr id="1263" name="Find matrix 1-2">
              <a:extLst>
                <a:ext uri="{FF2B5EF4-FFF2-40B4-BE49-F238E27FC236}">
                  <a16:creationId xmlns:a16="http://schemas.microsoft.com/office/drawing/2014/main" id="{C06E5EF8-D1B9-1DB5-4010-25CDECE16DF3}"/>
                </a:ext>
              </a:extLst>
            </p:cNvPr>
            <p:cNvSpPr>
              <a:spLocks noGrp="1"/>
            </p:cNvSpPr>
            <p:nvPr/>
          </p:nvSpPr>
          <p:spPr>
            <a:xfrm>
              <a:off x="10447072" y="3274695"/>
              <a:ext cx="91559" cy="70009"/>
            </a:xfrm>
            <a:prstGeom prst="rect">
              <a:avLst/>
            </a:prstGeom>
            <a:solidFill>
              <a:srgbClr val="88BEC3"/>
            </a:solidFill>
            <a:ln w="7290">
              <a:noFill/>
            </a:ln>
          </p:spPr>
        </p:sp>
        <p:sp>
          <p:nvSpPr>
            <p:cNvPr id="1264" name="Find matrix 1-3">
              <a:extLst>
                <a:ext uri="{FF2B5EF4-FFF2-40B4-BE49-F238E27FC236}">
                  <a16:creationId xmlns:a16="http://schemas.microsoft.com/office/drawing/2014/main" id="{9AD5706A-D366-481E-242D-C3727EE68292}"/>
                </a:ext>
              </a:extLst>
            </p:cNvPr>
            <p:cNvSpPr>
              <a:spLocks noGrp="1"/>
            </p:cNvSpPr>
            <p:nvPr/>
          </p:nvSpPr>
          <p:spPr>
            <a:xfrm>
              <a:off x="10542917" y="3274695"/>
              <a:ext cx="91559" cy="70009"/>
            </a:xfrm>
            <a:prstGeom prst="rect">
              <a:avLst/>
            </a:prstGeom>
            <a:solidFill>
              <a:srgbClr val="D6E5ED"/>
            </a:solidFill>
            <a:ln w="7290">
              <a:noFill/>
            </a:ln>
          </p:spPr>
        </p:sp>
        <p:sp>
          <p:nvSpPr>
            <p:cNvPr id="1265" name="Find matrix 1-4">
              <a:extLst>
                <a:ext uri="{FF2B5EF4-FFF2-40B4-BE49-F238E27FC236}">
                  <a16:creationId xmlns:a16="http://schemas.microsoft.com/office/drawing/2014/main" id="{6454B603-2435-1F3E-EFE1-9F3ED69FE183}"/>
                </a:ext>
              </a:extLst>
            </p:cNvPr>
            <p:cNvSpPr>
              <a:spLocks noGrp="1"/>
            </p:cNvSpPr>
            <p:nvPr/>
          </p:nvSpPr>
          <p:spPr>
            <a:xfrm>
              <a:off x="10638763" y="3274695"/>
              <a:ext cx="91559" cy="70009"/>
            </a:xfrm>
            <a:prstGeom prst="rect">
              <a:avLst/>
            </a:prstGeom>
            <a:solidFill>
              <a:srgbClr val="5B9FB6"/>
            </a:solidFill>
            <a:ln w="7290">
              <a:noFill/>
            </a:ln>
          </p:spPr>
        </p:sp>
        <p:sp>
          <p:nvSpPr>
            <p:cNvPr id="1266" name="Find matrix 1-5">
              <a:extLst>
                <a:ext uri="{FF2B5EF4-FFF2-40B4-BE49-F238E27FC236}">
                  <a16:creationId xmlns:a16="http://schemas.microsoft.com/office/drawing/2014/main" id="{BDC3058F-5BB6-EF0A-C0E4-8FFF478A86C2}"/>
                </a:ext>
              </a:extLst>
            </p:cNvPr>
            <p:cNvSpPr>
              <a:spLocks noGrp="1"/>
            </p:cNvSpPr>
            <p:nvPr/>
          </p:nvSpPr>
          <p:spPr>
            <a:xfrm>
              <a:off x="10734608" y="3274695"/>
              <a:ext cx="91559" cy="70009"/>
            </a:xfrm>
            <a:prstGeom prst="rect">
              <a:avLst/>
            </a:prstGeom>
            <a:solidFill>
              <a:srgbClr val="3E8F9A"/>
            </a:solidFill>
            <a:ln w="7290">
              <a:noFill/>
            </a:ln>
          </p:spPr>
        </p:sp>
        <p:sp>
          <p:nvSpPr>
            <p:cNvPr id="1267" name="Find matrix 1-6">
              <a:extLst>
                <a:ext uri="{FF2B5EF4-FFF2-40B4-BE49-F238E27FC236}">
                  <a16:creationId xmlns:a16="http://schemas.microsoft.com/office/drawing/2014/main" id="{7A6FD57F-2D4A-E860-6015-70841E18A307}"/>
                </a:ext>
              </a:extLst>
            </p:cNvPr>
            <p:cNvSpPr>
              <a:spLocks noGrp="1"/>
            </p:cNvSpPr>
            <p:nvPr/>
          </p:nvSpPr>
          <p:spPr>
            <a:xfrm>
              <a:off x="10830453" y="3274695"/>
              <a:ext cx="91559" cy="70009"/>
            </a:xfrm>
            <a:prstGeom prst="rect">
              <a:avLst/>
            </a:prstGeom>
            <a:solidFill>
              <a:srgbClr val="C4DDE0"/>
            </a:solidFill>
            <a:ln w="7290">
              <a:noFill/>
            </a:ln>
          </p:spPr>
        </p:sp>
        <p:sp>
          <p:nvSpPr>
            <p:cNvPr id="1268" name="Find matrix 1-7">
              <a:extLst>
                <a:ext uri="{FF2B5EF4-FFF2-40B4-BE49-F238E27FC236}">
                  <a16:creationId xmlns:a16="http://schemas.microsoft.com/office/drawing/2014/main" id="{289EF4F7-DDB6-5545-39F7-5D1B3F86D2D3}"/>
                </a:ext>
              </a:extLst>
            </p:cNvPr>
            <p:cNvSpPr>
              <a:spLocks noGrp="1"/>
            </p:cNvSpPr>
            <p:nvPr/>
          </p:nvSpPr>
          <p:spPr>
            <a:xfrm>
              <a:off x="10926299" y="3274695"/>
              <a:ext cx="91559" cy="70009"/>
            </a:xfrm>
            <a:prstGeom prst="rect">
              <a:avLst/>
            </a:prstGeom>
            <a:solidFill>
              <a:srgbClr val="67AD9F"/>
            </a:solidFill>
            <a:ln w="7290">
              <a:noFill/>
            </a:ln>
          </p:spPr>
        </p:sp>
        <p:sp>
          <p:nvSpPr>
            <p:cNvPr id="1269" name="Find matrix 2-0">
              <a:extLst>
                <a:ext uri="{FF2B5EF4-FFF2-40B4-BE49-F238E27FC236}">
                  <a16:creationId xmlns:a16="http://schemas.microsoft.com/office/drawing/2014/main" id="{B1282592-D5D6-9C68-2D42-3D2A0FA6458C}"/>
                </a:ext>
              </a:extLst>
            </p:cNvPr>
            <p:cNvSpPr>
              <a:spLocks noGrp="1"/>
            </p:cNvSpPr>
            <p:nvPr/>
          </p:nvSpPr>
          <p:spPr>
            <a:xfrm>
              <a:off x="10255382" y="3348990"/>
              <a:ext cx="91559" cy="70009"/>
            </a:xfrm>
            <a:prstGeom prst="rect">
              <a:avLst/>
            </a:prstGeom>
            <a:solidFill>
              <a:srgbClr val="67AD9F"/>
            </a:solidFill>
            <a:ln w="7290">
              <a:noFill/>
            </a:ln>
          </p:spPr>
        </p:sp>
        <p:sp>
          <p:nvSpPr>
            <p:cNvPr id="1270" name="Find matrix 2-1">
              <a:extLst>
                <a:ext uri="{FF2B5EF4-FFF2-40B4-BE49-F238E27FC236}">
                  <a16:creationId xmlns:a16="http://schemas.microsoft.com/office/drawing/2014/main" id="{390A8337-4744-F454-87FF-4E9BDE799C1D}"/>
                </a:ext>
              </a:extLst>
            </p:cNvPr>
            <p:cNvSpPr>
              <a:spLocks noGrp="1"/>
            </p:cNvSpPr>
            <p:nvPr/>
          </p:nvSpPr>
          <p:spPr>
            <a:xfrm>
              <a:off x="10351227" y="3348990"/>
              <a:ext cx="91559" cy="70009"/>
            </a:xfrm>
            <a:prstGeom prst="rect">
              <a:avLst/>
            </a:prstGeom>
            <a:solidFill>
              <a:srgbClr val="C4DDE0"/>
            </a:solidFill>
            <a:ln w="7290">
              <a:noFill/>
            </a:ln>
          </p:spPr>
        </p:sp>
        <p:sp>
          <p:nvSpPr>
            <p:cNvPr id="1271" name="Find matrix 2-2">
              <a:extLst>
                <a:ext uri="{FF2B5EF4-FFF2-40B4-BE49-F238E27FC236}">
                  <a16:creationId xmlns:a16="http://schemas.microsoft.com/office/drawing/2014/main" id="{F2F7291B-E14D-7E55-CC39-0366DDE36AB6}"/>
                </a:ext>
              </a:extLst>
            </p:cNvPr>
            <p:cNvSpPr>
              <a:spLocks noGrp="1"/>
            </p:cNvSpPr>
            <p:nvPr/>
          </p:nvSpPr>
          <p:spPr>
            <a:xfrm>
              <a:off x="10447072" y="3348990"/>
              <a:ext cx="91559" cy="70009"/>
            </a:xfrm>
            <a:prstGeom prst="rect">
              <a:avLst/>
            </a:prstGeom>
            <a:solidFill>
              <a:srgbClr val="5B9FB6"/>
            </a:solidFill>
            <a:ln w="7290">
              <a:noFill/>
            </a:ln>
          </p:spPr>
        </p:sp>
        <p:sp>
          <p:nvSpPr>
            <p:cNvPr id="1272" name="Find matrix 2-3">
              <a:extLst>
                <a:ext uri="{FF2B5EF4-FFF2-40B4-BE49-F238E27FC236}">
                  <a16:creationId xmlns:a16="http://schemas.microsoft.com/office/drawing/2014/main" id="{7DDB5DDB-AA90-B36F-ECCA-B3D87BDEF49C}"/>
                </a:ext>
              </a:extLst>
            </p:cNvPr>
            <p:cNvSpPr>
              <a:spLocks noGrp="1"/>
            </p:cNvSpPr>
            <p:nvPr/>
          </p:nvSpPr>
          <p:spPr>
            <a:xfrm>
              <a:off x="10542917" y="3348990"/>
              <a:ext cx="91559" cy="70009"/>
            </a:xfrm>
            <a:prstGeom prst="rect">
              <a:avLst/>
            </a:prstGeom>
            <a:solidFill>
              <a:srgbClr val="B6D8CC"/>
            </a:solidFill>
            <a:ln w="7290">
              <a:noFill/>
            </a:ln>
          </p:spPr>
        </p:sp>
        <p:sp>
          <p:nvSpPr>
            <p:cNvPr id="1273" name="Find matrix 2-4">
              <a:extLst>
                <a:ext uri="{FF2B5EF4-FFF2-40B4-BE49-F238E27FC236}">
                  <a16:creationId xmlns:a16="http://schemas.microsoft.com/office/drawing/2014/main" id="{FBF483EB-0895-E2F9-E946-2CE7B0273010}"/>
                </a:ext>
              </a:extLst>
            </p:cNvPr>
            <p:cNvSpPr>
              <a:spLocks noGrp="1"/>
            </p:cNvSpPr>
            <p:nvPr/>
          </p:nvSpPr>
          <p:spPr>
            <a:xfrm>
              <a:off x="10638763" y="3348990"/>
              <a:ext cx="91559" cy="70009"/>
            </a:xfrm>
            <a:prstGeom prst="rect">
              <a:avLst/>
            </a:prstGeom>
            <a:solidFill>
              <a:srgbClr val="3E8F9A"/>
            </a:solidFill>
            <a:ln w="7290">
              <a:noFill/>
            </a:ln>
          </p:spPr>
        </p:sp>
        <p:sp>
          <p:nvSpPr>
            <p:cNvPr id="1274" name="Find matrix 2-5">
              <a:extLst>
                <a:ext uri="{FF2B5EF4-FFF2-40B4-BE49-F238E27FC236}">
                  <a16:creationId xmlns:a16="http://schemas.microsoft.com/office/drawing/2014/main" id="{235264C0-29EF-D9B8-F0D1-9BEBBAD9D6E8}"/>
                </a:ext>
              </a:extLst>
            </p:cNvPr>
            <p:cNvSpPr>
              <a:spLocks noGrp="1"/>
            </p:cNvSpPr>
            <p:nvPr/>
          </p:nvSpPr>
          <p:spPr>
            <a:xfrm>
              <a:off x="10734608" y="3348990"/>
              <a:ext cx="91559" cy="70009"/>
            </a:xfrm>
            <a:prstGeom prst="rect">
              <a:avLst/>
            </a:prstGeom>
            <a:solidFill>
              <a:srgbClr val="D6E5ED"/>
            </a:solidFill>
            <a:ln w="7290">
              <a:noFill/>
            </a:ln>
          </p:spPr>
        </p:sp>
        <p:sp>
          <p:nvSpPr>
            <p:cNvPr id="1275" name="Find matrix 2-6">
              <a:extLst>
                <a:ext uri="{FF2B5EF4-FFF2-40B4-BE49-F238E27FC236}">
                  <a16:creationId xmlns:a16="http://schemas.microsoft.com/office/drawing/2014/main" id="{89BB4142-622C-474C-899B-E7C760EA5054}"/>
                </a:ext>
              </a:extLst>
            </p:cNvPr>
            <p:cNvSpPr>
              <a:spLocks noGrp="1"/>
            </p:cNvSpPr>
            <p:nvPr/>
          </p:nvSpPr>
          <p:spPr>
            <a:xfrm>
              <a:off x="10830453" y="3348990"/>
              <a:ext cx="91559" cy="70009"/>
            </a:xfrm>
            <a:prstGeom prst="rect">
              <a:avLst/>
            </a:prstGeom>
            <a:solidFill>
              <a:srgbClr val="88BEC3"/>
            </a:solidFill>
            <a:ln w="7290">
              <a:noFill/>
            </a:ln>
          </p:spPr>
        </p:sp>
        <p:sp>
          <p:nvSpPr>
            <p:cNvPr id="1276" name="Find matrix 2-7">
              <a:extLst>
                <a:ext uri="{FF2B5EF4-FFF2-40B4-BE49-F238E27FC236}">
                  <a16:creationId xmlns:a16="http://schemas.microsoft.com/office/drawing/2014/main" id="{6D2284D9-4AE6-02DD-AA99-C88ED825A8F4}"/>
                </a:ext>
              </a:extLst>
            </p:cNvPr>
            <p:cNvSpPr>
              <a:spLocks noGrp="1"/>
            </p:cNvSpPr>
            <p:nvPr/>
          </p:nvSpPr>
          <p:spPr>
            <a:xfrm>
              <a:off x="10926299" y="3348990"/>
              <a:ext cx="91559" cy="70009"/>
            </a:xfrm>
            <a:prstGeom prst="rect">
              <a:avLst/>
            </a:prstGeom>
            <a:solidFill>
              <a:srgbClr val="A3CDDA"/>
            </a:solidFill>
            <a:ln w="7290">
              <a:noFill/>
            </a:ln>
          </p:spPr>
        </p:sp>
        <p:sp>
          <p:nvSpPr>
            <p:cNvPr id="1277" name="Find matrix 3-0">
              <a:extLst>
                <a:ext uri="{FF2B5EF4-FFF2-40B4-BE49-F238E27FC236}">
                  <a16:creationId xmlns:a16="http://schemas.microsoft.com/office/drawing/2014/main" id="{A354350A-00E7-4344-FF84-5BBF2165CEDA}"/>
                </a:ext>
              </a:extLst>
            </p:cNvPr>
            <p:cNvSpPr>
              <a:spLocks noGrp="1"/>
            </p:cNvSpPr>
            <p:nvPr/>
          </p:nvSpPr>
          <p:spPr>
            <a:xfrm>
              <a:off x="10255382" y="3423285"/>
              <a:ext cx="91559" cy="70009"/>
            </a:xfrm>
            <a:prstGeom prst="rect">
              <a:avLst/>
            </a:prstGeom>
            <a:solidFill>
              <a:srgbClr val="88BEC3"/>
            </a:solidFill>
            <a:ln w="7290">
              <a:noFill/>
            </a:ln>
          </p:spPr>
        </p:sp>
        <p:sp>
          <p:nvSpPr>
            <p:cNvPr id="1278" name="Find matrix 3-1">
              <a:extLst>
                <a:ext uri="{FF2B5EF4-FFF2-40B4-BE49-F238E27FC236}">
                  <a16:creationId xmlns:a16="http://schemas.microsoft.com/office/drawing/2014/main" id="{E2EDFAC2-C5CD-2DF8-165C-4DBC9D98B449}"/>
                </a:ext>
              </a:extLst>
            </p:cNvPr>
            <p:cNvSpPr>
              <a:spLocks noGrp="1"/>
            </p:cNvSpPr>
            <p:nvPr/>
          </p:nvSpPr>
          <p:spPr>
            <a:xfrm>
              <a:off x="10351227" y="3423285"/>
              <a:ext cx="91559" cy="70009"/>
            </a:xfrm>
            <a:prstGeom prst="rect">
              <a:avLst/>
            </a:prstGeom>
            <a:solidFill>
              <a:srgbClr val="D6E5ED"/>
            </a:solidFill>
            <a:ln w="7290">
              <a:noFill/>
            </a:ln>
          </p:spPr>
        </p:sp>
        <p:sp>
          <p:nvSpPr>
            <p:cNvPr id="1279" name="Find matrix 3-2">
              <a:extLst>
                <a:ext uri="{FF2B5EF4-FFF2-40B4-BE49-F238E27FC236}">
                  <a16:creationId xmlns:a16="http://schemas.microsoft.com/office/drawing/2014/main" id="{4D088869-EB59-E1B3-59B4-C3C92C8170BA}"/>
                </a:ext>
              </a:extLst>
            </p:cNvPr>
            <p:cNvSpPr>
              <a:spLocks noGrp="1"/>
            </p:cNvSpPr>
            <p:nvPr/>
          </p:nvSpPr>
          <p:spPr>
            <a:xfrm>
              <a:off x="10447072" y="3423285"/>
              <a:ext cx="91559" cy="70009"/>
            </a:xfrm>
            <a:prstGeom prst="rect">
              <a:avLst/>
            </a:prstGeom>
            <a:solidFill>
              <a:srgbClr val="67AD9F"/>
            </a:solidFill>
            <a:ln w="7290">
              <a:noFill/>
            </a:ln>
          </p:spPr>
        </p:sp>
        <p:sp>
          <p:nvSpPr>
            <p:cNvPr id="1280" name="Find matrix 3-3">
              <a:extLst>
                <a:ext uri="{FF2B5EF4-FFF2-40B4-BE49-F238E27FC236}">
                  <a16:creationId xmlns:a16="http://schemas.microsoft.com/office/drawing/2014/main" id="{119CBCB9-6860-7DCC-AF73-C422647EEF23}"/>
                </a:ext>
              </a:extLst>
            </p:cNvPr>
            <p:cNvSpPr>
              <a:spLocks noGrp="1"/>
            </p:cNvSpPr>
            <p:nvPr/>
          </p:nvSpPr>
          <p:spPr>
            <a:xfrm>
              <a:off x="10542917" y="3423285"/>
              <a:ext cx="91559" cy="70009"/>
            </a:xfrm>
            <a:prstGeom prst="rect">
              <a:avLst/>
            </a:prstGeom>
            <a:solidFill>
              <a:srgbClr val="3E8F9A"/>
            </a:solidFill>
            <a:ln w="7290">
              <a:noFill/>
            </a:ln>
          </p:spPr>
        </p:sp>
        <p:sp>
          <p:nvSpPr>
            <p:cNvPr id="1281" name="Find matrix 3-4">
              <a:extLst>
                <a:ext uri="{FF2B5EF4-FFF2-40B4-BE49-F238E27FC236}">
                  <a16:creationId xmlns:a16="http://schemas.microsoft.com/office/drawing/2014/main" id="{F0ED964A-EDEB-7D43-69F8-BEFE576D1277}"/>
                </a:ext>
              </a:extLst>
            </p:cNvPr>
            <p:cNvSpPr>
              <a:spLocks noGrp="1"/>
            </p:cNvSpPr>
            <p:nvPr/>
          </p:nvSpPr>
          <p:spPr>
            <a:xfrm>
              <a:off x="10638763" y="3423285"/>
              <a:ext cx="91559" cy="70009"/>
            </a:xfrm>
            <a:prstGeom prst="rect">
              <a:avLst/>
            </a:prstGeom>
            <a:solidFill>
              <a:srgbClr val="C4DDE0"/>
            </a:solidFill>
            <a:ln w="7290">
              <a:noFill/>
            </a:ln>
          </p:spPr>
        </p:sp>
        <p:sp>
          <p:nvSpPr>
            <p:cNvPr id="1282" name="Find matrix 3-5">
              <a:extLst>
                <a:ext uri="{FF2B5EF4-FFF2-40B4-BE49-F238E27FC236}">
                  <a16:creationId xmlns:a16="http://schemas.microsoft.com/office/drawing/2014/main" id="{A0A2A64A-E67D-3395-0409-F2703179F7EC}"/>
                </a:ext>
              </a:extLst>
            </p:cNvPr>
            <p:cNvSpPr>
              <a:spLocks noGrp="1"/>
            </p:cNvSpPr>
            <p:nvPr/>
          </p:nvSpPr>
          <p:spPr>
            <a:xfrm>
              <a:off x="10734608" y="3423285"/>
              <a:ext cx="91559" cy="70009"/>
            </a:xfrm>
            <a:prstGeom prst="rect">
              <a:avLst/>
            </a:prstGeom>
            <a:solidFill>
              <a:srgbClr val="A3CDDA"/>
            </a:solidFill>
            <a:ln w="7290">
              <a:noFill/>
            </a:ln>
          </p:spPr>
        </p:sp>
        <p:sp>
          <p:nvSpPr>
            <p:cNvPr id="1283" name="Find matrix 3-6">
              <a:extLst>
                <a:ext uri="{FF2B5EF4-FFF2-40B4-BE49-F238E27FC236}">
                  <a16:creationId xmlns:a16="http://schemas.microsoft.com/office/drawing/2014/main" id="{EA7CE8E7-C1AC-E261-A970-8EC80886D558}"/>
                </a:ext>
              </a:extLst>
            </p:cNvPr>
            <p:cNvSpPr>
              <a:spLocks noGrp="1"/>
            </p:cNvSpPr>
            <p:nvPr/>
          </p:nvSpPr>
          <p:spPr>
            <a:xfrm>
              <a:off x="10830453" y="3423285"/>
              <a:ext cx="91559" cy="70009"/>
            </a:xfrm>
            <a:prstGeom prst="rect">
              <a:avLst/>
            </a:prstGeom>
            <a:solidFill>
              <a:srgbClr val="B6D8CC"/>
            </a:solidFill>
            <a:ln w="7290">
              <a:noFill/>
            </a:ln>
          </p:spPr>
        </p:sp>
        <p:sp>
          <p:nvSpPr>
            <p:cNvPr id="1284" name="Find matrix 3-7">
              <a:extLst>
                <a:ext uri="{FF2B5EF4-FFF2-40B4-BE49-F238E27FC236}">
                  <a16:creationId xmlns:a16="http://schemas.microsoft.com/office/drawing/2014/main" id="{3CC5802F-96A8-F327-8DCD-5C642BB94DCE}"/>
                </a:ext>
              </a:extLst>
            </p:cNvPr>
            <p:cNvSpPr>
              <a:spLocks noGrp="1"/>
            </p:cNvSpPr>
            <p:nvPr/>
          </p:nvSpPr>
          <p:spPr>
            <a:xfrm>
              <a:off x="10926299" y="3423285"/>
              <a:ext cx="91559" cy="70009"/>
            </a:xfrm>
            <a:prstGeom prst="rect">
              <a:avLst/>
            </a:prstGeom>
            <a:solidFill>
              <a:srgbClr val="5B9FB6"/>
            </a:solidFill>
            <a:ln w="7290">
              <a:noFill/>
            </a:ln>
          </p:spPr>
        </p:sp>
        <p:sp>
          <p:nvSpPr>
            <p:cNvPr id="1285" name="Match matrix 0-0">
              <a:extLst>
                <a:ext uri="{FF2B5EF4-FFF2-40B4-BE49-F238E27FC236}">
                  <a16:creationId xmlns:a16="http://schemas.microsoft.com/office/drawing/2014/main" id="{1E148E3C-F1D3-F47F-36C6-42E1C579FB78}"/>
                </a:ext>
              </a:extLst>
            </p:cNvPr>
            <p:cNvSpPr>
              <a:spLocks noGrp="1"/>
            </p:cNvSpPr>
            <p:nvPr/>
          </p:nvSpPr>
          <p:spPr>
            <a:xfrm>
              <a:off x="3633156" y="7252039"/>
              <a:ext cx="88583" cy="70009"/>
            </a:xfrm>
            <a:prstGeom prst="rect">
              <a:avLst/>
            </a:prstGeom>
            <a:solidFill>
              <a:srgbClr val="3E8F9A"/>
            </a:solidFill>
            <a:ln w="7290">
              <a:noFill/>
            </a:ln>
          </p:spPr>
        </p:sp>
        <p:sp>
          <p:nvSpPr>
            <p:cNvPr id="1286" name="Match matrix 0-1">
              <a:extLst>
                <a:ext uri="{FF2B5EF4-FFF2-40B4-BE49-F238E27FC236}">
                  <a16:creationId xmlns:a16="http://schemas.microsoft.com/office/drawing/2014/main" id="{6CE95E95-35B4-AAA3-E629-B7804854BFD1}"/>
                </a:ext>
              </a:extLst>
            </p:cNvPr>
            <p:cNvSpPr>
              <a:spLocks noGrp="1"/>
            </p:cNvSpPr>
            <p:nvPr/>
          </p:nvSpPr>
          <p:spPr>
            <a:xfrm>
              <a:off x="3726025" y="7252039"/>
              <a:ext cx="88583" cy="70009"/>
            </a:xfrm>
            <a:prstGeom prst="rect">
              <a:avLst/>
            </a:prstGeom>
            <a:solidFill>
              <a:srgbClr val="5B9FB6"/>
            </a:solidFill>
            <a:ln w="7290">
              <a:noFill/>
            </a:ln>
          </p:spPr>
        </p:sp>
        <p:sp>
          <p:nvSpPr>
            <p:cNvPr id="1287" name="Match matrix 0-2">
              <a:extLst>
                <a:ext uri="{FF2B5EF4-FFF2-40B4-BE49-F238E27FC236}">
                  <a16:creationId xmlns:a16="http://schemas.microsoft.com/office/drawing/2014/main" id="{7AA444A0-2B6A-4C23-EFFA-BB0D0814FEA4}"/>
                </a:ext>
              </a:extLst>
            </p:cNvPr>
            <p:cNvSpPr>
              <a:spLocks noGrp="1"/>
            </p:cNvSpPr>
            <p:nvPr/>
          </p:nvSpPr>
          <p:spPr>
            <a:xfrm>
              <a:off x="3818894" y="7252039"/>
              <a:ext cx="88583" cy="70009"/>
            </a:xfrm>
            <a:prstGeom prst="rect">
              <a:avLst/>
            </a:prstGeom>
            <a:solidFill>
              <a:srgbClr val="A3CDDA"/>
            </a:solidFill>
            <a:ln w="7290">
              <a:noFill/>
            </a:ln>
          </p:spPr>
        </p:sp>
        <p:sp>
          <p:nvSpPr>
            <p:cNvPr id="1288" name="Match matrix 0-3">
              <a:extLst>
                <a:ext uri="{FF2B5EF4-FFF2-40B4-BE49-F238E27FC236}">
                  <a16:creationId xmlns:a16="http://schemas.microsoft.com/office/drawing/2014/main" id="{FA614244-906C-CFFC-1294-6D233D01CB35}"/>
                </a:ext>
              </a:extLst>
            </p:cNvPr>
            <p:cNvSpPr>
              <a:spLocks noGrp="1"/>
            </p:cNvSpPr>
            <p:nvPr/>
          </p:nvSpPr>
          <p:spPr>
            <a:xfrm>
              <a:off x="3911762" y="7252039"/>
              <a:ext cx="88583" cy="70009"/>
            </a:xfrm>
            <a:prstGeom prst="rect">
              <a:avLst/>
            </a:prstGeom>
            <a:solidFill>
              <a:srgbClr val="88BEC3"/>
            </a:solidFill>
            <a:ln w="7290">
              <a:noFill/>
            </a:ln>
          </p:spPr>
        </p:sp>
        <p:sp>
          <p:nvSpPr>
            <p:cNvPr id="1289" name="Match matrix 0-4">
              <a:extLst>
                <a:ext uri="{FF2B5EF4-FFF2-40B4-BE49-F238E27FC236}">
                  <a16:creationId xmlns:a16="http://schemas.microsoft.com/office/drawing/2014/main" id="{EE4A1296-1DD3-454F-610D-2BDEB1D0EFA9}"/>
                </a:ext>
              </a:extLst>
            </p:cNvPr>
            <p:cNvSpPr>
              <a:spLocks noGrp="1"/>
            </p:cNvSpPr>
            <p:nvPr/>
          </p:nvSpPr>
          <p:spPr>
            <a:xfrm>
              <a:off x="4004631" y="7252039"/>
              <a:ext cx="88583" cy="70009"/>
            </a:xfrm>
            <a:prstGeom prst="rect">
              <a:avLst/>
            </a:prstGeom>
            <a:solidFill>
              <a:srgbClr val="67AD9F"/>
            </a:solidFill>
            <a:ln w="7290">
              <a:noFill/>
            </a:ln>
          </p:spPr>
        </p:sp>
        <p:sp>
          <p:nvSpPr>
            <p:cNvPr id="1290" name="Match matrix 0-5">
              <a:extLst>
                <a:ext uri="{FF2B5EF4-FFF2-40B4-BE49-F238E27FC236}">
                  <a16:creationId xmlns:a16="http://schemas.microsoft.com/office/drawing/2014/main" id="{A27DCA6A-D9A0-89D2-300F-145A0353541B}"/>
                </a:ext>
              </a:extLst>
            </p:cNvPr>
            <p:cNvSpPr>
              <a:spLocks noGrp="1"/>
            </p:cNvSpPr>
            <p:nvPr/>
          </p:nvSpPr>
          <p:spPr>
            <a:xfrm>
              <a:off x="4097500" y="7252039"/>
              <a:ext cx="88583" cy="70009"/>
            </a:xfrm>
            <a:prstGeom prst="rect">
              <a:avLst/>
            </a:prstGeom>
            <a:solidFill>
              <a:srgbClr val="C4DDE0"/>
            </a:solidFill>
            <a:ln w="7290">
              <a:noFill/>
            </a:ln>
          </p:spPr>
        </p:sp>
        <p:sp>
          <p:nvSpPr>
            <p:cNvPr id="1291" name="Match matrix 0-6">
              <a:extLst>
                <a:ext uri="{FF2B5EF4-FFF2-40B4-BE49-F238E27FC236}">
                  <a16:creationId xmlns:a16="http://schemas.microsoft.com/office/drawing/2014/main" id="{110481AC-0BB3-A98A-15F4-6DA00B6462E6}"/>
                </a:ext>
              </a:extLst>
            </p:cNvPr>
            <p:cNvSpPr>
              <a:spLocks noGrp="1"/>
            </p:cNvSpPr>
            <p:nvPr/>
          </p:nvSpPr>
          <p:spPr>
            <a:xfrm>
              <a:off x="4190369" y="7252039"/>
              <a:ext cx="88583" cy="70009"/>
            </a:xfrm>
            <a:prstGeom prst="rect">
              <a:avLst/>
            </a:prstGeom>
            <a:solidFill>
              <a:srgbClr val="B6D8CC"/>
            </a:solidFill>
            <a:ln w="7290">
              <a:noFill/>
            </a:ln>
          </p:spPr>
        </p:sp>
        <p:sp>
          <p:nvSpPr>
            <p:cNvPr id="1292" name="Match matrix 0-7">
              <a:extLst>
                <a:ext uri="{FF2B5EF4-FFF2-40B4-BE49-F238E27FC236}">
                  <a16:creationId xmlns:a16="http://schemas.microsoft.com/office/drawing/2014/main" id="{CA0FE5FF-20F8-A515-1575-D2B579C6A384}"/>
                </a:ext>
              </a:extLst>
            </p:cNvPr>
            <p:cNvSpPr>
              <a:spLocks noGrp="1"/>
            </p:cNvSpPr>
            <p:nvPr/>
          </p:nvSpPr>
          <p:spPr>
            <a:xfrm>
              <a:off x="4283237" y="7252039"/>
              <a:ext cx="88583" cy="70009"/>
            </a:xfrm>
            <a:prstGeom prst="rect">
              <a:avLst/>
            </a:prstGeom>
            <a:solidFill>
              <a:srgbClr val="D6E5ED"/>
            </a:solidFill>
            <a:ln w="7290">
              <a:noFill/>
            </a:ln>
          </p:spPr>
        </p:sp>
        <p:sp>
          <p:nvSpPr>
            <p:cNvPr id="1293" name="Match matrix 1-0">
              <a:extLst>
                <a:ext uri="{FF2B5EF4-FFF2-40B4-BE49-F238E27FC236}">
                  <a16:creationId xmlns:a16="http://schemas.microsoft.com/office/drawing/2014/main" id="{62DD97DC-E1EF-3AC8-77C6-31E750CF1688}"/>
                </a:ext>
              </a:extLst>
            </p:cNvPr>
            <p:cNvSpPr>
              <a:spLocks noGrp="1"/>
            </p:cNvSpPr>
            <p:nvPr/>
          </p:nvSpPr>
          <p:spPr>
            <a:xfrm>
              <a:off x="3633156" y="7326334"/>
              <a:ext cx="88583" cy="70009"/>
            </a:xfrm>
            <a:prstGeom prst="rect">
              <a:avLst/>
            </a:prstGeom>
            <a:solidFill>
              <a:srgbClr val="A3CDDA"/>
            </a:solidFill>
            <a:ln w="7290">
              <a:noFill/>
            </a:ln>
          </p:spPr>
        </p:sp>
        <p:sp>
          <p:nvSpPr>
            <p:cNvPr id="1294" name="Match matrix 1-1">
              <a:extLst>
                <a:ext uri="{FF2B5EF4-FFF2-40B4-BE49-F238E27FC236}">
                  <a16:creationId xmlns:a16="http://schemas.microsoft.com/office/drawing/2014/main" id="{B545DCC8-F9BD-6322-3BD3-A195D0A92FFB}"/>
                </a:ext>
              </a:extLst>
            </p:cNvPr>
            <p:cNvSpPr>
              <a:spLocks noGrp="1"/>
            </p:cNvSpPr>
            <p:nvPr/>
          </p:nvSpPr>
          <p:spPr>
            <a:xfrm>
              <a:off x="3726025" y="7326334"/>
              <a:ext cx="88583" cy="70009"/>
            </a:xfrm>
            <a:prstGeom prst="rect">
              <a:avLst/>
            </a:prstGeom>
            <a:solidFill>
              <a:srgbClr val="B6D8CC"/>
            </a:solidFill>
            <a:ln w="7290">
              <a:noFill/>
            </a:ln>
          </p:spPr>
        </p:sp>
        <p:sp>
          <p:nvSpPr>
            <p:cNvPr id="1295" name="Match matrix 1-2">
              <a:extLst>
                <a:ext uri="{FF2B5EF4-FFF2-40B4-BE49-F238E27FC236}">
                  <a16:creationId xmlns:a16="http://schemas.microsoft.com/office/drawing/2014/main" id="{CA362456-65E1-995A-0618-99CCC4184C18}"/>
                </a:ext>
              </a:extLst>
            </p:cNvPr>
            <p:cNvSpPr>
              <a:spLocks noGrp="1"/>
            </p:cNvSpPr>
            <p:nvPr/>
          </p:nvSpPr>
          <p:spPr>
            <a:xfrm>
              <a:off x="3818894" y="7326334"/>
              <a:ext cx="88583" cy="70009"/>
            </a:xfrm>
            <a:prstGeom prst="rect">
              <a:avLst/>
            </a:prstGeom>
            <a:solidFill>
              <a:srgbClr val="88BEC3"/>
            </a:solidFill>
            <a:ln w="7290">
              <a:noFill/>
            </a:ln>
          </p:spPr>
        </p:sp>
        <p:sp>
          <p:nvSpPr>
            <p:cNvPr id="1296" name="Match matrix 1-3">
              <a:extLst>
                <a:ext uri="{FF2B5EF4-FFF2-40B4-BE49-F238E27FC236}">
                  <a16:creationId xmlns:a16="http://schemas.microsoft.com/office/drawing/2014/main" id="{A2C35F9E-7361-3F63-4B0D-A98BA11C6FD6}"/>
                </a:ext>
              </a:extLst>
            </p:cNvPr>
            <p:cNvSpPr>
              <a:spLocks noGrp="1"/>
            </p:cNvSpPr>
            <p:nvPr/>
          </p:nvSpPr>
          <p:spPr>
            <a:xfrm>
              <a:off x="3911762" y="7326334"/>
              <a:ext cx="88583" cy="70009"/>
            </a:xfrm>
            <a:prstGeom prst="rect">
              <a:avLst/>
            </a:prstGeom>
            <a:solidFill>
              <a:srgbClr val="D6E5ED"/>
            </a:solidFill>
            <a:ln w="7290">
              <a:noFill/>
            </a:ln>
          </p:spPr>
        </p:sp>
        <p:sp>
          <p:nvSpPr>
            <p:cNvPr id="1297" name="Match matrix 1-4">
              <a:extLst>
                <a:ext uri="{FF2B5EF4-FFF2-40B4-BE49-F238E27FC236}">
                  <a16:creationId xmlns:a16="http://schemas.microsoft.com/office/drawing/2014/main" id="{FAAA67D0-1522-17CF-8376-8D76753F582D}"/>
                </a:ext>
              </a:extLst>
            </p:cNvPr>
            <p:cNvSpPr>
              <a:spLocks noGrp="1"/>
            </p:cNvSpPr>
            <p:nvPr/>
          </p:nvSpPr>
          <p:spPr>
            <a:xfrm>
              <a:off x="4004631" y="7326334"/>
              <a:ext cx="88583" cy="70009"/>
            </a:xfrm>
            <a:prstGeom prst="rect">
              <a:avLst/>
            </a:prstGeom>
            <a:solidFill>
              <a:srgbClr val="5B9FB6"/>
            </a:solidFill>
            <a:ln w="7290">
              <a:noFill/>
            </a:ln>
          </p:spPr>
        </p:sp>
        <p:sp>
          <p:nvSpPr>
            <p:cNvPr id="1298" name="Match matrix 1-5">
              <a:extLst>
                <a:ext uri="{FF2B5EF4-FFF2-40B4-BE49-F238E27FC236}">
                  <a16:creationId xmlns:a16="http://schemas.microsoft.com/office/drawing/2014/main" id="{8EFA4585-A006-C810-377D-DBA6C87576CE}"/>
                </a:ext>
              </a:extLst>
            </p:cNvPr>
            <p:cNvSpPr>
              <a:spLocks noGrp="1"/>
            </p:cNvSpPr>
            <p:nvPr/>
          </p:nvSpPr>
          <p:spPr>
            <a:xfrm>
              <a:off x="4097500" y="7326334"/>
              <a:ext cx="88583" cy="70009"/>
            </a:xfrm>
            <a:prstGeom prst="rect">
              <a:avLst/>
            </a:prstGeom>
            <a:solidFill>
              <a:srgbClr val="3E8F9A"/>
            </a:solidFill>
            <a:ln w="7290">
              <a:noFill/>
            </a:ln>
          </p:spPr>
        </p:sp>
        <p:sp>
          <p:nvSpPr>
            <p:cNvPr id="1299" name="Match matrix 1-6">
              <a:extLst>
                <a:ext uri="{FF2B5EF4-FFF2-40B4-BE49-F238E27FC236}">
                  <a16:creationId xmlns:a16="http://schemas.microsoft.com/office/drawing/2014/main" id="{64D11889-0CF0-CA9A-1917-2BF4C8C70236}"/>
                </a:ext>
              </a:extLst>
            </p:cNvPr>
            <p:cNvSpPr>
              <a:spLocks noGrp="1"/>
            </p:cNvSpPr>
            <p:nvPr/>
          </p:nvSpPr>
          <p:spPr>
            <a:xfrm>
              <a:off x="4190369" y="7326334"/>
              <a:ext cx="88583" cy="70009"/>
            </a:xfrm>
            <a:prstGeom prst="rect">
              <a:avLst/>
            </a:prstGeom>
            <a:solidFill>
              <a:srgbClr val="C4DDE0"/>
            </a:solidFill>
            <a:ln w="7290">
              <a:noFill/>
            </a:ln>
          </p:spPr>
        </p:sp>
        <p:sp>
          <p:nvSpPr>
            <p:cNvPr id="1300" name="Match matrix 1-7">
              <a:extLst>
                <a:ext uri="{FF2B5EF4-FFF2-40B4-BE49-F238E27FC236}">
                  <a16:creationId xmlns:a16="http://schemas.microsoft.com/office/drawing/2014/main" id="{188B5773-F5C9-7D4C-8152-FA7D9B627789}"/>
                </a:ext>
              </a:extLst>
            </p:cNvPr>
            <p:cNvSpPr>
              <a:spLocks noGrp="1"/>
            </p:cNvSpPr>
            <p:nvPr/>
          </p:nvSpPr>
          <p:spPr>
            <a:xfrm>
              <a:off x="4283237" y="7326334"/>
              <a:ext cx="88583" cy="70009"/>
            </a:xfrm>
            <a:prstGeom prst="rect">
              <a:avLst/>
            </a:prstGeom>
            <a:solidFill>
              <a:srgbClr val="67AD9F"/>
            </a:solidFill>
            <a:ln w="7290">
              <a:noFill/>
            </a:ln>
          </p:spPr>
        </p:sp>
        <p:sp>
          <p:nvSpPr>
            <p:cNvPr id="1301" name="Match matrix 2-0">
              <a:extLst>
                <a:ext uri="{FF2B5EF4-FFF2-40B4-BE49-F238E27FC236}">
                  <a16:creationId xmlns:a16="http://schemas.microsoft.com/office/drawing/2014/main" id="{BBF02AFB-8489-0057-17C0-1186E4D7244F}"/>
                </a:ext>
              </a:extLst>
            </p:cNvPr>
            <p:cNvSpPr>
              <a:spLocks noGrp="1"/>
            </p:cNvSpPr>
            <p:nvPr/>
          </p:nvSpPr>
          <p:spPr>
            <a:xfrm>
              <a:off x="3633156" y="7400629"/>
              <a:ext cx="88583" cy="70009"/>
            </a:xfrm>
            <a:prstGeom prst="rect">
              <a:avLst/>
            </a:prstGeom>
            <a:solidFill>
              <a:srgbClr val="67AD9F"/>
            </a:solidFill>
            <a:ln w="7290">
              <a:noFill/>
            </a:ln>
          </p:spPr>
        </p:sp>
        <p:sp>
          <p:nvSpPr>
            <p:cNvPr id="1302" name="Match matrix 2-1">
              <a:extLst>
                <a:ext uri="{FF2B5EF4-FFF2-40B4-BE49-F238E27FC236}">
                  <a16:creationId xmlns:a16="http://schemas.microsoft.com/office/drawing/2014/main" id="{4D1F1E41-46E5-997B-A9A2-D4A7E86A821C}"/>
                </a:ext>
              </a:extLst>
            </p:cNvPr>
            <p:cNvSpPr>
              <a:spLocks noGrp="1"/>
            </p:cNvSpPr>
            <p:nvPr/>
          </p:nvSpPr>
          <p:spPr>
            <a:xfrm>
              <a:off x="3726025" y="7400629"/>
              <a:ext cx="88583" cy="70009"/>
            </a:xfrm>
            <a:prstGeom prst="rect">
              <a:avLst/>
            </a:prstGeom>
            <a:solidFill>
              <a:srgbClr val="C4DDE0"/>
            </a:solidFill>
            <a:ln w="7290">
              <a:noFill/>
            </a:ln>
          </p:spPr>
        </p:sp>
        <p:sp>
          <p:nvSpPr>
            <p:cNvPr id="1303" name="Match matrix 2-2">
              <a:extLst>
                <a:ext uri="{FF2B5EF4-FFF2-40B4-BE49-F238E27FC236}">
                  <a16:creationId xmlns:a16="http://schemas.microsoft.com/office/drawing/2014/main" id="{BDC0B5DB-1FDB-9192-A8A8-9F9E9FC2CF48}"/>
                </a:ext>
              </a:extLst>
            </p:cNvPr>
            <p:cNvSpPr>
              <a:spLocks noGrp="1"/>
            </p:cNvSpPr>
            <p:nvPr/>
          </p:nvSpPr>
          <p:spPr>
            <a:xfrm>
              <a:off x="3818894" y="7400629"/>
              <a:ext cx="88583" cy="70009"/>
            </a:xfrm>
            <a:prstGeom prst="rect">
              <a:avLst/>
            </a:prstGeom>
            <a:solidFill>
              <a:srgbClr val="5B9FB6"/>
            </a:solidFill>
            <a:ln w="7290">
              <a:noFill/>
            </a:ln>
          </p:spPr>
        </p:sp>
        <p:sp>
          <p:nvSpPr>
            <p:cNvPr id="1304" name="Match matrix 2-3">
              <a:extLst>
                <a:ext uri="{FF2B5EF4-FFF2-40B4-BE49-F238E27FC236}">
                  <a16:creationId xmlns:a16="http://schemas.microsoft.com/office/drawing/2014/main" id="{9C663294-FCA2-F8DE-2AEC-EEF54C48921A}"/>
                </a:ext>
              </a:extLst>
            </p:cNvPr>
            <p:cNvSpPr>
              <a:spLocks noGrp="1"/>
            </p:cNvSpPr>
            <p:nvPr/>
          </p:nvSpPr>
          <p:spPr>
            <a:xfrm>
              <a:off x="3911762" y="7400629"/>
              <a:ext cx="88583" cy="70009"/>
            </a:xfrm>
            <a:prstGeom prst="rect">
              <a:avLst/>
            </a:prstGeom>
            <a:solidFill>
              <a:srgbClr val="B6D8CC"/>
            </a:solidFill>
            <a:ln w="7290">
              <a:noFill/>
            </a:ln>
          </p:spPr>
        </p:sp>
        <p:sp>
          <p:nvSpPr>
            <p:cNvPr id="1305" name="Match matrix 2-4">
              <a:extLst>
                <a:ext uri="{FF2B5EF4-FFF2-40B4-BE49-F238E27FC236}">
                  <a16:creationId xmlns:a16="http://schemas.microsoft.com/office/drawing/2014/main" id="{28E76182-0A60-4A72-9586-C12459BE0B58}"/>
                </a:ext>
              </a:extLst>
            </p:cNvPr>
            <p:cNvSpPr>
              <a:spLocks noGrp="1"/>
            </p:cNvSpPr>
            <p:nvPr/>
          </p:nvSpPr>
          <p:spPr>
            <a:xfrm>
              <a:off x="4004631" y="7400629"/>
              <a:ext cx="88583" cy="70009"/>
            </a:xfrm>
            <a:prstGeom prst="rect">
              <a:avLst/>
            </a:prstGeom>
            <a:solidFill>
              <a:srgbClr val="3E8F9A"/>
            </a:solidFill>
            <a:ln w="7290">
              <a:noFill/>
            </a:ln>
          </p:spPr>
        </p:sp>
        <p:sp>
          <p:nvSpPr>
            <p:cNvPr id="1306" name="Match matrix 2-5">
              <a:extLst>
                <a:ext uri="{FF2B5EF4-FFF2-40B4-BE49-F238E27FC236}">
                  <a16:creationId xmlns:a16="http://schemas.microsoft.com/office/drawing/2014/main" id="{29FC68A5-EB54-9596-85EC-EDC1175B056F}"/>
                </a:ext>
              </a:extLst>
            </p:cNvPr>
            <p:cNvSpPr>
              <a:spLocks noGrp="1"/>
            </p:cNvSpPr>
            <p:nvPr/>
          </p:nvSpPr>
          <p:spPr>
            <a:xfrm>
              <a:off x="4097500" y="7400629"/>
              <a:ext cx="88583" cy="70009"/>
            </a:xfrm>
            <a:prstGeom prst="rect">
              <a:avLst/>
            </a:prstGeom>
            <a:solidFill>
              <a:srgbClr val="D6E5ED"/>
            </a:solidFill>
            <a:ln w="7290">
              <a:noFill/>
            </a:ln>
          </p:spPr>
        </p:sp>
        <p:sp>
          <p:nvSpPr>
            <p:cNvPr id="1307" name="Match matrix 2-6">
              <a:extLst>
                <a:ext uri="{FF2B5EF4-FFF2-40B4-BE49-F238E27FC236}">
                  <a16:creationId xmlns:a16="http://schemas.microsoft.com/office/drawing/2014/main" id="{59C9C8C5-D90A-7A02-93D3-957FE3AE7DC3}"/>
                </a:ext>
              </a:extLst>
            </p:cNvPr>
            <p:cNvSpPr>
              <a:spLocks noGrp="1"/>
            </p:cNvSpPr>
            <p:nvPr/>
          </p:nvSpPr>
          <p:spPr>
            <a:xfrm>
              <a:off x="4190369" y="7400629"/>
              <a:ext cx="88583" cy="70009"/>
            </a:xfrm>
            <a:prstGeom prst="rect">
              <a:avLst/>
            </a:prstGeom>
            <a:solidFill>
              <a:srgbClr val="88BEC3"/>
            </a:solidFill>
            <a:ln w="7290">
              <a:noFill/>
            </a:ln>
          </p:spPr>
        </p:sp>
        <p:sp>
          <p:nvSpPr>
            <p:cNvPr id="1308" name="Match matrix 2-7">
              <a:extLst>
                <a:ext uri="{FF2B5EF4-FFF2-40B4-BE49-F238E27FC236}">
                  <a16:creationId xmlns:a16="http://schemas.microsoft.com/office/drawing/2014/main" id="{83DFB888-0521-0863-270C-DBAF169C149A}"/>
                </a:ext>
              </a:extLst>
            </p:cNvPr>
            <p:cNvSpPr>
              <a:spLocks noGrp="1"/>
            </p:cNvSpPr>
            <p:nvPr/>
          </p:nvSpPr>
          <p:spPr>
            <a:xfrm>
              <a:off x="4283237" y="7400629"/>
              <a:ext cx="88583" cy="70009"/>
            </a:xfrm>
            <a:prstGeom prst="rect">
              <a:avLst/>
            </a:prstGeom>
            <a:solidFill>
              <a:srgbClr val="A3CDDA"/>
            </a:solidFill>
            <a:ln w="7290">
              <a:noFill/>
            </a:ln>
          </p:spPr>
        </p:sp>
        <p:sp>
          <p:nvSpPr>
            <p:cNvPr id="1309" name="Match matrix 3-0">
              <a:extLst>
                <a:ext uri="{FF2B5EF4-FFF2-40B4-BE49-F238E27FC236}">
                  <a16:creationId xmlns:a16="http://schemas.microsoft.com/office/drawing/2014/main" id="{CDAE8F1E-742C-7BA1-EB00-87CA9B9E40A2}"/>
                </a:ext>
              </a:extLst>
            </p:cNvPr>
            <p:cNvSpPr>
              <a:spLocks noGrp="1"/>
            </p:cNvSpPr>
            <p:nvPr/>
          </p:nvSpPr>
          <p:spPr>
            <a:xfrm>
              <a:off x="3633156" y="7474924"/>
              <a:ext cx="88583" cy="70009"/>
            </a:xfrm>
            <a:prstGeom prst="rect">
              <a:avLst/>
            </a:prstGeom>
            <a:solidFill>
              <a:srgbClr val="88BEC3"/>
            </a:solidFill>
            <a:ln w="7290">
              <a:noFill/>
            </a:ln>
          </p:spPr>
        </p:sp>
        <p:sp>
          <p:nvSpPr>
            <p:cNvPr id="1310" name="Match matrix 3-1">
              <a:extLst>
                <a:ext uri="{FF2B5EF4-FFF2-40B4-BE49-F238E27FC236}">
                  <a16:creationId xmlns:a16="http://schemas.microsoft.com/office/drawing/2014/main" id="{74117986-6240-D77F-909C-522F6146D289}"/>
                </a:ext>
              </a:extLst>
            </p:cNvPr>
            <p:cNvSpPr>
              <a:spLocks noGrp="1"/>
            </p:cNvSpPr>
            <p:nvPr/>
          </p:nvSpPr>
          <p:spPr>
            <a:xfrm>
              <a:off x="3726025" y="7474924"/>
              <a:ext cx="88583" cy="70009"/>
            </a:xfrm>
            <a:prstGeom prst="rect">
              <a:avLst/>
            </a:prstGeom>
            <a:solidFill>
              <a:srgbClr val="D6E5ED"/>
            </a:solidFill>
            <a:ln w="7290">
              <a:noFill/>
            </a:ln>
          </p:spPr>
        </p:sp>
        <p:sp>
          <p:nvSpPr>
            <p:cNvPr id="1311" name="Match matrix 3-2">
              <a:extLst>
                <a:ext uri="{FF2B5EF4-FFF2-40B4-BE49-F238E27FC236}">
                  <a16:creationId xmlns:a16="http://schemas.microsoft.com/office/drawing/2014/main" id="{68BD8A38-75EC-BA37-589D-F9C3EBE804E8}"/>
                </a:ext>
              </a:extLst>
            </p:cNvPr>
            <p:cNvSpPr>
              <a:spLocks noGrp="1"/>
            </p:cNvSpPr>
            <p:nvPr/>
          </p:nvSpPr>
          <p:spPr>
            <a:xfrm>
              <a:off x="3818894" y="7474924"/>
              <a:ext cx="88583" cy="70009"/>
            </a:xfrm>
            <a:prstGeom prst="rect">
              <a:avLst/>
            </a:prstGeom>
            <a:solidFill>
              <a:srgbClr val="67AD9F"/>
            </a:solidFill>
            <a:ln w="7290">
              <a:noFill/>
            </a:ln>
          </p:spPr>
        </p:sp>
        <p:sp>
          <p:nvSpPr>
            <p:cNvPr id="1312" name="Match matrix 3-3">
              <a:extLst>
                <a:ext uri="{FF2B5EF4-FFF2-40B4-BE49-F238E27FC236}">
                  <a16:creationId xmlns:a16="http://schemas.microsoft.com/office/drawing/2014/main" id="{BA2E6B5A-7074-DCD3-8646-836425ECA4E6}"/>
                </a:ext>
              </a:extLst>
            </p:cNvPr>
            <p:cNvSpPr>
              <a:spLocks noGrp="1"/>
            </p:cNvSpPr>
            <p:nvPr/>
          </p:nvSpPr>
          <p:spPr>
            <a:xfrm>
              <a:off x="3911762" y="7474924"/>
              <a:ext cx="88583" cy="70009"/>
            </a:xfrm>
            <a:prstGeom prst="rect">
              <a:avLst/>
            </a:prstGeom>
            <a:solidFill>
              <a:srgbClr val="3E8F9A"/>
            </a:solidFill>
            <a:ln w="7290">
              <a:noFill/>
            </a:ln>
          </p:spPr>
        </p:sp>
        <p:sp>
          <p:nvSpPr>
            <p:cNvPr id="1313" name="Match matrix 3-4">
              <a:extLst>
                <a:ext uri="{FF2B5EF4-FFF2-40B4-BE49-F238E27FC236}">
                  <a16:creationId xmlns:a16="http://schemas.microsoft.com/office/drawing/2014/main" id="{E2B9FFDB-87E6-991D-6FE1-3A8ED7934F53}"/>
                </a:ext>
              </a:extLst>
            </p:cNvPr>
            <p:cNvSpPr>
              <a:spLocks noGrp="1"/>
            </p:cNvSpPr>
            <p:nvPr/>
          </p:nvSpPr>
          <p:spPr>
            <a:xfrm>
              <a:off x="4004631" y="7474924"/>
              <a:ext cx="88583" cy="70009"/>
            </a:xfrm>
            <a:prstGeom prst="rect">
              <a:avLst/>
            </a:prstGeom>
            <a:solidFill>
              <a:srgbClr val="C4DDE0"/>
            </a:solidFill>
            <a:ln w="7290">
              <a:noFill/>
            </a:ln>
          </p:spPr>
        </p:sp>
        <p:sp>
          <p:nvSpPr>
            <p:cNvPr id="1314" name="Match matrix 3-5">
              <a:extLst>
                <a:ext uri="{FF2B5EF4-FFF2-40B4-BE49-F238E27FC236}">
                  <a16:creationId xmlns:a16="http://schemas.microsoft.com/office/drawing/2014/main" id="{93BBAAA9-24B8-1E29-A6DC-8B4D096073B5}"/>
                </a:ext>
              </a:extLst>
            </p:cNvPr>
            <p:cNvSpPr>
              <a:spLocks noGrp="1"/>
            </p:cNvSpPr>
            <p:nvPr/>
          </p:nvSpPr>
          <p:spPr>
            <a:xfrm>
              <a:off x="4097500" y="7474924"/>
              <a:ext cx="88583" cy="70009"/>
            </a:xfrm>
            <a:prstGeom prst="rect">
              <a:avLst/>
            </a:prstGeom>
            <a:solidFill>
              <a:srgbClr val="A3CDDA"/>
            </a:solidFill>
            <a:ln w="7290">
              <a:noFill/>
            </a:ln>
          </p:spPr>
        </p:sp>
        <p:sp>
          <p:nvSpPr>
            <p:cNvPr id="1315" name="Match matrix 3-6">
              <a:extLst>
                <a:ext uri="{FF2B5EF4-FFF2-40B4-BE49-F238E27FC236}">
                  <a16:creationId xmlns:a16="http://schemas.microsoft.com/office/drawing/2014/main" id="{68A528E6-65EA-9C73-7412-55AD6CD16CE8}"/>
                </a:ext>
              </a:extLst>
            </p:cNvPr>
            <p:cNvSpPr>
              <a:spLocks noGrp="1"/>
            </p:cNvSpPr>
            <p:nvPr/>
          </p:nvSpPr>
          <p:spPr>
            <a:xfrm>
              <a:off x="4190369" y="7474924"/>
              <a:ext cx="88583" cy="70009"/>
            </a:xfrm>
            <a:prstGeom prst="rect">
              <a:avLst/>
            </a:prstGeom>
            <a:solidFill>
              <a:srgbClr val="B6D8CC"/>
            </a:solidFill>
            <a:ln w="7290">
              <a:noFill/>
            </a:ln>
          </p:spPr>
        </p:sp>
        <p:sp>
          <p:nvSpPr>
            <p:cNvPr id="1316" name="Match matrix 3-7">
              <a:extLst>
                <a:ext uri="{FF2B5EF4-FFF2-40B4-BE49-F238E27FC236}">
                  <a16:creationId xmlns:a16="http://schemas.microsoft.com/office/drawing/2014/main" id="{2EEE91B3-D81D-6257-AECC-400C8A929123}"/>
                </a:ext>
              </a:extLst>
            </p:cNvPr>
            <p:cNvSpPr>
              <a:spLocks noGrp="1"/>
            </p:cNvSpPr>
            <p:nvPr/>
          </p:nvSpPr>
          <p:spPr>
            <a:xfrm>
              <a:off x="4283237" y="7474924"/>
              <a:ext cx="88583" cy="70009"/>
            </a:xfrm>
            <a:prstGeom prst="rect">
              <a:avLst/>
            </a:prstGeom>
            <a:solidFill>
              <a:srgbClr val="5B9FB6"/>
            </a:solidFill>
            <a:ln w="7290">
              <a:noFill/>
            </a:ln>
          </p:spPr>
        </p:sp>
        <p:sp>
          <p:nvSpPr>
            <p:cNvPr id="1318" name="SMILES continuation 806-628.2">
              <a:extLst>
                <a:ext uri="{FF2B5EF4-FFF2-40B4-BE49-F238E27FC236}">
                  <a16:creationId xmlns:a16="http://schemas.microsoft.com/office/drawing/2014/main" id="{F23A2C65-E88A-BB4F-DB2B-F6BDFE0A90A0}"/>
                </a:ext>
              </a:extLst>
            </p:cNvPr>
            <p:cNvSpPr>
              <a:spLocks noGrp="1"/>
            </p:cNvSpPr>
            <p:nvPr/>
          </p:nvSpPr>
          <p:spPr>
            <a:xfrm>
              <a:off x="8110676" y="5974080"/>
              <a:ext cx="19050" cy="19050"/>
            </a:xfrm>
            <a:prstGeom prst="ellipse">
              <a:avLst/>
            </a:prstGeom>
            <a:solidFill>
              <a:srgbClr val="71808C"/>
            </a:solidFill>
            <a:ln w="0">
              <a:noFill/>
            </a:ln>
          </p:spPr>
        </p:sp>
        <p:sp>
          <p:nvSpPr>
            <p:cNvPr id="1319" name="SMILES continuation 812-628.2">
              <a:extLst>
                <a:ext uri="{FF2B5EF4-FFF2-40B4-BE49-F238E27FC236}">
                  <a16:creationId xmlns:a16="http://schemas.microsoft.com/office/drawing/2014/main" id="{3B989565-3BAD-D4AD-9254-F92A9CA55F5F}"/>
                </a:ext>
              </a:extLst>
            </p:cNvPr>
            <p:cNvSpPr>
              <a:spLocks noGrp="1"/>
            </p:cNvSpPr>
            <p:nvPr/>
          </p:nvSpPr>
          <p:spPr>
            <a:xfrm>
              <a:off x="8167826" y="5974080"/>
              <a:ext cx="19050" cy="19050"/>
            </a:xfrm>
            <a:prstGeom prst="ellipse">
              <a:avLst/>
            </a:prstGeom>
            <a:solidFill>
              <a:srgbClr val="71808C"/>
            </a:solidFill>
            <a:ln w="0">
              <a:noFill/>
            </a:ln>
          </p:spPr>
        </p:sp>
        <p:sp>
          <p:nvSpPr>
            <p:cNvPr id="1320" name="SMILES continuation 818-628.2">
              <a:extLst>
                <a:ext uri="{FF2B5EF4-FFF2-40B4-BE49-F238E27FC236}">
                  <a16:creationId xmlns:a16="http://schemas.microsoft.com/office/drawing/2014/main" id="{42B8B6C2-B43E-383F-14DE-C418D4494332}"/>
                </a:ext>
              </a:extLst>
            </p:cNvPr>
            <p:cNvSpPr>
              <a:spLocks noGrp="1"/>
            </p:cNvSpPr>
            <p:nvPr/>
          </p:nvSpPr>
          <p:spPr>
            <a:xfrm>
              <a:off x="8224976" y="5974080"/>
              <a:ext cx="19050" cy="19050"/>
            </a:xfrm>
            <a:prstGeom prst="ellipse">
              <a:avLst/>
            </a:prstGeom>
            <a:solidFill>
              <a:srgbClr val="71808C"/>
            </a:solidFill>
            <a:ln w="0">
              <a:noFill/>
            </a:ln>
          </p:spPr>
        </p:sp>
        <p:sp>
          <p:nvSpPr>
            <p:cNvPr id="1321" name="SMILES continuation 806-667">
              <a:extLst>
                <a:ext uri="{FF2B5EF4-FFF2-40B4-BE49-F238E27FC236}">
                  <a16:creationId xmlns:a16="http://schemas.microsoft.com/office/drawing/2014/main" id="{39894408-4EFC-1123-4D43-5E7226F5F0C0}"/>
                </a:ext>
              </a:extLst>
            </p:cNvPr>
            <p:cNvSpPr>
              <a:spLocks noGrp="1"/>
            </p:cNvSpPr>
            <p:nvPr/>
          </p:nvSpPr>
          <p:spPr>
            <a:xfrm>
              <a:off x="8110676" y="6343650"/>
              <a:ext cx="19050" cy="19050"/>
            </a:xfrm>
            <a:prstGeom prst="ellipse">
              <a:avLst/>
            </a:prstGeom>
            <a:solidFill>
              <a:srgbClr val="71808C"/>
            </a:solidFill>
            <a:ln w="0">
              <a:noFill/>
            </a:ln>
          </p:spPr>
        </p:sp>
        <p:sp>
          <p:nvSpPr>
            <p:cNvPr id="1322" name="SMILES continuation 812-667">
              <a:extLst>
                <a:ext uri="{FF2B5EF4-FFF2-40B4-BE49-F238E27FC236}">
                  <a16:creationId xmlns:a16="http://schemas.microsoft.com/office/drawing/2014/main" id="{B15788D5-8154-0220-0ADD-B84E221B0B6F}"/>
                </a:ext>
              </a:extLst>
            </p:cNvPr>
            <p:cNvSpPr>
              <a:spLocks noGrp="1"/>
            </p:cNvSpPr>
            <p:nvPr/>
          </p:nvSpPr>
          <p:spPr>
            <a:xfrm>
              <a:off x="8167826" y="6343650"/>
              <a:ext cx="19050" cy="19050"/>
            </a:xfrm>
            <a:prstGeom prst="ellipse">
              <a:avLst/>
            </a:prstGeom>
            <a:solidFill>
              <a:srgbClr val="71808C"/>
            </a:solidFill>
            <a:ln w="0">
              <a:noFill/>
            </a:ln>
          </p:spPr>
        </p:sp>
        <p:sp>
          <p:nvSpPr>
            <p:cNvPr id="1323" name="SMILES continuation 818-667">
              <a:extLst>
                <a:ext uri="{FF2B5EF4-FFF2-40B4-BE49-F238E27FC236}">
                  <a16:creationId xmlns:a16="http://schemas.microsoft.com/office/drawing/2014/main" id="{06FB727B-1C36-BDAC-BF90-119F79F57919}"/>
                </a:ext>
              </a:extLst>
            </p:cNvPr>
            <p:cNvSpPr>
              <a:spLocks noGrp="1"/>
            </p:cNvSpPr>
            <p:nvPr/>
          </p:nvSpPr>
          <p:spPr>
            <a:xfrm>
              <a:off x="8224976" y="6343650"/>
              <a:ext cx="19050" cy="19050"/>
            </a:xfrm>
            <a:prstGeom prst="ellipse">
              <a:avLst/>
            </a:prstGeom>
            <a:solidFill>
              <a:srgbClr val="71808C"/>
            </a:solidFill>
            <a:ln w="0">
              <a:noFill/>
            </a:ln>
          </p:spPr>
        </p:sp>
        <p:sp>
          <p:nvSpPr>
            <p:cNvPr id="1324" name="Find density input">
              <a:extLst>
                <a:ext uri="{FF2B5EF4-FFF2-40B4-BE49-F238E27FC236}">
                  <a16:creationId xmlns:a16="http://schemas.microsoft.com/office/drawing/2014/main" id="{3BB3F16C-BBC6-CEA5-1D5F-BADEC13D0E07}"/>
                </a:ext>
              </a:extLst>
            </p:cNvPr>
            <p:cNvSpPr>
              <a:spLocks noGrp="1"/>
            </p:cNvSpPr>
            <p:nvPr/>
          </p:nvSpPr>
          <p:spPr>
            <a:xfrm flipV="1">
              <a:off x="2405391" y="1410958"/>
              <a:ext cx="692378" cy="107521"/>
            </a:xfrm>
            <a:custGeom>
              <a:avLst/>
              <a:gdLst/>
              <a:ahLst/>
              <a:cxnLst/>
              <a:rect l="0" t="0" r="0" b="0"/>
              <a:pathLst>
                <a:path w="125540" h="191">
                  <a:moveTo>
                    <a:pt x="0" y="0"/>
                  </a:moveTo>
                  <a:lnTo>
                    <a:pt x="125540" y="0"/>
                  </a:lnTo>
                </a:path>
              </a:pathLst>
            </a:custGeom>
            <a:noFill/>
            <a:ln w="8505">
              <a:solidFill>
                <a:srgbClr val="77828C"/>
              </a:solidFill>
              <a:prstDash val="solid"/>
            </a:ln>
          </p:spPr>
        </p:sp>
        <p:sp>
          <p:nvSpPr>
            <p:cNvPr id="1325" name="Find density input head">
              <a:extLst>
                <a:ext uri="{FF2B5EF4-FFF2-40B4-BE49-F238E27FC236}">
                  <a16:creationId xmlns:a16="http://schemas.microsoft.com/office/drawing/2014/main" id="{DD01582E-D72F-DC2A-ED51-209065AB4BE2}"/>
                </a:ext>
              </a:extLst>
            </p:cNvPr>
            <p:cNvSpPr>
              <a:spLocks noGrp="1"/>
            </p:cNvSpPr>
            <p:nvPr/>
          </p:nvSpPr>
          <p:spPr>
            <a:xfrm>
              <a:off x="3052858" y="1489808"/>
              <a:ext cx="66676" cy="57339"/>
            </a:xfrm>
            <a:custGeom>
              <a:avLst/>
              <a:gdLst/>
              <a:ahLst/>
              <a:cxnLst/>
              <a:rect l="0" t="0" r="0" b="0"/>
              <a:pathLst>
                <a:path w="66675" h="57340">
                  <a:moveTo>
                    <a:pt x="66675" y="28670"/>
                  </a:moveTo>
                  <a:lnTo>
                    <a:pt x="0" y="0"/>
                  </a:lnTo>
                  <a:lnTo>
                    <a:pt x="0" y="57340"/>
                  </a:lnTo>
                  <a:close/>
                </a:path>
              </a:pathLst>
            </a:custGeom>
            <a:solidFill>
              <a:srgbClr val="77828C"/>
            </a:solidFill>
            <a:ln w="0">
              <a:noFill/>
              <a:prstDash val="solid"/>
            </a:ln>
          </p:spPr>
        </p:sp>
        <p:sp>
          <p:nvSpPr>
            <p:cNvPr id="1328" name="Find receptor input">
              <a:extLst>
                <a:ext uri="{FF2B5EF4-FFF2-40B4-BE49-F238E27FC236}">
                  <a16:creationId xmlns:a16="http://schemas.microsoft.com/office/drawing/2014/main" id="{8835B13D-A150-D32A-EA5F-DF6B94803636}"/>
                </a:ext>
              </a:extLst>
            </p:cNvPr>
            <p:cNvSpPr>
              <a:spLocks noGrp="1"/>
            </p:cNvSpPr>
            <p:nvPr/>
          </p:nvSpPr>
          <p:spPr>
            <a:xfrm>
              <a:off x="2405391" y="3260557"/>
              <a:ext cx="692378" cy="107521"/>
            </a:xfrm>
            <a:custGeom>
              <a:avLst/>
              <a:gdLst/>
              <a:ahLst/>
              <a:cxnLst/>
              <a:rect l="0" t="0" r="0" b="0"/>
              <a:pathLst>
                <a:path w="125540" h="191">
                  <a:moveTo>
                    <a:pt x="0" y="0"/>
                  </a:moveTo>
                  <a:lnTo>
                    <a:pt x="125540" y="0"/>
                  </a:lnTo>
                </a:path>
              </a:pathLst>
            </a:custGeom>
            <a:solidFill>
              <a:srgbClr val="77828C"/>
            </a:solidFill>
            <a:ln w="8505">
              <a:solidFill>
                <a:srgbClr val="77828C"/>
              </a:solidFill>
              <a:prstDash val="solid"/>
            </a:ln>
          </p:spPr>
        </p:sp>
        <p:sp>
          <p:nvSpPr>
            <p:cNvPr id="1329" name="Find receptor input head">
              <a:extLst>
                <a:ext uri="{FF2B5EF4-FFF2-40B4-BE49-F238E27FC236}">
                  <a16:creationId xmlns:a16="http://schemas.microsoft.com/office/drawing/2014/main" id="{A5463DF5-F357-C133-4537-3687854104BD}"/>
                </a:ext>
              </a:extLst>
            </p:cNvPr>
            <p:cNvSpPr>
              <a:spLocks noGrp="1"/>
            </p:cNvSpPr>
            <p:nvPr/>
          </p:nvSpPr>
          <p:spPr>
            <a:xfrm>
              <a:off x="3052858" y="3231886"/>
              <a:ext cx="66676" cy="57339"/>
            </a:xfrm>
            <a:custGeom>
              <a:avLst/>
              <a:gdLst/>
              <a:ahLst/>
              <a:cxnLst/>
              <a:rect l="0" t="0" r="0" b="0"/>
              <a:pathLst>
                <a:path w="66675" h="57340">
                  <a:moveTo>
                    <a:pt x="66675" y="28670"/>
                  </a:moveTo>
                  <a:lnTo>
                    <a:pt x="0" y="0"/>
                  </a:lnTo>
                  <a:lnTo>
                    <a:pt x="0" y="57340"/>
                  </a:lnTo>
                  <a:close/>
                </a:path>
              </a:pathLst>
            </a:custGeom>
            <a:solidFill>
              <a:srgbClr val="77828C"/>
            </a:solidFill>
            <a:ln w="0">
              <a:noFill/>
              <a:prstDash val="solid"/>
            </a:ln>
          </p:spPr>
        </p:sp>
        <p:sp>
          <p:nvSpPr>
            <p:cNvPr id="1332" name="Find voxel output">
              <a:extLst>
                <a:ext uri="{FF2B5EF4-FFF2-40B4-BE49-F238E27FC236}">
                  <a16:creationId xmlns:a16="http://schemas.microsoft.com/office/drawing/2014/main" id="{A7A050F5-4BBD-83D0-3E56-868138C02A2E}"/>
                </a:ext>
              </a:extLst>
            </p:cNvPr>
            <p:cNvSpPr>
              <a:spLocks noGrp="1"/>
            </p:cNvSpPr>
            <p:nvPr/>
          </p:nvSpPr>
          <p:spPr>
            <a:xfrm>
              <a:off x="9680238" y="1544003"/>
              <a:ext cx="409314" cy="191"/>
            </a:xfrm>
            <a:custGeom>
              <a:avLst/>
              <a:gdLst/>
              <a:ahLst/>
              <a:cxnLst/>
              <a:rect l="0" t="0" r="0" b="0"/>
              <a:pathLst>
                <a:path w="252508" h="191">
                  <a:moveTo>
                    <a:pt x="0" y="0"/>
                  </a:moveTo>
                  <a:lnTo>
                    <a:pt x="252508" y="0"/>
                  </a:lnTo>
                </a:path>
              </a:pathLst>
            </a:custGeom>
            <a:noFill/>
            <a:ln w="8505">
              <a:solidFill>
                <a:srgbClr val="77828C"/>
              </a:solidFill>
              <a:prstDash val="solid"/>
            </a:ln>
          </p:spPr>
        </p:sp>
        <p:sp>
          <p:nvSpPr>
            <p:cNvPr id="1333" name="Find voxel output head">
              <a:extLst>
                <a:ext uri="{FF2B5EF4-FFF2-40B4-BE49-F238E27FC236}">
                  <a16:creationId xmlns:a16="http://schemas.microsoft.com/office/drawing/2014/main" id="{375132D2-B1BA-3819-E6E4-408E45D3577A}"/>
                </a:ext>
              </a:extLst>
            </p:cNvPr>
            <p:cNvSpPr>
              <a:spLocks noGrp="1"/>
            </p:cNvSpPr>
            <p:nvPr/>
          </p:nvSpPr>
          <p:spPr>
            <a:xfrm>
              <a:off x="10046213" y="1515332"/>
              <a:ext cx="66675" cy="57340"/>
            </a:xfrm>
            <a:custGeom>
              <a:avLst/>
              <a:gdLst/>
              <a:ahLst/>
              <a:cxnLst/>
              <a:rect l="0" t="0" r="0" b="0"/>
              <a:pathLst>
                <a:path w="66675" h="57340">
                  <a:moveTo>
                    <a:pt x="66675" y="28670"/>
                  </a:moveTo>
                  <a:lnTo>
                    <a:pt x="0" y="0"/>
                  </a:lnTo>
                  <a:lnTo>
                    <a:pt x="0" y="57340"/>
                  </a:lnTo>
                  <a:close/>
                </a:path>
              </a:pathLst>
            </a:custGeom>
            <a:solidFill>
              <a:srgbClr val="77828C"/>
            </a:solidFill>
            <a:ln w="0">
              <a:noFill/>
              <a:prstDash val="solid"/>
            </a:ln>
          </p:spPr>
        </p:sp>
        <p:sp>
          <p:nvSpPr>
            <p:cNvPr id="1334" name="Find point output">
              <a:extLst>
                <a:ext uri="{FF2B5EF4-FFF2-40B4-BE49-F238E27FC236}">
                  <a16:creationId xmlns:a16="http://schemas.microsoft.com/office/drawing/2014/main" id="{E2AB92F8-FB1A-DF4D-C056-6A909BEA2DE1}"/>
                </a:ext>
              </a:extLst>
            </p:cNvPr>
            <p:cNvSpPr>
              <a:spLocks noGrp="1"/>
            </p:cNvSpPr>
            <p:nvPr/>
          </p:nvSpPr>
          <p:spPr>
            <a:xfrm>
              <a:off x="9680238" y="3107055"/>
              <a:ext cx="409314" cy="191"/>
            </a:xfrm>
            <a:custGeom>
              <a:avLst/>
              <a:gdLst/>
              <a:ahLst/>
              <a:cxnLst/>
              <a:rect l="0" t="0" r="0" b="0"/>
              <a:pathLst>
                <a:path w="252508" h="191">
                  <a:moveTo>
                    <a:pt x="0" y="0"/>
                  </a:moveTo>
                  <a:lnTo>
                    <a:pt x="252508" y="0"/>
                  </a:lnTo>
                </a:path>
              </a:pathLst>
            </a:custGeom>
            <a:noFill/>
            <a:ln w="8505">
              <a:solidFill>
                <a:srgbClr val="77828C"/>
              </a:solidFill>
              <a:prstDash val="solid"/>
            </a:ln>
          </p:spPr>
        </p:sp>
        <p:sp>
          <p:nvSpPr>
            <p:cNvPr id="1335" name="Find point output head">
              <a:extLst>
                <a:ext uri="{FF2B5EF4-FFF2-40B4-BE49-F238E27FC236}">
                  <a16:creationId xmlns:a16="http://schemas.microsoft.com/office/drawing/2014/main" id="{28B06725-C3FB-3373-8A56-A66D9CE3ECA7}"/>
                </a:ext>
              </a:extLst>
            </p:cNvPr>
            <p:cNvSpPr>
              <a:spLocks noGrp="1"/>
            </p:cNvSpPr>
            <p:nvPr/>
          </p:nvSpPr>
          <p:spPr>
            <a:xfrm>
              <a:off x="10046213" y="3078385"/>
              <a:ext cx="66675" cy="57340"/>
            </a:xfrm>
            <a:custGeom>
              <a:avLst/>
              <a:gdLst/>
              <a:ahLst/>
              <a:cxnLst/>
              <a:rect l="0" t="0" r="0" b="0"/>
              <a:pathLst>
                <a:path w="66675" h="57340">
                  <a:moveTo>
                    <a:pt x="66675" y="28670"/>
                  </a:moveTo>
                  <a:lnTo>
                    <a:pt x="0" y="0"/>
                  </a:lnTo>
                  <a:lnTo>
                    <a:pt x="0" y="57340"/>
                  </a:lnTo>
                  <a:close/>
                </a:path>
              </a:pathLst>
            </a:custGeom>
            <a:solidFill>
              <a:srgbClr val="77828C"/>
            </a:solidFill>
            <a:ln w="0">
              <a:noFill/>
              <a:prstDash val="solid"/>
            </a:ln>
          </p:spPr>
        </p:sp>
        <p:sp>
          <p:nvSpPr>
            <p:cNvPr id="1336" name="U-Net flow refined 1">
              <a:extLst>
                <a:ext uri="{FF2B5EF4-FFF2-40B4-BE49-F238E27FC236}">
                  <a16:creationId xmlns:a16="http://schemas.microsoft.com/office/drawing/2014/main" id="{5BDE2ECB-1CBA-ACB1-3426-F3E9F144A8A7}"/>
                </a:ext>
              </a:extLst>
            </p:cNvPr>
            <p:cNvSpPr>
              <a:spLocks noGrp="1"/>
            </p:cNvSpPr>
            <p:nvPr/>
          </p:nvSpPr>
          <p:spPr>
            <a:xfrm>
              <a:off x="5329408" y="1943100"/>
              <a:ext cx="71390" cy="191"/>
            </a:xfrm>
            <a:custGeom>
              <a:avLst/>
              <a:gdLst/>
              <a:ahLst/>
              <a:cxnLst/>
              <a:rect l="0" t="0" r="0" b="0"/>
              <a:pathLst>
                <a:path w="71390" h="191">
                  <a:moveTo>
                    <a:pt x="0" y="0"/>
                  </a:moveTo>
                  <a:lnTo>
                    <a:pt x="71390" y="0"/>
                  </a:lnTo>
                </a:path>
              </a:pathLst>
            </a:custGeom>
            <a:noFill/>
            <a:ln w="6480">
              <a:solidFill>
                <a:srgbClr val="77828C"/>
              </a:solidFill>
              <a:prstDash val="solid"/>
            </a:ln>
          </p:spPr>
        </p:sp>
        <p:sp>
          <p:nvSpPr>
            <p:cNvPr id="1337" name="U-Net flow refined 1 head">
              <a:extLst>
                <a:ext uri="{FF2B5EF4-FFF2-40B4-BE49-F238E27FC236}">
                  <a16:creationId xmlns:a16="http://schemas.microsoft.com/office/drawing/2014/main" id="{94C963B0-6292-D96E-8000-E5176CACF1B1}"/>
                </a:ext>
              </a:extLst>
            </p:cNvPr>
            <p:cNvSpPr>
              <a:spLocks noGrp="1"/>
            </p:cNvSpPr>
            <p:nvPr/>
          </p:nvSpPr>
          <p:spPr>
            <a:xfrm>
              <a:off x="5374176" y="1925488"/>
              <a:ext cx="40957" cy="35223"/>
            </a:xfrm>
            <a:custGeom>
              <a:avLst/>
              <a:gdLst/>
              <a:ahLst/>
              <a:cxnLst/>
              <a:rect l="0" t="0" r="0" b="0"/>
              <a:pathLst>
                <a:path w="40957" h="35223">
                  <a:moveTo>
                    <a:pt x="40957" y="17612"/>
                  </a:moveTo>
                  <a:lnTo>
                    <a:pt x="0" y="0"/>
                  </a:lnTo>
                  <a:lnTo>
                    <a:pt x="0" y="35223"/>
                  </a:lnTo>
                  <a:close/>
                </a:path>
              </a:pathLst>
            </a:custGeom>
            <a:solidFill>
              <a:srgbClr val="77828C"/>
            </a:solidFill>
            <a:ln w="0">
              <a:noFill/>
              <a:prstDash val="solid"/>
            </a:ln>
          </p:spPr>
        </p:sp>
        <p:sp>
          <p:nvSpPr>
            <p:cNvPr id="1338" name="U-Net flow refined 2">
              <a:extLst>
                <a:ext uri="{FF2B5EF4-FFF2-40B4-BE49-F238E27FC236}">
                  <a16:creationId xmlns:a16="http://schemas.microsoft.com/office/drawing/2014/main" id="{6EDFECDB-834F-45E8-C447-187E68499D36}"/>
                </a:ext>
              </a:extLst>
            </p:cNvPr>
            <p:cNvSpPr>
              <a:spLocks noGrp="1"/>
            </p:cNvSpPr>
            <p:nvPr/>
          </p:nvSpPr>
          <p:spPr>
            <a:xfrm>
              <a:off x="5786608" y="1943100"/>
              <a:ext cx="61865" cy="191"/>
            </a:xfrm>
            <a:custGeom>
              <a:avLst/>
              <a:gdLst/>
              <a:ahLst/>
              <a:cxnLst/>
              <a:rect l="0" t="0" r="0" b="0"/>
              <a:pathLst>
                <a:path w="61865" h="191">
                  <a:moveTo>
                    <a:pt x="0" y="0"/>
                  </a:moveTo>
                  <a:lnTo>
                    <a:pt x="61865" y="0"/>
                  </a:lnTo>
                </a:path>
              </a:pathLst>
            </a:custGeom>
            <a:noFill/>
            <a:ln w="6480">
              <a:solidFill>
                <a:srgbClr val="77828C"/>
              </a:solidFill>
              <a:prstDash val="solid"/>
            </a:ln>
          </p:spPr>
        </p:sp>
        <p:sp>
          <p:nvSpPr>
            <p:cNvPr id="1339" name="U-Net flow refined 2 head">
              <a:extLst>
                <a:ext uri="{FF2B5EF4-FFF2-40B4-BE49-F238E27FC236}">
                  <a16:creationId xmlns:a16="http://schemas.microsoft.com/office/drawing/2014/main" id="{147D1FA6-05BE-3A5D-C1FE-78DB516DA9EB}"/>
                </a:ext>
              </a:extLst>
            </p:cNvPr>
            <p:cNvSpPr>
              <a:spLocks noGrp="1"/>
            </p:cNvSpPr>
            <p:nvPr/>
          </p:nvSpPr>
          <p:spPr>
            <a:xfrm>
              <a:off x="5821851" y="1925488"/>
              <a:ext cx="40957" cy="35223"/>
            </a:xfrm>
            <a:custGeom>
              <a:avLst/>
              <a:gdLst/>
              <a:ahLst/>
              <a:cxnLst/>
              <a:rect l="0" t="0" r="0" b="0"/>
              <a:pathLst>
                <a:path w="40957" h="35223">
                  <a:moveTo>
                    <a:pt x="40957" y="17612"/>
                  </a:moveTo>
                  <a:lnTo>
                    <a:pt x="0" y="0"/>
                  </a:lnTo>
                  <a:lnTo>
                    <a:pt x="0" y="35223"/>
                  </a:lnTo>
                  <a:close/>
                </a:path>
              </a:pathLst>
            </a:custGeom>
            <a:solidFill>
              <a:srgbClr val="77828C"/>
            </a:solidFill>
            <a:ln w="0">
              <a:noFill/>
              <a:prstDash val="solid"/>
            </a:ln>
          </p:spPr>
        </p:sp>
        <p:sp>
          <p:nvSpPr>
            <p:cNvPr id="1340" name="U-Net flow refined 3">
              <a:extLst>
                <a:ext uri="{FF2B5EF4-FFF2-40B4-BE49-F238E27FC236}">
                  <a16:creationId xmlns:a16="http://schemas.microsoft.com/office/drawing/2014/main" id="{7AF7CF23-54DF-A29D-2F07-D36A3F45EDD2}"/>
                </a:ext>
              </a:extLst>
            </p:cNvPr>
            <p:cNvSpPr>
              <a:spLocks noGrp="1"/>
            </p:cNvSpPr>
            <p:nvPr/>
          </p:nvSpPr>
          <p:spPr>
            <a:xfrm>
              <a:off x="6358108" y="1943100"/>
              <a:ext cx="185690" cy="191"/>
            </a:xfrm>
            <a:custGeom>
              <a:avLst/>
              <a:gdLst/>
              <a:ahLst/>
              <a:cxnLst/>
              <a:rect l="0" t="0" r="0" b="0"/>
              <a:pathLst>
                <a:path w="185690" h="191">
                  <a:moveTo>
                    <a:pt x="0" y="0"/>
                  </a:moveTo>
                  <a:lnTo>
                    <a:pt x="185690" y="0"/>
                  </a:lnTo>
                </a:path>
              </a:pathLst>
            </a:custGeom>
            <a:noFill/>
            <a:ln w="6480">
              <a:solidFill>
                <a:srgbClr val="77828C"/>
              </a:solidFill>
              <a:prstDash val="solid"/>
            </a:ln>
          </p:spPr>
        </p:sp>
        <p:sp>
          <p:nvSpPr>
            <p:cNvPr id="1341" name="U-Net flow refined 3 head">
              <a:extLst>
                <a:ext uri="{FF2B5EF4-FFF2-40B4-BE49-F238E27FC236}">
                  <a16:creationId xmlns:a16="http://schemas.microsoft.com/office/drawing/2014/main" id="{99F4C0B1-883D-15E1-DE1D-B9D0B602A47D}"/>
                </a:ext>
              </a:extLst>
            </p:cNvPr>
            <p:cNvSpPr>
              <a:spLocks noGrp="1"/>
            </p:cNvSpPr>
            <p:nvPr/>
          </p:nvSpPr>
          <p:spPr>
            <a:xfrm>
              <a:off x="6517176" y="1925488"/>
              <a:ext cx="40957" cy="35223"/>
            </a:xfrm>
            <a:custGeom>
              <a:avLst/>
              <a:gdLst/>
              <a:ahLst/>
              <a:cxnLst/>
              <a:rect l="0" t="0" r="0" b="0"/>
              <a:pathLst>
                <a:path w="40957" h="35223">
                  <a:moveTo>
                    <a:pt x="40957" y="17612"/>
                  </a:moveTo>
                  <a:lnTo>
                    <a:pt x="0" y="0"/>
                  </a:lnTo>
                  <a:lnTo>
                    <a:pt x="0" y="35223"/>
                  </a:lnTo>
                  <a:close/>
                </a:path>
              </a:pathLst>
            </a:custGeom>
            <a:solidFill>
              <a:srgbClr val="77828C"/>
            </a:solidFill>
            <a:ln w="0">
              <a:noFill/>
              <a:prstDash val="solid"/>
            </a:ln>
          </p:spPr>
        </p:sp>
        <p:sp>
          <p:nvSpPr>
            <p:cNvPr id="1342" name="U-Net flow refined 4">
              <a:extLst>
                <a:ext uri="{FF2B5EF4-FFF2-40B4-BE49-F238E27FC236}">
                  <a16:creationId xmlns:a16="http://schemas.microsoft.com/office/drawing/2014/main" id="{1AB9AC41-CF99-6B25-72AE-CA5759E07BBC}"/>
                </a:ext>
              </a:extLst>
            </p:cNvPr>
            <p:cNvSpPr>
              <a:spLocks noGrp="1"/>
            </p:cNvSpPr>
            <p:nvPr/>
          </p:nvSpPr>
          <p:spPr>
            <a:xfrm>
              <a:off x="7634458" y="1943100"/>
              <a:ext cx="204740" cy="191"/>
            </a:xfrm>
            <a:custGeom>
              <a:avLst/>
              <a:gdLst/>
              <a:ahLst/>
              <a:cxnLst/>
              <a:rect l="0" t="0" r="0" b="0"/>
              <a:pathLst>
                <a:path w="204740" h="191">
                  <a:moveTo>
                    <a:pt x="0" y="0"/>
                  </a:moveTo>
                  <a:lnTo>
                    <a:pt x="204740" y="0"/>
                  </a:lnTo>
                </a:path>
              </a:pathLst>
            </a:custGeom>
            <a:noFill/>
            <a:ln w="6480">
              <a:solidFill>
                <a:srgbClr val="77828C"/>
              </a:solidFill>
              <a:prstDash val="solid"/>
            </a:ln>
          </p:spPr>
        </p:sp>
        <p:sp>
          <p:nvSpPr>
            <p:cNvPr id="1343" name="U-Net flow refined 4 head">
              <a:extLst>
                <a:ext uri="{FF2B5EF4-FFF2-40B4-BE49-F238E27FC236}">
                  <a16:creationId xmlns:a16="http://schemas.microsoft.com/office/drawing/2014/main" id="{8B74AF9E-166C-456E-8C30-81819473FD65}"/>
                </a:ext>
              </a:extLst>
            </p:cNvPr>
            <p:cNvSpPr>
              <a:spLocks noGrp="1"/>
            </p:cNvSpPr>
            <p:nvPr/>
          </p:nvSpPr>
          <p:spPr>
            <a:xfrm>
              <a:off x="7812576" y="1925488"/>
              <a:ext cx="40957" cy="35223"/>
            </a:xfrm>
            <a:custGeom>
              <a:avLst/>
              <a:gdLst/>
              <a:ahLst/>
              <a:cxnLst/>
              <a:rect l="0" t="0" r="0" b="0"/>
              <a:pathLst>
                <a:path w="40957" h="35223">
                  <a:moveTo>
                    <a:pt x="40957" y="17612"/>
                  </a:moveTo>
                  <a:lnTo>
                    <a:pt x="0" y="0"/>
                  </a:lnTo>
                  <a:lnTo>
                    <a:pt x="0" y="35223"/>
                  </a:lnTo>
                  <a:close/>
                </a:path>
              </a:pathLst>
            </a:custGeom>
            <a:solidFill>
              <a:srgbClr val="77828C"/>
            </a:solidFill>
            <a:ln w="0">
              <a:noFill/>
              <a:prstDash val="solid"/>
            </a:ln>
          </p:spPr>
        </p:sp>
        <p:sp>
          <p:nvSpPr>
            <p:cNvPr id="1344" name="U-Net flow refined 5">
              <a:extLst>
                <a:ext uri="{FF2B5EF4-FFF2-40B4-BE49-F238E27FC236}">
                  <a16:creationId xmlns:a16="http://schemas.microsoft.com/office/drawing/2014/main" id="{1DF9FEC8-127A-C6BF-A242-5459B8B47514}"/>
                </a:ext>
              </a:extLst>
            </p:cNvPr>
            <p:cNvSpPr>
              <a:spLocks noGrp="1"/>
            </p:cNvSpPr>
            <p:nvPr/>
          </p:nvSpPr>
          <p:spPr>
            <a:xfrm>
              <a:off x="8358358" y="1943100"/>
              <a:ext cx="71390" cy="191"/>
            </a:xfrm>
            <a:custGeom>
              <a:avLst/>
              <a:gdLst/>
              <a:ahLst/>
              <a:cxnLst/>
              <a:rect l="0" t="0" r="0" b="0"/>
              <a:pathLst>
                <a:path w="71390" h="191">
                  <a:moveTo>
                    <a:pt x="0" y="0"/>
                  </a:moveTo>
                  <a:lnTo>
                    <a:pt x="71390" y="0"/>
                  </a:lnTo>
                </a:path>
              </a:pathLst>
            </a:custGeom>
            <a:noFill/>
            <a:ln w="6480">
              <a:solidFill>
                <a:srgbClr val="77828C"/>
              </a:solidFill>
              <a:prstDash val="solid"/>
            </a:ln>
          </p:spPr>
        </p:sp>
        <p:sp>
          <p:nvSpPr>
            <p:cNvPr id="1345" name="U-Net flow refined 5 head">
              <a:extLst>
                <a:ext uri="{FF2B5EF4-FFF2-40B4-BE49-F238E27FC236}">
                  <a16:creationId xmlns:a16="http://schemas.microsoft.com/office/drawing/2014/main" id="{235A2EBC-75E8-8D72-4A9D-B691D888DD1B}"/>
                </a:ext>
              </a:extLst>
            </p:cNvPr>
            <p:cNvSpPr>
              <a:spLocks noGrp="1"/>
            </p:cNvSpPr>
            <p:nvPr/>
          </p:nvSpPr>
          <p:spPr>
            <a:xfrm>
              <a:off x="8403126" y="1925488"/>
              <a:ext cx="40957" cy="35223"/>
            </a:xfrm>
            <a:custGeom>
              <a:avLst/>
              <a:gdLst/>
              <a:ahLst/>
              <a:cxnLst/>
              <a:rect l="0" t="0" r="0" b="0"/>
              <a:pathLst>
                <a:path w="40957" h="35223">
                  <a:moveTo>
                    <a:pt x="40957" y="17612"/>
                  </a:moveTo>
                  <a:lnTo>
                    <a:pt x="0" y="0"/>
                  </a:lnTo>
                  <a:lnTo>
                    <a:pt x="0" y="35223"/>
                  </a:lnTo>
                  <a:close/>
                </a:path>
              </a:pathLst>
            </a:custGeom>
            <a:solidFill>
              <a:srgbClr val="77828C"/>
            </a:solidFill>
            <a:ln w="0">
              <a:noFill/>
              <a:prstDash val="solid"/>
            </a:ln>
          </p:spPr>
        </p:sp>
        <p:sp>
          <p:nvSpPr>
            <p:cNvPr id="1346" name="U-Net flow refined 6">
              <a:extLst>
                <a:ext uri="{FF2B5EF4-FFF2-40B4-BE49-F238E27FC236}">
                  <a16:creationId xmlns:a16="http://schemas.microsoft.com/office/drawing/2014/main" id="{E16F5364-FA67-8E77-55DD-31048ACFB369}"/>
                </a:ext>
              </a:extLst>
            </p:cNvPr>
            <p:cNvSpPr>
              <a:spLocks noGrp="1"/>
            </p:cNvSpPr>
            <p:nvPr/>
          </p:nvSpPr>
          <p:spPr>
            <a:xfrm>
              <a:off x="8796508" y="1943100"/>
              <a:ext cx="90440" cy="191"/>
            </a:xfrm>
            <a:custGeom>
              <a:avLst/>
              <a:gdLst/>
              <a:ahLst/>
              <a:cxnLst/>
              <a:rect l="0" t="0" r="0" b="0"/>
              <a:pathLst>
                <a:path w="90440" h="191">
                  <a:moveTo>
                    <a:pt x="0" y="0"/>
                  </a:moveTo>
                  <a:lnTo>
                    <a:pt x="90440" y="0"/>
                  </a:lnTo>
                </a:path>
              </a:pathLst>
            </a:custGeom>
            <a:noFill/>
            <a:ln w="6480">
              <a:solidFill>
                <a:srgbClr val="77828C"/>
              </a:solidFill>
              <a:prstDash val="solid"/>
            </a:ln>
          </p:spPr>
        </p:sp>
        <p:sp>
          <p:nvSpPr>
            <p:cNvPr id="1347" name="U-Net flow refined 6 head">
              <a:extLst>
                <a:ext uri="{FF2B5EF4-FFF2-40B4-BE49-F238E27FC236}">
                  <a16:creationId xmlns:a16="http://schemas.microsoft.com/office/drawing/2014/main" id="{CAB8405E-639F-441D-4076-97C5C8079141}"/>
                </a:ext>
              </a:extLst>
            </p:cNvPr>
            <p:cNvSpPr>
              <a:spLocks noGrp="1"/>
            </p:cNvSpPr>
            <p:nvPr/>
          </p:nvSpPr>
          <p:spPr>
            <a:xfrm>
              <a:off x="8860326" y="1925488"/>
              <a:ext cx="40957" cy="35223"/>
            </a:xfrm>
            <a:custGeom>
              <a:avLst/>
              <a:gdLst/>
              <a:ahLst/>
              <a:cxnLst/>
              <a:rect l="0" t="0" r="0" b="0"/>
              <a:pathLst>
                <a:path w="40957" h="35223">
                  <a:moveTo>
                    <a:pt x="40957" y="17612"/>
                  </a:moveTo>
                  <a:lnTo>
                    <a:pt x="0" y="0"/>
                  </a:lnTo>
                  <a:lnTo>
                    <a:pt x="0" y="35223"/>
                  </a:lnTo>
                  <a:close/>
                </a:path>
              </a:pathLst>
            </a:custGeom>
            <a:solidFill>
              <a:srgbClr val="77828C"/>
            </a:solidFill>
            <a:ln w="0">
              <a:noFill/>
              <a:prstDash val="solid"/>
            </a:ln>
          </p:spPr>
        </p:sp>
        <p:sp>
          <p:nvSpPr>
            <p:cNvPr id="1348" name="Skip outer refined">
              <a:extLst>
                <a:ext uri="{FF2B5EF4-FFF2-40B4-BE49-F238E27FC236}">
                  <a16:creationId xmlns:a16="http://schemas.microsoft.com/office/drawing/2014/main" id="{FCEC7BC5-9C91-5A2D-286F-54CED1B58658}"/>
                </a:ext>
              </a:extLst>
            </p:cNvPr>
            <p:cNvSpPr>
              <a:spLocks noGrp="1"/>
            </p:cNvSpPr>
            <p:nvPr/>
          </p:nvSpPr>
          <p:spPr>
            <a:xfrm>
              <a:off x="4919833" y="1209675"/>
              <a:ext cx="4333875" cy="219075"/>
            </a:xfrm>
            <a:custGeom>
              <a:avLst/>
              <a:gdLst/>
              <a:ahLst/>
              <a:cxnLst/>
              <a:rect l="0" t="0" r="0" b="0"/>
              <a:pathLst>
                <a:path w="4333875" h="219075">
                  <a:moveTo>
                    <a:pt x="0" y="219075"/>
                  </a:moveTo>
                  <a:lnTo>
                    <a:pt x="0" y="0"/>
                  </a:lnTo>
                  <a:lnTo>
                    <a:pt x="4333875" y="0"/>
                  </a:lnTo>
                  <a:lnTo>
                    <a:pt x="4333875" y="204073"/>
                  </a:lnTo>
                </a:path>
              </a:pathLst>
            </a:custGeom>
            <a:noFill/>
            <a:ln w="5468">
              <a:solidFill>
                <a:srgbClr val="A3ACB4"/>
              </a:solidFill>
              <a:prstDash val="dash"/>
            </a:ln>
          </p:spPr>
        </p:sp>
        <p:sp>
          <p:nvSpPr>
            <p:cNvPr id="1349" name="Skip outer refined head">
              <a:extLst>
                <a:ext uri="{FF2B5EF4-FFF2-40B4-BE49-F238E27FC236}">
                  <a16:creationId xmlns:a16="http://schemas.microsoft.com/office/drawing/2014/main" id="{D6AAD354-1253-F73A-1F09-0D42951F0AD2}"/>
                </a:ext>
              </a:extLst>
            </p:cNvPr>
            <p:cNvSpPr>
              <a:spLocks noGrp="1"/>
            </p:cNvSpPr>
            <p:nvPr/>
          </p:nvSpPr>
          <p:spPr>
            <a:xfrm>
              <a:off x="9235277" y="1385888"/>
              <a:ext cx="36862" cy="42863"/>
            </a:xfrm>
            <a:custGeom>
              <a:avLst/>
              <a:gdLst/>
              <a:ahLst/>
              <a:cxnLst/>
              <a:rect l="0" t="0" r="0" b="0"/>
              <a:pathLst>
                <a:path w="36862" h="42863">
                  <a:moveTo>
                    <a:pt x="18431" y="42863"/>
                  </a:moveTo>
                  <a:lnTo>
                    <a:pt x="36862" y="0"/>
                  </a:lnTo>
                  <a:lnTo>
                    <a:pt x="0" y="0"/>
                  </a:lnTo>
                  <a:close/>
                </a:path>
              </a:pathLst>
            </a:custGeom>
            <a:solidFill>
              <a:srgbClr val="A3ACB4"/>
            </a:solidFill>
            <a:ln w="0">
              <a:noFill/>
              <a:prstDash val="solid"/>
            </a:ln>
          </p:spPr>
        </p:sp>
        <p:sp>
          <p:nvSpPr>
            <p:cNvPr id="1350" name="Skip middle refined">
              <a:extLst>
                <a:ext uri="{FF2B5EF4-FFF2-40B4-BE49-F238E27FC236}">
                  <a16:creationId xmlns:a16="http://schemas.microsoft.com/office/drawing/2014/main" id="{E944DD48-0E77-62B4-4E66-FC482D648DB0}"/>
                </a:ext>
              </a:extLst>
            </p:cNvPr>
            <p:cNvSpPr>
              <a:spLocks noGrp="1"/>
            </p:cNvSpPr>
            <p:nvPr/>
          </p:nvSpPr>
          <p:spPr>
            <a:xfrm>
              <a:off x="5558008" y="1295400"/>
              <a:ext cx="3067050" cy="266700"/>
            </a:xfrm>
            <a:custGeom>
              <a:avLst/>
              <a:gdLst/>
              <a:ahLst/>
              <a:cxnLst/>
              <a:rect l="0" t="0" r="0" b="0"/>
              <a:pathLst>
                <a:path w="3067050" h="266700">
                  <a:moveTo>
                    <a:pt x="0" y="266700"/>
                  </a:moveTo>
                  <a:lnTo>
                    <a:pt x="0" y="0"/>
                  </a:lnTo>
                  <a:lnTo>
                    <a:pt x="3067050" y="0"/>
                  </a:lnTo>
                  <a:lnTo>
                    <a:pt x="3067050" y="251698"/>
                  </a:lnTo>
                </a:path>
              </a:pathLst>
            </a:custGeom>
            <a:noFill/>
            <a:ln w="5468">
              <a:solidFill>
                <a:srgbClr val="A3ACB4"/>
              </a:solidFill>
              <a:prstDash val="dash"/>
            </a:ln>
          </p:spPr>
        </p:sp>
        <p:sp>
          <p:nvSpPr>
            <p:cNvPr id="1351" name="Skip middle refined head">
              <a:extLst>
                <a:ext uri="{FF2B5EF4-FFF2-40B4-BE49-F238E27FC236}">
                  <a16:creationId xmlns:a16="http://schemas.microsoft.com/office/drawing/2014/main" id="{5D984C66-44F4-6C0C-29FA-C26BCC014DA5}"/>
                </a:ext>
              </a:extLst>
            </p:cNvPr>
            <p:cNvSpPr>
              <a:spLocks noGrp="1"/>
            </p:cNvSpPr>
            <p:nvPr/>
          </p:nvSpPr>
          <p:spPr>
            <a:xfrm>
              <a:off x="8606627" y="1519238"/>
              <a:ext cx="36862" cy="42863"/>
            </a:xfrm>
            <a:custGeom>
              <a:avLst/>
              <a:gdLst/>
              <a:ahLst/>
              <a:cxnLst/>
              <a:rect l="0" t="0" r="0" b="0"/>
              <a:pathLst>
                <a:path w="36862" h="42863">
                  <a:moveTo>
                    <a:pt x="18431" y="42863"/>
                  </a:moveTo>
                  <a:lnTo>
                    <a:pt x="36862" y="0"/>
                  </a:lnTo>
                  <a:lnTo>
                    <a:pt x="0" y="0"/>
                  </a:lnTo>
                  <a:close/>
                </a:path>
              </a:pathLst>
            </a:custGeom>
            <a:solidFill>
              <a:srgbClr val="A3ACB4"/>
            </a:solidFill>
            <a:ln w="0">
              <a:noFill/>
              <a:prstDash val="solid"/>
            </a:ln>
          </p:spPr>
        </p:sp>
        <p:sp>
          <p:nvSpPr>
            <p:cNvPr id="1352" name="Skip inner refined">
              <a:extLst>
                <a:ext uri="{FF2B5EF4-FFF2-40B4-BE49-F238E27FC236}">
                  <a16:creationId xmlns:a16="http://schemas.microsoft.com/office/drawing/2014/main" id="{796339B7-CA5C-9A6F-F626-7D7B76227D0E}"/>
                </a:ext>
              </a:extLst>
            </p:cNvPr>
            <p:cNvSpPr>
              <a:spLocks noGrp="1"/>
            </p:cNvSpPr>
            <p:nvPr/>
          </p:nvSpPr>
          <p:spPr>
            <a:xfrm>
              <a:off x="6081883" y="1381125"/>
              <a:ext cx="2000250" cy="323850"/>
            </a:xfrm>
            <a:custGeom>
              <a:avLst/>
              <a:gdLst/>
              <a:ahLst/>
              <a:cxnLst/>
              <a:rect l="0" t="0" r="0" b="0"/>
              <a:pathLst>
                <a:path w="2000250" h="323850">
                  <a:moveTo>
                    <a:pt x="0" y="323850"/>
                  </a:moveTo>
                  <a:lnTo>
                    <a:pt x="0" y="0"/>
                  </a:lnTo>
                  <a:lnTo>
                    <a:pt x="2000250" y="0"/>
                  </a:lnTo>
                  <a:lnTo>
                    <a:pt x="2000250" y="308848"/>
                  </a:lnTo>
                </a:path>
              </a:pathLst>
            </a:custGeom>
            <a:noFill/>
            <a:ln w="5468">
              <a:solidFill>
                <a:srgbClr val="A3ACB4"/>
              </a:solidFill>
              <a:prstDash val="dash"/>
            </a:ln>
          </p:spPr>
        </p:sp>
        <p:sp>
          <p:nvSpPr>
            <p:cNvPr id="1353" name="Skip inner refined head">
              <a:extLst>
                <a:ext uri="{FF2B5EF4-FFF2-40B4-BE49-F238E27FC236}">
                  <a16:creationId xmlns:a16="http://schemas.microsoft.com/office/drawing/2014/main" id="{5389494F-4196-1B0C-C069-F40391B0419B}"/>
                </a:ext>
              </a:extLst>
            </p:cNvPr>
            <p:cNvSpPr>
              <a:spLocks noGrp="1"/>
            </p:cNvSpPr>
            <p:nvPr/>
          </p:nvSpPr>
          <p:spPr>
            <a:xfrm>
              <a:off x="8063702" y="1662113"/>
              <a:ext cx="36862" cy="42863"/>
            </a:xfrm>
            <a:custGeom>
              <a:avLst/>
              <a:gdLst/>
              <a:ahLst/>
              <a:cxnLst/>
              <a:rect l="0" t="0" r="0" b="0"/>
              <a:pathLst>
                <a:path w="36862" h="42863">
                  <a:moveTo>
                    <a:pt x="18431" y="42863"/>
                  </a:moveTo>
                  <a:lnTo>
                    <a:pt x="36862" y="0"/>
                  </a:lnTo>
                  <a:lnTo>
                    <a:pt x="0" y="0"/>
                  </a:lnTo>
                  <a:close/>
                </a:path>
              </a:pathLst>
            </a:custGeom>
            <a:solidFill>
              <a:srgbClr val="A3ACB4"/>
            </a:solidFill>
            <a:ln w="0">
              <a:noFill/>
              <a:prstDash val="solid"/>
            </a:ln>
          </p:spPr>
        </p:sp>
        <p:sp>
          <p:nvSpPr>
            <p:cNvPr id="1354" name="PTV3 forward refined 1">
              <a:extLst>
                <a:ext uri="{FF2B5EF4-FFF2-40B4-BE49-F238E27FC236}">
                  <a16:creationId xmlns:a16="http://schemas.microsoft.com/office/drawing/2014/main" id="{B0492619-D665-D0F6-7061-EDCBCE3DDA3A}"/>
                </a:ext>
              </a:extLst>
            </p:cNvPr>
            <p:cNvSpPr>
              <a:spLocks noGrp="1"/>
            </p:cNvSpPr>
            <p:nvPr/>
          </p:nvSpPr>
          <p:spPr>
            <a:xfrm>
              <a:off x="5447899" y="3106769"/>
              <a:ext cx="255746" cy="191"/>
            </a:xfrm>
            <a:custGeom>
              <a:avLst/>
              <a:gdLst/>
              <a:ahLst/>
              <a:cxnLst/>
              <a:rect l="0" t="0" r="0" b="0"/>
              <a:pathLst>
                <a:path w="255746" h="191">
                  <a:moveTo>
                    <a:pt x="0" y="0"/>
                  </a:moveTo>
                  <a:lnTo>
                    <a:pt x="255746" y="0"/>
                  </a:lnTo>
                </a:path>
              </a:pathLst>
            </a:custGeom>
            <a:noFill/>
            <a:ln w="8505">
              <a:solidFill>
                <a:srgbClr val="77828C"/>
              </a:solidFill>
              <a:prstDash val="solid"/>
            </a:ln>
          </p:spPr>
        </p:sp>
        <p:sp>
          <p:nvSpPr>
            <p:cNvPr id="1355" name="PTV3 forward refined 1 head">
              <a:extLst>
                <a:ext uri="{FF2B5EF4-FFF2-40B4-BE49-F238E27FC236}">
                  <a16:creationId xmlns:a16="http://schemas.microsoft.com/office/drawing/2014/main" id="{B7BCE76F-C831-1ABC-ADA2-90D7588CB987}"/>
                </a:ext>
              </a:extLst>
            </p:cNvPr>
            <p:cNvSpPr>
              <a:spLocks noGrp="1"/>
            </p:cNvSpPr>
            <p:nvPr/>
          </p:nvSpPr>
          <p:spPr>
            <a:xfrm>
              <a:off x="5660307" y="3078099"/>
              <a:ext cx="66675" cy="57340"/>
            </a:xfrm>
            <a:custGeom>
              <a:avLst/>
              <a:gdLst/>
              <a:ahLst/>
              <a:cxnLst/>
              <a:rect l="0" t="0" r="0" b="0"/>
              <a:pathLst>
                <a:path w="66675" h="57340">
                  <a:moveTo>
                    <a:pt x="66675" y="28670"/>
                  </a:moveTo>
                  <a:lnTo>
                    <a:pt x="0" y="0"/>
                  </a:lnTo>
                  <a:lnTo>
                    <a:pt x="0" y="57340"/>
                  </a:lnTo>
                  <a:close/>
                </a:path>
              </a:pathLst>
            </a:custGeom>
            <a:solidFill>
              <a:srgbClr val="77828C"/>
            </a:solidFill>
            <a:ln w="0">
              <a:solidFill>
                <a:srgbClr val="77828C"/>
              </a:solidFill>
              <a:prstDash val="solid"/>
            </a:ln>
          </p:spPr>
        </p:sp>
        <p:sp>
          <p:nvSpPr>
            <p:cNvPr id="1356" name="PTV3 forward refined 2">
              <a:extLst>
                <a:ext uri="{FF2B5EF4-FFF2-40B4-BE49-F238E27FC236}">
                  <a16:creationId xmlns:a16="http://schemas.microsoft.com/office/drawing/2014/main" id="{24AE15E3-3B2D-CC4A-618E-E9BB13DA2E16}"/>
                </a:ext>
              </a:extLst>
            </p:cNvPr>
            <p:cNvSpPr>
              <a:spLocks noGrp="1"/>
            </p:cNvSpPr>
            <p:nvPr/>
          </p:nvSpPr>
          <p:spPr>
            <a:xfrm>
              <a:off x="6452501" y="3106769"/>
              <a:ext cx="311563" cy="191"/>
            </a:xfrm>
            <a:custGeom>
              <a:avLst/>
              <a:gdLst/>
              <a:ahLst/>
              <a:cxnLst/>
              <a:rect l="0" t="0" r="0" b="0"/>
              <a:pathLst>
                <a:path w="311563" h="191">
                  <a:moveTo>
                    <a:pt x="0" y="0"/>
                  </a:moveTo>
                  <a:lnTo>
                    <a:pt x="311563" y="0"/>
                  </a:lnTo>
                </a:path>
              </a:pathLst>
            </a:custGeom>
            <a:noFill/>
            <a:ln w="8505">
              <a:solidFill>
                <a:srgbClr val="77828C"/>
              </a:solidFill>
              <a:prstDash val="solid"/>
            </a:ln>
          </p:spPr>
        </p:sp>
        <p:sp>
          <p:nvSpPr>
            <p:cNvPr id="1357" name="PTV3 forward refined 2 head">
              <a:extLst>
                <a:ext uri="{FF2B5EF4-FFF2-40B4-BE49-F238E27FC236}">
                  <a16:creationId xmlns:a16="http://schemas.microsoft.com/office/drawing/2014/main" id="{8007E90B-E49B-BC36-45F6-E1B46BA41A6C}"/>
                </a:ext>
              </a:extLst>
            </p:cNvPr>
            <p:cNvSpPr>
              <a:spLocks noGrp="1"/>
            </p:cNvSpPr>
            <p:nvPr/>
          </p:nvSpPr>
          <p:spPr>
            <a:xfrm>
              <a:off x="6720725" y="3078099"/>
              <a:ext cx="66675" cy="57340"/>
            </a:xfrm>
            <a:custGeom>
              <a:avLst/>
              <a:gdLst/>
              <a:ahLst/>
              <a:cxnLst/>
              <a:rect l="0" t="0" r="0" b="0"/>
              <a:pathLst>
                <a:path w="66675" h="57340">
                  <a:moveTo>
                    <a:pt x="66675" y="28670"/>
                  </a:moveTo>
                  <a:lnTo>
                    <a:pt x="0" y="0"/>
                  </a:lnTo>
                  <a:lnTo>
                    <a:pt x="0" y="57340"/>
                  </a:lnTo>
                  <a:close/>
                </a:path>
              </a:pathLst>
            </a:custGeom>
            <a:solidFill>
              <a:srgbClr val="77828C"/>
            </a:solidFill>
            <a:ln w="0">
              <a:noFill/>
              <a:prstDash val="solid"/>
            </a:ln>
          </p:spPr>
        </p:sp>
        <p:sp>
          <p:nvSpPr>
            <p:cNvPr id="1358" name="PTV3 forward refined 3">
              <a:extLst>
                <a:ext uri="{FF2B5EF4-FFF2-40B4-BE49-F238E27FC236}">
                  <a16:creationId xmlns:a16="http://schemas.microsoft.com/office/drawing/2014/main" id="{2D087525-2ABD-3A01-10DA-7F65FB2DD09A}"/>
                </a:ext>
              </a:extLst>
            </p:cNvPr>
            <p:cNvSpPr>
              <a:spLocks noGrp="1"/>
            </p:cNvSpPr>
            <p:nvPr/>
          </p:nvSpPr>
          <p:spPr>
            <a:xfrm>
              <a:off x="7438529" y="3106769"/>
              <a:ext cx="311563" cy="191"/>
            </a:xfrm>
            <a:custGeom>
              <a:avLst/>
              <a:gdLst/>
              <a:ahLst/>
              <a:cxnLst/>
              <a:rect l="0" t="0" r="0" b="0"/>
              <a:pathLst>
                <a:path w="311563" h="191">
                  <a:moveTo>
                    <a:pt x="0" y="0"/>
                  </a:moveTo>
                  <a:lnTo>
                    <a:pt x="311563" y="0"/>
                  </a:lnTo>
                </a:path>
              </a:pathLst>
            </a:custGeom>
            <a:noFill/>
            <a:ln w="8505">
              <a:solidFill>
                <a:srgbClr val="77828C"/>
              </a:solidFill>
              <a:prstDash val="solid"/>
            </a:ln>
          </p:spPr>
        </p:sp>
        <p:sp>
          <p:nvSpPr>
            <p:cNvPr id="1359" name="PTV3 forward refined 3 head">
              <a:extLst>
                <a:ext uri="{FF2B5EF4-FFF2-40B4-BE49-F238E27FC236}">
                  <a16:creationId xmlns:a16="http://schemas.microsoft.com/office/drawing/2014/main" id="{417DAC3E-DE7D-4EBD-83BF-06F7FB2A8085}"/>
                </a:ext>
              </a:extLst>
            </p:cNvPr>
            <p:cNvSpPr>
              <a:spLocks noGrp="1"/>
            </p:cNvSpPr>
            <p:nvPr/>
          </p:nvSpPr>
          <p:spPr>
            <a:xfrm>
              <a:off x="7706753" y="3078099"/>
              <a:ext cx="66675" cy="57340"/>
            </a:xfrm>
            <a:custGeom>
              <a:avLst/>
              <a:gdLst/>
              <a:ahLst/>
              <a:cxnLst/>
              <a:rect l="0" t="0" r="0" b="0"/>
              <a:pathLst>
                <a:path w="66675" h="57340">
                  <a:moveTo>
                    <a:pt x="66675" y="28670"/>
                  </a:moveTo>
                  <a:lnTo>
                    <a:pt x="0" y="0"/>
                  </a:lnTo>
                  <a:lnTo>
                    <a:pt x="0" y="57340"/>
                  </a:lnTo>
                  <a:close/>
                </a:path>
              </a:pathLst>
            </a:custGeom>
            <a:solidFill>
              <a:srgbClr val="77828C"/>
            </a:solidFill>
            <a:ln w="0">
              <a:solidFill>
                <a:srgbClr val="77828C"/>
              </a:solidFill>
              <a:prstDash val="solid"/>
            </a:ln>
          </p:spPr>
        </p:sp>
        <p:sp>
          <p:nvSpPr>
            <p:cNvPr id="1360" name="PTV3 forward refined 4">
              <a:extLst>
                <a:ext uri="{FF2B5EF4-FFF2-40B4-BE49-F238E27FC236}">
                  <a16:creationId xmlns:a16="http://schemas.microsoft.com/office/drawing/2014/main" id="{3F66A9B7-F35C-EB4C-B102-3F29A4296978}"/>
                </a:ext>
              </a:extLst>
            </p:cNvPr>
            <p:cNvSpPr>
              <a:spLocks noGrp="1"/>
            </p:cNvSpPr>
            <p:nvPr/>
          </p:nvSpPr>
          <p:spPr>
            <a:xfrm>
              <a:off x="8498852" y="3106769"/>
              <a:ext cx="255746" cy="191"/>
            </a:xfrm>
            <a:custGeom>
              <a:avLst/>
              <a:gdLst/>
              <a:ahLst/>
              <a:cxnLst/>
              <a:rect l="0" t="0" r="0" b="0"/>
              <a:pathLst>
                <a:path w="255746" h="191">
                  <a:moveTo>
                    <a:pt x="0" y="0"/>
                  </a:moveTo>
                  <a:lnTo>
                    <a:pt x="255746" y="0"/>
                  </a:lnTo>
                </a:path>
              </a:pathLst>
            </a:custGeom>
            <a:noFill/>
            <a:ln w="8505">
              <a:solidFill>
                <a:srgbClr val="77828C"/>
              </a:solidFill>
              <a:prstDash val="solid"/>
            </a:ln>
          </p:spPr>
        </p:sp>
        <p:sp>
          <p:nvSpPr>
            <p:cNvPr id="1361" name="PTV3 forward refined 4 head">
              <a:extLst>
                <a:ext uri="{FF2B5EF4-FFF2-40B4-BE49-F238E27FC236}">
                  <a16:creationId xmlns:a16="http://schemas.microsoft.com/office/drawing/2014/main" id="{4634E7DB-F8E3-B989-4F8D-785672F195B4}"/>
                </a:ext>
              </a:extLst>
            </p:cNvPr>
            <p:cNvSpPr>
              <a:spLocks noGrp="1"/>
            </p:cNvSpPr>
            <p:nvPr/>
          </p:nvSpPr>
          <p:spPr>
            <a:xfrm>
              <a:off x="8711259" y="3078099"/>
              <a:ext cx="66675" cy="57340"/>
            </a:xfrm>
            <a:custGeom>
              <a:avLst/>
              <a:gdLst/>
              <a:ahLst/>
              <a:cxnLst/>
              <a:rect l="0" t="0" r="0" b="0"/>
              <a:pathLst>
                <a:path w="66675" h="57340">
                  <a:moveTo>
                    <a:pt x="66675" y="28670"/>
                  </a:moveTo>
                  <a:lnTo>
                    <a:pt x="0" y="0"/>
                  </a:lnTo>
                  <a:lnTo>
                    <a:pt x="0" y="57340"/>
                  </a:lnTo>
                  <a:close/>
                </a:path>
              </a:pathLst>
            </a:custGeom>
            <a:solidFill>
              <a:srgbClr val="77828C"/>
            </a:solidFill>
            <a:ln w="0">
              <a:noFill/>
              <a:prstDash val="solid"/>
            </a:ln>
          </p:spPr>
        </p:sp>
        <p:sp>
          <p:nvSpPr>
            <p:cNvPr id="1362" name="Fusion refined 487.16">
              <a:extLst>
                <a:ext uri="{FF2B5EF4-FFF2-40B4-BE49-F238E27FC236}">
                  <a16:creationId xmlns:a16="http://schemas.microsoft.com/office/drawing/2014/main" id="{0FF19FA3-F74F-0EF3-2637-6AA25406EF88}"/>
                </a:ext>
              </a:extLst>
            </p:cNvPr>
            <p:cNvSpPr>
              <a:spLocks noGrp="1"/>
            </p:cNvSpPr>
            <p:nvPr/>
          </p:nvSpPr>
          <p:spPr>
            <a:xfrm>
              <a:off x="5085187" y="2418493"/>
              <a:ext cx="191" cy="404527"/>
            </a:xfrm>
            <a:custGeom>
              <a:avLst/>
              <a:gdLst/>
              <a:ahLst/>
              <a:cxnLst/>
              <a:rect l="0" t="0" r="0" b="0"/>
              <a:pathLst>
                <a:path w="191" h="404527">
                  <a:moveTo>
                    <a:pt x="0" y="0"/>
                  </a:moveTo>
                  <a:lnTo>
                    <a:pt x="0" y="404527"/>
                  </a:lnTo>
                </a:path>
              </a:pathLst>
            </a:custGeom>
            <a:noFill/>
            <a:ln w="8505">
              <a:solidFill>
                <a:srgbClr val="77828C"/>
              </a:solidFill>
              <a:prstDash val="solid"/>
            </a:ln>
          </p:spPr>
        </p:sp>
        <p:sp>
          <p:nvSpPr>
            <p:cNvPr id="1363" name="Fusion refined 487.16 head">
              <a:extLst>
                <a:ext uri="{FF2B5EF4-FFF2-40B4-BE49-F238E27FC236}">
                  <a16:creationId xmlns:a16="http://schemas.microsoft.com/office/drawing/2014/main" id="{3D13397A-1EED-4CCF-C88D-62A5EFCF622C}"/>
                </a:ext>
              </a:extLst>
            </p:cNvPr>
            <p:cNvSpPr>
              <a:spLocks noGrp="1"/>
            </p:cNvSpPr>
            <p:nvPr/>
          </p:nvSpPr>
          <p:spPr>
            <a:xfrm>
              <a:off x="5056517" y="2779681"/>
              <a:ext cx="57340" cy="66675"/>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364" name="Fusion refined 700.05">
              <a:extLst>
                <a:ext uri="{FF2B5EF4-FFF2-40B4-BE49-F238E27FC236}">
                  <a16:creationId xmlns:a16="http://schemas.microsoft.com/office/drawing/2014/main" id="{F3328C85-8D10-5BAE-F06A-A042F88B4457}"/>
                </a:ext>
              </a:extLst>
            </p:cNvPr>
            <p:cNvSpPr>
              <a:spLocks noGrp="1"/>
            </p:cNvSpPr>
            <p:nvPr/>
          </p:nvSpPr>
          <p:spPr>
            <a:xfrm>
              <a:off x="7112964" y="2418493"/>
              <a:ext cx="191" cy="404527"/>
            </a:xfrm>
            <a:custGeom>
              <a:avLst/>
              <a:gdLst/>
              <a:ahLst/>
              <a:cxnLst/>
              <a:rect l="0" t="0" r="0" b="0"/>
              <a:pathLst>
                <a:path w="191" h="404527">
                  <a:moveTo>
                    <a:pt x="0" y="0"/>
                  </a:moveTo>
                  <a:lnTo>
                    <a:pt x="0" y="404527"/>
                  </a:lnTo>
                </a:path>
              </a:pathLst>
            </a:custGeom>
            <a:noFill/>
            <a:ln w="8505">
              <a:solidFill>
                <a:srgbClr val="77828C"/>
              </a:solidFill>
              <a:prstDash val="solid"/>
            </a:ln>
          </p:spPr>
        </p:sp>
        <p:sp>
          <p:nvSpPr>
            <p:cNvPr id="1365" name="Fusion refined 700.05 head">
              <a:extLst>
                <a:ext uri="{FF2B5EF4-FFF2-40B4-BE49-F238E27FC236}">
                  <a16:creationId xmlns:a16="http://schemas.microsoft.com/office/drawing/2014/main" id="{615DF42F-7A96-D005-2B04-2E5B83AF189A}"/>
                </a:ext>
              </a:extLst>
            </p:cNvPr>
            <p:cNvSpPr>
              <a:spLocks noGrp="1"/>
            </p:cNvSpPr>
            <p:nvPr/>
          </p:nvSpPr>
          <p:spPr>
            <a:xfrm>
              <a:off x="7084294" y="2779681"/>
              <a:ext cx="57340" cy="66675"/>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366" name="Fusion refined 912.94">
              <a:extLst>
                <a:ext uri="{FF2B5EF4-FFF2-40B4-BE49-F238E27FC236}">
                  <a16:creationId xmlns:a16="http://schemas.microsoft.com/office/drawing/2014/main" id="{8F954EB4-FAB9-9DC0-DCA1-6E84B625ECD7}"/>
                </a:ext>
              </a:extLst>
            </p:cNvPr>
            <p:cNvSpPr>
              <a:spLocks noGrp="1"/>
            </p:cNvSpPr>
            <p:nvPr/>
          </p:nvSpPr>
          <p:spPr>
            <a:xfrm>
              <a:off x="9140742" y="2418493"/>
              <a:ext cx="191" cy="404527"/>
            </a:xfrm>
            <a:custGeom>
              <a:avLst/>
              <a:gdLst/>
              <a:ahLst/>
              <a:cxnLst/>
              <a:rect l="0" t="0" r="0" b="0"/>
              <a:pathLst>
                <a:path w="191" h="404527">
                  <a:moveTo>
                    <a:pt x="0" y="0"/>
                  </a:moveTo>
                  <a:lnTo>
                    <a:pt x="0" y="404527"/>
                  </a:lnTo>
                </a:path>
              </a:pathLst>
            </a:custGeom>
            <a:noFill/>
            <a:ln w="8505">
              <a:solidFill>
                <a:srgbClr val="77828C"/>
              </a:solidFill>
              <a:prstDash val="solid"/>
            </a:ln>
          </p:spPr>
        </p:sp>
        <p:sp>
          <p:nvSpPr>
            <p:cNvPr id="1367" name="Fusion refined 912.94 head">
              <a:extLst>
                <a:ext uri="{FF2B5EF4-FFF2-40B4-BE49-F238E27FC236}">
                  <a16:creationId xmlns:a16="http://schemas.microsoft.com/office/drawing/2014/main" id="{DDC6F6E8-2600-F9F0-8C4C-DF220F079064}"/>
                </a:ext>
              </a:extLst>
            </p:cNvPr>
            <p:cNvSpPr>
              <a:spLocks noGrp="1"/>
            </p:cNvSpPr>
            <p:nvPr/>
          </p:nvSpPr>
          <p:spPr>
            <a:xfrm>
              <a:off x="9112071" y="2779681"/>
              <a:ext cx="57340" cy="66675"/>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368" name="Recycle right refined">
              <a:extLst>
                <a:ext uri="{FF2B5EF4-FFF2-40B4-BE49-F238E27FC236}">
                  <a16:creationId xmlns:a16="http://schemas.microsoft.com/office/drawing/2014/main" id="{D9AFE2A4-7629-8D55-72A2-74513ED16554}"/>
                </a:ext>
              </a:extLst>
            </p:cNvPr>
            <p:cNvSpPr>
              <a:spLocks noGrp="1"/>
            </p:cNvSpPr>
            <p:nvPr/>
          </p:nvSpPr>
          <p:spPr>
            <a:xfrm>
              <a:off x="7596644" y="3385852"/>
              <a:ext cx="1544098" cy="241840"/>
            </a:xfrm>
            <a:custGeom>
              <a:avLst/>
              <a:gdLst/>
              <a:ahLst/>
              <a:cxnLst/>
              <a:rect l="0" t="0" r="0" b="0"/>
              <a:pathLst>
                <a:path w="1544098" h="241840">
                  <a:moveTo>
                    <a:pt x="1544098" y="0"/>
                  </a:moveTo>
                  <a:lnTo>
                    <a:pt x="1544098" y="241840"/>
                  </a:lnTo>
                  <a:lnTo>
                    <a:pt x="0" y="241840"/>
                  </a:lnTo>
                </a:path>
              </a:pathLst>
            </a:custGeom>
            <a:noFill/>
            <a:ln w="8505">
              <a:solidFill>
                <a:srgbClr val="77828C"/>
              </a:solidFill>
              <a:prstDash val="solid"/>
            </a:ln>
          </p:spPr>
        </p:sp>
        <p:sp>
          <p:nvSpPr>
            <p:cNvPr id="1369" name="Recycle left refined">
              <a:extLst>
                <a:ext uri="{FF2B5EF4-FFF2-40B4-BE49-F238E27FC236}">
                  <a16:creationId xmlns:a16="http://schemas.microsoft.com/office/drawing/2014/main" id="{9E9F6AF5-6C88-4D6A-4EB6-AE11098D540D}"/>
                </a:ext>
              </a:extLst>
            </p:cNvPr>
            <p:cNvSpPr>
              <a:spLocks noGrp="1"/>
            </p:cNvSpPr>
            <p:nvPr/>
          </p:nvSpPr>
          <p:spPr>
            <a:xfrm>
              <a:off x="5085187" y="3409188"/>
              <a:ext cx="1544098" cy="218503"/>
            </a:xfrm>
            <a:custGeom>
              <a:avLst/>
              <a:gdLst/>
              <a:ahLst/>
              <a:cxnLst/>
              <a:rect l="0" t="0" r="0" b="0"/>
              <a:pathLst>
                <a:path w="1544098" h="218503">
                  <a:moveTo>
                    <a:pt x="1544098" y="218503"/>
                  </a:moveTo>
                  <a:lnTo>
                    <a:pt x="0" y="218503"/>
                  </a:lnTo>
                  <a:lnTo>
                    <a:pt x="0" y="0"/>
                  </a:lnTo>
                </a:path>
              </a:pathLst>
            </a:custGeom>
            <a:noFill/>
            <a:ln w="8505">
              <a:solidFill>
                <a:srgbClr val="77828C"/>
              </a:solidFill>
              <a:prstDash val="solid"/>
            </a:ln>
          </p:spPr>
        </p:sp>
        <p:sp>
          <p:nvSpPr>
            <p:cNvPr id="1370" name="Recycle left refined head">
              <a:extLst>
                <a:ext uri="{FF2B5EF4-FFF2-40B4-BE49-F238E27FC236}">
                  <a16:creationId xmlns:a16="http://schemas.microsoft.com/office/drawing/2014/main" id="{FC70626C-9297-3774-289D-8C74BAB81591}"/>
                </a:ext>
              </a:extLst>
            </p:cNvPr>
            <p:cNvSpPr>
              <a:spLocks noGrp="1"/>
            </p:cNvSpPr>
            <p:nvPr/>
          </p:nvSpPr>
          <p:spPr>
            <a:xfrm>
              <a:off x="5056517" y="3385852"/>
              <a:ext cx="57340" cy="66675"/>
            </a:xfrm>
            <a:custGeom>
              <a:avLst/>
              <a:gdLst/>
              <a:ahLst/>
              <a:cxnLst/>
              <a:rect l="0" t="0" r="0" b="0"/>
              <a:pathLst>
                <a:path w="57340" h="66675">
                  <a:moveTo>
                    <a:pt x="28670" y="0"/>
                  </a:moveTo>
                  <a:lnTo>
                    <a:pt x="0" y="66675"/>
                  </a:lnTo>
                  <a:lnTo>
                    <a:pt x="57340" y="66675"/>
                  </a:lnTo>
                  <a:close/>
                </a:path>
              </a:pathLst>
            </a:custGeom>
            <a:solidFill>
              <a:srgbClr val="77828C"/>
            </a:solidFill>
            <a:ln w="0">
              <a:noFill/>
              <a:prstDash val="solid"/>
            </a:ln>
          </p:spPr>
        </p:sp>
        <p:sp>
          <p:nvSpPr>
            <p:cNvPr id="1371" name="Crop to summary refined">
              <a:extLst>
                <a:ext uri="{FF2B5EF4-FFF2-40B4-BE49-F238E27FC236}">
                  <a16:creationId xmlns:a16="http://schemas.microsoft.com/office/drawing/2014/main" id="{23964A60-5300-B32A-CC8C-9F9A10909522}"/>
                </a:ext>
              </a:extLst>
            </p:cNvPr>
            <p:cNvSpPr>
              <a:spLocks noGrp="1"/>
            </p:cNvSpPr>
            <p:nvPr/>
          </p:nvSpPr>
          <p:spPr>
            <a:xfrm flipV="1">
              <a:off x="3571124" y="5920900"/>
              <a:ext cx="1306769" cy="143591"/>
            </a:xfrm>
            <a:custGeom>
              <a:avLst/>
              <a:gdLst/>
              <a:ahLst/>
              <a:cxnLst/>
              <a:rect l="0" t="0" r="0" b="0"/>
              <a:pathLst>
                <a:path w="1148715" h="191">
                  <a:moveTo>
                    <a:pt x="0" y="0"/>
                  </a:moveTo>
                  <a:lnTo>
                    <a:pt x="1148715" y="0"/>
                  </a:lnTo>
                </a:path>
              </a:pathLst>
            </a:custGeom>
            <a:noFill/>
            <a:ln w="8505">
              <a:solidFill>
                <a:srgbClr val="77828C"/>
              </a:solidFill>
              <a:prstDash val="solid"/>
            </a:ln>
          </p:spPr>
        </p:sp>
        <p:sp>
          <p:nvSpPr>
            <p:cNvPr id="1372" name="Crop to summary refined head">
              <a:extLst>
                <a:ext uri="{FF2B5EF4-FFF2-40B4-BE49-F238E27FC236}">
                  <a16:creationId xmlns:a16="http://schemas.microsoft.com/office/drawing/2014/main" id="{864E15CB-81EF-2FAC-14F2-E25D89F29346}"/>
                </a:ext>
              </a:extLst>
            </p:cNvPr>
            <p:cNvSpPr>
              <a:spLocks noGrp="1"/>
            </p:cNvSpPr>
            <p:nvPr/>
          </p:nvSpPr>
          <p:spPr>
            <a:xfrm>
              <a:off x="4832301" y="6036088"/>
              <a:ext cx="66676" cy="57339"/>
            </a:xfrm>
            <a:custGeom>
              <a:avLst/>
              <a:gdLst/>
              <a:ahLst/>
              <a:cxnLst/>
              <a:rect l="0" t="0" r="0" b="0"/>
              <a:pathLst>
                <a:path w="66675" h="57340">
                  <a:moveTo>
                    <a:pt x="66675" y="28670"/>
                  </a:moveTo>
                  <a:lnTo>
                    <a:pt x="0" y="0"/>
                  </a:lnTo>
                  <a:lnTo>
                    <a:pt x="0" y="57340"/>
                  </a:lnTo>
                  <a:close/>
                </a:path>
              </a:pathLst>
            </a:custGeom>
            <a:solidFill>
              <a:srgbClr val="77828C"/>
            </a:solidFill>
            <a:ln w="0">
              <a:noFill/>
              <a:prstDash val="solid"/>
            </a:ln>
          </p:spPr>
        </p:sp>
        <p:sp>
          <p:nvSpPr>
            <p:cNvPr id="1373" name="Input split refined">
              <a:extLst>
                <a:ext uri="{FF2B5EF4-FFF2-40B4-BE49-F238E27FC236}">
                  <a16:creationId xmlns:a16="http://schemas.microsoft.com/office/drawing/2014/main" id="{B4BBBDF4-6774-1D2C-95B2-F3B88AB1C869}"/>
                </a:ext>
              </a:extLst>
            </p:cNvPr>
            <p:cNvSpPr>
              <a:spLocks noGrp="1"/>
            </p:cNvSpPr>
            <p:nvPr/>
          </p:nvSpPr>
          <p:spPr>
            <a:xfrm>
              <a:off x="2152323" y="7793354"/>
              <a:ext cx="846770" cy="160020"/>
            </a:xfrm>
            <a:custGeom>
              <a:avLst/>
              <a:gdLst/>
              <a:ahLst/>
              <a:cxnLst/>
              <a:rect l="0" t="0" r="0" b="0"/>
              <a:pathLst>
                <a:path w="846772" h="160020">
                  <a:moveTo>
                    <a:pt x="846772" y="0"/>
                  </a:moveTo>
                  <a:lnTo>
                    <a:pt x="846772" y="160020"/>
                  </a:lnTo>
                  <a:lnTo>
                    <a:pt x="0" y="160020"/>
                  </a:lnTo>
                </a:path>
              </a:pathLst>
            </a:custGeom>
            <a:noFill/>
            <a:ln w="8505">
              <a:solidFill>
                <a:srgbClr val="77828C"/>
              </a:solidFill>
              <a:prstDash val="solid"/>
            </a:ln>
          </p:spPr>
        </p:sp>
        <p:sp>
          <p:nvSpPr>
            <p:cNvPr id="1374" name="Input split right refined">
              <a:extLst>
                <a:ext uri="{FF2B5EF4-FFF2-40B4-BE49-F238E27FC236}">
                  <a16:creationId xmlns:a16="http://schemas.microsoft.com/office/drawing/2014/main" id="{950F0CCA-2F88-9AFF-22D8-DAA7ACB6176C}"/>
                </a:ext>
              </a:extLst>
            </p:cNvPr>
            <p:cNvSpPr>
              <a:spLocks noGrp="1"/>
            </p:cNvSpPr>
            <p:nvPr/>
          </p:nvSpPr>
          <p:spPr>
            <a:xfrm>
              <a:off x="2999100" y="7953375"/>
              <a:ext cx="827723" cy="190"/>
            </a:xfrm>
            <a:custGeom>
              <a:avLst/>
              <a:gdLst/>
              <a:ahLst/>
              <a:cxnLst/>
              <a:rect l="0" t="0" r="0" b="0"/>
              <a:pathLst>
                <a:path w="827723" h="191">
                  <a:moveTo>
                    <a:pt x="0" y="0"/>
                  </a:moveTo>
                  <a:lnTo>
                    <a:pt x="827723" y="0"/>
                  </a:lnTo>
                </a:path>
              </a:pathLst>
            </a:custGeom>
            <a:noFill/>
            <a:ln w="8505">
              <a:solidFill>
                <a:srgbClr val="77828C"/>
              </a:solidFill>
              <a:prstDash val="solid"/>
            </a:ln>
          </p:spPr>
        </p:sp>
        <p:sp>
          <p:nvSpPr>
            <p:cNvPr id="1375" name="Inputs to pool refined">
              <a:extLst>
                <a:ext uri="{FF2B5EF4-FFF2-40B4-BE49-F238E27FC236}">
                  <a16:creationId xmlns:a16="http://schemas.microsoft.com/office/drawing/2014/main" id="{B22E0EF3-FD19-0826-1822-07182CC69FC5}"/>
                </a:ext>
              </a:extLst>
            </p:cNvPr>
            <p:cNvSpPr>
              <a:spLocks noGrp="1"/>
            </p:cNvSpPr>
            <p:nvPr/>
          </p:nvSpPr>
          <p:spPr>
            <a:xfrm>
              <a:off x="2159804" y="7953375"/>
              <a:ext cx="190" cy="143732"/>
            </a:xfrm>
            <a:custGeom>
              <a:avLst/>
              <a:gdLst/>
              <a:ahLst/>
              <a:cxnLst/>
              <a:rect l="0" t="0" r="0" b="0"/>
              <a:pathLst>
                <a:path w="191" h="143732">
                  <a:moveTo>
                    <a:pt x="0" y="0"/>
                  </a:moveTo>
                  <a:lnTo>
                    <a:pt x="0" y="143732"/>
                  </a:lnTo>
                </a:path>
              </a:pathLst>
            </a:custGeom>
            <a:noFill/>
            <a:ln w="8505">
              <a:solidFill>
                <a:srgbClr val="77828C"/>
              </a:solidFill>
              <a:prstDash val="solid"/>
            </a:ln>
          </p:spPr>
        </p:sp>
        <p:sp>
          <p:nvSpPr>
            <p:cNvPr id="1376" name="Inputs to pool refined head">
              <a:extLst>
                <a:ext uri="{FF2B5EF4-FFF2-40B4-BE49-F238E27FC236}">
                  <a16:creationId xmlns:a16="http://schemas.microsoft.com/office/drawing/2014/main" id="{CA70B1F6-4A00-BABC-2972-012866989961}"/>
                </a:ext>
              </a:extLst>
            </p:cNvPr>
            <p:cNvSpPr>
              <a:spLocks noGrp="1"/>
            </p:cNvSpPr>
            <p:nvPr/>
          </p:nvSpPr>
          <p:spPr>
            <a:xfrm>
              <a:off x="2131133" y="8053769"/>
              <a:ext cx="57339" cy="66676"/>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377" name="Inputs to attention refined">
              <a:extLst>
                <a:ext uri="{FF2B5EF4-FFF2-40B4-BE49-F238E27FC236}">
                  <a16:creationId xmlns:a16="http://schemas.microsoft.com/office/drawing/2014/main" id="{08F1A61E-3B0E-8BF6-7F27-5CCE4D22C59A}"/>
                </a:ext>
              </a:extLst>
            </p:cNvPr>
            <p:cNvSpPr>
              <a:spLocks noGrp="1"/>
            </p:cNvSpPr>
            <p:nvPr/>
          </p:nvSpPr>
          <p:spPr>
            <a:xfrm>
              <a:off x="3825152" y="7950242"/>
              <a:ext cx="190" cy="143732"/>
            </a:xfrm>
            <a:custGeom>
              <a:avLst/>
              <a:gdLst/>
              <a:ahLst/>
              <a:cxnLst/>
              <a:rect l="0" t="0" r="0" b="0"/>
              <a:pathLst>
                <a:path w="191" h="143732">
                  <a:moveTo>
                    <a:pt x="0" y="0"/>
                  </a:moveTo>
                  <a:lnTo>
                    <a:pt x="0" y="143732"/>
                  </a:lnTo>
                </a:path>
              </a:pathLst>
            </a:custGeom>
            <a:noFill/>
            <a:ln w="8505">
              <a:solidFill>
                <a:srgbClr val="77828C"/>
              </a:solidFill>
              <a:prstDash val="solid"/>
            </a:ln>
          </p:spPr>
        </p:sp>
        <p:sp>
          <p:nvSpPr>
            <p:cNvPr id="1378" name="Inputs to attention refined head">
              <a:extLst>
                <a:ext uri="{FF2B5EF4-FFF2-40B4-BE49-F238E27FC236}">
                  <a16:creationId xmlns:a16="http://schemas.microsoft.com/office/drawing/2014/main" id="{4A8E2717-7DBF-7A20-898F-8A4B8D99C916}"/>
                </a:ext>
              </a:extLst>
            </p:cNvPr>
            <p:cNvSpPr>
              <a:spLocks noGrp="1"/>
            </p:cNvSpPr>
            <p:nvPr/>
          </p:nvSpPr>
          <p:spPr>
            <a:xfrm>
              <a:off x="3793990" y="8050639"/>
              <a:ext cx="57339" cy="66676"/>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383" name="MLP to FiLM refined">
              <a:extLst>
                <a:ext uri="{FF2B5EF4-FFF2-40B4-BE49-F238E27FC236}">
                  <a16:creationId xmlns:a16="http://schemas.microsoft.com/office/drawing/2014/main" id="{2C7C678A-F3D0-E51D-2CD6-B41E5CBA7774}"/>
                </a:ext>
              </a:extLst>
            </p:cNvPr>
            <p:cNvSpPr>
              <a:spLocks noGrp="1"/>
            </p:cNvSpPr>
            <p:nvPr/>
          </p:nvSpPr>
          <p:spPr>
            <a:xfrm>
              <a:off x="3409393" y="8968263"/>
              <a:ext cx="1502569" cy="190"/>
            </a:xfrm>
            <a:custGeom>
              <a:avLst/>
              <a:gdLst/>
              <a:ahLst/>
              <a:cxnLst/>
              <a:rect l="0" t="0" r="0" b="0"/>
              <a:pathLst>
                <a:path w="1502569" h="191">
                  <a:moveTo>
                    <a:pt x="0" y="0"/>
                  </a:moveTo>
                  <a:lnTo>
                    <a:pt x="1502569" y="0"/>
                  </a:lnTo>
                </a:path>
              </a:pathLst>
            </a:custGeom>
            <a:noFill/>
            <a:ln w="8505">
              <a:solidFill>
                <a:srgbClr val="77828C"/>
              </a:solidFill>
              <a:prstDash val="solid"/>
            </a:ln>
          </p:spPr>
        </p:sp>
        <p:sp>
          <p:nvSpPr>
            <p:cNvPr id="1384" name="MLP to FiLM refined head">
              <a:extLst>
                <a:ext uri="{FF2B5EF4-FFF2-40B4-BE49-F238E27FC236}">
                  <a16:creationId xmlns:a16="http://schemas.microsoft.com/office/drawing/2014/main" id="{E62BF4CB-2DFB-E34F-0A43-259454CA6416}"/>
                </a:ext>
              </a:extLst>
            </p:cNvPr>
            <p:cNvSpPr>
              <a:spLocks noGrp="1"/>
            </p:cNvSpPr>
            <p:nvPr/>
          </p:nvSpPr>
          <p:spPr>
            <a:xfrm>
              <a:off x="4868623" y="8939595"/>
              <a:ext cx="66676" cy="57339"/>
            </a:xfrm>
            <a:custGeom>
              <a:avLst/>
              <a:gdLst/>
              <a:ahLst/>
              <a:cxnLst/>
              <a:rect l="0" t="0" r="0" b="0"/>
              <a:pathLst>
                <a:path w="66675" h="57340">
                  <a:moveTo>
                    <a:pt x="66675" y="28670"/>
                  </a:moveTo>
                  <a:lnTo>
                    <a:pt x="0" y="0"/>
                  </a:lnTo>
                  <a:lnTo>
                    <a:pt x="0" y="57340"/>
                  </a:lnTo>
                  <a:close/>
                </a:path>
              </a:pathLst>
            </a:custGeom>
            <a:solidFill>
              <a:srgbClr val="77828C"/>
            </a:solidFill>
            <a:ln w="0">
              <a:noFill/>
              <a:prstDash val="solid"/>
            </a:ln>
          </p:spPr>
        </p:sp>
        <p:sp>
          <p:nvSpPr>
            <p:cNvPr id="1385" name="Summary to FiLM refined">
              <a:extLst>
                <a:ext uri="{FF2B5EF4-FFF2-40B4-BE49-F238E27FC236}">
                  <a16:creationId xmlns:a16="http://schemas.microsoft.com/office/drawing/2014/main" id="{4AD6C56A-E9C3-F934-64AC-D936F1D8505E}"/>
                </a:ext>
              </a:extLst>
            </p:cNvPr>
            <p:cNvSpPr>
              <a:spLocks noGrp="1"/>
            </p:cNvSpPr>
            <p:nvPr/>
          </p:nvSpPr>
          <p:spPr>
            <a:xfrm>
              <a:off x="5261889" y="6405028"/>
              <a:ext cx="190" cy="2367440"/>
            </a:xfrm>
            <a:custGeom>
              <a:avLst/>
              <a:gdLst/>
              <a:ahLst/>
              <a:cxnLst/>
              <a:rect l="0" t="0" r="0" b="0"/>
              <a:pathLst>
                <a:path w="191" h="2367439">
                  <a:moveTo>
                    <a:pt x="0" y="0"/>
                  </a:moveTo>
                  <a:lnTo>
                    <a:pt x="0" y="2367439"/>
                  </a:lnTo>
                </a:path>
              </a:pathLst>
            </a:custGeom>
            <a:noFill/>
            <a:ln w="8505">
              <a:solidFill>
                <a:srgbClr val="77828C"/>
              </a:solidFill>
              <a:prstDash val="solid"/>
            </a:ln>
          </p:spPr>
        </p:sp>
        <p:sp>
          <p:nvSpPr>
            <p:cNvPr id="1386" name="Summary to FiLM refined head">
              <a:extLst>
                <a:ext uri="{FF2B5EF4-FFF2-40B4-BE49-F238E27FC236}">
                  <a16:creationId xmlns:a16="http://schemas.microsoft.com/office/drawing/2014/main" id="{EEAEF4BF-5039-6C23-B675-9771749FE17A}"/>
                </a:ext>
              </a:extLst>
            </p:cNvPr>
            <p:cNvSpPr>
              <a:spLocks noGrp="1"/>
            </p:cNvSpPr>
            <p:nvPr/>
          </p:nvSpPr>
          <p:spPr>
            <a:xfrm>
              <a:off x="5234867" y="8724900"/>
              <a:ext cx="57339" cy="66676"/>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387" name="Summary to cross attention refined">
              <a:extLst>
                <a:ext uri="{FF2B5EF4-FFF2-40B4-BE49-F238E27FC236}">
                  <a16:creationId xmlns:a16="http://schemas.microsoft.com/office/drawing/2014/main" id="{EFD90DBF-A222-410E-15F3-D541CA16A8AE}"/>
                </a:ext>
              </a:extLst>
            </p:cNvPr>
            <p:cNvSpPr>
              <a:spLocks noGrp="1"/>
            </p:cNvSpPr>
            <p:nvPr/>
          </p:nvSpPr>
          <p:spPr>
            <a:xfrm>
              <a:off x="4659180" y="8299325"/>
              <a:ext cx="604619" cy="107521"/>
            </a:xfrm>
            <a:custGeom>
              <a:avLst/>
              <a:gdLst/>
              <a:ahLst/>
              <a:cxnLst/>
              <a:rect l="0" t="0" r="0" b="0"/>
              <a:pathLst>
                <a:path w="664845" h="191">
                  <a:moveTo>
                    <a:pt x="664845" y="0"/>
                  </a:moveTo>
                  <a:lnTo>
                    <a:pt x="0" y="0"/>
                  </a:lnTo>
                </a:path>
              </a:pathLst>
            </a:custGeom>
            <a:noFill/>
            <a:ln w="8505">
              <a:solidFill>
                <a:srgbClr val="77828C"/>
              </a:solidFill>
              <a:prstDash val="solid"/>
            </a:ln>
          </p:spPr>
        </p:sp>
        <p:sp>
          <p:nvSpPr>
            <p:cNvPr id="1388" name="Summary to cross attention refined head">
              <a:extLst>
                <a:ext uri="{FF2B5EF4-FFF2-40B4-BE49-F238E27FC236}">
                  <a16:creationId xmlns:a16="http://schemas.microsoft.com/office/drawing/2014/main" id="{91B08F31-0339-9716-3395-2B3F8970BA82}"/>
                </a:ext>
              </a:extLst>
            </p:cNvPr>
            <p:cNvSpPr>
              <a:spLocks noGrp="1"/>
            </p:cNvSpPr>
            <p:nvPr/>
          </p:nvSpPr>
          <p:spPr>
            <a:xfrm>
              <a:off x="4592349" y="8268463"/>
              <a:ext cx="66676" cy="57339"/>
            </a:xfrm>
            <a:custGeom>
              <a:avLst/>
              <a:gdLst/>
              <a:ahLst/>
              <a:cxnLst/>
              <a:rect l="0" t="0" r="0" b="0"/>
              <a:pathLst>
                <a:path w="66675" h="57340">
                  <a:moveTo>
                    <a:pt x="0" y="28670"/>
                  </a:moveTo>
                  <a:lnTo>
                    <a:pt x="66675" y="57340"/>
                  </a:lnTo>
                  <a:lnTo>
                    <a:pt x="66675" y="0"/>
                  </a:lnTo>
                  <a:close/>
                </a:path>
              </a:pathLst>
            </a:custGeom>
            <a:solidFill>
              <a:srgbClr val="77828C"/>
            </a:solidFill>
            <a:ln w="0">
              <a:noFill/>
              <a:prstDash val="solid"/>
            </a:ln>
          </p:spPr>
        </p:sp>
        <p:sp>
          <p:nvSpPr>
            <p:cNvPr id="1389" name="FiLM to candidate refined">
              <a:extLst>
                <a:ext uri="{FF2B5EF4-FFF2-40B4-BE49-F238E27FC236}">
                  <a16:creationId xmlns:a16="http://schemas.microsoft.com/office/drawing/2014/main" id="{25FC3F76-C3DD-1537-7837-64B9361AE243}"/>
                </a:ext>
              </a:extLst>
            </p:cNvPr>
            <p:cNvSpPr>
              <a:spLocks noGrp="1"/>
            </p:cNvSpPr>
            <p:nvPr/>
          </p:nvSpPr>
          <p:spPr>
            <a:xfrm>
              <a:off x="5260059" y="9144953"/>
              <a:ext cx="190" cy="215360"/>
            </a:xfrm>
            <a:custGeom>
              <a:avLst/>
              <a:gdLst/>
              <a:ahLst/>
              <a:cxnLst/>
              <a:rect l="0" t="0" r="0" b="0"/>
              <a:pathLst>
                <a:path w="191" h="215360">
                  <a:moveTo>
                    <a:pt x="0" y="0"/>
                  </a:moveTo>
                  <a:lnTo>
                    <a:pt x="0" y="215360"/>
                  </a:lnTo>
                </a:path>
              </a:pathLst>
            </a:custGeom>
            <a:noFill/>
            <a:ln w="8505">
              <a:solidFill>
                <a:srgbClr val="77828C"/>
              </a:solidFill>
              <a:prstDash val="solid"/>
            </a:ln>
          </p:spPr>
        </p:sp>
        <p:sp>
          <p:nvSpPr>
            <p:cNvPr id="1390" name="FiLM to candidate refined head">
              <a:extLst>
                <a:ext uri="{FF2B5EF4-FFF2-40B4-BE49-F238E27FC236}">
                  <a16:creationId xmlns:a16="http://schemas.microsoft.com/office/drawing/2014/main" id="{7A05C2E3-B0E7-7DA8-4847-EC91C004D35D}"/>
                </a:ext>
              </a:extLst>
            </p:cNvPr>
            <p:cNvSpPr>
              <a:spLocks noGrp="1"/>
            </p:cNvSpPr>
            <p:nvPr/>
          </p:nvSpPr>
          <p:spPr>
            <a:xfrm>
              <a:off x="5227656" y="9316975"/>
              <a:ext cx="57339" cy="66676"/>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391" name="Candidate to foreground refined">
              <a:extLst>
                <a:ext uri="{FF2B5EF4-FFF2-40B4-BE49-F238E27FC236}">
                  <a16:creationId xmlns:a16="http://schemas.microsoft.com/office/drawing/2014/main" id="{FE203BD6-3778-87C2-8526-E332B5B380C4}"/>
                </a:ext>
              </a:extLst>
            </p:cNvPr>
            <p:cNvSpPr>
              <a:spLocks noGrp="1"/>
            </p:cNvSpPr>
            <p:nvPr/>
          </p:nvSpPr>
          <p:spPr>
            <a:xfrm>
              <a:off x="2390046" y="9532751"/>
              <a:ext cx="2867433" cy="278948"/>
            </a:xfrm>
            <a:custGeom>
              <a:avLst/>
              <a:gdLst/>
              <a:ahLst/>
              <a:cxnLst/>
              <a:rect l="0" t="0" r="0" b="0"/>
              <a:pathLst>
                <a:path w="2809018" h="286702">
                  <a:moveTo>
                    <a:pt x="2809018" y="0"/>
                  </a:moveTo>
                  <a:lnTo>
                    <a:pt x="2809018" y="95250"/>
                  </a:lnTo>
                  <a:lnTo>
                    <a:pt x="0" y="95250"/>
                  </a:lnTo>
                  <a:lnTo>
                    <a:pt x="0" y="286702"/>
                  </a:lnTo>
                </a:path>
              </a:pathLst>
            </a:custGeom>
            <a:noFill/>
            <a:ln w="8505">
              <a:solidFill>
                <a:srgbClr val="77828C"/>
              </a:solidFill>
              <a:prstDash val="solid"/>
            </a:ln>
          </p:spPr>
        </p:sp>
        <p:sp>
          <p:nvSpPr>
            <p:cNvPr id="1392" name="Candidate to foreground refined head">
              <a:extLst>
                <a:ext uri="{FF2B5EF4-FFF2-40B4-BE49-F238E27FC236}">
                  <a16:creationId xmlns:a16="http://schemas.microsoft.com/office/drawing/2014/main" id="{D2B7433A-243E-C206-1CB1-3F191E6AD029}"/>
                </a:ext>
              </a:extLst>
            </p:cNvPr>
            <p:cNvSpPr>
              <a:spLocks noGrp="1"/>
            </p:cNvSpPr>
            <p:nvPr/>
          </p:nvSpPr>
          <p:spPr>
            <a:xfrm>
              <a:off x="2361378" y="9768364"/>
              <a:ext cx="57340" cy="66675"/>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393" name="Foreground to probability refined">
              <a:extLst>
                <a:ext uri="{FF2B5EF4-FFF2-40B4-BE49-F238E27FC236}">
                  <a16:creationId xmlns:a16="http://schemas.microsoft.com/office/drawing/2014/main" id="{D5A6B998-ADFA-E982-8C35-E6D90114C21C}"/>
                </a:ext>
              </a:extLst>
            </p:cNvPr>
            <p:cNvSpPr>
              <a:spLocks noGrp="1"/>
            </p:cNvSpPr>
            <p:nvPr/>
          </p:nvSpPr>
          <p:spPr>
            <a:xfrm flipV="1">
              <a:off x="3273601" y="9904498"/>
              <a:ext cx="621737" cy="107521"/>
            </a:xfrm>
            <a:custGeom>
              <a:avLst/>
              <a:gdLst/>
              <a:ahLst/>
              <a:cxnLst/>
              <a:rect l="0" t="0" r="0" b="0"/>
              <a:pathLst>
                <a:path w="600742" h="191">
                  <a:moveTo>
                    <a:pt x="0" y="0"/>
                  </a:moveTo>
                  <a:lnTo>
                    <a:pt x="600742" y="0"/>
                  </a:lnTo>
                </a:path>
              </a:pathLst>
            </a:custGeom>
            <a:noFill/>
            <a:ln w="8505">
              <a:solidFill>
                <a:srgbClr val="77828C"/>
              </a:solidFill>
              <a:prstDash val="solid"/>
            </a:ln>
          </p:spPr>
        </p:sp>
        <p:sp>
          <p:nvSpPr>
            <p:cNvPr id="1394" name="Foreground to probability refined head">
              <a:extLst>
                <a:ext uri="{FF2B5EF4-FFF2-40B4-BE49-F238E27FC236}">
                  <a16:creationId xmlns:a16="http://schemas.microsoft.com/office/drawing/2014/main" id="{660BE4D6-2608-6E09-7FF4-AD7C50994699}"/>
                </a:ext>
              </a:extLst>
            </p:cNvPr>
            <p:cNvSpPr>
              <a:spLocks noGrp="1"/>
            </p:cNvSpPr>
            <p:nvPr/>
          </p:nvSpPr>
          <p:spPr>
            <a:xfrm>
              <a:off x="3856976" y="9982695"/>
              <a:ext cx="66676" cy="57339"/>
            </a:xfrm>
            <a:custGeom>
              <a:avLst/>
              <a:gdLst/>
              <a:ahLst/>
              <a:cxnLst/>
              <a:rect l="0" t="0" r="0" b="0"/>
              <a:pathLst>
                <a:path w="66675" h="57340">
                  <a:moveTo>
                    <a:pt x="66675" y="28670"/>
                  </a:moveTo>
                  <a:lnTo>
                    <a:pt x="0" y="0"/>
                  </a:lnTo>
                  <a:lnTo>
                    <a:pt x="0" y="57340"/>
                  </a:lnTo>
                  <a:close/>
                </a:path>
              </a:pathLst>
            </a:custGeom>
            <a:solidFill>
              <a:srgbClr val="77828C"/>
            </a:solidFill>
            <a:ln w="0">
              <a:noFill/>
              <a:prstDash val="solid"/>
            </a:ln>
          </p:spPr>
        </p:sp>
        <p:sp>
          <p:nvSpPr>
            <p:cNvPr id="1395" name="Candidate to cosine refined">
              <a:extLst>
                <a:ext uri="{FF2B5EF4-FFF2-40B4-BE49-F238E27FC236}">
                  <a16:creationId xmlns:a16="http://schemas.microsoft.com/office/drawing/2014/main" id="{22A5040B-9402-AB7D-9094-F4BF5F10ADD2}"/>
                </a:ext>
              </a:extLst>
            </p:cNvPr>
            <p:cNvSpPr>
              <a:spLocks noGrp="1"/>
            </p:cNvSpPr>
            <p:nvPr/>
          </p:nvSpPr>
          <p:spPr>
            <a:xfrm>
              <a:off x="5257496" y="9528367"/>
              <a:ext cx="2419601" cy="443164"/>
            </a:xfrm>
            <a:custGeom>
              <a:avLst/>
              <a:gdLst/>
              <a:ahLst/>
              <a:cxnLst/>
              <a:rect l="0" t="0" r="0" b="0"/>
              <a:pathLst>
                <a:path w="2143887" h="446532">
                  <a:moveTo>
                    <a:pt x="0" y="0"/>
                  </a:moveTo>
                  <a:lnTo>
                    <a:pt x="0" y="446532"/>
                  </a:lnTo>
                  <a:lnTo>
                    <a:pt x="2143887" y="446532"/>
                  </a:lnTo>
                </a:path>
              </a:pathLst>
            </a:custGeom>
            <a:noFill/>
            <a:ln w="8505">
              <a:solidFill>
                <a:srgbClr val="77828C"/>
              </a:solidFill>
              <a:prstDash val="solid"/>
            </a:ln>
          </p:spPr>
        </p:sp>
        <p:sp>
          <p:nvSpPr>
            <p:cNvPr id="1396" name="Candidate to cosine refined head">
              <a:extLst>
                <a:ext uri="{FF2B5EF4-FFF2-40B4-BE49-F238E27FC236}">
                  <a16:creationId xmlns:a16="http://schemas.microsoft.com/office/drawing/2014/main" id="{D0F3AAE9-EBC0-FC07-AF0A-FBDAD938D93E}"/>
                </a:ext>
              </a:extLst>
            </p:cNvPr>
            <p:cNvSpPr>
              <a:spLocks noGrp="1"/>
            </p:cNvSpPr>
            <p:nvPr/>
          </p:nvSpPr>
          <p:spPr>
            <a:xfrm>
              <a:off x="7633759" y="9942862"/>
              <a:ext cx="66675" cy="57340"/>
            </a:xfrm>
            <a:custGeom>
              <a:avLst/>
              <a:gdLst/>
              <a:ahLst/>
              <a:cxnLst/>
              <a:rect l="0" t="0" r="0" b="0"/>
              <a:pathLst>
                <a:path w="66675" h="57340">
                  <a:moveTo>
                    <a:pt x="66675" y="28670"/>
                  </a:moveTo>
                  <a:lnTo>
                    <a:pt x="0" y="0"/>
                  </a:lnTo>
                  <a:lnTo>
                    <a:pt x="0" y="57340"/>
                  </a:lnTo>
                  <a:close/>
                </a:path>
              </a:pathLst>
            </a:custGeom>
            <a:solidFill>
              <a:srgbClr val="77828C"/>
            </a:solidFill>
            <a:ln w="0">
              <a:noFill/>
              <a:prstDash val="solid"/>
            </a:ln>
          </p:spPr>
        </p:sp>
        <p:sp>
          <p:nvSpPr>
            <p:cNvPr id="1397" name="Selected identity to graph refined">
              <a:extLst>
                <a:ext uri="{FF2B5EF4-FFF2-40B4-BE49-F238E27FC236}">
                  <a16:creationId xmlns:a16="http://schemas.microsoft.com/office/drawing/2014/main" id="{2545D43E-9B8D-BA3E-80CD-880BD63B35AE}"/>
                </a:ext>
              </a:extLst>
            </p:cNvPr>
            <p:cNvSpPr>
              <a:spLocks noGrp="1"/>
            </p:cNvSpPr>
            <p:nvPr/>
          </p:nvSpPr>
          <p:spPr>
            <a:xfrm>
              <a:off x="7067879" y="6134481"/>
              <a:ext cx="651129" cy="595217"/>
            </a:xfrm>
            <a:custGeom>
              <a:avLst/>
              <a:gdLst/>
              <a:ahLst/>
              <a:cxnLst/>
              <a:rect l="0" t="0" r="0" b="0"/>
              <a:pathLst>
                <a:path w="651129" h="595217">
                  <a:moveTo>
                    <a:pt x="651129" y="0"/>
                  </a:moveTo>
                  <a:lnTo>
                    <a:pt x="0" y="0"/>
                  </a:lnTo>
                  <a:lnTo>
                    <a:pt x="0" y="595217"/>
                  </a:lnTo>
                </a:path>
              </a:pathLst>
            </a:custGeom>
            <a:noFill/>
            <a:ln w="8505">
              <a:solidFill>
                <a:srgbClr val="77828C"/>
              </a:solidFill>
              <a:prstDash val="solid"/>
            </a:ln>
          </p:spPr>
        </p:sp>
        <p:sp>
          <p:nvSpPr>
            <p:cNvPr id="1398" name="Selected identity to graph refined head">
              <a:extLst>
                <a:ext uri="{FF2B5EF4-FFF2-40B4-BE49-F238E27FC236}">
                  <a16:creationId xmlns:a16="http://schemas.microsoft.com/office/drawing/2014/main" id="{2F033F6F-AC85-37DE-479C-D063C3DB8E25}"/>
                </a:ext>
              </a:extLst>
            </p:cNvPr>
            <p:cNvSpPr>
              <a:spLocks noGrp="1"/>
            </p:cNvSpPr>
            <p:nvPr/>
          </p:nvSpPr>
          <p:spPr>
            <a:xfrm>
              <a:off x="7039209" y="6686360"/>
              <a:ext cx="57340" cy="66675"/>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399" name="Graph to GNN refined">
              <a:extLst>
                <a:ext uri="{FF2B5EF4-FFF2-40B4-BE49-F238E27FC236}">
                  <a16:creationId xmlns:a16="http://schemas.microsoft.com/office/drawing/2014/main" id="{7EF864D3-D6E3-5180-82C2-0A0AE886C150}"/>
                </a:ext>
              </a:extLst>
            </p:cNvPr>
            <p:cNvSpPr>
              <a:spLocks noGrp="1"/>
            </p:cNvSpPr>
            <p:nvPr/>
          </p:nvSpPr>
          <p:spPr>
            <a:xfrm>
              <a:off x="7067879" y="7441406"/>
              <a:ext cx="191" cy="153448"/>
            </a:xfrm>
            <a:custGeom>
              <a:avLst/>
              <a:gdLst/>
              <a:ahLst/>
              <a:cxnLst/>
              <a:rect l="0" t="0" r="0" b="0"/>
              <a:pathLst>
                <a:path w="191" h="153448">
                  <a:moveTo>
                    <a:pt x="0" y="0"/>
                  </a:moveTo>
                  <a:lnTo>
                    <a:pt x="0" y="153448"/>
                  </a:lnTo>
                </a:path>
              </a:pathLst>
            </a:custGeom>
            <a:noFill/>
            <a:ln w="8505">
              <a:solidFill>
                <a:srgbClr val="77828C"/>
              </a:solidFill>
              <a:prstDash val="solid"/>
            </a:ln>
          </p:spPr>
        </p:sp>
        <p:sp>
          <p:nvSpPr>
            <p:cNvPr id="1400" name="Graph to GNN refined head">
              <a:extLst>
                <a:ext uri="{FF2B5EF4-FFF2-40B4-BE49-F238E27FC236}">
                  <a16:creationId xmlns:a16="http://schemas.microsoft.com/office/drawing/2014/main" id="{B23BD653-4893-2671-9B86-7F888A6E5617}"/>
                </a:ext>
              </a:extLst>
            </p:cNvPr>
            <p:cNvSpPr>
              <a:spLocks noGrp="1"/>
            </p:cNvSpPr>
            <p:nvPr/>
          </p:nvSpPr>
          <p:spPr>
            <a:xfrm>
              <a:off x="7039209" y="7551515"/>
              <a:ext cx="57340" cy="66675"/>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401" name="GNN to graph attention refined">
              <a:extLst>
                <a:ext uri="{FF2B5EF4-FFF2-40B4-BE49-F238E27FC236}">
                  <a16:creationId xmlns:a16="http://schemas.microsoft.com/office/drawing/2014/main" id="{B0DCC1B2-7C1A-332C-0127-08382278DBC6}"/>
                </a:ext>
              </a:extLst>
            </p:cNvPr>
            <p:cNvSpPr>
              <a:spLocks noGrp="1"/>
            </p:cNvSpPr>
            <p:nvPr/>
          </p:nvSpPr>
          <p:spPr>
            <a:xfrm>
              <a:off x="7067879" y="7934420"/>
              <a:ext cx="191" cy="274320"/>
            </a:xfrm>
            <a:custGeom>
              <a:avLst/>
              <a:gdLst/>
              <a:ahLst/>
              <a:cxnLst/>
              <a:rect l="0" t="0" r="0" b="0"/>
              <a:pathLst>
                <a:path w="191" h="274320">
                  <a:moveTo>
                    <a:pt x="0" y="0"/>
                  </a:moveTo>
                  <a:lnTo>
                    <a:pt x="0" y="274320"/>
                  </a:lnTo>
                </a:path>
              </a:pathLst>
            </a:custGeom>
            <a:noFill/>
            <a:ln w="8505">
              <a:solidFill>
                <a:srgbClr val="77828C"/>
              </a:solidFill>
              <a:prstDash val="solid"/>
            </a:ln>
          </p:spPr>
        </p:sp>
        <p:sp>
          <p:nvSpPr>
            <p:cNvPr id="1402" name="GNN to graph attention refined head">
              <a:extLst>
                <a:ext uri="{FF2B5EF4-FFF2-40B4-BE49-F238E27FC236}">
                  <a16:creationId xmlns:a16="http://schemas.microsoft.com/office/drawing/2014/main" id="{F5D1A0D2-1869-EB89-61A3-D3ABFE580C35}"/>
                </a:ext>
              </a:extLst>
            </p:cNvPr>
            <p:cNvSpPr>
              <a:spLocks noGrp="1"/>
            </p:cNvSpPr>
            <p:nvPr/>
          </p:nvSpPr>
          <p:spPr>
            <a:xfrm>
              <a:off x="7039209" y="8165402"/>
              <a:ext cx="57340" cy="66675"/>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403" name="Identity to SMI-TED refined">
              <a:extLst>
                <a:ext uri="{FF2B5EF4-FFF2-40B4-BE49-F238E27FC236}">
                  <a16:creationId xmlns:a16="http://schemas.microsoft.com/office/drawing/2014/main" id="{416B661C-118E-CA99-59DC-DA4857A74E2E}"/>
                </a:ext>
              </a:extLst>
            </p:cNvPr>
            <p:cNvSpPr>
              <a:spLocks noGrp="1"/>
            </p:cNvSpPr>
            <p:nvPr/>
          </p:nvSpPr>
          <p:spPr>
            <a:xfrm>
              <a:off x="8637980" y="6638068"/>
              <a:ext cx="191" cy="326993"/>
            </a:xfrm>
            <a:custGeom>
              <a:avLst/>
              <a:gdLst/>
              <a:ahLst/>
              <a:cxnLst/>
              <a:rect l="0" t="0" r="0" b="0"/>
              <a:pathLst>
                <a:path w="191" h="326993">
                  <a:moveTo>
                    <a:pt x="0" y="0"/>
                  </a:moveTo>
                  <a:lnTo>
                    <a:pt x="0" y="326993"/>
                  </a:lnTo>
                </a:path>
              </a:pathLst>
            </a:custGeom>
            <a:noFill/>
            <a:ln w="8505">
              <a:solidFill>
                <a:srgbClr val="77828C"/>
              </a:solidFill>
              <a:prstDash val="solid"/>
            </a:ln>
          </p:spPr>
        </p:sp>
        <p:sp>
          <p:nvSpPr>
            <p:cNvPr id="1404" name="Identity to SMI-TED refined head">
              <a:extLst>
                <a:ext uri="{FF2B5EF4-FFF2-40B4-BE49-F238E27FC236}">
                  <a16:creationId xmlns:a16="http://schemas.microsoft.com/office/drawing/2014/main" id="{0BA2F96A-2AFB-7C00-99C8-78C9DC78B848}"/>
                </a:ext>
              </a:extLst>
            </p:cNvPr>
            <p:cNvSpPr>
              <a:spLocks noGrp="1"/>
            </p:cNvSpPr>
            <p:nvPr/>
          </p:nvSpPr>
          <p:spPr>
            <a:xfrm>
              <a:off x="8609310" y="6921722"/>
              <a:ext cx="57340" cy="66675"/>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405" name="SMI-TED to language refined">
              <a:extLst>
                <a:ext uri="{FF2B5EF4-FFF2-40B4-BE49-F238E27FC236}">
                  <a16:creationId xmlns:a16="http://schemas.microsoft.com/office/drawing/2014/main" id="{688B9630-847C-74A2-04EF-D75E08D7E423}"/>
                </a:ext>
              </a:extLst>
            </p:cNvPr>
            <p:cNvSpPr>
              <a:spLocks noGrp="1"/>
            </p:cNvSpPr>
            <p:nvPr/>
          </p:nvSpPr>
          <p:spPr>
            <a:xfrm>
              <a:off x="8637980" y="7304627"/>
              <a:ext cx="191" cy="1013841"/>
            </a:xfrm>
            <a:custGeom>
              <a:avLst/>
              <a:gdLst/>
              <a:ahLst/>
              <a:cxnLst/>
              <a:rect l="0" t="0" r="0" b="0"/>
              <a:pathLst>
                <a:path w="191" h="1013841">
                  <a:moveTo>
                    <a:pt x="0" y="0"/>
                  </a:moveTo>
                  <a:lnTo>
                    <a:pt x="0" y="1013841"/>
                  </a:lnTo>
                </a:path>
              </a:pathLst>
            </a:custGeom>
            <a:noFill/>
            <a:ln w="8505">
              <a:solidFill>
                <a:srgbClr val="77828C"/>
              </a:solidFill>
              <a:prstDash val="solid"/>
            </a:ln>
          </p:spPr>
        </p:sp>
        <p:sp>
          <p:nvSpPr>
            <p:cNvPr id="1406" name="SMI-TED to language refined head">
              <a:extLst>
                <a:ext uri="{FF2B5EF4-FFF2-40B4-BE49-F238E27FC236}">
                  <a16:creationId xmlns:a16="http://schemas.microsoft.com/office/drawing/2014/main" id="{7251A2B8-D12B-A433-6B0D-10AA76953AAB}"/>
                </a:ext>
              </a:extLst>
            </p:cNvPr>
            <p:cNvSpPr>
              <a:spLocks noGrp="1"/>
            </p:cNvSpPr>
            <p:nvPr/>
          </p:nvSpPr>
          <p:spPr>
            <a:xfrm>
              <a:off x="8609310" y="8275130"/>
              <a:ext cx="57340" cy="66675"/>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407" name="Other identities refined">
              <a:extLst>
                <a:ext uri="{FF2B5EF4-FFF2-40B4-BE49-F238E27FC236}">
                  <a16:creationId xmlns:a16="http://schemas.microsoft.com/office/drawing/2014/main" id="{A4787BA6-E950-16B8-B01A-9B4C92E13C7A}"/>
                </a:ext>
              </a:extLst>
            </p:cNvPr>
            <p:cNvSpPr>
              <a:spLocks noGrp="1"/>
            </p:cNvSpPr>
            <p:nvPr/>
          </p:nvSpPr>
          <p:spPr>
            <a:xfrm>
              <a:off x="9616579" y="5581174"/>
              <a:ext cx="613886" cy="1373695"/>
            </a:xfrm>
            <a:custGeom>
              <a:avLst/>
              <a:gdLst/>
              <a:ahLst/>
              <a:cxnLst/>
              <a:rect l="0" t="0" r="0" b="0"/>
              <a:pathLst>
                <a:path w="613886" h="1373695">
                  <a:moveTo>
                    <a:pt x="0" y="0"/>
                  </a:moveTo>
                  <a:lnTo>
                    <a:pt x="613886" y="0"/>
                  </a:lnTo>
                  <a:lnTo>
                    <a:pt x="613886" y="1373695"/>
                  </a:lnTo>
                </a:path>
              </a:pathLst>
            </a:custGeom>
            <a:noFill/>
            <a:ln w="8505">
              <a:solidFill>
                <a:srgbClr val="77828C"/>
              </a:solidFill>
              <a:prstDash val="solid"/>
            </a:ln>
          </p:spPr>
        </p:sp>
        <p:sp>
          <p:nvSpPr>
            <p:cNvPr id="1408" name="Other identities refined head">
              <a:extLst>
                <a:ext uri="{FF2B5EF4-FFF2-40B4-BE49-F238E27FC236}">
                  <a16:creationId xmlns:a16="http://schemas.microsoft.com/office/drawing/2014/main" id="{9D094DDB-3471-ECAC-BCA5-E9612E620328}"/>
                </a:ext>
              </a:extLst>
            </p:cNvPr>
            <p:cNvSpPr>
              <a:spLocks noGrp="1"/>
            </p:cNvSpPr>
            <p:nvPr/>
          </p:nvSpPr>
          <p:spPr>
            <a:xfrm>
              <a:off x="10201795" y="6911531"/>
              <a:ext cx="57340" cy="66675"/>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409" name="Other identities middle refined">
              <a:extLst>
                <a:ext uri="{FF2B5EF4-FFF2-40B4-BE49-F238E27FC236}">
                  <a16:creationId xmlns:a16="http://schemas.microsoft.com/office/drawing/2014/main" id="{43A875F1-64CC-3AE0-16D0-832B017C6CB3}"/>
                </a:ext>
              </a:extLst>
            </p:cNvPr>
            <p:cNvSpPr>
              <a:spLocks noGrp="1"/>
            </p:cNvSpPr>
            <p:nvPr/>
          </p:nvSpPr>
          <p:spPr>
            <a:xfrm>
              <a:off x="9616579" y="5851112"/>
              <a:ext cx="613886" cy="191"/>
            </a:xfrm>
            <a:custGeom>
              <a:avLst/>
              <a:gdLst/>
              <a:ahLst/>
              <a:cxnLst/>
              <a:rect l="0" t="0" r="0" b="0"/>
              <a:pathLst>
                <a:path w="613886" h="191">
                  <a:moveTo>
                    <a:pt x="0" y="0"/>
                  </a:moveTo>
                  <a:lnTo>
                    <a:pt x="613886" y="0"/>
                  </a:lnTo>
                </a:path>
              </a:pathLst>
            </a:custGeom>
            <a:noFill/>
            <a:ln w="8505">
              <a:solidFill>
                <a:srgbClr val="77828C"/>
              </a:solidFill>
              <a:prstDash val="solid"/>
            </a:ln>
          </p:spPr>
        </p:sp>
        <p:sp>
          <p:nvSpPr>
            <p:cNvPr id="1410" name="Other identities lower refined">
              <a:extLst>
                <a:ext uri="{FF2B5EF4-FFF2-40B4-BE49-F238E27FC236}">
                  <a16:creationId xmlns:a16="http://schemas.microsoft.com/office/drawing/2014/main" id="{D83A070A-E1D1-4067-2310-74DC30F9F921}"/>
                </a:ext>
              </a:extLst>
            </p:cNvPr>
            <p:cNvSpPr>
              <a:spLocks noGrp="1"/>
            </p:cNvSpPr>
            <p:nvPr/>
          </p:nvSpPr>
          <p:spPr>
            <a:xfrm>
              <a:off x="9616579" y="6533293"/>
              <a:ext cx="613886" cy="191"/>
            </a:xfrm>
            <a:custGeom>
              <a:avLst/>
              <a:gdLst/>
              <a:ahLst/>
              <a:cxnLst/>
              <a:rect l="0" t="0" r="0" b="0"/>
              <a:pathLst>
                <a:path w="613886" h="191">
                  <a:moveTo>
                    <a:pt x="0" y="0"/>
                  </a:moveTo>
                  <a:lnTo>
                    <a:pt x="613886" y="0"/>
                  </a:lnTo>
                </a:path>
              </a:pathLst>
            </a:custGeom>
            <a:noFill/>
            <a:ln w="8505">
              <a:solidFill>
                <a:srgbClr val="77828C"/>
              </a:solidFill>
              <a:prstDash val="solid"/>
            </a:ln>
          </p:spPr>
        </p:sp>
        <p:sp>
          <p:nvSpPr>
            <p:cNvPr id="1411" name="Context SMI-TED to matrix refined">
              <a:extLst>
                <a:ext uri="{FF2B5EF4-FFF2-40B4-BE49-F238E27FC236}">
                  <a16:creationId xmlns:a16="http://schemas.microsoft.com/office/drawing/2014/main" id="{3BA39657-BA55-8B03-4B42-2E8CA0F2402A}"/>
                </a:ext>
              </a:extLst>
            </p:cNvPr>
            <p:cNvSpPr>
              <a:spLocks noGrp="1"/>
            </p:cNvSpPr>
            <p:nvPr/>
          </p:nvSpPr>
          <p:spPr>
            <a:xfrm>
              <a:off x="10240942" y="7294436"/>
              <a:ext cx="191" cy="264128"/>
            </a:xfrm>
            <a:custGeom>
              <a:avLst/>
              <a:gdLst/>
              <a:ahLst/>
              <a:cxnLst/>
              <a:rect l="0" t="0" r="0" b="0"/>
              <a:pathLst>
                <a:path w="191" h="264128">
                  <a:moveTo>
                    <a:pt x="0" y="0"/>
                  </a:moveTo>
                  <a:lnTo>
                    <a:pt x="0" y="264128"/>
                  </a:lnTo>
                </a:path>
              </a:pathLst>
            </a:custGeom>
            <a:noFill/>
            <a:ln w="8505">
              <a:solidFill>
                <a:srgbClr val="77828C"/>
              </a:solidFill>
              <a:prstDash val="solid"/>
            </a:ln>
          </p:spPr>
        </p:sp>
        <p:sp>
          <p:nvSpPr>
            <p:cNvPr id="1412" name="Context SMI-TED to matrix refined head">
              <a:extLst>
                <a:ext uri="{FF2B5EF4-FFF2-40B4-BE49-F238E27FC236}">
                  <a16:creationId xmlns:a16="http://schemas.microsoft.com/office/drawing/2014/main" id="{46BBCF7E-77B7-430B-5E68-8D5D4D07C9BA}"/>
                </a:ext>
              </a:extLst>
            </p:cNvPr>
            <p:cNvSpPr>
              <a:spLocks noGrp="1"/>
            </p:cNvSpPr>
            <p:nvPr/>
          </p:nvSpPr>
          <p:spPr>
            <a:xfrm>
              <a:off x="10212272" y="7515226"/>
              <a:ext cx="57339" cy="66676"/>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413" name="Context matrix to attention refined">
              <a:extLst>
                <a:ext uri="{FF2B5EF4-FFF2-40B4-BE49-F238E27FC236}">
                  <a16:creationId xmlns:a16="http://schemas.microsoft.com/office/drawing/2014/main" id="{19123C2B-08C0-5942-5974-56E3DB290164}"/>
                </a:ext>
              </a:extLst>
            </p:cNvPr>
            <p:cNvSpPr>
              <a:spLocks noGrp="1"/>
            </p:cNvSpPr>
            <p:nvPr/>
          </p:nvSpPr>
          <p:spPr>
            <a:xfrm>
              <a:off x="10230465" y="7958995"/>
              <a:ext cx="191" cy="249745"/>
            </a:xfrm>
            <a:custGeom>
              <a:avLst/>
              <a:gdLst/>
              <a:ahLst/>
              <a:cxnLst/>
              <a:rect l="0" t="0" r="0" b="0"/>
              <a:pathLst>
                <a:path w="191" h="249745">
                  <a:moveTo>
                    <a:pt x="0" y="0"/>
                  </a:moveTo>
                  <a:lnTo>
                    <a:pt x="0" y="249745"/>
                  </a:lnTo>
                </a:path>
              </a:pathLst>
            </a:custGeom>
            <a:noFill/>
            <a:ln w="8505">
              <a:solidFill>
                <a:srgbClr val="77828C"/>
              </a:solidFill>
              <a:prstDash val="solid"/>
            </a:ln>
          </p:spPr>
        </p:sp>
        <p:sp>
          <p:nvSpPr>
            <p:cNvPr id="1414" name="Context matrix to attention refined head">
              <a:extLst>
                <a:ext uri="{FF2B5EF4-FFF2-40B4-BE49-F238E27FC236}">
                  <a16:creationId xmlns:a16="http://schemas.microsoft.com/office/drawing/2014/main" id="{F6D726DD-707A-38A3-9C89-49061435E2BF}"/>
                </a:ext>
              </a:extLst>
            </p:cNvPr>
            <p:cNvSpPr>
              <a:spLocks noGrp="1"/>
            </p:cNvSpPr>
            <p:nvPr/>
          </p:nvSpPr>
          <p:spPr>
            <a:xfrm>
              <a:off x="10201795" y="8165402"/>
              <a:ext cx="57340" cy="66675"/>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415" name="Language query left refined">
              <a:extLst>
                <a:ext uri="{FF2B5EF4-FFF2-40B4-BE49-F238E27FC236}">
                  <a16:creationId xmlns:a16="http://schemas.microsoft.com/office/drawing/2014/main" id="{739AFAAD-E669-E2AC-687E-E59FC6E7FAD2}"/>
                </a:ext>
              </a:extLst>
            </p:cNvPr>
            <p:cNvSpPr>
              <a:spLocks noGrp="1"/>
            </p:cNvSpPr>
            <p:nvPr/>
          </p:nvSpPr>
          <p:spPr>
            <a:xfrm>
              <a:off x="7816735" y="8408765"/>
              <a:ext cx="479012" cy="191"/>
            </a:xfrm>
            <a:custGeom>
              <a:avLst/>
              <a:gdLst/>
              <a:ahLst/>
              <a:cxnLst/>
              <a:rect l="0" t="0" r="0" b="0"/>
              <a:pathLst>
                <a:path w="479012" h="191">
                  <a:moveTo>
                    <a:pt x="479012" y="0"/>
                  </a:moveTo>
                  <a:lnTo>
                    <a:pt x="0" y="0"/>
                  </a:lnTo>
                </a:path>
              </a:pathLst>
            </a:custGeom>
            <a:noFill/>
            <a:ln w="8505">
              <a:solidFill>
                <a:srgbClr val="77828C"/>
              </a:solidFill>
              <a:prstDash val="solid"/>
            </a:ln>
          </p:spPr>
        </p:sp>
        <p:sp>
          <p:nvSpPr>
            <p:cNvPr id="1416" name="Language query left refined head">
              <a:extLst>
                <a:ext uri="{FF2B5EF4-FFF2-40B4-BE49-F238E27FC236}">
                  <a16:creationId xmlns:a16="http://schemas.microsoft.com/office/drawing/2014/main" id="{98D92A42-D662-B44C-CD57-583BDD75174C}"/>
                </a:ext>
              </a:extLst>
            </p:cNvPr>
            <p:cNvSpPr>
              <a:spLocks noGrp="1"/>
            </p:cNvSpPr>
            <p:nvPr/>
          </p:nvSpPr>
          <p:spPr>
            <a:xfrm>
              <a:off x="7793398" y="8380095"/>
              <a:ext cx="66675" cy="57340"/>
            </a:xfrm>
            <a:custGeom>
              <a:avLst/>
              <a:gdLst/>
              <a:ahLst/>
              <a:cxnLst/>
              <a:rect l="0" t="0" r="0" b="0"/>
              <a:pathLst>
                <a:path w="66675" h="57340">
                  <a:moveTo>
                    <a:pt x="0" y="28670"/>
                  </a:moveTo>
                  <a:lnTo>
                    <a:pt x="66675" y="57340"/>
                  </a:lnTo>
                  <a:lnTo>
                    <a:pt x="66675" y="0"/>
                  </a:lnTo>
                  <a:close/>
                </a:path>
              </a:pathLst>
            </a:custGeom>
            <a:solidFill>
              <a:srgbClr val="77828C"/>
            </a:solidFill>
            <a:ln w="0">
              <a:noFill/>
              <a:prstDash val="solid"/>
            </a:ln>
          </p:spPr>
        </p:sp>
        <p:sp>
          <p:nvSpPr>
            <p:cNvPr id="1417" name="Language query right refined">
              <a:extLst>
                <a:ext uri="{FF2B5EF4-FFF2-40B4-BE49-F238E27FC236}">
                  <a16:creationId xmlns:a16="http://schemas.microsoft.com/office/drawing/2014/main" id="{97C332FD-B4F7-4A69-7F24-BE35ED3CC233}"/>
                </a:ext>
              </a:extLst>
            </p:cNvPr>
            <p:cNvSpPr>
              <a:spLocks noGrp="1"/>
            </p:cNvSpPr>
            <p:nvPr/>
          </p:nvSpPr>
          <p:spPr>
            <a:xfrm>
              <a:off x="8965450" y="8408765"/>
              <a:ext cx="478917" cy="191"/>
            </a:xfrm>
            <a:custGeom>
              <a:avLst/>
              <a:gdLst/>
              <a:ahLst/>
              <a:cxnLst/>
              <a:rect l="0" t="0" r="0" b="0"/>
              <a:pathLst>
                <a:path w="478917" h="191">
                  <a:moveTo>
                    <a:pt x="0" y="0"/>
                  </a:moveTo>
                  <a:lnTo>
                    <a:pt x="478917" y="0"/>
                  </a:lnTo>
                </a:path>
              </a:pathLst>
            </a:custGeom>
            <a:noFill/>
            <a:ln w="8505">
              <a:solidFill>
                <a:srgbClr val="77828C"/>
              </a:solidFill>
              <a:prstDash val="solid"/>
            </a:ln>
          </p:spPr>
        </p:sp>
        <p:sp>
          <p:nvSpPr>
            <p:cNvPr id="1418" name="Language query right refined head">
              <a:extLst>
                <a:ext uri="{FF2B5EF4-FFF2-40B4-BE49-F238E27FC236}">
                  <a16:creationId xmlns:a16="http://schemas.microsoft.com/office/drawing/2014/main" id="{4B6A3B32-B3D1-5F9B-FDB9-6517BE3635C2}"/>
                </a:ext>
              </a:extLst>
            </p:cNvPr>
            <p:cNvSpPr>
              <a:spLocks noGrp="1"/>
            </p:cNvSpPr>
            <p:nvPr/>
          </p:nvSpPr>
          <p:spPr>
            <a:xfrm>
              <a:off x="9401028" y="8380095"/>
              <a:ext cx="66675" cy="57340"/>
            </a:xfrm>
            <a:custGeom>
              <a:avLst/>
              <a:gdLst/>
              <a:ahLst/>
              <a:cxnLst/>
              <a:rect l="0" t="0" r="0" b="0"/>
              <a:pathLst>
                <a:path w="66675" h="57340">
                  <a:moveTo>
                    <a:pt x="66675" y="28670"/>
                  </a:moveTo>
                  <a:lnTo>
                    <a:pt x="0" y="0"/>
                  </a:lnTo>
                  <a:lnTo>
                    <a:pt x="0" y="57340"/>
                  </a:lnTo>
                  <a:close/>
                </a:path>
              </a:pathLst>
            </a:custGeom>
            <a:solidFill>
              <a:srgbClr val="77828C"/>
            </a:solidFill>
            <a:ln w="0">
              <a:noFill/>
              <a:prstDash val="solid"/>
            </a:ln>
          </p:spPr>
        </p:sp>
        <p:sp>
          <p:nvSpPr>
            <p:cNvPr id="1419" name="Language to fusion refined">
              <a:extLst>
                <a:ext uri="{FF2B5EF4-FFF2-40B4-BE49-F238E27FC236}">
                  <a16:creationId xmlns:a16="http://schemas.microsoft.com/office/drawing/2014/main" id="{CC1BD470-88ED-E459-BC64-3926AF1B81FC}"/>
                </a:ext>
              </a:extLst>
            </p:cNvPr>
            <p:cNvSpPr>
              <a:spLocks noGrp="1"/>
            </p:cNvSpPr>
            <p:nvPr/>
          </p:nvSpPr>
          <p:spPr>
            <a:xfrm>
              <a:off x="8630551" y="8475726"/>
              <a:ext cx="191" cy="281845"/>
            </a:xfrm>
            <a:custGeom>
              <a:avLst/>
              <a:gdLst/>
              <a:ahLst/>
              <a:cxnLst/>
              <a:rect l="0" t="0" r="0" b="0"/>
              <a:pathLst>
                <a:path w="191" h="281845">
                  <a:moveTo>
                    <a:pt x="0" y="0"/>
                  </a:moveTo>
                  <a:lnTo>
                    <a:pt x="0" y="281845"/>
                  </a:lnTo>
                </a:path>
              </a:pathLst>
            </a:custGeom>
            <a:noFill/>
            <a:ln w="8505">
              <a:solidFill>
                <a:srgbClr val="77828C"/>
              </a:solidFill>
              <a:prstDash val="solid"/>
            </a:ln>
          </p:spPr>
        </p:sp>
        <p:sp>
          <p:nvSpPr>
            <p:cNvPr id="1420" name="Language to fusion refined head">
              <a:extLst>
                <a:ext uri="{FF2B5EF4-FFF2-40B4-BE49-F238E27FC236}">
                  <a16:creationId xmlns:a16="http://schemas.microsoft.com/office/drawing/2014/main" id="{7DE28A53-D82C-C158-A00E-484E630E57C6}"/>
                </a:ext>
              </a:extLst>
            </p:cNvPr>
            <p:cNvSpPr>
              <a:spLocks noGrp="1"/>
            </p:cNvSpPr>
            <p:nvPr/>
          </p:nvSpPr>
          <p:spPr>
            <a:xfrm>
              <a:off x="8601880" y="8714232"/>
              <a:ext cx="57340" cy="66675"/>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421" name="Graph attention to fusion refined">
              <a:extLst>
                <a:ext uri="{FF2B5EF4-FFF2-40B4-BE49-F238E27FC236}">
                  <a16:creationId xmlns:a16="http://schemas.microsoft.com/office/drawing/2014/main" id="{9DE07E88-6455-6397-3B15-5E2794D66EC1}"/>
                </a:ext>
              </a:extLst>
            </p:cNvPr>
            <p:cNvSpPr>
              <a:spLocks noGrp="1"/>
            </p:cNvSpPr>
            <p:nvPr/>
          </p:nvSpPr>
          <p:spPr>
            <a:xfrm>
              <a:off x="7067879" y="8585549"/>
              <a:ext cx="1092899" cy="362807"/>
            </a:xfrm>
            <a:custGeom>
              <a:avLst/>
              <a:gdLst/>
              <a:ahLst/>
              <a:cxnLst/>
              <a:rect l="0" t="0" r="0" b="0"/>
              <a:pathLst>
                <a:path w="1092899" h="362807">
                  <a:moveTo>
                    <a:pt x="0" y="0"/>
                  </a:moveTo>
                  <a:lnTo>
                    <a:pt x="0" y="362807"/>
                  </a:lnTo>
                  <a:lnTo>
                    <a:pt x="1092899" y="362807"/>
                  </a:lnTo>
                </a:path>
              </a:pathLst>
            </a:custGeom>
            <a:noFill/>
            <a:ln w="8505">
              <a:solidFill>
                <a:srgbClr val="77828C"/>
              </a:solidFill>
              <a:prstDash val="solid"/>
            </a:ln>
          </p:spPr>
        </p:sp>
        <p:sp>
          <p:nvSpPr>
            <p:cNvPr id="1422" name="Graph attention to fusion refined head">
              <a:extLst>
                <a:ext uri="{FF2B5EF4-FFF2-40B4-BE49-F238E27FC236}">
                  <a16:creationId xmlns:a16="http://schemas.microsoft.com/office/drawing/2014/main" id="{80249588-4991-7EA9-C183-E31DFF970425}"/>
                </a:ext>
              </a:extLst>
            </p:cNvPr>
            <p:cNvSpPr>
              <a:spLocks noGrp="1"/>
            </p:cNvSpPr>
            <p:nvPr/>
          </p:nvSpPr>
          <p:spPr>
            <a:xfrm>
              <a:off x="8117439" y="8919686"/>
              <a:ext cx="66675" cy="57340"/>
            </a:xfrm>
            <a:custGeom>
              <a:avLst/>
              <a:gdLst/>
              <a:ahLst/>
              <a:cxnLst/>
              <a:rect l="0" t="0" r="0" b="0"/>
              <a:pathLst>
                <a:path w="66675" h="57340">
                  <a:moveTo>
                    <a:pt x="66675" y="28670"/>
                  </a:moveTo>
                  <a:lnTo>
                    <a:pt x="0" y="0"/>
                  </a:lnTo>
                  <a:lnTo>
                    <a:pt x="0" y="57340"/>
                  </a:lnTo>
                  <a:close/>
                </a:path>
              </a:pathLst>
            </a:custGeom>
            <a:solidFill>
              <a:srgbClr val="77828C"/>
            </a:solidFill>
            <a:ln w="0">
              <a:noFill/>
              <a:prstDash val="solid"/>
            </a:ln>
          </p:spPr>
        </p:sp>
        <p:sp>
          <p:nvSpPr>
            <p:cNvPr id="1423" name="Context attention to fusion refined">
              <a:extLst>
                <a:ext uri="{FF2B5EF4-FFF2-40B4-BE49-F238E27FC236}">
                  <a16:creationId xmlns:a16="http://schemas.microsoft.com/office/drawing/2014/main" id="{EB1CDE84-2AAC-05C7-2AC2-7F0CD69C4010}"/>
                </a:ext>
              </a:extLst>
            </p:cNvPr>
            <p:cNvSpPr>
              <a:spLocks noGrp="1"/>
            </p:cNvSpPr>
            <p:nvPr/>
          </p:nvSpPr>
          <p:spPr>
            <a:xfrm>
              <a:off x="9100419" y="8585549"/>
              <a:ext cx="1130046" cy="362807"/>
            </a:xfrm>
            <a:custGeom>
              <a:avLst/>
              <a:gdLst/>
              <a:ahLst/>
              <a:cxnLst/>
              <a:rect l="0" t="0" r="0" b="0"/>
              <a:pathLst>
                <a:path w="1130046" h="362807">
                  <a:moveTo>
                    <a:pt x="1130046" y="0"/>
                  </a:moveTo>
                  <a:lnTo>
                    <a:pt x="1130046" y="362807"/>
                  </a:lnTo>
                  <a:lnTo>
                    <a:pt x="0" y="362807"/>
                  </a:lnTo>
                </a:path>
              </a:pathLst>
            </a:custGeom>
            <a:noFill/>
            <a:ln w="8505">
              <a:solidFill>
                <a:srgbClr val="77828C"/>
              </a:solidFill>
              <a:prstDash val="solid"/>
            </a:ln>
          </p:spPr>
        </p:sp>
        <p:sp>
          <p:nvSpPr>
            <p:cNvPr id="1424" name="Context attention to fusion refined head">
              <a:extLst>
                <a:ext uri="{FF2B5EF4-FFF2-40B4-BE49-F238E27FC236}">
                  <a16:creationId xmlns:a16="http://schemas.microsoft.com/office/drawing/2014/main" id="{2AAA0335-3D51-EA88-2522-F717A483BF32}"/>
                </a:ext>
              </a:extLst>
            </p:cNvPr>
            <p:cNvSpPr>
              <a:spLocks noGrp="1"/>
            </p:cNvSpPr>
            <p:nvPr/>
          </p:nvSpPr>
          <p:spPr>
            <a:xfrm>
              <a:off x="9077083" y="8919686"/>
              <a:ext cx="66675" cy="57340"/>
            </a:xfrm>
            <a:custGeom>
              <a:avLst/>
              <a:gdLst/>
              <a:ahLst/>
              <a:cxnLst/>
              <a:rect l="0" t="0" r="0" b="0"/>
              <a:pathLst>
                <a:path w="66675" h="57340">
                  <a:moveTo>
                    <a:pt x="0" y="28670"/>
                  </a:moveTo>
                  <a:lnTo>
                    <a:pt x="66675" y="57340"/>
                  </a:lnTo>
                  <a:lnTo>
                    <a:pt x="66675" y="0"/>
                  </a:lnTo>
                  <a:close/>
                </a:path>
              </a:pathLst>
            </a:custGeom>
            <a:solidFill>
              <a:srgbClr val="77828C"/>
            </a:solidFill>
            <a:ln w="0">
              <a:noFill/>
              <a:prstDash val="solid"/>
            </a:ln>
          </p:spPr>
        </p:sp>
        <p:sp>
          <p:nvSpPr>
            <p:cNvPr id="1425" name="Fusion to identity vector refined">
              <a:extLst>
                <a:ext uri="{FF2B5EF4-FFF2-40B4-BE49-F238E27FC236}">
                  <a16:creationId xmlns:a16="http://schemas.microsoft.com/office/drawing/2014/main" id="{67958AAC-3FC5-4E94-249E-68F363396C6E}"/>
                </a:ext>
              </a:extLst>
            </p:cNvPr>
            <p:cNvSpPr>
              <a:spLocks noGrp="1"/>
            </p:cNvSpPr>
            <p:nvPr/>
          </p:nvSpPr>
          <p:spPr>
            <a:xfrm>
              <a:off x="8630551" y="9115806"/>
              <a:ext cx="191" cy="244507"/>
            </a:xfrm>
            <a:custGeom>
              <a:avLst/>
              <a:gdLst/>
              <a:ahLst/>
              <a:cxnLst/>
              <a:rect l="0" t="0" r="0" b="0"/>
              <a:pathLst>
                <a:path w="191" h="244507">
                  <a:moveTo>
                    <a:pt x="0" y="0"/>
                  </a:moveTo>
                  <a:lnTo>
                    <a:pt x="0" y="244507"/>
                  </a:lnTo>
                </a:path>
              </a:pathLst>
            </a:custGeom>
            <a:noFill/>
            <a:ln w="8505">
              <a:solidFill>
                <a:srgbClr val="77828C"/>
              </a:solidFill>
              <a:prstDash val="solid"/>
            </a:ln>
          </p:spPr>
        </p:sp>
        <p:sp>
          <p:nvSpPr>
            <p:cNvPr id="1426" name="Fusion to identity vector refined head">
              <a:extLst>
                <a:ext uri="{FF2B5EF4-FFF2-40B4-BE49-F238E27FC236}">
                  <a16:creationId xmlns:a16="http://schemas.microsoft.com/office/drawing/2014/main" id="{5B85A195-1A68-48DC-E553-B1E99915D03B}"/>
                </a:ext>
              </a:extLst>
            </p:cNvPr>
            <p:cNvSpPr>
              <a:spLocks noGrp="1"/>
            </p:cNvSpPr>
            <p:nvPr/>
          </p:nvSpPr>
          <p:spPr>
            <a:xfrm>
              <a:off x="8601880" y="9316974"/>
              <a:ext cx="57340" cy="66675"/>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427" name="Identity vector to cosine refined">
              <a:extLst>
                <a:ext uri="{FF2B5EF4-FFF2-40B4-BE49-F238E27FC236}">
                  <a16:creationId xmlns:a16="http://schemas.microsoft.com/office/drawing/2014/main" id="{DDE80B97-A909-A736-F258-523B74319AC3}"/>
                </a:ext>
              </a:extLst>
            </p:cNvPr>
            <p:cNvSpPr>
              <a:spLocks noGrp="1"/>
            </p:cNvSpPr>
            <p:nvPr/>
          </p:nvSpPr>
          <p:spPr>
            <a:xfrm>
              <a:off x="8630551" y="9517571"/>
              <a:ext cx="191" cy="253841"/>
            </a:xfrm>
            <a:custGeom>
              <a:avLst/>
              <a:gdLst/>
              <a:ahLst/>
              <a:cxnLst/>
              <a:rect l="0" t="0" r="0" b="0"/>
              <a:pathLst>
                <a:path w="191" h="253841">
                  <a:moveTo>
                    <a:pt x="0" y="0"/>
                  </a:moveTo>
                  <a:lnTo>
                    <a:pt x="0" y="253841"/>
                  </a:lnTo>
                </a:path>
              </a:pathLst>
            </a:custGeom>
            <a:noFill/>
            <a:ln w="8505">
              <a:solidFill>
                <a:srgbClr val="77828C"/>
              </a:solidFill>
              <a:prstDash val="solid"/>
            </a:ln>
          </p:spPr>
        </p:sp>
        <p:sp>
          <p:nvSpPr>
            <p:cNvPr id="1428" name="Identity vector to cosine refined head">
              <a:extLst>
                <a:ext uri="{FF2B5EF4-FFF2-40B4-BE49-F238E27FC236}">
                  <a16:creationId xmlns:a16="http://schemas.microsoft.com/office/drawing/2014/main" id="{E490B029-346A-A57E-7B15-889C23CE6281}"/>
                </a:ext>
              </a:extLst>
            </p:cNvPr>
            <p:cNvSpPr>
              <a:spLocks noGrp="1"/>
            </p:cNvSpPr>
            <p:nvPr/>
          </p:nvSpPr>
          <p:spPr>
            <a:xfrm>
              <a:off x="8601880" y="9728073"/>
              <a:ext cx="57340" cy="66675"/>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429" name="Cosine to score matrix refined">
              <a:extLst>
                <a:ext uri="{FF2B5EF4-FFF2-40B4-BE49-F238E27FC236}">
                  <a16:creationId xmlns:a16="http://schemas.microsoft.com/office/drawing/2014/main" id="{B53F289C-77E1-6513-62C8-F939A23BF1B2}"/>
                </a:ext>
              </a:extLst>
            </p:cNvPr>
            <p:cNvSpPr>
              <a:spLocks noGrp="1"/>
            </p:cNvSpPr>
            <p:nvPr/>
          </p:nvSpPr>
          <p:spPr>
            <a:xfrm>
              <a:off x="9044913" y="9971531"/>
              <a:ext cx="619030" cy="190"/>
            </a:xfrm>
            <a:custGeom>
              <a:avLst/>
              <a:gdLst/>
              <a:ahLst/>
              <a:cxnLst/>
              <a:rect l="0" t="0" r="0" b="0"/>
              <a:pathLst>
                <a:path w="619030" h="191">
                  <a:moveTo>
                    <a:pt x="0" y="0"/>
                  </a:moveTo>
                  <a:lnTo>
                    <a:pt x="619030" y="0"/>
                  </a:lnTo>
                </a:path>
              </a:pathLst>
            </a:custGeom>
            <a:noFill/>
            <a:ln w="8505">
              <a:solidFill>
                <a:srgbClr val="77828C"/>
              </a:solidFill>
              <a:prstDash val="solid"/>
            </a:ln>
          </p:spPr>
        </p:sp>
        <p:sp>
          <p:nvSpPr>
            <p:cNvPr id="1430" name="Cosine to score matrix refined head">
              <a:extLst>
                <a:ext uri="{FF2B5EF4-FFF2-40B4-BE49-F238E27FC236}">
                  <a16:creationId xmlns:a16="http://schemas.microsoft.com/office/drawing/2014/main" id="{7D1ABF5A-29C9-76A4-1903-E132A41C0C6D}"/>
                </a:ext>
              </a:extLst>
            </p:cNvPr>
            <p:cNvSpPr>
              <a:spLocks noGrp="1"/>
            </p:cNvSpPr>
            <p:nvPr/>
          </p:nvSpPr>
          <p:spPr>
            <a:xfrm>
              <a:off x="9615626" y="9942862"/>
              <a:ext cx="66675" cy="57340"/>
            </a:xfrm>
            <a:custGeom>
              <a:avLst/>
              <a:gdLst/>
              <a:ahLst/>
              <a:cxnLst/>
              <a:rect l="0" t="0" r="0" b="0"/>
              <a:pathLst>
                <a:path w="66675" h="57340">
                  <a:moveTo>
                    <a:pt x="66675" y="28670"/>
                  </a:moveTo>
                  <a:lnTo>
                    <a:pt x="0" y="0"/>
                  </a:lnTo>
                  <a:lnTo>
                    <a:pt x="0" y="57340"/>
                  </a:lnTo>
                  <a:close/>
                </a:path>
              </a:pathLst>
            </a:custGeom>
            <a:solidFill>
              <a:srgbClr val="77828C"/>
            </a:solidFill>
            <a:ln w="0">
              <a:noFill/>
              <a:prstDash val="solid"/>
            </a:ln>
          </p:spPr>
        </p:sp>
      </p:grpSp>
      <p:pic>
        <p:nvPicPr>
          <p:cNvPr id="1436" name="Match clear receptor" descr="Receptor cartoon rendered from unchanged local coordinates, chain C1 of the 9LLG CA2 model.">
            <a:extLst>
              <a:ext uri="{FF2B5EF4-FFF2-40B4-BE49-F238E27FC236}">
                <a16:creationId xmlns:a16="http://schemas.microsoft.com/office/drawing/2014/main" id="{515E1CE9-4EFA-F96B-A08A-C6C2EC64DC6F}"/>
              </a:ext>
            </a:extLst>
          </p:cNvPr>
          <p:cNvPicPr/>
          <p:nvPr/>
        </p:nvPicPr>
        <p:blipFill>
          <a:blip r:embed="rId7"/>
          <a:srcRect l="16857" t="30389" r="19786" b="22500"/>
          <a:stretch>
            <a:fillRect/>
          </a:stretch>
        </p:blipFill>
        <p:spPr>
          <a:xfrm>
            <a:off x="664274" y="2388765"/>
            <a:ext cx="332109" cy="317507"/>
          </a:xfrm>
          <a:prstGeom prst="rect">
            <a:avLst/>
          </a:prstGeom>
        </p:spPr>
      </p:pic>
      <p:sp>
        <p:nvSpPr>
          <p:cNvPr id="1442" name="文本框 1441">
            <a:extLst>
              <a:ext uri="{FF2B5EF4-FFF2-40B4-BE49-F238E27FC236}">
                <a16:creationId xmlns:a16="http://schemas.microsoft.com/office/drawing/2014/main" id="{814431DA-F1EE-CFB8-E7E0-CF4D130ECF44}"/>
              </a:ext>
            </a:extLst>
          </p:cNvPr>
          <p:cNvSpPr txBox="1"/>
          <p:nvPr/>
        </p:nvSpPr>
        <p:spPr>
          <a:xfrm>
            <a:off x="1260165" y="775016"/>
            <a:ext cx="559769" cy="176972"/>
          </a:xfrm>
          <a:prstGeom prst="rect">
            <a:avLst/>
          </a:prstGeom>
          <a:noFill/>
        </p:spPr>
        <p:txBody>
          <a:bodyPr wrap="none" rtlCol="0">
            <a:spAutoFit/>
          </a:bodyPr>
          <a:lstStyle/>
          <a:p>
            <a:r>
              <a:rPr lang="en-US" altLang="zh-CN" sz="550" dirty="0">
                <a:solidFill>
                  <a:srgbClr val="263442"/>
                </a:solidFill>
                <a:latin typeface="Arial"/>
                <a:cs typeface="Arial"/>
              </a:rPr>
              <a:t>56 channels</a:t>
            </a:r>
            <a:endParaRPr lang="zh-CN" altLang="en-US" sz="550" dirty="0">
              <a:solidFill>
                <a:srgbClr val="263442"/>
              </a:solidFill>
              <a:latin typeface="Arial"/>
              <a:cs typeface="Arial"/>
            </a:endParaRPr>
          </a:p>
        </p:txBody>
      </p:sp>
      <p:sp>
        <p:nvSpPr>
          <p:cNvPr id="1443" name="V8 embedding computation frame">
            <a:extLst>
              <a:ext uri="{FF2B5EF4-FFF2-40B4-BE49-F238E27FC236}">
                <a16:creationId xmlns:a16="http://schemas.microsoft.com/office/drawing/2014/main" id="{FB41A424-8C9A-2DA8-76B2-57C0C54ECB10}"/>
              </a:ext>
            </a:extLst>
          </p:cNvPr>
          <p:cNvSpPr/>
          <p:nvPr/>
        </p:nvSpPr>
        <p:spPr>
          <a:xfrm>
            <a:off x="1351898" y="1318283"/>
            <a:ext cx="386080" cy="417830"/>
          </a:xfrm>
          <a:prstGeom prst="roundRect">
            <a:avLst>
              <a:gd name="adj" fmla="val 6579"/>
            </a:avLst>
          </a:prstGeom>
          <a:solidFill>
            <a:srgbClr val="F8FAFC"/>
          </a:solidFill>
          <a:ln w="6096" cap="rnd">
            <a:solidFill>
              <a:srgbClr val="C3D4E6"/>
            </a:solidFill>
            <a:prstDash val="solid"/>
            <a:round/>
          </a:ln>
        </p:spPr>
      </p:sp>
      <p:sp>
        <p:nvSpPr>
          <p:cNvPr id="1444" name="V8 embedding neighbor 1 to center">
            <a:extLst>
              <a:ext uri="{FF2B5EF4-FFF2-40B4-BE49-F238E27FC236}">
                <a16:creationId xmlns:a16="http://schemas.microsoft.com/office/drawing/2014/main" id="{3355B015-AF42-20CF-CA69-CEE14894D5E1}"/>
              </a:ext>
            </a:extLst>
          </p:cNvPr>
          <p:cNvSpPr/>
          <p:nvPr/>
        </p:nvSpPr>
        <p:spPr>
          <a:xfrm>
            <a:off x="1408080" y="1388677"/>
            <a:ext cx="84338" cy="113635"/>
          </a:xfrm>
          <a:custGeom>
            <a:avLst/>
            <a:gdLst/>
            <a:ahLst/>
            <a:cxnLst/>
            <a:rect l="l" t="t" r="r" b="b"/>
            <a:pathLst>
              <a:path w="84338" h="113635">
                <a:moveTo>
                  <a:pt x="0" y="0"/>
                </a:moveTo>
                <a:lnTo>
                  <a:pt x="84338" y="113635"/>
                </a:lnTo>
              </a:path>
            </a:pathLst>
          </a:custGeom>
          <a:noFill/>
          <a:ln w="5842" cap="rnd">
            <a:solidFill>
              <a:srgbClr val="4083B4"/>
            </a:solidFill>
            <a:prstDash val="solid"/>
            <a:round/>
          </a:ln>
        </p:spPr>
      </p:sp>
      <p:sp>
        <p:nvSpPr>
          <p:cNvPr id="1445" name="V8 embedding neighbor 1 to center head">
            <a:extLst>
              <a:ext uri="{FF2B5EF4-FFF2-40B4-BE49-F238E27FC236}">
                <a16:creationId xmlns:a16="http://schemas.microsoft.com/office/drawing/2014/main" id="{27615381-2E0E-2FB6-4DD6-10A8B1F481AB}"/>
              </a:ext>
            </a:extLst>
          </p:cNvPr>
          <p:cNvSpPr/>
          <p:nvPr/>
        </p:nvSpPr>
        <p:spPr>
          <a:xfrm>
            <a:off x="1478827" y="1488319"/>
            <a:ext cx="18870" cy="21105"/>
          </a:xfrm>
          <a:custGeom>
            <a:avLst/>
            <a:gdLst/>
            <a:ahLst/>
            <a:cxnLst/>
            <a:rect l="l" t="t" r="r" b="b"/>
            <a:pathLst>
              <a:path w="18870" h="21105">
                <a:moveTo>
                  <a:pt x="18870" y="21105"/>
                </a:moveTo>
                <a:lnTo>
                  <a:pt x="14277" y="0"/>
                </a:lnTo>
                <a:lnTo>
                  <a:pt x="0" y="10596"/>
                </a:lnTo>
                <a:close/>
              </a:path>
            </a:pathLst>
          </a:custGeom>
          <a:solidFill>
            <a:srgbClr val="4083B4"/>
          </a:solidFill>
          <a:ln w="0" cap="rnd">
            <a:noFill/>
          </a:ln>
        </p:spPr>
      </p:sp>
      <p:sp>
        <p:nvSpPr>
          <p:cNvPr id="1446" name="V8 embedding neighbor 1">
            <a:extLst>
              <a:ext uri="{FF2B5EF4-FFF2-40B4-BE49-F238E27FC236}">
                <a16:creationId xmlns:a16="http://schemas.microsoft.com/office/drawing/2014/main" id="{B5E8A971-284C-84D2-C0DB-7EB12E4B5902}"/>
              </a:ext>
            </a:extLst>
          </p:cNvPr>
          <p:cNvSpPr/>
          <p:nvPr/>
        </p:nvSpPr>
        <p:spPr>
          <a:xfrm>
            <a:off x="1382060" y="1358582"/>
            <a:ext cx="28575" cy="28575"/>
          </a:xfrm>
          <a:prstGeom prst="ellipse">
            <a:avLst/>
          </a:prstGeom>
          <a:noFill/>
          <a:ln w="7112" cap="rnd">
            <a:solidFill>
              <a:srgbClr val="4083B4"/>
            </a:solidFill>
            <a:prstDash val="solid"/>
            <a:round/>
          </a:ln>
        </p:spPr>
      </p:sp>
      <p:sp>
        <p:nvSpPr>
          <p:cNvPr id="1447" name="V8 embedding neighbor 2 to center">
            <a:extLst>
              <a:ext uri="{FF2B5EF4-FFF2-40B4-BE49-F238E27FC236}">
                <a16:creationId xmlns:a16="http://schemas.microsoft.com/office/drawing/2014/main" id="{410E19AF-558D-0BA4-4F56-8A43CC949018}"/>
              </a:ext>
            </a:extLst>
          </p:cNvPr>
          <p:cNvSpPr/>
          <p:nvPr/>
        </p:nvSpPr>
        <p:spPr>
          <a:xfrm>
            <a:off x="1537980" y="1384737"/>
            <a:ext cx="68064" cy="115185"/>
          </a:xfrm>
          <a:custGeom>
            <a:avLst/>
            <a:gdLst/>
            <a:ahLst/>
            <a:cxnLst/>
            <a:rect l="l" t="t" r="r" b="b"/>
            <a:pathLst>
              <a:path w="68064" h="115185">
                <a:moveTo>
                  <a:pt x="68064" y="0"/>
                </a:moveTo>
                <a:lnTo>
                  <a:pt x="0" y="115185"/>
                </a:lnTo>
              </a:path>
            </a:pathLst>
          </a:custGeom>
          <a:noFill/>
          <a:ln w="5842" cap="rnd">
            <a:solidFill>
              <a:srgbClr val="4083B4"/>
            </a:solidFill>
            <a:prstDash val="solid"/>
            <a:round/>
          </a:ln>
        </p:spPr>
      </p:sp>
      <p:sp>
        <p:nvSpPr>
          <p:cNvPr id="1448" name="V8 embedding neighbor 2 to center head">
            <a:extLst>
              <a:ext uri="{FF2B5EF4-FFF2-40B4-BE49-F238E27FC236}">
                <a16:creationId xmlns:a16="http://schemas.microsoft.com/office/drawing/2014/main" id="{50A61875-DCE0-421C-1735-CFE0432F2E90}"/>
              </a:ext>
            </a:extLst>
          </p:cNvPr>
          <p:cNvSpPr/>
          <p:nvPr/>
        </p:nvSpPr>
        <p:spPr>
          <a:xfrm>
            <a:off x="1533473" y="1486079"/>
            <a:ext cx="17668" cy="21470"/>
          </a:xfrm>
          <a:custGeom>
            <a:avLst/>
            <a:gdLst/>
            <a:ahLst/>
            <a:cxnLst/>
            <a:rect l="l" t="t" r="r" b="b"/>
            <a:pathLst>
              <a:path w="17668" h="21470">
                <a:moveTo>
                  <a:pt x="0" y="21470"/>
                </a:moveTo>
                <a:lnTo>
                  <a:pt x="17668" y="9045"/>
                </a:lnTo>
                <a:lnTo>
                  <a:pt x="2361" y="0"/>
                </a:lnTo>
                <a:close/>
              </a:path>
            </a:pathLst>
          </a:custGeom>
          <a:solidFill>
            <a:srgbClr val="4083B4"/>
          </a:solidFill>
          <a:ln w="0" cap="rnd">
            <a:noFill/>
          </a:ln>
        </p:spPr>
      </p:sp>
      <p:sp>
        <p:nvSpPr>
          <p:cNvPr id="1449" name="V8 embedding neighbor 2">
            <a:extLst>
              <a:ext uri="{FF2B5EF4-FFF2-40B4-BE49-F238E27FC236}">
                <a16:creationId xmlns:a16="http://schemas.microsoft.com/office/drawing/2014/main" id="{7AEBAFCB-8ED1-BA01-F100-82AD32FAB4F6}"/>
              </a:ext>
            </a:extLst>
          </p:cNvPr>
          <p:cNvSpPr/>
          <p:nvPr/>
        </p:nvSpPr>
        <p:spPr>
          <a:xfrm>
            <a:off x="1600500" y="1352232"/>
            <a:ext cx="31115" cy="31115"/>
          </a:xfrm>
          <a:prstGeom prst="ellipse">
            <a:avLst/>
          </a:prstGeom>
          <a:noFill/>
          <a:ln w="7112" cap="rnd">
            <a:solidFill>
              <a:srgbClr val="4083B4"/>
            </a:solidFill>
            <a:prstDash val="solid"/>
            <a:round/>
          </a:ln>
        </p:spPr>
      </p:sp>
      <p:sp>
        <p:nvSpPr>
          <p:cNvPr id="1450" name="V8 embedding upper curved aggregation">
            <a:extLst>
              <a:ext uri="{FF2B5EF4-FFF2-40B4-BE49-F238E27FC236}">
                <a16:creationId xmlns:a16="http://schemas.microsoft.com/office/drawing/2014/main" id="{1726AB57-DCD6-4DAB-768F-79635F178651}"/>
              </a:ext>
            </a:extLst>
          </p:cNvPr>
          <p:cNvSpPr/>
          <p:nvPr/>
        </p:nvSpPr>
        <p:spPr>
          <a:xfrm>
            <a:off x="1551288" y="1449794"/>
            <a:ext cx="120650" cy="48806"/>
          </a:xfrm>
          <a:custGeom>
            <a:avLst/>
            <a:gdLst/>
            <a:ahLst/>
            <a:cxnLst/>
            <a:rect l="l" t="t" r="r" b="b"/>
            <a:pathLst>
              <a:path w="120650" h="48806">
                <a:moveTo>
                  <a:pt x="118713" y="0"/>
                </a:moveTo>
                <a:cubicBezTo>
                  <a:pt x="120650" y="36106"/>
                  <a:pt x="44450" y="29756"/>
                  <a:pt x="0" y="48806"/>
                </a:cubicBezTo>
              </a:path>
            </a:pathLst>
          </a:custGeom>
          <a:noFill/>
          <a:ln w="5842" cap="rnd">
            <a:solidFill>
              <a:srgbClr val="4083B4"/>
            </a:solidFill>
            <a:prstDash val="solid"/>
            <a:round/>
          </a:ln>
        </p:spPr>
      </p:sp>
      <p:sp>
        <p:nvSpPr>
          <p:cNvPr id="1451" name="V8 embedding upper curved aggregation tip">
            <a:extLst>
              <a:ext uri="{FF2B5EF4-FFF2-40B4-BE49-F238E27FC236}">
                <a16:creationId xmlns:a16="http://schemas.microsoft.com/office/drawing/2014/main" id="{2B3CEBDA-0E2D-671A-9B26-76F746F7D64B}"/>
              </a:ext>
            </a:extLst>
          </p:cNvPr>
          <p:cNvSpPr/>
          <p:nvPr/>
        </p:nvSpPr>
        <p:spPr>
          <a:xfrm>
            <a:off x="1542577" y="1498600"/>
            <a:ext cx="8711" cy="4690"/>
          </a:xfrm>
          <a:custGeom>
            <a:avLst/>
            <a:gdLst/>
            <a:ahLst/>
            <a:cxnLst/>
            <a:rect l="l" t="t" r="r" b="b"/>
            <a:pathLst>
              <a:path w="8711" h="4690">
                <a:moveTo>
                  <a:pt x="8711" y="0"/>
                </a:moveTo>
                <a:lnTo>
                  <a:pt x="0" y="4690"/>
                </a:lnTo>
              </a:path>
            </a:pathLst>
          </a:custGeom>
          <a:noFill/>
          <a:ln w="5842" cap="rnd">
            <a:solidFill>
              <a:srgbClr val="9481B1"/>
            </a:solidFill>
            <a:prstDash val="solid"/>
            <a:round/>
          </a:ln>
        </p:spPr>
      </p:sp>
      <p:sp>
        <p:nvSpPr>
          <p:cNvPr id="1452" name="V8 embedding upper curved aggregation tip head">
            <a:extLst>
              <a:ext uri="{FF2B5EF4-FFF2-40B4-BE49-F238E27FC236}">
                <a16:creationId xmlns:a16="http://schemas.microsoft.com/office/drawing/2014/main" id="{EA8590B6-001E-E7FA-C91E-6684CAB2CE42}"/>
              </a:ext>
            </a:extLst>
          </p:cNvPr>
          <p:cNvSpPr/>
          <p:nvPr/>
        </p:nvSpPr>
        <p:spPr>
          <a:xfrm>
            <a:off x="1534778" y="1490330"/>
            <a:ext cx="21547" cy="17160"/>
          </a:xfrm>
          <a:custGeom>
            <a:avLst/>
            <a:gdLst/>
            <a:ahLst/>
            <a:cxnLst/>
            <a:rect l="l" t="t" r="r" b="b"/>
            <a:pathLst>
              <a:path w="21547" h="17160">
                <a:moveTo>
                  <a:pt x="0" y="17160"/>
                </a:moveTo>
                <a:lnTo>
                  <a:pt x="21547" y="15655"/>
                </a:lnTo>
                <a:lnTo>
                  <a:pt x="13117" y="0"/>
                </a:lnTo>
                <a:close/>
              </a:path>
            </a:pathLst>
          </a:custGeom>
          <a:solidFill>
            <a:srgbClr val="4083B4"/>
          </a:solidFill>
          <a:ln w="0" cap="rnd">
            <a:noFill/>
          </a:ln>
        </p:spPr>
      </p:sp>
      <p:sp>
        <p:nvSpPr>
          <p:cNvPr id="1453" name="V8 embedding neighbor 3">
            <a:extLst>
              <a:ext uri="{FF2B5EF4-FFF2-40B4-BE49-F238E27FC236}">
                <a16:creationId xmlns:a16="http://schemas.microsoft.com/office/drawing/2014/main" id="{122DFBAE-E742-85F4-F8BE-661BC7410AFC}"/>
              </a:ext>
            </a:extLst>
          </p:cNvPr>
          <p:cNvSpPr/>
          <p:nvPr/>
        </p:nvSpPr>
        <p:spPr>
          <a:xfrm>
            <a:off x="1673208" y="1426210"/>
            <a:ext cx="27940" cy="27940"/>
          </a:xfrm>
          <a:prstGeom prst="ellipse">
            <a:avLst/>
          </a:prstGeom>
          <a:noFill/>
          <a:ln w="7112" cap="rnd">
            <a:solidFill>
              <a:srgbClr val="4083B4"/>
            </a:solidFill>
            <a:prstDash val="solid"/>
            <a:round/>
          </a:ln>
        </p:spPr>
      </p:sp>
      <p:sp>
        <p:nvSpPr>
          <p:cNvPr id="1454" name="V8 embedding curved aggregation">
            <a:extLst>
              <a:ext uri="{FF2B5EF4-FFF2-40B4-BE49-F238E27FC236}">
                <a16:creationId xmlns:a16="http://schemas.microsoft.com/office/drawing/2014/main" id="{90CEAB6E-EBCA-9F13-36DE-C928BA671D5A}"/>
              </a:ext>
            </a:extLst>
          </p:cNvPr>
          <p:cNvSpPr/>
          <p:nvPr/>
        </p:nvSpPr>
        <p:spPr>
          <a:xfrm>
            <a:off x="1392538" y="1503680"/>
            <a:ext cx="77470" cy="107970"/>
          </a:xfrm>
          <a:custGeom>
            <a:avLst/>
            <a:gdLst/>
            <a:ahLst/>
            <a:cxnLst/>
            <a:rect l="l" t="t" r="r" b="b"/>
            <a:pathLst>
              <a:path w="77470" h="107970">
                <a:moveTo>
                  <a:pt x="17311" y="107970"/>
                </a:moveTo>
                <a:cubicBezTo>
                  <a:pt x="0" y="29210"/>
                  <a:pt x="35560" y="0"/>
                  <a:pt x="77470" y="12700"/>
                </a:cubicBezTo>
              </a:path>
            </a:pathLst>
          </a:custGeom>
          <a:noFill/>
          <a:ln w="8890" cap="rnd">
            <a:solidFill>
              <a:srgbClr val="4083B4"/>
            </a:solidFill>
            <a:prstDash val="solid"/>
            <a:round/>
          </a:ln>
        </p:spPr>
      </p:sp>
      <p:sp>
        <p:nvSpPr>
          <p:cNvPr id="1455" name="V8 embedding curved aggregation tip">
            <a:extLst>
              <a:ext uri="{FF2B5EF4-FFF2-40B4-BE49-F238E27FC236}">
                <a16:creationId xmlns:a16="http://schemas.microsoft.com/office/drawing/2014/main" id="{4871021E-0B37-6092-4FB6-FB482931253B}"/>
              </a:ext>
            </a:extLst>
          </p:cNvPr>
          <p:cNvSpPr/>
          <p:nvPr/>
        </p:nvSpPr>
        <p:spPr>
          <a:xfrm>
            <a:off x="1470008" y="1516380"/>
            <a:ext cx="6039" cy="3020"/>
          </a:xfrm>
          <a:custGeom>
            <a:avLst/>
            <a:gdLst/>
            <a:ahLst/>
            <a:cxnLst/>
            <a:rect l="l" t="t" r="r" b="b"/>
            <a:pathLst>
              <a:path w="6039" h="3020">
                <a:moveTo>
                  <a:pt x="0" y="0"/>
                </a:moveTo>
                <a:lnTo>
                  <a:pt x="6039" y="3020"/>
                </a:lnTo>
              </a:path>
            </a:pathLst>
          </a:custGeom>
          <a:noFill/>
          <a:ln w="8890" cap="rnd">
            <a:solidFill>
              <a:srgbClr val="9481B1"/>
            </a:solidFill>
            <a:prstDash val="solid"/>
            <a:round/>
          </a:ln>
        </p:spPr>
      </p:sp>
      <p:sp>
        <p:nvSpPr>
          <p:cNvPr id="1456" name="V8 embedding curved aggregation tip head">
            <a:extLst>
              <a:ext uri="{FF2B5EF4-FFF2-40B4-BE49-F238E27FC236}">
                <a16:creationId xmlns:a16="http://schemas.microsoft.com/office/drawing/2014/main" id="{86BC3798-BFD4-0C2D-6F96-1C5CADB6D7BE}"/>
              </a:ext>
            </a:extLst>
          </p:cNvPr>
          <p:cNvSpPr/>
          <p:nvPr/>
        </p:nvSpPr>
        <p:spPr>
          <a:xfrm>
            <a:off x="1460116" y="1504405"/>
            <a:ext cx="25132" cy="19595"/>
          </a:xfrm>
          <a:custGeom>
            <a:avLst/>
            <a:gdLst/>
            <a:ahLst/>
            <a:cxnLst/>
            <a:rect l="l" t="t" r="r" b="b"/>
            <a:pathLst>
              <a:path w="25132" h="19595">
                <a:moveTo>
                  <a:pt x="25132" y="19595"/>
                </a:moveTo>
                <a:lnTo>
                  <a:pt x="9371" y="0"/>
                </a:lnTo>
                <a:lnTo>
                  <a:pt x="0" y="18743"/>
                </a:lnTo>
                <a:close/>
              </a:path>
            </a:pathLst>
          </a:custGeom>
          <a:solidFill>
            <a:srgbClr val="4083B4"/>
          </a:solidFill>
          <a:ln w="0" cap="rnd">
            <a:solidFill>
              <a:srgbClr val="4083B4"/>
            </a:solidFill>
          </a:ln>
        </p:spPr>
      </p:sp>
      <p:sp>
        <p:nvSpPr>
          <p:cNvPr id="1457" name="V8 embedding neighbor 4">
            <a:extLst>
              <a:ext uri="{FF2B5EF4-FFF2-40B4-BE49-F238E27FC236}">
                <a16:creationId xmlns:a16="http://schemas.microsoft.com/office/drawing/2014/main" id="{AEADE014-9292-2360-C2CE-F8C845E8BCFD}"/>
              </a:ext>
            </a:extLst>
          </p:cNvPr>
          <p:cNvSpPr/>
          <p:nvPr/>
        </p:nvSpPr>
        <p:spPr>
          <a:xfrm>
            <a:off x="1377933" y="1607185"/>
            <a:ext cx="31750" cy="31750"/>
          </a:xfrm>
          <a:prstGeom prst="ellipse">
            <a:avLst/>
          </a:prstGeom>
          <a:noFill/>
          <a:ln w="7112" cap="rnd">
            <a:solidFill>
              <a:srgbClr val="4083B4"/>
            </a:solidFill>
            <a:prstDash val="solid"/>
            <a:round/>
          </a:ln>
        </p:spPr>
      </p:sp>
      <p:sp>
        <p:nvSpPr>
          <p:cNvPr id="1458" name="V8 embedding neighbor 5 to center">
            <a:extLst>
              <a:ext uri="{FF2B5EF4-FFF2-40B4-BE49-F238E27FC236}">
                <a16:creationId xmlns:a16="http://schemas.microsoft.com/office/drawing/2014/main" id="{88F2ECE0-BE4E-6B10-0F14-901F5AD31AE6}"/>
              </a:ext>
            </a:extLst>
          </p:cNvPr>
          <p:cNvSpPr/>
          <p:nvPr/>
        </p:nvSpPr>
        <p:spPr>
          <a:xfrm>
            <a:off x="1508228" y="1576570"/>
            <a:ext cx="5857" cy="82734"/>
          </a:xfrm>
          <a:custGeom>
            <a:avLst/>
            <a:gdLst/>
            <a:ahLst/>
            <a:cxnLst/>
            <a:rect l="l" t="t" r="r" b="b"/>
            <a:pathLst>
              <a:path w="5857" h="82734">
                <a:moveTo>
                  <a:pt x="0" y="82734"/>
                </a:moveTo>
                <a:lnTo>
                  <a:pt x="5857" y="0"/>
                </a:lnTo>
              </a:path>
            </a:pathLst>
          </a:custGeom>
          <a:noFill/>
          <a:ln w="5842" cap="rnd">
            <a:solidFill>
              <a:srgbClr val="4083B4"/>
            </a:solidFill>
            <a:prstDash val="solid"/>
            <a:round/>
          </a:ln>
        </p:spPr>
      </p:sp>
      <p:sp>
        <p:nvSpPr>
          <p:cNvPr id="1459" name="V8 embedding neighbor 5 to center head">
            <a:extLst>
              <a:ext uri="{FF2B5EF4-FFF2-40B4-BE49-F238E27FC236}">
                <a16:creationId xmlns:a16="http://schemas.microsoft.com/office/drawing/2014/main" id="{4E579011-FEC4-00D3-7546-C5CB388C9A0A}"/>
              </a:ext>
            </a:extLst>
          </p:cNvPr>
          <p:cNvSpPr/>
          <p:nvPr/>
        </p:nvSpPr>
        <p:spPr>
          <a:xfrm>
            <a:off x="1504453" y="1567734"/>
            <a:ext cx="17736" cy="20264"/>
          </a:xfrm>
          <a:custGeom>
            <a:avLst/>
            <a:gdLst/>
            <a:ahLst/>
            <a:cxnLst/>
            <a:rect l="l" t="t" r="r" b="b"/>
            <a:pathLst>
              <a:path w="17736" h="20264">
                <a:moveTo>
                  <a:pt x="10258" y="0"/>
                </a:moveTo>
                <a:lnTo>
                  <a:pt x="0" y="19008"/>
                </a:lnTo>
                <a:lnTo>
                  <a:pt x="17736" y="20264"/>
                </a:lnTo>
                <a:close/>
              </a:path>
            </a:pathLst>
          </a:custGeom>
          <a:solidFill>
            <a:srgbClr val="4083B4"/>
          </a:solidFill>
          <a:ln w="0" cap="rnd">
            <a:solidFill>
              <a:srgbClr val="4083B4"/>
            </a:solidFill>
          </a:ln>
        </p:spPr>
      </p:sp>
      <p:sp>
        <p:nvSpPr>
          <p:cNvPr id="1460" name="V8 embedding neighbor 5">
            <a:extLst>
              <a:ext uri="{FF2B5EF4-FFF2-40B4-BE49-F238E27FC236}">
                <a16:creationId xmlns:a16="http://schemas.microsoft.com/office/drawing/2014/main" id="{80A6CA00-4D1C-000D-C0AF-7F59BA21FF45}"/>
              </a:ext>
            </a:extLst>
          </p:cNvPr>
          <p:cNvSpPr/>
          <p:nvPr/>
        </p:nvSpPr>
        <p:spPr>
          <a:xfrm>
            <a:off x="1492233" y="1664335"/>
            <a:ext cx="29210" cy="29210"/>
          </a:xfrm>
          <a:prstGeom prst="ellipse">
            <a:avLst/>
          </a:prstGeom>
          <a:noFill/>
          <a:ln w="7112" cap="rnd">
            <a:solidFill>
              <a:srgbClr val="4083B4"/>
            </a:solidFill>
            <a:prstDash val="solid"/>
            <a:round/>
          </a:ln>
        </p:spPr>
      </p:sp>
      <p:sp>
        <p:nvSpPr>
          <p:cNvPr id="1461" name="V8 embedding center">
            <a:extLst>
              <a:ext uri="{FF2B5EF4-FFF2-40B4-BE49-F238E27FC236}">
                <a16:creationId xmlns:a16="http://schemas.microsoft.com/office/drawing/2014/main" id="{0973F1A0-63C8-796C-8269-8DC9810E39E1}"/>
              </a:ext>
            </a:extLst>
          </p:cNvPr>
          <p:cNvSpPr/>
          <p:nvPr/>
        </p:nvSpPr>
        <p:spPr>
          <a:xfrm>
            <a:off x="1494773" y="1513205"/>
            <a:ext cx="44450" cy="44450"/>
          </a:xfrm>
          <a:prstGeom prst="ellipse">
            <a:avLst/>
          </a:prstGeom>
          <a:noFill/>
          <a:ln w="9906" cap="rnd">
            <a:solidFill>
              <a:srgbClr val="3B8C80"/>
            </a:solidFill>
            <a:prstDash val="solid"/>
            <a:round/>
          </a:ln>
        </p:spPr>
      </p:sp>
      <p:sp>
        <p:nvSpPr>
          <p:cNvPr id="1462" name="V8 embedding feature 1">
            <a:extLst>
              <a:ext uri="{FF2B5EF4-FFF2-40B4-BE49-F238E27FC236}">
                <a16:creationId xmlns:a16="http://schemas.microsoft.com/office/drawing/2014/main" id="{FE0417EE-6828-F09F-AACE-DE1F76BE3EB6}"/>
              </a:ext>
            </a:extLst>
          </p:cNvPr>
          <p:cNvSpPr/>
          <p:nvPr/>
        </p:nvSpPr>
        <p:spPr>
          <a:xfrm>
            <a:off x="1548748" y="1518285"/>
            <a:ext cx="18415" cy="34290"/>
          </a:xfrm>
          <a:prstGeom prst="rect">
            <a:avLst/>
          </a:prstGeom>
          <a:solidFill>
            <a:srgbClr val="3E8F9A"/>
          </a:solidFill>
          <a:ln w="0" cap="rnd">
            <a:noFill/>
          </a:ln>
        </p:spPr>
      </p:sp>
      <p:sp>
        <p:nvSpPr>
          <p:cNvPr id="1463" name="V8 embedding feature 2">
            <a:extLst>
              <a:ext uri="{FF2B5EF4-FFF2-40B4-BE49-F238E27FC236}">
                <a16:creationId xmlns:a16="http://schemas.microsoft.com/office/drawing/2014/main" id="{28DF18A8-B7D6-40CC-F8D0-1CE005F88971}"/>
              </a:ext>
            </a:extLst>
          </p:cNvPr>
          <p:cNvSpPr/>
          <p:nvPr/>
        </p:nvSpPr>
        <p:spPr>
          <a:xfrm>
            <a:off x="1568433" y="1518285"/>
            <a:ext cx="18415" cy="34290"/>
          </a:xfrm>
          <a:prstGeom prst="rect">
            <a:avLst/>
          </a:prstGeom>
          <a:solidFill>
            <a:srgbClr val="88BEC3"/>
          </a:solidFill>
          <a:ln w="0" cap="rnd">
            <a:noFill/>
          </a:ln>
        </p:spPr>
      </p:sp>
      <p:sp>
        <p:nvSpPr>
          <p:cNvPr id="1464" name="V8 embedding feature 3">
            <a:extLst>
              <a:ext uri="{FF2B5EF4-FFF2-40B4-BE49-F238E27FC236}">
                <a16:creationId xmlns:a16="http://schemas.microsoft.com/office/drawing/2014/main" id="{D8B2548F-FDCB-962F-D116-8194E608D854}"/>
              </a:ext>
            </a:extLst>
          </p:cNvPr>
          <p:cNvSpPr/>
          <p:nvPr/>
        </p:nvSpPr>
        <p:spPr>
          <a:xfrm>
            <a:off x="1588118" y="1518285"/>
            <a:ext cx="18415" cy="34290"/>
          </a:xfrm>
          <a:prstGeom prst="rect">
            <a:avLst/>
          </a:prstGeom>
          <a:solidFill>
            <a:srgbClr val="67AD9F"/>
          </a:solidFill>
          <a:ln w="0" cap="rnd">
            <a:noFill/>
          </a:ln>
        </p:spPr>
      </p:sp>
      <p:sp>
        <p:nvSpPr>
          <p:cNvPr id="1465" name="V8 embedding feature 4">
            <a:extLst>
              <a:ext uri="{FF2B5EF4-FFF2-40B4-BE49-F238E27FC236}">
                <a16:creationId xmlns:a16="http://schemas.microsoft.com/office/drawing/2014/main" id="{4DB56FF7-AE6A-29C2-0D4E-A50B4A01B329}"/>
              </a:ext>
            </a:extLst>
          </p:cNvPr>
          <p:cNvSpPr/>
          <p:nvPr/>
        </p:nvSpPr>
        <p:spPr>
          <a:xfrm>
            <a:off x="1607803" y="1518285"/>
            <a:ext cx="18415" cy="34290"/>
          </a:xfrm>
          <a:prstGeom prst="rect">
            <a:avLst/>
          </a:prstGeom>
          <a:solidFill>
            <a:srgbClr val="B6D8CC"/>
          </a:solidFill>
          <a:ln w="0" cap="rnd">
            <a:noFill/>
          </a:ln>
        </p:spPr>
      </p:sp>
      <p:sp>
        <p:nvSpPr>
          <p:cNvPr id="1466" name="V8 embedding feature 5">
            <a:extLst>
              <a:ext uri="{FF2B5EF4-FFF2-40B4-BE49-F238E27FC236}">
                <a16:creationId xmlns:a16="http://schemas.microsoft.com/office/drawing/2014/main" id="{0834D08B-BC25-2ADC-AF12-5492513577F8}"/>
              </a:ext>
            </a:extLst>
          </p:cNvPr>
          <p:cNvSpPr/>
          <p:nvPr/>
        </p:nvSpPr>
        <p:spPr>
          <a:xfrm>
            <a:off x="1627488" y="1518285"/>
            <a:ext cx="18415" cy="34290"/>
          </a:xfrm>
          <a:prstGeom prst="rect">
            <a:avLst/>
          </a:prstGeom>
          <a:solidFill>
            <a:srgbClr val="3B8C80"/>
          </a:solidFill>
          <a:ln w="0" cap="rnd">
            <a:noFill/>
          </a:ln>
        </p:spPr>
      </p:sp>
      <p:sp>
        <p:nvSpPr>
          <p:cNvPr id="1467" name="V8 embedding feature 6">
            <a:extLst>
              <a:ext uri="{FF2B5EF4-FFF2-40B4-BE49-F238E27FC236}">
                <a16:creationId xmlns:a16="http://schemas.microsoft.com/office/drawing/2014/main" id="{7EDE9E92-6EF0-3023-2F22-6E7EFD9706C6}"/>
              </a:ext>
            </a:extLst>
          </p:cNvPr>
          <p:cNvSpPr/>
          <p:nvPr/>
        </p:nvSpPr>
        <p:spPr>
          <a:xfrm>
            <a:off x="1647173" y="1518285"/>
            <a:ext cx="18415" cy="34290"/>
          </a:xfrm>
          <a:prstGeom prst="rect">
            <a:avLst/>
          </a:prstGeom>
          <a:solidFill>
            <a:srgbClr val="A3CDDA"/>
          </a:solidFill>
          <a:ln w="0" cap="rnd">
            <a:noFill/>
          </a:ln>
        </p:spPr>
      </p:sp>
      <p:sp>
        <p:nvSpPr>
          <p:cNvPr id="1468" name="V8 embedding feature 7">
            <a:extLst>
              <a:ext uri="{FF2B5EF4-FFF2-40B4-BE49-F238E27FC236}">
                <a16:creationId xmlns:a16="http://schemas.microsoft.com/office/drawing/2014/main" id="{3791BD29-2650-00D8-2639-94010AF8036F}"/>
              </a:ext>
            </a:extLst>
          </p:cNvPr>
          <p:cNvSpPr/>
          <p:nvPr/>
        </p:nvSpPr>
        <p:spPr>
          <a:xfrm>
            <a:off x="1666858" y="1518285"/>
            <a:ext cx="18415" cy="34290"/>
          </a:xfrm>
          <a:prstGeom prst="rect">
            <a:avLst/>
          </a:prstGeom>
          <a:solidFill>
            <a:srgbClr val="6CAFA4"/>
          </a:solidFill>
          <a:ln w="0" cap="rnd">
            <a:noFill/>
          </a:ln>
        </p:spPr>
      </p:sp>
      <p:sp>
        <p:nvSpPr>
          <p:cNvPr id="1469" name="V8 embedding feature 8">
            <a:extLst>
              <a:ext uri="{FF2B5EF4-FFF2-40B4-BE49-F238E27FC236}">
                <a16:creationId xmlns:a16="http://schemas.microsoft.com/office/drawing/2014/main" id="{78D40256-09DE-A393-64FC-199BB5DEB767}"/>
              </a:ext>
            </a:extLst>
          </p:cNvPr>
          <p:cNvSpPr/>
          <p:nvPr/>
        </p:nvSpPr>
        <p:spPr>
          <a:xfrm>
            <a:off x="1686543" y="1518285"/>
            <a:ext cx="18415" cy="34290"/>
          </a:xfrm>
          <a:prstGeom prst="rect">
            <a:avLst/>
          </a:prstGeom>
          <a:solidFill>
            <a:srgbClr val="C4DDE0"/>
          </a:solidFill>
          <a:ln w="0" cap="rnd">
            <a:noFill/>
          </a:ln>
        </p:spPr>
      </p:sp>
      <p:sp>
        <p:nvSpPr>
          <p:cNvPr id="1471" name="V8 embedding to point branch">
            <a:extLst>
              <a:ext uri="{FF2B5EF4-FFF2-40B4-BE49-F238E27FC236}">
                <a16:creationId xmlns:a16="http://schemas.microsoft.com/office/drawing/2014/main" id="{CD0EF799-B1E4-C26B-BB25-441BB97890BE}"/>
              </a:ext>
            </a:extLst>
          </p:cNvPr>
          <p:cNvSpPr/>
          <p:nvPr/>
        </p:nvSpPr>
        <p:spPr>
          <a:xfrm flipV="1">
            <a:off x="1767191" y="1469001"/>
            <a:ext cx="157162" cy="66614"/>
          </a:xfrm>
          <a:custGeom>
            <a:avLst/>
            <a:gdLst/>
            <a:ahLst/>
            <a:cxnLst/>
            <a:rect l="l" t="t" r="r" b="b"/>
            <a:pathLst>
              <a:path w="63379" h="1">
                <a:moveTo>
                  <a:pt x="0" y="0"/>
                </a:moveTo>
                <a:lnTo>
                  <a:pt x="63379" y="0"/>
                </a:lnTo>
              </a:path>
            </a:pathLst>
          </a:custGeom>
          <a:noFill/>
          <a:ln w="8509" cap="rnd">
            <a:solidFill>
              <a:srgbClr val="77828C"/>
            </a:solidFill>
            <a:prstDash val="solid"/>
            <a:round/>
          </a:ln>
        </p:spPr>
      </p:sp>
      <p:sp>
        <p:nvSpPr>
          <p:cNvPr id="1472" name="V8 embedding to point branch head">
            <a:extLst>
              <a:ext uri="{FF2B5EF4-FFF2-40B4-BE49-F238E27FC236}">
                <a16:creationId xmlns:a16="http://schemas.microsoft.com/office/drawing/2014/main" id="{EE5B1593-BB31-DCD1-99C7-141C7B857AF7}"/>
              </a:ext>
            </a:extLst>
          </p:cNvPr>
          <p:cNvSpPr/>
          <p:nvPr/>
        </p:nvSpPr>
        <p:spPr>
          <a:xfrm>
            <a:off x="1909057" y="1523745"/>
            <a:ext cx="28321" cy="24384"/>
          </a:xfrm>
          <a:custGeom>
            <a:avLst/>
            <a:gdLst/>
            <a:ahLst/>
            <a:cxnLst/>
            <a:rect l="l" t="t" r="r" b="b"/>
            <a:pathLst>
              <a:path w="28321" h="24384">
                <a:moveTo>
                  <a:pt x="28321" y="12192"/>
                </a:moveTo>
                <a:lnTo>
                  <a:pt x="0" y="0"/>
                </a:lnTo>
                <a:lnTo>
                  <a:pt x="0" y="24384"/>
                </a:lnTo>
                <a:close/>
              </a:path>
            </a:pathLst>
          </a:custGeom>
          <a:solidFill>
            <a:srgbClr val="77828C"/>
          </a:solidFill>
          <a:ln w="0" cap="rnd">
            <a:solidFill>
              <a:srgbClr val="77828C"/>
            </a:solidFill>
          </a:ln>
        </p:spPr>
      </p:sp>
      <p:sp>
        <p:nvSpPr>
          <p:cNvPr id="1473" name="V8 embedding to voxel branch">
            <a:extLst>
              <a:ext uri="{FF2B5EF4-FFF2-40B4-BE49-F238E27FC236}">
                <a16:creationId xmlns:a16="http://schemas.microsoft.com/office/drawing/2014/main" id="{A9E148F4-6BCA-77FF-AE43-549D2AE883D5}"/>
              </a:ext>
            </a:extLst>
          </p:cNvPr>
          <p:cNvSpPr/>
          <p:nvPr/>
        </p:nvSpPr>
        <p:spPr>
          <a:xfrm flipH="1">
            <a:off x="1787927" y="835707"/>
            <a:ext cx="45719" cy="699723"/>
          </a:xfrm>
          <a:custGeom>
            <a:avLst/>
            <a:gdLst/>
            <a:ahLst/>
            <a:cxnLst/>
            <a:rect l="l" t="t" r="r" b="b"/>
            <a:pathLst>
              <a:path w="1" h="866159">
                <a:moveTo>
                  <a:pt x="0" y="866159"/>
                </a:moveTo>
                <a:lnTo>
                  <a:pt x="0" y="0"/>
                </a:lnTo>
              </a:path>
            </a:pathLst>
          </a:custGeom>
          <a:noFill/>
          <a:ln w="8509" cap="rnd">
            <a:solidFill>
              <a:srgbClr val="77828C"/>
            </a:solidFill>
            <a:prstDash val="solid"/>
            <a:round/>
          </a:ln>
        </p:spPr>
      </p:sp>
      <p:sp>
        <p:nvSpPr>
          <p:cNvPr id="1475" name="V8 density and receptor to voxel">
            <a:extLst>
              <a:ext uri="{FF2B5EF4-FFF2-40B4-BE49-F238E27FC236}">
                <a16:creationId xmlns:a16="http://schemas.microsoft.com/office/drawing/2014/main" id="{61ECA984-FF9D-A5D0-F819-33661D001ABE}"/>
              </a:ext>
            </a:extLst>
          </p:cNvPr>
          <p:cNvSpPr/>
          <p:nvPr/>
        </p:nvSpPr>
        <p:spPr>
          <a:xfrm flipV="1">
            <a:off x="1767284" y="610807"/>
            <a:ext cx="148072" cy="45719"/>
          </a:xfrm>
          <a:custGeom>
            <a:avLst/>
            <a:gdLst/>
            <a:ahLst/>
            <a:cxnLst/>
            <a:rect l="l" t="t" r="r" b="b"/>
            <a:pathLst>
              <a:path w="96730" h="1">
                <a:moveTo>
                  <a:pt x="0" y="0"/>
                </a:moveTo>
                <a:lnTo>
                  <a:pt x="96730" y="0"/>
                </a:lnTo>
              </a:path>
            </a:pathLst>
          </a:custGeom>
          <a:noFill/>
          <a:ln w="8509" cap="rnd">
            <a:solidFill>
              <a:srgbClr val="77828C"/>
            </a:solidFill>
            <a:prstDash val="solid"/>
            <a:round/>
          </a:ln>
        </p:spPr>
      </p:sp>
      <p:sp>
        <p:nvSpPr>
          <p:cNvPr id="1476" name="V8 density and receptor to voxel head">
            <a:extLst>
              <a:ext uri="{FF2B5EF4-FFF2-40B4-BE49-F238E27FC236}">
                <a16:creationId xmlns:a16="http://schemas.microsoft.com/office/drawing/2014/main" id="{D6CAD338-44F5-8993-3618-9A1839CB2DBC}"/>
              </a:ext>
            </a:extLst>
          </p:cNvPr>
          <p:cNvSpPr/>
          <p:nvPr/>
        </p:nvSpPr>
        <p:spPr>
          <a:xfrm>
            <a:off x="1904526" y="644334"/>
            <a:ext cx="28321" cy="24384"/>
          </a:xfrm>
          <a:custGeom>
            <a:avLst/>
            <a:gdLst/>
            <a:ahLst/>
            <a:cxnLst/>
            <a:rect l="l" t="t" r="r" b="b"/>
            <a:pathLst>
              <a:path w="28321" h="24384">
                <a:moveTo>
                  <a:pt x="28321" y="12192"/>
                </a:moveTo>
                <a:lnTo>
                  <a:pt x="0" y="0"/>
                </a:lnTo>
                <a:lnTo>
                  <a:pt x="0" y="24384"/>
                </a:lnTo>
                <a:close/>
              </a:path>
            </a:pathLst>
          </a:custGeom>
          <a:solidFill>
            <a:srgbClr val="77828C"/>
          </a:solidFill>
          <a:ln w="0" cap="rnd">
            <a:noFill/>
          </a:ln>
        </p:spPr>
      </p:sp>
      <p:sp>
        <p:nvSpPr>
          <p:cNvPr id="1479" name="V8 Match input divider">
            <a:extLst>
              <a:ext uri="{FF2B5EF4-FFF2-40B4-BE49-F238E27FC236}">
                <a16:creationId xmlns:a16="http://schemas.microsoft.com/office/drawing/2014/main" id="{2EDC4EC7-D903-3262-650D-444D37299D28}"/>
              </a:ext>
            </a:extLst>
          </p:cNvPr>
          <p:cNvSpPr/>
          <p:nvPr/>
        </p:nvSpPr>
        <p:spPr>
          <a:xfrm>
            <a:off x="596155" y="2767063"/>
            <a:ext cx="957199" cy="1"/>
          </a:xfrm>
          <a:custGeom>
            <a:avLst/>
            <a:gdLst/>
            <a:ahLst/>
            <a:cxnLst/>
            <a:rect l="l" t="t" r="r" b="b"/>
            <a:pathLst>
              <a:path w="957199" h="1">
                <a:moveTo>
                  <a:pt x="0" y="0"/>
                </a:moveTo>
                <a:lnTo>
                  <a:pt x="957199" y="0"/>
                </a:lnTo>
              </a:path>
            </a:pathLst>
          </a:custGeom>
          <a:noFill/>
          <a:ln w="7290" cap="rnd">
            <a:solidFill>
              <a:srgbClr val="B6CEC5"/>
            </a:solidFill>
            <a:prstDash val="solid"/>
            <a:round/>
          </a:ln>
        </p:spPr>
      </p:sp>
      <p:sp>
        <p:nvSpPr>
          <p:cNvPr id="1480" name="V8 pool to concat">
            <a:extLst>
              <a:ext uri="{FF2B5EF4-FFF2-40B4-BE49-F238E27FC236}">
                <a16:creationId xmlns:a16="http://schemas.microsoft.com/office/drawing/2014/main" id="{3702663D-F294-9B06-B213-0076F82464A6}"/>
              </a:ext>
            </a:extLst>
          </p:cNvPr>
          <p:cNvSpPr/>
          <p:nvPr/>
        </p:nvSpPr>
        <p:spPr>
          <a:xfrm>
            <a:off x="917331" y="3603168"/>
            <a:ext cx="355873" cy="100152"/>
          </a:xfrm>
          <a:custGeom>
            <a:avLst/>
            <a:gdLst/>
            <a:ahLst/>
            <a:cxnLst/>
            <a:rect l="l" t="t" r="r" b="b"/>
            <a:pathLst>
              <a:path w="355873" h="100152">
                <a:moveTo>
                  <a:pt x="0" y="0"/>
                </a:moveTo>
                <a:lnTo>
                  <a:pt x="0" y="100152"/>
                </a:lnTo>
                <a:lnTo>
                  <a:pt x="355873" y="100152"/>
                </a:lnTo>
              </a:path>
            </a:pathLst>
          </a:custGeom>
          <a:noFill/>
          <a:ln w="8509" cap="rnd">
            <a:solidFill>
              <a:srgbClr val="77828C"/>
            </a:solidFill>
            <a:prstDash val="solid"/>
            <a:round/>
          </a:ln>
        </p:spPr>
      </p:sp>
      <p:sp>
        <p:nvSpPr>
          <p:cNvPr id="1481" name="V8 attention to concat">
            <a:extLst>
              <a:ext uri="{FF2B5EF4-FFF2-40B4-BE49-F238E27FC236}">
                <a16:creationId xmlns:a16="http://schemas.microsoft.com/office/drawing/2014/main" id="{45C4FCB5-3380-E3A8-B0B1-54A427F52361}"/>
              </a:ext>
            </a:extLst>
          </p:cNvPr>
          <p:cNvSpPr/>
          <p:nvPr/>
        </p:nvSpPr>
        <p:spPr>
          <a:xfrm>
            <a:off x="1273204" y="3603168"/>
            <a:ext cx="356064" cy="100152"/>
          </a:xfrm>
          <a:custGeom>
            <a:avLst/>
            <a:gdLst/>
            <a:ahLst/>
            <a:cxnLst/>
            <a:rect l="l" t="t" r="r" b="b"/>
            <a:pathLst>
              <a:path w="356064" h="100152">
                <a:moveTo>
                  <a:pt x="356064" y="0"/>
                </a:moveTo>
                <a:lnTo>
                  <a:pt x="356064" y="100152"/>
                </a:lnTo>
                <a:lnTo>
                  <a:pt x="0" y="100152"/>
                </a:lnTo>
              </a:path>
            </a:pathLst>
          </a:custGeom>
          <a:noFill/>
          <a:ln w="8509" cap="rnd">
            <a:solidFill>
              <a:srgbClr val="77828C"/>
            </a:solidFill>
            <a:prstDash val="solid"/>
            <a:round/>
          </a:ln>
        </p:spPr>
      </p:sp>
      <p:sp>
        <p:nvSpPr>
          <p:cNvPr id="1482" name="V8 concat to MLP">
            <a:extLst>
              <a:ext uri="{FF2B5EF4-FFF2-40B4-BE49-F238E27FC236}">
                <a16:creationId xmlns:a16="http://schemas.microsoft.com/office/drawing/2014/main" id="{366946BB-F669-FC2F-4DBA-809EA592E5E1}"/>
              </a:ext>
            </a:extLst>
          </p:cNvPr>
          <p:cNvSpPr/>
          <p:nvPr/>
        </p:nvSpPr>
        <p:spPr>
          <a:xfrm>
            <a:off x="1273204" y="3703320"/>
            <a:ext cx="1" cy="22181"/>
          </a:xfrm>
          <a:custGeom>
            <a:avLst/>
            <a:gdLst/>
            <a:ahLst/>
            <a:cxnLst/>
            <a:rect l="l" t="t" r="r" b="b"/>
            <a:pathLst>
              <a:path w="1" h="22181">
                <a:moveTo>
                  <a:pt x="0" y="0"/>
                </a:moveTo>
                <a:lnTo>
                  <a:pt x="0" y="22181"/>
                </a:lnTo>
              </a:path>
            </a:pathLst>
          </a:custGeom>
          <a:noFill/>
          <a:ln w="8509" cap="rnd">
            <a:solidFill>
              <a:srgbClr val="77828C"/>
            </a:solidFill>
            <a:prstDash val="solid"/>
            <a:round/>
          </a:ln>
        </p:spPr>
      </p:sp>
      <p:sp>
        <p:nvSpPr>
          <p:cNvPr id="1483" name="V8 concat to MLP head">
            <a:extLst>
              <a:ext uri="{FF2B5EF4-FFF2-40B4-BE49-F238E27FC236}">
                <a16:creationId xmlns:a16="http://schemas.microsoft.com/office/drawing/2014/main" id="{234835D4-EF31-832C-586B-712FBD8CEB61}"/>
              </a:ext>
            </a:extLst>
          </p:cNvPr>
          <p:cNvSpPr/>
          <p:nvPr/>
        </p:nvSpPr>
        <p:spPr>
          <a:xfrm>
            <a:off x="1261012" y="3709924"/>
            <a:ext cx="24384" cy="28321"/>
          </a:xfrm>
          <a:custGeom>
            <a:avLst/>
            <a:gdLst/>
            <a:ahLst/>
            <a:cxnLst/>
            <a:rect l="l" t="t" r="r" b="b"/>
            <a:pathLst>
              <a:path w="24384" h="28321">
                <a:moveTo>
                  <a:pt x="12192" y="28321"/>
                </a:moveTo>
                <a:lnTo>
                  <a:pt x="24384" y="0"/>
                </a:lnTo>
                <a:lnTo>
                  <a:pt x="0" y="0"/>
                </a:lnTo>
                <a:close/>
              </a:path>
            </a:pathLst>
          </a:custGeom>
          <a:solidFill>
            <a:srgbClr val="77828C"/>
          </a:solidFill>
          <a:ln w="0" cap="rnd">
            <a:noFill/>
          </a:ln>
        </p:spPr>
      </p:sp>
      <p:grpSp>
        <p:nvGrpSpPr>
          <p:cNvPr id="6" name="Find candidate blob 2">
            <a:extLst>
              <a:ext uri="{FF2B5EF4-FFF2-40B4-BE49-F238E27FC236}">
                <a16:creationId xmlns:a16="http://schemas.microsoft.com/office/drawing/2014/main" id="{52582F41-8562-EDCF-D547-FEE06D78B091}"/>
              </a:ext>
            </a:extLst>
          </p:cNvPr>
          <p:cNvGrpSpPr/>
          <p:nvPr/>
        </p:nvGrpSpPr>
        <p:grpSpPr>
          <a:xfrm rot="3197729">
            <a:off x="4553030" y="901286"/>
            <a:ext cx="140909" cy="118817"/>
            <a:chOff x="1928706" y="3559489"/>
            <a:chExt cx="227897" cy="155682"/>
          </a:xfrm>
        </p:grpSpPr>
        <p:sp>
          <p:nvSpPr>
            <p:cNvPr id="16" name="Candidate blob | editable contour">
              <a:extLst>
                <a:ext uri="{FF2B5EF4-FFF2-40B4-BE49-F238E27FC236}">
                  <a16:creationId xmlns:a16="http://schemas.microsoft.com/office/drawing/2014/main" id="{AC599FE5-B7C8-2310-361D-307EF409B159}"/>
                </a:ext>
              </a:extLst>
            </p:cNvPr>
            <p:cNvSpPr/>
            <p:nvPr/>
          </p:nvSpPr>
          <p:spPr>
            <a:xfrm>
              <a:off x="1928706" y="3559489"/>
              <a:ext cx="227897" cy="155682"/>
            </a:xfrm>
            <a:custGeom>
              <a:avLst/>
              <a:gdLst/>
              <a:ahLst/>
              <a:cxnLst/>
              <a:rect l="0" t="0" r="w" b="h"/>
              <a:pathLst>
                <a:path w="227897" h="155682" extrusionOk="0">
                  <a:moveTo>
                    <a:pt x="3521" y="100385"/>
                  </a:moveTo>
                  <a:cubicBezTo>
                    <a:pt x="0" y="80701"/>
                    <a:pt x="26006" y="62787"/>
                    <a:pt x="43453" y="54263"/>
                  </a:cubicBezTo>
                  <a:cubicBezTo>
                    <a:pt x="58843" y="43224"/>
                    <a:pt x="83460" y="52781"/>
                    <a:pt x="99588" y="43358"/>
                  </a:cubicBezTo>
                  <a:cubicBezTo>
                    <a:pt x="112436" y="32945"/>
                    <a:pt x="102548" y="9475"/>
                    <a:pt x="114181" y="4123"/>
                  </a:cubicBezTo>
                  <a:cubicBezTo>
                    <a:pt x="125241" y="0"/>
                    <a:pt x="158214" y="2398"/>
                    <a:pt x="179365" y="5837"/>
                  </a:cubicBezTo>
                  <a:cubicBezTo>
                    <a:pt x="197301" y="9996"/>
                    <a:pt x="210134" y="19340"/>
                    <a:pt x="216909" y="31256"/>
                  </a:cubicBezTo>
                  <a:cubicBezTo>
                    <a:pt x="221237" y="45342"/>
                    <a:pt x="227897" y="67151"/>
                    <a:pt x="224378" y="79920"/>
                  </a:cubicBezTo>
                  <a:cubicBezTo>
                    <a:pt x="219253" y="92918"/>
                    <a:pt x="191986" y="104353"/>
                    <a:pt x="170629" y="115250"/>
                  </a:cubicBezTo>
                  <a:cubicBezTo>
                    <a:pt x="155563" y="129736"/>
                    <a:pt x="143418" y="146104"/>
                    <a:pt x="126157" y="151452"/>
                  </a:cubicBezTo>
                  <a:cubicBezTo>
                    <a:pt x="110048" y="155682"/>
                    <a:pt x="82946" y="155682"/>
                    <a:pt x="52808" y="150002"/>
                  </a:cubicBezTo>
                  <a:cubicBezTo>
                    <a:pt x="28847" y="143645"/>
                    <a:pt x="5675" y="118994"/>
                    <a:pt x="3521" y="100385"/>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17" name="ellipse_2612">
              <a:extLst>
                <a:ext uri="{FF2B5EF4-FFF2-40B4-BE49-F238E27FC236}">
                  <a16:creationId xmlns:a16="http://schemas.microsoft.com/office/drawing/2014/main" id="{899D545A-9188-B8A5-5122-F55763321954}"/>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sp>
        <p:nvSpPr>
          <p:cNvPr id="50449" name="F2-bank-channel">
            <a:extLst>
              <a:ext uri="{FF2B5EF4-FFF2-40B4-BE49-F238E27FC236}">
                <a16:creationId xmlns:a16="http://schemas.microsoft.com/office/drawing/2014/main" id="{E8F7522B-3B27-4338-8014-8A4EEE25C15E}"/>
              </a:ext>
            </a:extLst>
          </p:cNvPr>
          <p:cNvSpPr>
            <a:spLocks noGrp="1"/>
          </p:cNvSpPr>
          <p:nvPr/>
        </p:nvSpPr>
        <p:spPr>
          <a:xfrm>
            <a:off x="1453500" y="508635"/>
            <a:ext cx="257175" cy="190500"/>
          </a:xfrm>
          <a:prstGeom prst="rect">
            <a:avLst/>
          </a:prstGeom>
          <a:solidFill>
            <a:srgbClr val="EBF7FC"/>
          </a:solidFill>
          <a:ln w="4286">
            <a:solidFill>
              <a:srgbClr val="A6C5DF"/>
            </a:solidFill>
          </a:ln>
        </p:spPr>
      </p:sp>
      <p:sp>
        <p:nvSpPr>
          <p:cNvPr id="50450" name="F2-bank-channel">
            <a:extLst>
              <a:ext uri="{FF2B5EF4-FFF2-40B4-BE49-F238E27FC236}">
                <a16:creationId xmlns:a16="http://schemas.microsoft.com/office/drawing/2014/main" id="{44CA542A-604D-4AA5-B11D-B6617579A677}"/>
              </a:ext>
            </a:extLst>
          </p:cNvPr>
          <p:cNvSpPr>
            <a:spLocks noGrp="1"/>
          </p:cNvSpPr>
          <p:nvPr/>
        </p:nvSpPr>
        <p:spPr>
          <a:xfrm>
            <a:off x="1445880" y="515303"/>
            <a:ext cx="257175" cy="190500"/>
          </a:xfrm>
          <a:prstGeom prst="rect">
            <a:avLst/>
          </a:prstGeom>
          <a:solidFill>
            <a:srgbClr val="EBF7FC"/>
          </a:solidFill>
          <a:ln w="4286">
            <a:solidFill>
              <a:srgbClr val="A6C5DF"/>
            </a:solidFill>
          </a:ln>
        </p:spPr>
      </p:sp>
      <p:sp>
        <p:nvSpPr>
          <p:cNvPr id="50451" name="F2-bank-channel">
            <a:extLst>
              <a:ext uri="{FF2B5EF4-FFF2-40B4-BE49-F238E27FC236}">
                <a16:creationId xmlns:a16="http://schemas.microsoft.com/office/drawing/2014/main" id="{94C83CC1-C6DF-4DC5-87DF-BCD87221CF3B}"/>
              </a:ext>
            </a:extLst>
          </p:cNvPr>
          <p:cNvSpPr>
            <a:spLocks noGrp="1"/>
          </p:cNvSpPr>
          <p:nvPr/>
        </p:nvSpPr>
        <p:spPr>
          <a:xfrm>
            <a:off x="1438260" y="521970"/>
            <a:ext cx="257175" cy="190500"/>
          </a:xfrm>
          <a:prstGeom prst="rect">
            <a:avLst/>
          </a:prstGeom>
          <a:solidFill>
            <a:srgbClr val="EBF7FC"/>
          </a:solidFill>
          <a:ln w="4286">
            <a:solidFill>
              <a:srgbClr val="A6C5DF"/>
            </a:solidFill>
          </a:ln>
        </p:spPr>
      </p:sp>
      <p:sp>
        <p:nvSpPr>
          <p:cNvPr id="50452" name="F2-bank-channel">
            <a:extLst>
              <a:ext uri="{FF2B5EF4-FFF2-40B4-BE49-F238E27FC236}">
                <a16:creationId xmlns:a16="http://schemas.microsoft.com/office/drawing/2014/main" id="{1ABD8E71-8A8E-4A01-9656-5F57A7EAD863}"/>
              </a:ext>
            </a:extLst>
          </p:cNvPr>
          <p:cNvSpPr>
            <a:spLocks noGrp="1"/>
          </p:cNvSpPr>
          <p:nvPr/>
        </p:nvSpPr>
        <p:spPr>
          <a:xfrm>
            <a:off x="1430640" y="528638"/>
            <a:ext cx="257175" cy="190500"/>
          </a:xfrm>
          <a:prstGeom prst="rect">
            <a:avLst/>
          </a:prstGeom>
          <a:solidFill>
            <a:srgbClr val="EBF7FC"/>
          </a:solidFill>
          <a:ln w="4286">
            <a:solidFill>
              <a:srgbClr val="A6C5DF"/>
            </a:solidFill>
          </a:ln>
        </p:spPr>
      </p:sp>
      <p:sp>
        <p:nvSpPr>
          <p:cNvPr id="50453" name="F2-bank-channel">
            <a:extLst>
              <a:ext uri="{FF2B5EF4-FFF2-40B4-BE49-F238E27FC236}">
                <a16:creationId xmlns:a16="http://schemas.microsoft.com/office/drawing/2014/main" id="{A1E78B7C-AF8B-46CF-BE9A-7739D3A000CC}"/>
              </a:ext>
            </a:extLst>
          </p:cNvPr>
          <p:cNvSpPr>
            <a:spLocks noGrp="1"/>
          </p:cNvSpPr>
          <p:nvPr/>
        </p:nvSpPr>
        <p:spPr>
          <a:xfrm>
            <a:off x="1423020" y="535305"/>
            <a:ext cx="257175" cy="190500"/>
          </a:xfrm>
          <a:prstGeom prst="rect">
            <a:avLst/>
          </a:prstGeom>
          <a:solidFill>
            <a:srgbClr val="EBF7FC"/>
          </a:solidFill>
          <a:ln w="4286">
            <a:solidFill>
              <a:srgbClr val="A6C5DF"/>
            </a:solidFill>
          </a:ln>
        </p:spPr>
      </p:sp>
      <p:sp>
        <p:nvSpPr>
          <p:cNvPr id="50454" name="F2-bank-channel">
            <a:extLst>
              <a:ext uri="{FF2B5EF4-FFF2-40B4-BE49-F238E27FC236}">
                <a16:creationId xmlns:a16="http://schemas.microsoft.com/office/drawing/2014/main" id="{F902D412-512B-42B7-B05D-EDD9258097DC}"/>
              </a:ext>
            </a:extLst>
          </p:cNvPr>
          <p:cNvSpPr>
            <a:spLocks noGrp="1"/>
          </p:cNvSpPr>
          <p:nvPr/>
        </p:nvSpPr>
        <p:spPr>
          <a:xfrm>
            <a:off x="1415400" y="541973"/>
            <a:ext cx="257175" cy="190500"/>
          </a:xfrm>
          <a:prstGeom prst="rect">
            <a:avLst/>
          </a:prstGeom>
          <a:solidFill>
            <a:srgbClr val="EBF7FC"/>
          </a:solidFill>
          <a:ln w="4286">
            <a:solidFill>
              <a:srgbClr val="A6C5DF"/>
            </a:solidFill>
          </a:ln>
        </p:spPr>
      </p:sp>
      <p:sp>
        <p:nvSpPr>
          <p:cNvPr id="50455" name="F2-bank-channel">
            <a:extLst>
              <a:ext uri="{FF2B5EF4-FFF2-40B4-BE49-F238E27FC236}">
                <a16:creationId xmlns:a16="http://schemas.microsoft.com/office/drawing/2014/main" id="{CA6824A1-9C37-4EE2-8CF4-7C88BCE1DBE6}"/>
              </a:ext>
            </a:extLst>
          </p:cNvPr>
          <p:cNvSpPr>
            <a:spLocks noGrp="1"/>
          </p:cNvSpPr>
          <p:nvPr/>
        </p:nvSpPr>
        <p:spPr>
          <a:xfrm>
            <a:off x="1407780" y="548640"/>
            <a:ext cx="257175" cy="190500"/>
          </a:xfrm>
          <a:prstGeom prst="rect">
            <a:avLst/>
          </a:prstGeom>
          <a:solidFill>
            <a:srgbClr val="EBF7FC"/>
          </a:solidFill>
          <a:ln w="4286">
            <a:solidFill>
              <a:srgbClr val="A6C5DF"/>
            </a:solidFill>
          </a:ln>
        </p:spPr>
      </p:sp>
      <p:sp>
        <p:nvSpPr>
          <p:cNvPr id="50456" name="F2-bank-channel">
            <a:extLst>
              <a:ext uri="{FF2B5EF4-FFF2-40B4-BE49-F238E27FC236}">
                <a16:creationId xmlns:a16="http://schemas.microsoft.com/office/drawing/2014/main" id="{2705DA7A-40F9-48D2-946C-8019421C16B7}"/>
              </a:ext>
            </a:extLst>
          </p:cNvPr>
          <p:cNvSpPr>
            <a:spLocks noGrp="1"/>
          </p:cNvSpPr>
          <p:nvPr/>
        </p:nvSpPr>
        <p:spPr>
          <a:xfrm>
            <a:off x="1400160" y="555308"/>
            <a:ext cx="257175" cy="190500"/>
          </a:xfrm>
          <a:prstGeom prst="rect">
            <a:avLst/>
          </a:prstGeom>
          <a:solidFill>
            <a:srgbClr val="EBF7FC"/>
          </a:solidFill>
          <a:ln w="4286">
            <a:solidFill>
              <a:srgbClr val="A6C5DF"/>
            </a:solidFill>
          </a:ln>
        </p:spPr>
      </p:sp>
      <p:sp>
        <p:nvSpPr>
          <p:cNvPr id="50457" name="F2-bank-channel">
            <a:extLst>
              <a:ext uri="{FF2B5EF4-FFF2-40B4-BE49-F238E27FC236}">
                <a16:creationId xmlns:a16="http://schemas.microsoft.com/office/drawing/2014/main" id="{E1B9C475-D32F-4E88-9AAA-6701AFC1AC14}"/>
              </a:ext>
            </a:extLst>
          </p:cNvPr>
          <p:cNvSpPr>
            <a:spLocks noGrp="1"/>
          </p:cNvSpPr>
          <p:nvPr/>
        </p:nvSpPr>
        <p:spPr>
          <a:xfrm>
            <a:off x="1392540" y="561975"/>
            <a:ext cx="257175" cy="190500"/>
          </a:xfrm>
          <a:prstGeom prst="rect">
            <a:avLst/>
          </a:prstGeom>
          <a:solidFill>
            <a:srgbClr val="EBF7FC"/>
          </a:solidFill>
          <a:ln w="4286">
            <a:solidFill>
              <a:srgbClr val="A6C5DF"/>
            </a:solidFill>
          </a:ln>
        </p:spPr>
      </p:sp>
      <p:sp>
        <p:nvSpPr>
          <p:cNvPr id="50458" name="F2-density-voxel">
            <a:extLst>
              <a:ext uri="{FF2B5EF4-FFF2-40B4-BE49-F238E27FC236}">
                <a16:creationId xmlns:a16="http://schemas.microsoft.com/office/drawing/2014/main" id="{A49953DB-68D8-42EB-963F-DD42F453137D}"/>
              </a:ext>
            </a:extLst>
          </p:cNvPr>
          <p:cNvSpPr>
            <a:spLocks noGrp="1"/>
          </p:cNvSpPr>
          <p:nvPr/>
        </p:nvSpPr>
        <p:spPr>
          <a:xfrm>
            <a:off x="1411590" y="571500"/>
            <a:ext cx="52388" cy="42863"/>
          </a:xfrm>
          <a:prstGeom prst="rect">
            <a:avLst/>
          </a:prstGeom>
          <a:solidFill>
            <a:srgbClr val="CCE5EE"/>
          </a:solidFill>
          <a:ln w="0">
            <a:noFill/>
          </a:ln>
        </p:spPr>
      </p:sp>
      <p:sp>
        <p:nvSpPr>
          <p:cNvPr id="50459" name="F2-density-voxel">
            <a:extLst>
              <a:ext uri="{FF2B5EF4-FFF2-40B4-BE49-F238E27FC236}">
                <a16:creationId xmlns:a16="http://schemas.microsoft.com/office/drawing/2014/main" id="{ECECDED8-7BB6-465D-90CE-1566D913C0F0}"/>
              </a:ext>
            </a:extLst>
          </p:cNvPr>
          <p:cNvSpPr>
            <a:spLocks noGrp="1"/>
          </p:cNvSpPr>
          <p:nvPr/>
        </p:nvSpPr>
        <p:spPr>
          <a:xfrm>
            <a:off x="1463978" y="571500"/>
            <a:ext cx="52388" cy="42863"/>
          </a:xfrm>
          <a:prstGeom prst="rect">
            <a:avLst/>
          </a:prstGeom>
          <a:solidFill>
            <a:srgbClr val="86C0D7"/>
          </a:solidFill>
          <a:ln w="0">
            <a:noFill/>
          </a:ln>
        </p:spPr>
      </p:sp>
      <p:sp>
        <p:nvSpPr>
          <p:cNvPr id="50460" name="F2-density-voxel">
            <a:extLst>
              <a:ext uri="{FF2B5EF4-FFF2-40B4-BE49-F238E27FC236}">
                <a16:creationId xmlns:a16="http://schemas.microsoft.com/office/drawing/2014/main" id="{49E89024-8821-43E6-B830-D5D2C6143679}"/>
              </a:ext>
            </a:extLst>
          </p:cNvPr>
          <p:cNvSpPr>
            <a:spLocks noGrp="1"/>
          </p:cNvSpPr>
          <p:nvPr/>
        </p:nvSpPr>
        <p:spPr>
          <a:xfrm>
            <a:off x="1516365" y="571500"/>
            <a:ext cx="52388" cy="42863"/>
          </a:xfrm>
          <a:prstGeom prst="rect">
            <a:avLst/>
          </a:prstGeom>
          <a:solidFill>
            <a:srgbClr val="4D9ABB"/>
          </a:solidFill>
          <a:ln w="0">
            <a:noFill/>
          </a:ln>
        </p:spPr>
      </p:sp>
      <p:sp>
        <p:nvSpPr>
          <p:cNvPr id="50461" name="F2-density-voxel">
            <a:extLst>
              <a:ext uri="{FF2B5EF4-FFF2-40B4-BE49-F238E27FC236}">
                <a16:creationId xmlns:a16="http://schemas.microsoft.com/office/drawing/2014/main" id="{3A635687-B1F5-496B-9A49-461D8BC35087}"/>
              </a:ext>
            </a:extLst>
          </p:cNvPr>
          <p:cNvSpPr>
            <a:spLocks noGrp="1"/>
          </p:cNvSpPr>
          <p:nvPr/>
        </p:nvSpPr>
        <p:spPr>
          <a:xfrm>
            <a:off x="1568753" y="571500"/>
            <a:ext cx="52388" cy="42863"/>
          </a:xfrm>
          <a:prstGeom prst="rect">
            <a:avLst/>
          </a:prstGeom>
          <a:solidFill>
            <a:srgbClr val="B6DDE7"/>
          </a:solidFill>
          <a:ln w="0">
            <a:noFill/>
          </a:ln>
        </p:spPr>
      </p:sp>
      <p:sp>
        <p:nvSpPr>
          <p:cNvPr id="50462" name="F2-density-voxel">
            <a:extLst>
              <a:ext uri="{FF2B5EF4-FFF2-40B4-BE49-F238E27FC236}">
                <a16:creationId xmlns:a16="http://schemas.microsoft.com/office/drawing/2014/main" id="{FEC54E9C-643D-4824-B955-66BA7E401A0E}"/>
              </a:ext>
            </a:extLst>
          </p:cNvPr>
          <p:cNvSpPr>
            <a:spLocks noGrp="1"/>
          </p:cNvSpPr>
          <p:nvPr/>
        </p:nvSpPr>
        <p:spPr>
          <a:xfrm>
            <a:off x="1411590" y="614363"/>
            <a:ext cx="52388" cy="42863"/>
          </a:xfrm>
          <a:prstGeom prst="rect">
            <a:avLst/>
          </a:prstGeom>
          <a:solidFill>
            <a:srgbClr val="86C0D7"/>
          </a:solidFill>
          <a:ln w="0">
            <a:noFill/>
          </a:ln>
        </p:spPr>
      </p:sp>
      <p:sp>
        <p:nvSpPr>
          <p:cNvPr id="50463" name="F2-density-voxel">
            <a:extLst>
              <a:ext uri="{FF2B5EF4-FFF2-40B4-BE49-F238E27FC236}">
                <a16:creationId xmlns:a16="http://schemas.microsoft.com/office/drawing/2014/main" id="{ED2290E5-D29A-42C8-863E-1A0B5A093DAF}"/>
              </a:ext>
            </a:extLst>
          </p:cNvPr>
          <p:cNvSpPr>
            <a:spLocks noGrp="1"/>
          </p:cNvSpPr>
          <p:nvPr/>
        </p:nvSpPr>
        <p:spPr>
          <a:xfrm>
            <a:off x="1463978" y="614363"/>
            <a:ext cx="52388" cy="42863"/>
          </a:xfrm>
          <a:prstGeom prst="rect">
            <a:avLst/>
          </a:prstGeom>
          <a:solidFill>
            <a:srgbClr val="4D9ABB"/>
          </a:solidFill>
          <a:ln w="0">
            <a:noFill/>
          </a:ln>
        </p:spPr>
      </p:sp>
      <p:sp>
        <p:nvSpPr>
          <p:cNvPr id="50464" name="F2-density-voxel">
            <a:extLst>
              <a:ext uri="{FF2B5EF4-FFF2-40B4-BE49-F238E27FC236}">
                <a16:creationId xmlns:a16="http://schemas.microsoft.com/office/drawing/2014/main" id="{C030A993-BA02-4CBF-A526-9AF795928873}"/>
              </a:ext>
            </a:extLst>
          </p:cNvPr>
          <p:cNvSpPr>
            <a:spLocks noGrp="1"/>
          </p:cNvSpPr>
          <p:nvPr/>
        </p:nvSpPr>
        <p:spPr>
          <a:xfrm>
            <a:off x="1516365" y="614363"/>
            <a:ext cx="52388" cy="42863"/>
          </a:xfrm>
          <a:prstGeom prst="rect">
            <a:avLst/>
          </a:prstGeom>
          <a:solidFill>
            <a:srgbClr val="B6DDE7"/>
          </a:solidFill>
          <a:ln w="0">
            <a:noFill/>
          </a:ln>
        </p:spPr>
      </p:sp>
      <p:sp>
        <p:nvSpPr>
          <p:cNvPr id="50465" name="F2-density-voxel">
            <a:extLst>
              <a:ext uri="{FF2B5EF4-FFF2-40B4-BE49-F238E27FC236}">
                <a16:creationId xmlns:a16="http://schemas.microsoft.com/office/drawing/2014/main" id="{EC212EF2-C0F1-41AF-B3CE-D957D17932A0}"/>
              </a:ext>
            </a:extLst>
          </p:cNvPr>
          <p:cNvSpPr>
            <a:spLocks noGrp="1"/>
          </p:cNvSpPr>
          <p:nvPr/>
        </p:nvSpPr>
        <p:spPr>
          <a:xfrm>
            <a:off x="1568753" y="614363"/>
            <a:ext cx="52388" cy="42863"/>
          </a:xfrm>
          <a:prstGeom prst="rect">
            <a:avLst/>
          </a:prstGeom>
          <a:solidFill>
            <a:srgbClr val="CCE5EE"/>
          </a:solidFill>
          <a:ln w="0">
            <a:noFill/>
          </a:ln>
        </p:spPr>
      </p:sp>
      <p:sp>
        <p:nvSpPr>
          <p:cNvPr id="50466" name="F2-density-voxel">
            <a:extLst>
              <a:ext uri="{FF2B5EF4-FFF2-40B4-BE49-F238E27FC236}">
                <a16:creationId xmlns:a16="http://schemas.microsoft.com/office/drawing/2014/main" id="{8E8D1CD2-DC81-4A69-849C-F21783FD798D}"/>
              </a:ext>
            </a:extLst>
          </p:cNvPr>
          <p:cNvSpPr>
            <a:spLocks noGrp="1"/>
          </p:cNvSpPr>
          <p:nvPr/>
        </p:nvSpPr>
        <p:spPr>
          <a:xfrm>
            <a:off x="1411590" y="657225"/>
            <a:ext cx="52388" cy="42863"/>
          </a:xfrm>
          <a:prstGeom prst="rect">
            <a:avLst/>
          </a:prstGeom>
          <a:solidFill>
            <a:srgbClr val="4D9ABB"/>
          </a:solidFill>
          <a:ln w="0">
            <a:noFill/>
          </a:ln>
        </p:spPr>
      </p:sp>
      <p:sp>
        <p:nvSpPr>
          <p:cNvPr id="50467" name="F2-density-voxel">
            <a:extLst>
              <a:ext uri="{FF2B5EF4-FFF2-40B4-BE49-F238E27FC236}">
                <a16:creationId xmlns:a16="http://schemas.microsoft.com/office/drawing/2014/main" id="{CEA7FE12-330D-4160-8BE6-769BF6A26577}"/>
              </a:ext>
            </a:extLst>
          </p:cNvPr>
          <p:cNvSpPr>
            <a:spLocks noGrp="1"/>
          </p:cNvSpPr>
          <p:nvPr/>
        </p:nvSpPr>
        <p:spPr>
          <a:xfrm>
            <a:off x="1463978" y="657225"/>
            <a:ext cx="52388" cy="42863"/>
          </a:xfrm>
          <a:prstGeom prst="rect">
            <a:avLst/>
          </a:prstGeom>
          <a:solidFill>
            <a:srgbClr val="B6DDE7"/>
          </a:solidFill>
          <a:ln w="0">
            <a:noFill/>
          </a:ln>
        </p:spPr>
      </p:sp>
      <p:sp>
        <p:nvSpPr>
          <p:cNvPr id="50468" name="F2-density-voxel">
            <a:extLst>
              <a:ext uri="{FF2B5EF4-FFF2-40B4-BE49-F238E27FC236}">
                <a16:creationId xmlns:a16="http://schemas.microsoft.com/office/drawing/2014/main" id="{BE225EBF-D266-4631-9D7E-1B21643503B4}"/>
              </a:ext>
            </a:extLst>
          </p:cNvPr>
          <p:cNvSpPr>
            <a:spLocks noGrp="1"/>
          </p:cNvSpPr>
          <p:nvPr/>
        </p:nvSpPr>
        <p:spPr>
          <a:xfrm>
            <a:off x="1516365" y="657225"/>
            <a:ext cx="52388" cy="42863"/>
          </a:xfrm>
          <a:prstGeom prst="rect">
            <a:avLst/>
          </a:prstGeom>
          <a:solidFill>
            <a:srgbClr val="CCE5EE"/>
          </a:solidFill>
          <a:ln w="0">
            <a:noFill/>
          </a:ln>
        </p:spPr>
      </p:sp>
      <p:sp>
        <p:nvSpPr>
          <p:cNvPr id="50469" name="F2-density-voxel">
            <a:extLst>
              <a:ext uri="{FF2B5EF4-FFF2-40B4-BE49-F238E27FC236}">
                <a16:creationId xmlns:a16="http://schemas.microsoft.com/office/drawing/2014/main" id="{D56EA4DF-3429-4429-A2AA-6D7C9D33B341}"/>
              </a:ext>
            </a:extLst>
          </p:cNvPr>
          <p:cNvSpPr>
            <a:spLocks noGrp="1"/>
          </p:cNvSpPr>
          <p:nvPr/>
        </p:nvSpPr>
        <p:spPr>
          <a:xfrm>
            <a:off x="1568753" y="657225"/>
            <a:ext cx="52388" cy="42863"/>
          </a:xfrm>
          <a:prstGeom prst="rect">
            <a:avLst/>
          </a:prstGeom>
          <a:solidFill>
            <a:srgbClr val="86C0D7"/>
          </a:solidFill>
          <a:ln w="0">
            <a:noFill/>
          </a:ln>
        </p:spPr>
      </p:sp>
      <p:sp>
        <p:nvSpPr>
          <p:cNvPr id="50470" name="F2-density-voxel">
            <a:extLst>
              <a:ext uri="{FF2B5EF4-FFF2-40B4-BE49-F238E27FC236}">
                <a16:creationId xmlns:a16="http://schemas.microsoft.com/office/drawing/2014/main" id="{F4CB67F8-3427-42E0-B222-3C4C5B421A28}"/>
              </a:ext>
            </a:extLst>
          </p:cNvPr>
          <p:cNvSpPr>
            <a:spLocks noGrp="1"/>
          </p:cNvSpPr>
          <p:nvPr/>
        </p:nvSpPr>
        <p:spPr>
          <a:xfrm>
            <a:off x="1411590" y="700088"/>
            <a:ext cx="52388" cy="42863"/>
          </a:xfrm>
          <a:prstGeom prst="rect">
            <a:avLst/>
          </a:prstGeom>
          <a:solidFill>
            <a:srgbClr val="B6DDE7"/>
          </a:solidFill>
          <a:ln w="0">
            <a:noFill/>
          </a:ln>
        </p:spPr>
      </p:sp>
      <p:sp>
        <p:nvSpPr>
          <p:cNvPr id="50471" name="F2-density-voxel">
            <a:extLst>
              <a:ext uri="{FF2B5EF4-FFF2-40B4-BE49-F238E27FC236}">
                <a16:creationId xmlns:a16="http://schemas.microsoft.com/office/drawing/2014/main" id="{E62F2DC6-612B-4891-B2B7-8020312C0678}"/>
              </a:ext>
            </a:extLst>
          </p:cNvPr>
          <p:cNvSpPr>
            <a:spLocks noGrp="1"/>
          </p:cNvSpPr>
          <p:nvPr/>
        </p:nvSpPr>
        <p:spPr>
          <a:xfrm>
            <a:off x="1463978" y="700088"/>
            <a:ext cx="52388" cy="42863"/>
          </a:xfrm>
          <a:prstGeom prst="rect">
            <a:avLst/>
          </a:prstGeom>
          <a:solidFill>
            <a:srgbClr val="CCE5EE"/>
          </a:solidFill>
          <a:ln w="0">
            <a:noFill/>
          </a:ln>
        </p:spPr>
      </p:sp>
      <p:sp>
        <p:nvSpPr>
          <p:cNvPr id="50472" name="F2-density-voxel">
            <a:extLst>
              <a:ext uri="{FF2B5EF4-FFF2-40B4-BE49-F238E27FC236}">
                <a16:creationId xmlns:a16="http://schemas.microsoft.com/office/drawing/2014/main" id="{3D79F01F-5243-4E3C-8AA7-EE2C8B8C7E29}"/>
              </a:ext>
            </a:extLst>
          </p:cNvPr>
          <p:cNvSpPr>
            <a:spLocks noGrp="1"/>
          </p:cNvSpPr>
          <p:nvPr/>
        </p:nvSpPr>
        <p:spPr>
          <a:xfrm>
            <a:off x="1516365" y="700088"/>
            <a:ext cx="52388" cy="42863"/>
          </a:xfrm>
          <a:prstGeom prst="rect">
            <a:avLst/>
          </a:prstGeom>
          <a:solidFill>
            <a:srgbClr val="86C0D7"/>
          </a:solidFill>
          <a:ln w="0">
            <a:noFill/>
          </a:ln>
        </p:spPr>
      </p:sp>
      <p:sp>
        <p:nvSpPr>
          <p:cNvPr id="50473" name="F2-density-voxel">
            <a:extLst>
              <a:ext uri="{FF2B5EF4-FFF2-40B4-BE49-F238E27FC236}">
                <a16:creationId xmlns:a16="http://schemas.microsoft.com/office/drawing/2014/main" id="{7F5BC88D-76D1-4A24-B998-8BD41F9AADDB}"/>
              </a:ext>
            </a:extLst>
          </p:cNvPr>
          <p:cNvSpPr>
            <a:spLocks noGrp="1"/>
          </p:cNvSpPr>
          <p:nvPr/>
        </p:nvSpPr>
        <p:spPr>
          <a:xfrm>
            <a:off x="1568753" y="700088"/>
            <a:ext cx="52388" cy="42863"/>
          </a:xfrm>
          <a:prstGeom prst="rect">
            <a:avLst/>
          </a:prstGeom>
          <a:solidFill>
            <a:srgbClr val="4D9ABB"/>
          </a:solidFill>
          <a:ln w="0">
            <a:noFill/>
          </a:ln>
        </p:spPr>
      </p:sp>
      <p:sp>
        <p:nvSpPr>
          <p:cNvPr id="50474" name="F2-spatial-transform">
            <a:extLst>
              <a:ext uri="{FF2B5EF4-FFF2-40B4-BE49-F238E27FC236}">
                <a16:creationId xmlns:a16="http://schemas.microsoft.com/office/drawing/2014/main" id="{A85283F8-9FE2-48A1-8429-5356F2D370E2}"/>
              </a:ext>
            </a:extLst>
          </p:cNvPr>
          <p:cNvSpPr>
            <a:spLocks noGrp="1"/>
          </p:cNvSpPr>
          <p:nvPr/>
        </p:nvSpPr>
        <p:spPr>
          <a:xfrm>
            <a:off x="981877" y="549713"/>
            <a:ext cx="376238" cy="180975"/>
          </a:xfrm>
          <a:prstGeom prst="rect">
            <a:avLst/>
          </a:prstGeom>
          <a:noFill/>
          <a:ln w="0">
            <a:noFill/>
          </a:ln>
        </p:spPr>
        <p:txBody>
          <a:bodyPr wrap="none" lIns="0" tIns="0" rIns="0" bIns="0" anchor="ctr">
            <a:noAutofit/>
          </a:bodyPr>
          <a:lstStyle>
            <a:defPPr algn="ctr">
              <a:defRPr sz="540" b="0">
                <a:solidFill>
                  <a:srgbClr val="263442"/>
                </a:solidFill>
                <a:latin typeface="Arial"/>
                <a:ea typeface="Arial"/>
                <a:cs typeface="Arial"/>
              </a:defRPr>
            </a:defPPr>
            <a:lvl1pPr algn="ctr">
              <a:defRPr sz="540" b="0">
                <a:solidFill>
                  <a:srgbClr val="263442"/>
                </a:solidFill>
                <a:latin typeface="Arial"/>
                <a:ea typeface="Arial"/>
                <a:cs typeface="Arial"/>
              </a:defRPr>
            </a:lvl1pPr>
            <a:lvl2pPr algn="ctr">
              <a:defRPr sz="540" b="0">
                <a:solidFill>
                  <a:srgbClr val="263442"/>
                </a:solidFill>
                <a:latin typeface="Arial"/>
                <a:ea typeface="Arial"/>
                <a:cs typeface="Arial"/>
              </a:defRPr>
            </a:lvl2pPr>
            <a:lvl3pPr algn="ctr">
              <a:defRPr sz="540" b="0">
                <a:solidFill>
                  <a:srgbClr val="263442"/>
                </a:solidFill>
                <a:latin typeface="Arial"/>
                <a:ea typeface="Arial"/>
                <a:cs typeface="Arial"/>
              </a:defRPr>
            </a:lvl3pPr>
            <a:lvl4pPr algn="ctr">
              <a:defRPr sz="540" b="0">
                <a:solidFill>
                  <a:srgbClr val="263442"/>
                </a:solidFill>
                <a:latin typeface="Arial"/>
                <a:ea typeface="Arial"/>
                <a:cs typeface="Arial"/>
              </a:defRPr>
            </a:lvl4pPr>
            <a:lvl5pPr algn="ctr">
              <a:defRPr sz="540" b="0">
                <a:solidFill>
                  <a:srgbClr val="263442"/>
                </a:solidFill>
                <a:latin typeface="Arial"/>
                <a:ea typeface="Arial"/>
                <a:cs typeface="Arial"/>
              </a:defRPr>
            </a:lvl5pPr>
            <a:lvl6pPr algn="ctr">
              <a:defRPr sz="540" b="0">
                <a:solidFill>
                  <a:srgbClr val="263442"/>
                </a:solidFill>
                <a:latin typeface="Arial"/>
                <a:ea typeface="Arial"/>
                <a:cs typeface="Arial"/>
              </a:defRPr>
            </a:lvl6pPr>
            <a:lvl7pPr algn="ctr">
              <a:defRPr sz="540" b="0">
                <a:solidFill>
                  <a:srgbClr val="263442"/>
                </a:solidFill>
                <a:latin typeface="Arial"/>
                <a:ea typeface="Arial"/>
                <a:cs typeface="Arial"/>
              </a:defRPr>
            </a:lvl7pPr>
            <a:lvl8pPr algn="ctr">
              <a:defRPr sz="540" b="0">
                <a:solidFill>
                  <a:srgbClr val="263442"/>
                </a:solidFill>
                <a:latin typeface="Arial"/>
                <a:ea typeface="Arial"/>
                <a:cs typeface="Arial"/>
              </a:defRPr>
            </a:lvl8pPr>
            <a:lvl9pPr algn="ctr">
              <a:defRPr sz="540" b="0">
                <a:solidFill>
                  <a:srgbClr val="263442"/>
                </a:solidFill>
                <a:latin typeface="Arial"/>
                <a:ea typeface="Arial"/>
                <a:cs typeface="Arial"/>
              </a:defRPr>
            </a:lvl9pPr>
          </a:lstStyle>
          <a:p>
            <a:pPr algn="ctr">
              <a:defRPr sz="540" b="0">
                <a:solidFill>
                  <a:srgbClr val="263442"/>
                </a:solidFill>
                <a:latin typeface="Arial"/>
                <a:ea typeface="Arial"/>
                <a:cs typeface="Arial"/>
              </a:defRPr>
            </a:pPr>
            <a:r>
              <a:rPr sz="460" b="0" dirty="0">
                <a:solidFill>
                  <a:srgbClr val="263442"/>
                </a:solidFill>
                <a:latin typeface="Arial"/>
                <a:ea typeface="Arial"/>
                <a:cs typeface="Arial"/>
              </a:rPr>
              <a:t>Spatial</a:t>
            </a:r>
          </a:p>
          <a:p>
            <a:pPr algn="ctr">
              <a:defRPr sz="540" b="0">
                <a:solidFill>
                  <a:srgbClr val="263442"/>
                </a:solidFill>
                <a:latin typeface="Arial"/>
                <a:ea typeface="Arial"/>
                <a:cs typeface="Arial"/>
              </a:defRPr>
            </a:pPr>
            <a:r>
              <a:rPr sz="460" b="0" dirty="0">
                <a:solidFill>
                  <a:srgbClr val="263442"/>
                </a:solidFill>
                <a:latin typeface="Arial"/>
                <a:ea typeface="Arial"/>
                <a:cs typeface="Arial"/>
              </a:rPr>
              <a:t>transform</a:t>
            </a:r>
          </a:p>
        </p:txBody>
      </p:sp>
      <p:sp>
        <p:nvSpPr>
          <p:cNvPr id="50475" name="F2-atom-embeddings-input">
            <a:extLst>
              <a:ext uri="{FF2B5EF4-FFF2-40B4-BE49-F238E27FC236}">
                <a16:creationId xmlns:a16="http://schemas.microsoft.com/office/drawing/2014/main" id="{0B4B93C5-B055-4ECE-8D5F-9FD8F9F29D6A}"/>
              </a:ext>
            </a:extLst>
          </p:cNvPr>
          <p:cNvSpPr>
            <a:spLocks noGrp="1"/>
          </p:cNvSpPr>
          <p:nvPr/>
        </p:nvSpPr>
        <p:spPr>
          <a:xfrm>
            <a:off x="1010565" y="1287494"/>
            <a:ext cx="327329" cy="180975"/>
          </a:xfrm>
          <a:prstGeom prst="rect">
            <a:avLst/>
          </a:prstGeom>
          <a:noFill/>
          <a:ln w="0">
            <a:noFill/>
          </a:ln>
        </p:spPr>
        <p:txBody>
          <a:bodyPr wrap="none" lIns="0" tIns="0" rIns="0" bIns="0" anchor="ctr">
            <a:noAutofit/>
          </a:bodyPr>
          <a:lstStyle>
            <a:defPPr algn="ctr">
              <a:defRPr sz="540" b="0">
                <a:solidFill>
                  <a:srgbClr val="263442"/>
                </a:solidFill>
                <a:latin typeface="Arial"/>
                <a:ea typeface="Arial"/>
                <a:cs typeface="Arial"/>
              </a:defRPr>
            </a:defPPr>
            <a:lvl1pPr algn="ctr">
              <a:defRPr sz="540" b="0">
                <a:solidFill>
                  <a:srgbClr val="263442"/>
                </a:solidFill>
                <a:latin typeface="Arial"/>
                <a:ea typeface="Arial"/>
                <a:cs typeface="Arial"/>
              </a:defRPr>
            </a:lvl1pPr>
            <a:lvl2pPr algn="ctr">
              <a:defRPr sz="540" b="0">
                <a:solidFill>
                  <a:srgbClr val="263442"/>
                </a:solidFill>
                <a:latin typeface="Arial"/>
                <a:ea typeface="Arial"/>
                <a:cs typeface="Arial"/>
              </a:defRPr>
            </a:lvl2pPr>
            <a:lvl3pPr algn="ctr">
              <a:defRPr sz="540" b="0">
                <a:solidFill>
                  <a:srgbClr val="263442"/>
                </a:solidFill>
                <a:latin typeface="Arial"/>
                <a:ea typeface="Arial"/>
                <a:cs typeface="Arial"/>
              </a:defRPr>
            </a:lvl3pPr>
            <a:lvl4pPr algn="ctr">
              <a:defRPr sz="540" b="0">
                <a:solidFill>
                  <a:srgbClr val="263442"/>
                </a:solidFill>
                <a:latin typeface="Arial"/>
                <a:ea typeface="Arial"/>
                <a:cs typeface="Arial"/>
              </a:defRPr>
            </a:lvl4pPr>
            <a:lvl5pPr algn="ctr">
              <a:defRPr sz="540" b="0">
                <a:solidFill>
                  <a:srgbClr val="263442"/>
                </a:solidFill>
                <a:latin typeface="Arial"/>
                <a:ea typeface="Arial"/>
                <a:cs typeface="Arial"/>
              </a:defRPr>
            </a:lvl5pPr>
            <a:lvl6pPr algn="ctr">
              <a:defRPr sz="540" b="0">
                <a:solidFill>
                  <a:srgbClr val="263442"/>
                </a:solidFill>
                <a:latin typeface="Arial"/>
                <a:ea typeface="Arial"/>
                <a:cs typeface="Arial"/>
              </a:defRPr>
            </a:lvl6pPr>
            <a:lvl7pPr algn="ctr">
              <a:defRPr sz="540" b="0">
                <a:solidFill>
                  <a:srgbClr val="263442"/>
                </a:solidFill>
                <a:latin typeface="Arial"/>
                <a:ea typeface="Arial"/>
                <a:cs typeface="Arial"/>
              </a:defRPr>
            </a:lvl7pPr>
            <a:lvl8pPr algn="ctr">
              <a:defRPr sz="540" b="0">
                <a:solidFill>
                  <a:srgbClr val="263442"/>
                </a:solidFill>
                <a:latin typeface="Arial"/>
                <a:ea typeface="Arial"/>
                <a:cs typeface="Arial"/>
              </a:defRPr>
            </a:lvl8pPr>
            <a:lvl9pPr algn="ctr">
              <a:defRPr sz="540" b="0">
                <a:solidFill>
                  <a:srgbClr val="263442"/>
                </a:solidFill>
                <a:latin typeface="Arial"/>
                <a:ea typeface="Arial"/>
                <a:cs typeface="Arial"/>
              </a:defRPr>
            </a:lvl9pPr>
          </a:lstStyle>
          <a:p>
            <a:pPr algn="ctr">
              <a:defRPr sz="540" b="0">
                <a:solidFill>
                  <a:srgbClr val="263442"/>
                </a:solidFill>
                <a:latin typeface="Arial"/>
                <a:ea typeface="Arial"/>
                <a:cs typeface="Arial"/>
              </a:defRPr>
            </a:pPr>
            <a:r>
              <a:rPr lang="en-US" sz="460" b="0" dirty="0">
                <a:solidFill>
                  <a:srgbClr val="263442"/>
                </a:solidFill>
                <a:latin typeface="Arial"/>
                <a:ea typeface="Arial"/>
                <a:cs typeface="Arial"/>
              </a:rPr>
              <a:t>E</a:t>
            </a:r>
            <a:r>
              <a:rPr sz="460" b="0" dirty="0">
                <a:solidFill>
                  <a:srgbClr val="263442"/>
                </a:solidFill>
                <a:latin typeface="Arial"/>
                <a:ea typeface="Arial"/>
                <a:cs typeface="Arial"/>
              </a:rPr>
              <a:t>mbedding</a:t>
            </a:r>
            <a:endParaRPr lang="en-US" sz="460" b="0" dirty="0">
              <a:solidFill>
                <a:srgbClr val="263442"/>
              </a:solidFill>
              <a:latin typeface="Arial"/>
              <a:ea typeface="Arial"/>
              <a:cs typeface="Arial"/>
            </a:endParaRPr>
          </a:p>
          <a:p>
            <a:pPr algn="ctr">
              <a:defRPr sz="540" b="0">
                <a:solidFill>
                  <a:srgbClr val="263442"/>
                </a:solidFill>
                <a:latin typeface="Arial"/>
                <a:ea typeface="Arial"/>
                <a:cs typeface="Arial"/>
              </a:defRPr>
            </a:pPr>
            <a:r>
              <a:rPr lang="en-US" altLang="zh-CN" sz="460" b="0" dirty="0">
                <a:solidFill>
                  <a:srgbClr val="263442"/>
                </a:solidFill>
                <a:latin typeface="Arial"/>
                <a:ea typeface="Arial"/>
                <a:cs typeface="Arial"/>
              </a:rPr>
              <a:t>head</a:t>
            </a:r>
            <a:endParaRPr sz="460" b="0" dirty="0">
              <a:solidFill>
                <a:srgbClr val="263442"/>
              </a:solidFill>
              <a:latin typeface="Arial"/>
              <a:ea typeface="Arial"/>
              <a:cs typeface="Arial"/>
            </a:endParaRPr>
          </a:p>
        </p:txBody>
      </p:sp>
      <p:pic>
        <p:nvPicPr>
          <p:cNvPr id="50482" name="图片 50481">
            <a:extLst>
              <a:ext uri="{FF2B5EF4-FFF2-40B4-BE49-F238E27FC236}">
                <a16:creationId xmlns:a16="http://schemas.microsoft.com/office/drawing/2014/main" id="{CC697937-E8CE-4EDF-BB17-1FEA96E39283}"/>
              </a:ext>
            </a:extLst>
          </p:cNvPr>
          <p:cNvPicPr>
            <a:picLocks noChangeAspect="1"/>
          </p:cNvPicPr>
          <p:nvPr/>
        </p:nvPicPr>
        <p:blipFill>
          <a:blip r:embed="rId8"/>
          <a:stretch/>
        </p:blipFill>
        <p:spPr>
          <a:xfrm>
            <a:off x="622201" y="2943948"/>
            <a:ext cx="414760" cy="342900"/>
          </a:xfrm>
          <a:prstGeom prst="rect">
            <a:avLst/>
          </a:prstGeom>
        </p:spPr>
      </p:pic>
      <p:grpSp>
        <p:nvGrpSpPr>
          <p:cNvPr id="50493" name="Find preview 15"/>
          <p:cNvGrpSpPr/>
          <p:nvPr/>
        </p:nvGrpSpPr>
        <p:grpSpPr>
          <a:xfrm>
            <a:off x="582671" y="471488"/>
            <a:ext cx="404812" cy="395288"/>
            <a:chOff x="511635" y="471488"/>
            <a:chExt cx="404812" cy="395288"/>
          </a:xfrm>
        </p:grpSpPr>
        <p:pic>
          <p:nvPicPr>
            <p:cNvPr id="15" name="Find corresponding experimental density" descr="Experimental 9LLG density around chain C1 of the displayed CryoAtom2 receptor, at the original contour level and the identical camera orientation.">
              <a:extLst>
                <a:ext uri="{FF2B5EF4-FFF2-40B4-BE49-F238E27FC236}">
                  <a16:creationId xmlns:a16="http://schemas.microsoft.com/office/drawing/2014/main" id="{8CF1199C-6488-C5B6-B489-1131732B4FBF}"/>
                </a:ext>
              </a:extLst>
            </p:cNvPr>
            <p:cNvPicPr/>
            <p:nvPr/>
          </p:nvPicPr>
          <p:blipFill>
            <a:blip r:embed="rId4"/>
            <a:stretch>
              <a:fillRect/>
            </a:stretch>
          </p:blipFill>
          <p:spPr>
            <a:xfrm>
              <a:off x="511635" y="475859"/>
              <a:ext cx="404812" cy="386544"/>
            </a:xfrm>
            <a:prstGeom prst="rect">
              <a:avLst/>
            </a:prstGeom>
          </p:spPr>
        </p:pic>
        <p:sp>
          <p:nvSpPr>
            <p:cNvPr id="50476" name="crop-cube">
              <a:extLst>
                <a:ext uri="{FF2B5EF4-FFF2-40B4-BE49-F238E27FC236}">
                  <a16:creationId xmlns:a16="http://schemas.microsoft.com/office/drawing/2014/main" id="{25839399-079E-4307-9725-E085483F7FD6}"/>
                </a:ext>
              </a:extLst>
            </p:cNvPr>
            <p:cNvSpPr>
              <a:spLocks noGrp="1"/>
            </p:cNvSpPr>
            <p:nvPr/>
          </p:nvSpPr>
          <p:spPr>
            <a:xfrm>
              <a:off x="700088" y="626745"/>
              <a:ext cx="119063" cy="119063"/>
            </a:xfrm>
            <a:custGeom>
              <a:avLst/>
              <a:gdLst/>
              <a:ahLst/>
              <a:cxnLst/>
              <a:rect l="0" t="0" r="0" b="0"/>
              <a:pathLst>
                <a:path w="119063" h="119063">
                  <a:moveTo>
                    <a:pt x="0" y="30956"/>
                  </a:moveTo>
                  <a:lnTo>
                    <a:pt x="88106" y="30956"/>
                  </a:lnTo>
                  <a:lnTo>
                    <a:pt x="88106" y="119063"/>
                  </a:lnTo>
                  <a:lnTo>
                    <a:pt x="0" y="119063"/>
                  </a:lnTo>
                  <a:lnTo>
                    <a:pt x="0" y="30956"/>
                  </a:lnTo>
                  <a:lnTo>
                    <a:pt x="30956" y="0"/>
                  </a:lnTo>
                  <a:lnTo>
                    <a:pt x="119063" y="0"/>
                  </a:lnTo>
                  <a:lnTo>
                    <a:pt x="119063" y="88106"/>
                  </a:lnTo>
                  <a:lnTo>
                    <a:pt x="88106" y="119063"/>
                  </a:lnTo>
                </a:path>
              </a:pathLst>
            </a:custGeom>
            <a:noFill/>
            <a:ln w="8573">
              <a:solidFill>
                <a:srgbClr val="263442"/>
              </a:solidFill>
            </a:ln>
          </p:spPr>
        </p:sp>
        <p:sp>
          <p:nvSpPr>
            <p:cNvPr id="50477" name="crop-cube">
              <a:extLst>
                <a:ext uri="{FF2B5EF4-FFF2-40B4-BE49-F238E27FC236}">
                  <a16:creationId xmlns:a16="http://schemas.microsoft.com/office/drawing/2014/main" id="{07D86F79-577D-4116-BDEA-F38D19D792BA}"/>
                </a:ext>
              </a:extLst>
            </p:cNvPr>
            <p:cNvSpPr>
              <a:spLocks noGrp="1"/>
            </p:cNvSpPr>
            <p:nvPr/>
          </p:nvSpPr>
          <p:spPr>
            <a:xfrm>
              <a:off x="788194" y="626745"/>
              <a:ext cx="30956" cy="30956"/>
            </a:xfrm>
            <a:custGeom>
              <a:avLst/>
              <a:gdLst/>
              <a:ahLst/>
              <a:cxnLst/>
              <a:rect l="0" t="0" r="0" b="0"/>
              <a:pathLst>
                <a:path w="30956" h="30956">
                  <a:moveTo>
                    <a:pt x="0" y="30956"/>
                  </a:moveTo>
                  <a:lnTo>
                    <a:pt x="30956" y="0"/>
                  </a:lnTo>
                </a:path>
              </a:pathLst>
            </a:custGeom>
            <a:noFill/>
            <a:ln w="8573">
              <a:solidFill>
                <a:srgbClr val="263442"/>
              </a:solidFill>
            </a:ln>
          </p:spPr>
        </p:sp>
        <p:sp>
          <p:nvSpPr>
            <p:cNvPr id="50478" name="F2-density-crop-size">
              <a:extLst>
                <a:ext uri="{FF2B5EF4-FFF2-40B4-BE49-F238E27FC236}">
                  <a16:creationId xmlns:a16="http://schemas.microsoft.com/office/drawing/2014/main" id="{9B6ECDDF-4CA0-44BE-83B1-7FF800ECF209}"/>
                </a:ext>
              </a:extLst>
            </p:cNvPr>
            <p:cNvSpPr>
              <a:spLocks noGrp="1"/>
            </p:cNvSpPr>
            <p:nvPr/>
          </p:nvSpPr>
          <p:spPr>
            <a:xfrm>
              <a:off x="640556" y="766763"/>
              <a:ext cx="238125" cy="95250"/>
            </a:xfrm>
            <a:prstGeom prst="rect">
              <a:avLst/>
            </a:prstGeom>
            <a:noFill/>
            <a:ln w="0">
              <a:noFill/>
            </a:ln>
          </p:spPr>
          <p:txBody>
            <a:bodyPr wrap="none" lIns="0" tIns="0" rIns="0" bIns="0" anchor="ctr">
              <a:noAutofit/>
            </a:bodyPr>
            <a:lstStyle>
              <a:defPPr algn="ctr">
                <a:defRPr sz="600" b="1">
                  <a:solidFill>
                    <a:srgbClr val="263442"/>
                  </a:solidFill>
                  <a:latin typeface="Arial"/>
                  <a:ea typeface="Arial"/>
                  <a:cs typeface="Arial"/>
                </a:defRPr>
              </a:defPPr>
              <a:lvl1pPr algn="ctr">
                <a:defRPr sz="600" b="1">
                  <a:solidFill>
                    <a:srgbClr val="263442"/>
                  </a:solidFill>
                  <a:latin typeface="Arial"/>
                  <a:ea typeface="Arial"/>
                  <a:cs typeface="Arial"/>
                </a:defRPr>
              </a:lvl1pPr>
              <a:lvl2pPr algn="ctr">
                <a:defRPr sz="600" b="1">
                  <a:solidFill>
                    <a:srgbClr val="263442"/>
                  </a:solidFill>
                  <a:latin typeface="Arial"/>
                  <a:ea typeface="Arial"/>
                  <a:cs typeface="Arial"/>
                </a:defRPr>
              </a:lvl2pPr>
              <a:lvl3pPr algn="ctr">
                <a:defRPr sz="600" b="1">
                  <a:solidFill>
                    <a:srgbClr val="263442"/>
                  </a:solidFill>
                  <a:latin typeface="Arial"/>
                  <a:ea typeface="Arial"/>
                  <a:cs typeface="Arial"/>
                </a:defRPr>
              </a:lvl3pPr>
              <a:lvl4pPr algn="ctr">
                <a:defRPr sz="600" b="1">
                  <a:solidFill>
                    <a:srgbClr val="263442"/>
                  </a:solidFill>
                  <a:latin typeface="Arial"/>
                  <a:ea typeface="Arial"/>
                  <a:cs typeface="Arial"/>
                </a:defRPr>
              </a:lvl4pPr>
              <a:lvl5pPr algn="ctr">
                <a:defRPr sz="600" b="1">
                  <a:solidFill>
                    <a:srgbClr val="263442"/>
                  </a:solidFill>
                  <a:latin typeface="Arial"/>
                  <a:ea typeface="Arial"/>
                  <a:cs typeface="Arial"/>
                </a:defRPr>
              </a:lvl5pPr>
              <a:lvl6pPr algn="ctr">
                <a:defRPr sz="600" b="1">
                  <a:solidFill>
                    <a:srgbClr val="263442"/>
                  </a:solidFill>
                  <a:latin typeface="Arial"/>
                  <a:ea typeface="Arial"/>
                  <a:cs typeface="Arial"/>
                </a:defRPr>
              </a:lvl6pPr>
              <a:lvl7pPr algn="ctr">
                <a:defRPr sz="600" b="1">
                  <a:solidFill>
                    <a:srgbClr val="263442"/>
                  </a:solidFill>
                  <a:latin typeface="Arial"/>
                  <a:ea typeface="Arial"/>
                  <a:cs typeface="Arial"/>
                </a:defRPr>
              </a:lvl7pPr>
              <a:lvl8pPr algn="ctr">
                <a:defRPr sz="600" b="1">
                  <a:solidFill>
                    <a:srgbClr val="263442"/>
                  </a:solidFill>
                  <a:latin typeface="Arial"/>
                  <a:ea typeface="Arial"/>
                  <a:cs typeface="Arial"/>
                </a:defRPr>
              </a:lvl8pPr>
              <a:lvl9pPr algn="ctr">
                <a:defRPr sz="600" b="1">
                  <a:solidFill>
                    <a:srgbClr val="263442"/>
                  </a:solidFill>
                  <a:latin typeface="Arial"/>
                  <a:ea typeface="Arial"/>
                  <a:cs typeface="Arial"/>
                </a:defRPr>
              </a:lvl9pPr>
            </a:lstStyle>
            <a:p>
              <a:pPr algn="ctr">
                <a:defRPr sz="600" b="1">
                  <a:solidFill>
                    <a:srgbClr val="263442"/>
                  </a:solidFill>
                  <a:latin typeface="Arial"/>
                  <a:ea typeface="Arial"/>
                  <a:cs typeface="Arial"/>
                </a:defRPr>
              </a:pPr>
              <a:r>
                <a:rPr sz="600" b="1">
                  <a:solidFill>
                    <a:srgbClr val="263442"/>
                  </a:solidFill>
                  <a:latin typeface="Arial"/>
                  <a:ea typeface="Arial"/>
                  <a:cs typeface="Arial"/>
                </a:rPr>
                <a:t>80³</a:t>
              </a:r>
            </a:p>
          </p:txBody>
        </p:sp>
      </p:grpSp>
      <p:grpSp>
        <p:nvGrpSpPr>
          <p:cNvPr id="50494" name="Find preview 1435"/>
          <p:cNvGrpSpPr/>
          <p:nvPr/>
        </p:nvGrpSpPr>
        <p:grpSpPr>
          <a:xfrm>
            <a:off x="582671" y="1252538"/>
            <a:ext cx="404812" cy="395288"/>
            <a:chOff x="511635" y="1252538"/>
            <a:chExt cx="404812" cy="395288"/>
          </a:xfrm>
        </p:grpSpPr>
        <p:pic>
          <p:nvPicPr>
            <p:cNvPr id="1435" name="Find clear receptor" descr="Receptor cartoon rendered from unchanged local coordinates, chain C1 of the 9LLG CA2 model.">
              <a:extLst>
                <a:ext uri="{FF2B5EF4-FFF2-40B4-BE49-F238E27FC236}">
                  <a16:creationId xmlns:a16="http://schemas.microsoft.com/office/drawing/2014/main" id="{24C88AB2-5918-0F4D-EDE6-0D89FC02F100}"/>
                </a:ext>
              </a:extLst>
            </p:cNvPr>
            <p:cNvPicPr/>
            <p:nvPr/>
          </p:nvPicPr>
          <p:blipFill>
            <a:blip r:embed="rId7"/>
            <a:srcRect l="16857" t="30389" r="19786" b="22500"/>
            <a:stretch>
              <a:fillRect/>
            </a:stretch>
          </p:blipFill>
          <p:spPr>
            <a:xfrm>
              <a:off x="511635" y="1256674"/>
              <a:ext cx="404812" cy="387014"/>
            </a:xfrm>
            <a:prstGeom prst="rect">
              <a:avLst/>
            </a:prstGeom>
          </p:spPr>
        </p:pic>
        <p:sp>
          <p:nvSpPr>
            <p:cNvPr id="50479" name="crop-cube">
              <a:extLst>
                <a:ext uri="{FF2B5EF4-FFF2-40B4-BE49-F238E27FC236}">
                  <a16:creationId xmlns:a16="http://schemas.microsoft.com/office/drawing/2014/main" id="{B083B324-58BF-4271-92CE-6A3DCE5DBE53}"/>
                </a:ext>
              </a:extLst>
            </p:cNvPr>
            <p:cNvSpPr>
              <a:spLocks noGrp="1"/>
            </p:cNvSpPr>
            <p:nvPr/>
          </p:nvSpPr>
          <p:spPr>
            <a:xfrm>
              <a:off x="700088" y="1404938"/>
              <a:ext cx="119063" cy="119063"/>
            </a:xfrm>
            <a:custGeom>
              <a:avLst/>
              <a:gdLst/>
              <a:ahLst/>
              <a:cxnLst/>
              <a:rect l="0" t="0" r="0" b="0"/>
              <a:pathLst>
                <a:path w="119063" h="119063">
                  <a:moveTo>
                    <a:pt x="0" y="30956"/>
                  </a:moveTo>
                  <a:lnTo>
                    <a:pt x="88106" y="30956"/>
                  </a:lnTo>
                  <a:lnTo>
                    <a:pt x="88106" y="119063"/>
                  </a:lnTo>
                  <a:lnTo>
                    <a:pt x="0" y="119063"/>
                  </a:lnTo>
                  <a:lnTo>
                    <a:pt x="0" y="30956"/>
                  </a:lnTo>
                  <a:lnTo>
                    <a:pt x="30956" y="0"/>
                  </a:lnTo>
                  <a:lnTo>
                    <a:pt x="119063" y="0"/>
                  </a:lnTo>
                  <a:lnTo>
                    <a:pt x="119063" y="88106"/>
                  </a:lnTo>
                  <a:lnTo>
                    <a:pt x="88106" y="119063"/>
                  </a:lnTo>
                </a:path>
              </a:pathLst>
            </a:custGeom>
            <a:noFill/>
            <a:ln w="8573">
              <a:solidFill>
                <a:srgbClr val="263442"/>
              </a:solidFill>
            </a:ln>
          </p:spPr>
        </p:sp>
        <p:sp>
          <p:nvSpPr>
            <p:cNvPr id="50480" name="crop-cube">
              <a:extLst>
                <a:ext uri="{FF2B5EF4-FFF2-40B4-BE49-F238E27FC236}">
                  <a16:creationId xmlns:a16="http://schemas.microsoft.com/office/drawing/2014/main" id="{0E8C65BE-9745-4184-B8B7-6FD5E9341DBD}"/>
                </a:ext>
              </a:extLst>
            </p:cNvPr>
            <p:cNvSpPr>
              <a:spLocks noGrp="1"/>
            </p:cNvSpPr>
            <p:nvPr/>
          </p:nvSpPr>
          <p:spPr>
            <a:xfrm>
              <a:off x="788194" y="1404938"/>
              <a:ext cx="30956" cy="30956"/>
            </a:xfrm>
            <a:custGeom>
              <a:avLst/>
              <a:gdLst/>
              <a:ahLst/>
              <a:cxnLst/>
              <a:rect l="0" t="0" r="0" b="0"/>
              <a:pathLst>
                <a:path w="30956" h="30956">
                  <a:moveTo>
                    <a:pt x="0" y="30956"/>
                  </a:moveTo>
                  <a:lnTo>
                    <a:pt x="30956" y="0"/>
                  </a:lnTo>
                </a:path>
              </a:pathLst>
            </a:custGeom>
            <a:noFill/>
            <a:ln w="8573">
              <a:solidFill>
                <a:srgbClr val="263442"/>
              </a:solidFill>
            </a:ln>
          </p:spPr>
        </p:sp>
        <p:sp>
          <p:nvSpPr>
            <p:cNvPr id="50481" name="F2-receptor-crop-size">
              <a:extLst>
                <a:ext uri="{FF2B5EF4-FFF2-40B4-BE49-F238E27FC236}">
                  <a16:creationId xmlns:a16="http://schemas.microsoft.com/office/drawing/2014/main" id="{11CB5595-3267-408D-9A25-39E3920D0458}"/>
                </a:ext>
              </a:extLst>
            </p:cNvPr>
            <p:cNvSpPr>
              <a:spLocks noGrp="1"/>
            </p:cNvSpPr>
            <p:nvPr/>
          </p:nvSpPr>
          <p:spPr>
            <a:xfrm>
              <a:off x="640556" y="1544955"/>
              <a:ext cx="238125" cy="95250"/>
            </a:xfrm>
            <a:prstGeom prst="rect">
              <a:avLst/>
            </a:prstGeom>
            <a:noFill/>
            <a:ln w="0">
              <a:noFill/>
            </a:ln>
          </p:spPr>
          <p:txBody>
            <a:bodyPr wrap="none" lIns="0" tIns="0" rIns="0" bIns="0" anchor="ctr">
              <a:noAutofit/>
            </a:bodyPr>
            <a:lstStyle>
              <a:defPPr algn="ctr">
                <a:defRPr sz="600" b="1">
                  <a:solidFill>
                    <a:srgbClr val="263442"/>
                  </a:solidFill>
                  <a:latin typeface="Arial"/>
                  <a:ea typeface="Arial"/>
                  <a:cs typeface="Arial"/>
                </a:defRPr>
              </a:defPPr>
              <a:lvl1pPr algn="ctr">
                <a:defRPr sz="600" b="1">
                  <a:solidFill>
                    <a:srgbClr val="263442"/>
                  </a:solidFill>
                  <a:latin typeface="Arial"/>
                  <a:ea typeface="Arial"/>
                  <a:cs typeface="Arial"/>
                </a:defRPr>
              </a:lvl1pPr>
              <a:lvl2pPr algn="ctr">
                <a:defRPr sz="600" b="1">
                  <a:solidFill>
                    <a:srgbClr val="263442"/>
                  </a:solidFill>
                  <a:latin typeface="Arial"/>
                  <a:ea typeface="Arial"/>
                  <a:cs typeface="Arial"/>
                </a:defRPr>
              </a:lvl2pPr>
              <a:lvl3pPr algn="ctr">
                <a:defRPr sz="600" b="1">
                  <a:solidFill>
                    <a:srgbClr val="263442"/>
                  </a:solidFill>
                  <a:latin typeface="Arial"/>
                  <a:ea typeface="Arial"/>
                  <a:cs typeface="Arial"/>
                </a:defRPr>
              </a:lvl3pPr>
              <a:lvl4pPr algn="ctr">
                <a:defRPr sz="600" b="1">
                  <a:solidFill>
                    <a:srgbClr val="263442"/>
                  </a:solidFill>
                  <a:latin typeface="Arial"/>
                  <a:ea typeface="Arial"/>
                  <a:cs typeface="Arial"/>
                </a:defRPr>
              </a:lvl4pPr>
              <a:lvl5pPr algn="ctr">
                <a:defRPr sz="600" b="1">
                  <a:solidFill>
                    <a:srgbClr val="263442"/>
                  </a:solidFill>
                  <a:latin typeface="Arial"/>
                  <a:ea typeface="Arial"/>
                  <a:cs typeface="Arial"/>
                </a:defRPr>
              </a:lvl5pPr>
              <a:lvl6pPr algn="ctr">
                <a:defRPr sz="600" b="1">
                  <a:solidFill>
                    <a:srgbClr val="263442"/>
                  </a:solidFill>
                  <a:latin typeface="Arial"/>
                  <a:ea typeface="Arial"/>
                  <a:cs typeface="Arial"/>
                </a:defRPr>
              </a:lvl6pPr>
              <a:lvl7pPr algn="ctr">
                <a:defRPr sz="600" b="1">
                  <a:solidFill>
                    <a:srgbClr val="263442"/>
                  </a:solidFill>
                  <a:latin typeface="Arial"/>
                  <a:ea typeface="Arial"/>
                  <a:cs typeface="Arial"/>
                </a:defRPr>
              </a:lvl7pPr>
              <a:lvl8pPr algn="ctr">
                <a:defRPr sz="600" b="1">
                  <a:solidFill>
                    <a:srgbClr val="263442"/>
                  </a:solidFill>
                  <a:latin typeface="Arial"/>
                  <a:ea typeface="Arial"/>
                  <a:cs typeface="Arial"/>
                </a:defRPr>
              </a:lvl8pPr>
              <a:lvl9pPr algn="ctr">
                <a:defRPr sz="600" b="1">
                  <a:solidFill>
                    <a:srgbClr val="263442"/>
                  </a:solidFill>
                  <a:latin typeface="Arial"/>
                  <a:ea typeface="Arial"/>
                  <a:cs typeface="Arial"/>
                </a:defRPr>
              </a:lvl9pPr>
            </a:lstStyle>
            <a:p>
              <a:pPr algn="ctr">
                <a:defRPr sz="600" b="1">
                  <a:solidFill>
                    <a:srgbClr val="263442"/>
                  </a:solidFill>
                  <a:latin typeface="Arial"/>
                  <a:ea typeface="Arial"/>
                  <a:cs typeface="Arial"/>
                </a:defRPr>
              </a:pPr>
              <a:r>
                <a:rPr sz="600" b="1">
                  <a:solidFill>
                    <a:srgbClr val="263442"/>
                  </a:solidFill>
                  <a:latin typeface="Arial"/>
                  <a:ea typeface="Arial"/>
                  <a:cs typeface="Arial"/>
                </a:rPr>
                <a:t>80³</a:t>
              </a:r>
            </a:p>
          </p:txBody>
        </p:sp>
      </p:grpSp>
      <p:grpSp>
        <p:nvGrpSpPr>
          <p:cNvPr id="50495" name="Find preview 25"/>
          <p:cNvGrpSpPr/>
          <p:nvPr/>
        </p:nvGrpSpPr>
        <p:grpSpPr>
          <a:xfrm>
            <a:off x="4319205" y="499672"/>
            <a:ext cx="404812" cy="386544"/>
            <a:chOff x="4349067" y="499672"/>
            <a:chExt cx="404812" cy="386544"/>
          </a:xfrm>
        </p:grpSpPr>
        <p:pic>
          <p:nvPicPr>
            <p:cNvPr id="25" name="Find corresponding experimental density" descr="Experimental 9LLG density around chain C1 of the displayed CryoAtom2 receptor, at the original contour level and the identical camera orientation.">
              <a:extLst>
                <a:ext uri="{FF2B5EF4-FFF2-40B4-BE49-F238E27FC236}">
                  <a16:creationId xmlns:a16="http://schemas.microsoft.com/office/drawing/2014/main" id="{E01FAF0F-7383-AEC3-8192-CE781D4C8B97}"/>
                </a:ext>
              </a:extLst>
            </p:cNvPr>
            <p:cNvPicPr/>
            <p:nvPr/>
          </p:nvPicPr>
          <p:blipFill>
            <a:blip r:embed="rId4"/>
            <a:stretch>
              <a:fillRect/>
            </a:stretch>
          </p:blipFill>
          <p:spPr>
            <a:xfrm>
              <a:off x="4349067" y="499672"/>
              <a:ext cx="404812" cy="386544"/>
            </a:xfrm>
            <a:prstGeom prst="rect">
              <a:avLst/>
            </a:prstGeom>
          </p:spPr>
        </p:pic>
        <p:grpSp>
          <p:nvGrpSpPr>
            <p:cNvPr id="50437" name="Global copy of blob 758">
              <a:extLst>
                <a:ext uri="{FF2B5EF4-FFF2-40B4-BE49-F238E27FC236}">
                  <a16:creationId xmlns:a16="http://schemas.microsoft.com/office/drawing/2014/main" id="{00C0C92B-D4C8-0994-E860-1581EB873D86}"/>
                </a:ext>
              </a:extLst>
            </p:cNvPr>
            <p:cNvGrpSpPr/>
            <p:nvPr/>
          </p:nvGrpSpPr>
          <p:grpSpPr>
            <a:xfrm>
              <a:off x="4445066" y="623158"/>
              <a:ext cx="92055" cy="24054"/>
              <a:chOff x="1980855" y="3559489"/>
              <a:chExt cx="493446" cy="155682"/>
            </a:xfrm>
          </p:grpSpPr>
          <p:sp>
            <p:nvSpPr>
              <p:cNvPr id="50438" name="Candidate blob | editable contour">
                <a:extLst>
                  <a:ext uri="{FF2B5EF4-FFF2-40B4-BE49-F238E27FC236}">
                    <a16:creationId xmlns:a16="http://schemas.microsoft.com/office/drawing/2014/main" id="{A172A8B3-EFA3-33C9-CD2B-307B24D7293D}"/>
                  </a:ext>
                </a:extLst>
              </p:cNvPr>
              <p:cNvSpPr/>
              <p:nvPr/>
            </p:nvSpPr>
            <p:spPr>
              <a:xfrm>
                <a:off x="2246406" y="3559489"/>
                <a:ext cx="227895" cy="155682"/>
              </a:xfrm>
              <a:custGeom>
                <a:avLst/>
                <a:gdLst/>
                <a:ahLst/>
                <a:cxnLst/>
                <a:rect l="0" t="0" r="w" b="h"/>
                <a:pathLst>
                  <a:path w="227897" h="155682" extrusionOk="0">
                    <a:moveTo>
                      <a:pt x="3521" y="100385"/>
                    </a:moveTo>
                    <a:cubicBezTo>
                      <a:pt x="0" y="80701"/>
                      <a:pt x="26006" y="62787"/>
                      <a:pt x="43453" y="54263"/>
                    </a:cubicBezTo>
                    <a:cubicBezTo>
                      <a:pt x="58843" y="43224"/>
                      <a:pt x="83460" y="52781"/>
                      <a:pt x="99588" y="43358"/>
                    </a:cubicBezTo>
                    <a:cubicBezTo>
                      <a:pt x="112436" y="32945"/>
                      <a:pt x="102548" y="9475"/>
                      <a:pt x="114181" y="4123"/>
                    </a:cubicBezTo>
                    <a:cubicBezTo>
                      <a:pt x="125241" y="0"/>
                      <a:pt x="158214" y="2398"/>
                      <a:pt x="179365" y="5837"/>
                    </a:cubicBezTo>
                    <a:cubicBezTo>
                      <a:pt x="197301" y="9996"/>
                      <a:pt x="210134" y="19340"/>
                      <a:pt x="216909" y="31256"/>
                    </a:cubicBezTo>
                    <a:cubicBezTo>
                      <a:pt x="221237" y="45342"/>
                      <a:pt x="227897" y="67151"/>
                      <a:pt x="224378" y="79920"/>
                    </a:cubicBezTo>
                    <a:cubicBezTo>
                      <a:pt x="219253" y="92918"/>
                      <a:pt x="191986" y="104353"/>
                      <a:pt x="170629" y="115250"/>
                    </a:cubicBezTo>
                    <a:cubicBezTo>
                      <a:pt x="155563" y="129736"/>
                      <a:pt x="143418" y="146104"/>
                      <a:pt x="126157" y="151452"/>
                    </a:cubicBezTo>
                    <a:cubicBezTo>
                      <a:pt x="110048" y="155682"/>
                      <a:pt x="82946" y="155682"/>
                      <a:pt x="52808" y="150002"/>
                    </a:cubicBezTo>
                    <a:cubicBezTo>
                      <a:pt x="28847" y="143645"/>
                      <a:pt x="5675" y="118994"/>
                      <a:pt x="3521" y="100385"/>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50439" name="ellipse_2612">
                <a:extLst>
                  <a:ext uri="{FF2B5EF4-FFF2-40B4-BE49-F238E27FC236}">
                    <a16:creationId xmlns:a16="http://schemas.microsoft.com/office/drawing/2014/main" id="{CF37E813-914E-4383-9CE9-1C5F4095124F}"/>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sp>
          <p:nvSpPr>
            <p:cNvPr id="50442" name="ellipse_2612">
              <a:extLst>
                <a:ext uri="{FF2B5EF4-FFF2-40B4-BE49-F238E27FC236}">
                  <a16:creationId xmlns:a16="http://schemas.microsoft.com/office/drawing/2014/main" id="{899D545A-9188-B8A5-5122-F55763321954}"/>
                </a:ext>
              </a:extLst>
            </p:cNvPr>
            <p:cNvSpPr/>
            <p:nvPr/>
          </p:nvSpPr>
          <p:spPr>
            <a:xfrm rot="3197729">
              <a:off x="4608138" y="649456"/>
              <a:ext cx="10571" cy="3071"/>
            </a:xfrm>
            <a:prstGeom prst="ellipse">
              <a:avLst/>
            </a:prstGeom>
            <a:solidFill>
              <a:srgbClr val="FFFFFF">
                <a:alpha val="35000"/>
              </a:srgbClr>
            </a:solidFill>
            <a:ln w="3285" cap="rnd" cmpd="sng" algn="ctr">
              <a:noFill/>
              <a:prstDash val="solid"/>
              <a:round/>
              <a:headEnd type="none" w="med" len="med"/>
              <a:tailEnd type="none" w="med" len="med"/>
            </a:ln>
            <a:effectLst/>
          </p:spPr>
        </p:sp>
        <p:sp>
          <p:nvSpPr>
            <p:cNvPr id="50445" name="ellipse_2612">
              <a:extLst>
                <a:ext uri="{FF2B5EF4-FFF2-40B4-BE49-F238E27FC236}">
                  <a16:creationId xmlns:a16="http://schemas.microsoft.com/office/drawing/2014/main" id="{85D74281-2FE6-E2D2-EFBA-AF54A45686E3}"/>
                </a:ext>
              </a:extLst>
            </p:cNvPr>
            <p:cNvSpPr/>
            <p:nvPr/>
          </p:nvSpPr>
          <p:spPr>
            <a:xfrm>
              <a:off x="4430816" y="761249"/>
              <a:ext cx="9540" cy="2671"/>
            </a:xfrm>
            <a:prstGeom prst="ellipse">
              <a:avLst/>
            </a:prstGeom>
            <a:solidFill>
              <a:srgbClr val="FFFFFF">
                <a:alpha val="35000"/>
              </a:srgbClr>
            </a:solidFill>
            <a:ln w="3285" cap="rnd" cmpd="sng" algn="ctr">
              <a:noFill/>
              <a:prstDash val="solid"/>
              <a:round/>
              <a:headEnd type="none" w="med" len="med"/>
              <a:tailEnd type="none" w="med" len="med"/>
            </a:ln>
            <a:effectLst/>
          </p:spPr>
        </p:sp>
        <p:sp>
          <p:nvSpPr>
            <p:cNvPr id="50448" name="ellipse_2612">
              <a:extLst>
                <a:ext uri="{FF2B5EF4-FFF2-40B4-BE49-F238E27FC236}">
                  <a16:creationId xmlns:a16="http://schemas.microsoft.com/office/drawing/2014/main" id="{901C6437-E94C-AFDE-D242-E688A89ABBDB}"/>
                </a:ext>
              </a:extLst>
            </p:cNvPr>
            <p:cNvSpPr/>
            <p:nvPr/>
          </p:nvSpPr>
          <p:spPr>
            <a:xfrm>
              <a:off x="4542383" y="798587"/>
              <a:ext cx="9428" cy="3307"/>
            </a:xfrm>
            <a:prstGeom prst="ellipse">
              <a:avLst/>
            </a:prstGeom>
            <a:solidFill>
              <a:srgbClr val="FFFFFF">
                <a:alpha val="35000"/>
              </a:srgbClr>
            </a:solidFill>
            <a:ln w="3285" cap="rnd" cmpd="sng" algn="ctr">
              <a:noFill/>
              <a:prstDash val="solid"/>
              <a:round/>
              <a:headEnd type="none" w="med" len="med"/>
              <a:tailEnd type="none" w="med" len="med"/>
            </a:ln>
            <a:effectLst/>
          </p:spPr>
        </p:sp>
      </p:grpSp>
      <p:sp>
        <p:nvSpPr>
          <p:cNvPr id="29" name="V8 density and receptor to voxel">
            <a:extLst>
              <a:ext uri="{FF2B5EF4-FFF2-40B4-BE49-F238E27FC236}">
                <a16:creationId xmlns:a16="http://schemas.microsoft.com/office/drawing/2014/main" id="{6CB6A47B-4EF1-2B06-7255-E23CEE529CCF}"/>
              </a:ext>
            </a:extLst>
          </p:cNvPr>
          <p:cNvSpPr/>
          <p:nvPr/>
        </p:nvSpPr>
        <p:spPr>
          <a:xfrm flipV="1">
            <a:off x="1834335" y="790091"/>
            <a:ext cx="77018" cy="45719"/>
          </a:xfrm>
          <a:custGeom>
            <a:avLst/>
            <a:gdLst/>
            <a:ahLst/>
            <a:cxnLst/>
            <a:rect l="l" t="t" r="r" b="b"/>
            <a:pathLst>
              <a:path w="96730" h="1">
                <a:moveTo>
                  <a:pt x="0" y="0"/>
                </a:moveTo>
                <a:lnTo>
                  <a:pt x="96730" y="0"/>
                </a:lnTo>
              </a:path>
            </a:pathLst>
          </a:custGeom>
          <a:noFill/>
          <a:ln w="8509" cap="rnd">
            <a:solidFill>
              <a:srgbClr val="77828C"/>
            </a:solidFill>
            <a:prstDash val="solid"/>
            <a:round/>
          </a:ln>
        </p:spPr>
      </p:sp>
      <p:sp>
        <p:nvSpPr>
          <p:cNvPr id="31" name="V8 density and receptor to voxel head">
            <a:extLst>
              <a:ext uri="{FF2B5EF4-FFF2-40B4-BE49-F238E27FC236}">
                <a16:creationId xmlns:a16="http://schemas.microsoft.com/office/drawing/2014/main" id="{DF62D5B1-80E9-3975-FF99-0CA56F3741F9}"/>
              </a:ext>
            </a:extLst>
          </p:cNvPr>
          <p:cNvSpPr/>
          <p:nvPr/>
        </p:nvSpPr>
        <p:spPr>
          <a:xfrm>
            <a:off x="1905255" y="822853"/>
            <a:ext cx="28321" cy="24384"/>
          </a:xfrm>
          <a:custGeom>
            <a:avLst/>
            <a:gdLst/>
            <a:ahLst/>
            <a:cxnLst/>
            <a:rect l="l" t="t" r="r" b="b"/>
            <a:pathLst>
              <a:path w="28321" h="24384">
                <a:moveTo>
                  <a:pt x="28321" y="12192"/>
                </a:moveTo>
                <a:lnTo>
                  <a:pt x="0" y="0"/>
                </a:lnTo>
                <a:lnTo>
                  <a:pt x="0" y="24384"/>
                </a:lnTo>
                <a:close/>
              </a:path>
            </a:pathLst>
          </a:custGeom>
          <a:solidFill>
            <a:srgbClr val="77828C"/>
          </a:solidFill>
          <a:ln w="0" cap="rnd">
            <a:noFill/>
          </a:ln>
        </p:spPr>
      </p:sp>
      <p:sp>
        <p:nvSpPr>
          <p:cNvPr id="34" name="文本框 33">
            <a:extLst>
              <a:ext uri="{FF2B5EF4-FFF2-40B4-BE49-F238E27FC236}">
                <a16:creationId xmlns:a16="http://schemas.microsoft.com/office/drawing/2014/main" id="{04021CE7-7079-B8B1-FE1F-2395F0A6A9F4}"/>
              </a:ext>
            </a:extLst>
          </p:cNvPr>
          <p:cNvSpPr txBox="1"/>
          <p:nvPr/>
        </p:nvSpPr>
        <p:spPr>
          <a:xfrm>
            <a:off x="2776387" y="1439947"/>
            <a:ext cx="502061" cy="197618"/>
          </a:xfrm>
          <a:prstGeom prst="rect">
            <a:avLst/>
          </a:prstGeom>
          <a:noFill/>
        </p:spPr>
        <p:txBody>
          <a:bodyPr wrap="none" rtlCol="0">
            <a:spAutoFit/>
          </a:bodyPr>
          <a:lstStyle/>
          <a:p>
            <a:pPr algn="ctr">
              <a:lnSpc>
                <a:spcPct val="105000"/>
              </a:lnSpc>
            </a:pPr>
            <a:r>
              <a:rPr lang="en-US" altLang="zh-CN" sz="650" i="1" dirty="0">
                <a:solidFill>
                  <a:srgbClr val="263442"/>
                </a:solidFill>
                <a:latin typeface="Arial"/>
              </a:rPr>
              <a:t>Recycle</a:t>
            </a:r>
          </a:p>
        </p:txBody>
      </p:sp>
      <p:grpSp>
        <p:nvGrpSpPr>
          <p:cNvPr id="21" name="Find candidate blob 2">
            <a:extLst>
              <a:ext uri="{FF2B5EF4-FFF2-40B4-BE49-F238E27FC236}">
                <a16:creationId xmlns:a16="http://schemas.microsoft.com/office/drawing/2014/main" id="{7CF4B83B-CE40-0943-83BF-857F63F584FC}"/>
              </a:ext>
            </a:extLst>
          </p:cNvPr>
          <p:cNvGrpSpPr/>
          <p:nvPr/>
        </p:nvGrpSpPr>
        <p:grpSpPr>
          <a:xfrm rot="3197729">
            <a:off x="4586768" y="633066"/>
            <a:ext cx="35227" cy="29704"/>
            <a:chOff x="1928706" y="3559489"/>
            <a:chExt cx="227897" cy="155682"/>
          </a:xfrm>
        </p:grpSpPr>
        <p:sp>
          <p:nvSpPr>
            <p:cNvPr id="23" name="Candidate blob | editable contour">
              <a:extLst>
                <a:ext uri="{FF2B5EF4-FFF2-40B4-BE49-F238E27FC236}">
                  <a16:creationId xmlns:a16="http://schemas.microsoft.com/office/drawing/2014/main" id="{0EF5C813-7F44-77DD-67FE-EE476608E03B}"/>
                </a:ext>
              </a:extLst>
            </p:cNvPr>
            <p:cNvSpPr/>
            <p:nvPr/>
          </p:nvSpPr>
          <p:spPr>
            <a:xfrm>
              <a:off x="1928706" y="3559489"/>
              <a:ext cx="227897" cy="155682"/>
            </a:xfrm>
            <a:custGeom>
              <a:avLst/>
              <a:gdLst/>
              <a:ahLst/>
              <a:cxnLst/>
              <a:rect l="0" t="0" r="w" b="h"/>
              <a:pathLst>
                <a:path w="227897" h="155682" extrusionOk="0">
                  <a:moveTo>
                    <a:pt x="3521" y="100385"/>
                  </a:moveTo>
                  <a:cubicBezTo>
                    <a:pt x="0" y="80701"/>
                    <a:pt x="26006" y="62787"/>
                    <a:pt x="43453" y="54263"/>
                  </a:cubicBezTo>
                  <a:cubicBezTo>
                    <a:pt x="58843" y="43224"/>
                    <a:pt x="83460" y="52781"/>
                    <a:pt x="99588" y="43358"/>
                  </a:cubicBezTo>
                  <a:cubicBezTo>
                    <a:pt x="112436" y="32945"/>
                    <a:pt x="102548" y="9475"/>
                    <a:pt x="114181" y="4123"/>
                  </a:cubicBezTo>
                  <a:cubicBezTo>
                    <a:pt x="125241" y="0"/>
                    <a:pt x="158214" y="2398"/>
                    <a:pt x="179365" y="5837"/>
                  </a:cubicBezTo>
                  <a:cubicBezTo>
                    <a:pt x="197301" y="9996"/>
                    <a:pt x="210134" y="19340"/>
                    <a:pt x="216909" y="31256"/>
                  </a:cubicBezTo>
                  <a:cubicBezTo>
                    <a:pt x="221237" y="45342"/>
                    <a:pt x="227897" y="67151"/>
                    <a:pt x="224378" y="79920"/>
                  </a:cubicBezTo>
                  <a:cubicBezTo>
                    <a:pt x="219253" y="92918"/>
                    <a:pt x="191986" y="104353"/>
                    <a:pt x="170629" y="115250"/>
                  </a:cubicBezTo>
                  <a:cubicBezTo>
                    <a:pt x="155563" y="129736"/>
                    <a:pt x="143418" y="146104"/>
                    <a:pt x="126157" y="151452"/>
                  </a:cubicBezTo>
                  <a:cubicBezTo>
                    <a:pt x="110048" y="155682"/>
                    <a:pt x="82946" y="155682"/>
                    <a:pt x="52808" y="150002"/>
                  </a:cubicBezTo>
                  <a:cubicBezTo>
                    <a:pt x="28847" y="143645"/>
                    <a:pt x="5675" y="118994"/>
                    <a:pt x="3521" y="100385"/>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28" name="ellipse_2612">
              <a:extLst>
                <a:ext uri="{FF2B5EF4-FFF2-40B4-BE49-F238E27FC236}">
                  <a16:creationId xmlns:a16="http://schemas.microsoft.com/office/drawing/2014/main" id="{F5FA3B82-7CD0-DDDF-A968-EC80FAC5CC54}"/>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grpSp>
        <p:nvGrpSpPr>
          <p:cNvPr id="30" name="Find candidate blob 3">
            <a:extLst>
              <a:ext uri="{FF2B5EF4-FFF2-40B4-BE49-F238E27FC236}">
                <a16:creationId xmlns:a16="http://schemas.microsoft.com/office/drawing/2014/main" id="{7DFC79E6-A537-A8EE-9E23-73695EEDEA87}"/>
              </a:ext>
            </a:extLst>
          </p:cNvPr>
          <p:cNvGrpSpPr/>
          <p:nvPr/>
        </p:nvGrpSpPr>
        <p:grpSpPr>
          <a:xfrm rot="364243">
            <a:off x="4504977" y="709850"/>
            <a:ext cx="31915" cy="32299"/>
            <a:chOff x="1928706" y="3559489"/>
            <a:chExt cx="227897" cy="155682"/>
          </a:xfrm>
        </p:grpSpPr>
        <p:sp>
          <p:nvSpPr>
            <p:cNvPr id="32" name="Candidate blob | editable contour">
              <a:extLst>
                <a:ext uri="{FF2B5EF4-FFF2-40B4-BE49-F238E27FC236}">
                  <a16:creationId xmlns:a16="http://schemas.microsoft.com/office/drawing/2014/main" id="{EF3C7BE5-312A-39EB-D945-E725D09FC5CF}"/>
                </a:ext>
              </a:extLst>
            </p:cNvPr>
            <p:cNvSpPr/>
            <p:nvPr/>
          </p:nvSpPr>
          <p:spPr>
            <a:xfrm>
              <a:off x="1928706" y="3559489"/>
              <a:ext cx="227897" cy="155682"/>
            </a:xfrm>
            <a:custGeom>
              <a:avLst/>
              <a:gdLst/>
              <a:ahLst/>
              <a:cxnLst/>
              <a:rect l="0" t="0" r="w" b="h"/>
              <a:pathLst>
                <a:path w="227897" h="155682" extrusionOk="0">
                  <a:moveTo>
                    <a:pt x="4633" y="103508"/>
                  </a:moveTo>
                  <a:cubicBezTo>
                    <a:pt x="0" y="80701"/>
                    <a:pt x="17781" y="72087"/>
                    <a:pt x="35225" y="64107"/>
                  </a:cubicBezTo>
                  <a:cubicBezTo>
                    <a:pt x="54476" y="49917"/>
                    <a:pt x="72264" y="52549"/>
                    <a:pt x="92778" y="35736"/>
                  </a:cubicBezTo>
                  <a:cubicBezTo>
                    <a:pt x="110195" y="21040"/>
                    <a:pt x="104326" y="5059"/>
                    <a:pt x="115221" y="1753"/>
                  </a:cubicBezTo>
                  <a:cubicBezTo>
                    <a:pt x="125241" y="0"/>
                    <a:pt x="159037" y="3786"/>
                    <a:pt x="180838" y="12966"/>
                  </a:cubicBezTo>
                  <a:cubicBezTo>
                    <a:pt x="198427" y="23372"/>
                    <a:pt x="209170" y="39484"/>
                    <a:pt x="212983" y="52913"/>
                  </a:cubicBezTo>
                  <a:cubicBezTo>
                    <a:pt x="216818" y="61184"/>
                    <a:pt x="227897" y="67151"/>
                    <a:pt x="223406" y="85389"/>
                  </a:cubicBezTo>
                  <a:cubicBezTo>
                    <a:pt x="220211" y="103077"/>
                    <a:pt x="208185" y="131257"/>
                    <a:pt x="201464" y="141174"/>
                  </a:cubicBezTo>
                  <a:cubicBezTo>
                    <a:pt x="189414" y="144450"/>
                    <a:pt x="161966" y="148455"/>
                    <a:pt x="136762" y="150513"/>
                  </a:cubicBezTo>
                  <a:cubicBezTo>
                    <a:pt x="110048" y="155682"/>
                    <a:pt x="82946" y="155682"/>
                    <a:pt x="72733" y="149421"/>
                  </a:cubicBezTo>
                  <a:cubicBezTo>
                    <a:pt x="54091" y="147525"/>
                    <a:pt x="13199" y="123788"/>
                    <a:pt x="4633" y="103508"/>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33" name="ellipse_2612">
              <a:extLst>
                <a:ext uri="{FF2B5EF4-FFF2-40B4-BE49-F238E27FC236}">
                  <a16:creationId xmlns:a16="http://schemas.microsoft.com/office/drawing/2014/main" id="{0A4821A8-67B8-19F4-30E2-0FE8715E5DA6}"/>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grpSp>
        <p:nvGrpSpPr>
          <p:cNvPr id="38" name="Find candidate blob 1">
            <a:extLst>
              <a:ext uri="{FF2B5EF4-FFF2-40B4-BE49-F238E27FC236}">
                <a16:creationId xmlns:a16="http://schemas.microsoft.com/office/drawing/2014/main" id="{D9521CD7-F7FB-7490-A23A-67B39E4FD95D}"/>
              </a:ext>
            </a:extLst>
          </p:cNvPr>
          <p:cNvGrpSpPr/>
          <p:nvPr/>
        </p:nvGrpSpPr>
        <p:grpSpPr>
          <a:xfrm>
            <a:off x="4398123" y="745957"/>
            <a:ext cx="40973" cy="27988"/>
            <a:chOff x="1928706" y="3559489"/>
            <a:chExt cx="227897" cy="155682"/>
          </a:xfrm>
        </p:grpSpPr>
        <p:sp>
          <p:nvSpPr>
            <p:cNvPr id="39" name="Candidate blob | editable contour">
              <a:extLst>
                <a:ext uri="{FF2B5EF4-FFF2-40B4-BE49-F238E27FC236}">
                  <a16:creationId xmlns:a16="http://schemas.microsoft.com/office/drawing/2014/main" id="{B913F94B-9211-6007-A9F1-AA1E18C1D543}"/>
                </a:ext>
              </a:extLst>
            </p:cNvPr>
            <p:cNvSpPr/>
            <p:nvPr/>
          </p:nvSpPr>
          <p:spPr>
            <a:xfrm>
              <a:off x="1928706" y="3559489"/>
              <a:ext cx="227897" cy="155682"/>
            </a:xfrm>
            <a:custGeom>
              <a:avLst/>
              <a:gdLst/>
              <a:ahLst/>
              <a:cxnLst/>
              <a:rect l="0" t="0" r="w" b="h"/>
              <a:pathLst>
                <a:path w="227897" h="155682" extrusionOk="0">
                  <a:moveTo>
                    <a:pt x="5338" y="97866"/>
                  </a:moveTo>
                  <a:cubicBezTo>
                    <a:pt x="0" y="80701"/>
                    <a:pt x="18889" y="54504"/>
                    <a:pt x="29976" y="43663"/>
                  </a:cubicBezTo>
                  <a:cubicBezTo>
                    <a:pt x="41062" y="32823"/>
                    <a:pt x="58719" y="39447"/>
                    <a:pt x="71859" y="32823"/>
                  </a:cubicBezTo>
                  <a:cubicBezTo>
                    <a:pt x="84999" y="26198"/>
                    <a:pt x="92391" y="7829"/>
                    <a:pt x="108816" y="3915"/>
                  </a:cubicBezTo>
                  <a:cubicBezTo>
                    <a:pt x="125241" y="0"/>
                    <a:pt x="153984" y="3613"/>
                    <a:pt x="170409" y="9335"/>
                  </a:cubicBezTo>
                  <a:cubicBezTo>
                    <a:pt x="186834" y="15056"/>
                    <a:pt x="198332" y="26198"/>
                    <a:pt x="207366" y="38243"/>
                  </a:cubicBezTo>
                  <a:cubicBezTo>
                    <a:pt x="216399" y="50288"/>
                    <a:pt x="227897" y="67151"/>
                    <a:pt x="224612" y="81605"/>
                  </a:cubicBezTo>
                  <a:cubicBezTo>
                    <a:pt x="221327" y="96059"/>
                    <a:pt x="203259" y="113223"/>
                    <a:pt x="187656" y="124967"/>
                  </a:cubicBezTo>
                  <a:cubicBezTo>
                    <a:pt x="172052" y="136711"/>
                    <a:pt x="151931" y="148455"/>
                    <a:pt x="130989" y="152068"/>
                  </a:cubicBezTo>
                  <a:cubicBezTo>
                    <a:pt x="110048" y="155682"/>
                    <a:pt x="82946" y="155682"/>
                    <a:pt x="62004" y="146648"/>
                  </a:cubicBezTo>
                  <a:cubicBezTo>
                    <a:pt x="41062" y="137614"/>
                    <a:pt x="10676" y="115030"/>
                    <a:pt x="5338" y="97866"/>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40" name="ellipse_2612">
              <a:extLst>
                <a:ext uri="{FF2B5EF4-FFF2-40B4-BE49-F238E27FC236}">
                  <a16:creationId xmlns:a16="http://schemas.microsoft.com/office/drawing/2014/main" id="{D504CB61-AEF5-1C11-4CCF-573A1133E2A9}"/>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sp>
        <p:nvSpPr>
          <p:cNvPr id="4" name="Panel | Build background">
            <a:extLst>
              <a:ext uri="{FF2B5EF4-FFF2-40B4-BE49-F238E27FC236}">
                <a16:creationId xmlns:a16="http://schemas.microsoft.com/office/drawing/2014/main" id="{61BFD1D3-8E18-98CA-9ADE-15F8134E394C}"/>
              </a:ext>
            </a:extLst>
          </p:cNvPr>
          <p:cNvSpPr/>
          <p:nvPr/>
        </p:nvSpPr>
        <p:spPr>
          <a:xfrm>
            <a:off x="4868797" y="84564"/>
            <a:ext cx="1354615" cy="4331875"/>
          </a:xfrm>
          <a:prstGeom prst="roundRect">
            <a:avLst>
              <a:gd name="adj" fmla="val 2000"/>
            </a:avLst>
          </a:prstGeom>
          <a:solidFill>
            <a:srgbClr val="FAF6EE"/>
          </a:solidFill>
          <a:ln w="9720">
            <a:solidFill>
              <a:srgbClr val="E3D9C6"/>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dirty="0"/>
          </a:p>
        </p:txBody>
      </p:sp>
      <p:sp>
        <p:nvSpPr>
          <p:cNvPr id="11" name="TextBox 8">
            <a:extLst>
              <a:ext uri="{FF2B5EF4-FFF2-40B4-BE49-F238E27FC236}">
                <a16:creationId xmlns:a16="http://schemas.microsoft.com/office/drawing/2014/main" id="{F7A74CE6-B511-9854-C2D3-D29F32B80C5A}"/>
              </a:ext>
            </a:extLst>
          </p:cNvPr>
          <p:cNvSpPr txBox="1"/>
          <p:nvPr/>
        </p:nvSpPr>
        <p:spPr>
          <a:xfrm>
            <a:off x="4902380" y="107125"/>
            <a:ext cx="174028" cy="149656"/>
          </a:xfrm>
          <a:prstGeom prst="rect">
            <a:avLst/>
          </a:prstGeom>
          <a:noFill/>
        </p:spPr>
        <p:txBody>
          <a:bodyPr wrap="square" lIns="0" tIns="0" rIns="0" bIns="0" anchor="ctr">
            <a:spAutoFit/>
          </a:bodyPr>
          <a:lstStyle/>
          <a:p>
            <a:pPr algn="l">
              <a:lnSpc>
                <a:spcPct val="105000"/>
              </a:lnSpc>
            </a:pPr>
            <a:r>
              <a:rPr sz="995" b="1" dirty="0">
                <a:solidFill>
                  <a:srgbClr val="263442"/>
                </a:solidFill>
                <a:latin typeface="Arial"/>
              </a:rPr>
              <a:t>c</a:t>
            </a:r>
          </a:p>
        </p:txBody>
      </p:sp>
      <p:sp>
        <p:nvSpPr>
          <p:cNvPr id="12" name="TextBox 9">
            <a:extLst>
              <a:ext uri="{FF2B5EF4-FFF2-40B4-BE49-F238E27FC236}">
                <a16:creationId xmlns:a16="http://schemas.microsoft.com/office/drawing/2014/main" id="{41B67299-262E-82C6-DC0C-0F08FB455095}"/>
              </a:ext>
            </a:extLst>
          </p:cNvPr>
          <p:cNvSpPr txBox="1"/>
          <p:nvPr/>
        </p:nvSpPr>
        <p:spPr>
          <a:xfrm>
            <a:off x="5060587" y="120126"/>
            <a:ext cx="1202377" cy="239809"/>
          </a:xfrm>
          <a:prstGeom prst="rect">
            <a:avLst/>
          </a:prstGeom>
          <a:noFill/>
        </p:spPr>
        <p:txBody>
          <a:bodyPr wrap="square" lIns="0" tIns="0" rIns="0" bIns="0" anchor="ctr">
            <a:spAutoFit/>
          </a:bodyPr>
          <a:lstStyle/>
          <a:p>
            <a:pPr algn="l">
              <a:lnSpc>
                <a:spcPct val="98000"/>
              </a:lnSpc>
            </a:pPr>
            <a:r>
              <a:rPr sz="795" dirty="0">
                <a:solidFill>
                  <a:srgbClr val="263442"/>
                </a:solidFill>
                <a:latin typeface="Arial"/>
              </a:rPr>
              <a:t>Build: downstream</a:t>
            </a:r>
          </a:p>
          <a:p>
            <a:pPr algn="l">
              <a:lnSpc>
                <a:spcPct val="98000"/>
              </a:lnSpc>
            </a:pPr>
            <a:r>
              <a:rPr sz="795" dirty="0">
                <a:solidFill>
                  <a:srgbClr val="263442"/>
                </a:solidFill>
                <a:latin typeface="Arial"/>
              </a:rPr>
              <a:t>pose reconstruction</a:t>
            </a:r>
          </a:p>
        </p:txBody>
      </p:sp>
      <p:sp>
        <p:nvSpPr>
          <p:cNvPr id="18" name="Build four inputs">
            <a:extLst>
              <a:ext uri="{FF2B5EF4-FFF2-40B4-BE49-F238E27FC236}">
                <a16:creationId xmlns:a16="http://schemas.microsoft.com/office/drawing/2014/main" id="{3DF2C706-61E0-6CDF-D7D7-7BD86FFC81A6}"/>
              </a:ext>
            </a:extLst>
          </p:cNvPr>
          <p:cNvSpPr>
            <a:spLocks noGrp="1"/>
          </p:cNvSpPr>
          <p:nvPr/>
        </p:nvSpPr>
        <p:spPr>
          <a:xfrm>
            <a:off x="4963973" y="420252"/>
            <a:ext cx="1158792" cy="1302153"/>
          </a:xfrm>
          <a:prstGeom prst="roundRect">
            <a:avLst>
              <a:gd name="adj" fmla="val 4554"/>
            </a:avLst>
          </a:prstGeom>
          <a:solidFill>
            <a:srgbClr val="FFFFFF"/>
          </a:solidFill>
          <a:ln w="7290">
            <a:solidFill>
              <a:srgbClr val="DFD6C3"/>
            </a:solidFill>
            <a:prstDash val="solid"/>
          </a:ln>
        </p:spPr>
        <p:txBody>
          <a:bodyPr/>
          <a:lstStyle/>
          <a:p>
            <a:endParaRPr lang="zh-CN" altLang="en-US" dirty="0"/>
          </a:p>
        </p:txBody>
      </p:sp>
      <p:sp>
        <p:nvSpPr>
          <p:cNvPr id="19" name="Site label">
            <a:extLst>
              <a:ext uri="{FF2B5EF4-FFF2-40B4-BE49-F238E27FC236}">
                <a16:creationId xmlns:a16="http://schemas.microsoft.com/office/drawing/2014/main" id="{919E6F50-1BDC-0713-4FA7-231FFA6178F5}"/>
              </a:ext>
            </a:extLst>
          </p:cNvPr>
          <p:cNvSpPr>
            <a:spLocks noGrp="1"/>
          </p:cNvSpPr>
          <p:nvPr/>
        </p:nvSpPr>
        <p:spPr>
          <a:xfrm>
            <a:off x="4992638" y="834972"/>
            <a:ext cx="514364" cy="101253"/>
          </a:xfrm>
          <a:prstGeom prst="rect">
            <a:avLst/>
          </a:prstGeom>
          <a:noFill/>
          <a:ln w="6885">
            <a:noFill/>
            <a:prstDash val="solid"/>
          </a:ln>
        </p:spPr>
        <p:txBody>
          <a:bodyPr lIns="0" tIns="0" rIns="0" bIns="0" anchor="ctr"/>
          <a:lstStyle>
            <a:defPPr algn="ctr">
              <a:defRPr sz="695" b="1">
                <a:solidFill>
                  <a:srgbClr val="263442"/>
                </a:solidFill>
                <a:latin typeface="Arial"/>
                <a:ea typeface="Arial"/>
                <a:cs typeface="Arial"/>
              </a:defRPr>
            </a:defPPr>
            <a:lvl1pPr algn="ctr">
              <a:defRPr sz="695" b="1">
                <a:solidFill>
                  <a:srgbClr val="263442"/>
                </a:solidFill>
                <a:latin typeface="Arial"/>
                <a:ea typeface="Arial"/>
                <a:cs typeface="Arial"/>
              </a:defRPr>
            </a:lvl1pPr>
            <a:lvl2pPr algn="ctr">
              <a:defRPr sz="695" b="1">
                <a:solidFill>
                  <a:srgbClr val="263442"/>
                </a:solidFill>
                <a:latin typeface="Arial"/>
                <a:ea typeface="Arial"/>
                <a:cs typeface="Arial"/>
              </a:defRPr>
            </a:lvl2pPr>
            <a:lvl3pPr algn="ctr">
              <a:defRPr sz="695" b="1">
                <a:solidFill>
                  <a:srgbClr val="263442"/>
                </a:solidFill>
                <a:latin typeface="Arial"/>
                <a:ea typeface="Arial"/>
                <a:cs typeface="Arial"/>
              </a:defRPr>
            </a:lvl3pPr>
            <a:lvl4pPr algn="ctr">
              <a:defRPr sz="695" b="1">
                <a:solidFill>
                  <a:srgbClr val="263442"/>
                </a:solidFill>
                <a:latin typeface="Arial"/>
                <a:ea typeface="Arial"/>
                <a:cs typeface="Arial"/>
              </a:defRPr>
            </a:lvl4pPr>
            <a:lvl5pPr algn="ctr">
              <a:defRPr sz="695" b="1">
                <a:solidFill>
                  <a:srgbClr val="263442"/>
                </a:solidFill>
                <a:latin typeface="Arial"/>
                <a:ea typeface="Arial"/>
                <a:cs typeface="Arial"/>
              </a:defRPr>
            </a:lvl5pPr>
            <a:lvl6pPr algn="ctr">
              <a:defRPr sz="695" b="1">
                <a:solidFill>
                  <a:srgbClr val="263442"/>
                </a:solidFill>
                <a:latin typeface="Arial"/>
                <a:ea typeface="Arial"/>
                <a:cs typeface="Arial"/>
              </a:defRPr>
            </a:lvl6pPr>
            <a:lvl7pPr algn="ctr">
              <a:defRPr sz="695" b="1">
                <a:solidFill>
                  <a:srgbClr val="263442"/>
                </a:solidFill>
                <a:latin typeface="Arial"/>
                <a:ea typeface="Arial"/>
                <a:cs typeface="Arial"/>
              </a:defRPr>
            </a:lvl7pPr>
            <a:lvl8pPr algn="ctr">
              <a:defRPr sz="695" b="1">
                <a:solidFill>
                  <a:srgbClr val="263442"/>
                </a:solidFill>
                <a:latin typeface="Arial"/>
                <a:ea typeface="Arial"/>
                <a:cs typeface="Arial"/>
              </a:defRPr>
            </a:lvl8pPr>
            <a:lvl9pPr algn="ctr">
              <a:defRPr sz="695" b="1">
                <a:solidFill>
                  <a:srgbClr val="263442"/>
                </a:solidFill>
                <a:latin typeface="Arial"/>
                <a:ea typeface="Arial"/>
                <a:cs typeface="Arial"/>
              </a:defRPr>
            </a:lvl9pPr>
          </a:lstStyle>
          <a:p>
            <a:pPr algn="ctr">
              <a:defRPr sz="695" b="1">
                <a:solidFill>
                  <a:srgbClr val="263442"/>
                </a:solidFill>
                <a:latin typeface="Arial"/>
                <a:ea typeface="Arial"/>
                <a:cs typeface="Arial"/>
              </a:defRPr>
            </a:pPr>
            <a:r>
              <a:rPr sz="695" b="0" dirty="0">
                <a:solidFill>
                  <a:srgbClr val="263442"/>
                </a:solidFill>
                <a:latin typeface="Arial"/>
                <a:ea typeface="Arial"/>
                <a:cs typeface="Arial"/>
              </a:rPr>
              <a:t>Site</a:t>
            </a:r>
          </a:p>
        </p:txBody>
      </p:sp>
      <p:sp>
        <p:nvSpPr>
          <p:cNvPr id="20" name="Site provenance">
            <a:extLst>
              <a:ext uri="{FF2B5EF4-FFF2-40B4-BE49-F238E27FC236}">
                <a16:creationId xmlns:a16="http://schemas.microsoft.com/office/drawing/2014/main" id="{B47F6045-FF2A-638E-817A-ACBDCA94D0EE}"/>
              </a:ext>
            </a:extLst>
          </p:cNvPr>
          <p:cNvSpPr>
            <a:spLocks noGrp="1"/>
          </p:cNvSpPr>
          <p:nvPr/>
        </p:nvSpPr>
        <p:spPr>
          <a:xfrm>
            <a:off x="4999032" y="921461"/>
            <a:ext cx="514364" cy="85052"/>
          </a:xfrm>
          <a:prstGeom prst="rect">
            <a:avLst/>
          </a:prstGeom>
          <a:noFill/>
          <a:ln w="6885">
            <a:noFill/>
            <a:prstDash val="solid"/>
          </a:ln>
        </p:spPr>
        <p:txBody>
          <a:bodyPr lIns="0" tIns="0" rIns="0" bIns="0" anchor="ctr"/>
          <a:lstStyle>
            <a:defPPr algn="ctr">
              <a:defRPr sz="590" b="0">
                <a:solidFill>
                  <a:srgbClr val="263442"/>
                </a:solidFill>
                <a:latin typeface="Arial"/>
                <a:ea typeface="Arial"/>
                <a:cs typeface="Arial"/>
              </a:defRPr>
            </a:defPPr>
            <a:lvl1pPr algn="ctr">
              <a:defRPr sz="590" b="0">
                <a:solidFill>
                  <a:srgbClr val="263442"/>
                </a:solidFill>
                <a:latin typeface="Arial"/>
                <a:ea typeface="Arial"/>
                <a:cs typeface="Arial"/>
              </a:defRPr>
            </a:lvl1pPr>
            <a:lvl2pPr algn="ctr">
              <a:defRPr sz="590" b="0">
                <a:solidFill>
                  <a:srgbClr val="263442"/>
                </a:solidFill>
                <a:latin typeface="Arial"/>
                <a:ea typeface="Arial"/>
                <a:cs typeface="Arial"/>
              </a:defRPr>
            </a:lvl2pPr>
            <a:lvl3pPr algn="ctr">
              <a:defRPr sz="590" b="0">
                <a:solidFill>
                  <a:srgbClr val="263442"/>
                </a:solidFill>
                <a:latin typeface="Arial"/>
                <a:ea typeface="Arial"/>
                <a:cs typeface="Arial"/>
              </a:defRPr>
            </a:lvl3pPr>
            <a:lvl4pPr algn="ctr">
              <a:defRPr sz="590" b="0">
                <a:solidFill>
                  <a:srgbClr val="263442"/>
                </a:solidFill>
                <a:latin typeface="Arial"/>
                <a:ea typeface="Arial"/>
                <a:cs typeface="Arial"/>
              </a:defRPr>
            </a:lvl4pPr>
            <a:lvl5pPr algn="ctr">
              <a:defRPr sz="590" b="0">
                <a:solidFill>
                  <a:srgbClr val="263442"/>
                </a:solidFill>
                <a:latin typeface="Arial"/>
                <a:ea typeface="Arial"/>
                <a:cs typeface="Arial"/>
              </a:defRPr>
            </a:lvl5pPr>
            <a:lvl6pPr algn="ctr">
              <a:defRPr sz="590" b="0">
                <a:solidFill>
                  <a:srgbClr val="263442"/>
                </a:solidFill>
                <a:latin typeface="Arial"/>
                <a:ea typeface="Arial"/>
                <a:cs typeface="Arial"/>
              </a:defRPr>
            </a:lvl6pPr>
            <a:lvl7pPr algn="ctr">
              <a:defRPr sz="590" b="0">
                <a:solidFill>
                  <a:srgbClr val="263442"/>
                </a:solidFill>
                <a:latin typeface="Arial"/>
                <a:ea typeface="Arial"/>
                <a:cs typeface="Arial"/>
              </a:defRPr>
            </a:lvl7pPr>
            <a:lvl8pPr algn="ctr">
              <a:defRPr sz="590" b="0">
                <a:solidFill>
                  <a:srgbClr val="263442"/>
                </a:solidFill>
                <a:latin typeface="Arial"/>
                <a:ea typeface="Arial"/>
                <a:cs typeface="Arial"/>
              </a:defRPr>
            </a:lvl8pPr>
            <a:lvl9pPr algn="ctr">
              <a:defRPr sz="590" b="0">
                <a:solidFill>
                  <a:srgbClr val="263442"/>
                </a:solidFill>
                <a:latin typeface="Arial"/>
                <a:ea typeface="Arial"/>
                <a:cs typeface="Arial"/>
              </a:defRPr>
            </a:lvl9pPr>
          </a:lstStyle>
          <a:p>
            <a:pPr algn="ctr">
              <a:defRPr sz="590" b="0">
                <a:solidFill>
                  <a:srgbClr val="263442"/>
                </a:solidFill>
                <a:latin typeface="Arial"/>
                <a:ea typeface="Arial"/>
                <a:cs typeface="Arial"/>
              </a:defRPr>
            </a:pPr>
            <a:r>
              <a:rPr sz="550" dirty="0">
                <a:solidFill>
                  <a:srgbClr val="263442"/>
                </a:solidFill>
                <a:latin typeface="Arial"/>
                <a:ea typeface="Arial"/>
                <a:cs typeface="Arial"/>
              </a:rPr>
              <a:t>from Find</a:t>
            </a:r>
          </a:p>
        </p:txBody>
      </p:sp>
      <p:sp>
        <p:nvSpPr>
          <p:cNvPr id="22" name="Pocket label">
            <a:extLst>
              <a:ext uri="{FF2B5EF4-FFF2-40B4-BE49-F238E27FC236}">
                <a16:creationId xmlns:a16="http://schemas.microsoft.com/office/drawing/2014/main" id="{26B9DBC2-F51E-6BB1-DB59-4E468A5F5CBE}"/>
              </a:ext>
            </a:extLst>
          </p:cNvPr>
          <p:cNvSpPr>
            <a:spLocks noGrp="1"/>
          </p:cNvSpPr>
          <p:nvPr/>
        </p:nvSpPr>
        <p:spPr>
          <a:xfrm>
            <a:off x="5581260" y="854408"/>
            <a:ext cx="514364" cy="101253"/>
          </a:xfrm>
          <a:prstGeom prst="rect">
            <a:avLst/>
          </a:prstGeom>
          <a:noFill/>
          <a:ln w="6885">
            <a:noFill/>
            <a:prstDash val="solid"/>
          </a:ln>
        </p:spPr>
        <p:txBody>
          <a:bodyPr lIns="0" tIns="0" rIns="0" bIns="0" anchor="ctr"/>
          <a:lstStyle>
            <a:defPPr algn="ctr">
              <a:defRPr sz="695" b="1">
                <a:solidFill>
                  <a:srgbClr val="263442"/>
                </a:solidFill>
                <a:latin typeface="Arial"/>
                <a:ea typeface="Arial"/>
                <a:cs typeface="Arial"/>
              </a:defRPr>
            </a:defPPr>
            <a:lvl1pPr algn="ctr">
              <a:defRPr sz="695" b="1">
                <a:solidFill>
                  <a:srgbClr val="263442"/>
                </a:solidFill>
                <a:latin typeface="Arial"/>
                <a:ea typeface="Arial"/>
                <a:cs typeface="Arial"/>
              </a:defRPr>
            </a:lvl1pPr>
            <a:lvl2pPr algn="ctr">
              <a:defRPr sz="695" b="1">
                <a:solidFill>
                  <a:srgbClr val="263442"/>
                </a:solidFill>
                <a:latin typeface="Arial"/>
                <a:ea typeface="Arial"/>
                <a:cs typeface="Arial"/>
              </a:defRPr>
            </a:lvl2pPr>
            <a:lvl3pPr algn="ctr">
              <a:defRPr sz="695" b="1">
                <a:solidFill>
                  <a:srgbClr val="263442"/>
                </a:solidFill>
                <a:latin typeface="Arial"/>
                <a:ea typeface="Arial"/>
                <a:cs typeface="Arial"/>
              </a:defRPr>
            </a:lvl3pPr>
            <a:lvl4pPr algn="ctr">
              <a:defRPr sz="695" b="1">
                <a:solidFill>
                  <a:srgbClr val="263442"/>
                </a:solidFill>
                <a:latin typeface="Arial"/>
                <a:ea typeface="Arial"/>
                <a:cs typeface="Arial"/>
              </a:defRPr>
            </a:lvl4pPr>
            <a:lvl5pPr algn="ctr">
              <a:defRPr sz="695" b="1">
                <a:solidFill>
                  <a:srgbClr val="263442"/>
                </a:solidFill>
                <a:latin typeface="Arial"/>
                <a:ea typeface="Arial"/>
                <a:cs typeface="Arial"/>
              </a:defRPr>
            </a:lvl5pPr>
            <a:lvl6pPr algn="ctr">
              <a:defRPr sz="695" b="1">
                <a:solidFill>
                  <a:srgbClr val="263442"/>
                </a:solidFill>
                <a:latin typeface="Arial"/>
                <a:ea typeface="Arial"/>
                <a:cs typeface="Arial"/>
              </a:defRPr>
            </a:lvl6pPr>
            <a:lvl7pPr algn="ctr">
              <a:defRPr sz="695" b="1">
                <a:solidFill>
                  <a:srgbClr val="263442"/>
                </a:solidFill>
                <a:latin typeface="Arial"/>
                <a:ea typeface="Arial"/>
                <a:cs typeface="Arial"/>
              </a:defRPr>
            </a:lvl7pPr>
            <a:lvl8pPr algn="ctr">
              <a:defRPr sz="695" b="1">
                <a:solidFill>
                  <a:srgbClr val="263442"/>
                </a:solidFill>
                <a:latin typeface="Arial"/>
                <a:ea typeface="Arial"/>
                <a:cs typeface="Arial"/>
              </a:defRPr>
            </a:lvl8pPr>
            <a:lvl9pPr algn="ctr">
              <a:defRPr sz="695" b="1">
                <a:solidFill>
                  <a:srgbClr val="263442"/>
                </a:solidFill>
                <a:latin typeface="Arial"/>
                <a:ea typeface="Arial"/>
                <a:cs typeface="Arial"/>
              </a:defRPr>
            </a:lvl9pPr>
          </a:lstStyle>
          <a:p>
            <a:pPr algn="ctr">
              <a:defRPr sz="695" b="1">
                <a:solidFill>
                  <a:srgbClr val="263442"/>
                </a:solidFill>
                <a:latin typeface="Arial"/>
                <a:ea typeface="Arial"/>
                <a:cs typeface="Arial"/>
              </a:defRPr>
            </a:pPr>
            <a:r>
              <a:rPr sz="695" b="0" dirty="0">
                <a:solidFill>
                  <a:srgbClr val="263442"/>
                </a:solidFill>
                <a:latin typeface="Arial"/>
                <a:ea typeface="Arial"/>
                <a:cs typeface="Arial"/>
              </a:rPr>
              <a:t>Pocket</a:t>
            </a:r>
          </a:p>
        </p:txBody>
      </p:sp>
      <p:sp>
        <p:nvSpPr>
          <p:cNvPr id="24" name="SMILES label">
            <a:extLst>
              <a:ext uri="{FF2B5EF4-FFF2-40B4-BE49-F238E27FC236}">
                <a16:creationId xmlns:a16="http://schemas.microsoft.com/office/drawing/2014/main" id="{CB178573-5A2F-A019-1A75-D045FA4DEE35}"/>
              </a:ext>
            </a:extLst>
          </p:cNvPr>
          <p:cNvSpPr>
            <a:spLocks noGrp="1"/>
          </p:cNvSpPr>
          <p:nvPr/>
        </p:nvSpPr>
        <p:spPr>
          <a:xfrm>
            <a:off x="4999664" y="1480722"/>
            <a:ext cx="514364" cy="101253"/>
          </a:xfrm>
          <a:prstGeom prst="rect">
            <a:avLst/>
          </a:prstGeom>
          <a:noFill/>
          <a:ln w="6885">
            <a:noFill/>
            <a:prstDash val="solid"/>
          </a:ln>
        </p:spPr>
        <p:txBody>
          <a:bodyPr lIns="0" tIns="0" rIns="0" bIns="0" anchor="ctr"/>
          <a:lstStyle>
            <a:defPPr algn="ctr">
              <a:defRPr sz="695" b="1">
                <a:solidFill>
                  <a:srgbClr val="263442"/>
                </a:solidFill>
                <a:latin typeface="Arial"/>
                <a:ea typeface="Arial"/>
                <a:cs typeface="Arial"/>
              </a:defRPr>
            </a:defPPr>
            <a:lvl1pPr algn="ctr">
              <a:defRPr sz="695" b="1">
                <a:solidFill>
                  <a:srgbClr val="263442"/>
                </a:solidFill>
                <a:latin typeface="Arial"/>
                <a:ea typeface="Arial"/>
                <a:cs typeface="Arial"/>
              </a:defRPr>
            </a:lvl1pPr>
            <a:lvl2pPr algn="ctr">
              <a:defRPr sz="695" b="1">
                <a:solidFill>
                  <a:srgbClr val="263442"/>
                </a:solidFill>
                <a:latin typeface="Arial"/>
                <a:ea typeface="Arial"/>
                <a:cs typeface="Arial"/>
              </a:defRPr>
            </a:lvl2pPr>
            <a:lvl3pPr algn="ctr">
              <a:defRPr sz="695" b="1">
                <a:solidFill>
                  <a:srgbClr val="263442"/>
                </a:solidFill>
                <a:latin typeface="Arial"/>
                <a:ea typeface="Arial"/>
                <a:cs typeface="Arial"/>
              </a:defRPr>
            </a:lvl3pPr>
            <a:lvl4pPr algn="ctr">
              <a:defRPr sz="695" b="1">
                <a:solidFill>
                  <a:srgbClr val="263442"/>
                </a:solidFill>
                <a:latin typeface="Arial"/>
                <a:ea typeface="Arial"/>
                <a:cs typeface="Arial"/>
              </a:defRPr>
            </a:lvl4pPr>
            <a:lvl5pPr algn="ctr">
              <a:defRPr sz="695" b="1">
                <a:solidFill>
                  <a:srgbClr val="263442"/>
                </a:solidFill>
                <a:latin typeface="Arial"/>
                <a:ea typeface="Arial"/>
                <a:cs typeface="Arial"/>
              </a:defRPr>
            </a:lvl5pPr>
            <a:lvl6pPr algn="ctr">
              <a:defRPr sz="695" b="1">
                <a:solidFill>
                  <a:srgbClr val="263442"/>
                </a:solidFill>
                <a:latin typeface="Arial"/>
                <a:ea typeface="Arial"/>
                <a:cs typeface="Arial"/>
              </a:defRPr>
            </a:lvl6pPr>
            <a:lvl7pPr algn="ctr">
              <a:defRPr sz="695" b="1">
                <a:solidFill>
                  <a:srgbClr val="263442"/>
                </a:solidFill>
                <a:latin typeface="Arial"/>
                <a:ea typeface="Arial"/>
                <a:cs typeface="Arial"/>
              </a:defRPr>
            </a:lvl7pPr>
            <a:lvl8pPr algn="ctr">
              <a:defRPr sz="695" b="1">
                <a:solidFill>
                  <a:srgbClr val="263442"/>
                </a:solidFill>
                <a:latin typeface="Arial"/>
                <a:ea typeface="Arial"/>
                <a:cs typeface="Arial"/>
              </a:defRPr>
            </a:lvl8pPr>
            <a:lvl9pPr algn="ctr">
              <a:defRPr sz="695" b="1">
                <a:solidFill>
                  <a:srgbClr val="263442"/>
                </a:solidFill>
                <a:latin typeface="Arial"/>
                <a:ea typeface="Arial"/>
                <a:cs typeface="Arial"/>
              </a:defRPr>
            </a:lvl9pPr>
          </a:lstStyle>
          <a:p>
            <a:pPr algn="ctr">
              <a:defRPr sz="695" b="1">
                <a:solidFill>
                  <a:srgbClr val="263442"/>
                </a:solidFill>
                <a:latin typeface="Arial"/>
                <a:ea typeface="Arial"/>
                <a:cs typeface="Arial"/>
              </a:defRPr>
            </a:pPr>
            <a:r>
              <a:rPr sz="695" b="0" dirty="0">
                <a:solidFill>
                  <a:srgbClr val="263442"/>
                </a:solidFill>
                <a:latin typeface="Arial"/>
                <a:ea typeface="Arial"/>
                <a:cs typeface="Arial"/>
              </a:rPr>
              <a:t>SMILES</a:t>
            </a:r>
          </a:p>
        </p:txBody>
      </p:sp>
      <p:sp>
        <p:nvSpPr>
          <p:cNvPr id="26" name="SMILES provenance">
            <a:extLst>
              <a:ext uri="{FF2B5EF4-FFF2-40B4-BE49-F238E27FC236}">
                <a16:creationId xmlns:a16="http://schemas.microsoft.com/office/drawing/2014/main" id="{2C9D39B6-7012-8592-45D5-164DD4FD8FB7}"/>
              </a:ext>
            </a:extLst>
          </p:cNvPr>
          <p:cNvSpPr>
            <a:spLocks noGrp="1"/>
          </p:cNvSpPr>
          <p:nvPr/>
        </p:nvSpPr>
        <p:spPr>
          <a:xfrm>
            <a:off x="5005380" y="1568821"/>
            <a:ext cx="514364" cy="85052"/>
          </a:xfrm>
          <a:prstGeom prst="rect">
            <a:avLst/>
          </a:prstGeom>
          <a:noFill/>
          <a:ln w="6885">
            <a:noFill/>
            <a:prstDash val="solid"/>
          </a:ln>
        </p:spPr>
        <p:txBody>
          <a:bodyPr lIns="0" tIns="0" rIns="0" bIns="0" anchor="ctr"/>
          <a:lstStyle>
            <a:defPPr algn="ctr">
              <a:defRPr sz="590" b="0">
                <a:solidFill>
                  <a:srgbClr val="263442"/>
                </a:solidFill>
                <a:latin typeface="Arial"/>
                <a:ea typeface="Arial"/>
                <a:cs typeface="Arial"/>
              </a:defRPr>
            </a:defPPr>
            <a:lvl1pPr algn="ctr">
              <a:defRPr sz="590" b="0">
                <a:solidFill>
                  <a:srgbClr val="263442"/>
                </a:solidFill>
                <a:latin typeface="Arial"/>
                <a:ea typeface="Arial"/>
                <a:cs typeface="Arial"/>
              </a:defRPr>
            </a:lvl1pPr>
            <a:lvl2pPr algn="ctr">
              <a:defRPr sz="590" b="0">
                <a:solidFill>
                  <a:srgbClr val="263442"/>
                </a:solidFill>
                <a:latin typeface="Arial"/>
                <a:ea typeface="Arial"/>
                <a:cs typeface="Arial"/>
              </a:defRPr>
            </a:lvl2pPr>
            <a:lvl3pPr algn="ctr">
              <a:defRPr sz="590" b="0">
                <a:solidFill>
                  <a:srgbClr val="263442"/>
                </a:solidFill>
                <a:latin typeface="Arial"/>
                <a:ea typeface="Arial"/>
                <a:cs typeface="Arial"/>
              </a:defRPr>
            </a:lvl3pPr>
            <a:lvl4pPr algn="ctr">
              <a:defRPr sz="590" b="0">
                <a:solidFill>
                  <a:srgbClr val="263442"/>
                </a:solidFill>
                <a:latin typeface="Arial"/>
                <a:ea typeface="Arial"/>
                <a:cs typeface="Arial"/>
              </a:defRPr>
            </a:lvl4pPr>
            <a:lvl5pPr algn="ctr">
              <a:defRPr sz="590" b="0">
                <a:solidFill>
                  <a:srgbClr val="263442"/>
                </a:solidFill>
                <a:latin typeface="Arial"/>
                <a:ea typeface="Arial"/>
                <a:cs typeface="Arial"/>
              </a:defRPr>
            </a:lvl5pPr>
            <a:lvl6pPr algn="ctr">
              <a:defRPr sz="590" b="0">
                <a:solidFill>
                  <a:srgbClr val="263442"/>
                </a:solidFill>
                <a:latin typeface="Arial"/>
                <a:ea typeface="Arial"/>
                <a:cs typeface="Arial"/>
              </a:defRPr>
            </a:lvl6pPr>
            <a:lvl7pPr algn="ctr">
              <a:defRPr sz="590" b="0">
                <a:solidFill>
                  <a:srgbClr val="263442"/>
                </a:solidFill>
                <a:latin typeface="Arial"/>
                <a:ea typeface="Arial"/>
                <a:cs typeface="Arial"/>
              </a:defRPr>
            </a:lvl7pPr>
            <a:lvl8pPr algn="ctr">
              <a:defRPr sz="590" b="0">
                <a:solidFill>
                  <a:srgbClr val="263442"/>
                </a:solidFill>
                <a:latin typeface="Arial"/>
                <a:ea typeface="Arial"/>
                <a:cs typeface="Arial"/>
              </a:defRPr>
            </a:lvl8pPr>
            <a:lvl9pPr algn="ctr">
              <a:defRPr sz="590" b="0">
                <a:solidFill>
                  <a:srgbClr val="263442"/>
                </a:solidFill>
                <a:latin typeface="Arial"/>
                <a:ea typeface="Arial"/>
                <a:cs typeface="Arial"/>
              </a:defRPr>
            </a:lvl9pPr>
          </a:lstStyle>
          <a:p>
            <a:pPr algn="ctr">
              <a:defRPr sz="590" b="0">
                <a:solidFill>
                  <a:srgbClr val="263442"/>
                </a:solidFill>
                <a:latin typeface="Arial"/>
                <a:ea typeface="Arial"/>
                <a:cs typeface="Arial"/>
              </a:defRPr>
            </a:pPr>
            <a:r>
              <a:rPr sz="550" dirty="0">
                <a:solidFill>
                  <a:srgbClr val="263442"/>
                </a:solidFill>
                <a:latin typeface="Arial"/>
                <a:ea typeface="Arial"/>
                <a:cs typeface="Arial"/>
              </a:rPr>
              <a:t>from Match</a:t>
            </a:r>
          </a:p>
        </p:txBody>
      </p:sp>
      <p:sp>
        <p:nvSpPr>
          <p:cNvPr id="27" name="Density input label">
            <a:extLst>
              <a:ext uri="{FF2B5EF4-FFF2-40B4-BE49-F238E27FC236}">
                <a16:creationId xmlns:a16="http://schemas.microsoft.com/office/drawing/2014/main" id="{21E5721C-95B8-3CEF-719C-5F653D5FA98A}"/>
              </a:ext>
            </a:extLst>
          </p:cNvPr>
          <p:cNvSpPr>
            <a:spLocks noGrp="1"/>
          </p:cNvSpPr>
          <p:nvPr/>
        </p:nvSpPr>
        <p:spPr>
          <a:xfrm>
            <a:off x="5574918" y="1480706"/>
            <a:ext cx="514364" cy="101253"/>
          </a:xfrm>
          <a:prstGeom prst="rect">
            <a:avLst/>
          </a:prstGeom>
          <a:noFill/>
          <a:ln w="6885">
            <a:noFill/>
            <a:prstDash val="solid"/>
          </a:ln>
        </p:spPr>
        <p:txBody>
          <a:bodyPr lIns="0" tIns="0" rIns="0" bIns="0" anchor="ctr"/>
          <a:lstStyle>
            <a:defPPr algn="ctr">
              <a:defRPr sz="695" b="1">
                <a:solidFill>
                  <a:srgbClr val="263442"/>
                </a:solidFill>
                <a:latin typeface="Arial"/>
                <a:ea typeface="Arial"/>
                <a:cs typeface="Arial"/>
              </a:defRPr>
            </a:defPPr>
            <a:lvl1pPr algn="ctr">
              <a:defRPr sz="695" b="1">
                <a:solidFill>
                  <a:srgbClr val="263442"/>
                </a:solidFill>
                <a:latin typeface="Arial"/>
                <a:ea typeface="Arial"/>
                <a:cs typeface="Arial"/>
              </a:defRPr>
            </a:lvl1pPr>
            <a:lvl2pPr algn="ctr">
              <a:defRPr sz="695" b="1">
                <a:solidFill>
                  <a:srgbClr val="263442"/>
                </a:solidFill>
                <a:latin typeface="Arial"/>
                <a:ea typeface="Arial"/>
                <a:cs typeface="Arial"/>
              </a:defRPr>
            </a:lvl2pPr>
            <a:lvl3pPr algn="ctr">
              <a:defRPr sz="695" b="1">
                <a:solidFill>
                  <a:srgbClr val="263442"/>
                </a:solidFill>
                <a:latin typeface="Arial"/>
                <a:ea typeface="Arial"/>
                <a:cs typeface="Arial"/>
              </a:defRPr>
            </a:lvl3pPr>
            <a:lvl4pPr algn="ctr">
              <a:defRPr sz="695" b="1">
                <a:solidFill>
                  <a:srgbClr val="263442"/>
                </a:solidFill>
                <a:latin typeface="Arial"/>
                <a:ea typeface="Arial"/>
                <a:cs typeface="Arial"/>
              </a:defRPr>
            </a:lvl4pPr>
            <a:lvl5pPr algn="ctr">
              <a:defRPr sz="695" b="1">
                <a:solidFill>
                  <a:srgbClr val="263442"/>
                </a:solidFill>
                <a:latin typeface="Arial"/>
                <a:ea typeface="Arial"/>
                <a:cs typeface="Arial"/>
              </a:defRPr>
            </a:lvl5pPr>
            <a:lvl6pPr algn="ctr">
              <a:defRPr sz="695" b="1">
                <a:solidFill>
                  <a:srgbClr val="263442"/>
                </a:solidFill>
                <a:latin typeface="Arial"/>
                <a:ea typeface="Arial"/>
                <a:cs typeface="Arial"/>
              </a:defRPr>
            </a:lvl6pPr>
            <a:lvl7pPr algn="ctr">
              <a:defRPr sz="695" b="1">
                <a:solidFill>
                  <a:srgbClr val="263442"/>
                </a:solidFill>
                <a:latin typeface="Arial"/>
                <a:ea typeface="Arial"/>
                <a:cs typeface="Arial"/>
              </a:defRPr>
            </a:lvl7pPr>
            <a:lvl8pPr algn="ctr">
              <a:defRPr sz="695" b="1">
                <a:solidFill>
                  <a:srgbClr val="263442"/>
                </a:solidFill>
                <a:latin typeface="Arial"/>
                <a:ea typeface="Arial"/>
                <a:cs typeface="Arial"/>
              </a:defRPr>
            </a:lvl8pPr>
            <a:lvl9pPr algn="ctr">
              <a:defRPr sz="695" b="1">
                <a:solidFill>
                  <a:srgbClr val="263442"/>
                </a:solidFill>
                <a:latin typeface="Arial"/>
                <a:ea typeface="Arial"/>
                <a:cs typeface="Arial"/>
              </a:defRPr>
            </a:lvl9pPr>
          </a:lstStyle>
          <a:p>
            <a:pPr algn="ctr">
              <a:defRPr sz="695" b="1">
                <a:solidFill>
                  <a:srgbClr val="263442"/>
                </a:solidFill>
                <a:latin typeface="Arial"/>
                <a:ea typeface="Arial"/>
                <a:cs typeface="Arial"/>
              </a:defRPr>
            </a:pPr>
            <a:r>
              <a:rPr sz="695" b="0" dirty="0">
                <a:solidFill>
                  <a:srgbClr val="263442"/>
                </a:solidFill>
                <a:latin typeface="Arial"/>
                <a:ea typeface="Arial"/>
                <a:cs typeface="Arial"/>
              </a:rPr>
              <a:t>Density</a:t>
            </a:r>
          </a:p>
        </p:txBody>
      </p:sp>
      <p:pic>
        <p:nvPicPr>
          <p:cNvPr id="35" name="Build corresponding experimental density" descr="Experimental 9LLG density around chain C1 of the displayed CryoAtom2 receptor, at the original contour level and the identical camera orientation.">
            <a:extLst>
              <a:ext uri="{FF2B5EF4-FFF2-40B4-BE49-F238E27FC236}">
                <a16:creationId xmlns:a16="http://schemas.microsoft.com/office/drawing/2014/main" id="{129FE416-A3BB-8B21-B27D-29CECBD7BD8A}"/>
              </a:ext>
            </a:extLst>
          </p:cNvPr>
          <p:cNvPicPr/>
          <p:nvPr/>
        </p:nvPicPr>
        <p:blipFill>
          <a:blip r:embed="rId4"/>
          <a:stretch>
            <a:fillRect/>
          </a:stretch>
        </p:blipFill>
        <p:spPr>
          <a:xfrm>
            <a:off x="5657542" y="1104265"/>
            <a:ext cx="361766" cy="345440"/>
          </a:xfrm>
          <a:prstGeom prst="rect">
            <a:avLst/>
          </a:prstGeom>
        </p:spPr>
      </p:pic>
      <p:sp>
        <p:nvSpPr>
          <p:cNvPr id="36" name="V8 Build site and identity frame">
            <a:extLst>
              <a:ext uri="{FF2B5EF4-FFF2-40B4-BE49-F238E27FC236}">
                <a16:creationId xmlns:a16="http://schemas.microsoft.com/office/drawing/2014/main" id="{31956BF2-50A9-EEF8-8630-DB718A1519B5}"/>
              </a:ext>
            </a:extLst>
          </p:cNvPr>
          <p:cNvSpPr/>
          <p:nvPr/>
        </p:nvSpPr>
        <p:spPr>
          <a:xfrm>
            <a:off x="4996634" y="457662"/>
            <a:ext cx="519754" cy="1228090"/>
          </a:xfrm>
          <a:prstGeom prst="roundRect">
            <a:avLst>
              <a:gd name="adj" fmla="val 5556"/>
            </a:avLst>
          </a:prstGeom>
          <a:noFill/>
          <a:ln w="6985" cap="rnd">
            <a:solidFill>
              <a:srgbClr val="D5CCB8"/>
            </a:solidFill>
            <a:prstDash val="dash"/>
            <a:round/>
          </a:ln>
        </p:spPr>
      </p:sp>
      <p:sp>
        <p:nvSpPr>
          <p:cNvPr id="37" name="V8 Build pocket and density frame">
            <a:extLst>
              <a:ext uri="{FF2B5EF4-FFF2-40B4-BE49-F238E27FC236}">
                <a16:creationId xmlns:a16="http://schemas.microsoft.com/office/drawing/2014/main" id="{25FA0E91-BCE8-16B6-DC46-2CF77A52356B}"/>
              </a:ext>
            </a:extLst>
          </p:cNvPr>
          <p:cNvSpPr/>
          <p:nvPr/>
        </p:nvSpPr>
        <p:spPr>
          <a:xfrm>
            <a:off x="5564187" y="456353"/>
            <a:ext cx="527685" cy="1228090"/>
          </a:xfrm>
          <a:prstGeom prst="roundRect">
            <a:avLst>
              <a:gd name="adj" fmla="val 6477"/>
            </a:avLst>
          </a:prstGeom>
          <a:noFill/>
          <a:ln w="6985" cap="rnd">
            <a:solidFill>
              <a:srgbClr val="D5CCB8"/>
            </a:solidFill>
            <a:prstDash val="dash"/>
            <a:round/>
          </a:ln>
        </p:spPr>
      </p:sp>
      <p:grpSp>
        <p:nvGrpSpPr>
          <p:cNvPr id="41" name="Match | Blob contour">
            <a:extLst>
              <a:ext uri="{FF2B5EF4-FFF2-40B4-BE49-F238E27FC236}">
                <a16:creationId xmlns:a16="http://schemas.microsoft.com/office/drawing/2014/main" id="{024BB330-0FBD-1D42-4014-6A9AA99B5D8E}"/>
              </a:ext>
            </a:extLst>
          </p:cNvPr>
          <p:cNvGrpSpPr/>
          <p:nvPr/>
        </p:nvGrpSpPr>
        <p:grpSpPr>
          <a:xfrm>
            <a:off x="5095498" y="565131"/>
            <a:ext cx="291608" cy="199265"/>
            <a:chOff x="1928706" y="3559489"/>
            <a:chExt cx="227897" cy="155682"/>
          </a:xfrm>
        </p:grpSpPr>
        <p:sp>
          <p:nvSpPr>
            <p:cNvPr id="42" name="Candidate blob | editable contour">
              <a:extLst>
                <a:ext uri="{FF2B5EF4-FFF2-40B4-BE49-F238E27FC236}">
                  <a16:creationId xmlns:a16="http://schemas.microsoft.com/office/drawing/2014/main" id="{B1DE5D2A-C75C-1A9B-C209-64E6413E9C37}"/>
                </a:ext>
              </a:extLst>
            </p:cNvPr>
            <p:cNvSpPr/>
            <p:nvPr/>
          </p:nvSpPr>
          <p:spPr>
            <a:xfrm>
              <a:off x="1928706" y="3559489"/>
              <a:ext cx="227897" cy="155682"/>
            </a:xfrm>
            <a:custGeom>
              <a:avLst/>
              <a:gdLst/>
              <a:ahLst/>
              <a:cxnLst/>
              <a:rect l="0" t="0" r="w" b="h"/>
              <a:pathLst>
                <a:path w="227897" h="155682" extrusionOk="0">
                  <a:moveTo>
                    <a:pt x="5338" y="97866"/>
                  </a:moveTo>
                  <a:cubicBezTo>
                    <a:pt x="0" y="80701"/>
                    <a:pt x="18889" y="54504"/>
                    <a:pt x="29976" y="43663"/>
                  </a:cubicBezTo>
                  <a:cubicBezTo>
                    <a:pt x="41062" y="32823"/>
                    <a:pt x="58719" y="39447"/>
                    <a:pt x="71859" y="32823"/>
                  </a:cubicBezTo>
                  <a:cubicBezTo>
                    <a:pt x="84999" y="26198"/>
                    <a:pt x="92391" y="7829"/>
                    <a:pt x="108816" y="3915"/>
                  </a:cubicBezTo>
                  <a:cubicBezTo>
                    <a:pt x="125241" y="0"/>
                    <a:pt x="153984" y="3613"/>
                    <a:pt x="170409" y="9335"/>
                  </a:cubicBezTo>
                  <a:cubicBezTo>
                    <a:pt x="186834" y="15056"/>
                    <a:pt x="198332" y="26198"/>
                    <a:pt x="207366" y="38243"/>
                  </a:cubicBezTo>
                  <a:cubicBezTo>
                    <a:pt x="216399" y="50288"/>
                    <a:pt x="227897" y="67151"/>
                    <a:pt x="224612" y="81605"/>
                  </a:cubicBezTo>
                  <a:cubicBezTo>
                    <a:pt x="221327" y="96059"/>
                    <a:pt x="203259" y="113223"/>
                    <a:pt x="187656" y="124967"/>
                  </a:cubicBezTo>
                  <a:cubicBezTo>
                    <a:pt x="172052" y="136711"/>
                    <a:pt x="151931" y="148455"/>
                    <a:pt x="130989" y="152068"/>
                  </a:cubicBezTo>
                  <a:cubicBezTo>
                    <a:pt x="110048" y="155682"/>
                    <a:pt x="82946" y="155682"/>
                    <a:pt x="62004" y="146648"/>
                  </a:cubicBezTo>
                  <a:cubicBezTo>
                    <a:pt x="41062" y="137614"/>
                    <a:pt x="10676" y="115030"/>
                    <a:pt x="5338" y="97866"/>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43" name="ellipse_2612">
              <a:extLst>
                <a:ext uri="{FF2B5EF4-FFF2-40B4-BE49-F238E27FC236}">
                  <a16:creationId xmlns:a16="http://schemas.microsoft.com/office/drawing/2014/main" id="{C19BABC4-17BF-5250-E11A-1839A356605E}"/>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sp>
        <p:nvSpPr>
          <p:cNvPr id="44" name="Oval 12178">
            <a:extLst>
              <a:ext uri="{FF2B5EF4-FFF2-40B4-BE49-F238E27FC236}">
                <a16:creationId xmlns:a16="http://schemas.microsoft.com/office/drawing/2014/main" id="{A1C8F060-E754-C159-ABE0-E3FE7C5070A3}"/>
              </a:ext>
            </a:extLst>
          </p:cNvPr>
          <p:cNvSpPr/>
          <p:nvPr/>
        </p:nvSpPr>
        <p:spPr>
          <a:xfrm>
            <a:off x="5224292" y="648563"/>
            <a:ext cx="34426" cy="34426"/>
          </a:xfrm>
          <a:prstGeom prst="ellipse">
            <a:avLst/>
          </a:prstGeom>
          <a:solidFill>
            <a:srgbClr val="1D4ED8"/>
          </a:solidFill>
          <a:ln w="635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pic>
        <p:nvPicPr>
          <p:cNvPr id="45" name="图片 44">
            <a:extLst>
              <a:ext uri="{FF2B5EF4-FFF2-40B4-BE49-F238E27FC236}">
                <a16:creationId xmlns:a16="http://schemas.microsoft.com/office/drawing/2014/main" id="{F86E107C-B7F9-5A47-CBE0-5C34C519879A}"/>
              </a:ext>
            </a:extLst>
          </p:cNvPr>
          <p:cNvPicPr>
            <a:picLocks noChangeAspect="1"/>
          </p:cNvPicPr>
          <p:nvPr/>
        </p:nvPicPr>
        <p:blipFill>
          <a:blip r:embed="rId9"/>
          <a:stretch/>
        </p:blipFill>
        <p:spPr>
          <a:xfrm>
            <a:off x="5631445" y="485775"/>
            <a:ext cx="414760" cy="342900"/>
          </a:xfrm>
          <a:prstGeom prst="rect">
            <a:avLst/>
          </a:prstGeom>
        </p:spPr>
      </p:pic>
      <p:sp>
        <p:nvSpPr>
          <p:cNvPr id="46" name="F2-Build-selected">
            <a:extLst>
              <a:ext uri="{FF2B5EF4-FFF2-40B4-BE49-F238E27FC236}">
                <a16:creationId xmlns:a16="http://schemas.microsoft.com/office/drawing/2014/main" id="{9C884FF0-2EC7-5E52-B559-0D7A8A07DDF0}"/>
              </a:ext>
            </a:extLst>
          </p:cNvPr>
          <p:cNvSpPr>
            <a:spLocks noGrp="1"/>
          </p:cNvSpPr>
          <p:nvPr/>
        </p:nvSpPr>
        <p:spPr>
          <a:xfrm>
            <a:off x="5054601" y="1283549"/>
            <a:ext cx="390525" cy="81915"/>
          </a:xfrm>
          <a:prstGeom prst="roundRect">
            <a:avLst>
              <a:gd name="adj" fmla="val 50000"/>
            </a:avLst>
          </a:prstGeom>
          <a:solidFill>
            <a:srgbClr val="DCF8EB"/>
          </a:solidFill>
          <a:ln w="7144">
            <a:solidFill>
              <a:srgbClr val="499D86"/>
            </a:solidFill>
          </a:ln>
        </p:spPr>
      </p:sp>
      <p:sp>
        <p:nvSpPr>
          <p:cNvPr id="47" name="F2-Build-SMILES-0">
            <a:extLst>
              <a:ext uri="{FF2B5EF4-FFF2-40B4-BE49-F238E27FC236}">
                <a16:creationId xmlns:a16="http://schemas.microsoft.com/office/drawing/2014/main" id="{07A02E37-7EFA-33E1-C5D3-201A1A93A8B5}"/>
              </a:ext>
            </a:extLst>
          </p:cNvPr>
          <p:cNvSpPr>
            <a:spLocks noGrp="1"/>
          </p:cNvSpPr>
          <p:nvPr/>
        </p:nvSpPr>
        <p:spPr>
          <a:xfrm>
            <a:off x="5101503" y="1136660"/>
            <a:ext cx="361950" cy="74295"/>
          </a:xfrm>
          <a:prstGeom prst="rect">
            <a:avLst/>
          </a:prstGeom>
          <a:noFill/>
          <a:ln w="0">
            <a:noFill/>
          </a:ln>
        </p:spPr>
        <p:txBody>
          <a:bodyPr wrap="none" lIns="0" tIns="0" rIns="0" bIns="0" anchor="ctr">
            <a:noAutofit/>
          </a:bodyPr>
          <a:lstStyle>
            <a:defPPr algn="l">
              <a:defRPr sz="540" b="0">
                <a:solidFill>
                  <a:srgbClr val="263442"/>
                </a:solidFill>
                <a:latin typeface="Arial"/>
                <a:ea typeface="Arial"/>
                <a:cs typeface="Arial"/>
              </a:defRPr>
            </a:defPPr>
            <a:lvl1pPr algn="l">
              <a:defRPr sz="540" b="0">
                <a:solidFill>
                  <a:srgbClr val="263442"/>
                </a:solidFill>
                <a:latin typeface="Arial"/>
                <a:ea typeface="Arial"/>
                <a:cs typeface="Arial"/>
              </a:defRPr>
            </a:lvl1pPr>
            <a:lvl2pPr algn="l">
              <a:defRPr sz="540" b="0">
                <a:solidFill>
                  <a:srgbClr val="263442"/>
                </a:solidFill>
                <a:latin typeface="Arial"/>
                <a:ea typeface="Arial"/>
                <a:cs typeface="Arial"/>
              </a:defRPr>
            </a:lvl2pPr>
            <a:lvl3pPr algn="l">
              <a:defRPr sz="540" b="0">
                <a:solidFill>
                  <a:srgbClr val="263442"/>
                </a:solidFill>
                <a:latin typeface="Arial"/>
                <a:ea typeface="Arial"/>
                <a:cs typeface="Arial"/>
              </a:defRPr>
            </a:lvl3pPr>
            <a:lvl4pPr algn="l">
              <a:defRPr sz="540" b="0">
                <a:solidFill>
                  <a:srgbClr val="263442"/>
                </a:solidFill>
                <a:latin typeface="Arial"/>
                <a:ea typeface="Arial"/>
                <a:cs typeface="Arial"/>
              </a:defRPr>
            </a:lvl4pPr>
            <a:lvl5pPr algn="l">
              <a:defRPr sz="540" b="0">
                <a:solidFill>
                  <a:srgbClr val="263442"/>
                </a:solidFill>
                <a:latin typeface="Arial"/>
                <a:ea typeface="Arial"/>
                <a:cs typeface="Arial"/>
              </a:defRPr>
            </a:lvl5pPr>
            <a:lvl6pPr algn="l">
              <a:defRPr sz="540" b="0">
                <a:solidFill>
                  <a:srgbClr val="263442"/>
                </a:solidFill>
                <a:latin typeface="Arial"/>
                <a:ea typeface="Arial"/>
                <a:cs typeface="Arial"/>
              </a:defRPr>
            </a:lvl6pPr>
            <a:lvl7pPr algn="l">
              <a:defRPr sz="540" b="0">
                <a:solidFill>
                  <a:srgbClr val="263442"/>
                </a:solidFill>
                <a:latin typeface="Arial"/>
                <a:ea typeface="Arial"/>
                <a:cs typeface="Arial"/>
              </a:defRPr>
            </a:lvl7pPr>
            <a:lvl8pPr algn="l">
              <a:defRPr sz="540" b="0">
                <a:solidFill>
                  <a:srgbClr val="263442"/>
                </a:solidFill>
                <a:latin typeface="Arial"/>
                <a:ea typeface="Arial"/>
                <a:cs typeface="Arial"/>
              </a:defRPr>
            </a:lvl8pPr>
            <a:lvl9pPr algn="l">
              <a:defRPr sz="540" b="0">
                <a:solidFill>
                  <a:srgbClr val="263442"/>
                </a:solidFill>
                <a:latin typeface="Arial"/>
                <a:ea typeface="Arial"/>
                <a:cs typeface="Arial"/>
              </a:defRPr>
            </a:lvl9pPr>
          </a:lstStyle>
          <a:p>
            <a:pPr algn="l">
              <a:defRPr sz="540" b="0">
                <a:solidFill>
                  <a:srgbClr val="263442"/>
                </a:solidFill>
                <a:latin typeface="Arial"/>
                <a:ea typeface="Arial"/>
                <a:cs typeface="Arial"/>
              </a:defRPr>
            </a:pPr>
            <a:r>
              <a:rPr sz="480" b="0" dirty="0">
                <a:solidFill>
                  <a:srgbClr val="263442"/>
                </a:solidFill>
                <a:latin typeface="Arial"/>
                <a:ea typeface="Arial"/>
                <a:cs typeface="Arial"/>
              </a:rPr>
              <a:t>CCO</a:t>
            </a:r>
          </a:p>
        </p:txBody>
      </p:sp>
      <p:sp>
        <p:nvSpPr>
          <p:cNvPr id="48" name="F2-Build-SMILES-7.8">
            <a:extLst>
              <a:ext uri="{FF2B5EF4-FFF2-40B4-BE49-F238E27FC236}">
                <a16:creationId xmlns:a16="http://schemas.microsoft.com/office/drawing/2014/main" id="{8971B162-E37D-62EC-0437-72F2A43FAA65}"/>
              </a:ext>
            </a:extLst>
          </p:cNvPr>
          <p:cNvSpPr>
            <a:spLocks noGrp="1"/>
          </p:cNvSpPr>
          <p:nvPr/>
        </p:nvSpPr>
        <p:spPr>
          <a:xfrm>
            <a:off x="5101503" y="1199841"/>
            <a:ext cx="361950" cy="74295"/>
          </a:xfrm>
          <a:prstGeom prst="rect">
            <a:avLst/>
          </a:prstGeom>
          <a:noFill/>
          <a:ln w="0">
            <a:noFill/>
          </a:ln>
        </p:spPr>
        <p:txBody>
          <a:bodyPr wrap="none" lIns="0" tIns="0" rIns="0" bIns="0" anchor="ctr">
            <a:noAutofit/>
          </a:bodyPr>
          <a:lstStyle>
            <a:defPPr algn="l">
              <a:defRPr sz="540" b="0">
                <a:solidFill>
                  <a:srgbClr val="263442"/>
                </a:solidFill>
                <a:latin typeface="Arial"/>
                <a:ea typeface="Arial"/>
                <a:cs typeface="Arial"/>
              </a:defRPr>
            </a:defPPr>
            <a:lvl1pPr algn="l">
              <a:defRPr sz="540" b="0">
                <a:solidFill>
                  <a:srgbClr val="263442"/>
                </a:solidFill>
                <a:latin typeface="Arial"/>
                <a:ea typeface="Arial"/>
                <a:cs typeface="Arial"/>
              </a:defRPr>
            </a:lvl1pPr>
            <a:lvl2pPr algn="l">
              <a:defRPr sz="540" b="0">
                <a:solidFill>
                  <a:srgbClr val="263442"/>
                </a:solidFill>
                <a:latin typeface="Arial"/>
                <a:ea typeface="Arial"/>
                <a:cs typeface="Arial"/>
              </a:defRPr>
            </a:lvl2pPr>
            <a:lvl3pPr algn="l">
              <a:defRPr sz="540" b="0">
                <a:solidFill>
                  <a:srgbClr val="263442"/>
                </a:solidFill>
                <a:latin typeface="Arial"/>
                <a:ea typeface="Arial"/>
                <a:cs typeface="Arial"/>
              </a:defRPr>
            </a:lvl3pPr>
            <a:lvl4pPr algn="l">
              <a:defRPr sz="540" b="0">
                <a:solidFill>
                  <a:srgbClr val="263442"/>
                </a:solidFill>
                <a:latin typeface="Arial"/>
                <a:ea typeface="Arial"/>
                <a:cs typeface="Arial"/>
              </a:defRPr>
            </a:lvl4pPr>
            <a:lvl5pPr algn="l">
              <a:defRPr sz="540" b="0">
                <a:solidFill>
                  <a:srgbClr val="263442"/>
                </a:solidFill>
                <a:latin typeface="Arial"/>
                <a:ea typeface="Arial"/>
                <a:cs typeface="Arial"/>
              </a:defRPr>
            </a:lvl5pPr>
            <a:lvl6pPr algn="l">
              <a:defRPr sz="540" b="0">
                <a:solidFill>
                  <a:srgbClr val="263442"/>
                </a:solidFill>
                <a:latin typeface="Arial"/>
                <a:ea typeface="Arial"/>
                <a:cs typeface="Arial"/>
              </a:defRPr>
            </a:lvl6pPr>
            <a:lvl7pPr algn="l">
              <a:defRPr sz="540" b="0">
                <a:solidFill>
                  <a:srgbClr val="263442"/>
                </a:solidFill>
                <a:latin typeface="Arial"/>
                <a:ea typeface="Arial"/>
                <a:cs typeface="Arial"/>
              </a:defRPr>
            </a:lvl7pPr>
            <a:lvl8pPr algn="l">
              <a:defRPr sz="540" b="0">
                <a:solidFill>
                  <a:srgbClr val="263442"/>
                </a:solidFill>
                <a:latin typeface="Arial"/>
                <a:ea typeface="Arial"/>
                <a:cs typeface="Arial"/>
              </a:defRPr>
            </a:lvl8pPr>
            <a:lvl9pPr algn="l">
              <a:defRPr sz="540" b="0">
                <a:solidFill>
                  <a:srgbClr val="263442"/>
                </a:solidFill>
                <a:latin typeface="Arial"/>
                <a:ea typeface="Arial"/>
                <a:cs typeface="Arial"/>
              </a:defRPr>
            </a:lvl9pPr>
          </a:lstStyle>
          <a:p>
            <a:pPr>
              <a:defRPr sz="540" b="0">
                <a:solidFill>
                  <a:srgbClr val="263442"/>
                </a:solidFill>
                <a:latin typeface="Arial"/>
                <a:ea typeface="Arial"/>
                <a:cs typeface="Arial"/>
              </a:defRPr>
            </a:pPr>
            <a:r>
              <a:rPr sz="480" dirty="0"/>
              <a:t>CC(=O)O</a:t>
            </a:r>
          </a:p>
        </p:txBody>
      </p:sp>
      <p:sp>
        <p:nvSpPr>
          <p:cNvPr id="49" name="F2-Build-continuation">
            <a:extLst>
              <a:ext uri="{FF2B5EF4-FFF2-40B4-BE49-F238E27FC236}">
                <a16:creationId xmlns:a16="http://schemas.microsoft.com/office/drawing/2014/main" id="{DDD31819-AE8F-4424-1794-071DBEE04A80}"/>
              </a:ext>
            </a:extLst>
          </p:cNvPr>
          <p:cNvSpPr>
            <a:spLocks noGrp="1"/>
          </p:cNvSpPr>
          <p:nvPr/>
        </p:nvSpPr>
        <p:spPr>
          <a:xfrm>
            <a:off x="5106267" y="1268735"/>
            <a:ext cx="6668" cy="6668"/>
          </a:xfrm>
          <a:prstGeom prst="ellipse">
            <a:avLst/>
          </a:prstGeom>
          <a:solidFill>
            <a:srgbClr val="687780"/>
          </a:solidFill>
          <a:ln w="0">
            <a:noFill/>
          </a:ln>
        </p:spPr>
      </p:sp>
      <p:sp>
        <p:nvSpPr>
          <p:cNvPr id="50" name="F2-Build-continuation">
            <a:extLst>
              <a:ext uri="{FF2B5EF4-FFF2-40B4-BE49-F238E27FC236}">
                <a16:creationId xmlns:a16="http://schemas.microsoft.com/office/drawing/2014/main" id="{58D8B7CB-4388-CB96-CF96-751CC61AAEAC}"/>
              </a:ext>
            </a:extLst>
          </p:cNvPr>
          <p:cNvSpPr>
            <a:spLocks noGrp="1"/>
          </p:cNvSpPr>
          <p:nvPr/>
        </p:nvSpPr>
        <p:spPr>
          <a:xfrm>
            <a:off x="5119918" y="1268735"/>
            <a:ext cx="6668" cy="6668"/>
          </a:xfrm>
          <a:prstGeom prst="ellipse">
            <a:avLst/>
          </a:prstGeom>
          <a:solidFill>
            <a:srgbClr val="687780"/>
          </a:solidFill>
          <a:ln w="0">
            <a:noFill/>
          </a:ln>
        </p:spPr>
      </p:sp>
      <p:sp>
        <p:nvSpPr>
          <p:cNvPr id="51" name="F2-Build-continuation">
            <a:extLst>
              <a:ext uri="{FF2B5EF4-FFF2-40B4-BE49-F238E27FC236}">
                <a16:creationId xmlns:a16="http://schemas.microsoft.com/office/drawing/2014/main" id="{790373E5-751F-D520-CC3D-F8EAF9DF5318}"/>
              </a:ext>
            </a:extLst>
          </p:cNvPr>
          <p:cNvSpPr>
            <a:spLocks noGrp="1"/>
          </p:cNvSpPr>
          <p:nvPr/>
        </p:nvSpPr>
        <p:spPr>
          <a:xfrm>
            <a:off x="5135157" y="1268735"/>
            <a:ext cx="6668" cy="6668"/>
          </a:xfrm>
          <a:prstGeom prst="ellipse">
            <a:avLst/>
          </a:prstGeom>
          <a:solidFill>
            <a:srgbClr val="687780"/>
          </a:solidFill>
          <a:ln w="0">
            <a:noFill/>
          </a:ln>
        </p:spPr>
      </p:sp>
      <p:sp>
        <p:nvSpPr>
          <p:cNvPr id="52" name="F2-Build-SMILES-19.8">
            <a:extLst>
              <a:ext uri="{FF2B5EF4-FFF2-40B4-BE49-F238E27FC236}">
                <a16:creationId xmlns:a16="http://schemas.microsoft.com/office/drawing/2014/main" id="{C6DAF120-883C-BC86-82DC-8FCEDC1CB6CC}"/>
              </a:ext>
            </a:extLst>
          </p:cNvPr>
          <p:cNvSpPr>
            <a:spLocks noGrp="1"/>
          </p:cNvSpPr>
          <p:nvPr/>
        </p:nvSpPr>
        <p:spPr>
          <a:xfrm>
            <a:off x="5101503" y="1285559"/>
            <a:ext cx="361950" cy="74295"/>
          </a:xfrm>
          <a:prstGeom prst="rect">
            <a:avLst/>
          </a:prstGeom>
          <a:noFill/>
          <a:ln w="0">
            <a:noFill/>
          </a:ln>
        </p:spPr>
        <p:txBody>
          <a:bodyPr wrap="none" lIns="0" tIns="0" rIns="0" bIns="0" anchor="ctr">
            <a:noAutofit/>
          </a:bodyPr>
          <a:lstStyle>
            <a:defPPr algn="l">
              <a:defRPr sz="540" b="0">
                <a:solidFill>
                  <a:srgbClr val="24634E"/>
                </a:solidFill>
                <a:latin typeface="Arial"/>
                <a:ea typeface="Arial"/>
                <a:cs typeface="Arial"/>
              </a:defRPr>
            </a:defPPr>
            <a:lvl1pPr algn="l">
              <a:defRPr sz="540" b="0">
                <a:solidFill>
                  <a:srgbClr val="24634E"/>
                </a:solidFill>
                <a:latin typeface="Arial"/>
                <a:ea typeface="Arial"/>
                <a:cs typeface="Arial"/>
              </a:defRPr>
            </a:lvl1pPr>
            <a:lvl2pPr algn="l">
              <a:defRPr sz="540" b="0">
                <a:solidFill>
                  <a:srgbClr val="24634E"/>
                </a:solidFill>
                <a:latin typeface="Arial"/>
                <a:ea typeface="Arial"/>
                <a:cs typeface="Arial"/>
              </a:defRPr>
            </a:lvl2pPr>
            <a:lvl3pPr algn="l">
              <a:defRPr sz="540" b="0">
                <a:solidFill>
                  <a:srgbClr val="24634E"/>
                </a:solidFill>
                <a:latin typeface="Arial"/>
                <a:ea typeface="Arial"/>
                <a:cs typeface="Arial"/>
              </a:defRPr>
            </a:lvl3pPr>
            <a:lvl4pPr algn="l">
              <a:defRPr sz="540" b="0">
                <a:solidFill>
                  <a:srgbClr val="24634E"/>
                </a:solidFill>
                <a:latin typeface="Arial"/>
                <a:ea typeface="Arial"/>
                <a:cs typeface="Arial"/>
              </a:defRPr>
            </a:lvl4pPr>
            <a:lvl5pPr algn="l">
              <a:defRPr sz="540" b="0">
                <a:solidFill>
                  <a:srgbClr val="24634E"/>
                </a:solidFill>
                <a:latin typeface="Arial"/>
                <a:ea typeface="Arial"/>
                <a:cs typeface="Arial"/>
              </a:defRPr>
            </a:lvl5pPr>
            <a:lvl6pPr algn="l">
              <a:defRPr sz="540" b="0">
                <a:solidFill>
                  <a:srgbClr val="24634E"/>
                </a:solidFill>
                <a:latin typeface="Arial"/>
                <a:ea typeface="Arial"/>
                <a:cs typeface="Arial"/>
              </a:defRPr>
            </a:lvl6pPr>
            <a:lvl7pPr algn="l">
              <a:defRPr sz="540" b="0">
                <a:solidFill>
                  <a:srgbClr val="24634E"/>
                </a:solidFill>
                <a:latin typeface="Arial"/>
                <a:ea typeface="Arial"/>
                <a:cs typeface="Arial"/>
              </a:defRPr>
            </a:lvl7pPr>
            <a:lvl8pPr algn="l">
              <a:defRPr sz="540" b="0">
                <a:solidFill>
                  <a:srgbClr val="24634E"/>
                </a:solidFill>
                <a:latin typeface="Arial"/>
                <a:ea typeface="Arial"/>
                <a:cs typeface="Arial"/>
              </a:defRPr>
            </a:lvl8pPr>
            <a:lvl9pPr algn="l">
              <a:defRPr sz="540" b="0">
                <a:solidFill>
                  <a:srgbClr val="24634E"/>
                </a:solidFill>
                <a:latin typeface="Arial"/>
                <a:ea typeface="Arial"/>
                <a:cs typeface="Arial"/>
              </a:defRPr>
            </a:lvl9pPr>
          </a:lstStyle>
          <a:p>
            <a:pPr>
              <a:defRPr sz="540" b="0">
                <a:solidFill>
                  <a:srgbClr val="263442"/>
                </a:solidFill>
                <a:latin typeface="Arial"/>
                <a:ea typeface="Arial"/>
                <a:cs typeface="Arial"/>
              </a:defRPr>
            </a:pPr>
            <a:r>
              <a:rPr sz="480" dirty="0">
                <a:solidFill>
                  <a:srgbClr val="263442"/>
                </a:solidFill>
              </a:rPr>
              <a:t>Cc1ccccc1</a:t>
            </a:r>
          </a:p>
        </p:txBody>
      </p:sp>
      <p:sp>
        <p:nvSpPr>
          <p:cNvPr id="53" name="F2-Build-SMILES-27.599999999999998">
            <a:extLst>
              <a:ext uri="{FF2B5EF4-FFF2-40B4-BE49-F238E27FC236}">
                <a16:creationId xmlns:a16="http://schemas.microsoft.com/office/drawing/2014/main" id="{8D82CC57-544B-E0E9-E8EF-A331DEE06279}"/>
              </a:ext>
            </a:extLst>
          </p:cNvPr>
          <p:cNvSpPr>
            <a:spLocks noGrp="1"/>
          </p:cNvSpPr>
          <p:nvPr/>
        </p:nvSpPr>
        <p:spPr>
          <a:xfrm>
            <a:off x="5101503" y="1359854"/>
            <a:ext cx="361950" cy="74295"/>
          </a:xfrm>
          <a:prstGeom prst="rect">
            <a:avLst/>
          </a:prstGeom>
          <a:noFill/>
          <a:ln w="0">
            <a:noFill/>
          </a:ln>
        </p:spPr>
        <p:txBody>
          <a:bodyPr wrap="none" lIns="0" tIns="0" rIns="0" bIns="0" anchor="ctr">
            <a:noAutofit/>
          </a:bodyPr>
          <a:lstStyle>
            <a:defPPr algn="l">
              <a:defRPr sz="540" b="0">
                <a:solidFill>
                  <a:srgbClr val="263442"/>
                </a:solidFill>
                <a:latin typeface="Arial"/>
                <a:ea typeface="Arial"/>
                <a:cs typeface="Arial"/>
              </a:defRPr>
            </a:defPPr>
            <a:lvl1pPr algn="l">
              <a:defRPr sz="540" b="0">
                <a:solidFill>
                  <a:srgbClr val="263442"/>
                </a:solidFill>
                <a:latin typeface="Arial"/>
                <a:ea typeface="Arial"/>
                <a:cs typeface="Arial"/>
              </a:defRPr>
            </a:lvl1pPr>
            <a:lvl2pPr algn="l">
              <a:defRPr sz="540" b="0">
                <a:solidFill>
                  <a:srgbClr val="263442"/>
                </a:solidFill>
                <a:latin typeface="Arial"/>
                <a:ea typeface="Arial"/>
                <a:cs typeface="Arial"/>
              </a:defRPr>
            </a:lvl2pPr>
            <a:lvl3pPr algn="l">
              <a:defRPr sz="540" b="0">
                <a:solidFill>
                  <a:srgbClr val="263442"/>
                </a:solidFill>
                <a:latin typeface="Arial"/>
                <a:ea typeface="Arial"/>
                <a:cs typeface="Arial"/>
              </a:defRPr>
            </a:lvl3pPr>
            <a:lvl4pPr algn="l">
              <a:defRPr sz="540" b="0">
                <a:solidFill>
                  <a:srgbClr val="263442"/>
                </a:solidFill>
                <a:latin typeface="Arial"/>
                <a:ea typeface="Arial"/>
                <a:cs typeface="Arial"/>
              </a:defRPr>
            </a:lvl4pPr>
            <a:lvl5pPr algn="l">
              <a:defRPr sz="540" b="0">
                <a:solidFill>
                  <a:srgbClr val="263442"/>
                </a:solidFill>
                <a:latin typeface="Arial"/>
                <a:ea typeface="Arial"/>
                <a:cs typeface="Arial"/>
              </a:defRPr>
            </a:lvl5pPr>
            <a:lvl6pPr algn="l">
              <a:defRPr sz="540" b="0">
                <a:solidFill>
                  <a:srgbClr val="263442"/>
                </a:solidFill>
                <a:latin typeface="Arial"/>
                <a:ea typeface="Arial"/>
                <a:cs typeface="Arial"/>
              </a:defRPr>
            </a:lvl6pPr>
            <a:lvl7pPr algn="l">
              <a:defRPr sz="540" b="0">
                <a:solidFill>
                  <a:srgbClr val="263442"/>
                </a:solidFill>
                <a:latin typeface="Arial"/>
                <a:ea typeface="Arial"/>
                <a:cs typeface="Arial"/>
              </a:defRPr>
            </a:lvl7pPr>
            <a:lvl8pPr algn="l">
              <a:defRPr sz="540" b="0">
                <a:solidFill>
                  <a:srgbClr val="263442"/>
                </a:solidFill>
                <a:latin typeface="Arial"/>
                <a:ea typeface="Arial"/>
                <a:cs typeface="Arial"/>
              </a:defRPr>
            </a:lvl8pPr>
            <a:lvl9pPr algn="l">
              <a:defRPr sz="540" b="0">
                <a:solidFill>
                  <a:srgbClr val="263442"/>
                </a:solidFill>
                <a:latin typeface="Arial"/>
                <a:ea typeface="Arial"/>
                <a:cs typeface="Arial"/>
              </a:defRPr>
            </a:lvl9pPr>
          </a:lstStyle>
          <a:p>
            <a:pPr>
              <a:defRPr sz="540" b="0">
                <a:solidFill>
                  <a:srgbClr val="263442"/>
                </a:solidFill>
                <a:latin typeface="Arial"/>
                <a:ea typeface="Arial"/>
                <a:cs typeface="Arial"/>
              </a:defRPr>
            </a:pPr>
            <a:r>
              <a:rPr sz="480" dirty="0"/>
              <a:t>CC(N)=O</a:t>
            </a:r>
          </a:p>
        </p:txBody>
      </p:sp>
      <p:sp>
        <p:nvSpPr>
          <p:cNvPr id="54" name="Build | inputs to iterative denoising">
            <a:extLst>
              <a:ext uri="{FF2B5EF4-FFF2-40B4-BE49-F238E27FC236}">
                <a16:creationId xmlns:a16="http://schemas.microsoft.com/office/drawing/2014/main" id="{26F5075E-2A51-00B0-8C79-1E06E5B9DE1F}"/>
              </a:ext>
            </a:extLst>
          </p:cNvPr>
          <p:cNvSpPr>
            <a:spLocks noGrp="1"/>
          </p:cNvSpPr>
          <p:nvPr/>
        </p:nvSpPr>
        <p:spPr>
          <a:xfrm>
            <a:off x="5547600" y="1774677"/>
            <a:ext cx="95" cy="100800"/>
          </a:xfrm>
          <a:custGeom>
            <a:avLst/>
            <a:gdLst/>
            <a:ahLst/>
            <a:cxnLst/>
            <a:rect l="0" t="0" r="0" b="0"/>
            <a:pathLst>
              <a:path w="95" h="100800">
                <a:moveTo>
                  <a:pt x="0" y="0"/>
                </a:moveTo>
                <a:lnTo>
                  <a:pt x="0" y="100800"/>
                </a:lnTo>
              </a:path>
            </a:pathLst>
          </a:custGeom>
          <a:noFill/>
          <a:ln w="8255">
            <a:solidFill>
              <a:srgbClr val="77828C"/>
            </a:solidFill>
          </a:ln>
        </p:spPr>
      </p:sp>
      <p:sp>
        <p:nvSpPr>
          <p:cNvPr id="55" name="Build | inputs to iterative denoising head">
            <a:extLst>
              <a:ext uri="{FF2B5EF4-FFF2-40B4-BE49-F238E27FC236}">
                <a16:creationId xmlns:a16="http://schemas.microsoft.com/office/drawing/2014/main" id="{B76A6F1D-F802-85D3-8C45-E7042922746D}"/>
              </a:ext>
            </a:extLst>
          </p:cNvPr>
          <p:cNvSpPr>
            <a:spLocks noGrp="1"/>
          </p:cNvSpPr>
          <p:nvPr/>
        </p:nvSpPr>
        <p:spPr>
          <a:xfrm>
            <a:off x="5533470" y="1848335"/>
            <a:ext cx="28261" cy="27142"/>
          </a:xfrm>
          <a:custGeom>
            <a:avLst/>
            <a:gdLst/>
            <a:ahLst/>
            <a:cxnLst/>
            <a:rect l="0" t="0" r="0" b="0"/>
            <a:pathLst>
              <a:path w="28261" h="27142">
                <a:moveTo>
                  <a:pt x="0" y="0"/>
                </a:moveTo>
                <a:lnTo>
                  <a:pt x="14130" y="27142"/>
                </a:lnTo>
                <a:lnTo>
                  <a:pt x="28261" y="0"/>
                </a:lnTo>
              </a:path>
            </a:pathLst>
          </a:custGeom>
          <a:noFill/>
          <a:ln w="8255">
            <a:solidFill>
              <a:srgbClr val="77828C"/>
            </a:solidFill>
          </a:ln>
        </p:spPr>
      </p:sp>
      <p:sp>
        <p:nvSpPr>
          <p:cNvPr id="56" name="Build | denoising stage 0">
            <a:extLst>
              <a:ext uri="{FF2B5EF4-FFF2-40B4-BE49-F238E27FC236}">
                <a16:creationId xmlns:a16="http://schemas.microsoft.com/office/drawing/2014/main" id="{500F8693-D333-66EC-255F-62B8C19D2382}"/>
              </a:ext>
            </a:extLst>
          </p:cNvPr>
          <p:cNvSpPr>
            <a:spLocks noGrp="1"/>
          </p:cNvSpPr>
          <p:nvPr/>
        </p:nvSpPr>
        <p:spPr>
          <a:xfrm>
            <a:off x="5014346" y="2490900"/>
            <a:ext cx="324000" cy="187200"/>
          </a:xfrm>
          <a:prstGeom prst="rect">
            <a:avLst/>
          </a:prstGeom>
          <a:noFill/>
          <a:ln w="0">
            <a:noFill/>
          </a:ln>
        </p:spPr>
        <p:txBody>
          <a:bodyPr wrap="none" lIns="0" tIns="0" rIns="0" bIns="0" anchor="ctr">
            <a:noAutofit/>
          </a:bodyPr>
          <a:lstStyle>
            <a:defPPr algn="ctr">
              <a:defRPr sz="580" b="0">
                <a:solidFill>
                  <a:srgbClr val="596873"/>
                </a:solidFill>
                <a:latin typeface="Arial"/>
                <a:ea typeface="Arial"/>
                <a:cs typeface="Arial"/>
              </a:defRPr>
            </a:defPPr>
            <a:lvl1pPr algn="ctr">
              <a:defRPr sz="580" b="0">
                <a:solidFill>
                  <a:srgbClr val="596873"/>
                </a:solidFill>
                <a:latin typeface="Arial"/>
                <a:ea typeface="Arial"/>
                <a:cs typeface="Arial"/>
              </a:defRPr>
            </a:lvl1pPr>
            <a:lvl2pPr algn="ctr">
              <a:defRPr sz="580" b="0">
                <a:solidFill>
                  <a:srgbClr val="596873"/>
                </a:solidFill>
                <a:latin typeface="Arial"/>
                <a:ea typeface="Arial"/>
                <a:cs typeface="Arial"/>
              </a:defRPr>
            </a:lvl2pPr>
            <a:lvl3pPr algn="ctr">
              <a:defRPr sz="580" b="0">
                <a:solidFill>
                  <a:srgbClr val="596873"/>
                </a:solidFill>
                <a:latin typeface="Arial"/>
                <a:ea typeface="Arial"/>
                <a:cs typeface="Arial"/>
              </a:defRPr>
            </a:lvl3pPr>
            <a:lvl4pPr algn="ctr">
              <a:defRPr sz="580" b="0">
                <a:solidFill>
                  <a:srgbClr val="596873"/>
                </a:solidFill>
                <a:latin typeface="Arial"/>
                <a:ea typeface="Arial"/>
                <a:cs typeface="Arial"/>
              </a:defRPr>
            </a:lvl4pPr>
            <a:lvl5pPr algn="ctr">
              <a:defRPr sz="580" b="0">
                <a:solidFill>
                  <a:srgbClr val="596873"/>
                </a:solidFill>
                <a:latin typeface="Arial"/>
                <a:ea typeface="Arial"/>
                <a:cs typeface="Arial"/>
              </a:defRPr>
            </a:lvl5pPr>
            <a:lvl6pPr algn="ctr">
              <a:defRPr sz="580" b="0">
                <a:solidFill>
                  <a:srgbClr val="596873"/>
                </a:solidFill>
                <a:latin typeface="Arial"/>
                <a:ea typeface="Arial"/>
                <a:cs typeface="Arial"/>
              </a:defRPr>
            </a:lvl6pPr>
            <a:lvl7pPr algn="ctr">
              <a:defRPr sz="580" b="0">
                <a:solidFill>
                  <a:srgbClr val="596873"/>
                </a:solidFill>
                <a:latin typeface="Arial"/>
                <a:ea typeface="Arial"/>
                <a:cs typeface="Arial"/>
              </a:defRPr>
            </a:lvl7pPr>
            <a:lvl8pPr algn="ctr">
              <a:defRPr sz="580" b="0">
                <a:solidFill>
                  <a:srgbClr val="596873"/>
                </a:solidFill>
                <a:latin typeface="Arial"/>
                <a:ea typeface="Arial"/>
                <a:cs typeface="Arial"/>
              </a:defRPr>
            </a:lvl8pPr>
            <a:lvl9pPr algn="ctr">
              <a:defRPr sz="580" b="0">
                <a:solidFill>
                  <a:srgbClr val="596873"/>
                </a:solidFill>
                <a:latin typeface="Arial"/>
                <a:ea typeface="Arial"/>
                <a:cs typeface="Arial"/>
              </a:defRPr>
            </a:lvl9pPr>
          </a:lstStyle>
          <a:p>
            <a:pPr algn="ctr">
              <a:defRPr sz="580" b="0">
                <a:solidFill>
                  <a:srgbClr val="596873"/>
                </a:solidFill>
                <a:latin typeface="Arial"/>
                <a:ea typeface="Arial"/>
                <a:cs typeface="Arial"/>
              </a:defRPr>
            </a:pPr>
            <a:r>
              <a:rPr sz="580" b="0" dirty="0">
                <a:solidFill>
                  <a:srgbClr val="596873"/>
                </a:solidFill>
                <a:latin typeface="Arial"/>
                <a:ea typeface="Arial"/>
                <a:cs typeface="Arial"/>
              </a:rPr>
              <a:t>Gaussian</a:t>
            </a:r>
          </a:p>
          <a:p>
            <a:pPr algn="ctr">
              <a:defRPr sz="580" b="0">
                <a:solidFill>
                  <a:srgbClr val="596873"/>
                </a:solidFill>
                <a:latin typeface="Arial"/>
                <a:ea typeface="Arial"/>
                <a:cs typeface="Arial"/>
              </a:defRPr>
            </a:pPr>
            <a:r>
              <a:rPr sz="580" b="0" dirty="0">
                <a:solidFill>
                  <a:srgbClr val="596873"/>
                </a:solidFill>
                <a:latin typeface="Arial"/>
                <a:ea typeface="Arial"/>
                <a:cs typeface="Arial"/>
              </a:rPr>
              <a:t>noise</a:t>
            </a:r>
          </a:p>
        </p:txBody>
      </p:sp>
      <p:pic>
        <p:nvPicPr>
          <p:cNvPr id="57" name="图片 56">
            <a:extLst>
              <a:ext uri="{FF2B5EF4-FFF2-40B4-BE49-F238E27FC236}">
                <a16:creationId xmlns:a16="http://schemas.microsoft.com/office/drawing/2014/main" id="{675C6A8E-3B9C-9656-EAEE-C5DD9B270F17}"/>
              </a:ext>
            </a:extLst>
          </p:cNvPr>
          <p:cNvPicPr>
            <a:picLocks noChangeAspect="1"/>
          </p:cNvPicPr>
          <p:nvPr/>
        </p:nvPicPr>
        <p:blipFill>
          <a:blip r:embed="rId10"/>
          <a:stretch/>
        </p:blipFill>
        <p:spPr>
          <a:xfrm>
            <a:off x="5473551" y="2422737"/>
            <a:ext cx="477349" cy="344752"/>
          </a:xfrm>
          <a:prstGeom prst="rect">
            <a:avLst/>
          </a:prstGeom>
        </p:spPr>
      </p:pic>
      <p:pic>
        <p:nvPicPr>
          <p:cNvPr id="58" name="图片 57">
            <a:extLst>
              <a:ext uri="{FF2B5EF4-FFF2-40B4-BE49-F238E27FC236}">
                <a16:creationId xmlns:a16="http://schemas.microsoft.com/office/drawing/2014/main" id="{D8A5231B-7021-AE18-AB61-EC39B1C459F3}"/>
              </a:ext>
            </a:extLst>
          </p:cNvPr>
          <p:cNvPicPr>
            <a:picLocks noChangeAspect="1"/>
          </p:cNvPicPr>
          <p:nvPr/>
        </p:nvPicPr>
        <p:blipFill>
          <a:blip r:embed="rId11"/>
          <a:stretch/>
        </p:blipFill>
        <p:spPr>
          <a:xfrm>
            <a:off x="5483229" y="2791467"/>
            <a:ext cx="478523" cy="345600"/>
          </a:xfrm>
          <a:prstGeom prst="rect">
            <a:avLst/>
          </a:prstGeom>
        </p:spPr>
      </p:pic>
      <p:sp>
        <p:nvSpPr>
          <p:cNvPr id="59" name="Build | denoising stage 2">
            <a:extLst>
              <a:ext uri="{FF2B5EF4-FFF2-40B4-BE49-F238E27FC236}">
                <a16:creationId xmlns:a16="http://schemas.microsoft.com/office/drawing/2014/main" id="{5FC495A9-D7B6-ADB7-3B4E-ACDE88D63A23}"/>
              </a:ext>
            </a:extLst>
          </p:cNvPr>
          <p:cNvSpPr>
            <a:spLocks noGrp="1"/>
          </p:cNvSpPr>
          <p:nvPr/>
        </p:nvSpPr>
        <p:spPr>
          <a:xfrm>
            <a:off x="5008587" y="2974840"/>
            <a:ext cx="324000" cy="118800"/>
          </a:xfrm>
          <a:prstGeom prst="rect">
            <a:avLst/>
          </a:prstGeom>
          <a:noFill/>
          <a:ln w="0">
            <a:noFill/>
          </a:ln>
        </p:spPr>
        <p:txBody>
          <a:bodyPr wrap="none" lIns="0" tIns="0" rIns="0" bIns="0" anchor="ctr">
            <a:noAutofit/>
          </a:bodyPr>
          <a:lstStyle>
            <a:defPPr algn="ctr">
              <a:defRPr sz="580" b="0">
                <a:solidFill>
                  <a:srgbClr val="596873"/>
                </a:solidFill>
                <a:latin typeface="Arial"/>
                <a:ea typeface="Arial"/>
                <a:cs typeface="Arial"/>
              </a:defRPr>
            </a:defPPr>
            <a:lvl1pPr algn="ctr">
              <a:defRPr sz="580" b="0">
                <a:solidFill>
                  <a:srgbClr val="596873"/>
                </a:solidFill>
                <a:latin typeface="Arial"/>
                <a:ea typeface="Arial"/>
                <a:cs typeface="Arial"/>
              </a:defRPr>
            </a:lvl1pPr>
            <a:lvl2pPr algn="ctr">
              <a:defRPr sz="580" b="0">
                <a:solidFill>
                  <a:srgbClr val="596873"/>
                </a:solidFill>
                <a:latin typeface="Arial"/>
                <a:ea typeface="Arial"/>
                <a:cs typeface="Arial"/>
              </a:defRPr>
            </a:lvl2pPr>
            <a:lvl3pPr algn="ctr">
              <a:defRPr sz="580" b="0">
                <a:solidFill>
                  <a:srgbClr val="596873"/>
                </a:solidFill>
                <a:latin typeface="Arial"/>
                <a:ea typeface="Arial"/>
                <a:cs typeface="Arial"/>
              </a:defRPr>
            </a:lvl3pPr>
            <a:lvl4pPr algn="ctr">
              <a:defRPr sz="580" b="0">
                <a:solidFill>
                  <a:srgbClr val="596873"/>
                </a:solidFill>
                <a:latin typeface="Arial"/>
                <a:ea typeface="Arial"/>
                <a:cs typeface="Arial"/>
              </a:defRPr>
            </a:lvl4pPr>
            <a:lvl5pPr algn="ctr">
              <a:defRPr sz="580" b="0">
                <a:solidFill>
                  <a:srgbClr val="596873"/>
                </a:solidFill>
                <a:latin typeface="Arial"/>
                <a:ea typeface="Arial"/>
                <a:cs typeface="Arial"/>
              </a:defRPr>
            </a:lvl5pPr>
            <a:lvl6pPr algn="ctr">
              <a:defRPr sz="580" b="0">
                <a:solidFill>
                  <a:srgbClr val="596873"/>
                </a:solidFill>
                <a:latin typeface="Arial"/>
                <a:ea typeface="Arial"/>
                <a:cs typeface="Arial"/>
              </a:defRPr>
            </a:lvl6pPr>
            <a:lvl7pPr algn="ctr">
              <a:defRPr sz="580" b="0">
                <a:solidFill>
                  <a:srgbClr val="596873"/>
                </a:solidFill>
                <a:latin typeface="Arial"/>
                <a:ea typeface="Arial"/>
                <a:cs typeface="Arial"/>
              </a:defRPr>
            </a:lvl7pPr>
            <a:lvl8pPr algn="ctr">
              <a:defRPr sz="580" b="0">
                <a:solidFill>
                  <a:srgbClr val="596873"/>
                </a:solidFill>
                <a:latin typeface="Arial"/>
                <a:ea typeface="Arial"/>
                <a:cs typeface="Arial"/>
              </a:defRPr>
            </a:lvl8pPr>
            <a:lvl9pPr algn="ctr">
              <a:defRPr sz="580" b="0">
                <a:solidFill>
                  <a:srgbClr val="596873"/>
                </a:solidFill>
                <a:latin typeface="Arial"/>
                <a:ea typeface="Arial"/>
                <a:cs typeface="Arial"/>
              </a:defRPr>
            </a:lvl9pPr>
          </a:lstStyle>
          <a:p>
            <a:pPr algn="ctr">
              <a:defRPr sz="580" b="0">
                <a:solidFill>
                  <a:srgbClr val="596873"/>
                </a:solidFill>
                <a:latin typeface="Arial"/>
                <a:ea typeface="Arial"/>
                <a:cs typeface="Arial"/>
              </a:defRPr>
            </a:pPr>
            <a:r>
              <a:rPr lang="en-US" sz="580" b="0" dirty="0">
                <a:solidFill>
                  <a:srgbClr val="596873"/>
                </a:solidFill>
                <a:latin typeface="Arial"/>
                <a:ea typeface="Arial"/>
                <a:cs typeface="Arial"/>
              </a:rPr>
              <a:t>D</a:t>
            </a:r>
            <a:r>
              <a:rPr lang="en-US" altLang="zh-CN" sz="580" b="0" dirty="0">
                <a:solidFill>
                  <a:srgbClr val="596873"/>
                </a:solidFill>
                <a:latin typeface="Arial"/>
                <a:ea typeface="Arial"/>
                <a:cs typeface="Arial"/>
              </a:rPr>
              <a:t>enoising</a:t>
            </a:r>
            <a:endParaRPr sz="580" b="0" dirty="0">
              <a:solidFill>
                <a:srgbClr val="596873"/>
              </a:solidFill>
              <a:latin typeface="Arial"/>
              <a:ea typeface="Arial"/>
              <a:cs typeface="Arial"/>
            </a:endParaRPr>
          </a:p>
        </p:txBody>
      </p:sp>
      <p:pic>
        <p:nvPicPr>
          <p:cNvPr id="60" name="图片 59">
            <a:extLst>
              <a:ext uri="{FF2B5EF4-FFF2-40B4-BE49-F238E27FC236}">
                <a16:creationId xmlns:a16="http://schemas.microsoft.com/office/drawing/2014/main" id="{0BF9F257-DFB6-A580-A1A9-001E6E4F0C3B}"/>
              </a:ext>
            </a:extLst>
          </p:cNvPr>
          <p:cNvPicPr>
            <a:picLocks noChangeAspect="1"/>
          </p:cNvPicPr>
          <p:nvPr/>
        </p:nvPicPr>
        <p:blipFill>
          <a:blip r:embed="rId12"/>
          <a:stretch/>
        </p:blipFill>
        <p:spPr>
          <a:xfrm>
            <a:off x="5472963" y="3164962"/>
            <a:ext cx="478523" cy="345600"/>
          </a:xfrm>
          <a:prstGeom prst="rect">
            <a:avLst/>
          </a:prstGeom>
        </p:spPr>
      </p:pic>
      <p:sp>
        <p:nvSpPr>
          <p:cNvPr id="61" name="Build | local structure viewport">
            <a:extLst>
              <a:ext uri="{FF2B5EF4-FFF2-40B4-BE49-F238E27FC236}">
                <a16:creationId xmlns:a16="http://schemas.microsoft.com/office/drawing/2014/main" id="{5BA82544-3D46-CC16-0CA8-7ABBA5E5492E}"/>
              </a:ext>
            </a:extLst>
          </p:cNvPr>
          <p:cNvSpPr>
            <a:spLocks noGrp="1"/>
          </p:cNvSpPr>
          <p:nvPr/>
        </p:nvSpPr>
        <p:spPr>
          <a:xfrm>
            <a:off x="5034655" y="3612697"/>
            <a:ext cx="1012331" cy="735989"/>
          </a:xfrm>
          <a:prstGeom prst="roundRect">
            <a:avLst>
              <a:gd name="adj" fmla="val 8894"/>
            </a:avLst>
          </a:prstGeom>
          <a:solidFill>
            <a:srgbClr val="FFFFFF"/>
          </a:solidFill>
          <a:ln w="7620">
            <a:solidFill>
              <a:srgbClr val="C8CFD4"/>
            </a:solidFill>
          </a:ln>
        </p:spPr>
      </p:sp>
      <p:sp>
        <p:nvSpPr>
          <p:cNvPr id="62" name="Build | label">
            <a:extLst>
              <a:ext uri="{FF2B5EF4-FFF2-40B4-BE49-F238E27FC236}">
                <a16:creationId xmlns:a16="http://schemas.microsoft.com/office/drawing/2014/main" id="{DA08A076-C026-8366-97B7-30F803385DEF}"/>
              </a:ext>
            </a:extLst>
          </p:cNvPr>
          <p:cNvSpPr>
            <a:spLocks noGrp="1"/>
          </p:cNvSpPr>
          <p:nvPr/>
        </p:nvSpPr>
        <p:spPr>
          <a:xfrm>
            <a:off x="5009487" y="4217257"/>
            <a:ext cx="1090800" cy="100800"/>
          </a:xfrm>
          <a:prstGeom prst="rect">
            <a:avLst/>
          </a:prstGeom>
          <a:noFill/>
          <a:ln w="0">
            <a:noFill/>
          </a:ln>
        </p:spPr>
        <p:txBody>
          <a:bodyPr wrap="none" lIns="0" tIns="0" rIns="0" bIns="0" anchor="ctr">
            <a:noAutofit/>
          </a:bodyPr>
          <a:lstStyle>
            <a:defPPr algn="ctr">
              <a:defRPr sz="670" b="0">
                <a:solidFill>
                  <a:srgbClr val="263442"/>
                </a:solidFill>
                <a:latin typeface="Arial"/>
                <a:ea typeface="Arial"/>
                <a:cs typeface="Arial"/>
              </a:defRPr>
            </a:defPPr>
            <a:lvl1pPr algn="ctr">
              <a:defRPr sz="670" b="0">
                <a:solidFill>
                  <a:srgbClr val="263442"/>
                </a:solidFill>
                <a:latin typeface="Arial"/>
                <a:ea typeface="Arial"/>
                <a:cs typeface="Arial"/>
              </a:defRPr>
            </a:lvl1pPr>
            <a:lvl2pPr algn="ctr">
              <a:defRPr sz="670" b="0">
                <a:solidFill>
                  <a:srgbClr val="263442"/>
                </a:solidFill>
                <a:latin typeface="Arial"/>
                <a:ea typeface="Arial"/>
                <a:cs typeface="Arial"/>
              </a:defRPr>
            </a:lvl2pPr>
            <a:lvl3pPr algn="ctr">
              <a:defRPr sz="670" b="0">
                <a:solidFill>
                  <a:srgbClr val="263442"/>
                </a:solidFill>
                <a:latin typeface="Arial"/>
                <a:ea typeface="Arial"/>
                <a:cs typeface="Arial"/>
              </a:defRPr>
            </a:lvl3pPr>
            <a:lvl4pPr algn="ctr">
              <a:defRPr sz="670" b="0">
                <a:solidFill>
                  <a:srgbClr val="263442"/>
                </a:solidFill>
                <a:latin typeface="Arial"/>
                <a:ea typeface="Arial"/>
                <a:cs typeface="Arial"/>
              </a:defRPr>
            </a:lvl4pPr>
            <a:lvl5pPr algn="ctr">
              <a:defRPr sz="670" b="0">
                <a:solidFill>
                  <a:srgbClr val="263442"/>
                </a:solidFill>
                <a:latin typeface="Arial"/>
                <a:ea typeface="Arial"/>
                <a:cs typeface="Arial"/>
              </a:defRPr>
            </a:lvl5pPr>
            <a:lvl6pPr algn="ctr">
              <a:defRPr sz="670" b="0">
                <a:solidFill>
                  <a:srgbClr val="263442"/>
                </a:solidFill>
                <a:latin typeface="Arial"/>
                <a:ea typeface="Arial"/>
                <a:cs typeface="Arial"/>
              </a:defRPr>
            </a:lvl6pPr>
            <a:lvl7pPr algn="ctr">
              <a:defRPr sz="670" b="0">
                <a:solidFill>
                  <a:srgbClr val="263442"/>
                </a:solidFill>
                <a:latin typeface="Arial"/>
                <a:ea typeface="Arial"/>
                <a:cs typeface="Arial"/>
              </a:defRPr>
            </a:lvl7pPr>
            <a:lvl8pPr algn="ctr">
              <a:defRPr sz="670" b="0">
                <a:solidFill>
                  <a:srgbClr val="263442"/>
                </a:solidFill>
                <a:latin typeface="Arial"/>
                <a:ea typeface="Arial"/>
                <a:cs typeface="Arial"/>
              </a:defRPr>
            </a:lvl8pPr>
            <a:lvl9pPr algn="ctr">
              <a:defRPr sz="670" b="0">
                <a:solidFill>
                  <a:srgbClr val="263442"/>
                </a:solidFill>
                <a:latin typeface="Arial"/>
                <a:ea typeface="Arial"/>
                <a:cs typeface="Arial"/>
              </a:defRPr>
            </a:lvl9pPr>
          </a:lstStyle>
          <a:p>
            <a:pPr algn="ctr">
              <a:defRPr sz="670" b="0">
                <a:solidFill>
                  <a:srgbClr val="263442"/>
                </a:solidFill>
                <a:latin typeface="Arial"/>
                <a:ea typeface="Arial"/>
                <a:cs typeface="Arial"/>
              </a:defRPr>
            </a:pPr>
            <a:r>
              <a:rPr sz="670" b="0" dirty="0">
                <a:solidFill>
                  <a:srgbClr val="263442"/>
                </a:solidFill>
                <a:latin typeface="Arial"/>
                <a:ea typeface="Arial"/>
                <a:cs typeface="Arial"/>
              </a:rPr>
              <a:t>All-atom ligand pose</a:t>
            </a:r>
            <a:r>
              <a:rPr lang="en-US" sz="670" b="0" dirty="0">
                <a:solidFill>
                  <a:srgbClr val="263442"/>
                </a:solidFill>
                <a:latin typeface="Arial"/>
                <a:ea typeface="Arial"/>
                <a:cs typeface="Arial"/>
              </a:rPr>
              <a:t>(s)</a:t>
            </a:r>
            <a:endParaRPr sz="670" b="0" dirty="0">
              <a:solidFill>
                <a:srgbClr val="263442"/>
              </a:solidFill>
              <a:latin typeface="Arial"/>
              <a:ea typeface="Arial"/>
              <a:cs typeface="Arial"/>
            </a:endParaRPr>
          </a:p>
        </p:txBody>
      </p:sp>
      <p:sp>
        <p:nvSpPr>
          <p:cNvPr id="63" name="Build | inputs to iterative denoising">
            <a:extLst>
              <a:ext uri="{FF2B5EF4-FFF2-40B4-BE49-F238E27FC236}">
                <a16:creationId xmlns:a16="http://schemas.microsoft.com/office/drawing/2014/main" id="{7381AFB5-31BD-57EE-9E36-B2DD6133CA0C}"/>
              </a:ext>
            </a:extLst>
          </p:cNvPr>
          <p:cNvSpPr>
            <a:spLocks noGrp="1"/>
          </p:cNvSpPr>
          <p:nvPr/>
        </p:nvSpPr>
        <p:spPr>
          <a:xfrm flipH="1">
            <a:off x="5300905" y="2502829"/>
            <a:ext cx="69223" cy="1043423"/>
          </a:xfrm>
          <a:custGeom>
            <a:avLst/>
            <a:gdLst/>
            <a:ahLst/>
            <a:cxnLst/>
            <a:rect l="0" t="0" r="0" b="0"/>
            <a:pathLst>
              <a:path w="95" h="100800">
                <a:moveTo>
                  <a:pt x="0" y="0"/>
                </a:moveTo>
                <a:lnTo>
                  <a:pt x="0" y="100800"/>
                </a:lnTo>
              </a:path>
            </a:pathLst>
          </a:custGeom>
          <a:noFill/>
          <a:ln w="8255">
            <a:solidFill>
              <a:srgbClr val="77828C"/>
            </a:solidFill>
          </a:ln>
        </p:spPr>
      </p:sp>
      <p:sp>
        <p:nvSpPr>
          <p:cNvPr id="192" name="Build | inputs to iterative denoising head">
            <a:extLst>
              <a:ext uri="{FF2B5EF4-FFF2-40B4-BE49-F238E27FC236}">
                <a16:creationId xmlns:a16="http://schemas.microsoft.com/office/drawing/2014/main" id="{49089277-260D-35D4-9F26-B7322DF3B8D7}"/>
              </a:ext>
            </a:extLst>
          </p:cNvPr>
          <p:cNvSpPr>
            <a:spLocks noGrp="1"/>
          </p:cNvSpPr>
          <p:nvPr/>
        </p:nvSpPr>
        <p:spPr>
          <a:xfrm>
            <a:off x="5354208" y="3525770"/>
            <a:ext cx="28261" cy="27142"/>
          </a:xfrm>
          <a:custGeom>
            <a:avLst/>
            <a:gdLst/>
            <a:ahLst/>
            <a:cxnLst/>
            <a:rect l="0" t="0" r="0" b="0"/>
            <a:pathLst>
              <a:path w="28261" h="27142">
                <a:moveTo>
                  <a:pt x="0" y="0"/>
                </a:moveTo>
                <a:lnTo>
                  <a:pt x="14130" y="27142"/>
                </a:lnTo>
                <a:lnTo>
                  <a:pt x="28261" y="0"/>
                </a:lnTo>
              </a:path>
            </a:pathLst>
          </a:custGeom>
          <a:noFill/>
          <a:ln w="8255">
            <a:solidFill>
              <a:srgbClr val="77828C"/>
            </a:solidFill>
          </a:ln>
        </p:spPr>
      </p:sp>
      <p:sp>
        <p:nvSpPr>
          <p:cNvPr id="193" name="Build | Default PocketXMol card">
            <a:extLst>
              <a:ext uri="{FF2B5EF4-FFF2-40B4-BE49-F238E27FC236}">
                <a16:creationId xmlns:a16="http://schemas.microsoft.com/office/drawing/2014/main" id="{2E6531E4-9BB4-F156-DF66-0384F0F77178}"/>
              </a:ext>
            </a:extLst>
          </p:cNvPr>
          <p:cNvSpPr/>
          <p:nvPr/>
        </p:nvSpPr>
        <p:spPr>
          <a:xfrm>
            <a:off x="4999032" y="1900178"/>
            <a:ext cx="1106490" cy="456341"/>
          </a:xfrm>
          <a:prstGeom prst="roundRect">
            <a:avLst>
              <a:gd name="adj" fmla="val 8000"/>
            </a:avLst>
          </a:prstGeom>
          <a:solidFill>
            <a:srgbClr val="FAF1DE"/>
          </a:solidFill>
          <a:ln w="7290">
            <a:solidFill>
              <a:srgbClr val="D8A95A"/>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grpSp>
        <p:nvGrpSpPr>
          <p:cNvPr id="194" name="Build | Density cube icon">
            <a:extLst>
              <a:ext uri="{FF2B5EF4-FFF2-40B4-BE49-F238E27FC236}">
                <a16:creationId xmlns:a16="http://schemas.microsoft.com/office/drawing/2014/main" id="{C01B56DB-F3E6-2B89-F9E3-54495623D74B}"/>
              </a:ext>
            </a:extLst>
          </p:cNvPr>
          <p:cNvGrpSpPr/>
          <p:nvPr/>
        </p:nvGrpSpPr>
        <p:grpSpPr>
          <a:xfrm>
            <a:off x="5031164" y="1982142"/>
            <a:ext cx="213580" cy="227238"/>
            <a:chOff x="2187720" y="5635440"/>
            <a:chExt cx="154440" cy="131400"/>
          </a:xfrm>
        </p:grpSpPr>
        <p:sp>
          <p:nvSpPr>
            <p:cNvPr id="195" name="asset_3169_0">
              <a:extLst>
                <a:ext uri="{FF2B5EF4-FFF2-40B4-BE49-F238E27FC236}">
                  <a16:creationId xmlns:a16="http://schemas.microsoft.com/office/drawing/2014/main" id="{BDF4D941-B946-0B05-780C-0BCA09C7B2EE}"/>
                </a:ext>
              </a:extLst>
            </p:cNvPr>
            <p:cNvSpPr>
              <a:spLocks noGrp="1"/>
            </p:cNvSpPr>
            <p:nvPr/>
          </p:nvSpPr>
          <p:spPr>
            <a:xfrm>
              <a:off x="2187720" y="5635440"/>
              <a:ext cx="154440" cy="22338"/>
            </a:xfrm>
            <a:custGeom>
              <a:avLst/>
              <a:gdLst/>
              <a:ahLst/>
              <a:cxnLst/>
              <a:rect l="0" t="0" r="0" b="0"/>
              <a:pathLst>
                <a:path w="154440" h="22338">
                  <a:moveTo>
                    <a:pt x="0" y="22338"/>
                  </a:moveTo>
                  <a:lnTo>
                    <a:pt x="29344" y="0"/>
                  </a:lnTo>
                  <a:lnTo>
                    <a:pt x="154440" y="0"/>
                  </a:lnTo>
                  <a:lnTo>
                    <a:pt x="125096" y="22338"/>
                  </a:lnTo>
                  <a:close/>
                </a:path>
              </a:pathLst>
            </a:custGeom>
            <a:gradFill>
              <a:gsLst>
                <a:gs pos="0">
                  <a:srgbClr val="FAFDFF">
                    <a:alpha val="65000"/>
                  </a:srgbClr>
                </a:gs>
                <a:gs pos="100000">
                  <a:srgbClr val="D9EAFA">
                    <a:alpha val="45000"/>
                  </a:srgbClr>
                </a:gs>
              </a:gsLst>
              <a:lin ang="5400000"/>
            </a:gradFill>
            <a:ln w="2700">
              <a:solidFill>
                <a:srgbClr val="A3C3E2"/>
              </a:solidFill>
            </a:ln>
          </p:spPr>
        </p:sp>
        <p:sp>
          <p:nvSpPr>
            <p:cNvPr id="196" name="asset_3169_1">
              <a:extLst>
                <a:ext uri="{FF2B5EF4-FFF2-40B4-BE49-F238E27FC236}">
                  <a16:creationId xmlns:a16="http://schemas.microsoft.com/office/drawing/2014/main" id="{BB9FDCA6-FD6B-B7A6-047C-4701E252A57B}"/>
                </a:ext>
              </a:extLst>
            </p:cNvPr>
            <p:cNvSpPr>
              <a:spLocks noGrp="1"/>
            </p:cNvSpPr>
            <p:nvPr/>
          </p:nvSpPr>
          <p:spPr>
            <a:xfrm>
              <a:off x="2312816" y="5635440"/>
              <a:ext cx="29344" cy="131400"/>
            </a:xfrm>
            <a:custGeom>
              <a:avLst/>
              <a:gdLst/>
              <a:ahLst/>
              <a:cxnLst/>
              <a:rect l="0" t="0" r="0" b="0"/>
              <a:pathLst>
                <a:path w="29344" h="131400">
                  <a:moveTo>
                    <a:pt x="0" y="22338"/>
                  </a:moveTo>
                  <a:lnTo>
                    <a:pt x="29344" y="0"/>
                  </a:lnTo>
                  <a:lnTo>
                    <a:pt x="29344" y="109062"/>
                  </a:lnTo>
                  <a:lnTo>
                    <a:pt x="0" y="131400"/>
                  </a:lnTo>
                  <a:close/>
                </a:path>
              </a:pathLst>
            </a:custGeom>
            <a:solidFill>
              <a:srgbClr val="C9DFF3">
                <a:alpha val="22000"/>
              </a:srgbClr>
            </a:solidFill>
            <a:ln w="2700">
              <a:solidFill>
                <a:srgbClr val="A3C3E2"/>
              </a:solidFill>
            </a:ln>
          </p:spPr>
        </p:sp>
        <p:sp>
          <p:nvSpPr>
            <p:cNvPr id="197" name="asset_3169_2">
              <a:extLst>
                <a:ext uri="{FF2B5EF4-FFF2-40B4-BE49-F238E27FC236}">
                  <a16:creationId xmlns:a16="http://schemas.microsoft.com/office/drawing/2014/main" id="{AE2C0B7C-FF66-7248-E5E2-CC471832A73A}"/>
                </a:ext>
              </a:extLst>
            </p:cNvPr>
            <p:cNvSpPr>
              <a:spLocks noGrp="1"/>
            </p:cNvSpPr>
            <p:nvPr/>
          </p:nvSpPr>
          <p:spPr>
            <a:xfrm>
              <a:off x="2187720" y="5657778"/>
              <a:ext cx="125096" cy="109062"/>
            </a:xfrm>
            <a:prstGeom prst="rect">
              <a:avLst/>
            </a:prstGeom>
            <a:solidFill>
              <a:srgbClr val="E7F1FC">
                <a:alpha val="20000"/>
              </a:srgbClr>
            </a:solidFill>
            <a:ln w="2700">
              <a:solidFill>
                <a:srgbClr val="ABC9E7"/>
              </a:solidFill>
            </a:ln>
          </p:spPr>
        </p:sp>
        <p:sp>
          <p:nvSpPr>
            <p:cNvPr id="198" name="asset_3169_3">
              <a:extLst>
                <a:ext uri="{FF2B5EF4-FFF2-40B4-BE49-F238E27FC236}">
                  <a16:creationId xmlns:a16="http://schemas.microsoft.com/office/drawing/2014/main" id="{9AC7A3C8-27B7-E814-3472-6CBBB3FF203D}"/>
                </a:ext>
              </a:extLst>
            </p:cNvPr>
            <p:cNvSpPr>
              <a:spLocks noGrp="1"/>
            </p:cNvSpPr>
            <p:nvPr/>
          </p:nvSpPr>
          <p:spPr>
            <a:xfrm>
              <a:off x="2218994" y="5657778"/>
              <a:ext cx="4" cy="109062"/>
            </a:xfrm>
            <a:prstGeom prst="line">
              <a:avLst/>
            </a:prstGeom>
            <a:noFill/>
            <a:ln w="1980">
              <a:solidFill>
                <a:srgbClr val="B8D2EB">
                  <a:alpha val="33000"/>
                </a:srgbClr>
              </a:solidFill>
            </a:ln>
          </p:spPr>
        </p:sp>
        <p:sp>
          <p:nvSpPr>
            <p:cNvPr id="199" name="asset_3169_4">
              <a:extLst>
                <a:ext uri="{FF2B5EF4-FFF2-40B4-BE49-F238E27FC236}">
                  <a16:creationId xmlns:a16="http://schemas.microsoft.com/office/drawing/2014/main" id="{DC988335-BF80-C618-0A86-3BFF6D45B8CE}"/>
                </a:ext>
              </a:extLst>
            </p:cNvPr>
            <p:cNvSpPr>
              <a:spLocks noGrp="1"/>
            </p:cNvSpPr>
            <p:nvPr/>
          </p:nvSpPr>
          <p:spPr>
            <a:xfrm>
              <a:off x="2187720" y="5685044"/>
              <a:ext cx="125096" cy="4"/>
            </a:xfrm>
            <a:prstGeom prst="line">
              <a:avLst/>
            </a:prstGeom>
            <a:noFill/>
            <a:ln w="1980">
              <a:solidFill>
                <a:srgbClr val="B8D2EB">
                  <a:alpha val="33000"/>
                </a:srgbClr>
              </a:solidFill>
            </a:ln>
          </p:spPr>
        </p:sp>
        <p:sp>
          <p:nvSpPr>
            <p:cNvPr id="200" name="asset_3169_5">
              <a:extLst>
                <a:ext uri="{FF2B5EF4-FFF2-40B4-BE49-F238E27FC236}">
                  <a16:creationId xmlns:a16="http://schemas.microsoft.com/office/drawing/2014/main" id="{BB13C997-3CC9-D098-B13B-59AEF535667A}"/>
                </a:ext>
              </a:extLst>
            </p:cNvPr>
            <p:cNvSpPr>
              <a:spLocks noGrp="1"/>
            </p:cNvSpPr>
            <p:nvPr/>
          </p:nvSpPr>
          <p:spPr>
            <a:xfrm>
              <a:off x="2250268" y="5657778"/>
              <a:ext cx="4" cy="109062"/>
            </a:xfrm>
            <a:prstGeom prst="line">
              <a:avLst/>
            </a:prstGeom>
            <a:noFill/>
            <a:ln w="1980">
              <a:solidFill>
                <a:srgbClr val="B8D2EB">
                  <a:alpha val="33000"/>
                </a:srgbClr>
              </a:solidFill>
            </a:ln>
          </p:spPr>
        </p:sp>
        <p:sp>
          <p:nvSpPr>
            <p:cNvPr id="201" name="asset_3169_6">
              <a:extLst>
                <a:ext uri="{FF2B5EF4-FFF2-40B4-BE49-F238E27FC236}">
                  <a16:creationId xmlns:a16="http://schemas.microsoft.com/office/drawing/2014/main" id="{FA960B58-6CD9-D870-7065-E0C9692019DF}"/>
                </a:ext>
              </a:extLst>
            </p:cNvPr>
            <p:cNvSpPr>
              <a:spLocks noGrp="1"/>
            </p:cNvSpPr>
            <p:nvPr/>
          </p:nvSpPr>
          <p:spPr>
            <a:xfrm>
              <a:off x="2187720" y="5712309"/>
              <a:ext cx="125096" cy="4"/>
            </a:xfrm>
            <a:prstGeom prst="line">
              <a:avLst/>
            </a:prstGeom>
            <a:noFill/>
            <a:ln w="1980">
              <a:solidFill>
                <a:srgbClr val="B8D2EB">
                  <a:alpha val="33000"/>
                </a:srgbClr>
              </a:solidFill>
            </a:ln>
          </p:spPr>
        </p:sp>
        <p:sp>
          <p:nvSpPr>
            <p:cNvPr id="202" name="asset_3169_7">
              <a:extLst>
                <a:ext uri="{FF2B5EF4-FFF2-40B4-BE49-F238E27FC236}">
                  <a16:creationId xmlns:a16="http://schemas.microsoft.com/office/drawing/2014/main" id="{8BD076EB-0B46-5305-7404-DF23DE6C3E0D}"/>
                </a:ext>
              </a:extLst>
            </p:cNvPr>
            <p:cNvSpPr>
              <a:spLocks noGrp="1"/>
            </p:cNvSpPr>
            <p:nvPr/>
          </p:nvSpPr>
          <p:spPr>
            <a:xfrm>
              <a:off x="2281542" y="5657778"/>
              <a:ext cx="4" cy="109062"/>
            </a:xfrm>
            <a:prstGeom prst="line">
              <a:avLst/>
            </a:prstGeom>
            <a:noFill/>
            <a:ln w="1980">
              <a:solidFill>
                <a:srgbClr val="B8D2EB">
                  <a:alpha val="33000"/>
                </a:srgbClr>
              </a:solidFill>
            </a:ln>
          </p:spPr>
        </p:sp>
        <p:sp>
          <p:nvSpPr>
            <p:cNvPr id="203" name="asset_3169_8">
              <a:extLst>
                <a:ext uri="{FF2B5EF4-FFF2-40B4-BE49-F238E27FC236}">
                  <a16:creationId xmlns:a16="http://schemas.microsoft.com/office/drawing/2014/main" id="{7D824118-88F7-31F2-D890-D6967826A470}"/>
                </a:ext>
              </a:extLst>
            </p:cNvPr>
            <p:cNvSpPr>
              <a:spLocks noGrp="1"/>
            </p:cNvSpPr>
            <p:nvPr/>
          </p:nvSpPr>
          <p:spPr>
            <a:xfrm>
              <a:off x="2187720" y="5739574"/>
              <a:ext cx="125096" cy="4"/>
            </a:xfrm>
            <a:prstGeom prst="line">
              <a:avLst/>
            </a:prstGeom>
            <a:noFill/>
            <a:ln w="1980">
              <a:solidFill>
                <a:srgbClr val="B8D2EB">
                  <a:alpha val="33000"/>
                </a:srgbClr>
              </a:solidFill>
            </a:ln>
          </p:spPr>
        </p:sp>
        <p:sp>
          <p:nvSpPr>
            <p:cNvPr id="204" name="asset_3169_9">
              <a:extLst>
                <a:ext uri="{FF2B5EF4-FFF2-40B4-BE49-F238E27FC236}">
                  <a16:creationId xmlns:a16="http://schemas.microsoft.com/office/drawing/2014/main" id="{B1A9B286-2CCF-AFCF-C76E-E08A2FAA2E55}"/>
                </a:ext>
              </a:extLst>
            </p:cNvPr>
            <p:cNvSpPr>
              <a:spLocks noGrp="1"/>
            </p:cNvSpPr>
            <p:nvPr/>
          </p:nvSpPr>
          <p:spPr>
            <a:xfrm>
              <a:off x="2198791" y="5672574"/>
              <a:ext cx="58245" cy="50256"/>
            </a:xfrm>
            <a:prstGeom prst="ellipse">
              <a:avLst/>
            </a:prstGeom>
            <a:gradFill>
              <a:gsLst>
                <a:gs pos="0">
                  <a:srgbClr val="E5F0FF">
                    <a:alpha val="55000"/>
                  </a:srgbClr>
                </a:gs>
                <a:gs pos="48000">
                  <a:srgbClr val="7DA9DB">
                    <a:alpha val="60000"/>
                  </a:srgbClr>
                </a:gs>
                <a:gs pos="100000">
                  <a:srgbClr val="7DA9DB">
                    <a:alpha val="35000"/>
                  </a:srgbClr>
                </a:gs>
              </a:gsLst>
              <a:lin ang="8400000"/>
            </a:gradFill>
            <a:ln w="3600">
              <a:noFill/>
            </a:ln>
            <a:effectLst>
              <a:softEdge rad="4320"/>
            </a:effectLst>
          </p:spPr>
        </p:sp>
        <p:sp>
          <p:nvSpPr>
            <p:cNvPr id="205" name="asset_3169_10">
              <a:extLst>
                <a:ext uri="{FF2B5EF4-FFF2-40B4-BE49-F238E27FC236}">
                  <a16:creationId xmlns:a16="http://schemas.microsoft.com/office/drawing/2014/main" id="{50943580-3A5E-1AF3-3CAB-9FAD8D5A272E}"/>
                </a:ext>
              </a:extLst>
            </p:cNvPr>
            <p:cNvSpPr>
              <a:spLocks noGrp="1"/>
            </p:cNvSpPr>
            <p:nvPr/>
          </p:nvSpPr>
          <p:spPr>
            <a:xfrm>
              <a:off x="2225487" y="5687232"/>
              <a:ext cx="63099" cy="54444"/>
            </a:xfrm>
            <a:prstGeom prst="ellipse">
              <a:avLst/>
            </a:prstGeom>
            <a:gradFill>
              <a:gsLst>
                <a:gs pos="0">
                  <a:srgbClr val="E5F0FF">
                    <a:alpha val="55000"/>
                  </a:srgbClr>
                </a:gs>
                <a:gs pos="48000">
                  <a:srgbClr val="7DA9DB">
                    <a:alpha val="60000"/>
                  </a:srgbClr>
                </a:gs>
                <a:gs pos="100000">
                  <a:srgbClr val="7DA9DB">
                    <a:alpha val="35000"/>
                  </a:srgbClr>
                </a:gs>
              </a:gsLst>
              <a:lin ang="8400000"/>
            </a:gradFill>
            <a:ln w="3600">
              <a:noFill/>
            </a:ln>
            <a:effectLst>
              <a:softEdge rad="4320"/>
            </a:effectLst>
          </p:spPr>
        </p:sp>
        <p:sp>
          <p:nvSpPr>
            <p:cNvPr id="206" name="asset_3169_11">
              <a:extLst>
                <a:ext uri="{FF2B5EF4-FFF2-40B4-BE49-F238E27FC236}">
                  <a16:creationId xmlns:a16="http://schemas.microsoft.com/office/drawing/2014/main" id="{9B2EE1F6-8F68-467D-62D7-0238AFB97C65}"/>
                </a:ext>
              </a:extLst>
            </p:cNvPr>
            <p:cNvSpPr>
              <a:spLocks noGrp="1"/>
            </p:cNvSpPr>
            <p:nvPr/>
          </p:nvSpPr>
          <p:spPr>
            <a:xfrm>
              <a:off x="2248542" y="5660010"/>
              <a:ext cx="55818" cy="48162"/>
            </a:xfrm>
            <a:prstGeom prst="ellipse">
              <a:avLst/>
            </a:prstGeom>
            <a:gradFill>
              <a:gsLst>
                <a:gs pos="0">
                  <a:srgbClr val="E5F0FF">
                    <a:alpha val="55000"/>
                  </a:srgbClr>
                </a:gs>
                <a:gs pos="48000">
                  <a:srgbClr val="7DA9DB">
                    <a:alpha val="60000"/>
                  </a:srgbClr>
                </a:gs>
                <a:gs pos="100000">
                  <a:srgbClr val="7DA9DB">
                    <a:alpha val="35000"/>
                  </a:srgbClr>
                </a:gs>
              </a:gsLst>
              <a:lin ang="8400000"/>
            </a:gradFill>
            <a:ln w="3600">
              <a:noFill/>
            </a:ln>
            <a:effectLst>
              <a:softEdge rad="4320"/>
            </a:effectLst>
          </p:spPr>
        </p:sp>
        <p:sp>
          <p:nvSpPr>
            <p:cNvPr id="207" name="asset_3169_12">
              <a:extLst>
                <a:ext uri="{FF2B5EF4-FFF2-40B4-BE49-F238E27FC236}">
                  <a16:creationId xmlns:a16="http://schemas.microsoft.com/office/drawing/2014/main" id="{E06C1225-15E6-7CED-7C79-75DFE835F56C}"/>
                </a:ext>
              </a:extLst>
            </p:cNvPr>
            <p:cNvSpPr>
              <a:spLocks noGrp="1"/>
            </p:cNvSpPr>
            <p:nvPr/>
          </p:nvSpPr>
          <p:spPr>
            <a:xfrm>
              <a:off x="2223060" y="5652681"/>
              <a:ext cx="53391" cy="46068"/>
            </a:xfrm>
            <a:prstGeom prst="ellipse">
              <a:avLst/>
            </a:prstGeom>
            <a:gradFill>
              <a:gsLst>
                <a:gs pos="0">
                  <a:srgbClr val="E5F0FF">
                    <a:alpha val="55000"/>
                  </a:srgbClr>
                </a:gs>
                <a:gs pos="48000">
                  <a:srgbClr val="7DA9DB">
                    <a:alpha val="60000"/>
                  </a:srgbClr>
                </a:gs>
                <a:gs pos="100000">
                  <a:srgbClr val="7DA9DB">
                    <a:alpha val="35000"/>
                  </a:srgbClr>
                </a:gs>
              </a:gsLst>
              <a:lin ang="8400000"/>
            </a:gradFill>
            <a:ln w="3600">
              <a:noFill/>
            </a:ln>
            <a:effectLst>
              <a:softEdge rad="4320"/>
            </a:effectLst>
          </p:spPr>
        </p:sp>
        <p:sp>
          <p:nvSpPr>
            <p:cNvPr id="208" name="asset_3169_13">
              <a:extLst>
                <a:ext uri="{FF2B5EF4-FFF2-40B4-BE49-F238E27FC236}">
                  <a16:creationId xmlns:a16="http://schemas.microsoft.com/office/drawing/2014/main" id="{C9ED8206-6159-8993-577B-1731FCB6118B}"/>
                </a:ext>
              </a:extLst>
            </p:cNvPr>
            <p:cNvSpPr>
              <a:spLocks noGrp="1"/>
            </p:cNvSpPr>
            <p:nvPr/>
          </p:nvSpPr>
          <p:spPr>
            <a:xfrm>
              <a:off x="2207281" y="5693871"/>
              <a:ext cx="30911" cy="26671"/>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09" name="asset_3169_14">
              <a:extLst>
                <a:ext uri="{FF2B5EF4-FFF2-40B4-BE49-F238E27FC236}">
                  <a16:creationId xmlns:a16="http://schemas.microsoft.com/office/drawing/2014/main" id="{18A1968A-F601-BB27-02CC-7E0C411EF820}"/>
                </a:ext>
              </a:extLst>
            </p:cNvPr>
            <p:cNvSpPr>
              <a:spLocks noGrp="1"/>
            </p:cNvSpPr>
            <p:nvPr/>
          </p:nvSpPr>
          <p:spPr>
            <a:xfrm>
              <a:off x="2253557" y="5697302"/>
              <a:ext cx="21556" cy="18600"/>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10" name="asset_3169_15">
              <a:extLst>
                <a:ext uri="{FF2B5EF4-FFF2-40B4-BE49-F238E27FC236}">
                  <a16:creationId xmlns:a16="http://schemas.microsoft.com/office/drawing/2014/main" id="{E5F812E7-6A9C-A63C-8E5F-DBEBE1855D3A}"/>
                </a:ext>
              </a:extLst>
            </p:cNvPr>
            <p:cNvSpPr>
              <a:spLocks noGrp="1"/>
            </p:cNvSpPr>
            <p:nvPr/>
          </p:nvSpPr>
          <p:spPr>
            <a:xfrm>
              <a:off x="2278359" y="5672317"/>
              <a:ext cx="20931" cy="18060"/>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11" name="asset_3169_16">
              <a:extLst>
                <a:ext uri="{FF2B5EF4-FFF2-40B4-BE49-F238E27FC236}">
                  <a16:creationId xmlns:a16="http://schemas.microsoft.com/office/drawing/2014/main" id="{88A75D7C-478D-D156-B3B6-DF723BE04490}"/>
                </a:ext>
              </a:extLst>
            </p:cNvPr>
            <p:cNvSpPr>
              <a:spLocks noGrp="1"/>
            </p:cNvSpPr>
            <p:nvPr/>
          </p:nvSpPr>
          <p:spPr>
            <a:xfrm>
              <a:off x="2235959" y="5649092"/>
              <a:ext cx="26179" cy="22588"/>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12" name="asset_3169_17">
              <a:extLst>
                <a:ext uri="{FF2B5EF4-FFF2-40B4-BE49-F238E27FC236}">
                  <a16:creationId xmlns:a16="http://schemas.microsoft.com/office/drawing/2014/main" id="{DD7822BB-8012-2685-A130-95E697771425}"/>
                </a:ext>
              </a:extLst>
            </p:cNvPr>
            <p:cNvSpPr>
              <a:spLocks noGrp="1"/>
            </p:cNvSpPr>
            <p:nvPr/>
          </p:nvSpPr>
          <p:spPr>
            <a:xfrm>
              <a:off x="2230057" y="5690206"/>
              <a:ext cx="17158" cy="14805"/>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13" name="asset_3169_18">
              <a:extLst>
                <a:ext uri="{FF2B5EF4-FFF2-40B4-BE49-F238E27FC236}">
                  <a16:creationId xmlns:a16="http://schemas.microsoft.com/office/drawing/2014/main" id="{FEEEF573-3F17-2216-E4A6-1DBB5EBAEE8D}"/>
                </a:ext>
              </a:extLst>
            </p:cNvPr>
            <p:cNvSpPr>
              <a:spLocks noGrp="1"/>
            </p:cNvSpPr>
            <p:nvPr/>
          </p:nvSpPr>
          <p:spPr>
            <a:xfrm>
              <a:off x="2228799" y="5700798"/>
              <a:ext cx="17470" cy="15073"/>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14" name="asset_3169_19">
              <a:extLst>
                <a:ext uri="{FF2B5EF4-FFF2-40B4-BE49-F238E27FC236}">
                  <a16:creationId xmlns:a16="http://schemas.microsoft.com/office/drawing/2014/main" id="{924A02EC-2761-4D27-0417-D94F5EA86182}"/>
                </a:ext>
              </a:extLst>
            </p:cNvPr>
            <p:cNvSpPr>
              <a:spLocks noGrp="1"/>
            </p:cNvSpPr>
            <p:nvPr/>
          </p:nvSpPr>
          <p:spPr>
            <a:xfrm>
              <a:off x="2264745" y="5672793"/>
              <a:ext cx="22335" cy="19272"/>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15" name="asset_3169_20">
              <a:extLst>
                <a:ext uri="{FF2B5EF4-FFF2-40B4-BE49-F238E27FC236}">
                  <a16:creationId xmlns:a16="http://schemas.microsoft.com/office/drawing/2014/main" id="{B8C9F827-3A3D-687D-8FE0-A32629BDB547}"/>
                </a:ext>
              </a:extLst>
            </p:cNvPr>
            <p:cNvSpPr>
              <a:spLocks noGrp="1"/>
            </p:cNvSpPr>
            <p:nvPr/>
          </p:nvSpPr>
          <p:spPr>
            <a:xfrm>
              <a:off x="2247802" y="5671816"/>
              <a:ext cx="29288" cy="25271"/>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16" name="asset_3169_21">
              <a:extLst>
                <a:ext uri="{FF2B5EF4-FFF2-40B4-BE49-F238E27FC236}">
                  <a16:creationId xmlns:a16="http://schemas.microsoft.com/office/drawing/2014/main" id="{6D804863-507A-1071-7009-DA534C509754}"/>
                </a:ext>
              </a:extLst>
            </p:cNvPr>
            <p:cNvSpPr>
              <a:spLocks noGrp="1"/>
            </p:cNvSpPr>
            <p:nvPr/>
          </p:nvSpPr>
          <p:spPr>
            <a:xfrm>
              <a:off x="2221472" y="5673188"/>
              <a:ext cx="24803" cy="21401"/>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17" name="asset_3169_22">
              <a:extLst>
                <a:ext uri="{FF2B5EF4-FFF2-40B4-BE49-F238E27FC236}">
                  <a16:creationId xmlns:a16="http://schemas.microsoft.com/office/drawing/2014/main" id="{64301678-8F63-4755-3587-92D19ECC7A90}"/>
                </a:ext>
              </a:extLst>
            </p:cNvPr>
            <p:cNvSpPr>
              <a:spLocks noGrp="1"/>
            </p:cNvSpPr>
            <p:nvPr/>
          </p:nvSpPr>
          <p:spPr>
            <a:xfrm>
              <a:off x="2231057" y="5701581"/>
              <a:ext cx="27548" cy="23769"/>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18" name="asset_3169_23">
              <a:extLst>
                <a:ext uri="{FF2B5EF4-FFF2-40B4-BE49-F238E27FC236}">
                  <a16:creationId xmlns:a16="http://schemas.microsoft.com/office/drawing/2014/main" id="{5DB3F894-D7AE-0602-B355-0D3D7F9124BD}"/>
                </a:ext>
              </a:extLst>
            </p:cNvPr>
            <p:cNvSpPr>
              <a:spLocks noGrp="1"/>
            </p:cNvSpPr>
            <p:nvPr/>
          </p:nvSpPr>
          <p:spPr>
            <a:xfrm>
              <a:off x="2264932" y="5667506"/>
              <a:ext cx="28421" cy="24522"/>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19" name="asset_3169_24">
              <a:extLst>
                <a:ext uri="{FF2B5EF4-FFF2-40B4-BE49-F238E27FC236}">
                  <a16:creationId xmlns:a16="http://schemas.microsoft.com/office/drawing/2014/main" id="{86D7A8BE-CC84-7B50-8DD2-71BE87B94B1B}"/>
                </a:ext>
              </a:extLst>
            </p:cNvPr>
            <p:cNvSpPr>
              <a:spLocks noGrp="1"/>
            </p:cNvSpPr>
            <p:nvPr/>
          </p:nvSpPr>
          <p:spPr>
            <a:xfrm>
              <a:off x="2231286" y="5661727"/>
              <a:ext cx="25293" cy="21823"/>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20" name="asset_3169_25">
              <a:extLst>
                <a:ext uri="{FF2B5EF4-FFF2-40B4-BE49-F238E27FC236}">
                  <a16:creationId xmlns:a16="http://schemas.microsoft.com/office/drawing/2014/main" id="{86E0DFCC-182E-7332-E0FD-3EDE7459BA4F}"/>
                </a:ext>
              </a:extLst>
            </p:cNvPr>
            <p:cNvSpPr>
              <a:spLocks noGrp="1"/>
            </p:cNvSpPr>
            <p:nvPr/>
          </p:nvSpPr>
          <p:spPr>
            <a:xfrm>
              <a:off x="2203520" y="5678934"/>
              <a:ext cx="26056" cy="22482"/>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21" name="asset_3169_26">
              <a:extLst>
                <a:ext uri="{FF2B5EF4-FFF2-40B4-BE49-F238E27FC236}">
                  <a16:creationId xmlns:a16="http://schemas.microsoft.com/office/drawing/2014/main" id="{DC53445E-099B-4981-15B7-C918DF924D39}"/>
                </a:ext>
              </a:extLst>
            </p:cNvPr>
            <p:cNvSpPr>
              <a:spLocks noGrp="1"/>
            </p:cNvSpPr>
            <p:nvPr/>
          </p:nvSpPr>
          <p:spPr>
            <a:xfrm>
              <a:off x="2258761" y="5717055"/>
              <a:ext cx="20939" cy="18067"/>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22" name="asset_3169_27">
              <a:extLst>
                <a:ext uri="{FF2B5EF4-FFF2-40B4-BE49-F238E27FC236}">
                  <a16:creationId xmlns:a16="http://schemas.microsoft.com/office/drawing/2014/main" id="{0DBC8C13-9FAD-509C-BA5C-DD142E8D6386}"/>
                </a:ext>
              </a:extLst>
            </p:cNvPr>
            <p:cNvSpPr>
              <a:spLocks noGrp="1"/>
            </p:cNvSpPr>
            <p:nvPr/>
          </p:nvSpPr>
          <p:spPr>
            <a:xfrm>
              <a:off x="2262469" y="5681666"/>
              <a:ext cx="24125" cy="20816"/>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23" name="asset_3169_28">
              <a:extLst>
                <a:ext uri="{FF2B5EF4-FFF2-40B4-BE49-F238E27FC236}">
                  <a16:creationId xmlns:a16="http://schemas.microsoft.com/office/drawing/2014/main" id="{B1B436FC-DC4F-421C-127B-00939749C253}"/>
                </a:ext>
              </a:extLst>
            </p:cNvPr>
            <p:cNvSpPr>
              <a:spLocks noGrp="1"/>
            </p:cNvSpPr>
            <p:nvPr/>
          </p:nvSpPr>
          <p:spPr>
            <a:xfrm>
              <a:off x="2238082" y="5671347"/>
              <a:ext cx="27389" cy="23632"/>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24" name="asset_3169_29">
              <a:extLst>
                <a:ext uri="{FF2B5EF4-FFF2-40B4-BE49-F238E27FC236}">
                  <a16:creationId xmlns:a16="http://schemas.microsoft.com/office/drawing/2014/main" id="{F87C9D41-5880-F7A2-C992-43A9F3B61B63}"/>
                </a:ext>
              </a:extLst>
            </p:cNvPr>
            <p:cNvSpPr>
              <a:spLocks noGrp="1"/>
            </p:cNvSpPr>
            <p:nvPr/>
          </p:nvSpPr>
          <p:spPr>
            <a:xfrm>
              <a:off x="2220795" y="5698579"/>
              <a:ext cx="25648" cy="22130"/>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25" name="asset_3169_30">
              <a:extLst>
                <a:ext uri="{FF2B5EF4-FFF2-40B4-BE49-F238E27FC236}">
                  <a16:creationId xmlns:a16="http://schemas.microsoft.com/office/drawing/2014/main" id="{24EF5F8A-D11A-63A0-707C-DB80B278A79F}"/>
                </a:ext>
              </a:extLst>
            </p:cNvPr>
            <p:cNvSpPr>
              <a:spLocks noGrp="1"/>
            </p:cNvSpPr>
            <p:nvPr/>
          </p:nvSpPr>
          <p:spPr>
            <a:xfrm>
              <a:off x="2243067" y="5723084"/>
              <a:ext cx="17688" cy="15262"/>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26" name="asset_3169_31">
              <a:extLst>
                <a:ext uri="{FF2B5EF4-FFF2-40B4-BE49-F238E27FC236}">
                  <a16:creationId xmlns:a16="http://schemas.microsoft.com/office/drawing/2014/main" id="{7BBEFCBF-344F-FFF8-92B5-B39B06339192}"/>
                </a:ext>
              </a:extLst>
            </p:cNvPr>
            <p:cNvSpPr>
              <a:spLocks noGrp="1"/>
            </p:cNvSpPr>
            <p:nvPr/>
          </p:nvSpPr>
          <p:spPr>
            <a:xfrm>
              <a:off x="2257337" y="5659622"/>
              <a:ext cx="26336" cy="22723"/>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27" name="asset_3169_32">
              <a:extLst>
                <a:ext uri="{FF2B5EF4-FFF2-40B4-BE49-F238E27FC236}">
                  <a16:creationId xmlns:a16="http://schemas.microsoft.com/office/drawing/2014/main" id="{98DBA2D9-BA44-C901-DB18-8392A79E41BF}"/>
                </a:ext>
              </a:extLst>
            </p:cNvPr>
            <p:cNvSpPr>
              <a:spLocks noGrp="1"/>
            </p:cNvSpPr>
            <p:nvPr/>
          </p:nvSpPr>
          <p:spPr>
            <a:xfrm>
              <a:off x="2256492" y="5666095"/>
              <a:ext cx="23460" cy="20242"/>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28" name="asset_3169_33">
              <a:extLst>
                <a:ext uri="{FF2B5EF4-FFF2-40B4-BE49-F238E27FC236}">
                  <a16:creationId xmlns:a16="http://schemas.microsoft.com/office/drawing/2014/main" id="{42757868-5E62-1D86-D054-7A9C657C84FA}"/>
                </a:ext>
              </a:extLst>
            </p:cNvPr>
            <p:cNvSpPr>
              <a:spLocks noGrp="1"/>
            </p:cNvSpPr>
            <p:nvPr/>
          </p:nvSpPr>
          <p:spPr>
            <a:xfrm>
              <a:off x="2210503" y="5688799"/>
              <a:ext cx="30840" cy="26610"/>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29" name="asset_3169_34">
              <a:extLst>
                <a:ext uri="{FF2B5EF4-FFF2-40B4-BE49-F238E27FC236}">
                  <a16:creationId xmlns:a16="http://schemas.microsoft.com/office/drawing/2014/main" id="{E6942F4F-1E9A-8B9D-48D3-73BC97FAF211}"/>
                </a:ext>
              </a:extLst>
            </p:cNvPr>
            <p:cNvSpPr>
              <a:spLocks noGrp="1"/>
            </p:cNvSpPr>
            <p:nvPr/>
          </p:nvSpPr>
          <p:spPr>
            <a:xfrm>
              <a:off x="2236186" y="5705144"/>
              <a:ext cx="22611" cy="19510"/>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30" name="asset_3169_35">
              <a:extLst>
                <a:ext uri="{FF2B5EF4-FFF2-40B4-BE49-F238E27FC236}">
                  <a16:creationId xmlns:a16="http://schemas.microsoft.com/office/drawing/2014/main" id="{28220772-1803-4BF5-911B-9B8CF1AA0A60}"/>
                </a:ext>
              </a:extLst>
            </p:cNvPr>
            <p:cNvSpPr>
              <a:spLocks noGrp="1"/>
            </p:cNvSpPr>
            <p:nvPr/>
          </p:nvSpPr>
          <p:spPr>
            <a:xfrm>
              <a:off x="2260671" y="5685042"/>
              <a:ext cx="19267" cy="16624"/>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31" name="asset_3169_36">
              <a:extLst>
                <a:ext uri="{FF2B5EF4-FFF2-40B4-BE49-F238E27FC236}">
                  <a16:creationId xmlns:a16="http://schemas.microsoft.com/office/drawing/2014/main" id="{D980877C-C290-8667-722A-A443C1FF33DB}"/>
                </a:ext>
              </a:extLst>
            </p:cNvPr>
            <p:cNvSpPr>
              <a:spLocks noGrp="1"/>
            </p:cNvSpPr>
            <p:nvPr/>
          </p:nvSpPr>
          <p:spPr>
            <a:xfrm>
              <a:off x="2255827" y="5658297"/>
              <a:ext cx="24486" cy="21128"/>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32" name="asset_3169_37">
              <a:extLst>
                <a:ext uri="{FF2B5EF4-FFF2-40B4-BE49-F238E27FC236}">
                  <a16:creationId xmlns:a16="http://schemas.microsoft.com/office/drawing/2014/main" id="{12103D9A-5F4A-DE6A-2604-3BBC3B01A99D}"/>
                </a:ext>
              </a:extLst>
            </p:cNvPr>
            <p:cNvSpPr>
              <a:spLocks noGrp="1"/>
            </p:cNvSpPr>
            <p:nvPr/>
          </p:nvSpPr>
          <p:spPr>
            <a:xfrm>
              <a:off x="2212444" y="5679829"/>
              <a:ext cx="19456" cy="16787"/>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33" name="asset_3169_38">
              <a:extLst>
                <a:ext uri="{FF2B5EF4-FFF2-40B4-BE49-F238E27FC236}">
                  <a16:creationId xmlns:a16="http://schemas.microsoft.com/office/drawing/2014/main" id="{05A758B1-577D-8F4F-828C-72418D4D0819}"/>
                </a:ext>
              </a:extLst>
            </p:cNvPr>
            <p:cNvSpPr>
              <a:spLocks noGrp="1"/>
            </p:cNvSpPr>
            <p:nvPr/>
          </p:nvSpPr>
          <p:spPr>
            <a:xfrm>
              <a:off x="2240936" y="5686210"/>
              <a:ext cx="21405" cy="18469"/>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34" name="asset_3169_39">
              <a:extLst>
                <a:ext uri="{FF2B5EF4-FFF2-40B4-BE49-F238E27FC236}">
                  <a16:creationId xmlns:a16="http://schemas.microsoft.com/office/drawing/2014/main" id="{91D2674B-6958-74FA-F76A-68FDD0DEB829}"/>
                </a:ext>
              </a:extLst>
            </p:cNvPr>
            <p:cNvSpPr>
              <a:spLocks noGrp="1"/>
            </p:cNvSpPr>
            <p:nvPr/>
          </p:nvSpPr>
          <p:spPr>
            <a:xfrm>
              <a:off x="2265093" y="5678881"/>
              <a:ext cx="26532" cy="22893"/>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95" name="asset_3169_40">
              <a:extLst>
                <a:ext uri="{FF2B5EF4-FFF2-40B4-BE49-F238E27FC236}">
                  <a16:creationId xmlns:a16="http://schemas.microsoft.com/office/drawing/2014/main" id="{44F77718-79CC-C69D-9539-49F9D86C353F}"/>
                </a:ext>
              </a:extLst>
            </p:cNvPr>
            <p:cNvSpPr>
              <a:spLocks noGrp="1"/>
            </p:cNvSpPr>
            <p:nvPr/>
          </p:nvSpPr>
          <p:spPr>
            <a:xfrm>
              <a:off x="2229701" y="5665168"/>
              <a:ext cx="29465" cy="25424"/>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96" name="asset_3169_41">
              <a:extLst>
                <a:ext uri="{FF2B5EF4-FFF2-40B4-BE49-F238E27FC236}">
                  <a16:creationId xmlns:a16="http://schemas.microsoft.com/office/drawing/2014/main" id="{97485A8E-48A7-5E7D-904B-AEEEC89F0FFA}"/>
                </a:ext>
              </a:extLst>
            </p:cNvPr>
            <p:cNvSpPr>
              <a:spLocks noGrp="1"/>
            </p:cNvSpPr>
            <p:nvPr/>
          </p:nvSpPr>
          <p:spPr>
            <a:xfrm>
              <a:off x="2222658" y="5680582"/>
              <a:ext cx="27660" cy="23866"/>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307" name="asset_3169_42">
              <a:extLst>
                <a:ext uri="{FF2B5EF4-FFF2-40B4-BE49-F238E27FC236}">
                  <a16:creationId xmlns:a16="http://schemas.microsoft.com/office/drawing/2014/main" id="{19242446-E02C-DC93-D213-E5195F876762}"/>
                </a:ext>
              </a:extLst>
            </p:cNvPr>
            <p:cNvSpPr>
              <a:spLocks noGrp="1"/>
            </p:cNvSpPr>
            <p:nvPr/>
          </p:nvSpPr>
          <p:spPr>
            <a:xfrm>
              <a:off x="2243804" y="5697201"/>
              <a:ext cx="17846" cy="15398"/>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308" name="asset_3169_43">
              <a:extLst>
                <a:ext uri="{FF2B5EF4-FFF2-40B4-BE49-F238E27FC236}">
                  <a16:creationId xmlns:a16="http://schemas.microsoft.com/office/drawing/2014/main" id="{000B3A35-DE45-8099-6DD3-7B80D76AFC6B}"/>
                </a:ext>
              </a:extLst>
            </p:cNvPr>
            <p:cNvSpPr>
              <a:spLocks noGrp="1"/>
            </p:cNvSpPr>
            <p:nvPr/>
          </p:nvSpPr>
          <p:spPr>
            <a:xfrm>
              <a:off x="2262800" y="5690235"/>
              <a:ext cx="21180" cy="18275"/>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309" name="asset_3169_44">
              <a:extLst>
                <a:ext uri="{FF2B5EF4-FFF2-40B4-BE49-F238E27FC236}">
                  <a16:creationId xmlns:a16="http://schemas.microsoft.com/office/drawing/2014/main" id="{B0021AE1-848A-9994-FE0A-F2D71229E44E}"/>
                </a:ext>
              </a:extLst>
            </p:cNvPr>
            <p:cNvSpPr>
              <a:spLocks noGrp="1"/>
            </p:cNvSpPr>
            <p:nvPr/>
          </p:nvSpPr>
          <p:spPr>
            <a:xfrm>
              <a:off x="2235058" y="5658630"/>
              <a:ext cx="25840" cy="22296"/>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310" name="asset_3169_45">
              <a:extLst>
                <a:ext uri="{FF2B5EF4-FFF2-40B4-BE49-F238E27FC236}">
                  <a16:creationId xmlns:a16="http://schemas.microsoft.com/office/drawing/2014/main" id="{6E6D27E4-5FC9-01D9-CE44-7953B1BB9200}"/>
                </a:ext>
              </a:extLst>
            </p:cNvPr>
            <p:cNvSpPr>
              <a:spLocks noGrp="1"/>
            </p:cNvSpPr>
            <p:nvPr/>
          </p:nvSpPr>
          <p:spPr>
            <a:xfrm>
              <a:off x="2211228" y="5681493"/>
              <a:ext cx="31451" cy="27137"/>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311" name="asset_3169_46">
              <a:extLst>
                <a:ext uri="{FF2B5EF4-FFF2-40B4-BE49-F238E27FC236}">
                  <a16:creationId xmlns:a16="http://schemas.microsoft.com/office/drawing/2014/main" id="{78C7DDCC-3F32-DC72-1F64-19F72FC3996B}"/>
                </a:ext>
              </a:extLst>
            </p:cNvPr>
            <p:cNvSpPr>
              <a:spLocks noGrp="1"/>
            </p:cNvSpPr>
            <p:nvPr/>
          </p:nvSpPr>
          <p:spPr>
            <a:xfrm>
              <a:off x="2234524" y="5703451"/>
              <a:ext cx="21739" cy="18757"/>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312" name="asset_3169_47">
              <a:extLst>
                <a:ext uri="{FF2B5EF4-FFF2-40B4-BE49-F238E27FC236}">
                  <a16:creationId xmlns:a16="http://schemas.microsoft.com/office/drawing/2014/main" id="{E36B67E9-331A-60C8-B70A-60CBD28AFD25}"/>
                </a:ext>
              </a:extLst>
            </p:cNvPr>
            <p:cNvSpPr>
              <a:spLocks noGrp="1"/>
            </p:cNvSpPr>
            <p:nvPr/>
          </p:nvSpPr>
          <p:spPr>
            <a:xfrm>
              <a:off x="2269639" y="5693556"/>
              <a:ext cx="19299" cy="16652"/>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313" name="asset_3169_48">
              <a:extLst>
                <a:ext uri="{FF2B5EF4-FFF2-40B4-BE49-F238E27FC236}">
                  <a16:creationId xmlns:a16="http://schemas.microsoft.com/office/drawing/2014/main" id="{78A38DC7-93F6-ACDC-5122-6F45DFAAC7CC}"/>
                </a:ext>
              </a:extLst>
            </p:cNvPr>
            <p:cNvSpPr>
              <a:spLocks noGrp="1"/>
            </p:cNvSpPr>
            <p:nvPr/>
          </p:nvSpPr>
          <p:spPr>
            <a:xfrm>
              <a:off x="2221813" y="5667367"/>
              <a:ext cx="17021" cy="14686"/>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314" name="asset_3169_49">
              <a:extLst>
                <a:ext uri="{FF2B5EF4-FFF2-40B4-BE49-F238E27FC236}">
                  <a16:creationId xmlns:a16="http://schemas.microsoft.com/office/drawing/2014/main" id="{DD80C4AF-14C8-294D-D521-1BD447B67B86}"/>
                </a:ext>
              </a:extLst>
            </p:cNvPr>
            <p:cNvSpPr>
              <a:spLocks noGrp="1"/>
            </p:cNvSpPr>
            <p:nvPr/>
          </p:nvSpPr>
          <p:spPr>
            <a:xfrm>
              <a:off x="2208530" y="5668919"/>
              <a:ext cx="27524" cy="23749"/>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315" name="asset_3169_50">
              <a:extLst>
                <a:ext uri="{FF2B5EF4-FFF2-40B4-BE49-F238E27FC236}">
                  <a16:creationId xmlns:a16="http://schemas.microsoft.com/office/drawing/2014/main" id="{E4A9339C-5287-37DE-8BD8-B8ABADAD5CA6}"/>
                </a:ext>
              </a:extLst>
            </p:cNvPr>
            <p:cNvSpPr>
              <a:spLocks noGrp="1"/>
            </p:cNvSpPr>
            <p:nvPr/>
          </p:nvSpPr>
          <p:spPr>
            <a:xfrm>
              <a:off x="2251433" y="5689815"/>
              <a:ext cx="17431" cy="15040"/>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316" name="asset_3169_51">
              <a:extLst>
                <a:ext uri="{FF2B5EF4-FFF2-40B4-BE49-F238E27FC236}">
                  <a16:creationId xmlns:a16="http://schemas.microsoft.com/office/drawing/2014/main" id="{5B8BFC25-7B23-6F52-838E-024CE0A7260E}"/>
                </a:ext>
              </a:extLst>
            </p:cNvPr>
            <p:cNvSpPr>
              <a:spLocks noGrp="1"/>
            </p:cNvSpPr>
            <p:nvPr/>
          </p:nvSpPr>
          <p:spPr>
            <a:xfrm>
              <a:off x="2187720" y="5657778"/>
              <a:ext cx="125096" cy="109062"/>
            </a:xfrm>
            <a:custGeom>
              <a:avLst/>
              <a:gdLst/>
              <a:ahLst/>
              <a:cxnLst/>
              <a:rect l="0" t="0" r="0" b="0"/>
              <a:pathLst>
                <a:path w="125096" h="109062">
                  <a:moveTo>
                    <a:pt x="0" y="0"/>
                  </a:moveTo>
                  <a:lnTo>
                    <a:pt x="125096" y="0"/>
                  </a:lnTo>
                  <a:lnTo>
                    <a:pt x="125096" y="109062"/>
                  </a:lnTo>
                  <a:lnTo>
                    <a:pt x="0" y="109062"/>
                  </a:lnTo>
                  <a:close/>
                </a:path>
              </a:pathLst>
            </a:custGeom>
            <a:noFill/>
            <a:ln w="3600">
              <a:solidFill>
                <a:srgbClr val="8AB3D9"/>
              </a:solidFill>
            </a:ln>
          </p:spPr>
        </p:sp>
      </p:grpSp>
      <p:sp>
        <p:nvSpPr>
          <p:cNvPr id="317" name="TextBox 12306">
            <a:extLst>
              <a:ext uri="{FF2B5EF4-FFF2-40B4-BE49-F238E27FC236}">
                <a16:creationId xmlns:a16="http://schemas.microsoft.com/office/drawing/2014/main" id="{1DFF5A19-386C-FF30-1914-48C9462540D3}"/>
              </a:ext>
            </a:extLst>
          </p:cNvPr>
          <p:cNvSpPr txBox="1"/>
          <p:nvPr/>
        </p:nvSpPr>
        <p:spPr>
          <a:xfrm>
            <a:off x="5276711" y="1960854"/>
            <a:ext cx="819150" cy="93744"/>
          </a:xfrm>
          <a:prstGeom prst="rect">
            <a:avLst/>
          </a:prstGeom>
          <a:noFill/>
        </p:spPr>
        <p:txBody>
          <a:bodyPr wrap="square" lIns="0" tIns="0" rIns="0" bIns="0" anchor="ctr">
            <a:spAutoFit/>
          </a:bodyPr>
          <a:lstStyle/>
          <a:p>
            <a:pPr algn="l">
              <a:lnSpc>
                <a:spcPct val="105000"/>
              </a:lnSpc>
            </a:pPr>
            <a:r>
              <a:rPr sz="623" b="1" dirty="0" err="1">
                <a:solidFill>
                  <a:srgbClr val="263442"/>
                </a:solidFill>
                <a:latin typeface="Arial"/>
              </a:rPr>
              <a:t>DG-PocketXMol</a:t>
            </a:r>
            <a:endParaRPr sz="623" b="1" dirty="0">
              <a:solidFill>
                <a:srgbClr val="263442"/>
              </a:solidFill>
              <a:latin typeface="Arial"/>
            </a:endParaRPr>
          </a:p>
        </p:txBody>
      </p:sp>
      <p:sp>
        <p:nvSpPr>
          <p:cNvPr id="318" name="TextBox 12307">
            <a:extLst>
              <a:ext uri="{FF2B5EF4-FFF2-40B4-BE49-F238E27FC236}">
                <a16:creationId xmlns:a16="http://schemas.microsoft.com/office/drawing/2014/main" id="{B4D29725-54DF-3C3C-3D27-2D71351251F2}"/>
              </a:ext>
            </a:extLst>
          </p:cNvPr>
          <p:cNvSpPr txBox="1"/>
          <p:nvPr/>
        </p:nvSpPr>
        <p:spPr>
          <a:xfrm>
            <a:off x="5277204" y="2115727"/>
            <a:ext cx="819150" cy="163763"/>
          </a:xfrm>
          <a:prstGeom prst="rect">
            <a:avLst/>
          </a:prstGeom>
          <a:noFill/>
        </p:spPr>
        <p:txBody>
          <a:bodyPr wrap="square" lIns="0" tIns="0" rIns="0" bIns="0" anchor="ctr">
            <a:spAutoFit/>
          </a:bodyPr>
          <a:lstStyle/>
          <a:p>
            <a:pPr algn="l">
              <a:lnSpc>
                <a:spcPct val="96000"/>
              </a:lnSpc>
            </a:pPr>
            <a:r>
              <a:rPr sz="554" dirty="0">
                <a:solidFill>
                  <a:srgbClr val="263442"/>
                </a:solidFill>
                <a:latin typeface="Arial"/>
              </a:rPr>
              <a:t>Density-conditioned</a:t>
            </a:r>
            <a:endParaRPr lang="en-US" sz="554" dirty="0">
              <a:solidFill>
                <a:srgbClr val="263442"/>
              </a:solidFill>
              <a:latin typeface="Arial"/>
            </a:endParaRPr>
          </a:p>
          <a:p>
            <a:pPr algn="l">
              <a:lnSpc>
                <a:spcPct val="96000"/>
              </a:lnSpc>
            </a:pPr>
            <a:r>
              <a:rPr sz="554" dirty="0">
                <a:solidFill>
                  <a:srgbClr val="263442"/>
                </a:solidFill>
                <a:latin typeface="Arial"/>
              </a:rPr>
              <a:t>fine-tuning</a:t>
            </a:r>
          </a:p>
        </p:txBody>
      </p:sp>
      <p:sp>
        <p:nvSpPr>
          <p:cNvPr id="319" name="文本框 318">
            <a:extLst>
              <a:ext uri="{FF2B5EF4-FFF2-40B4-BE49-F238E27FC236}">
                <a16:creationId xmlns:a16="http://schemas.microsoft.com/office/drawing/2014/main" id="{D742C18A-0339-CF23-AA6E-5A5DBB0D1B8F}"/>
              </a:ext>
            </a:extLst>
          </p:cNvPr>
          <p:cNvSpPr txBox="1"/>
          <p:nvPr/>
        </p:nvSpPr>
        <p:spPr>
          <a:xfrm>
            <a:off x="5519338" y="3396595"/>
            <a:ext cx="369012" cy="246221"/>
          </a:xfrm>
          <a:prstGeom prst="rect">
            <a:avLst/>
          </a:prstGeom>
          <a:noFill/>
        </p:spPr>
        <p:txBody>
          <a:bodyPr wrap="none" rtlCol="0">
            <a:spAutoFit/>
          </a:bodyPr>
          <a:lstStyle/>
          <a:p>
            <a:r>
              <a:rPr lang="en-US" altLang="zh-CN" sz="1000" dirty="0"/>
              <a:t>……</a:t>
            </a:r>
            <a:endParaRPr lang="zh-CN" altLang="en-US" sz="1000" dirty="0"/>
          </a:p>
        </p:txBody>
      </p:sp>
      <p:pic>
        <p:nvPicPr>
          <p:cNvPr id="50432" name="图片 50431">
            <a:extLst>
              <a:ext uri="{FF2B5EF4-FFF2-40B4-BE49-F238E27FC236}">
                <a16:creationId xmlns:a16="http://schemas.microsoft.com/office/drawing/2014/main" id="{F6A6122A-2788-9474-C781-6798030133D6}"/>
              </a:ext>
            </a:extLst>
          </p:cNvPr>
          <p:cNvPicPr>
            <a:picLocks noChangeAspect="1"/>
          </p:cNvPicPr>
          <p:nvPr/>
        </p:nvPicPr>
        <p:blipFill>
          <a:blip r:embed="rId13"/>
          <a:stretch/>
        </p:blipFill>
        <p:spPr>
          <a:xfrm>
            <a:off x="5109601" y="3645105"/>
            <a:ext cx="814847" cy="588501"/>
          </a:xfrm>
          <a:prstGeom prst="rect">
            <a:avLst/>
          </a:prstGeom>
        </p:spPr>
      </p:pic>
    </p:spTree>
    <p:extLst>
      <p:ext uri="{BB962C8B-B14F-4D97-AF65-F5344CB8AC3E}">
        <p14:creationId xmlns:p14="http://schemas.microsoft.com/office/powerpoint/2010/main" val="2991721420"/>
      </p:ext>
    </p:extLst>
  </p:cSld>
  <p:clrMapOvr>
    <a:masterClrMapping/>
  </p:clrMapOvr>
  <p:extLst>
    <p:ext uri="{6950BFC3-D8DA-4A85-94F7-54DA5524770B}">
      <p188:commentRel xmlns:p188="http://schemas.microsoft.com/office/powerpoint/2018/8/main" r:id="rId3"/>
    </p:ext>
  </p:extLs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3A6E18-01F8-B0BA-F43F-91B3A30C3C3E}"/>
            </a:ext>
          </a:extLst>
        </p:cNvPr>
        <p:cNvGrpSpPr/>
        <p:nvPr/>
      </p:nvGrpSpPr>
      <p:grpSpPr>
        <a:xfrm>
          <a:off x="0" y="0"/>
          <a:ext cx="0" cy="0"/>
          <a:chOff x="0" y="0"/>
          <a:chExt cx="0" cy="0"/>
        </a:xfrm>
      </p:grpSpPr>
      <p:sp>
        <p:nvSpPr>
          <p:cNvPr id="2" name="Panel | Find background">
            <a:extLst>
              <a:ext uri="{FF2B5EF4-FFF2-40B4-BE49-F238E27FC236}">
                <a16:creationId xmlns:a16="http://schemas.microsoft.com/office/drawing/2014/main" id="{A9090686-8929-C0A0-CCD3-B88878102309}"/>
              </a:ext>
            </a:extLst>
          </p:cNvPr>
          <p:cNvSpPr/>
          <p:nvPr/>
        </p:nvSpPr>
        <p:spPr>
          <a:xfrm>
            <a:off x="450985" y="89164"/>
            <a:ext cx="4381930" cy="1756103"/>
          </a:xfrm>
          <a:prstGeom prst="roundRect">
            <a:avLst>
              <a:gd name="adj" fmla="val 2000"/>
            </a:avLst>
          </a:prstGeom>
          <a:solidFill>
            <a:srgbClr val="F4F7FB"/>
          </a:solidFill>
          <a:ln w="9720">
            <a:solidFill>
              <a:srgbClr val="CFDBE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dirty="0"/>
          </a:p>
        </p:txBody>
      </p:sp>
      <p:sp>
        <p:nvSpPr>
          <p:cNvPr id="3" name="Panel | Match background">
            <a:extLst>
              <a:ext uri="{FF2B5EF4-FFF2-40B4-BE49-F238E27FC236}">
                <a16:creationId xmlns:a16="http://schemas.microsoft.com/office/drawing/2014/main" id="{28703D02-0EE9-C5A6-609C-08019DDE7E4E}"/>
              </a:ext>
            </a:extLst>
          </p:cNvPr>
          <p:cNvSpPr/>
          <p:nvPr/>
        </p:nvSpPr>
        <p:spPr>
          <a:xfrm>
            <a:off x="450985" y="1884235"/>
            <a:ext cx="4381930" cy="2532204"/>
          </a:xfrm>
          <a:prstGeom prst="roundRect">
            <a:avLst>
              <a:gd name="adj" fmla="val 2000"/>
            </a:avLst>
          </a:prstGeom>
          <a:solidFill>
            <a:srgbClr val="F2F9F6"/>
          </a:solidFill>
          <a:ln w="9720">
            <a:solidFill>
              <a:srgbClr val="C8E2D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dirty="0"/>
          </a:p>
        </p:txBody>
      </p:sp>
      <p:grpSp>
        <p:nvGrpSpPr>
          <p:cNvPr id="5" name="Input boundary layer">
            <a:extLst>
              <a:ext uri="{FF2B5EF4-FFF2-40B4-BE49-F238E27FC236}">
                <a16:creationId xmlns:a16="http://schemas.microsoft.com/office/drawing/2014/main" id="{DDB8823C-1C5D-EC2B-D97C-140C79222FB0}"/>
              </a:ext>
            </a:extLst>
          </p:cNvPr>
          <p:cNvGrpSpPr/>
          <p:nvPr/>
        </p:nvGrpSpPr>
        <p:grpSpPr>
          <a:xfrm>
            <a:off x="592345" y="2245791"/>
            <a:ext cx="1345044" cy="1068019"/>
            <a:chOff x="1393071" y="5281627"/>
            <a:chExt cx="3163259" cy="2511755"/>
          </a:xfrm>
        </p:grpSpPr>
        <p:sp>
          <p:nvSpPr>
            <p:cNvPr id="1478" name="V8 Match input boundary">
              <a:extLst>
                <a:ext uri="{FF2B5EF4-FFF2-40B4-BE49-F238E27FC236}">
                  <a16:creationId xmlns:a16="http://schemas.microsoft.com/office/drawing/2014/main" id="{7D0554F4-AE1C-63F1-A885-352F5424EDA9}"/>
                </a:ext>
              </a:extLst>
            </p:cNvPr>
            <p:cNvSpPr/>
            <p:nvPr/>
          </p:nvSpPr>
          <p:spPr>
            <a:xfrm>
              <a:off x="1393071" y="5281627"/>
              <a:ext cx="3163259" cy="2511755"/>
            </a:xfrm>
            <a:custGeom>
              <a:avLst/>
              <a:gdLst/>
              <a:ahLst/>
              <a:cxnLst/>
              <a:rect l="l" t="t" r="r" b="b"/>
              <a:pathLst>
                <a:path w="1345044" h="1068019">
                  <a:moveTo>
                    <a:pt x="31750" y="0"/>
                  </a:moveTo>
                  <a:lnTo>
                    <a:pt x="893699" y="0"/>
                  </a:lnTo>
                  <a:cubicBezTo>
                    <a:pt x="911162" y="0"/>
                    <a:pt x="925449" y="14288"/>
                    <a:pt x="925449" y="31750"/>
                  </a:cubicBezTo>
                  <a:lnTo>
                    <a:pt x="925449" y="489521"/>
                  </a:lnTo>
                  <a:cubicBezTo>
                    <a:pt x="925449" y="506984"/>
                    <a:pt x="939736" y="521271"/>
                    <a:pt x="957199" y="521271"/>
                  </a:cubicBezTo>
                  <a:lnTo>
                    <a:pt x="1313294" y="521271"/>
                  </a:lnTo>
                  <a:cubicBezTo>
                    <a:pt x="1330757" y="521271"/>
                    <a:pt x="1345044" y="535559"/>
                    <a:pt x="1345044" y="553021"/>
                  </a:cubicBezTo>
                  <a:lnTo>
                    <a:pt x="1345044" y="1036269"/>
                  </a:lnTo>
                  <a:cubicBezTo>
                    <a:pt x="1345044" y="1053732"/>
                    <a:pt x="1330757" y="1068019"/>
                    <a:pt x="1313294" y="1068019"/>
                  </a:cubicBezTo>
                  <a:lnTo>
                    <a:pt x="31750" y="1068019"/>
                  </a:lnTo>
                  <a:cubicBezTo>
                    <a:pt x="14288" y="1068019"/>
                    <a:pt x="0" y="1053732"/>
                    <a:pt x="0" y="1036269"/>
                  </a:cubicBezTo>
                  <a:lnTo>
                    <a:pt x="0" y="31750"/>
                  </a:lnTo>
                  <a:cubicBezTo>
                    <a:pt x="0" y="14288"/>
                    <a:pt x="14288" y="0"/>
                    <a:pt x="31750" y="0"/>
                  </a:cubicBezTo>
                  <a:close/>
                </a:path>
              </a:pathLst>
            </a:custGeom>
            <a:solidFill>
              <a:srgbClr val="FFFFFF"/>
            </a:solidFill>
            <a:ln w="7290" cap="rnd">
              <a:solidFill>
                <a:srgbClr val="BEC7CE"/>
              </a:solidFill>
              <a:prstDash val="solid"/>
              <a:round/>
            </a:ln>
          </p:spPr>
          <p:txBody>
            <a:bodyPr/>
            <a:lstStyle/>
            <a:p>
              <a:endParaRPr lang="zh-CN" altLang="en-US" dirty="0"/>
            </a:p>
          </p:txBody>
        </p:sp>
      </p:grpSp>
      <p:sp>
        <p:nvSpPr>
          <p:cNvPr id="7" name="TextBox 4">
            <a:extLst>
              <a:ext uri="{FF2B5EF4-FFF2-40B4-BE49-F238E27FC236}">
                <a16:creationId xmlns:a16="http://schemas.microsoft.com/office/drawing/2014/main" id="{ADBC3EDA-5434-B072-0369-64F7979021C5}"/>
              </a:ext>
            </a:extLst>
          </p:cNvPr>
          <p:cNvSpPr txBox="1"/>
          <p:nvPr/>
        </p:nvSpPr>
        <p:spPr>
          <a:xfrm>
            <a:off x="519056" y="107111"/>
            <a:ext cx="174028" cy="149656"/>
          </a:xfrm>
          <a:prstGeom prst="rect">
            <a:avLst/>
          </a:prstGeom>
          <a:noFill/>
        </p:spPr>
        <p:txBody>
          <a:bodyPr wrap="square" lIns="0" tIns="0" rIns="0" bIns="0" anchor="ctr">
            <a:spAutoFit/>
          </a:bodyPr>
          <a:lstStyle/>
          <a:p>
            <a:pPr algn="l">
              <a:lnSpc>
                <a:spcPct val="105000"/>
              </a:lnSpc>
            </a:pPr>
            <a:r>
              <a:rPr sz="995" b="1" dirty="0">
                <a:solidFill>
                  <a:srgbClr val="263442"/>
                </a:solidFill>
                <a:latin typeface="Arial"/>
              </a:rPr>
              <a:t>a</a:t>
            </a:r>
          </a:p>
        </p:txBody>
      </p:sp>
      <p:sp>
        <p:nvSpPr>
          <p:cNvPr id="8" name="TextBox 5">
            <a:extLst>
              <a:ext uri="{FF2B5EF4-FFF2-40B4-BE49-F238E27FC236}">
                <a16:creationId xmlns:a16="http://schemas.microsoft.com/office/drawing/2014/main" id="{BDE65E3A-EB06-F9D8-4F70-55D863BF89FB}"/>
              </a:ext>
            </a:extLst>
          </p:cNvPr>
          <p:cNvSpPr txBox="1"/>
          <p:nvPr/>
        </p:nvSpPr>
        <p:spPr>
          <a:xfrm>
            <a:off x="677263" y="124527"/>
            <a:ext cx="2531320" cy="123624"/>
          </a:xfrm>
          <a:prstGeom prst="rect">
            <a:avLst/>
          </a:prstGeom>
          <a:noFill/>
        </p:spPr>
        <p:txBody>
          <a:bodyPr wrap="square" lIns="0" tIns="0" rIns="0" bIns="0" anchor="ctr">
            <a:spAutoFit/>
          </a:bodyPr>
          <a:lstStyle/>
          <a:p>
            <a:pPr algn="l">
              <a:lnSpc>
                <a:spcPct val="105000"/>
              </a:lnSpc>
            </a:pPr>
            <a:r>
              <a:rPr sz="822">
                <a:solidFill>
                  <a:srgbClr val="263442"/>
                </a:solidFill>
                <a:latin typeface="Arial"/>
              </a:rPr>
              <a:t>Find: locate ligand regions</a:t>
            </a:r>
          </a:p>
        </p:txBody>
      </p:sp>
      <p:sp>
        <p:nvSpPr>
          <p:cNvPr id="9" name="TextBox 6">
            <a:extLst>
              <a:ext uri="{FF2B5EF4-FFF2-40B4-BE49-F238E27FC236}">
                <a16:creationId xmlns:a16="http://schemas.microsoft.com/office/drawing/2014/main" id="{F3FF857A-DE19-FC06-9455-89983F39C003}"/>
              </a:ext>
            </a:extLst>
          </p:cNvPr>
          <p:cNvSpPr txBox="1"/>
          <p:nvPr/>
        </p:nvSpPr>
        <p:spPr>
          <a:xfrm>
            <a:off x="519056" y="1909702"/>
            <a:ext cx="174028" cy="149656"/>
          </a:xfrm>
          <a:prstGeom prst="rect">
            <a:avLst/>
          </a:prstGeom>
          <a:noFill/>
        </p:spPr>
        <p:txBody>
          <a:bodyPr wrap="square" lIns="0" tIns="0" rIns="0" bIns="0" anchor="ctr">
            <a:spAutoFit/>
          </a:bodyPr>
          <a:lstStyle/>
          <a:p>
            <a:pPr>
              <a:lnSpc>
                <a:spcPct val="105000"/>
              </a:lnSpc>
            </a:pPr>
            <a:r>
              <a:rPr sz="995" b="1" dirty="0">
                <a:solidFill>
                  <a:srgbClr val="263442"/>
                </a:solidFill>
                <a:latin typeface="Arial"/>
              </a:rPr>
              <a:t>b</a:t>
            </a:r>
          </a:p>
        </p:txBody>
      </p:sp>
      <p:sp>
        <p:nvSpPr>
          <p:cNvPr id="10" name="TextBox 7">
            <a:extLst>
              <a:ext uri="{FF2B5EF4-FFF2-40B4-BE49-F238E27FC236}">
                <a16:creationId xmlns:a16="http://schemas.microsoft.com/office/drawing/2014/main" id="{70ECA487-21BB-6209-C18F-3026009B4E59}"/>
              </a:ext>
            </a:extLst>
          </p:cNvPr>
          <p:cNvSpPr txBox="1"/>
          <p:nvPr/>
        </p:nvSpPr>
        <p:spPr>
          <a:xfrm>
            <a:off x="677200" y="1931954"/>
            <a:ext cx="2847735" cy="123624"/>
          </a:xfrm>
          <a:prstGeom prst="rect">
            <a:avLst/>
          </a:prstGeom>
          <a:noFill/>
        </p:spPr>
        <p:txBody>
          <a:bodyPr wrap="square" lIns="0" tIns="0" rIns="0" bIns="0" anchor="ctr">
            <a:spAutoFit/>
          </a:bodyPr>
          <a:lstStyle/>
          <a:p>
            <a:pPr algn="l">
              <a:lnSpc>
                <a:spcPct val="105000"/>
              </a:lnSpc>
            </a:pPr>
            <a:r>
              <a:rPr sz="822" dirty="0">
                <a:solidFill>
                  <a:srgbClr val="263442"/>
                </a:solidFill>
                <a:latin typeface="Arial"/>
              </a:rPr>
              <a:t>Match: candidate-to-identity assignment</a:t>
            </a:r>
          </a:p>
        </p:txBody>
      </p:sp>
      <p:sp>
        <p:nvSpPr>
          <p:cNvPr id="13" name="Find | Density card">
            <a:extLst>
              <a:ext uri="{FF2B5EF4-FFF2-40B4-BE49-F238E27FC236}">
                <a16:creationId xmlns:a16="http://schemas.microsoft.com/office/drawing/2014/main" id="{CAB7453E-57E4-6069-E17B-BEBD584DE9C5}"/>
              </a:ext>
            </a:extLst>
          </p:cNvPr>
          <p:cNvSpPr/>
          <p:nvPr/>
        </p:nvSpPr>
        <p:spPr>
          <a:xfrm>
            <a:off x="540853" y="284774"/>
            <a:ext cx="488504" cy="680292"/>
          </a:xfrm>
          <a:prstGeom prst="roundRect">
            <a:avLst>
              <a:gd name="adj" fmla="val 6000"/>
            </a:avLst>
          </a:prstGeom>
          <a:solidFill>
            <a:srgbClr val="FFFFFF"/>
          </a:solidFill>
          <a:ln w="7290">
            <a:solidFill>
              <a:srgbClr val="BEC7C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14" name="TextBox 11">
            <a:extLst>
              <a:ext uri="{FF2B5EF4-FFF2-40B4-BE49-F238E27FC236}">
                <a16:creationId xmlns:a16="http://schemas.microsoft.com/office/drawing/2014/main" id="{E13F9DB9-2915-4D37-1A15-4DD879957FE6}"/>
              </a:ext>
            </a:extLst>
          </p:cNvPr>
          <p:cNvSpPr txBox="1"/>
          <p:nvPr/>
        </p:nvSpPr>
        <p:spPr>
          <a:xfrm>
            <a:off x="460928" y="318294"/>
            <a:ext cx="664471" cy="101503"/>
          </a:xfrm>
          <a:prstGeom prst="rect">
            <a:avLst/>
          </a:prstGeom>
          <a:noFill/>
        </p:spPr>
        <p:txBody>
          <a:bodyPr wrap="square" lIns="0" tIns="0" rIns="0" bIns="0" anchor="ctr">
            <a:spAutoFit/>
          </a:bodyPr>
          <a:lstStyle/>
          <a:p>
            <a:pPr algn="ctr">
              <a:lnSpc>
                <a:spcPct val="105000"/>
              </a:lnSpc>
            </a:pPr>
            <a:r>
              <a:rPr sz="675" dirty="0">
                <a:solidFill>
                  <a:srgbClr val="263442"/>
                </a:solidFill>
                <a:latin typeface="Arial"/>
              </a:rPr>
              <a:t>Density</a:t>
            </a:r>
          </a:p>
        </p:txBody>
      </p:sp>
      <p:sp>
        <p:nvSpPr>
          <p:cNvPr id="235" name="Find | Receptor card">
            <a:extLst>
              <a:ext uri="{FF2B5EF4-FFF2-40B4-BE49-F238E27FC236}">
                <a16:creationId xmlns:a16="http://schemas.microsoft.com/office/drawing/2014/main" id="{C39711EA-1578-1FDC-F7E5-415822DEC84F}"/>
              </a:ext>
            </a:extLst>
          </p:cNvPr>
          <p:cNvSpPr/>
          <p:nvPr/>
        </p:nvSpPr>
        <p:spPr>
          <a:xfrm>
            <a:off x="540852" y="1028349"/>
            <a:ext cx="489611" cy="727754"/>
          </a:xfrm>
          <a:prstGeom prst="roundRect">
            <a:avLst>
              <a:gd name="adj" fmla="val 6000"/>
            </a:avLst>
          </a:prstGeom>
          <a:solidFill>
            <a:srgbClr val="FFFFFF"/>
          </a:solidFill>
          <a:ln w="7290">
            <a:solidFill>
              <a:srgbClr val="BEC7C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236" name="TextBox 6212">
            <a:extLst>
              <a:ext uri="{FF2B5EF4-FFF2-40B4-BE49-F238E27FC236}">
                <a16:creationId xmlns:a16="http://schemas.microsoft.com/office/drawing/2014/main" id="{4566817F-CA11-3CA5-4ED5-534E4B65A1C1}"/>
              </a:ext>
            </a:extLst>
          </p:cNvPr>
          <p:cNvSpPr txBox="1"/>
          <p:nvPr/>
        </p:nvSpPr>
        <p:spPr>
          <a:xfrm>
            <a:off x="434702" y="1053973"/>
            <a:ext cx="664471" cy="101503"/>
          </a:xfrm>
          <a:prstGeom prst="rect">
            <a:avLst/>
          </a:prstGeom>
          <a:noFill/>
        </p:spPr>
        <p:txBody>
          <a:bodyPr wrap="square" lIns="0" tIns="0" rIns="0" bIns="0" anchor="ctr">
            <a:spAutoFit/>
          </a:bodyPr>
          <a:lstStyle/>
          <a:p>
            <a:pPr algn="ctr">
              <a:lnSpc>
                <a:spcPct val="105000"/>
              </a:lnSpc>
            </a:pPr>
            <a:r>
              <a:rPr sz="675" dirty="0">
                <a:solidFill>
                  <a:srgbClr val="263442"/>
                </a:solidFill>
                <a:latin typeface="Arial"/>
              </a:rPr>
              <a:t>Receptor</a:t>
            </a:r>
          </a:p>
        </p:txBody>
      </p:sp>
      <p:sp>
        <p:nvSpPr>
          <p:cNvPr id="237" name="Find | 3D voxel U-Net box">
            <a:extLst>
              <a:ext uri="{FF2B5EF4-FFF2-40B4-BE49-F238E27FC236}">
                <a16:creationId xmlns:a16="http://schemas.microsoft.com/office/drawing/2014/main" id="{84C31B5C-DB46-3102-A094-A625CBC3795B}"/>
              </a:ext>
            </a:extLst>
          </p:cNvPr>
          <p:cNvSpPr/>
          <p:nvPr/>
        </p:nvSpPr>
        <p:spPr>
          <a:xfrm>
            <a:off x="1932849" y="284774"/>
            <a:ext cx="2183263" cy="743575"/>
          </a:xfrm>
          <a:prstGeom prst="roundRect">
            <a:avLst>
              <a:gd name="adj" fmla="val 5000"/>
            </a:avLst>
          </a:prstGeom>
          <a:solidFill>
            <a:srgbClr val="EDF3FA"/>
          </a:solidFill>
          <a:ln w="7290">
            <a:solidFill>
              <a:srgbClr val="BEC7C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238" name="TextBox 6223">
            <a:extLst>
              <a:ext uri="{FF2B5EF4-FFF2-40B4-BE49-F238E27FC236}">
                <a16:creationId xmlns:a16="http://schemas.microsoft.com/office/drawing/2014/main" id="{D0BEE622-6A06-FAEC-A1B9-E12DAFA59B95}"/>
              </a:ext>
            </a:extLst>
          </p:cNvPr>
          <p:cNvSpPr txBox="1"/>
          <p:nvPr/>
        </p:nvSpPr>
        <p:spPr>
          <a:xfrm>
            <a:off x="1932849" y="310561"/>
            <a:ext cx="2183263" cy="106632"/>
          </a:xfrm>
          <a:prstGeom prst="rect">
            <a:avLst/>
          </a:prstGeom>
          <a:noFill/>
        </p:spPr>
        <p:txBody>
          <a:bodyPr wrap="square" lIns="0" tIns="0" rIns="0" bIns="0" anchor="ctr">
            <a:spAutoFit/>
          </a:bodyPr>
          <a:lstStyle/>
          <a:p>
            <a:pPr algn="ctr">
              <a:lnSpc>
                <a:spcPct val="105000"/>
              </a:lnSpc>
            </a:pPr>
            <a:r>
              <a:rPr sz="709">
                <a:solidFill>
                  <a:srgbClr val="263442"/>
                </a:solidFill>
                <a:latin typeface="Arial"/>
              </a:rPr>
              <a:t>3D voxel U-Net</a:t>
            </a:r>
          </a:p>
        </p:txBody>
      </p:sp>
      <p:sp>
        <p:nvSpPr>
          <p:cNvPr id="239" name="TextBox 6224">
            <a:extLst>
              <a:ext uri="{FF2B5EF4-FFF2-40B4-BE49-F238E27FC236}">
                <a16:creationId xmlns:a16="http://schemas.microsoft.com/office/drawing/2014/main" id="{6162AD09-868A-9802-DD3F-493AE18E658B}"/>
              </a:ext>
            </a:extLst>
          </p:cNvPr>
          <p:cNvSpPr txBox="1"/>
          <p:nvPr/>
        </p:nvSpPr>
        <p:spPr>
          <a:xfrm>
            <a:off x="1932704" y="415407"/>
            <a:ext cx="2183414" cy="84510"/>
          </a:xfrm>
          <a:prstGeom prst="rect">
            <a:avLst/>
          </a:prstGeom>
          <a:noFill/>
        </p:spPr>
        <p:txBody>
          <a:bodyPr wrap="square" lIns="0" tIns="0" rIns="0" bIns="0" anchor="ctr">
            <a:spAutoFit/>
          </a:bodyPr>
          <a:lstStyle/>
          <a:p>
            <a:pPr algn="ctr">
              <a:lnSpc>
                <a:spcPct val="105000"/>
              </a:lnSpc>
            </a:pPr>
            <a:r>
              <a:rPr sz="562" i="1" dirty="0">
                <a:solidFill>
                  <a:srgbClr val="263442"/>
                </a:solidFill>
                <a:latin typeface="Arial"/>
              </a:rPr>
              <a:t>Skip connections</a:t>
            </a:r>
          </a:p>
        </p:txBody>
      </p:sp>
      <p:sp>
        <p:nvSpPr>
          <p:cNvPr id="240" name="TextBox 10003">
            <a:extLst>
              <a:ext uri="{FF2B5EF4-FFF2-40B4-BE49-F238E27FC236}">
                <a16:creationId xmlns:a16="http://schemas.microsoft.com/office/drawing/2014/main" id="{09C48FDC-7786-8263-4A08-E75021FC8287}"/>
              </a:ext>
            </a:extLst>
          </p:cNvPr>
          <p:cNvSpPr txBox="1"/>
          <p:nvPr/>
        </p:nvSpPr>
        <p:spPr>
          <a:xfrm>
            <a:off x="2098966" y="905035"/>
            <a:ext cx="553726" cy="88422"/>
          </a:xfrm>
          <a:prstGeom prst="rect">
            <a:avLst/>
          </a:prstGeom>
          <a:noFill/>
        </p:spPr>
        <p:txBody>
          <a:bodyPr wrap="square" lIns="0" tIns="0" rIns="0" bIns="0" anchor="ctr">
            <a:spAutoFit/>
          </a:bodyPr>
          <a:lstStyle/>
          <a:p>
            <a:pPr algn="ctr">
              <a:lnSpc>
                <a:spcPct val="105000"/>
              </a:lnSpc>
            </a:pPr>
            <a:r>
              <a:rPr sz="588">
                <a:solidFill>
                  <a:srgbClr val="263442"/>
                </a:solidFill>
                <a:latin typeface="Arial"/>
              </a:rPr>
              <a:t>Encoder</a:t>
            </a:r>
          </a:p>
        </p:txBody>
      </p:sp>
      <p:sp>
        <p:nvSpPr>
          <p:cNvPr id="241" name="TextBox 10004">
            <a:extLst>
              <a:ext uri="{FF2B5EF4-FFF2-40B4-BE49-F238E27FC236}">
                <a16:creationId xmlns:a16="http://schemas.microsoft.com/office/drawing/2014/main" id="{5D7C6AF6-28C5-C78C-2A6D-53148E9C5409}"/>
              </a:ext>
            </a:extLst>
          </p:cNvPr>
          <p:cNvSpPr txBox="1"/>
          <p:nvPr/>
        </p:nvSpPr>
        <p:spPr>
          <a:xfrm>
            <a:off x="2747617" y="905035"/>
            <a:ext cx="553726" cy="88422"/>
          </a:xfrm>
          <a:prstGeom prst="rect">
            <a:avLst/>
          </a:prstGeom>
          <a:noFill/>
        </p:spPr>
        <p:txBody>
          <a:bodyPr wrap="square" lIns="0" tIns="0" rIns="0" bIns="0" anchor="ctr">
            <a:spAutoFit/>
          </a:bodyPr>
          <a:lstStyle/>
          <a:p>
            <a:pPr algn="ctr">
              <a:lnSpc>
                <a:spcPct val="105000"/>
              </a:lnSpc>
            </a:pPr>
            <a:r>
              <a:rPr sz="588">
                <a:solidFill>
                  <a:srgbClr val="263442"/>
                </a:solidFill>
                <a:latin typeface="Arial"/>
              </a:rPr>
              <a:t>Bottleneck</a:t>
            </a:r>
          </a:p>
        </p:txBody>
      </p:sp>
      <p:sp>
        <p:nvSpPr>
          <p:cNvPr id="242" name="TextBox 10005">
            <a:extLst>
              <a:ext uri="{FF2B5EF4-FFF2-40B4-BE49-F238E27FC236}">
                <a16:creationId xmlns:a16="http://schemas.microsoft.com/office/drawing/2014/main" id="{7CC49EB1-DBD1-A7E7-516D-CECCC1D041F1}"/>
              </a:ext>
            </a:extLst>
          </p:cNvPr>
          <p:cNvSpPr txBox="1"/>
          <p:nvPr/>
        </p:nvSpPr>
        <p:spPr>
          <a:xfrm>
            <a:off x="3396268" y="905035"/>
            <a:ext cx="553726" cy="88422"/>
          </a:xfrm>
          <a:prstGeom prst="rect">
            <a:avLst/>
          </a:prstGeom>
          <a:noFill/>
        </p:spPr>
        <p:txBody>
          <a:bodyPr wrap="square" lIns="0" tIns="0" rIns="0" bIns="0" anchor="ctr">
            <a:spAutoFit/>
          </a:bodyPr>
          <a:lstStyle/>
          <a:p>
            <a:pPr algn="ctr">
              <a:lnSpc>
                <a:spcPct val="105000"/>
              </a:lnSpc>
            </a:pPr>
            <a:r>
              <a:rPr sz="588">
                <a:solidFill>
                  <a:srgbClr val="263442"/>
                </a:solidFill>
                <a:latin typeface="Arial"/>
              </a:rPr>
              <a:t>Decoder</a:t>
            </a:r>
          </a:p>
        </p:txBody>
      </p:sp>
      <p:sp>
        <p:nvSpPr>
          <p:cNvPr id="243" name="Find | Point Transformer V3 box">
            <a:extLst>
              <a:ext uri="{FF2B5EF4-FFF2-40B4-BE49-F238E27FC236}">
                <a16:creationId xmlns:a16="http://schemas.microsoft.com/office/drawing/2014/main" id="{E6BB0EBE-E97F-0460-89AE-378626BAD4D7}"/>
              </a:ext>
            </a:extLst>
          </p:cNvPr>
          <p:cNvSpPr/>
          <p:nvPr/>
        </p:nvSpPr>
        <p:spPr>
          <a:xfrm>
            <a:off x="1932849" y="1170736"/>
            <a:ext cx="2183263" cy="585368"/>
          </a:xfrm>
          <a:prstGeom prst="roundRect">
            <a:avLst>
              <a:gd name="adj" fmla="val 5000"/>
            </a:avLst>
          </a:prstGeom>
          <a:solidFill>
            <a:srgbClr val="EDF3FA"/>
          </a:solidFill>
          <a:ln w="7290">
            <a:solidFill>
              <a:srgbClr val="BEC7C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dirty="0"/>
          </a:p>
        </p:txBody>
      </p:sp>
      <p:grpSp>
        <p:nvGrpSpPr>
          <p:cNvPr id="244" name="Find | PTV3 stage 1 (no pseudo)">
            <a:extLst>
              <a:ext uri="{FF2B5EF4-FFF2-40B4-BE49-F238E27FC236}">
                <a16:creationId xmlns:a16="http://schemas.microsoft.com/office/drawing/2014/main" id="{B4F71929-AC06-8CA3-B3DD-0D60585A9033}"/>
              </a:ext>
            </a:extLst>
          </p:cNvPr>
          <p:cNvGrpSpPr/>
          <p:nvPr/>
        </p:nvGrpSpPr>
        <p:grpSpPr>
          <a:xfrm>
            <a:off x="2023818" y="1222153"/>
            <a:ext cx="276863" cy="197759"/>
            <a:chOff x="1837958" y="1438830"/>
            <a:chExt cx="279225" cy="243090"/>
          </a:xfrm>
        </p:grpSpPr>
        <p:sp>
          <p:nvSpPr>
            <p:cNvPr id="245" name="rect_1844">
              <a:extLst>
                <a:ext uri="{FF2B5EF4-FFF2-40B4-BE49-F238E27FC236}">
                  <a16:creationId xmlns:a16="http://schemas.microsoft.com/office/drawing/2014/main" id="{660AA888-4092-6DA6-78D3-4B888E2B2DA3}"/>
                </a:ext>
              </a:extLst>
            </p:cNvPr>
            <p:cNvSpPr/>
            <p:nvPr/>
          </p:nvSpPr>
          <p:spPr>
            <a:xfrm>
              <a:off x="1837958" y="1438830"/>
              <a:ext cx="279225" cy="243090"/>
            </a:xfrm>
            <a:prstGeom prst="roundRect">
              <a:avLst>
                <a:gd name="adj" fmla="val 6757"/>
              </a:avLst>
            </a:prstGeom>
            <a:solidFill>
              <a:srgbClr val="F8F5FC"/>
            </a:solidFill>
            <a:ln w="2540" cap="rnd" cmpd="sng" algn="ctr">
              <a:solidFill>
                <a:srgbClr val="C3D4E6"/>
              </a:solidFill>
              <a:prstDash val="solid"/>
              <a:round/>
              <a:headEnd type="none" w="med" len="med"/>
              <a:tailEnd type="none" w="med" len="med"/>
            </a:ln>
            <a:effectLst/>
          </p:spPr>
        </p:sp>
        <p:sp>
          <p:nvSpPr>
            <p:cNvPr id="246" name="ellipse_1845">
              <a:extLst>
                <a:ext uri="{FF2B5EF4-FFF2-40B4-BE49-F238E27FC236}">
                  <a16:creationId xmlns:a16="http://schemas.microsoft.com/office/drawing/2014/main" id="{8ED69D04-8A29-A5B5-FEDE-87DBF5A86A21}"/>
                </a:ext>
              </a:extLst>
            </p:cNvPr>
            <p:cNvSpPr/>
            <p:nvPr/>
          </p:nvSpPr>
          <p:spPr>
            <a:xfrm>
              <a:off x="1911179" y="1549889"/>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47" name="ellipse_1846">
              <a:extLst>
                <a:ext uri="{FF2B5EF4-FFF2-40B4-BE49-F238E27FC236}">
                  <a16:creationId xmlns:a16="http://schemas.microsoft.com/office/drawing/2014/main" id="{2F757B70-05BB-1D52-EAD7-99F943EE0786}"/>
                </a:ext>
              </a:extLst>
            </p:cNvPr>
            <p:cNvSpPr/>
            <p:nvPr/>
          </p:nvSpPr>
          <p:spPr>
            <a:xfrm>
              <a:off x="2016057" y="1569177"/>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48" name="ellipse_1847">
              <a:extLst>
                <a:ext uri="{FF2B5EF4-FFF2-40B4-BE49-F238E27FC236}">
                  <a16:creationId xmlns:a16="http://schemas.microsoft.com/office/drawing/2014/main" id="{33900347-5FB5-F6C0-81F6-93C079B537C5}"/>
                </a:ext>
              </a:extLst>
            </p:cNvPr>
            <p:cNvSpPr/>
            <p:nvPr/>
          </p:nvSpPr>
          <p:spPr>
            <a:xfrm>
              <a:off x="1901005" y="1463226"/>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49" name="ellipse_1848">
              <a:extLst>
                <a:ext uri="{FF2B5EF4-FFF2-40B4-BE49-F238E27FC236}">
                  <a16:creationId xmlns:a16="http://schemas.microsoft.com/office/drawing/2014/main" id="{D9E3B372-BB0F-C9A4-3974-A8E7AF7737B7}"/>
                </a:ext>
              </a:extLst>
            </p:cNvPr>
            <p:cNvSpPr/>
            <p:nvPr/>
          </p:nvSpPr>
          <p:spPr>
            <a:xfrm>
              <a:off x="1966917" y="1491223"/>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50" name="ellipse_1849">
              <a:extLst>
                <a:ext uri="{FF2B5EF4-FFF2-40B4-BE49-F238E27FC236}">
                  <a16:creationId xmlns:a16="http://schemas.microsoft.com/office/drawing/2014/main" id="{65731899-DB97-2E91-5665-E8C978110F71}"/>
                </a:ext>
              </a:extLst>
            </p:cNvPr>
            <p:cNvSpPr/>
            <p:nvPr/>
          </p:nvSpPr>
          <p:spPr>
            <a:xfrm>
              <a:off x="1981202" y="1461977"/>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51" name="ellipse_1850">
              <a:extLst>
                <a:ext uri="{FF2B5EF4-FFF2-40B4-BE49-F238E27FC236}">
                  <a16:creationId xmlns:a16="http://schemas.microsoft.com/office/drawing/2014/main" id="{FB870BF7-7DC4-B374-8AD0-46EC506BB29E}"/>
                </a:ext>
              </a:extLst>
            </p:cNvPr>
            <p:cNvSpPr/>
            <p:nvPr/>
          </p:nvSpPr>
          <p:spPr>
            <a:xfrm>
              <a:off x="2025801" y="1522781"/>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52" name="ellipse_1851">
              <a:extLst>
                <a:ext uri="{FF2B5EF4-FFF2-40B4-BE49-F238E27FC236}">
                  <a16:creationId xmlns:a16="http://schemas.microsoft.com/office/drawing/2014/main" id="{FB5210B2-4DAF-5841-3925-445BB6BA8E65}"/>
                </a:ext>
              </a:extLst>
            </p:cNvPr>
            <p:cNvSpPr/>
            <p:nvPr/>
          </p:nvSpPr>
          <p:spPr>
            <a:xfrm>
              <a:off x="1923657" y="1574090"/>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53" name="ellipse_1852">
              <a:extLst>
                <a:ext uri="{FF2B5EF4-FFF2-40B4-BE49-F238E27FC236}">
                  <a16:creationId xmlns:a16="http://schemas.microsoft.com/office/drawing/2014/main" id="{5E297BB0-4B0B-7393-6335-0A8D413997FE}"/>
                </a:ext>
              </a:extLst>
            </p:cNvPr>
            <p:cNvSpPr/>
            <p:nvPr/>
          </p:nvSpPr>
          <p:spPr>
            <a:xfrm>
              <a:off x="2046951" y="1492683"/>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54" name="ellipse_1853">
              <a:extLst>
                <a:ext uri="{FF2B5EF4-FFF2-40B4-BE49-F238E27FC236}">
                  <a16:creationId xmlns:a16="http://schemas.microsoft.com/office/drawing/2014/main" id="{3460EDB7-F270-4A51-230E-76F07C518E5B}"/>
                </a:ext>
              </a:extLst>
            </p:cNvPr>
            <p:cNvSpPr/>
            <p:nvPr/>
          </p:nvSpPr>
          <p:spPr>
            <a:xfrm>
              <a:off x="1971403" y="1621226"/>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55" name="ellipse_1854">
              <a:extLst>
                <a:ext uri="{FF2B5EF4-FFF2-40B4-BE49-F238E27FC236}">
                  <a16:creationId xmlns:a16="http://schemas.microsoft.com/office/drawing/2014/main" id="{D7F22E2B-29AF-AAFC-9390-4763B76AC824}"/>
                </a:ext>
              </a:extLst>
            </p:cNvPr>
            <p:cNvSpPr/>
            <p:nvPr/>
          </p:nvSpPr>
          <p:spPr>
            <a:xfrm>
              <a:off x="1916632" y="1483703"/>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grpSp>
      <p:grpSp>
        <p:nvGrpSpPr>
          <p:cNvPr id="256" name="Find | PTV3 stage 2 (no pseudo)">
            <a:extLst>
              <a:ext uri="{FF2B5EF4-FFF2-40B4-BE49-F238E27FC236}">
                <a16:creationId xmlns:a16="http://schemas.microsoft.com/office/drawing/2014/main" id="{F4A044B8-F6CD-9A28-3075-23E9F1427BD6}"/>
              </a:ext>
            </a:extLst>
          </p:cNvPr>
          <p:cNvGrpSpPr/>
          <p:nvPr/>
        </p:nvGrpSpPr>
        <p:grpSpPr>
          <a:xfrm>
            <a:off x="2454581" y="1218198"/>
            <a:ext cx="269656" cy="205670"/>
            <a:chOff x="2276505" y="1465110"/>
            <a:chExt cx="243090" cy="190530"/>
          </a:xfrm>
        </p:grpSpPr>
        <p:sp>
          <p:nvSpPr>
            <p:cNvPr id="257" name="rect_1860">
              <a:extLst>
                <a:ext uri="{FF2B5EF4-FFF2-40B4-BE49-F238E27FC236}">
                  <a16:creationId xmlns:a16="http://schemas.microsoft.com/office/drawing/2014/main" id="{2A2BC9FE-9931-3C68-E213-012D2334D100}"/>
                </a:ext>
              </a:extLst>
            </p:cNvPr>
            <p:cNvSpPr/>
            <p:nvPr/>
          </p:nvSpPr>
          <p:spPr>
            <a:xfrm>
              <a:off x="2276505" y="1465110"/>
              <a:ext cx="243090" cy="190530"/>
            </a:xfrm>
            <a:prstGeom prst="roundRect">
              <a:avLst>
                <a:gd name="adj" fmla="val 8621"/>
              </a:avLst>
            </a:prstGeom>
            <a:solidFill>
              <a:srgbClr val="F8F5FC"/>
            </a:solidFill>
            <a:ln w="2540" cap="rnd" cmpd="sng" algn="ctr">
              <a:solidFill>
                <a:srgbClr val="C3D4E6"/>
              </a:solidFill>
              <a:prstDash val="solid"/>
              <a:round/>
              <a:headEnd type="none" w="med" len="med"/>
              <a:tailEnd type="none" w="med" len="med"/>
            </a:ln>
            <a:effectLst/>
          </p:spPr>
        </p:sp>
        <p:sp>
          <p:nvSpPr>
            <p:cNvPr id="258" name="ellipse_1861">
              <a:extLst>
                <a:ext uri="{FF2B5EF4-FFF2-40B4-BE49-F238E27FC236}">
                  <a16:creationId xmlns:a16="http://schemas.microsoft.com/office/drawing/2014/main" id="{0D3FC1DA-E4D9-46A0-549F-86D3BA55D6FD}"/>
                </a:ext>
              </a:extLst>
            </p:cNvPr>
            <p:cNvSpPr/>
            <p:nvPr/>
          </p:nvSpPr>
          <p:spPr>
            <a:xfrm>
              <a:off x="2443383" y="1475381"/>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59" name="ellipse_1862">
              <a:extLst>
                <a:ext uri="{FF2B5EF4-FFF2-40B4-BE49-F238E27FC236}">
                  <a16:creationId xmlns:a16="http://schemas.microsoft.com/office/drawing/2014/main" id="{2E76A36E-124A-FF28-5F0C-9D8A556CAB6E}"/>
                </a:ext>
              </a:extLst>
            </p:cNvPr>
            <p:cNvSpPr/>
            <p:nvPr/>
          </p:nvSpPr>
          <p:spPr>
            <a:xfrm>
              <a:off x="2334302" y="1490546"/>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60" name="ellipse_1863">
              <a:extLst>
                <a:ext uri="{FF2B5EF4-FFF2-40B4-BE49-F238E27FC236}">
                  <a16:creationId xmlns:a16="http://schemas.microsoft.com/office/drawing/2014/main" id="{D535EE24-6485-F339-2CB7-F9EF085CB943}"/>
                </a:ext>
              </a:extLst>
            </p:cNvPr>
            <p:cNvSpPr/>
            <p:nvPr/>
          </p:nvSpPr>
          <p:spPr>
            <a:xfrm>
              <a:off x="2421391" y="1518211"/>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61" name="ellipse_1864">
              <a:extLst>
                <a:ext uri="{FF2B5EF4-FFF2-40B4-BE49-F238E27FC236}">
                  <a16:creationId xmlns:a16="http://schemas.microsoft.com/office/drawing/2014/main" id="{3E3B8E8E-0D51-B463-1AC5-8ABBD0D94E5F}"/>
                </a:ext>
              </a:extLst>
            </p:cNvPr>
            <p:cNvSpPr/>
            <p:nvPr/>
          </p:nvSpPr>
          <p:spPr>
            <a:xfrm>
              <a:off x="2395798" y="1481756"/>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62" name="ellipse_1865">
              <a:extLst>
                <a:ext uri="{FF2B5EF4-FFF2-40B4-BE49-F238E27FC236}">
                  <a16:creationId xmlns:a16="http://schemas.microsoft.com/office/drawing/2014/main" id="{A78CC97C-CF00-B4B4-232A-6540F415567F}"/>
                </a:ext>
              </a:extLst>
            </p:cNvPr>
            <p:cNvSpPr/>
            <p:nvPr/>
          </p:nvSpPr>
          <p:spPr>
            <a:xfrm>
              <a:off x="2345071" y="1608888"/>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63" name="ellipse_1866">
              <a:extLst>
                <a:ext uri="{FF2B5EF4-FFF2-40B4-BE49-F238E27FC236}">
                  <a16:creationId xmlns:a16="http://schemas.microsoft.com/office/drawing/2014/main" id="{1C7DD56E-5535-8B2E-615C-21EEB3FC0B60}"/>
                </a:ext>
              </a:extLst>
            </p:cNvPr>
            <p:cNvSpPr/>
            <p:nvPr/>
          </p:nvSpPr>
          <p:spPr>
            <a:xfrm>
              <a:off x="2455927" y="1523542"/>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64" name="ellipse_1867">
              <a:extLst>
                <a:ext uri="{FF2B5EF4-FFF2-40B4-BE49-F238E27FC236}">
                  <a16:creationId xmlns:a16="http://schemas.microsoft.com/office/drawing/2014/main" id="{53E5DFEF-A738-E1E2-6D82-562898867479}"/>
                </a:ext>
              </a:extLst>
            </p:cNvPr>
            <p:cNvSpPr/>
            <p:nvPr/>
          </p:nvSpPr>
          <p:spPr>
            <a:xfrm>
              <a:off x="2415612" y="1538275"/>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65" name="ellipse_1868">
              <a:extLst>
                <a:ext uri="{FF2B5EF4-FFF2-40B4-BE49-F238E27FC236}">
                  <a16:creationId xmlns:a16="http://schemas.microsoft.com/office/drawing/2014/main" id="{9F15DB89-4578-E9D4-B66C-9772D337DE92}"/>
                </a:ext>
              </a:extLst>
            </p:cNvPr>
            <p:cNvSpPr/>
            <p:nvPr/>
          </p:nvSpPr>
          <p:spPr>
            <a:xfrm>
              <a:off x="2384162" y="1553850"/>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grpSp>
      <p:grpSp>
        <p:nvGrpSpPr>
          <p:cNvPr id="266" name="Find | PTV3 stage 3 (no pseudo)">
            <a:extLst>
              <a:ext uri="{FF2B5EF4-FFF2-40B4-BE49-F238E27FC236}">
                <a16:creationId xmlns:a16="http://schemas.microsoft.com/office/drawing/2014/main" id="{8E5AF76E-A5D2-A1C4-1196-A1FB989CBECC}"/>
              </a:ext>
            </a:extLst>
          </p:cNvPr>
          <p:cNvGrpSpPr/>
          <p:nvPr/>
        </p:nvGrpSpPr>
        <p:grpSpPr>
          <a:xfrm>
            <a:off x="2902421" y="1230063"/>
            <a:ext cx="244120" cy="181939"/>
            <a:chOff x="2703555" y="1491390"/>
            <a:chExt cx="190530" cy="137970"/>
          </a:xfrm>
        </p:grpSpPr>
        <p:sp>
          <p:nvSpPr>
            <p:cNvPr id="267" name="rect_1874">
              <a:extLst>
                <a:ext uri="{FF2B5EF4-FFF2-40B4-BE49-F238E27FC236}">
                  <a16:creationId xmlns:a16="http://schemas.microsoft.com/office/drawing/2014/main" id="{75101B77-5988-FEB7-22BD-46F0384ADBC8}"/>
                </a:ext>
              </a:extLst>
            </p:cNvPr>
            <p:cNvSpPr/>
            <p:nvPr/>
          </p:nvSpPr>
          <p:spPr>
            <a:xfrm>
              <a:off x="2703555" y="1491390"/>
              <a:ext cx="190530" cy="137970"/>
            </a:xfrm>
            <a:prstGeom prst="roundRect">
              <a:avLst>
                <a:gd name="adj" fmla="val 11905"/>
              </a:avLst>
            </a:prstGeom>
            <a:solidFill>
              <a:srgbClr val="F8F5FC"/>
            </a:solidFill>
            <a:ln w="2540" cap="rnd" cmpd="sng" algn="ctr">
              <a:solidFill>
                <a:srgbClr val="C3D4E6"/>
              </a:solidFill>
              <a:prstDash val="solid"/>
              <a:round/>
              <a:headEnd type="none" w="med" len="med"/>
              <a:tailEnd type="none" w="med" len="med"/>
            </a:ln>
            <a:effectLst/>
          </p:spPr>
        </p:sp>
        <p:sp>
          <p:nvSpPr>
            <p:cNvPr id="268" name="ellipse_1875">
              <a:extLst>
                <a:ext uri="{FF2B5EF4-FFF2-40B4-BE49-F238E27FC236}">
                  <a16:creationId xmlns:a16="http://schemas.microsoft.com/office/drawing/2014/main" id="{0F3768B9-45DC-D239-6ECE-6B199905A0E6}"/>
                </a:ext>
              </a:extLst>
            </p:cNvPr>
            <p:cNvSpPr/>
            <p:nvPr/>
          </p:nvSpPr>
          <p:spPr>
            <a:xfrm>
              <a:off x="2782342" y="1524860"/>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69" name="ellipse_1876">
              <a:extLst>
                <a:ext uri="{FF2B5EF4-FFF2-40B4-BE49-F238E27FC236}">
                  <a16:creationId xmlns:a16="http://schemas.microsoft.com/office/drawing/2014/main" id="{9AC2E9D9-EA81-CB60-9668-376E55C3B65A}"/>
                </a:ext>
              </a:extLst>
            </p:cNvPr>
            <p:cNvSpPr/>
            <p:nvPr/>
          </p:nvSpPr>
          <p:spPr>
            <a:xfrm>
              <a:off x="2750750" y="1594469"/>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70" name="ellipse_1877">
              <a:extLst>
                <a:ext uri="{FF2B5EF4-FFF2-40B4-BE49-F238E27FC236}">
                  <a16:creationId xmlns:a16="http://schemas.microsoft.com/office/drawing/2014/main" id="{193512C0-B984-BF26-53B2-A4C133832B19}"/>
                </a:ext>
              </a:extLst>
            </p:cNvPr>
            <p:cNvSpPr/>
            <p:nvPr/>
          </p:nvSpPr>
          <p:spPr>
            <a:xfrm>
              <a:off x="2743887" y="1497155"/>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71" name="ellipse_1878">
              <a:extLst>
                <a:ext uri="{FF2B5EF4-FFF2-40B4-BE49-F238E27FC236}">
                  <a16:creationId xmlns:a16="http://schemas.microsoft.com/office/drawing/2014/main" id="{010957FC-182F-1FF9-1554-385555C7E5BB}"/>
                </a:ext>
              </a:extLst>
            </p:cNvPr>
            <p:cNvSpPr/>
            <p:nvPr/>
          </p:nvSpPr>
          <p:spPr>
            <a:xfrm>
              <a:off x="2833390" y="1511327"/>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72" name="ellipse_1879">
              <a:extLst>
                <a:ext uri="{FF2B5EF4-FFF2-40B4-BE49-F238E27FC236}">
                  <a16:creationId xmlns:a16="http://schemas.microsoft.com/office/drawing/2014/main" id="{D3BED3D3-6945-FBFB-0ADC-29AB3D61D264}"/>
                </a:ext>
              </a:extLst>
            </p:cNvPr>
            <p:cNvSpPr/>
            <p:nvPr/>
          </p:nvSpPr>
          <p:spPr>
            <a:xfrm>
              <a:off x="2831792" y="1567728"/>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grpSp>
      <p:grpSp>
        <p:nvGrpSpPr>
          <p:cNvPr id="273" name="Find | PTV3 stage 4 (no pseudo)">
            <a:extLst>
              <a:ext uri="{FF2B5EF4-FFF2-40B4-BE49-F238E27FC236}">
                <a16:creationId xmlns:a16="http://schemas.microsoft.com/office/drawing/2014/main" id="{6152C243-7C11-72B4-655A-F6C20103F058}"/>
              </a:ext>
            </a:extLst>
          </p:cNvPr>
          <p:cNvGrpSpPr/>
          <p:nvPr/>
        </p:nvGrpSpPr>
        <p:grpSpPr>
          <a:xfrm>
            <a:off x="3324724" y="1218198"/>
            <a:ext cx="269656" cy="205670"/>
            <a:chOff x="3097755" y="1465110"/>
            <a:chExt cx="243090" cy="190530"/>
          </a:xfrm>
        </p:grpSpPr>
        <p:sp>
          <p:nvSpPr>
            <p:cNvPr id="274" name="rect_1885">
              <a:extLst>
                <a:ext uri="{FF2B5EF4-FFF2-40B4-BE49-F238E27FC236}">
                  <a16:creationId xmlns:a16="http://schemas.microsoft.com/office/drawing/2014/main" id="{02A84936-E0C4-22EE-AB39-B8147866C1E6}"/>
                </a:ext>
              </a:extLst>
            </p:cNvPr>
            <p:cNvSpPr/>
            <p:nvPr/>
          </p:nvSpPr>
          <p:spPr>
            <a:xfrm>
              <a:off x="3097755" y="1465110"/>
              <a:ext cx="243090" cy="190530"/>
            </a:xfrm>
            <a:prstGeom prst="roundRect">
              <a:avLst>
                <a:gd name="adj" fmla="val 8621"/>
              </a:avLst>
            </a:prstGeom>
            <a:solidFill>
              <a:srgbClr val="F8F5FC"/>
            </a:solidFill>
            <a:ln w="2540" cap="rnd" cmpd="sng" algn="ctr">
              <a:solidFill>
                <a:srgbClr val="C3D4E6"/>
              </a:solidFill>
              <a:prstDash val="solid"/>
              <a:round/>
              <a:headEnd type="none" w="med" len="med"/>
              <a:tailEnd type="none" w="med" len="med"/>
            </a:ln>
            <a:effectLst/>
          </p:spPr>
        </p:sp>
        <p:sp>
          <p:nvSpPr>
            <p:cNvPr id="275" name="ellipse_1886">
              <a:extLst>
                <a:ext uri="{FF2B5EF4-FFF2-40B4-BE49-F238E27FC236}">
                  <a16:creationId xmlns:a16="http://schemas.microsoft.com/office/drawing/2014/main" id="{28C5B77C-D4DA-25CA-7F5E-FFB406D4948B}"/>
                </a:ext>
              </a:extLst>
            </p:cNvPr>
            <p:cNvSpPr/>
            <p:nvPr/>
          </p:nvSpPr>
          <p:spPr>
            <a:xfrm>
              <a:off x="3274804" y="1547857"/>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76" name="ellipse_1887">
              <a:extLst>
                <a:ext uri="{FF2B5EF4-FFF2-40B4-BE49-F238E27FC236}">
                  <a16:creationId xmlns:a16="http://schemas.microsoft.com/office/drawing/2014/main" id="{4B9C2CC8-3618-CEA6-223F-481DE7645A74}"/>
                </a:ext>
              </a:extLst>
            </p:cNvPr>
            <p:cNvSpPr/>
            <p:nvPr/>
          </p:nvSpPr>
          <p:spPr>
            <a:xfrm>
              <a:off x="3235593" y="1568791"/>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77" name="ellipse_1888">
              <a:extLst>
                <a:ext uri="{FF2B5EF4-FFF2-40B4-BE49-F238E27FC236}">
                  <a16:creationId xmlns:a16="http://schemas.microsoft.com/office/drawing/2014/main" id="{116AA07D-1658-6583-2048-22DAA979C713}"/>
                </a:ext>
              </a:extLst>
            </p:cNvPr>
            <p:cNvSpPr/>
            <p:nvPr/>
          </p:nvSpPr>
          <p:spPr>
            <a:xfrm>
              <a:off x="3215524" y="1548395"/>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78" name="ellipse_1889">
              <a:extLst>
                <a:ext uri="{FF2B5EF4-FFF2-40B4-BE49-F238E27FC236}">
                  <a16:creationId xmlns:a16="http://schemas.microsoft.com/office/drawing/2014/main" id="{B9996B1C-4365-A5B2-A0FA-BEEE1AE3580D}"/>
                </a:ext>
              </a:extLst>
            </p:cNvPr>
            <p:cNvSpPr/>
            <p:nvPr/>
          </p:nvSpPr>
          <p:spPr>
            <a:xfrm>
              <a:off x="3114632" y="1579955"/>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79" name="ellipse_1890">
              <a:extLst>
                <a:ext uri="{FF2B5EF4-FFF2-40B4-BE49-F238E27FC236}">
                  <a16:creationId xmlns:a16="http://schemas.microsoft.com/office/drawing/2014/main" id="{B24EA66B-C475-FD74-3653-99240EA2FC7D}"/>
                </a:ext>
              </a:extLst>
            </p:cNvPr>
            <p:cNvSpPr/>
            <p:nvPr/>
          </p:nvSpPr>
          <p:spPr>
            <a:xfrm>
              <a:off x="3288227" y="1584140"/>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80" name="ellipse_1891">
              <a:extLst>
                <a:ext uri="{FF2B5EF4-FFF2-40B4-BE49-F238E27FC236}">
                  <a16:creationId xmlns:a16="http://schemas.microsoft.com/office/drawing/2014/main" id="{7C05A257-A858-E4EC-CE72-2E262BB52B07}"/>
                </a:ext>
              </a:extLst>
            </p:cNvPr>
            <p:cNvSpPr/>
            <p:nvPr/>
          </p:nvSpPr>
          <p:spPr>
            <a:xfrm>
              <a:off x="3206468" y="1610077"/>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81" name="ellipse_1892">
              <a:extLst>
                <a:ext uri="{FF2B5EF4-FFF2-40B4-BE49-F238E27FC236}">
                  <a16:creationId xmlns:a16="http://schemas.microsoft.com/office/drawing/2014/main" id="{5029BF78-C694-94BA-2390-D6FC0A6BFD81}"/>
                </a:ext>
              </a:extLst>
            </p:cNvPr>
            <p:cNvSpPr/>
            <p:nvPr/>
          </p:nvSpPr>
          <p:spPr>
            <a:xfrm>
              <a:off x="3224851" y="1612180"/>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82" name="ellipse_1893">
              <a:extLst>
                <a:ext uri="{FF2B5EF4-FFF2-40B4-BE49-F238E27FC236}">
                  <a16:creationId xmlns:a16="http://schemas.microsoft.com/office/drawing/2014/main" id="{B400169A-5E49-FEE5-1915-FCB9E751F312}"/>
                </a:ext>
              </a:extLst>
            </p:cNvPr>
            <p:cNvSpPr/>
            <p:nvPr/>
          </p:nvSpPr>
          <p:spPr>
            <a:xfrm>
              <a:off x="3255857" y="1477242"/>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grpSp>
      <p:grpSp>
        <p:nvGrpSpPr>
          <p:cNvPr id="283" name="Find | PTV3 stage 5 (no pseudo)">
            <a:extLst>
              <a:ext uri="{FF2B5EF4-FFF2-40B4-BE49-F238E27FC236}">
                <a16:creationId xmlns:a16="http://schemas.microsoft.com/office/drawing/2014/main" id="{FE5D4BB8-AE08-CFDC-14F9-58D62B643799}"/>
              </a:ext>
            </a:extLst>
          </p:cNvPr>
          <p:cNvGrpSpPr/>
          <p:nvPr/>
        </p:nvGrpSpPr>
        <p:grpSpPr>
          <a:xfrm>
            <a:off x="3748279" y="1222153"/>
            <a:ext cx="276863" cy="197759"/>
            <a:chOff x="3473888" y="1438830"/>
            <a:chExt cx="279225" cy="243090"/>
          </a:xfrm>
        </p:grpSpPr>
        <p:sp>
          <p:nvSpPr>
            <p:cNvPr id="284" name="rect_1899">
              <a:extLst>
                <a:ext uri="{FF2B5EF4-FFF2-40B4-BE49-F238E27FC236}">
                  <a16:creationId xmlns:a16="http://schemas.microsoft.com/office/drawing/2014/main" id="{3C966A44-931E-3C61-C3E2-9910BF785D0E}"/>
                </a:ext>
              </a:extLst>
            </p:cNvPr>
            <p:cNvSpPr/>
            <p:nvPr/>
          </p:nvSpPr>
          <p:spPr>
            <a:xfrm>
              <a:off x="3473888" y="1438830"/>
              <a:ext cx="279225" cy="243090"/>
            </a:xfrm>
            <a:prstGeom prst="roundRect">
              <a:avLst>
                <a:gd name="adj" fmla="val 6757"/>
              </a:avLst>
            </a:prstGeom>
            <a:solidFill>
              <a:srgbClr val="F8F5FC"/>
            </a:solidFill>
            <a:ln w="2540" cap="rnd" cmpd="sng" algn="ctr">
              <a:solidFill>
                <a:srgbClr val="C3D4E6"/>
              </a:solidFill>
              <a:prstDash val="solid"/>
              <a:round/>
              <a:headEnd type="none" w="med" len="med"/>
              <a:tailEnd type="none" w="med" len="med"/>
            </a:ln>
            <a:effectLst/>
          </p:spPr>
        </p:sp>
        <p:sp>
          <p:nvSpPr>
            <p:cNvPr id="285" name="ellipse_1900">
              <a:extLst>
                <a:ext uri="{FF2B5EF4-FFF2-40B4-BE49-F238E27FC236}">
                  <a16:creationId xmlns:a16="http://schemas.microsoft.com/office/drawing/2014/main" id="{0734BB70-ADDB-68EE-E4C9-F1E9F19AF6E7}"/>
                </a:ext>
              </a:extLst>
            </p:cNvPr>
            <p:cNvSpPr/>
            <p:nvPr/>
          </p:nvSpPr>
          <p:spPr>
            <a:xfrm>
              <a:off x="3538819" y="1482538"/>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86" name="ellipse_1901">
              <a:extLst>
                <a:ext uri="{FF2B5EF4-FFF2-40B4-BE49-F238E27FC236}">
                  <a16:creationId xmlns:a16="http://schemas.microsoft.com/office/drawing/2014/main" id="{50CDA3FC-9E47-A0FF-54FE-0B291B80C55E}"/>
                </a:ext>
              </a:extLst>
            </p:cNvPr>
            <p:cNvSpPr/>
            <p:nvPr/>
          </p:nvSpPr>
          <p:spPr>
            <a:xfrm>
              <a:off x="3631999" y="1578094"/>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87" name="ellipse_1902">
              <a:extLst>
                <a:ext uri="{FF2B5EF4-FFF2-40B4-BE49-F238E27FC236}">
                  <a16:creationId xmlns:a16="http://schemas.microsoft.com/office/drawing/2014/main" id="{FDEE2D57-7D4E-037C-452C-66A797AB07C9}"/>
                </a:ext>
              </a:extLst>
            </p:cNvPr>
            <p:cNvSpPr/>
            <p:nvPr/>
          </p:nvSpPr>
          <p:spPr>
            <a:xfrm>
              <a:off x="3687564" y="1590175"/>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88" name="ellipse_1903">
              <a:extLst>
                <a:ext uri="{FF2B5EF4-FFF2-40B4-BE49-F238E27FC236}">
                  <a16:creationId xmlns:a16="http://schemas.microsoft.com/office/drawing/2014/main" id="{B2C7060E-B2BB-F02D-5B6F-B7D323B087B4}"/>
                </a:ext>
              </a:extLst>
            </p:cNvPr>
            <p:cNvSpPr/>
            <p:nvPr/>
          </p:nvSpPr>
          <p:spPr>
            <a:xfrm>
              <a:off x="3686262" y="1625396"/>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89" name="ellipse_1904">
              <a:extLst>
                <a:ext uri="{FF2B5EF4-FFF2-40B4-BE49-F238E27FC236}">
                  <a16:creationId xmlns:a16="http://schemas.microsoft.com/office/drawing/2014/main" id="{7DE1C447-AFD4-DD7C-5DE0-0E96E8153D12}"/>
                </a:ext>
              </a:extLst>
            </p:cNvPr>
            <p:cNvSpPr/>
            <p:nvPr/>
          </p:nvSpPr>
          <p:spPr>
            <a:xfrm>
              <a:off x="3673847" y="1457259"/>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90" name="ellipse_1905">
              <a:extLst>
                <a:ext uri="{FF2B5EF4-FFF2-40B4-BE49-F238E27FC236}">
                  <a16:creationId xmlns:a16="http://schemas.microsoft.com/office/drawing/2014/main" id="{536BBD44-5D8E-E642-7EFE-DC301B9D3F7F}"/>
                </a:ext>
              </a:extLst>
            </p:cNvPr>
            <p:cNvSpPr/>
            <p:nvPr/>
          </p:nvSpPr>
          <p:spPr>
            <a:xfrm>
              <a:off x="3580150" y="1603047"/>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91" name="ellipse_1906">
              <a:extLst>
                <a:ext uri="{FF2B5EF4-FFF2-40B4-BE49-F238E27FC236}">
                  <a16:creationId xmlns:a16="http://schemas.microsoft.com/office/drawing/2014/main" id="{2D018CC6-8BB4-0573-830A-62F9771BB455}"/>
                </a:ext>
              </a:extLst>
            </p:cNvPr>
            <p:cNvSpPr/>
            <p:nvPr/>
          </p:nvSpPr>
          <p:spPr>
            <a:xfrm>
              <a:off x="3499431" y="1479999"/>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92" name="ellipse_1907">
              <a:extLst>
                <a:ext uri="{FF2B5EF4-FFF2-40B4-BE49-F238E27FC236}">
                  <a16:creationId xmlns:a16="http://schemas.microsoft.com/office/drawing/2014/main" id="{3D9BABC9-7179-80DF-931B-76C5D153BFA2}"/>
                </a:ext>
              </a:extLst>
            </p:cNvPr>
            <p:cNvSpPr/>
            <p:nvPr/>
          </p:nvSpPr>
          <p:spPr>
            <a:xfrm>
              <a:off x="3698498" y="1633754"/>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93" name="ellipse_1908">
              <a:extLst>
                <a:ext uri="{FF2B5EF4-FFF2-40B4-BE49-F238E27FC236}">
                  <a16:creationId xmlns:a16="http://schemas.microsoft.com/office/drawing/2014/main" id="{BF41BEF8-8F67-637A-F426-1015DD3C37FC}"/>
                </a:ext>
              </a:extLst>
            </p:cNvPr>
            <p:cNvSpPr/>
            <p:nvPr/>
          </p:nvSpPr>
          <p:spPr>
            <a:xfrm>
              <a:off x="3664475" y="1606687"/>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94" name="ellipse_1909">
              <a:extLst>
                <a:ext uri="{FF2B5EF4-FFF2-40B4-BE49-F238E27FC236}">
                  <a16:creationId xmlns:a16="http://schemas.microsoft.com/office/drawing/2014/main" id="{E57407DB-12F2-A10B-73ED-904E74E89684}"/>
                </a:ext>
              </a:extLst>
            </p:cNvPr>
            <p:cNvSpPr/>
            <p:nvPr/>
          </p:nvSpPr>
          <p:spPr>
            <a:xfrm>
              <a:off x="3577670" y="1575000"/>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grpSp>
      <p:sp>
        <p:nvSpPr>
          <p:cNvPr id="297" name="TextBox 12152">
            <a:extLst>
              <a:ext uri="{FF2B5EF4-FFF2-40B4-BE49-F238E27FC236}">
                <a16:creationId xmlns:a16="http://schemas.microsoft.com/office/drawing/2014/main" id="{DA95DC65-9861-CC7E-7EFC-4B9E07722C91}"/>
              </a:ext>
            </a:extLst>
          </p:cNvPr>
          <p:cNvSpPr txBox="1"/>
          <p:nvPr/>
        </p:nvSpPr>
        <p:spPr>
          <a:xfrm>
            <a:off x="1932849" y="1615773"/>
            <a:ext cx="2183263" cy="106632"/>
          </a:xfrm>
          <a:prstGeom prst="rect">
            <a:avLst/>
          </a:prstGeom>
          <a:noFill/>
        </p:spPr>
        <p:txBody>
          <a:bodyPr wrap="square" lIns="0" tIns="0" rIns="0" bIns="0" anchor="ctr">
            <a:spAutoFit/>
          </a:bodyPr>
          <a:lstStyle/>
          <a:p>
            <a:pPr algn="ctr">
              <a:lnSpc>
                <a:spcPct val="105000"/>
              </a:lnSpc>
            </a:pPr>
            <a:r>
              <a:rPr sz="709">
                <a:solidFill>
                  <a:srgbClr val="263442"/>
                </a:solidFill>
                <a:latin typeface="Arial"/>
              </a:rPr>
              <a:t>Point Transformer V3</a:t>
            </a:r>
          </a:p>
        </p:txBody>
      </p:sp>
      <p:sp>
        <p:nvSpPr>
          <p:cNvPr id="298" name="TextBox 12153">
            <a:extLst>
              <a:ext uri="{FF2B5EF4-FFF2-40B4-BE49-F238E27FC236}">
                <a16:creationId xmlns:a16="http://schemas.microsoft.com/office/drawing/2014/main" id="{522E41DD-5F6E-76BD-E92F-5CBA886A651B}"/>
              </a:ext>
            </a:extLst>
          </p:cNvPr>
          <p:cNvSpPr txBox="1"/>
          <p:nvPr/>
        </p:nvSpPr>
        <p:spPr>
          <a:xfrm>
            <a:off x="2779258" y="1058360"/>
            <a:ext cx="767306" cy="88422"/>
          </a:xfrm>
          <a:prstGeom prst="rect">
            <a:avLst/>
          </a:prstGeom>
          <a:noFill/>
        </p:spPr>
        <p:txBody>
          <a:bodyPr wrap="square" lIns="0" tIns="0" rIns="0" bIns="0" anchor="ctr">
            <a:spAutoFit/>
          </a:bodyPr>
          <a:lstStyle/>
          <a:p>
            <a:pPr algn="ctr">
              <a:lnSpc>
                <a:spcPct val="105000"/>
              </a:lnSpc>
            </a:pPr>
            <a:r>
              <a:rPr lang="en-US" sz="588" dirty="0">
                <a:solidFill>
                  <a:srgbClr val="263442"/>
                </a:solidFill>
                <a:latin typeface="Arial"/>
              </a:rPr>
              <a:t>F</a:t>
            </a:r>
            <a:r>
              <a:rPr sz="588" dirty="0">
                <a:solidFill>
                  <a:srgbClr val="263442"/>
                </a:solidFill>
                <a:latin typeface="Arial"/>
              </a:rPr>
              <a:t>usion</a:t>
            </a:r>
          </a:p>
        </p:txBody>
      </p:sp>
      <p:sp>
        <p:nvSpPr>
          <p:cNvPr id="299" name="Find | Blobs output card">
            <a:extLst>
              <a:ext uri="{FF2B5EF4-FFF2-40B4-BE49-F238E27FC236}">
                <a16:creationId xmlns:a16="http://schemas.microsoft.com/office/drawing/2014/main" id="{6A602B9B-DE58-7AA0-FDBA-741F60C78A9B}"/>
              </a:ext>
            </a:extLst>
          </p:cNvPr>
          <p:cNvSpPr/>
          <p:nvPr/>
        </p:nvSpPr>
        <p:spPr>
          <a:xfrm>
            <a:off x="4300068" y="284775"/>
            <a:ext cx="442980" cy="1471328"/>
          </a:xfrm>
          <a:prstGeom prst="roundRect">
            <a:avLst>
              <a:gd name="adj" fmla="val 6000"/>
            </a:avLst>
          </a:prstGeom>
          <a:solidFill>
            <a:srgbClr val="FFFFFF"/>
          </a:solidFill>
          <a:ln w="7290">
            <a:solidFill>
              <a:srgbClr val="BEC7C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300" name="TextBox 12155">
            <a:extLst>
              <a:ext uri="{FF2B5EF4-FFF2-40B4-BE49-F238E27FC236}">
                <a16:creationId xmlns:a16="http://schemas.microsoft.com/office/drawing/2014/main" id="{1F7C0F6F-D082-C8AA-DE11-4286EF42AADB}"/>
              </a:ext>
            </a:extLst>
          </p:cNvPr>
          <p:cNvSpPr txBox="1"/>
          <p:nvPr/>
        </p:nvSpPr>
        <p:spPr>
          <a:xfrm>
            <a:off x="4185689" y="307007"/>
            <a:ext cx="696113" cy="111954"/>
          </a:xfrm>
          <a:prstGeom prst="rect">
            <a:avLst/>
          </a:prstGeom>
          <a:noFill/>
        </p:spPr>
        <p:txBody>
          <a:bodyPr wrap="square" lIns="0" tIns="0" rIns="0" bIns="0" anchor="ctr">
            <a:spAutoFit/>
          </a:bodyPr>
          <a:lstStyle/>
          <a:p>
            <a:pPr algn="ctr">
              <a:lnSpc>
                <a:spcPct val="105000"/>
              </a:lnSpc>
            </a:pPr>
            <a:r>
              <a:rPr sz="744" dirty="0">
                <a:solidFill>
                  <a:srgbClr val="263442"/>
                </a:solidFill>
                <a:latin typeface="Arial"/>
              </a:rPr>
              <a:t>Blobs</a:t>
            </a:r>
          </a:p>
        </p:txBody>
      </p:sp>
      <p:sp>
        <p:nvSpPr>
          <p:cNvPr id="301" name="TextBox 12160">
            <a:extLst>
              <a:ext uri="{FF2B5EF4-FFF2-40B4-BE49-F238E27FC236}">
                <a16:creationId xmlns:a16="http://schemas.microsoft.com/office/drawing/2014/main" id="{EBF2AA16-9B52-B84F-43EE-03BA82B2D4CA}"/>
              </a:ext>
            </a:extLst>
          </p:cNvPr>
          <p:cNvSpPr txBox="1"/>
          <p:nvPr/>
        </p:nvSpPr>
        <p:spPr>
          <a:xfrm>
            <a:off x="616744" y="2090304"/>
            <a:ext cx="1186556" cy="107978"/>
          </a:xfrm>
          <a:prstGeom prst="rect">
            <a:avLst/>
          </a:prstGeom>
          <a:noFill/>
        </p:spPr>
        <p:txBody>
          <a:bodyPr wrap="square" lIns="0" tIns="0" rIns="0" bIns="0" anchor="ctr">
            <a:spAutoFit/>
          </a:bodyPr>
          <a:lstStyle/>
          <a:p>
            <a:pPr algn="l">
              <a:lnSpc>
                <a:spcPct val="105000"/>
              </a:lnSpc>
            </a:pPr>
            <a:r>
              <a:rPr sz="718" dirty="0">
                <a:solidFill>
                  <a:srgbClr val="263442"/>
                </a:solidFill>
                <a:latin typeface="Arial"/>
              </a:rPr>
              <a:t>Candidate encoder</a:t>
            </a:r>
          </a:p>
        </p:txBody>
      </p:sp>
      <p:sp>
        <p:nvSpPr>
          <p:cNvPr id="302" name="TextBox 12161">
            <a:extLst>
              <a:ext uri="{FF2B5EF4-FFF2-40B4-BE49-F238E27FC236}">
                <a16:creationId xmlns:a16="http://schemas.microsoft.com/office/drawing/2014/main" id="{1FD101AA-9130-CD96-6414-B193E6D36851}"/>
              </a:ext>
            </a:extLst>
          </p:cNvPr>
          <p:cNvSpPr txBox="1"/>
          <p:nvPr/>
        </p:nvSpPr>
        <p:spPr>
          <a:xfrm>
            <a:off x="2752186" y="2090304"/>
            <a:ext cx="1186556" cy="107978"/>
          </a:xfrm>
          <a:prstGeom prst="rect">
            <a:avLst/>
          </a:prstGeom>
          <a:noFill/>
        </p:spPr>
        <p:txBody>
          <a:bodyPr wrap="square" lIns="0" tIns="0" rIns="0" bIns="0" anchor="ctr">
            <a:spAutoFit/>
          </a:bodyPr>
          <a:lstStyle/>
          <a:p>
            <a:pPr algn="l">
              <a:lnSpc>
                <a:spcPct val="105000"/>
              </a:lnSpc>
            </a:pPr>
            <a:r>
              <a:rPr sz="718" dirty="0">
                <a:solidFill>
                  <a:srgbClr val="263442"/>
                </a:solidFill>
                <a:latin typeface="Arial"/>
              </a:rPr>
              <a:t>Identity encoder</a:t>
            </a:r>
          </a:p>
        </p:txBody>
      </p:sp>
      <p:sp>
        <p:nvSpPr>
          <p:cNvPr id="303" name="Match | Center divider">
            <a:extLst>
              <a:ext uri="{FF2B5EF4-FFF2-40B4-BE49-F238E27FC236}">
                <a16:creationId xmlns:a16="http://schemas.microsoft.com/office/drawing/2014/main" id="{5A593D05-94F5-C55B-C8C6-B8F9E86B08C6}"/>
              </a:ext>
            </a:extLst>
          </p:cNvPr>
          <p:cNvSpPr/>
          <p:nvPr/>
        </p:nvSpPr>
        <p:spPr>
          <a:xfrm>
            <a:off x="2605556" y="2119981"/>
            <a:ext cx="1" cy="1945952"/>
          </a:xfrm>
          <a:custGeom>
            <a:avLst/>
            <a:gdLst/>
            <a:ahLst/>
            <a:cxnLst/>
            <a:rect l="0" t="0" r="w" b="h"/>
            <a:pathLst>
              <a:path w="1" h="2249424">
                <a:moveTo>
                  <a:pt x="0" y="0"/>
                </a:moveTo>
                <a:lnTo>
                  <a:pt x="0" y="2249424"/>
                </a:lnTo>
              </a:path>
            </a:pathLst>
          </a:custGeom>
          <a:noFill/>
          <a:ln w="9525" cap="rnd" cmpd="sng" algn="ctr">
            <a:solidFill>
              <a:srgbClr val="C8CFD4"/>
            </a:solidFill>
            <a:prstDash val="solid"/>
            <a:round/>
            <a:headEnd type="none" w="med" len="med"/>
            <a:tailEnd type="none" w="med" len="med"/>
          </a:ln>
        </p:spPr>
      </p:sp>
      <p:sp>
        <p:nvSpPr>
          <p:cNvPr id="304" name="TextBox 12164">
            <a:extLst>
              <a:ext uri="{FF2B5EF4-FFF2-40B4-BE49-F238E27FC236}">
                <a16:creationId xmlns:a16="http://schemas.microsoft.com/office/drawing/2014/main" id="{DA6D9C81-D325-B373-1580-DEE13789E3EE}"/>
              </a:ext>
            </a:extLst>
          </p:cNvPr>
          <p:cNvSpPr txBox="1"/>
          <p:nvPr/>
        </p:nvSpPr>
        <p:spPr>
          <a:xfrm>
            <a:off x="608834" y="2270869"/>
            <a:ext cx="442981" cy="93744"/>
          </a:xfrm>
          <a:prstGeom prst="rect">
            <a:avLst/>
          </a:prstGeom>
          <a:noFill/>
        </p:spPr>
        <p:txBody>
          <a:bodyPr wrap="square" lIns="0" tIns="0" rIns="0" bIns="0" anchor="ctr">
            <a:spAutoFit/>
          </a:bodyPr>
          <a:lstStyle/>
          <a:p>
            <a:pPr algn="ctr">
              <a:lnSpc>
                <a:spcPct val="105000"/>
              </a:lnSpc>
            </a:pPr>
            <a:r>
              <a:rPr sz="623">
                <a:solidFill>
                  <a:srgbClr val="263442"/>
                </a:solidFill>
                <a:latin typeface="Arial"/>
              </a:rPr>
              <a:t>Receptor</a:t>
            </a:r>
          </a:p>
        </p:txBody>
      </p:sp>
      <p:sp>
        <p:nvSpPr>
          <p:cNvPr id="305" name="TextBox 12166">
            <a:extLst>
              <a:ext uri="{FF2B5EF4-FFF2-40B4-BE49-F238E27FC236}">
                <a16:creationId xmlns:a16="http://schemas.microsoft.com/office/drawing/2014/main" id="{6E830D7E-FC74-3019-18B2-DDE04B6E60D0}"/>
              </a:ext>
            </a:extLst>
          </p:cNvPr>
          <p:cNvSpPr txBox="1"/>
          <p:nvPr/>
        </p:nvSpPr>
        <p:spPr>
          <a:xfrm>
            <a:off x="1091367" y="2270869"/>
            <a:ext cx="442981" cy="93744"/>
          </a:xfrm>
          <a:prstGeom prst="rect">
            <a:avLst/>
          </a:prstGeom>
          <a:noFill/>
        </p:spPr>
        <p:txBody>
          <a:bodyPr wrap="square" lIns="0" tIns="0" rIns="0" bIns="0" anchor="ctr">
            <a:spAutoFit/>
          </a:bodyPr>
          <a:lstStyle/>
          <a:p>
            <a:pPr algn="ctr">
              <a:lnSpc>
                <a:spcPct val="105000"/>
              </a:lnSpc>
            </a:pPr>
            <a:r>
              <a:rPr sz="623" dirty="0">
                <a:solidFill>
                  <a:srgbClr val="263442"/>
                </a:solidFill>
                <a:latin typeface="Arial"/>
              </a:rPr>
              <a:t>Density</a:t>
            </a:r>
          </a:p>
        </p:txBody>
      </p:sp>
      <p:pic>
        <p:nvPicPr>
          <p:cNvPr id="306" name="Match corresponding experimental density" descr="Experimental 9LLG density around chain C1 of the displayed CryoAtom2 receptor, at the original contour level and the identical camera orientation.">
            <a:extLst>
              <a:ext uri="{FF2B5EF4-FFF2-40B4-BE49-F238E27FC236}">
                <a16:creationId xmlns:a16="http://schemas.microsoft.com/office/drawing/2014/main" id="{7A47CBDC-2732-4D0F-C4FF-972DA2F1AA3E}"/>
              </a:ext>
            </a:extLst>
          </p:cNvPr>
          <p:cNvPicPr/>
          <p:nvPr/>
        </p:nvPicPr>
        <p:blipFill>
          <a:blip r:embed="rId4"/>
          <a:stretch>
            <a:fillRect/>
          </a:stretch>
        </p:blipFill>
        <p:spPr>
          <a:xfrm>
            <a:off x="1138851" y="2380847"/>
            <a:ext cx="347980" cy="332276"/>
          </a:xfrm>
          <a:prstGeom prst="rect">
            <a:avLst/>
          </a:prstGeom>
        </p:spPr>
      </p:pic>
      <p:sp>
        <p:nvSpPr>
          <p:cNvPr id="526" name="TextBox 12168">
            <a:extLst>
              <a:ext uri="{FF2B5EF4-FFF2-40B4-BE49-F238E27FC236}">
                <a16:creationId xmlns:a16="http://schemas.microsoft.com/office/drawing/2014/main" id="{50BD09F1-2D4A-FA0A-7AF2-981DD7585F3A}"/>
              </a:ext>
            </a:extLst>
          </p:cNvPr>
          <p:cNvSpPr txBox="1"/>
          <p:nvPr/>
        </p:nvSpPr>
        <p:spPr>
          <a:xfrm>
            <a:off x="648883" y="2851277"/>
            <a:ext cx="340209" cy="97203"/>
          </a:xfrm>
          <a:prstGeom prst="rect">
            <a:avLst/>
          </a:prstGeom>
          <a:noFill/>
        </p:spPr>
        <p:txBody>
          <a:bodyPr wrap="square" lIns="0" tIns="0" rIns="0" bIns="0" anchor="ctr">
            <a:spAutoFit/>
          </a:bodyPr>
          <a:lstStyle/>
          <a:p>
            <a:pPr algn="ctr">
              <a:lnSpc>
                <a:spcPct val="105000"/>
              </a:lnSpc>
            </a:pPr>
            <a:r>
              <a:rPr sz="623">
                <a:solidFill>
                  <a:srgbClr val="263442"/>
                </a:solidFill>
                <a:latin typeface="Arial"/>
              </a:rPr>
              <a:t>Pocket</a:t>
            </a:r>
          </a:p>
        </p:txBody>
      </p:sp>
      <p:sp>
        <p:nvSpPr>
          <p:cNvPr id="613" name="TextBox 12177">
            <a:extLst>
              <a:ext uri="{FF2B5EF4-FFF2-40B4-BE49-F238E27FC236}">
                <a16:creationId xmlns:a16="http://schemas.microsoft.com/office/drawing/2014/main" id="{086F717F-C0B1-CD04-AFB8-166092CD717F}"/>
              </a:ext>
            </a:extLst>
          </p:cNvPr>
          <p:cNvSpPr txBox="1"/>
          <p:nvPr/>
        </p:nvSpPr>
        <p:spPr>
          <a:xfrm>
            <a:off x="1098445" y="2851277"/>
            <a:ext cx="340209" cy="97203"/>
          </a:xfrm>
          <a:prstGeom prst="rect">
            <a:avLst/>
          </a:prstGeom>
          <a:noFill/>
        </p:spPr>
        <p:txBody>
          <a:bodyPr wrap="square" lIns="0" tIns="0" rIns="0" bIns="0" anchor="ctr">
            <a:spAutoFit/>
          </a:bodyPr>
          <a:lstStyle/>
          <a:p>
            <a:pPr algn="ctr">
              <a:lnSpc>
                <a:spcPct val="105000"/>
              </a:lnSpc>
            </a:pPr>
            <a:r>
              <a:rPr sz="623">
                <a:solidFill>
                  <a:srgbClr val="263442"/>
                </a:solidFill>
                <a:latin typeface="Arial"/>
              </a:rPr>
              <a:t>Blob</a:t>
            </a:r>
          </a:p>
        </p:txBody>
      </p:sp>
      <p:grpSp>
        <p:nvGrpSpPr>
          <p:cNvPr id="614" name="Match | Blob contour">
            <a:extLst>
              <a:ext uri="{FF2B5EF4-FFF2-40B4-BE49-F238E27FC236}">
                <a16:creationId xmlns:a16="http://schemas.microsoft.com/office/drawing/2014/main" id="{ECF83E2A-3199-B09F-F90E-31DC9848C382}"/>
              </a:ext>
            </a:extLst>
          </p:cNvPr>
          <p:cNvGrpSpPr/>
          <p:nvPr/>
        </p:nvGrpSpPr>
        <p:grpSpPr>
          <a:xfrm>
            <a:off x="1122154" y="3036990"/>
            <a:ext cx="291608" cy="199265"/>
            <a:chOff x="1928706" y="3559489"/>
            <a:chExt cx="227897" cy="155682"/>
          </a:xfrm>
        </p:grpSpPr>
        <p:sp>
          <p:nvSpPr>
            <p:cNvPr id="615" name="Candidate blob | editable contour">
              <a:extLst>
                <a:ext uri="{FF2B5EF4-FFF2-40B4-BE49-F238E27FC236}">
                  <a16:creationId xmlns:a16="http://schemas.microsoft.com/office/drawing/2014/main" id="{513F782E-E1DE-1B64-68A9-FB54BE71715F}"/>
                </a:ext>
              </a:extLst>
            </p:cNvPr>
            <p:cNvSpPr/>
            <p:nvPr/>
          </p:nvSpPr>
          <p:spPr>
            <a:xfrm>
              <a:off x="1928706" y="3559489"/>
              <a:ext cx="227897" cy="155682"/>
            </a:xfrm>
            <a:custGeom>
              <a:avLst/>
              <a:gdLst/>
              <a:ahLst/>
              <a:cxnLst/>
              <a:rect l="0" t="0" r="w" b="h"/>
              <a:pathLst>
                <a:path w="227897" h="155682" extrusionOk="0">
                  <a:moveTo>
                    <a:pt x="5338" y="97866"/>
                  </a:moveTo>
                  <a:cubicBezTo>
                    <a:pt x="0" y="80701"/>
                    <a:pt x="18889" y="54504"/>
                    <a:pt x="29976" y="43663"/>
                  </a:cubicBezTo>
                  <a:cubicBezTo>
                    <a:pt x="41062" y="32823"/>
                    <a:pt x="58719" y="39447"/>
                    <a:pt x="71859" y="32823"/>
                  </a:cubicBezTo>
                  <a:cubicBezTo>
                    <a:pt x="84999" y="26198"/>
                    <a:pt x="92391" y="7829"/>
                    <a:pt x="108816" y="3915"/>
                  </a:cubicBezTo>
                  <a:cubicBezTo>
                    <a:pt x="125241" y="0"/>
                    <a:pt x="153984" y="3613"/>
                    <a:pt x="170409" y="9335"/>
                  </a:cubicBezTo>
                  <a:cubicBezTo>
                    <a:pt x="186834" y="15056"/>
                    <a:pt x="198332" y="26198"/>
                    <a:pt x="207366" y="38243"/>
                  </a:cubicBezTo>
                  <a:cubicBezTo>
                    <a:pt x="216399" y="50288"/>
                    <a:pt x="227897" y="67151"/>
                    <a:pt x="224612" y="81605"/>
                  </a:cubicBezTo>
                  <a:cubicBezTo>
                    <a:pt x="221327" y="96059"/>
                    <a:pt x="203259" y="113223"/>
                    <a:pt x="187656" y="124967"/>
                  </a:cubicBezTo>
                  <a:cubicBezTo>
                    <a:pt x="172052" y="136711"/>
                    <a:pt x="151931" y="148455"/>
                    <a:pt x="130989" y="152068"/>
                  </a:cubicBezTo>
                  <a:cubicBezTo>
                    <a:pt x="110048" y="155682"/>
                    <a:pt x="82946" y="155682"/>
                    <a:pt x="62004" y="146648"/>
                  </a:cubicBezTo>
                  <a:cubicBezTo>
                    <a:pt x="41062" y="137614"/>
                    <a:pt x="10676" y="115030"/>
                    <a:pt x="5338" y="97866"/>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616" name="ellipse_2612">
              <a:extLst>
                <a:ext uri="{FF2B5EF4-FFF2-40B4-BE49-F238E27FC236}">
                  <a16:creationId xmlns:a16="http://schemas.microsoft.com/office/drawing/2014/main" id="{12A4650A-7359-9456-1843-A3C9E08B2497}"/>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sp>
        <p:nvSpPr>
          <p:cNvPr id="618" name="TextBox 12186">
            <a:extLst>
              <a:ext uri="{FF2B5EF4-FFF2-40B4-BE49-F238E27FC236}">
                <a16:creationId xmlns:a16="http://schemas.microsoft.com/office/drawing/2014/main" id="{88505915-A113-7FAA-6C15-3F2B10F6D7CB}"/>
              </a:ext>
            </a:extLst>
          </p:cNvPr>
          <p:cNvSpPr txBox="1"/>
          <p:nvPr/>
        </p:nvSpPr>
        <p:spPr>
          <a:xfrm>
            <a:off x="1640255" y="2259965"/>
            <a:ext cx="286938" cy="92333"/>
          </a:xfrm>
          <a:prstGeom prst="rect">
            <a:avLst/>
          </a:prstGeom>
          <a:noFill/>
        </p:spPr>
        <p:txBody>
          <a:bodyPr wrap="none" lIns="0" tIns="0" rIns="0" bIns="0" anchor="ctr">
            <a:spAutoFit/>
          </a:bodyPr>
          <a:lstStyle/>
          <a:p>
            <a:pPr algn="ctr">
              <a:lnSpc>
                <a:spcPct val="105000"/>
              </a:lnSpc>
            </a:pPr>
            <a:r>
              <a:rPr sz="614">
                <a:solidFill>
                  <a:srgbClr val="263442"/>
                </a:solidFill>
                <a:latin typeface="Arial"/>
              </a:rPr>
              <a:t>48³ crop</a:t>
            </a:r>
          </a:p>
        </p:txBody>
      </p:sp>
      <p:grpSp>
        <p:nvGrpSpPr>
          <p:cNvPr id="619" name="48^3 crop 3D cube">
            <a:extLst>
              <a:ext uri="{FF2B5EF4-FFF2-40B4-BE49-F238E27FC236}">
                <a16:creationId xmlns:a16="http://schemas.microsoft.com/office/drawing/2014/main" id="{50441A72-5112-E010-1BBD-72FFF87A8B6E}"/>
              </a:ext>
            </a:extLst>
          </p:cNvPr>
          <p:cNvGrpSpPr/>
          <p:nvPr/>
        </p:nvGrpSpPr>
        <p:grpSpPr>
          <a:xfrm>
            <a:off x="1657361" y="2353114"/>
            <a:ext cx="251107" cy="197645"/>
            <a:chOff x="4043880" y="489960"/>
            <a:chExt cx="571680" cy="450000"/>
          </a:xfrm>
        </p:grpSpPr>
        <p:sp>
          <p:nvSpPr>
            <p:cNvPr id="620" name="asset_2027_0">
              <a:extLst>
                <a:ext uri="{FF2B5EF4-FFF2-40B4-BE49-F238E27FC236}">
                  <a16:creationId xmlns:a16="http://schemas.microsoft.com/office/drawing/2014/main" id="{2C26482F-D7D7-E3F6-FBCD-22AC82315E62}"/>
                </a:ext>
              </a:extLst>
            </p:cNvPr>
            <p:cNvSpPr>
              <a:spLocks noGrp="1"/>
            </p:cNvSpPr>
            <p:nvPr/>
          </p:nvSpPr>
          <p:spPr>
            <a:xfrm>
              <a:off x="4043880" y="489960"/>
              <a:ext cx="571680" cy="76500"/>
            </a:xfrm>
            <a:custGeom>
              <a:avLst/>
              <a:gdLst/>
              <a:ahLst/>
              <a:cxnLst/>
              <a:rect l="0" t="0" r="0" b="0"/>
              <a:pathLst>
                <a:path w="571680" h="76500">
                  <a:moveTo>
                    <a:pt x="0" y="76500"/>
                  </a:moveTo>
                  <a:lnTo>
                    <a:pt x="108619" y="0"/>
                  </a:lnTo>
                  <a:lnTo>
                    <a:pt x="571680" y="0"/>
                  </a:lnTo>
                  <a:lnTo>
                    <a:pt x="463061" y="76500"/>
                  </a:lnTo>
                  <a:close/>
                </a:path>
              </a:pathLst>
            </a:custGeom>
            <a:gradFill>
              <a:gsLst>
                <a:gs pos="0">
                  <a:srgbClr val="FAFDFF">
                    <a:alpha val="65000"/>
                  </a:srgbClr>
                </a:gs>
                <a:gs pos="100000">
                  <a:srgbClr val="D9EAFA">
                    <a:alpha val="45000"/>
                  </a:srgbClr>
                </a:gs>
              </a:gsLst>
              <a:lin ang="5400000"/>
            </a:gradFill>
            <a:ln w="2700">
              <a:solidFill>
                <a:srgbClr val="A3C3E2"/>
              </a:solidFill>
            </a:ln>
          </p:spPr>
        </p:sp>
        <p:sp>
          <p:nvSpPr>
            <p:cNvPr id="621" name="asset_2027_1">
              <a:extLst>
                <a:ext uri="{FF2B5EF4-FFF2-40B4-BE49-F238E27FC236}">
                  <a16:creationId xmlns:a16="http://schemas.microsoft.com/office/drawing/2014/main" id="{F28AFBA7-0A71-99DE-9FF9-EBD0ADC1144C}"/>
                </a:ext>
              </a:extLst>
            </p:cNvPr>
            <p:cNvSpPr>
              <a:spLocks noGrp="1"/>
            </p:cNvSpPr>
            <p:nvPr/>
          </p:nvSpPr>
          <p:spPr>
            <a:xfrm>
              <a:off x="4506941" y="489960"/>
              <a:ext cx="108619" cy="450000"/>
            </a:xfrm>
            <a:custGeom>
              <a:avLst/>
              <a:gdLst/>
              <a:ahLst/>
              <a:cxnLst/>
              <a:rect l="0" t="0" r="0" b="0"/>
              <a:pathLst>
                <a:path w="108619" h="450000">
                  <a:moveTo>
                    <a:pt x="0" y="76500"/>
                  </a:moveTo>
                  <a:lnTo>
                    <a:pt x="108619" y="0"/>
                  </a:lnTo>
                  <a:lnTo>
                    <a:pt x="108619" y="373500"/>
                  </a:lnTo>
                  <a:lnTo>
                    <a:pt x="0" y="450000"/>
                  </a:lnTo>
                  <a:close/>
                </a:path>
              </a:pathLst>
            </a:custGeom>
            <a:solidFill>
              <a:srgbClr val="C9DFF3">
                <a:alpha val="22000"/>
              </a:srgbClr>
            </a:solidFill>
            <a:ln w="2700">
              <a:solidFill>
                <a:srgbClr val="A3C3E2"/>
              </a:solidFill>
            </a:ln>
          </p:spPr>
        </p:sp>
        <p:sp>
          <p:nvSpPr>
            <p:cNvPr id="622" name="asset_2027_2">
              <a:extLst>
                <a:ext uri="{FF2B5EF4-FFF2-40B4-BE49-F238E27FC236}">
                  <a16:creationId xmlns:a16="http://schemas.microsoft.com/office/drawing/2014/main" id="{97E064B3-0050-239C-C963-C5E4E31B84D2}"/>
                </a:ext>
              </a:extLst>
            </p:cNvPr>
            <p:cNvSpPr>
              <a:spLocks noGrp="1"/>
            </p:cNvSpPr>
            <p:nvPr/>
          </p:nvSpPr>
          <p:spPr>
            <a:xfrm>
              <a:off x="4043880" y="566460"/>
              <a:ext cx="463061" cy="373500"/>
            </a:xfrm>
            <a:prstGeom prst="rect">
              <a:avLst/>
            </a:prstGeom>
            <a:solidFill>
              <a:srgbClr val="E7F1FC">
                <a:alpha val="20000"/>
              </a:srgbClr>
            </a:solidFill>
            <a:ln w="2700">
              <a:solidFill>
                <a:srgbClr val="ABC9E7"/>
              </a:solidFill>
            </a:ln>
          </p:spPr>
        </p:sp>
        <p:sp>
          <p:nvSpPr>
            <p:cNvPr id="623" name="asset_2027_3">
              <a:extLst>
                <a:ext uri="{FF2B5EF4-FFF2-40B4-BE49-F238E27FC236}">
                  <a16:creationId xmlns:a16="http://schemas.microsoft.com/office/drawing/2014/main" id="{A2C54284-938E-B40D-7CE6-20A987BE1447}"/>
                </a:ext>
              </a:extLst>
            </p:cNvPr>
            <p:cNvSpPr>
              <a:spLocks noGrp="1"/>
            </p:cNvSpPr>
            <p:nvPr/>
          </p:nvSpPr>
          <p:spPr>
            <a:xfrm>
              <a:off x="4159645" y="566460"/>
              <a:ext cx="4" cy="373500"/>
            </a:xfrm>
            <a:prstGeom prst="line">
              <a:avLst/>
            </a:prstGeom>
            <a:noFill/>
            <a:ln w="1980">
              <a:solidFill>
                <a:srgbClr val="B8D2EB">
                  <a:alpha val="33000"/>
                </a:srgbClr>
              </a:solidFill>
            </a:ln>
          </p:spPr>
        </p:sp>
        <p:sp>
          <p:nvSpPr>
            <p:cNvPr id="624" name="asset_2027_4">
              <a:extLst>
                <a:ext uri="{FF2B5EF4-FFF2-40B4-BE49-F238E27FC236}">
                  <a16:creationId xmlns:a16="http://schemas.microsoft.com/office/drawing/2014/main" id="{0F8960CE-A059-8D07-91FB-C97F3078BCD9}"/>
                </a:ext>
              </a:extLst>
            </p:cNvPr>
            <p:cNvSpPr>
              <a:spLocks noGrp="1"/>
            </p:cNvSpPr>
            <p:nvPr/>
          </p:nvSpPr>
          <p:spPr>
            <a:xfrm>
              <a:off x="4043880" y="659835"/>
              <a:ext cx="463061" cy="4"/>
            </a:xfrm>
            <a:prstGeom prst="line">
              <a:avLst/>
            </a:prstGeom>
            <a:noFill/>
            <a:ln w="1980">
              <a:solidFill>
                <a:srgbClr val="B8D2EB">
                  <a:alpha val="33000"/>
                </a:srgbClr>
              </a:solidFill>
            </a:ln>
          </p:spPr>
        </p:sp>
        <p:sp>
          <p:nvSpPr>
            <p:cNvPr id="625" name="asset_2027_5">
              <a:extLst>
                <a:ext uri="{FF2B5EF4-FFF2-40B4-BE49-F238E27FC236}">
                  <a16:creationId xmlns:a16="http://schemas.microsoft.com/office/drawing/2014/main" id="{A5646F3B-E3B0-7C1C-2E27-F9E967647A65}"/>
                </a:ext>
              </a:extLst>
            </p:cNvPr>
            <p:cNvSpPr>
              <a:spLocks noGrp="1"/>
            </p:cNvSpPr>
            <p:nvPr/>
          </p:nvSpPr>
          <p:spPr>
            <a:xfrm>
              <a:off x="4275410" y="566460"/>
              <a:ext cx="4" cy="373500"/>
            </a:xfrm>
            <a:prstGeom prst="line">
              <a:avLst/>
            </a:prstGeom>
            <a:noFill/>
            <a:ln w="1980">
              <a:solidFill>
                <a:srgbClr val="B8D2EB">
                  <a:alpha val="33000"/>
                </a:srgbClr>
              </a:solidFill>
            </a:ln>
          </p:spPr>
        </p:sp>
        <p:sp>
          <p:nvSpPr>
            <p:cNvPr id="626" name="asset_2027_6">
              <a:extLst>
                <a:ext uri="{FF2B5EF4-FFF2-40B4-BE49-F238E27FC236}">
                  <a16:creationId xmlns:a16="http://schemas.microsoft.com/office/drawing/2014/main" id="{49CF1756-587C-D73A-CFD0-CE93821E4BC5}"/>
                </a:ext>
              </a:extLst>
            </p:cNvPr>
            <p:cNvSpPr>
              <a:spLocks noGrp="1"/>
            </p:cNvSpPr>
            <p:nvPr/>
          </p:nvSpPr>
          <p:spPr>
            <a:xfrm>
              <a:off x="4043880" y="753210"/>
              <a:ext cx="463061" cy="4"/>
            </a:xfrm>
            <a:prstGeom prst="line">
              <a:avLst/>
            </a:prstGeom>
            <a:noFill/>
            <a:ln w="1980">
              <a:solidFill>
                <a:srgbClr val="B8D2EB">
                  <a:alpha val="33000"/>
                </a:srgbClr>
              </a:solidFill>
            </a:ln>
          </p:spPr>
        </p:sp>
        <p:sp>
          <p:nvSpPr>
            <p:cNvPr id="627" name="asset_2027_7">
              <a:extLst>
                <a:ext uri="{FF2B5EF4-FFF2-40B4-BE49-F238E27FC236}">
                  <a16:creationId xmlns:a16="http://schemas.microsoft.com/office/drawing/2014/main" id="{617A40D8-F985-CF5E-C184-9CEE010688B0}"/>
                </a:ext>
              </a:extLst>
            </p:cNvPr>
            <p:cNvSpPr>
              <a:spLocks noGrp="1"/>
            </p:cNvSpPr>
            <p:nvPr/>
          </p:nvSpPr>
          <p:spPr>
            <a:xfrm>
              <a:off x="4391176" y="566460"/>
              <a:ext cx="4" cy="373500"/>
            </a:xfrm>
            <a:prstGeom prst="line">
              <a:avLst/>
            </a:prstGeom>
            <a:noFill/>
            <a:ln w="1980">
              <a:solidFill>
                <a:srgbClr val="B8D2EB">
                  <a:alpha val="33000"/>
                </a:srgbClr>
              </a:solidFill>
            </a:ln>
          </p:spPr>
        </p:sp>
        <p:sp>
          <p:nvSpPr>
            <p:cNvPr id="628" name="asset_2027_8">
              <a:extLst>
                <a:ext uri="{FF2B5EF4-FFF2-40B4-BE49-F238E27FC236}">
                  <a16:creationId xmlns:a16="http://schemas.microsoft.com/office/drawing/2014/main" id="{D74C2F96-9830-4E45-47CF-280DBDF3BBA6}"/>
                </a:ext>
              </a:extLst>
            </p:cNvPr>
            <p:cNvSpPr>
              <a:spLocks noGrp="1"/>
            </p:cNvSpPr>
            <p:nvPr/>
          </p:nvSpPr>
          <p:spPr>
            <a:xfrm>
              <a:off x="4043880" y="846585"/>
              <a:ext cx="463061" cy="4"/>
            </a:xfrm>
            <a:prstGeom prst="line">
              <a:avLst/>
            </a:prstGeom>
            <a:noFill/>
            <a:ln w="1980">
              <a:solidFill>
                <a:srgbClr val="B8D2EB">
                  <a:alpha val="33000"/>
                </a:srgbClr>
              </a:solidFill>
            </a:ln>
          </p:spPr>
        </p:sp>
        <p:sp>
          <p:nvSpPr>
            <p:cNvPr id="629" name="asset_2027_53">
              <a:extLst>
                <a:ext uri="{FF2B5EF4-FFF2-40B4-BE49-F238E27FC236}">
                  <a16:creationId xmlns:a16="http://schemas.microsoft.com/office/drawing/2014/main" id="{B57D82E4-2BD4-33AA-2164-941D5F47EC2E}"/>
                </a:ext>
              </a:extLst>
            </p:cNvPr>
            <p:cNvSpPr>
              <a:spLocks noGrp="1"/>
            </p:cNvSpPr>
            <p:nvPr/>
          </p:nvSpPr>
          <p:spPr>
            <a:xfrm>
              <a:off x="4043880" y="566460"/>
              <a:ext cx="463061" cy="373500"/>
            </a:xfrm>
            <a:custGeom>
              <a:avLst/>
              <a:gdLst/>
              <a:ahLst/>
              <a:cxnLst/>
              <a:rect l="0" t="0" r="0" b="0"/>
              <a:pathLst>
                <a:path w="463061" h="373500">
                  <a:moveTo>
                    <a:pt x="0" y="0"/>
                  </a:moveTo>
                  <a:lnTo>
                    <a:pt x="463061" y="0"/>
                  </a:lnTo>
                  <a:lnTo>
                    <a:pt x="463061" y="373500"/>
                  </a:lnTo>
                  <a:lnTo>
                    <a:pt x="0" y="373500"/>
                  </a:lnTo>
                  <a:close/>
                </a:path>
              </a:pathLst>
            </a:custGeom>
            <a:noFill/>
            <a:ln w="3600">
              <a:solidFill>
                <a:srgbClr val="8AB3D9"/>
              </a:solidFill>
            </a:ln>
          </p:spPr>
        </p:sp>
      </p:grpSp>
      <p:grpSp>
        <p:nvGrpSpPr>
          <p:cNvPr id="630" name="48^3 crop centered blob">
            <a:extLst>
              <a:ext uri="{FF2B5EF4-FFF2-40B4-BE49-F238E27FC236}">
                <a16:creationId xmlns:a16="http://schemas.microsoft.com/office/drawing/2014/main" id="{05F07842-8C1D-D758-5B6A-3324A46B243F}"/>
              </a:ext>
            </a:extLst>
          </p:cNvPr>
          <p:cNvGrpSpPr/>
          <p:nvPr/>
        </p:nvGrpSpPr>
        <p:grpSpPr>
          <a:xfrm>
            <a:off x="1720137" y="2424395"/>
            <a:ext cx="110568" cy="75332"/>
            <a:chOff x="1928706" y="3559489"/>
            <a:chExt cx="227897" cy="155682"/>
          </a:xfrm>
        </p:grpSpPr>
        <p:sp>
          <p:nvSpPr>
            <p:cNvPr id="631" name="Candidate blob | editable contour">
              <a:extLst>
                <a:ext uri="{FF2B5EF4-FFF2-40B4-BE49-F238E27FC236}">
                  <a16:creationId xmlns:a16="http://schemas.microsoft.com/office/drawing/2014/main" id="{9098312C-2F0E-B28B-B660-F9C51272B948}"/>
                </a:ext>
              </a:extLst>
            </p:cNvPr>
            <p:cNvSpPr/>
            <p:nvPr/>
          </p:nvSpPr>
          <p:spPr>
            <a:xfrm>
              <a:off x="1928706" y="3559489"/>
              <a:ext cx="227897" cy="155682"/>
            </a:xfrm>
            <a:custGeom>
              <a:avLst/>
              <a:gdLst/>
              <a:ahLst/>
              <a:cxnLst/>
              <a:rect l="0" t="0" r="w" b="h"/>
              <a:pathLst>
                <a:path w="227897" h="155682" extrusionOk="0">
                  <a:moveTo>
                    <a:pt x="5338" y="97866"/>
                  </a:moveTo>
                  <a:cubicBezTo>
                    <a:pt x="0" y="80701"/>
                    <a:pt x="18889" y="54504"/>
                    <a:pt x="29976" y="43663"/>
                  </a:cubicBezTo>
                  <a:cubicBezTo>
                    <a:pt x="41062" y="32823"/>
                    <a:pt x="58719" y="39447"/>
                    <a:pt x="71859" y="32823"/>
                  </a:cubicBezTo>
                  <a:cubicBezTo>
                    <a:pt x="84999" y="26198"/>
                    <a:pt x="92391" y="7829"/>
                    <a:pt x="108816" y="3915"/>
                  </a:cubicBezTo>
                  <a:cubicBezTo>
                    <a:pt x="125241" y="0"/>
                    <a:pt x="153984" y="3613"/>
                    <a:pt x="170409" y="9335"/>
                  </a:cubicBezTo>
                  <a:cubicBezTo>
                    <a:pt x="186834" y="15056"/>
                    <a:pt x="198332" y="26198"/>
                    <a:pt x="207366" y="38243"/>
                  </a:cubicBezTo>
                  <a:cubicBezTo>
                    <a:pt x="216399" y="50288"/>
                    <a:pt x="227897" y="67151"/>
                    <a:pt x="224612" y="81605"/>
                  </a:cubicBezTo>
                  <a:cubicBezTo>
                    <a:pt x="221327" y="96059"/>
                    <a:pt x="203259" y="113223"/>
                    <a:pt x="187656" y="124967"/>
                  </a:cubicBezTo>
                  <a:cubicBezTo>
                    <a:pt x="172052" y="136711"/>
                    <a:pt x="151931" y="148455"/>
                    <a:pt x="130989" y="152068"/>
                  </a:cubicBezTo>
                  <a:cubicBezTo>
                    <a:pt x="110048" y="155682"/>
                    <a:pt x="82946" y="155682"/>
                    <a:pt x="62004" y="146648"/>
                  </a:cubicBezTo>
                  <a:cubicBezTo>
                    <a:pt x="41062" y="137614"/>
                    <a:pt x="10676" y="115030"/>
                    <a:pt x="5338" y="97866"/>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632" name="ellipse_2612">
              <a:extLst>
                <a:ext uri="{FF2B5EF4-FFF2-40B4-BE49-F238E27FC236}">
                  <a16:creationId xmlns:a16="http://schemas.microsoft.com/office/drawing/2014/main" id="{ACF53CE3-1C37-025F-02A8-70EEA8DCFD7B}"/>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sp>
        <p:nvSpPr>
          <p:cNvPr id="633" name="Blob centroid marker">
            <a:extLst>
              <a:ext uri="{FF2B5EF4-FFF2-40B4-BE49-F238E27FC236}">
                <a16:creationId xmlns:a16="http://schemas.microsoft.com/office/drawing/2014/main" id="{EDD959CF-D4D3-5624-F7B2-BF9345634585}"/>
              </a:ext>
            </a:extLst>
          </p:cNvPr>
          <p:cNvSpPr/>
          <p:nvPr/>
        </p:nvSpPr>
        <p:spPr>
          <a:xfrm>
            <a:off x="1763068" y="2450316"/>
            <a:ext cx="24301" cy="24301"/>
          </a:xfrm>
          <a:prstGeom prst="ellipse">
            <a:avLst/>
          </a:prstGeom>
          <a:solidFill>
            <a:srgbClr val="1D4ED8"/>
          </a:solidFill>
          <a:ln w="762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34" name="TextBox 12188">
            <a:extLst>
              <a:ext uri="{FF2B5EF4-FFF2-40B4-BE49-F238E27FC236}">
                <a16:creationId xmlns:a16="http://schemas.microsoft.com/office/drawing/2014/main" id="{2C0C5B7E-EB59-C12C-034A-66725ABF262F}"/>
              </a:ext>
            </a:extLst>
          </p:cNvPr>
          <p:cNvSpPr txBox="1"/>
          <p:nvPr/>
        </p:nvSpPr>
        <p:spPr>
          <a:xfrm>
            <a:off x="1598897" y="2614551"/>
            <a:ext cx="328616" cy="92333"/>
          </a:xfrm>
          <a:prstGeom prst="rect">
            <a:avLst/>
          </a:prstGeom>
          <a:noFill/>
        </p:spPr>
        <p:txBody>
          <a:bodyPr wrap="none" lIns="0" tIns="0" rIns="0" bIns="0" anchor="ctr">
            <a:spAutoFit/>
          </a:bodyPr>
          <a:lstStyle/>
          <a:p>
            <a:pPr algn="ctr">
              <a:lnSpc>
                <a:spcPct val="105000"/>
              </a:lnSpc>
            </a:pPr>
            <a:r>
              <a:rPr sz="614" dirty="0">
                <a:solidFill>
                  <a:srgbClr val="263442"/>
                </a:solidFill>
                <a:latin typeface="Arial"/>
              </a:rPr>
              <a:t>3D U-Net</a:t>
            </a:r>
          </a:p>
        </p:txBody>
      </p:sp>
      <p:sp>
        <p:nvSpPr>
          <p:cNvPr id="635" name="TextBox 12189">
            <a:extLst>
              <a:ext uri="{FF2B5EF4-FFF2-40B4-BE49-F238E27FC236}">
                <a16:creationId xmlns:a16="http://schemas.microsoft.com/office/drawing/2014/main" id="{8153BF98-6A0C-0786-710E-3D0EE8987AAA}"/>
              </a:ext>
            </a:extLst>
          </p:cNvPr>
          <p:cNvSpPr txBox="1"/>
          <p:nvPr/>
        </p:nvSpPr>
        <p:spPr>
          <a:xfrm>
            <a:off x="2016116" y="2623546"/>
            <a:ext cx="514564" cy="90218"/>
          </a:xfrm>
          <a:prstGeom prst="rect">
            <a:avLst/>
          </a:prstGeom>
          <a:noFill/>
        </p:spPr>
        <p:txBody>
          <a:bodyPr wrap="none" lIns="0" tIns="0" rIns="0" bIns="0" anchor="ctr">
            <a:spAutoFit/>
          </a:bodyPr>
          <a:lstStyle/>
          <a:p>
            <a:pPr algn="ctr">
              <a:lnSpc>
                <a:spcPct val="105000"/>
              </a:lnSpc>
            </a:pPr>
            <a:r>
              <a:rPr lang="en-US" sz="600" dirty="0">
                <a:solidFill>
                  <a:srgbClr val="263442"/>
                </a:solidFill>
                <a:latin typeface="Arial"/>
              </a:rPr>
              <a:t>B</a:t>
            </a:r>
            <a:r>
              <a:rPr lang="en-US" altLang="zh-CN" sz="600" dirty="0">
                <a:solidFill>
                  <a:srgbClr val="263442"/>
                </a:solidFill>
                <a:latin typeface="Arial"/>
              </a:rPr>
              <a:t>ase s</a:t>
            </a:r>
            <a:r>
              <a:rPr sz="600" dirty="0">
                <a:solidFill>
                  <a:srgbClr val="263442"/>
                </a:solidFill>
                <a:latin typeface="Arial"/>
              </a:rPr>
              <a:t>ummary</a:t>
            </a:r>
          </a:p>
        </p:txBody>
      </p:sp>
      <p:sp>
        <p:nvSpPr>
          <p:cNvPr id="636" name="Math | h_j^vox">
            <a:extLst>
              <a:ext uri="{FF2B5EF4-FFF2-40B4-BE49-F238E27FC236}">
                <a16:creationId xmlns:a16="http://schemas.microsoft.com/office/drawing/2014/main" id="{93EC2205-1821-C3E9-E08B-23B27F07452E}"/>
              </a:ext>
            </a:extLst>
          </p:cNvPr>
          <p:cNvSpPr txBox="1"/>
          <p:nvPr/>
        </p:nvSpPr>
        <p:spPr>
          <a:xfrm>
            <a:off x="2191874" y="2371206"/>
            <a:ext cx="169918" cy="126509"/>
          </a:xfrm>
          <a:prstGeom prst="rect">
            <a:avLst/>
          </a:prstGeom>
          <a:noFill/>
        </p:spPr>
        <p:txBody>
          <a:bodyPr wrap="none" lIns="0" tIns="0" rIns="0" bIns="0" anchor="ctr">
            <a:spAutoFit/>
          </a:bodyPr>
          <a:lstStyle/>
          <a:p>
            <a:pPr algn="ctr"/>
            <a:r>
              <a:rPr sz="855" i="1">
                <a:solidFill>
                  <a:srgbClr val="263442"/>
                </a:solidFill>
                <a:latin typeface="Times New Roman"/>
              </a:rPr>
              <a:t>h</a:t>
            </a:r>
            <a:r>
              <a:rPr sz="780" i="1" baseline="-28000">
                <a:solidFill>
                  <a:srgbClr val="263442"/>
                </a:solidFill>
                <a:latin typeface="Times New Roman"/>
              </a:rPr>
              <a:t>j</a:t>
            </a:r>
            <a:r>
              <a:rPr sz="780" baseline="32000">
                <a:solidFill>
                  <a:srgbClr val="263442"/>
                </a:solidFill>
                <a:latin typeface="Arial"/>
              </a:rPr>
              <a:t>vox</a:t>
            </a:r>
          </a:p>
        </p:txBody>
      </p:sp>
      <p:sp>
        <p:nvSpPr>
          <p:cNvPr id="637" name="Base summary bar_1">
            <a:extLst>
              <a:ext uri="{FF2B5EF4-FFF2-40B4-BE49-F238E27FC236}">
                <a16:creationId xmlns:a16="http://schemas.microsoft.com/office/drawing/2014/main" id="{99E9D3C4-A8BD-9C93-615E-C771AE07C8E3}"/>
              </a:ext>
            </a:extLst>
          </p:cNvPr>
          <p:cNvSpPr/>
          <p:nvPr/>
        </p:nvSpPr>
        <p:spPr>
          <a:xfrm>
            <a:off x="2095404" y="2549118"/>
            <a:ext cx="44072" cy="59328"/>
          </a:xfrm>
          <a:prstGeom prst="rect">
            <a:avLst/>
          </a:prstGeom>
          <a:solidFill>
            <a:srgbClr val="367FB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38" name="Base summary bar_2">
            <a:extLst>
              <a:ext uri="{FF2B5EF4-FFF2-40B4-BE49-F238E27FC236}">
                <a16:creationId xmlns:a16="http://schemas.microsoft.com/office/drawing/2014/main" id="{6BC787CE-AF83-7509-7C88-9AB58DB6F66F}"/>
              </a:ext>
            </a:extLst>
          </p:cNvPr>
          <p:cNvSpPr/>
          <p:nvPr/>
        </p:nvSpPr>
        <p:spPr>
          <a:xfrm>
            <a:off x="2143431" y="2549118"/>
            <a:ext cx="44072" cy="59328"/>
          </a:xfrm>
          <a:prstGeom prst="rect">
            <a:avLst/>
          </a:prstGeom>
          <a:solidFill>
            <a:srgbClr val="7EAED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39" name="Base summary bar_3">
            <a:extLst>
              <a:ext uri="{FF2B5EF4-FFF2-40B4-BE49-F238E27FC236}">
                <a16:creationId xmlns:a16="http://schemas.microsoft.com/office/drawing/2014/main" id="{269240CC-07F6-8569-D6D0-2E898FDFE671}"/>
              </a:ext>
            </a:extLst>
          </p:cNvPr>
          <p:cNvSpPr/>
          <p:nvPr/>
        </p:nvSpPr>
        <p:spPr>
          <a:xfrm>
            <a:off x="2191458" y="2549118"/>
            <a:ext cx="44072" cy="59328"/>
          </a:xfrm>
          <a:prstGeom prst="rect">
            <a:avLst/>
          </a:prstGeom>
          <a:solidFill>
            <a:srgbClr val="BCD8E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40" name="Base summary bar_4">
            <a:extLst>
              <a:ext uri="{FF2B5EF4-FFF2-40B4-BE49-F238E27FC236}">
                <a16:creationId xmlns:a16="http://schemas.microsoft.com/office/drawing/2014/main" id="{D027E165-A9E7-E339-F192-6FC69D94CA5E}"/>
              </a:ext>
            </a:extLst>
          </p:cNvPr>
          <p:cNvSpPr/>
          <p:nvPr/>
        </p:nvSpPr>
        <p:spPr>
          <a:xfrm>
            <a:off x="2239486" y="2549118"/>
            <a:ext cx="44072" cy="59328"/>
          </a:xfrm>
          <a:prstGeom prst="rect">
            <a:avLst/>
          </a:prstGeom>
          <a:solidFill>
            <a:srgbClr val="88C3B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41" name="Base summary bar_5">
            <a:extLst>
              <a:ext uri="{FF2B5EF4-FFF2-40B4-BE49-F238E27FC236}">
                <a16:creationId xmlns:a16="http://schemas.microsoft.com/office/drawing/2014/main" id="{AF544338-D23E-CE3C-A6B8-4FA37DCAD82E}"/>
              </a:ext>
            </a:extLst>
          </p:cNvPr>
          <p:cNvSpPr/>
          <p:nvPr/>
        </p:nvSpPr>
        <p:spPr>
          <a:xfrm>
            <a:off x="2287514" y="2549118"/>
            <a:ext cx="44072" cy="59328"/>
          </a:xfrm>
          <a:prstGeom prst="rect">
            <a:avLst/>
          </a:prstGeom>
          <a:solidFill>
            <a:srgbClr val="23877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42" name="Base summary bar_6">
            <a:extLst>
              <a:ext uri="{FF2B5EF4-FFF2-40B4-BE49-F238E27FC236}">
                <a16:creationId xmlns:a16="http://schemas.microsoft.com/office/drawing/2014/main" id="{9F80EB35-B4A7-2FA2-7A0C-B02A9915E4EB}"/>
              </a:ext>
            </a:extLst>
          </p:cNvPr>
          <p:cNvSpPr/>
          <p:nvPr/>
        </p:nvSpPr>
        <p:spPr>
          <a:xfrm>
            <a:off x="2335541" y="2549118"/>
            <a:ext cx="44072" cy="59328"/>
          </a:xfrm>
          <a:prstGeom prst="rect">
            <a:avLst/>
          </a:prstGeom>
          <a:solidFill>
            <a:srgbClr val="B1A4C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43" name="Base summary bar_7">
            <a:extLst>
              <a:ext uri="{FF2B5EF4-FFF2-40B4-BE49-F238E27FC236}">
                <a16:creationId xmlns:a16="http://schemas.microsoft.com/office/drawing/2014/main" id="{763E1301-00D0-44E1-3425-288C0321EC85}"/>
              </a:ext>
            </a:extLst>
          </p:cNvPr>
          <p:cNvSpPr/>
          <p:nvPr/>
        </p:nvSpPr>
        <p:spPr>
          <a:xfrm>
            <a:off x="2383568" y="2549118"/>
            <a:ext cx="44072" cy="59328"/>
          </a:xfrm>
          <a:prstGeom prst="rect">
            <a:avLst/>
          </a:prstGeom>
          <a:solidFill>
            <a:srgbClr val="D4CBE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44" name="Op | Mean/max pool">
            <a:extLst>
              <a:ext uri="{FF2B5EF4-FFF2-40B4-BE49-F238E27FC236}">
                <a16:creationId xmlns:a16="http://schemas.microsoft.com/office/drawing/2014/main" id="{C4850A78-C957-EF45-0669-F1FA2501E311}"/>
              </a:ext>
            </a:extLst>
          </p:cNvPr>
          <p:cNvSpPr/>
          <p:nvPr/>
        </p:nvSpPr>
        <p:spPr>
          <a:xfrm>
            <a:off x="608834" y="3452879"/>
            <a:ext cx="617009" cy="150297"/>
          </a:xfrm>
          <a:prstGeom prst="roundRect">
            <a:avLst>
              <a:gd name="adj" fmla="val 18000"/>
            </a:avLst>
          </a:prstGeom>
          <a:solidFill>
            <a:srgbClr val="E9F3EE"/>
          </a:solidFill>
          <a:ln w="7290">
            <a:solidFill>
              <a:srgbClr val="BEC7C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Mean/max pool</a:t>
            </a:r>
          </a:p>
        </p:txBody>
      </p:sp>
      <p:sp>
        <p:nvSpPr>
          <p:cNvPr id="645" name="Op | Cross-attention">
            <a:extLst>
              <a:ext uri="{FF2B5EF4-FFF2-40B4-BE49-F238E27FC236}">
                <a16:creationId xmlns:a16="http://schemas.microsoft.com/office/drawing/2014/main" id="{11FEE5AE-99F9-B083-0D93-CFC8DBD07D63}"/>
              </a:ext>
            </a:extLst>
          </p:cNvPr>
          <p:cNvSpPr/>
          <p:nvPr/>
        </p:nvSpPr>
        <p:spPr>
          <a:xfrm>
            <a:off x="1304947" y="3452879"/>
            <a:ext cx="648651" cy="150297"/>
          </a:xfrm>
          <a:prstGeom prst="roundRect">
            <a:avLst>
              <a:gd name="adj" fmla="val 18000"/>
            </a:avLst>
          </a:prstGeom>
          <a:solidFill>
            <a:srgbClr val="E9F3EE"/>
          </a:solidFill>
          <a:ln w="7290">
            <a:solidFill>
              <a:srgbClr val="BEC7C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Cross-attention</a:t>
            </a:r>
          </a:p>
        </p:txBody>
      </p:sp>
      <p:sp>
        <p:nvSpPr>
          <p:cNvPr id="646" name="TextBox 12200">
            <a:extLst>
              <a:ext uri="{FF2B5EF4-FFF2-40B4-BE49-F238E27FC236}">
                <a16:creationId xmlns:a16="http://schemas.microsoft.com/office/drawing/2014/main" id="{884D8F93-171F-A6AB-A603-7E1006874447}"/>
              </a:ext>
            </a:extLst>
          </p:cNvPr>
          <p:cNvSpPr txBox="1"/>
          <p:nvPr/>
        </p:nvSpPr>
        <p:spPr>
          <a:xfrm>
            <a:off x="1674244" y="3370950"/>
            <a:ext cx="134652" cy="80599"/>
          </a:xfrm>
          <a:prstGeom prst="rect">
            <a:avLst/>
          </a:prstGeom>
          <a:noFill/>
        </p:spPr>
        <p:txBody>
          <a:bodyPr wrap="none" lIns="0" tIns="0" rIns="0" bIns="0" anchor="ctr">
            <a:spAutoFit/>
          </a:bodyPr>
          <a:lstStyle/>
          <a:p>
            <a:pPr algn="l">
              <a:lnSpc>
                <a:spcPct val="105000"/>
              </a:lnSpc>
            </a:pPr>
            <a:r>
              <a:rPr sz="536" dirty="0">
                <a:solidFill>
                  <a:srgbClr val="263442"/>
                </a:solidFill>
                <a:latin typeface="Arial"/>
              </a:rPr>
              <a:t>K, V</a:t>
            </a:r>
          </a:p>
        </p:txBody>
      </p:sp>
      <p:sp>
        <p:nvSpPr>
          <p:cNvPr id="647" name="Op | FiLM">
            <a:extLst>
              <a:ext uri="{FF2B5EF4-FFF2-40B4-BE49-F238E27FC236}">
                <a16:creationId xmlns:a16="http://schemas.microsoft.com/office/drawing/2014/main" id="{59F3449A-984C-C7E7-FC02-0C47B43E0DFD}"/>
              </a:ext>
            </a:extLst>
          </p:cNvPr>
          <p:cNvSpPr/>
          <p:nvPr/>
        </p:nvSpPr>
        <p:spPr>
          <a:xfrm>
            <a:off x="2095987" y="3738251"/>
            <a:ext cx="300518" cy="150259"/>
          </a:xfrm>
          <a:prstGeom prst="roundRect">
            <a:avLst>
              <a:gd name="adj" fmla="val 25000"/>
            </a:avLst>
          </a:prstGeom>
          <a:solidFill>
            <a:srgbClr val="EDE7F5"/>
          </a:solidFill>
          <a:ln w="7290">
            <a:solidFill>
              <a:srgbClr val="BEC7C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623">
                <a:solidFill>
                  <a:srgbClr val="263442"/>
                </a:solidFill>
                <a:latin typeface="Arial"/>
              </a:rPr>
              <a:t>FiLM</a:t>
            </a:r>
          </a:p>
        </p:txBody>
      </p:sp>
      <p:sp>
        <p:nvSpPr>
          <p:cNvPr id="648" name="TextBox 12202">
            <a:extLst>
              <a:ext uri="{FF2B5EF4-FFF2-40B4-BE49-F238E27FC236}">
                <a16:creationId xmlns:a16="http://schemas.microsoft.com/office/drawing/2014/main" id="{6F9F40E0-7819-CEA2-6131-C4ABBC19B945}"/>
              </a:ext>
            </a:extLst>
          </p:cNvPr>
          <p:cNvSpPr txBox="1"/>
          <p:nvPr/>
        </p:nvSpPr>
        <p:spPr>
          <a:xfrm>
            <a:off x="2029743" y="3431411"/>
            <a:ext cx="126566" cy="84510"/>
          </a:xfrm>
          <a:prstGeom prst="rect">
            <a:avLst/>
          </a:prstGeom>
          <a:noFill/>
        </p:spPr>
        <p:txBody>
          <a:bodyPr wrap="square" lIns="0" tIns="0" rIns="0" bIns="0" anchor="ctr">
            <a:spAutoFit/>
          </a:bodyPr>
          <a:lstStyle/>
          <a:p>
            <a:pPr algn="ctr">
              <a:lnSpc>
                <a:spcPct val="105000"/>
              </a:lnSpc>
            </a:pPr>
            <a:r>
              <a:rPr sz="562" dirty="0">
                <a:solidFill>
                  <a:srgbClr val="263442"/>
                </a:solidFill>
                <a:latin typeface="Arial"/>
              </a:rPr>
              <a:t>Q</a:t>
            </a:r>
          </a:p>
        </p:txBody>
      </p:sp>
      <p:sp>
        <p:nvSpPr>
          <p:cNvPr id="649" name="Op | MLP">
            <a:extLst>
              <a:ext uri="{FF2B5EF4-FFF2-40B4-BE49-F238E27FC236}">
                <a16:creationId xmlns:a16="http://schemas.microsoft.com/office/drawing/2014/main" id="{554F5441-96D3-CFD3-6A6E-CA8C906F4B29}"/>
              </a:ext>
            </a:extLst>
          </p:cNvPr>
          <p:cNvSpPr/>
          <p:nvPr/>
        </p:nvSpPr>
        <p:spPr>
          <a:xfrm>
            <a:off x="1099255" y="3738251"/>
            <a:ext cx="347904" cy="150259"/>
          </a:xfrm>
          <a:prstGeom prst="roundRect">
            <a:avLst>
              <a:gd name="adj" fmla="val 18000"/>
            </a:avLst>
          </a:prstGeom>
          <a:solidFill>
            <a:srgbClr val="E9F3EE"/>
          </a:solidFill>
          <a:ln w="7290">
            <a:solidFill>
              <a:srgbClr val="BEC7C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MLP</a:t>
            </a:r>
          </a:p>
        </p:txBody>
      </p:sp>
      <p:sp>
        <p:nvSpPr>
          <p:cNvPr id="650" name="h_j bar_1">
            <a:extLst>
              <a:ext uri="{FF2B5EF4-FFF2-40B4-BE49-F238E27FC236}">
                <a16:creationId xmlns:a16="http://schemas.microsoft.com/office/drawing/2014/main" id="{99BF7016-0AEC-5CA1-43D0-0CC405933ADD}"/>
              </a:ext>
            </a:extLst>
          </p:cNvPr>
          <p:cNvSpPr/>
          <p:nvPr/>
        </p:nvSpPr>
        <p:spPr>
          <a:xfrm>
            <a:off x="2080164" y="3989994"/>
            <a:ext cx="44072" cy="56955"/>
          </a:xfrm>
          <a:prstGeom prst="rect">
            <a:avLst/>
          </a:prstGeom>
          <a:solidFill>
            <a:srgbClr val="367FB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51" name="h_j bar_2">
            <a:extLst>
              <a:ext uri="{FF2B5EF4-FFF2-40B4-BE49-F238E27FC236}">
                <a16:creationId xmlns:a16="http://schemas.microsoft.com/office/drawing/2014/main" id="{71708831-906F-DB31-D516-DA6520DB6B6E}"/>
              </a:ext>
            </a:extLst>
          </p:cNvPr>
          <p:cNvSpPr/>
          <p:nvPr/>
        </p:nvSpPr>
        <p:spPr>
          <a:xfrm>
            <a:off x="2128191" y="3989994"/>
            <a:ext cx="44072" cy="56955"/>
          </a:xfrm>
          <a:prstGeom prst="rect">
            <a:avLst/>
          </a:prstGeom>
          <a:solidFill>
            <a:srgbClr val="7EAED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52" name="h_j bar_3">
            <a:extLst>
              <a:ext uri="{FF2B5EF4-FFF2-40B4-BE49-F238E27FC236}">
                <a16:creationId xmlns:a16="http://schemas.microsoft.com/office/drawing/2014/main" id="{E1CF9CE6-644D-2199-D558-FB2748AF4CA8}"/>
              </a:ext>
            </a:extLst>
          </p:cNvPr>
          <p:cNvSpPr/>
          <p:nvPr/>
        </p:nvSpPr>
        <p:spPr>
          <a:xfrm>
            <a:off x="2176218" y="3989994"/>
            <a:ext cx="44072" cy="56955"/>
          </a:xfrm>
          <a:prstGeom prst="rect">
            <a:avLst/>
          </a:prstGeom>
          <a:solidFill>
            <a:srgbClr val="BCD8E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53" name="h_j bar_4">
            <a:extLst>
              <a:ext uri="{FF2B5EF4-FFF2-40B4-BE49-F238E27FC236}">
                <a16:creationId xmlns:a16="http://schemas.microsoft.com/office/drawing/2014/main" id="{0B1E11C4-B6B0-8410-69CA-ECA06B016C11}"/>
              </a:ext>
            </a:extLst>
          </p:cNvPr>
          <p:cNvSpPr/>
          <p:nvPr/>
        </p:nvSpPr>
        <p:spPr>
          <a:xfrm>
            <a:off x="2224246" y="3989994"/>
            <a:ext cx="44072" cy="56955"/>
          </a:xfrm>
          <a:prstGeom prst="rect">
            <a:avLst/>
          </a:prstGeom>
          <a:solidFill>
            <a:srgbClr val="88C3B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54" name="h_j bar_5">
            <a:extLst>
              <a:ext uri="{FF2B5EF4-FFF2-40B4-BE49-F238E27FC236}">
                <a16:creationId xmlns:a16="http://schemas.microsoft.com/office/drawing/2014/main" id="{2A27D763-25D4-1A48-A9AB-8AE10B5867F3}"/>
              </a:ext>
            </a:extLst>
          </p:cNvPr>
          <p:cNvSpPr/>
          <p:nvPr/>
        </p:nvSpPr>
        <p:spPr>
          <a:xfrm>
            <a:off x="2272274" y="3989994"/>
            <a:ext cx="44072" cy="56955"/>
          </a:xfrm>
          <a:prstGeom prst="rect">
            <a:avLst/>
          </a:prstGeom>
          <a:solidFill>
            <a:srgbClr val="23877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55" name="h_j bar_6">
            <a:extLst>
              <a:ext uri="{FF2B5EF4-FFF2-40B4-BE49-F238E27FC236}">
                <a16:creationId xmlns:a16="http://schemas.microsoft.com/office/drawing/2014/main" id="{CC2DBA64-D0DF-1160-5FEF-C265BF4EAB35}"/>
              </a:ext>
            </a:extLst>
          </p:cNvPr>
          <p:cNvSpPr/>
          <p:nvPr/>
        </p:nvSpPr>
        <p:spPr>
          <a:xfrm>
            <a:off x="2320301" y="3989994"/>
            <a:ext cx="44072" cy="56955"/>
          </a:xfrm>
          <a:prstGeom prst="rect">
            <a:avLst/>
          </a:prstGeom>
          <a:solidFill>
            <a:srgbClr val="B1A4C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56" name="h_j bar_7">
            <a:extLst>
              <a:ext uri="{FF2B5EF4-FFF2-40B4-BE49-F238E27FC236}">
                <a16:creationId xmlns:a16="http://schemas.microsoft.com/office/drawing/2014/main" id="{3E031F7D-E2D9-9D11-0526-4D352C453584}"/>
              </a:ext>
            </a:extLst>
          </p:cNvPr>
          <p:cNvSpPr/>
          <p:nvPr/>
        </p:nvSpPr>
        <p:spPr>
          <a:xfrm>
            <a:off x="2368328" y="3989994"/>
            <a:ext cx="44072" cy="56955"/>
          </a:xfrm>
          <a:prstGeom prst="rect">
            <a:avLst/>
          </a:prstGeom>
          <a:solidFill>
            <a:srgbClr val="D4CBE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57" name="Math | h_j^">
            <a:extLst>
              <a:ext uri="{FF2B5EF4-FFF2-40B4-BE49-F238E27FC236}">
                <a16:creationId xmlns:a16="http://schemas.microsoft.com/office/drawing/2014/main" id="{9AC920D3-16D2-273E-04D3-53357E82FB0E}"/>
              </a:ext>
            </a:extLst>
          </p:cNvPr>
          <p:cNvSpPr txBox="1"/>
          <p:nvPr/>
        </p:nvSpPr>
        <p:spPr>
          <a:xfrm>
            <a:off x="1986964" y="3936721"/>
            <a:ext cx="70532" cy="126509"/>
          </a:xfrm>
          <a:prstGeom prst="rect">
            <a:avLst/>
          </a:prstGeom>
          <a:noFill/>
        </p:spPr>
        <p:txBody>
          <a:bodyPr wrap="none" lIns="0" tIns="0" rIns="0" bIns="0" anchor="ctr">
            <a:spAutoFit/>
          </a:bodyPr>
          <a:lstStyle/>
          <a:p>
            <a:pPr algn="ctr"/>
            <a:r>
              <a:rPr sz="855" i="1" dirty="0" err="1">
                <a:solidFill>
                  <a:srgbClr val="263442"/>
                </a:solidFill>
                <a:latin typeface="Times New Roman"/>
              </a:rPr>
              <a:t>h</a:t>
            </a:r>
            <a:r>
              <a:rPr sz="780" i="1" baseline="-28000" dirty="0" err="1">
                <a:solidFill>
                  <a:srgbClr val="263442"/>
                </a:solidFill>
                <a:latin typeface="Times New Roman"/>
              </a:rPr>
              <a:t>j</a:t>
            </a:r>
            <a:endParaRPr sz="780" i="1" baseline="-28000" dirty="0">
              <a:solidFill>
                <a:srgbClr val="263442"/>
              </a:solidFill>
              <a:latin typeface="Times New Roman"/>
            </a:endParaRPr>
          </a:p>
        </p:txBody>
      </p:sp>
      <p:sp>
        <p:nvSpPr>
          <p:cNvPr id="658" name="Op | Foreground head">
            <a:extLst>
              <a:ext uri="{FF2B5EF4-FFF2-40B4-BE49-F238E27FC236}">
                <a16:creationId xmlns:a16="http://schemas.microsoft.com/office/drawing/2014/main" id="{772C4BD8-070D-6A2C-3C5B-CCE55BD09041}"/>
              </a:ext>
            </a:extLst>
          </p:cNvPr>
          <p:cNvSpPr/>
          <p:nvPr/>
        </p:nvSpPr>
        <p:spPr>
          <a:xfrm>
            <a:off x="695848" y="4181937"/>
            <a:ext cx="696113" cy="150297"/>
          </a:xfrm>
          <a:prstGeom prst="roundRect">
            <a:avLst>
              <a:gd name="adj" fmla="val 18000"/>
            </a:avLst>
          </a:prstGeom>
          <a:solidFill>
            <a:srgbClr val="E9F3EE"/>
          </a:solidFill>
          <a:ln w="7290">
            <a:solidFill>
              <a:srgbClr val="BEC7C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Foreground head</a:t>
            </a:r>
          </a:p>
        </p:txBody>
      </p:sp>
      <p:sp>
        <p:nvSpPr>
          <p:cNvPr id="659" name="Math | p_j^fg">
            <a:extLst>
              <a:ext uri="{FF2B5EF4-FFF2-40B4-BE49-F238E27FC236}">
                <a16:creationId xmlns:a16="http://schemas.microsoft.com/office/drawing/2014/main" id="{04752E8A-9FFA-1739-18D7-365FF5D9A529}"/>
              </a:ext>
            </a:extLst>
          </p:cNvPr>
          <p:cNvSpPr txBox="1"/>
          <p:nvPr/>
        </p:nvSpPr>
        <p:spPr>
          <a:xfrm>
            <a:off x="1697293" y="4176444"/>
            <a:ext cx="121828" cy="122341"/>
          </a:xfrm>
          <a:prstGeom prst="rect">
            <a:avLst/>
          </a:prstGeom>
          <a:noFill/>
        </p:spPr>
        <p:txBody>
          <a:bodyPr wrap="none" lIns="0" tIns="0" rIns="0" bIns="0" anchor="ctr">
            <a:spAutoFit/>
          </a:bodyPr>
          <a:lstStyle/>
          <a:p>
            <a:pPr algn="ctr"/>
            <a:r>
              <a:rPr sz="827" i="1" dirty="0" err="1">
                <a:solidFill>
                  <a:srgbClr val="263442"/>
                </a:solidFill>
                <a:latin typeface="Times New Roman"/>
              </a:rPr>
              <a:t>p</a:t>
            </a:r>
            <a:r>
              <a:rPr sz="780" i="1" baseline="-28000" dirty="0" err="1">
                <a:solidFill>
                  <a:srgbClr val="263442"/>
                </a:solidFill>
                <a:latin typeface="Times New Roman"/>
              </a:rPr>
              <a:t>j</a:t>
            </a:r>
            <a:r>
              <a:rPr sz="780" baseline="32000" dirty="0" err="1">
                <a:solidFill>
                  <a:srgbClr val="263442"/>
                </a:solidFill>
                <a:latin typeface="Arial"/>
              </a:rPr>
              <a:t>fg</a:t>
            </a:r>
            <a:endParaRPr sz="780" baseline="32000" dirty="0">
              <a:solidFill>
                <a:srgbClr val="263442"/>
              </a:solidFill>
              <a:latin typeface="Arial"/>
            </a:endParaRPr>
          </a:p>
        </p:txBody>
      </p:sp>
      <p:sp>
        <p:nvSpPr>
          <p:cNvPr id="660" name="TextBox 12215">
            <a:extLst>
              <a:ext uri="{FF2B5EF4-FFF2-40B4-BE49-F238E27FC236}">
                <a16:creationId xmlns:a16="http://schemas.microsoft.com/office/drawing/2014/main" id="{C45D4B31-EE62-7047-2BD0-7D7B985DADC4}"/>
              </a:ext>
            </a:extLst>
          </p:cNvPr>
          <p:cNvSpPr txBox="1"/>
          <p:nvPr/>
        </p:nvSpPr>
        <p:spPr>
          <a:xfrm>
            <a:off x="1428555" y="4310121"/>
            <a:ext cx="666849" cy="79445"/>
          </a:xfrm>
          <a:prstGeom prst="rect">
            <a:avLst/>
          </a:prstGeom>
          <a:noFill/>
        </p:spPr>
        <p:txBody>
          <a:bodyPr wrap="none" lIns="0" tIns="0" rIns="0" bIns="0" anchor="ctr">
            <a:spAutoFit/>
          </a:bodyPr>
          <a:lstStyle/>
          <a:p>
            <a:pPr algn="l">
              <a:lnSpc>
                <a:spcPct val="105000"/>
              </a:lnSpc>
            </a:pPr>
            <a:r>
              <a:rPr sz="528" dirty="0">
                <a:solidFill>
                  <a:srgbClr val="263442"/>
                </a:solidFill>
                <a:latin typeface="Arial"/>
              </a:rPr>
              <a:t>Foreground probability</a:t>
            </a:r>
          </a:p>
        </p:txBody>
      </p:sp>
      <p:sp>
        <p:nvSpPr>
          <p:cNvPr id="661" name="TextBox 12216">
            <a:extLst>
              <a:ext uri="{FF2B5EF4-FFF2-40B4-BE49-F238E27FC236}">
                <a16:creationId xmlns:a16="http://schemas.microsoft.com/office/drawing/2014/main" id="{978E7CF5-ACF2-460D-26F2-9B198BAAC63B}"/>
              </a:ext>
            </a:extLst>
          </p:cNvPr>
          <p:cNvSpPr txBox="1"/>
          <p:nvPr/>
        </p:nvSpPr>
        <p:spPr>
          <a:xfrm>
            <a:off x="3071869" y="2206291"/>
            <a:ext cx="1195840" cy="88422"/>
          </a:xfrm>
          <a:prstGeom prst="rect">
            <a:avLst/>
          </a:prstGeom>
          <a:noFill/>
        </p:spPr>
        <p:txBody>
          <a:bodyPr wrap="none" lIns="0" tIns="0" rIns="0" bIns="0" anchor="ctr">
            <a:spAutoFit/>
          </a:bodyPr>
          <a:lstStyle/>
          <a:p>
            <a:pPr algn="ctr">
              <a:lnSpc>
                <a:spcPct val="105000"/>
              </a:lnSpc>
            </a:pPr>
            <a:r>
              <a:rPr sz="588">
                <a:solidFill>
                  <a:srgbClr val="263442"/>
                </a:solidFill>
                <a:latin typeface="Arial"/>
              </a:rPr>
              <a:t>User-provided SMILES · same PDB</a:t>
            </a:r>
          </a:p>
        </p:txBody>
      </p:sp>
      <p:sp>
        <p:nvSpPr>
          <p:cNvPr id="662" name="Identity | SMILES list card">
            <a:extLst>
              <a:ext uri="{FF2B5EF4-FFF2-40B4-BE49-F238E27FC236}">
                <a16:creationId xmlns:a16="http://schemas.microsoft.com/office/drawing/2014/main" id="{7DA7890B-AB79-9717-CAA6-1EEE08F32188}"/>
              </a:ext>
            </a:extLst>
          </p:cNvPr>
          <p:cNvSpPr/>
          <p:nvPr/>
        </p:nvSpPr>
        <p:spPr>
          <a:xfrm>
            <a:off x="3250539" y="2309830"/>
            <a:ext cx="838500" cy="512745"/>
          </a:xfrm>
          <a:prstGeom prst="roundRect">
            <a:avLst>
              <a:gd name="adj" fmla="val 6000"/>
            </a:avLst>
          </a:prstGeom>
          <a:solidFill>
            <a:srgbClr val="FFFFFF"/>
          </a:solidFill>
          <a:ln w="7290">
            <a:solidFill>
              <a:srgbClr val="BEC7C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63" name="TextBox 12218">
            <a:extLst>
              <a:ext uri="{FF2B5EF4-FFF2-40B4-BE49-F238E27FC236}">
                <a16:creationId xmlns:a16="http://schemas.microsoft.com/office/drawing/2014/main" id="{86BB59AD-D134-C7C6-AEC0-14F6157A5F0B}"/>
              </a:ext>
            </a:extLst>
          </p:cNvPr>
          <p:cNvSpPr txBox="1"/>
          <p:nvPr/>
        </p:nvSpPr>
        <p:spPr>
          <a:xfrm>
            <a:off x="3305912" y="2338063"/>
            <a:ext cx="727754" cy="85921"/>
          </a:xfrm>
          <a:prstGeom prst="rect">
            <a:avLst/>
          </a:prstGeom>
          <a:noFill/>
        </p:spPr>
        <p:txBody>
          <a:bodyPr wrap="square" lIns="0" tIns="0" rIns="0" bIns="0" anchor="ctr">
            <a:spAutoFit/>
          </a:bodyPr>
          <a:lstStyle/>
          <a:p>
            <a:pPr algn="l">
              <a:lnSpc>
                <a:spcPct val="105000"/>
              </a:lnSpc>
            </a:pPr>
            <a:r>
              <a:rPr sz="571" dirty="0">
                <a:solidFill>
                  <a:srgbClr val="263442"/>
                </a:solidFill>
                <a:latin typeface="Arial"/>
              </a:rPr>
              <a:t>1   CCO</a:t>
            </a:r>
          </a:p>
        </p:txBody>
      </p:sp>
      <p:sp>
        <p:nvSpPr>
          <p:cNvPr id="664" name="TextBox 12219">
            <a:extLst>
              <a:ext uri="{FF2B5EF4-FFF2-40B4-BE49-F238E27FC236}">
                <a16:creationId xmlns:a16="http://schemas.microsoft.com/office/drawing/2014/main" id="{D5CEF1E2-0003-83A9-6C8B-869DF460C92C}"/>
              </a:ext>
            </a:extLst>
          </p:cNvPr>
          <p:cNvSpPr txBox="1"/>
          <p:nvPr/>
        </p:nvSpPr>
        <p:spPr>
          <a:xfrm>
            <a:off x="3305912" y="2440897"/>
            <a:ext cx="727754" cy="85921"/>
          </a:xfrm>
          <a:prstGeom prst="rect">
            <a:avLst/>
          </a:prstGeom>
          <a:noFill/>
        </p:spPr>
        <p:txBody>
          <a:bodyPr wrap="square" lIns="0" tIns="0" rIns="0" bIns="0" anchor="ctr">
            <a:spAutoFit/>
          </a:bodyPr>
          <a:lstStyle/>
          <a:p>
            <a:pPr algn="l">
              <a:lnSpc>
                <a:spcPct val="105000"/>
              </a:lnSpc>
            </a:pPr>
            <a:r>
              <a:rPr sz="571" dirty="0">
                <a:solidFill>
                  <a:srgbClr val="263442"/>
                </a:solidFill>
                <a:latin typeface="Arial"/>
              </a:rPr>
              <a:t>2   CC(=O)O</a:t>
            </a:r>
          </a:p>
        </p:txBody>
      </p:sp>
      <p:sp>
        <p:nvSpPr>
          <p:cNvPr id="665" name="Identity | Selected k pill">
            <a:extLst>
              <a:ext uri="{FF2B5EF4-FFF2-40B4-BE49-F238E27FC236}">
                <a16:creationId xmlns:a16="http://schemas.microsoft.com/office/drawing/2014/main" id="{484884C0-9180-67EB-D183-0D32CB2F3899}"/>
              </a:ext>
            </a:extLst>
          </p:cNvPr>
          <p:cNvSpPr/>
          <p:nvPr/>
        </p:nvSpPr>
        <p:spPr>
          <a:xfrm>
            <a:off x="3282181" y="2562853"/>
            <a:ext cx="775217" cy="118656"/>
          </a:xfrm>
          <a:prstGeom prst="roundRect">
            <a:avLst>
              <a:gd name="adj" fmla="val 18000"/>
            </a:avLst>
          </a:prstGeom>
          <a:solidFill>
            <a:srgbClr val="DCFCE7"/>
          </a:solidFill>
          <a:ln w="8890">
            <a:solidFill>
              <a:srgbClr val="3E997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66" name="TextBox 12222">
            <a:extLst>
              <a:ext uri="{FF2B5EF4-FFF2-40B4-BE49-F238E27FC236}">
                <a16:creationId xmlns:a16="http://schemas.microsoft.com/office/drawing/2014/main" id="{AF18D027-6125-FBDF-9BCD-9060B5C5E099}"/>
              </a:ext>
            </a:extLst>
          </p:cNvPr>
          <p:cNvSpPr txBox="1"/>
          <p:nvPr/>
        </p:nvSpPr>
        <p:spPr>
          <a:xfrm>
            <a:off x="3313822" y="2585570"/>
            <a:ext cx="711934" cy="85921"/>
          </a:xfrm>
          <a:prstGeom prst="rect">
            <a:avLst/>
          </a:prstGeom>
          <a:noFill/>
        </p:spPr>
        <p:txBody>
          <a:bodyPr wrap="square" lIns="0" tIns="0" rIns="0" bIns="0" anchor="ctr">
            <a:spAutoFit/>
          </a:bodyPr>
          <a:lstStyle/>
          <a:p>
            <a:pPr algn="l">
              <a:lnSpc>
                <a:spcPct val="105000"/>
              </a:lnSpc>
            </a:pPr>
            <a:r>
              <a:rPr sz="571" dirty="0">
                <a:solidFill>
                  <a:srgbClr val="263442"/>
                </a:solidFill>
                <a:latin typeface="Arial"/>
              </a:rPr>
              <a:t>k   Cc1ccccc1</a:t>
            </a:r>
          </a:p>
        </p:txBody>
      </p:sp>
      <p:sp>
        <p:nvSpPr>
          <p:cNvPr id="667" name="TextBox 12224">
            <a:extLst>
              <a:ext uri="{FF2B5EF4-FFF2-40B4-BE49-F238E27FC236}">
                <a16:creationId xmlns:a16="http://schemas.microsoft.com/office/drawing/2014/main" id="{4F02AD2D-3369-26A3-6D2F-44659C880CB7}"/>
              </a:ext>
            </a:extLst>
          </p:cNvPr>
          <p:cNvSpPr txBox="1"/>
          <p:nvPr/>
        </p:nvSpPr>
        <p:spPr>
          <a:xfrm>
            <a:off x="3305912" y="2714369"/>
            <a:ext cx="727754" cy="85921"/>
          </a:xfrm>
          <a:prstGeom prst="rect">
            <a:avLst/>
          </a:prstGeom>
          <a:noFill/>
        </p:spPr>
        <p:txBody>
          <a:bodyPr wrap="square" lIns="0" tIns="0" rIns="0" bIns="0" anchor="ctr">
            <a:spAutoFit/>
          </a:bodyPr>
          <a:lstStyle/>
          <a:p>
            <a:pPr algn="l">
              <a:lnSpc>
                <a:spcPct val="105000"/>
              </a:lnSpc>
            </a:pPr>
            <a:r>
              <a:rPr sz="571" dirty="0">
                <a:solidFill>
                  <a:srgbClr val="263442"/>
                </a:solidFill>
                <a:latin typeface="Arial"/>
              </a:rPr>
              <a:t>K   CC(N)=O</a:t>
            </a:r>
          </a:p>
        </p:txBody>
      </p:sp>
      <p:sp>
        <p:nvSpPr>
          <p:cNvPr id="668" name="TextBox 12225">
            <a:extLst>
              <a:ext uri="{FF2B5EF4-FFF2-40B4-BE49-F238E27FC236}">
                <a16:creationId xmlns:a16="http://schemas.microsoft.com/office/drawing/2014/main" id="{3E613D72-90CB-62FD-E861-8FE6E2F065B8}"/>
              </a:ext>
            </a:extLst>
          </p:cNvPr>
          <p:cNvSpPr txBox="1"/>
          <p:nvPr/>
        </p:nvSpPr>
        <p:spPr>
          <a:xfrm>
            <a:off x="2786686" y="2643822"/>
            <a:ext cx="181140" cy="80599"/>
          </a:xfrm>
          <a:prstGeom prst="rect">
            <a:avLst/>
          </a:prstGeom>
          <a:noFill/>
        </p:spPr>
        <p:txBody>
          <a:bodyPr wrap="none" lIns="0" tIns="0" rIns="0" bIns="0" anchor="ctr">
            <a:spAutoFit/>
          </a:bodyPr>
          <a:lstStyle/>
          <a:p>
            <a:pPr algn="l">
              <a:lnSpc>
                <a:spcPct val="105000"/>
              </a:lnSpc>
            </a:pPr>
            <a:r>
              <a:rPr sz="536" dirty="0" err="1">
                <a:solidFill>
                  <a:srgbClr val="263442"/>
                </a:solidFill>
                <a:latin typeface="Arial"/>
              </a:rPr>
              <a:t>RDKit</a:t>
            </a:r>
            <a:endParaRPr sz="536" dirty="0">
              <a:solidFill>
                <a:srgbClr val="263442"/>
              </a:solidFill>
              <a:latin typeface="Arial"/>
            </a:endParaRPr>
          </a:p>
        </p:txBody>
      </p:sp>
      <p:grpSp>
        <p:nvGrpSpPr>
          <p:cNvPr id="669" name="Identity | Own molecular graph">
            <a:extLst>
              <a:ext uri="{FF2B5EF4-FFF2-40B4-BE49-F238E27FC236}">
                <a16:creationId xmlns:a16="http://schemas.microsoft.com/office/drawing/2014/main" id="{683652C7-CC94-2A9C-935C-36CF7B7EB5E8}"/>
              </a:ext>
            </a:extLst>
          </p:cNvPr>
          <p:cNvGrpSpPr/>
          <p:nvPr/>
        </p:nvGrpSpPr>
        <p:grpSpPr>
          <a:xfrm>
            <a:off x="2862931" y="2888431"/>
            <a:ext cx="284773" cy="171742"/>
            <a:chOff x="3366271" y="3721905"/>
            <a:chExt cx="311024" cy="187573"/>
          </a:xfrm>
        </p:grpSpPr>
        <p:cxnSp>
          <p:nvCxnSpPr>
            <p:cNvPr id="670" name="path_2698">
              <a:extLst>
                <a:ext uri="{FF2B5EF4-FFF2-40B4-BE49-F238E27FC236}">
                  <a16:creationId xmlns:a16="http://schemas.microsoft.com/office/drawing/2014/main" id="{08C9C74A-0B12-2E3C-023F-C3DCDEFB7AF1}"/>
                </a:ext>
              </a:extLst>
            </p:cNvPr>
            <p:cNvCxnSpPr/>
            <p:nvPr/>
          </p:nvCxnSpPr>
          <p:spPr>
            <a:xfrm flipV="1">
              <a:off x="3381053" y="3736688"/>
              <a:ext cx="63663" cy="70463"/>
            </a:xfrm>
            <a:prstGeom prst="line">
              <a:avLst/>
            </a:prstGeom>
            <a:noFill/>
            <a:ln w="5256" cap="rnd" cmpd="sng" algn="ctr">
              <a:solidFill>
                <a:srgbClr val="238777"/>
              </a:solidFill>
              <a:prstDash val="solid"/>
              <a:round/>
              <a:headEnd type="none" w="med" len="med"/>
              <a:tailEnd type="none" w="med" len="med"/>
            </a:ln>
            <a:effectLst/>
          </p:spPr>
        </p:cxnSp>
        <p:cxnSp>
          <p:nvCxnSpPr>
            <p:cNvPr id="671" name="path_2699">
              <a:extLst>
                <a:ext uri="{FF2B5EF4-FFF2-40B4-BE49-F238E27FC236}">
                  <a16:creationId xmlns:a16="http://schemas.microsoft.com/office/drawing/2014/main" id="{1CF65ECB-9AC9-C310-5460-0B86FF6B2BC5}"/>
                </a:ext>
              </a:extLst>
            </p:cNvPr>
            <p:cNvCxnSpPr/>
            <p:nvPr/>
          </p:nvCxnSpPr>
          <p:spPr>
            <a:xfrm>
              <a:off x="3444717" y="3736688"/>
              <a:ext cx="113924" cy="14947"/>
            </a:xfrm>
            <a:prstGeom prst="line">
              <a:avLst/>
            </a:prstGeom>
            <a:noFill/>
            <a:ln w="5256" cap="rnd" cmpd="sng" algn="ctr">
              <a:solidFill>
                <a:srgbClr val="238777"/>
              </a:solidFill>
              <a:prstDash val="solid"/>
              <a:round/>
              <a:headEnd type="none" w="med" len="med"/>
              <a:tailEnd type="none" w="med" len="med"/>
            </a:ln>
            <a:effectLst/>
          </p:spPr>
        </p:cxnSp>
        <p:cxnSp>
          <p:nvCxnSpPr>
            <p:cNvPr id="672" name="path_2700">
              <a:extLst>
                <a:ext uri="{FF2B5EF4-FFF2-40B4-BE49-F238E27FC236}">
                  <a16:creationId xmlns:a16="http://schemas.microsoft.com/office/drawing/2014/main" id="{47F0AAAA-D782-D4D4-41E7-7304CCE8D568}"/>
                </a:ext>
              </a:extLst>
            </p:cNvPr>
            <p:cNvCxnSpPr/>
            <p:nvPr/>
          </p:nvCxnSpPr>
          <p:spPr>
            <a:xfrm>
              <a:off x="3558640" y="3751634"/>
              <a:ext cx="73715" cy="64058"/>
            </a:xfrm>
            <a:prstGeom prst="line">
              <a:avLst/>
            </a:prstGeom>
            <a:noFill/>
            <a:ln w="5256" cap="rnd" cmpd="sng" algn="ctr">
              <a:solidFill>
                <a:srgbClr val="238777"/>
              </a:solidFill>
              <a:prstDash val="solid"/>
              <a:round/>
              <a:headEnd type="none" w="med" len="med"/>
              <a:tailEnd type="none" w="med" len="med"/>
            </a:ln>
            <a:effectLst/>
          </p:spPr>
        </p:cxnSp>
        <p:cxnSp>
          <p:nvCxnSpPr>
            <p:cNvPr id="673" name="path_2701">
              <a:extLst>
                <a:ext uri="{FF2B5EF4-FFF2-40B4-BE49-F238E27FC236}">
                  <a16:creationId xmlns:a16="http://schemas.microsoft.com/office/drawing/2014/main" id="{672DEF92-FEF6-A8B8-A079-671D6D70071E}"/>
                </a:ext>
              </a:extLst>
            </p:cNvPr>
            <p:cNvCxnSpPr/>
            <p:nvPr/>
          </p:nvCxnSpPr>
          <p:spPr>
            <a:xfrm flipH="1">
              <a:off x="3561991" y="3815692"/>
              <a:ext cx="70365" cy="79004"/>
            </a:xfrm>
            <a:prstGeom prst="line">
              <a:avLst/>
            </a:prstGeom>
            <a:noFill/>
            <a:ln w="5256" cap="rnd" cmpd="sng" algn="ctr">
              <a:solidFill>
                <a:srgbClr val="238777"/>
              </a:solidFill>
              <a:prstDash val="solid"/>
              <a:round/>
              <a:headEnd type="none" w="med" len="med"/>
              <a:tailEnd type="none" w="med" len="med"/>
            </a:ln>
            <a:effectLst/>
          </p:spPr>
        </p:cxnSp>
        <p:cxnSp>
          <p:nvCxnSpPr>
            <p:cNvPr id="674" name="path_2702">
              <a:extLst>
                <a:ext uri="{FF2B5EF4-FFF2-40B4-BE49-F238E27FC236}">
                  <a16:creationId xmlns:a16="http://schemas.microsoft.com/office/drawing/2014/main" id="{B02A38E3-8AB1-C1CA-A784-7A02E63B2D09}"/>
                </a:ext>
              </a:extLst>
            </p:cNvPr>
            <p:cNvCxnSpPr/>
            <p:nvPr/>
          </p:nvCxnSpPr>
          <p:spPr>
            <a:xfrm flipH="1" flipV="1">
              <a:off x="3444717" y="3875479"/>
              <a:ext cx="117275" cy="19217"/>
            </a:xfrm>
            <a:prstGeom prst="line">
              <a:avLst/>
            </a:prstGeom>
            <a:noFill/>
            <a:ln w="5256" cap="rnd" cmpd="sng" algn="ctr">
              <a:solidFill>
                <a:srgbClr val="238777"/>
              </a:solidFill>
              <a:prstDash val="solid"/>
              <a:round/>
              <a:headEnd type="none" w="med" len="med"/>
              <a:tailEnd type="none" w="med" len="med"/>
            </a:ln>
            <a:effectLst/>
          </p:spPr>
        </p:cxnSp>
        <p:cxnSp>
          <p:nvCxnSpPr>
            <p:cNvPr id="675" name="path_2703">
              <a:extLst>
                <a:ext uri="{FF2B5EF4-FFF2-40B4-BE49-F238E27FC236}">
                  <a16:creationId xmlns:a16="http://schemas.microsoft.com/office/drawing/2014/main" id="{5EB27651-D3BE-22CD-39D8-D428781F5F97}"/>
                </a:ext>
              </a:extLst>
            </p:cNvPr>
            <p:cNvCxnSpPr/>
            <p:nvPr/>
          </p:nvCxnSpPr>
          <p:spPr>
            <a:xfrm flipH="1" flipV="1">
              <a:off x="3381053" y="3807151"/>
              <a:ext cx="63663" cy="68328"/>
            </a:xfrm>
            <a:prstGeom prst="line">
              <a:avLst/>
            </a:prstGeom>
            <a:noFill/>
            <a:ln w="5256" cap="rnd" cmpd="sng" algn="ctr">
              <a:solidFill>
                <a:srgbClr val="238777"/>
              </a:solidFill>
              <a:prstDash val="solid"/>
              <a:round/>
              <a:headEnd type="none" w="med" len="med"/>
              <a:tailEnd type="none" w="med" len="med"/>
            </a:ln>
            <a:effectLst/>
          </p:spPr>
        </p:cxnSp>
        <p:cxnSp>
          <p:nvCxnSpPr>
            <p:cNvPr id="676" name="path_2704">
              <a:extLst>
                <a:ext uri="{FF2B5EF4-FFF2-40B4-BE49-F238E27FC236}">
                  <a16:creationId xmlns:a16="http://schemas.microsoft.com/office/drawing/2014/main" id="{A3592B63-1411-3F57-5878-96E17C30AD75}"/>
                </a:ext>
              </a:extLst>
            </p:cNvPr>
            <p:cNvCxnSpPr/>
            <p:nvPr/>
          </p:nvCxnSpPr>
          <p:spPr>
            <a:xfrm flipV="1">
              <a:off x="3558640" y="3745228"/>
              <a:ext cx="103872" cy="6406"/>
            </a:xfrm>
            <a:prstGeom prst="line">
              <a:avLst/>
            </a:prstGeom>
            <a:noFill/>
            <a:ln w="5256" cap="rnd" cmpd="sng" algn="ctr">
              <a:solidFill>
                <a:srgbClr val="238777"/>
              </a:solidFill>
              <a:prstDash val="solid"/>
              <a:round/>
              <a:headEnd type="none" w="med" len="med"/>
              <a:tailEnd type="none" w="med" len="med"/>
            </a:ln>
            <a:effectLst/>
          </p:spPr>
        </p:cxnSp>
        <p:sp>
          <p:nvSpPr>
            <p:cNvPr id="677" name="ellipse_2705">
              <a:extLst>
                <a:ext uri="{FF2B5EF4-FFF2-40B4-BE49-F238E27FC236}">
                  <a16:creationId xmlns:a16="http://schemas.microsoft.com/office/drawing/2014/main" id="{C3D36D22-8CEB-B663-A605-02E9CFFED0C1}"/>
                </a:ext>
              </a:extLst>
            </p:cNvPr>
            <p:cNvSpPr/>
            <p:nvPr/>
          </p:nvSpPr>
          <p:spPr>
            <a:xfrm>
              <a:off x="3366271" y="3792368"/>
              <a:ext cx="29565" cy="29565"/>
            </a:xfrm>
            <a:prstGeom prst="ellipse">
              <a:avLst/>
            </a:prstGeom>
            <a:gradFill flip="none" rotWithShape="1">
              <a:gsLst>
                <a:gs pos="0">
                  <a:srgbClr val="DEEDEB"/>
                </a:gs>
                <a:gs pos="43000">
                  <a:srgbClr val="61A99D"/>
                </a:gs>
                <a:gs pos="100000">
                  <a:srgbClr val="267D72"/>
                </a:gs>
              </a:gsLst>
              <a:lin ang="2700000" scaled="1"/>
              <a:tileRect/>
            </a:gradFill>
            <a:ln w="1807" cap="rnd" cmpd="sng" algn="ctr">
              <a:noFill/>
              <a:prstDash val="solid"/>
              <a:round/>
              <a:headEnd type="none" w="med" len="med"/>
              <a:tailEnd type="none" w="med" len="med"/>
            </a:ln>
            <a:effectLst/>
          </p:spPr>
        </p:sp>
        <p:sp>
          <p:nvSpPr>
            <p:cNvPr id="678" name="ellipse_2706">
              <a:extLst>
                <a:ext uri="{FF2B5EF4-FFF2-40B4-BE49-F238E27FC236}">
                  <a16:creationId xmlns:a16="http://schemas.microsoft.com/office/drawing/2014/main" id="{1F86BCBC-B96E-6EC5-AC9B-22A20629DF0F}"/>
                </a:ext>
              </a:extLst>
            </p:cNvPr>
            <p:cNvSpPr/>
            <p:nvPr/>
          </p:nvSpPr>
          <p:spPr>
            <a:xfrm>
              <a:off x="3429934" y="3721905"/>
              <a:ext cx="29565" cy="29565"/>
            </a:xfrm>
            <a:prstGeom prst="ellipse">
              <a:avLst/>
            </a:prstGeom>
            <a:gradFill flip="none" rotWithShape="1">
              <a:gsLst>
                <a:gs pos="0">
                  <a:srgbClr val="DEEDEB"/>
                </a:gs>
                <a:gs pos="43000">
                  <a:srgbClr val="61A99D"/>
                </a:gs>
                <a:gs pos="100000">
                  <a:srgbClr val="267D72"/>
                </a:gs>
              </a:gsLst>
              <a:lin ang="2700000" scaled="1"/>
              <a:tileRect/>
            </a:gradFill>
            <a:ln w="1807" cap="rnd" cmpd="sng" algn="ctr">
              <a:noFill/>
              <a:prstDash val="solid"/>
              <a:round/>
              <a:headEnd type="none" w="med" len="med"/>
              <a:tailEnd type="none" w="med" len="med"/>
            </a:ln>
            <a:effectLst/>
          </p:spPr>
        </p:sp>
        <p:sp>
          <p:nvSpPr>
            <p:cNvPr id="679" name="ellipse_2707">
              <a:extLst>
                <a:ext uri="{FF2B5EF4-FFF2-40B4-BE49-F238E27FC236}">
                  <a16:creationId xmlns:a16="http://schemas.microsoft.com/office/drawing/2014/main" id="{0D7ED534-2755-74EA-6149-4A7E3A7E8992}"/>
                </a:ext>
              </a:extLst>
            </p:cNvPr>
            <p:cNvSpPr/>
            <p:nvPr/>
          </p:nvSpPr>
          <p:spPr>
            <a:xfrm>
              <a:off x="3543858" y="3736852"/>
              <a:ext cx="29565" cy="29565"/>
            </a:xfrm>
            <a:prstGeom prst="ellipse">
              <a:avLst/>
            </a:prstGeom>
            <a:gradFill flip="none" rotWithShape="1">
              <a:gsLst>
                <a:gs pos="0">
                  <a:srgbClr val="DEEDEB"/>
                </a:gs>
                <a:gs pos="43000">
                  <a:srgbClr val="61A99D"/>
                </a:gs>
                <a:gs pos="100000">
                  <a:srgbClr val="267D72"/>
                </a:gs>
              </a:gsLst>
              <a:lin ang="2700000" scaled="1"/>
              <a:tileRect/>
            </a:gradFill>
            <a:ln w="1807" cap="rnd" cmpd="sng" algn="ctr">
              <a:noFill/>
              <a:prstDash val="solid"/>
              <a:round/>
              <a:headEnd type="none" w="med" len="med"/>
              <a:tailEnd type="none" w="med" len="med"/>
            </a:ln>
            <a:effectLst/>
          </p:spPr>
        </p:sp>
        <p:sp>
          <p:nvSpPr>
            <p:cNvPr id="680" name="ellipse_2708">
              <a:extLst>
                <a:ext uri="{FF2B5EF4-FFF2-40B4-BE49-F238E27FC236}">
                  <a16:creationId xmlns:a16="http://schemas.microsoft.com/office/drawing/2014/main" id="{01CC7294-C7B5-D1A4-A138-902105284B89}"/>
                </a:ext>
              </a:extLst>
            </p:cNvPr>
            <p:cNvSpPr/>
            <p:nvPr/>
          </p:nvSpPr>
          <p:spPr>
            <a:xfrm>
              <a:off x="3617573" y="3800909"/>
              <a:ext cx="29565" cy="29565"/>
            </a:xfrm>
            <a:prstGeom prst="ellipse">
              <a:avLst/>
            </a:prstGeom>
            <a:gradFill flip="none" rotWithShape="1">
              <a:gsLst>
                <a:gs pos="0">
                  <a:srgbClr val="DEEDEB"/>
                </a:gs>
                <a:gs pos="43000">
                  <a:srgbClr val="61A99D"/>
                </a:gs>
                <a:gs pos="100000">
                  <a:srgbClr val="267D72"/>
                </a:gs>
              </a:gsLst>
              <a:lin ang="2700000" scaled="1"/>
              <a:tileRect/>
            </a:gradFill>
            <a:ln w="1807" cap="rnd" cmpd="sng" algn="ctr">
              <a:noFill/>
              <a:prstDash val="solid"/>
              <a:round/>
              <a:headEnd type="none" w="med" len="med"/>
              <a:tailEnd type="none" w="med" len="med"/>
            </a:ln>
            <a:effectLst/>
          </p:spPr>
        </p:sp>
        <p:sp>
          <p:nvSpPr>
            <p:cNvPr id="681" name="ellipse_2709">
              <a:extLst>
                <a:ext uri="{FF2B5EF4-FFF2-40B4-BE49-F238E27FC236}">
                  <a16:creationId xmlns:a16="http://schemas.microsoft.com/office/drawing/2014/main" id="{80734E48-9DE8-B4FD-D0D4-D53693BBEADF}"/>
                </a:ext>
              </a:extLst>
            </p:cNvPr>
            <p:cNvSpPr/>
            <p:nvPr/>
          </p:nvSpPr>
          <p:spPr>
            <a:xfrm>
              <a:off x="3547209" y="3879913"/>
              <a:ext cx="29565" cy="29565"/>
            </a:xfrm>
            <a:prstGeom prst="ellipse">
              <a:avLst/>
            </a:prstGeom>
            <a:gradFill flip="none" rotWithShape="1">
              <a:gsLst>
                <a:gs pos="0">
                  <a:srgbClr val="DEEDEB"/>
                </a:gs>
                <a:gs pos="43000">
                  <a:srgbClr val="61A99D"/>
                </a:gs>
                <a:gs pos="100000">
                  <a:srgbClr val="267D72"/>
                </a:gs>
              </a:gsLst>
              <a:lin ang="2700000" scaled="1"/>
              <a:tileRect/>
            </a:gradFill>
            <a:ln w="1807" cap="rnd" cmpd="sng" algn="ctr">
              <a:noFill/>
              <a:prstDash val="solid"/>
              <a:round/>
              <a:headEnd type="none" w="med" len="med"/>
              <a:tailEnd type="none" w="med" len="med"/>
            </a:ln>
            <a:effectLst/>
          </p:spPr>
        </p:sp>
        <p:sp>
          <p:nvSpPr>
            <p:cNvPr id="682" name="ellipse_2710">
              <a:extLst>
                <a:ext uri="{FF2B5EF4-FFF2-40B4-BE49-F238E27FC236}">
                  <a16:creationId xmlns:a16="http://schemas.microsoft.com/office/drawing/2014/main" id="{3DB6F677-E1A0-2C7D-CADD-FB389865F633}"/>
                </a:ext>
              </a:extLst>
            </p:cNvPr>
            <p:cNvSpPr/>
            <p:nvPr/>
          </p:nvSpPr>
          <p:spPr>
            <a:xfrm>
              <a:off x="3429934" y="3860696"/>
              <a:ext cx="29565" cy="29565"/>
            </a:xfrm>
            <a:prstGeom prst="ellipse">
              <a:avLst/>
            </a:prstGeom>
            <a:gradFill flip="none" rotWithShape="1">
              <a:gsLst>
                <a:gs pos="0">
                  <a:srgbClr val="DEEDEB"/>
                </a:gs>
                <a:gs pos="43000">
                  <a:srgbClr val="61A99D"/>
                </a:gs>
                <a:gs pos="100000">
                  <a:srgbClr val="267D72"/>
                </a:gs>
              </a:gsLst>
              <a:lin ang="2700000" scaled="1"/>
              <a:tileRect/>
            </a:gradFill>
            <a:ln w="1807" cap="rnd" cmpd="sng" algn="ctr">
              <a:noFill/>
              <a:prstDash val="solid"/>
              <a:round/>
              <a:headEnd type="none" w="med" len="med"/>
              <a:tailEnd type="none" w="med" len="med"/>
            </a:ln>
            <a:effectLst/>
          </p:spPr>
        </p:sp>
        <p:sp>
          <p:nvSpPr>
            <p:cNvPr id="683" name="ellipse_2711">
              <a:extLst>
                <a:ext uri="{FF2B5EF4-FFF2-40B4-BE49-F238E27FC236}">
                  <a16:creationId xmlns:a16="http://schemas.microsoft.com/office/drawing/2014/main" id="{D105DBC9-3C6D-0576-1E95-E04BFA9EB1EF}"/>
                </a:ext>
              </a:extLst>
            </p:cNvPr>
            <p:cNvSpPr/>
            <p:nvPr/>
          </p:nvSpPr>
          <p:spPr>
            <a:xfrm>
              <a:off x="3647730" y="3730446"/>
              <a:ext cx="29565" cy="29565"/>
            </a:xfrm>
            <a:prstGeom prst="ellipse">
              <a:avLst/>
            </a:prstGeom>
            <a:gradFill flip="none" rotWithShape="1">
              <a:gsLst>
                <a:gs pos="0">
                  <a:srgbClr val="DEEDEB"/>
                </a:gs>
                <a:gs pos="43000">
                  <a:srgbClr val="61A99D"/>
                </a:gs>
                <a:gs pos="100000">
                  <a:srgbClr val="267D72"/>
                </a:gs>
              </a:gsLst>
              <a:lin ang="2700000" scaled="1"/>
              <a:tileRect/>
            </a:gradFill>
            <a:ln w="1807" cap="rnd" cmpd="sng" algn="ctr">
              <a:noFill/>
              <a:prstDash val="solid"/>
              <a:round/>
              <a:headEnd type="none" w="med" len="med"/>
              <a:tailEnd type="none" w="med" len="med"/>
            </a:ln>
            <a:effectLst/>
          </p:spPr>
        </p:sp>
      </p:grpSp>
      <p:sp>
        <p:nvSpPr>
          <p:cNvPr id="684" name="TextBox 12226">
            <a:extLst>
              <a:ext uri="{FF2B5EF4-FFF2-40B4-BE49-F238E27FC236}">
                <a16:creationId xmlns:a16="http://schemas.microsoft.com/office/drawing/2014/main" id="{43DBD103-E22F-DA52-F0ED-122A5CA41D61}"/>
              </a:ext>
            </a:extLst>
          </p:cNvPr>
          <p:cNvSpPr txBox="1"/>
          <p:nvPr/>
        </p:nvSpPr>
        <p:spPr>
          <a:xfrm>
            <a:off x="2837002" y="3080344"/>
            <a:ext cx="336631" cy="80599"/>
          </a:xfrm>
          <a:prstGeom prst="rect">
            <a:avLst/>
          </a:prstGeom>
          <a:noFill/>
        </p:spPr>
        <p:txBody>
          <a:bodyPr wrap="none" lIns="0" tIns="0" rIns="0" bIns="0" anchor="ctr">
            <a:spAutoFit/>
          </a:bodyPr>
          <a:lstStyle/>
          <a:p>
            <a:pPr algn="ctr">
              <a:lnSpc>
                <a:spcPct val="105000"/>
              </a:lnSpc>
            </a:pPr>
            <a:r>
              <a:rPr sz="536">
                <a:solidFill>
                  <a:srgbClr val="263442"/>
                </a:solidFill>
                <a:latin typeface="Arial"/>
              </a:rPr>
              <a:t>Own graph</a:t>
            </a:r>
          </a:p>
        </p:txBody>
      </p:sp>
      <p:sp>
        <p:nvSpPr>
          <p:cNvPr id="685" name="Op | GNN">
            <a:extLst>
              <a:ext uri="{FF2B5EF4-FFF2-40B4-BE49-F238E27FC236}">
                <a16:creationId xmlns:a16="http://schemas.microsoft.com/office/drawing/2014/main" id="{98330FF3-2E5A-32C3-D33C-D78225E1943D}"/>
              </a:ext>
            </a:extLst>
          </p:cNvPr>
          <p:cNvSpPr/>
          <p:nvPr/>
        </p:nvSpPr>
        <p:spPr>
          <a:xfrm>
            <a:off x="2823379" y="3239299"/>
            <a:ext cx="363877" cy="134476"/>
          </a:xfrm>
          <a:prstGeom prst="roundRect">
            <a:avLst>
              <a:gd name="adj" fmla="val 18000"/>
            </a:avLst>
          </a:prstGeom>
          <a:solidFill>
            <a:srgbClr val="E9F3EE"/>
          </a:solidFill>
          <a:ln w="7290">
            <a:solidFill>
              <a:srgbClr val="BEC7C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GNN</a:t>
            </a:r>
          </a:p>
        </p:txBody>
      </p:sp>
      <p:sp>
        <p:nvSpPr>
          <p:cNvPr id="686" name="TextBox 12228">
            <a:extLst>
              <a:ext uri="{FF2B5EF4-FFF2-40B4-BE49-F238E27FC236}">
                <a16:creationId xmlns:a16="http://schemas.microsoft.com/office/drawing/2014/main" id="{26538413-3AE9-9872-D0A6-0AEA9E6FF809}"/>
              </a:ext>
            </a:extLst>
          </p:cNvPr>
          <p:cNvSpPr txBox="1"/>
          <p:nvPr/>
        </p:nvSpPr>
        <p:spPr>
          <a:xfrm>
            <a:off x="3036959" y="3388848"/>
            <a:ext cx="134652" cy="80599"/>
          </a:xfrm>
          <a:prstGeom prst="rect">
            <a:avLst/>
          </a:prstGeom>
          <a:noFill/>
        </p:spPr>
        <p:txBody>
          <a:bodyPr wrap="none" lIns="0" tIns="0" rIns="0" bIns="0" anchor="ctr">
            <a:spAutoFit/>
          </a:bodyPr>
          <a:lstStyle/>
          <a:p>
            <a:pPr algn="l">
              <a:lnSpc>
                <a:spcPct val="105000"/>
              </a:lnSpc>
            </a:pPr>
            <a:r>
              <a:rPr sz="536" dirty="0">
                <a:solidFill>
                  <a:srgbClr val="263442"/>
                </a:solidFill>
                <a:latin typeface="Arial"/>
              </a:rPr>
              <a:t>K, V</a:t>
            </a:r>
          </a:p>
        </p:txBody>
      </p:sp>
      <p:sp>
        <p:nvSpPr>
          <p:cNvPr id="687" name="Op | Graph attention">
            <a:extLst>
              <a:ext uri="{FF2B5EF4-FFF2-40B4-BE49-F238E27FC236}">
                <a16:creationId xmlns:a16="http://schemas.microsoft.com/office/drawing/2014/main" id="{5F3701CD-DCA3-D9CA-7FA3-D737E8718A60}"/>
              </a:ext>
            </a:extLst>
          </p:cNvPr>
          <p:cNvSpPr/>
          <p:nvPr/>
        </p:nvSpPr>
        <p:spPr>
          <a:xfrm>
            <a:off x="2696813" y="3500341"/>
            <a:ext cx="617009" cy="150297"/>
          </a:xfrm>
          <a:prstGeom prst="roundRect">
            <a:avLst>
              <a:gd name="adj" fmla="val 18000"/>
            </a:avLst>
          </a:prstGeom>
          <a:solidFill>
            <a:srgbClr val="E9F3EE"/>
          </a:solidFill>
          <a:ln w="7290">
            <a:solidFill>
              <a:srgbClr val="BEC7C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Graph</a:t>
            </a:r>
            <a:r>
              <a:rPr sz="580" dirty="0">
                <a:solidFill>
                  <a:srgbClr val="263442"/>
                </a:solidFill>
                <a:latin typeface="Arial"/>
              </a:rPr>
              <a:t> </a:t>
            </a:r>
            <a:r>
              <a:rPr sz="588" dirty="0">
                <a:solidFill>
                  <a:srgbClr val="263442"/>
                </a:solidFill>
                <a:latin typeface="Arial"/>
              </a:rPr>
              <a:t>attention</a:t>
            </a:r>
          </a:p>
        </p:txBody>
      </p:sp>
      <p:sp>
        <p:nvSpPr>
          <p:cNvPr id="688" name="Op | SMI-TED">
            <a:extLst>
              <a:ext uri="{FF2B5EF4-FFF2-40B4-BE49-F238E27FC236}">
                <a16:creationId xmlns:a16="http://schemas.microsoft.com/office/drawing/2014/main" id="{9F250B16-9768-CC2C-86AF-59769C8EEC4C}"/>
              </a:ext>
            </a:extLst>
          </p:cNvPr>
          <p:cNvSpPr/>
          <p:nvPr/>
        </p:nvSpPr>
        <p:spPr>
          <a:xfrm>
            <a:off x="3459362" y="2971538"/>
            <a:ext cx="427160" cy="134476"/>
          </a:xfrm>
          <a:prstGeom prst="roundRect">
            <a:avLst>
              <a:gd name="adj" fmla="val 18000"/>
            </a:avLst>
          </a:prstGeom>
          <a:solidFill>
            <a:srgbClr val="E9F3EE"/>
          </a:solidFill>
          <a:ln w="7290">
            <a:solidFill>
              <a:srgbClr val="BEC7C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SMI-TED</a:t>
            </a:r>
          </a:p>
        </p:txBody>
      </p:sp>
      <p:sp>
        <p:nvSpPr>
          <p:cNvPr id="689" name="Language vector v_k_1">
            <a:extLst>
              <a:ext uri="{FF2B5EF4-FFF2-40B4-BE49-F238E27FC236}">
                <a16:creationId xmlns:a16="http://schemas.microsoft.com/office/drawing/2014/main" id="{E695888D-D925-5392-2451-D7757F2B6BC7}"/>
              </a:ext>
            </a:extLst>
          </p:cNvPr>
          <p:cNvSpPr/>
          <p:nvPr/>
        </p:nvSpPr>
        <p:spPr>
          <a:xfrm>
            <a:off x="3527403" y="3547013"/>
            <a:ext cx="37291" cy="56955"/>
          </a:xfrm>
          <a:prstGeom prst="rect">
            <a:avLst/>
          </a:prstGeom>
          <a:solidFill>
            <a:srgbClr val="3C9B8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90" name="Language vector v_k_2">
            <a:extLst>
              <a:ext uri="{FF2B5EF4-FFF2-40B4-BE49-F238E27FC236}">
                <a16:creationId xmlns:a16="http://schemas.microsoft.com/office/drawing/2014/main" id="{914284BD-BAB8-4AEA-A1F1-E7FC853BC87F}"/>
              </a:ext>
            </a:extLst>
          </p:cNvPr>
          <p:cNvSpPr/>
          <p:nvPr/>
        </p:nvSpPr>
        <p:spPr>
          <a:xfrm>
            <a:off x="3568650" y="3547013"/>
            <a:ext cx="37291" cy="56955"/>
          </a:xfrm>
          <a:prstGeom prst="rect">
            <a:avLst/>
          </a:prstGeom>
          <a:solidFill>
            <a:srgbClr val="6FB9A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91" name="Language vector v_k_3">
            <a:extLst>
              <a:ext uri="{FF2B5EF4-FFF2-40B4-BE49-F238E27FC236}">
                <a16:creationId xmlns:a16="http://schemas.microsoft.com/office/drawing/2014/main" id="{A224CED9-3025-4474-CF80-E118B0ACA7AB}"/>
              </a:ext>
            </a:extLst>
          </p:cNvPr>
          <p:cNvSpPr/>
          <p:nvPr/>
        </p:nvSpPr>
        <p:spPr>
          <a:xfrm>
            <a:off x="3609897" y="3547013"/>
            <a:ext cx="37291" cy="56955"/>
          </a:xfrm>
          <a:prstGeom prst="rect">
            <a:avLst/>
          </a:prstGeom>
          <a:solidFill>
            <a:srgbClr val="ADD8C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92" name="Language vector v_k_4">
            <a:extLst>
              <a:ext uri="{FF2B5EF4-FFF2-40B4-BE49-F238E27FC236}">
                <a16:creationId xmlns:a16="http://schemas.microsoft.com/office/drawing/2014/main" id="{3641CBF3-C5A5-2DC2-88CA-B3F2C816508D}"/>
              </a:ext>
            </a:extLst>
          </p:cNvPr>
          <p:cNvSpPr/>
          <p:nvPr/>
        </p:nvSpPr>
        <p:spPr>
          <a:xfrm>
            <a:off x="3651144" y="3547013"/>
            <a:ext cx="37291" cy="56955"/>
          </a:xfrm>
          <a:prstGeom prst="rect">
            <a:avLst/>
          </a:prstGeom>
          <a:solidFill>
            <a:srgbClr val="CBE7D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93" name="Language vector v_k_5">
            <a:extLst>
              <a:ext uri="{FF2B5EF4-FFF2-40B4-BE49-F238E27FC236}">
                <a16:creationId xmlns:a16="http://schemas.microsoft.com/office/drawing/2014/main" id="{B6BA4357-39F7-598C-72FA-2FC00B25A10F}"/>
              </a:ext>
            </a:extLst>
          </p:cNvPr>
          <p:cNvSpPr/>
          <p:nvPr/>
        </p:nvSpPr>
        <p:spPr>
          <a:xfrm>
            <a:off x="3692391" y="3547013"/>
            <a:ext cx="37291" cy="56955"/>
          </a:xfrm>
          <a:prstGeom prst="rect">
            <a:avLst/>
          </a:prstGeom>
          <a:solidFill>
            <a:srgbClr val="3C9B8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94" name="Language vector v_k_6">
            <a:extLst>
              <a:ext uri="{FF2B5EF4-FFF2-40B4-BE49-F238E27FC236}">
                <a16:creationId xmlns:a16="http://schemas.microsoft.com/office/drawing/2014/main" id="{14F9C08B-08C8-5CC8-21F6-EC42430BFA81}"/>
              </a:ext>
            </a:extLst>
          </p:cNvPr>
          <p:cNvSpPr/>
          <p:nvPr/>
        </p:nvSpPr>
        <p:spPr>
          <a:xfrm>
            <a:off x="3733638" y="3547013"/>
            <a:ext cx="37291" cy="56955"/>
          </a:xfrm>
          <a:prstGeom prst="rect">
            <a:avLst/>
          </a:prstGeom>
          <a:solidFill>
            <a:srgbClr val="6FB9A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95" name="Language vector v_k_7">
            <a:extLst>
              <a:ext uri="{FF2B5EF4-FFF2-40B4-BE49-F238E27FC236}">
                <a16:creationId xmlns:a16="http://schemas.microsoft.com/office/drawing/2014/main" id="{52E0E1B7-31F4-244C-BA32-494F415D5F2F}"/>
              </a:ext>
            </a:extLst>
          </p:cNvPr>
          <p:cNvSpPr/>
          <p:nvPr/>
        </p:nvSpPr>
        <p:spPr>
          <a:xfrm>
            <a:off x="3774885" y="3547013"/>
            <a:ext cx="37291" cy="56955"/>
          </a:xfrm>
          <a:prstGeom prst="rect">
            <a:avLst/>
          </a:prstGeom>
          <a:solidFill>
            <a:srgbClr val="ADD8C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96" name="TextBox 12239">
            <a:extLst>
              <a:ext uri="{FF2B5EF4-FFF2-40B4-BE49-F238E27FC236}">
                <a16:creationId xmlns:a16="http://schemas.microsoft.com/office/drawing/2014/main" id="{DE6BD61F-48C0-C267-E36F-0AC7BC24100D}"/>
              </a:ext>
            </a:extLst>
          </p:cNvPr>
          <p:cNvSpPr txBox="1"/>
          <p:nvPr/>
        </p:nvSpPr>
        <p:spPr>
          <a:xfrm>
            <a:off x="3353374" y="3475189"/>
            <a:ext cx="126566" cy="81946"/>
          </a:xfrm>
          <a:prstGeom prst="rect">
            <a:avLst/>
          </a:prstGeom>
          <a:noFill/>
        </p:spPr>
        <p:txBody>
          <a:bodyPr wrap="square" lIns="0" tIns="0" rIns="0" bIns="0" anchor="ctr">
            <a:spAutoFit/>
          </a:bodyPr>
          <a:lstStyle/>
          <a:p>
            <a:pPr algn="ctr">
              <a:lnSpc>
                <a:spcPct val="105000"/>
              </a:lnSpc>
            </a:pPr>
            <a:r>
              <a:rPr sz="545" dirty="0">
                <a:solidFill>
                  <a:srgbClr val="263442"/>
                </a:solidFill>
                <a:latin typeface="Arial"/>
              </a:rPr>
              <a:t>Q</a:t>
            </a:r>
          </a:p>
        </p:txBody>
      </p:sp>
      <p:sp>
        <p:nvSpPr>
          <p:cNvPr id="697" name="TextBox 12240">
            <a:extLst>
              <a:ext uri="{FF2B5EF4-FFF2-40B4-BE49-F238E27FC236}">
                <a16:creationId xmlns:a16="http://schemas.microsoft.com/office/drawing/2014/main" id="{2ACBC05C-C556-BA36-3DA9-0D37D9382C06}"/>
              </a:ext>
            </a:extLst>
          </p:cNvPr>
          <p:cNvSpPr txBox="1"/>
          <p:nvPr/>
        </p:nvSpPr>
        <p:spPr>
          <a:xfrm>
            <a:off x="3859638" y="3475189"/>
            <a:ext cx="126566" cy="81946"/>
          </a:xfrm>
          <a:prstGeom prst="rect">
            <a:avLst/>
          </a:prstGeom>
          <a:noFill/>
        </p:spPr>
        <p:txBody>
          <a:bodyPr wrap="square" lIns="0" tIns="0" rIns="0" bIns="0" anchor="ctr">
            <a:spAutoFit/>
          </a:bodyPr>
          <a:lstStyle/>
          <a:p>
            <a:pPr algn="ctr">
              <a:lnSpc>
                <a:spcPct val="105000"/>
              </a:lnSpc>
            </a:pPr>
            <a:r>
              <a:rPr sz="545">
                <a:solidFill>
                  <a:srgbClr val="263442"/>
                </a:solidFill>
                <a:latin typeface="Arial"/>
              </a:rPr>
              <a:t>Q</a:t>
            </a:r>
          </a:p>
        </p:txBody>
      </p:sp>
      <p:sp>
        <p:nvSpPr>
          <p:cNvPr id="698" name="TextBox 12241">
            <a:extLst>
              <a:ext uri="{FF2B5EF4-FFF2-40B4-BE49-F238E27FC236}">
                <a16:creationId xmlns:a16="http://schemas.microsoft.com/office/drawing/2014/main" id="{0B3A68EF-7CF9-A2EB-24B2-085C5BF1F71F}"/>
              </a:ext>
            </a:extLst>
          </p:cNvPr>
          <p:cNvSpPr txBox="1"/>
          <p:nvPr/>
        </p:nvSpPr>
        <p:spPr>
          <a:xfrm>
            <a:off x="4373812" y="2542416"/>
            <a:ext cx="379698" cy="151836"/>
          </a:xfrm>
          <a:prstGeom prst="rect">
            <a:avLst/>
          </a:prstGeom>
          <a:noFill/>
        </p:spPr>
        <p:txBody>
          <a:bodyPr wrap="square" lIns="0" tIns="0" rIns="0" bIns="0" anchor="ctr">
            <a:spAutoFit/>
          </a:bodyPr>
          <a:lstStyle/>
          <a:p>
            <a:pPr algn="l">
              <a:lnSpc>
                <a:spcPct val="95000"/>
              </a:lnSpc>
            </a:pPr>
            <a:r>
              <a:rPr lang="en-US" sz="519" dirty="0">
                <a:solidFill>
                  <a:srgbClr val="263442"/>
                </a:solidFill>
                <a:latin typeface="Arial"/>
              </a:rPr>
              <a:t>  </a:t>
            </a:r>
            <a:r>
              <a:rPr sz="519" dirty="0">
                <a:solidFill>
                  <a:srgbClr val="263442"/>
                </a:solidFill>
                <a:latin typeface="Arial"/>
              </a:rPr>
              <a:t>Other</a:t>
            </a:r>
          </a:p>
          <a:p>
            <a:pPr algn="l">
              <a:lnSpc>
                <a:spcPct val="95000"/>
              </a:lnSpc>
            </a:pPr>
            <a:r>
              <a:rPr sz="519" dirty="0">
                <a:solidFill>
                  <a:srgbClr val="263442"/>
                </a:solidFill>
                <a:latin typeface="Arial"/>
              </a:rPr>
              <a:t>identities</a:t>
            </a:r>
          </a:p>
        </p:txBody>
      </p:sp>
      <p:sp>
        <p:nvSpPr>
          <p:cNvPr id="699" name="Op | SMI-TED">
            <a:extLst>
              <a:ext uri="{FF2B5EF4-FFF2-40B4-BE49-F238E27FC236}">
                <a16:creationId xmlns:a16="http://schemas.microsoft.com/office/drawing/2014/main" id="{6691CF15-5DAD-F305-5973-B1ACEFFF5CBF}"/>
              </a:ext>
            </a:extLst>
          </p:cNvPr>
          <p:cNvSpPr/>
          <p:nvPr/>
        </p:nvSpPr>
        <p:spPr>
          <a:xfrm>
            <a:off x="4140927" y="2967199"/>
            <a:ext cx="427160" cy="134476"/>
          </a:xfrm>
          <a:prstGeom prst="roundRect">
            <a:avLst>
              <a:gd name="adj" fmla="val 18000"/>
            </a:avLst>
          </a:prstGeom>
          <a:solidFill>
            <a:srgbClr val="E9F3EE"/>
          </a:solidFill>
          <a:ln w="7290">
            <a:solidFill>
              <a:srgbClr val="BEC7C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SMI-TED</a:t>
            </a:r>
          </a:p>
        </p:txBody>
      </p:sp>
      <p:sp>
        <p:nvSpPr>
          <p:cNvPr id="700" name="TextBox 12244">
            <a:extLst>
              <a:ext uri="{FF2B5EF4-FFF2-40B4-BE49-F238E27FC236}">
                <a16:creationId xmlns:a16="http://schemas.microsoft.com/office/drawing/2014/main" id="{13C55E5C-99C8-F46D-3353-FED4827206EC}"/>
              </a:ext>
            </a:extLst>
          </p:cNvPr>
          <p:cNvSpPr txBox="1"/>
          <p:nvPr/>
        </p:nvSpPr>
        <p:spPr>
          <a:xfrm>
            <a:off x="4128591" y="3197919"/>
            <a:ext cx="79104" cy="67711"/>
          </a:xfrm>
          <a:prstGeom prst="rect">
            <a:avLst/>
          </a:prstGeom>
          <a:noFill/>
        </p:spPr>
        <p:txBody>
          <a:bodyPr wrap="square" lIns="0" tIns="0" rIns="0" bIns="0" anchor="ctr">
            <a:spAutoFit/>
          </a:bodyPr>
          <a:lstStyle/>
          <a:p>
            <a:pPr algn="ctr">
              <a:lnSpc>
                <a:spcPct val="105000"/>
              </a:lnSpc>
            </a:pPr>
            <a:r>
              <a:rPr sz="522" dirty="0">
                <a:solidFill>
                  <a:srgbClr val="263442"/>
                </a:solidFill>
                <a:latin typeface="Arial"/>
              </a:rPr>
              <a:t>1</a:t>
            </a:r>
          </a:p>
        </p:txBody>
      </p:sp>
      <p:sp>
        <p:nvSpPr>
          <p:cNvPr id="701" name="Context bar 1_1">
            <a:extLst>
              <a:ext uri="{FF2B5EF4-FFF2-40B4-BE49-F238E27FC236}">
                <a16:creationId xmlns:a16="http://schemas.microsoft.com/office/drawing/2014/main" id="{F675EB2C-E3F4-CF25-F2F9-B217A0C64998}"/>
              </a:ext>
            </a:extLst>
          </p:cNvPr>
          <p:cNvSpPr/>
          <p:nvPr/>
        </p:nvSpPr>
        <p:spPr>
          <a:xfrm>
            <a:off x="4223515" y="3223887"/>
            <a:ext cx="44166" cy="34806"/>
          </a:xfrm>
          <a:prstGeom prst="rect">
            <a:avLst/>
          </a:prstGeom>
          <a:solidFill>
            <a:srgbClr val="5A82B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02" name="Context bar 1_2">
            <a:extLst>
              <a:ext uri="{FF2B5EF4-FFF2-40B4-BE49-F238E27FC236}">
                <a16:creationId xmlns:a16="http://schemas.microsoft.com/office/drawing/2014/main" id="{7015B7C2-EE7A-8CD3-BF9A-C8F6C295F2D3}"/>
              </a:ext>
            </a:extLst>
          </p:cNvPr>
          <p:cNvSpPr/>
          <p:nvPr/>
        </p:nvSpPr>
        <p:spPr>
          <a:xfrm>
            <a:off x="4271637" y="3223887"/>
            <a:ext cx="44166" cy="34806"/>
          </a:xfrm>
          <a:prstGeom prst="rect">
            <a:avLst/>
          </a:prstGeom>
          <a:solidFill>
            <a:srgbClr val="8BAAD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03" name="Context bar 1_3">
            <a:extLst>
              <a:ext uri="{FF2B5EF4-FFF2-40B4-BE49-F238E27FC236}">
                <a16:creationId xmlns:a16="http://schemas.microsoft.com/office/drawing/2014/main" id="{0283D963-CC89-9552-BBFA-44417F9A5810}"/>
              </a:ext>
            </a:extLst>
          </p:cNvPr>
          <p:cNvSpPr/>
          <p:nvPr/>
        </p:nvSpPr>
        <p:spPr>
          <a:xfrm>
            <a:off x="4319758" y="3223887"/>
            <a:ext cx="44166" cy="34806"/>
          </a:xfrm>
          <a:prstGeom prst="rect">
            <a:avLst/>
          </a:prstGeom>
          <a:solidFill>
            <a:srgbClr val="BFD2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04" name="Context bar 1_4">
            <a:extLst>
              <a:ext uri="{FF2B5EF4-FFF2-40B4-BE49-F238E27FC236}">
                <a16:creationId xmlns:a16="http://schemas.microsoft.com/office/drawing/2014/main" id="{DFE762FA-D62F-609E-23C6-B16577CF789A}"/>
              </a:ext>
            </a:extLst>
          </p:cNvPr>
          <p:cNvSpPr/>
          <p:nvPr/>
        </p:nvSpPr>
        <p:spPr>
          <a:xfrm>
            <a:off x="4367880" y="3223887"/>
            <a:ext cx="44166" cy="34806"/>
          </a:xfrm>
          <a:prstGeom prst="rect">
            <a:avLst/>
          </a:prstGeom>
          <a:solidFill>
            <a:srgbClr val="7397C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05" name="Context bar 1_5">
            <a:extLst>
              <a:ext uri="{FF2B5EF4-FFF2-40B4-BE49-F238E27FC236}">
                <a16:creationId xmlns:a16="http://schemas.microsoft.com/office/drawing/2014/main" id="{8A2B1ECE-222F-713D-5115-87805A38C6E9}"/>
              </a:ext>
            </a:extLst>
          </p:cNvPr>
          <p:cNvSpPr/>
          <p:nvPr/>
        </p:nvSpPr>
        <p:spPr>
          <a:xfrm>
            <a:off x="4416001" y="3223887"/>
            <a:ext cx="44166" cy="34806"/>
          </a:xfrm>
          <a:prstGeom prst="rect">
            <a:avLst/>
          </a:prstGeom>
          <a:solidFill>
            <a:srgbClr val="5A82B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06" name="Context bar 1_6">
            <a:extLst>
              <a:ext uri="{FF2B5EF4-FFF2-40B4-BE49-F238E27FC236}">
                <a16:creationId xmlns:a16="http://schemas.microsoft.com/office/drawing/2014/main" id="{F9202696-646F-1763-9139-E44B52B50C5F}"/>
              </a:ext>
            </a:extLst>
          </p:cNvPr>
          <p:cNvSpPr/>
          <p:nvPr/>
        </p:nvSpPr>
        <p:spPr>
          <a:xfrm>
            <a:off x="4464123" y="3223887"/>
            <a:ext cx="44166" cy="34806"/>
          </a:xfrm>
          <a:prstGeom prst="rect">
            <a:avLst/>
          </a:prstGeom>
          <a:solidFill>
            <a:srgbClr val="8BAAD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07" name="TextBox 12251">
            <a:extLst>
              <a:ext uri="{FF2B5EF4-FFF2-40B4-BE49-F238E27FC236}">
                <a16:creationId xmlns:a16="http://schemas.microsoft.com/office/drawing/2014/main" id="{7BC06DFD-B767-BA41-2B05-2B0A38358B92}"/>
              </a:ext>
            </a:extLst>
          </p:cNvPr>
          <p:cNvSpPr txBox="1"/>
          <p:nvPr/>
        </p:nvSpPr>
        <p:spPr>
          <a:xfrm>
            <a:off x="4128591" y="3270220"/>
            <a:ext cx="79104" cy="67711"/>
          </a:xfrm>
          <a:prstGeom prst="rect">
            <a:avLst/>
          </a:prstGeom>
          <a:noFill/>
        </p:spPr>
        <p:txBody>
          <a:bodyPr wrap="square" lIns="0" tIns="0" rIns="0" bIns="0" anchor="ctr">
            <a:spAutoFit/>
          </a:bodyPr>
          <a:lstStyle/>
          <a:p>
            <a:pPr algn="ctr">
              <a:lnSpc>
                <a:spcPct val="105000"/>
              </a:lnSpc>
            </a:pPr>
            <a:r>
              <a:rPr sz="522" dirty="0">
                <a:solidFill>
                  <a:srgbClr val="263442"/>
                </a:solidFill>
                <a:latin typeface="Arial"/>
              </a:rPr>
              <a:t>2</a:t>
            </a:r>
          </a:p>
        </p:txBody>
      </p:sp>
      <p:sp>
        <p:nvSpPr>
          <p:cNvPr id="708" name="Context bar 2_1">
            <a:extLst>
              <a:ext uri="{FF2B5EF4-FFF2-40B4-BE49-F238E27FC236}">
                <a16:creationId xmlns:a16="http://schemas.microsoft.com/office/drawing/2014/main" id="{520858ED-2877-9676-9DDD-53EAA8E37558}"/>
              </a:ext>
            </a:extLst>
          </p:cNvPr>
          <p:cNvSpPr/>
          <p:nvPr/>
        </p:nvSpPr>
        <p:spPr>
          <a:xfrm>
            <a:off x="4223515" y="3286664"/>
            <a:ext cx="44166" cy="34806"/>
          </a:xfrm>
          <a:prstGeom prst="rect">
            <a:avLst/>
          </a:prstGeom>
          <a:solidFill>
            <a:srgbClr val="A67C4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09" name="Context bar 2_2">
            <a:extLst>
              <a:ext uri="{FF2B5EF4-FFF2-40B4-BE49-F238E27FC236}">
                <a16:creationId xmlns:a16="http://schemas.microsoft.com/office/drawing/2014/main" id="{50A3D4F9-D9FE-CC8B-21E7-D32E326D8875}"/>
              </a:ext>
            </a:extLst>
          </p:cNvPr>
          <p:cNvSpPr/>
          <p:nvPr/>
        </p:nvSpPr>
        <p:spPr>
          <a:xfrm>
            <a:off x="4271637" y="3286664"/>
            <a:ext cx="44166" cy="34806"/>
          </a:xfrm>
          <a:prstGeom prst="rect">
            <a:avLst/>
          </a:prstGeom>
          <a:solidFill>
            <a:srgbClr val="C6A37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10" name="Context bar 2_3">
            <a:extLst>
              <a:ext uri="{FF2B5EF4-FFF2-40B4-BE49-F238E27FC236}">
                <a16:creationId xmlns:a16="http://schemas.microsoft.com/office/drawing/2014/main" id="{4471AA3C-5A9C-CEE5-0418-953EC2227441}"/>
              </a:ext>
            </a:extLst>
          </p:cNvPr>
          <p:cNvSpPr/>
          <p:nvPr/>
        </p:nvSpPr>
        <p:spPr>
          <a:xfrm>
            <a:off x="4319758" y="3286664"/>
            <a:ext cx="44166" cy="34806"/>
          </a:xfrm>
          <a:prstGeom prst="rect">
            <a:avLst/>
          </a:prstGeom>
          <a:solidFill>
            <a:srgbClr val="E0CCB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11" name="Context bar 2_4">
            <a:extLst>
              <a:ext uri="{FF2B5EF4-FFF2-40B4-BE49-F238E27FC236}">
                <a16:creationId xmlns:a16="http://schemas.microsoft.com/office/drawing/2014/main" id="{B321BB44-18FA-E7F3-2924-BC94493FEA4A}"/>
              </a:ext>
            </a:extLst>
          </p:cNvPr>
          <p:cNvSpPr/>
          <p:nvPr/>
        </p:nvSpPr>
        <p:spPr>
          <a:xfrm>
            <a:off x="4367880" y="3286664"/>
            <a:ext cx="44166" cy="34806"/>
          </a:xfrm>
          <a:prstGeom prst="rect">
            <a:avLst/>
          </a:prstGeom>
          <a:solidFill>
            <a:srgbClr val="B58E5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12" name="Context bar 2_5">
            <a:extLst>
              <a:ext uri="{FF2B5EF4-FFF2-40B4-BE49-F238E27FC236}">
                <a16:creationId xmlns:a16="http://schemas.microsoft.com/office/drawing/2014/main" id="{BF58521A-8C41-BE24-9704-AEAF70385316}"/>
              </a:ext>
            </a:extLst>
          </p:cNvPr>
          <p:cNvSpPr/>
          <p:nvPr/>
        </p:nvSpPr>
        <p:spPr>
          <a:xfrm>
            <a:off x="4416001" y="3286664"/>
            <a:ext cx="44166" cy="34806"/>
          </a:xfrm>
          <a:prstGeom prst="rect">
            <a:avLst/>
          </a:prstGeom>
          <a:solidFill>
            <a:srgbClr val="A67C4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13" name="Context bar 2_6">
            <a:extLst>
              <a:ext uri="{FF2B5EF4-FFF2-40B4-BE49-F238E27FC236}">
                <a16:creationId xmlns:a16="http://schemas.microsoft.com/office/drawing/2014/main" id="{4283B810-9FFF-25F8-1960-4F272603052B}"/>
              </a:ext>
            </a:extLst>
          </p:cNvPr>
          <p:cNvSpPr/>
          <p:nvPr/>
        </p:nvSpPr>
        <p:spPr>
          <a:xfrm>
            <a:off x="4464123" y="3286664"/>
            <a:ext cx="44166" cy="34806"/>
          </a:xfrm>
          <a:prstGeom prst="rect">
            <a:avLst/>
          </a:prstGeom>
          <a:solidFill>
            <a:srgbClr val="C6A37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14" name="TextBox 12258">
            <a:extLst>
              <a:ext uri="{FF2B5EF4-FFF2-40B4-BE49-F238E27FC236}">
                <a16:creationId xmlns:a16="http://schemas.microsoft.com/office/drawing/2014/main" id="{D4C78125-5C89-7F13-017C-2E1C11AE7FDD}"/>
              </a:ext>
            </a:extLst>
          </p:cNvPr>
          <p:cNvSpPr txBox="1"/>
          <p:nvPr/>
        </p:nvSpPr>
        <p:spPr>
          <a:xfrm>
            <a:off x="4128591" y="3342522"/>
            <a:ext cx="79104" cy="67711"/>
          </a:xfrm>
          <a:prstGeom prst="rect">
            <a:avLst/>
          </a:prstGeom>
          <a:noFill/>
        </p:spPr>
        <p:txBody>
          <a:bodyPr wrap="square" lIns="0" tIns="0" rIns="0" bIns="0" anchor="ctr">
            <a:spAutoFit/>
          </a:bodyPr>
          <a:lstStyle/>
          <a:p>
            <a:pPr algn="ctr">
              <a:lnSpc>
                <a:spcPct val="105000"/>
              </a:lnSpc>
            </a:pPr>
            <a:r>
              <a:rPr sz="522" dirty="0">
                <a:solidFill>
                  <a:srgbClr val="263442"/>
                </a:solidFill>
                <a:latin typeface="Arial"/>
              </a:rPr>
              <a:t>K</a:t>
            </a:r>
          </a:p>
        </p:txBody>
      </p:sp>
      <p:sp>
        <p:nvSpPr>
          <p:cNvPr id="715" name="Context bar K_1">
            <a:extLst>
              <a:ext uri="{FF2B5EF4-FFF2-40B4-BE49-F238E27FC236}">
                <a16:creationId xmlns:a16="http://schemas.microsoft.com/office/drawing/2014/main" id="{6C63634F-2307-320B-8E95-2B6ADA84F565}"/>
              </a:ext>
            </a:extLst>
          </p:cNvPr>
          <p:cNvSpPr/>
          <p:nvPr/>
        </p:nvSpPr>
        <p:spPr>
          <a:xfrm>
            <a:off x="4223515" y="3349440"/>
            <a:ext cx="44166" cy="34806"/>
          </a:xfrm>
          <a:prstGeom prst="rect">
            <a:avLst/>
          </a:prstGeom>
          <a:solidFill>
            <a:srgbClr val="7A68A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16" name="Context bar K_2">
            <a:extLst>
              <a:ext uri="{FF2B5EF4-FFF2-40B4-BE49-F238E27FC236}">
                <a16:creationId xmlns:a16="http://schemas.microsoft.com/office/drawing/2014/main" id="{582A4CF2-1B99-BCF5-A8D3-EE93D5F5B81F}"/>
              </a:ext>
            </a:extLst>
          </p:cNvPr>
          <p:cNvSpPr/>
          <p:nvPr/>
        </p:nvSpPr>
        <p:spPr>
          <a:xfrm>
            <a:off x="4271637" y="3349440"/>
            <a:ext cx="44166" cy="34806"/>
          </a:xfrm>
          <a:prstGeom prst="rect">
            <a:avLst/>
          </a:prstGeom>
          <a:solidFill>
            <a:srgbClr val="A193C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17" name="Context bar K_3">
            <a:extLst>
              <a:ext uri="{FF2B5EF4-FFF2-40B4-BE49-F238E27FC236}">
                <a16:creationId xmlns:a16="http://schemas.microsoft.com/office/drawing/2014/main" id="{607B41B1-A111-8D93-E207-5DF6221B54D2}"/>
              </a:ext>
            </a:extLst>
          </p:cNvPr>
          <p:cNvSpPr/>
          <p:nvPr/>
        </p:nvSpPr>
        <p:spPr>
          <a:xfrm>
            <a:off x="4319758" y="3349440"/>
            <a:ext cx="44166" cy="34806"/>
          </a:xfrm>
          <a:prstGeom prst="rect">
            <a:avLst/>
          </a:prstGeom>
          <a:solidFill>
            <a:srgbClr val="CBC2E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18" name="Context bar K_4">
            <a:extLst>
              <a:ext uri="{FF2B5EF4-FFF2-40B4-BE49-F238E27FC236}">
                <a16:creationId xmlns:a16="http://schemas.microsoft.com/office/drawing/2014/main" id="{9539C2E7-004F-E86E-852E-98E80C399402}"/>
              </a:ext>
            </a:extLst>
          </p:cNvPr>
          <p:cNvSpPr/>
          <p:nvPr/>
        </p:nvSpPr>
        <p:spPr>
          <a:xfrm>
            <a:off x="4367880" y="3349440"/>
            <a:ext cx="44166" cy="34806"/>
          </a:xfrm>
          <a:prstGeom prst="rect">
            <a:avLst/>
          </a:prstGeom>
          <a:solidFill>
            <a:srgbClr val="8E7DB5"/>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19" name="Context bar K_5">
            <a:extLst>
              <a:ext uri="{FF2B5EF4-FFF2-40B4-BE49-F238E27FC236}">
                <a16:creationId xmlns:a16="http://schemas.microsoft.com/office/drawing/2014/main" id="{2DE0B959-537B-893B-9987-81BBF3647FFD}"/>
              </a:ext>
            </a:extLst>
          </p:cNvPr>
          <p:cNvSpPr/>
          <p:nvPr/>
        </p:nvSpPr>
        <p:spPr>
          <a:xfrm>
            <a:off x="4416001" y="3349440"/>
            <a:ext cx="44166" cy="34806"/>
          </a:xfrm>
          <a:prstGeom prst="rect">
            <a:avLst/>
          </a:prstGeom>
          <a:solidFill>
            <a:srgbClr val="7A68A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20" name="Context bar K_6">
            <a:extLst>
              <a:ext uri="{FF2B5EF4-FFF2-40B4-BE49-F238E27FC236}">
                <a16:creationId xmlns:a16="http://schemas.microsoft.com/office/drawing/2014/main" id="{147CE38B-269C-4BBA-77C6-2810C1D11F1C}"/>
              </a:ext>
            </a:extLst>
          </p:cNvPr>
          <p:cNvSpPr/>
          <p:nvPr/>
        </p:nvSpPr>
        <p:spPr>
          <a:xfrm>
            <a:off x="4464123" y="3349440"/>
            <a:ext cx="44166" cy="34806"/>
          </a:xfrm>
          <a:prstGeom prst="rect">
            <a:avLst/>
          </a:prstGeom>
          <a:solidFill>
            <a:srgbClr val="A193C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21" name="TextBox 12265">
            <a:extLst>
              <a:ext uri="{FF2B5EF4-FFF2-40B4-BE49-F238E27FC236}">
                <a16:creationId xmlns:a16="http://schemas.microsoft.com/office/drawing/2014/main" id="{979CEBC9-AC70-1276-123A-637171F58084}"/>
              </a:ext>
            </a:extLst>
          </p:cNvPr>
          <p:cNvSpPr txBox="1"/>
          <p:nvPr/>
        </p:nvSpPr>
        <p:spPr>
          <a:xfrm>
            <a:off x="4381723" y="3400472"/>
            <a:ext cx="134652" cy="80599"/>
          </a:xfrm>
          <a:prstGeom prst="rect">
            <a:avLst/>
          </a:prstGeom>
          <a:noFill/>
        </p:spPr>
        <p:txBody>
          <a:bodyPr wrap="none" lIns="0" tIns="0" rIns="0" bIns="0" anchor="ctr">
            <a:spAutoFit/>
          </a:bodyPr>
          <a:lstStyle/>
          <a:p>
            <a:pPr algn="l">
              <a:lnSpc>
                <a:spcPct val="105000"/>
              </a:lnSpc>
            </a:pPr>
            <a:r>
              <a:rPr sz="536" dirty="0">
                <a:solidFill>
                  <a:srgbClr val="263442"/>
                </a:solidFill>
                <a:latin typeface="Arial"/>
              </a:rPr>
              <a:t>K, V</a:t>
            </a:r>
          </a:p>
        </p:txBody>
      </p:sp>
      <p:sp>
        <p:nvSpPr>
          <p:cNvPr id="722" name="Op | Context attention">
            <a:extLst>
              <a:ext uri="{FF2B5EF4-FFF2-40B4-BE49-F238E27FC236}">
                <a16:creationId xmlns:a16="http://schemas.microsoft.com/office/drawing/2014/main" id="{640CE564-549E-0D15-B50A-E392C9DB6304}"/>
              </a:ext>
            </a:extLst>
          </p:cNvPr>
          <p:cNvSpPr/>
          <p:nvPr/>
        </p:nvSpPr>
        <p:spPr>
          <a:xfrm>
            <a:off x="4025756" y="3500341"/>
            <a:ext cx="648651" cy="150297"/>
          </a:xfrm>
          <a:prstGeom prst="roundRect">
            <a:avLst>
              <a:gd name="adj" fmla="val 18000"/>
            </a:avLst>
          </a:prstGeom>
          <a:solidFill>
            <a:srgbClr val="E9F3EE"/>
          </a:solidFill>
          <a:ln w="7290">
            <a:solidFill>
              <a:srgbClr val="BEC7C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Context</a:t>
            </a:r>
            <a:r>
              <a:rPr sz="580" dirty="0">
                <a:solidFill>
                  <a:srgbClr val="263442"/>
                </a:solidFill>
                <a:latin typeface="Arial"/>
              </a:rPr>
              <a:t> attention</a:t>
            </a:r>
          </a:p>
        </p:txBody>
      </p:sp>
      <p:sp>
        <p:nvSpPr>
          <p:cNvPr id="723" name="Op | Fusion">
            <a:extLst>
              <a:ext uri="{FF2B5EF4-FFF2-40B4-BE49-F238E27FC236}">
                <a16:creationId xmlns:a16="http://schemas.microsoft.com/office/drawing/2014/main" id="{FF74A918-BF09-C9F6-6A9B-D421CF97BC33}"/>
              </a:ext>
            </a:extLst>
          </p:cNvPr>
          <p:cNvSpPr/>
          <p:nvPr/>
        </p:nvSpPr>
        <p:spPr>
          <a:xfrm>
            <a:off x="3479940" y="3733697"/>
            <a:ext cx="379698" cy="142387"/>
          </a:xfrm>
          <a:prstGeom prst="roundRect">
            <a:avLst>
              <a:gd name="adj" fmla="val 18000"/>
            </a:avLst>
          </a:prstGeom>
          <a:solidFill>
            <a:srgbClr val="EDE7F5"/>
          </a:solidFill>
          <a:ln w="7290">
            <a:solidFill>
              <a:srgbClr val="BEC7C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Fusion</a:t>
            </a:r>
          </a:p>
        </p:txBody>
      </p:sp>
      <p:sp>
        <p:nvSpPr>
          <p:cNvPr id="724" name="g_k bar_1">
            <a:extLst>
              <a:ext uri="{FF2B5EF4-FFF2-40B4-BE49-F238E27FC236}">
                <a16:creationId xmlns:a16="http://schemas.microsoft.com/office/drawing/2014/main" id="{CB9A6A2F-14EE-2004-CB53-FCE391ACED69}"/>
              </a:ext>
            </a:extLst>
          </p:cNvPr>
          <p:cNvSpPr/>
          <p:nvPr/>
        </p:nvSpPr>
        <p:spPr>
          <a:xfrm>
            <a:off x="3503672" y="3989994"/>
            <a:ext cx="44072" cy="56955"/>
          </a:xfrm>
          <a:prstGeom prst="rect">
            <a:avLst/>
          </a:prstGeom>
          <a:solidFill>
            <a:srgbClr val="3E997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25" name="g_k bar_2">
            <a:extLst>
              <a:ext uri="{FF2B5EF4-FFF2-40B4-BE49-F238E27FC236}">
                <a16:creationId xmlns:a16="http://schemas.microsoft.com/office/drawing/2014/main" id="{E39FC69E-11ED-3FA2-32B9-5945059F2213}"/>
              </a:ext>
            </a:extLst>
          </p:cNvPr>
          <p:cNvSpPr/>
          <p:nvPr/>
        </p:nvSpPr>
        <p:spPr>
          <a:xfrm>
            <a:off x="3551699" y="3989994"/>
            <a:ext cx="44072" cy="56955"/>
          </a:xfrm>
          <a:prstGeom prst="rect">
            <a:avLst/>
          </a:prstGeom>
          <a:solidFill>
            <a:srgbClr val="83C2A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26" name="g_k bar_3">
            <a:extLst>
              <a:ext uri="{FF2B5EF4-FFF2-40B4-BE49-F238E27FC236}">
                <a16:creationId xmlns:a16="http://schemas.microsoft.com/office/drawing/2014/main" id="{543C1079-397B-91D4-0D56-9824953F1A51}"/>
              </a:ext>
            </a:extLst>
          </p:cNvPr>
          <p:cNvSpPr/>
          <p:nvPr/>
        </p:nvSpPr>
        <p:spPr>
          <a:xfrm>
            <a:off x="3599726" y="3989994"/>
            <a:ext cx="44072" cy="56955"/>
          </a:xfrm>
          <a:prstGeom prst="rect">
            <a:avLst/>
          </a:prstGeom>
          <a:solidFill>
            <a:srgbClr val="BCDDC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27" name="g_k bar_4">
            <a:extLst>
              <a:ext uri="{FF2B5EF4-FFF2-40B4-BE49-F238E27FC236}">
                <a16:creationId xmlns:a16="http://schemas.microsoft.com/office/drawing/2014/main" id="{72768CF4-9EFB-DF24-7C89-6D351C730BA5}"/>
              </a:ext>
            </a:extLst>
          </p:cNvPr>
          <p:cNvSpPr/>
          <p:nvPr/>
        </p:nvSpPr>
        <p:spPr>
          <a:xfrm>
            <a:off x="3647753" y="3989994"/>
            <a:ext cx="44072" cy="56955"/>
          </a:xfrm>
          <a:prstGeom prst="rect">
            <a:avLst/>
          </a:prstGeom>
          <a:solidFill>
            <a:srgbClr val="68AB9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28" name="g_k bar_5">
            <a:extLst>
              <a:ext uri="{FF2B5EF4-FFF2-40B4-BE49-F238E27FC236}">
                <a16:creationId xmlns:a16="http://schemas.microsoft.com/office/drawing/2014/main" id="{4025AE17-AFDD-1F7D-9368-8E976FBC9D73}"/>
              </a:ext>
            </a:extLst>
          </p:cNvPr>
          <p:cNvSpPr/>
          <p:nvPr/>
        </p:nvSpPr>
        <p:spPr>
          <a:xfrm>
            <a:off x="3695781" y="3989994"/>
            <a:ext cx="44072" cy="56955"/>
          </a:xfrm>
          <a:prstGeom prst="rect">
            <a:avLst/>
          </a:prstGeom>
          <a:solidFill>
            <a:srgbClr val="3E997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29" name="g_k bar_6">
            <a:extLst>
              <a:ext uri="{FF2B5EF4-FFF2-40B4-BE49-F238E27FC236}">
                <a16:creationId xmlns:a16="http://schemas.microsoft.com/office/drawing/2014/main" id="{894C2CFF-A654-8C7B-2480-AC98400CE487}"/>
              </a:ext>
            </a:extLst>
          </p:cNvPr>
          <p:cNvSpPr/>
          <p:nvPr/>
        </p:nvSpPr>
        <p:spPr>
          <a:xfrm>
            <a:off x="3743808" y="3989994"/>
            <a:ext cx="44072" cy="56955"/>
          </a:xfrm>
          <a:prstGeom prst="rect">
            <a:avLst/>
          </a:prstGeom>
          <a:solidFill>
            <a:srgbClr val="83C2A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30" name="g_k bar_7">
            <a:extLst>
              <a:ext uri="{FF2B5EF4-FFF2-40B4-BE49-F238E27FC236}">
                <a16:creationId xmlns:a16="http://schemas.microsoft.com/office/drawing/2014/main" id="{DC10EA75-05BB-E415-682D-FAFCD65B7377}"/>
              </a:ext>
            </a:extLst>
          </p:cNvPr>
          <p:cNvSpPr/>
          <p:nvPr/>
        </p:nvSpPr>
        <p:spPr>
          <a:xfrm>
            <a:off x="3791835" y="3989994"/>
            <a:ext cx="44072" cy="56955"/>
          </a:xfrm>
          <a:prstGeom prst="rect">
            <a:avLst/>
          </a:prstGeom>
          <a:solidFill>
            <a:srgbClr val="BCDDC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31" name="Math | g_k^">
            <a:extLst>
              <a:ext uri="{FF2B5EF4-FFF2-40B4-BE49-F238E27FC236}">
                <a16:creationId xmlns:a16="http://schemas.microsoft.com/office/drawing/2014/main" id="{45321F2B-F3FA-58E1-92FE-B69A1AB20949}"/>
              </a:ext>
            </a:extLst>
          </p:cNvPr>
          <p:cNvSpPr txBox="1"/>
          <p:nvPr/>
        </p:nvSpPr>
        <p:spPr>
          <a:xfrm>
            <a:off x="3872532" y="3947306"/>
            <a:ext cx="84960" cy="126509"/>
          </a:xfrm>
          <a:prstGeom prst="rect">
            <a:avLst/>
          </a:prstGeom>
          <a:noFill/>
        </p:spPr>
        <p:txBody>
          <a:bodyPr wrap="none" lIns="0" tIns="0" rIns="0" bIns="0" anchor="ctr">
            <a:spAutoFit/>
          </a:bodyPr>
          <a:lstStyle/>
          <a:p>
            <a:pPr algn="ctr"/>
            <a:r>
              <a:rPr sz="855" i="1">
                <a:solidFill>
                  <a:srgbClr val="263442"/>
                </a:solidFill>
                <a:latin typeface="Times New Roman"/>
              </a:rPr>
              <a:t>g</a:t>
            </a:r>
            <a:r>
              <a:rPr sz="780" i="1" baseline="-28000">
                <a:solidFill>
                  <a:srgbClr val="263442"/>
                </a:solidFill>
                <a:latin typeface="Times New Roman"/>
              </a:rPr>
              <a:t>k</a:t>
            </a:r>
          </a:p>
        </p:txBody>
      </p:sp>
      <p:sp>
        <p:nvSpPr>
          <p:cNvPr id="732" name="Op | Cosine score">
            <a:extLst>
              <a:ext uri="{FF2B5EF4-FFF2-40B4-BE49-F238E27FC236}">
                <a16:creationId xmlns:a16="http://schemas.microsoft.com/office/drawing/2014/main" id="{9B88858F-88C1-DA3F-1992-E9C76D0D80AF}"/>
              </a:ext>
            </a:extLst>
          </p:cNvPr>
          <p:cNvSpPr/>
          <p:nvPr/>
        </p:nvSpPr>
        <p:spPr>
          <a:xfrm>
            <a:off x="3279920" y="4162465"/>
            <a:ext cx="569547" cy="150297"/>
          </a:xfrm>
          <a:prstGeom prst="roundRect">
            <a:avLst>
              <a:gd name="adj" fmla="val 18000"/>
            </a:avLst>
          </a:prstGeom>
          <a:solidFill>
            <a:srgbClr val="E9F3EE"/>
          </a:solidFill>
          <a:ln w="7290">
            <a:solidFill>
              <a:srgbClr val="BEC7C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Cosine score</a:t>
            </a:r>
          </a:p>
        </p:txBody>
      </p:sp>
      <p:sp>
        <p:nvSpPr>
          <p:cNvPr id="733" name="TextBox 12277">
            <a:extLst>
              <a:ext uri="{FF2B5EF4-FFF2-40B4-BE49-F238E27FC236}">
                <a16:creationId xmlns:a16="http://schemas.microsoft.com/office/drawing/2014/main" id="{7D6970C3-E7E9-652B-644D-A057CB503545}"/>
              </a:ext>
            </a:extLst>
          </p:cNvPr>
          <p:cNvSpPr txBox="1"/>
          <p:nvPr/>
        </p:nvSpPr>
        <p:spPr>
          <a:xfrm>
            <a:off x="3275392" y="4326634"/>
            <a:ext cx="585097" cy="79445"/>
          </a:xfrm>
          <a:prstGeom prst="rect">
            <a:avLst/>
          </a:prstGeom>
          <a:noFill/>
        </p:spPr>
        <p:txBody>
          <a:bodyPr wrap="none" lIns="0" tIns="0" rIns="0" bIns="0" anchor="ctr">
            <a:spAutoFit/>
          </a:bodyPr>
          <a:lstStyle/>
          <a:p>
            <a:pPr algn="ctr">
              <a:lnSpc>
                <a:spcPct val="105000"/>
              </a:lnSpc>
            </a:pPr>
            <a:r>
              <a:rPr sz="528" dirty="0">
                <a:solidFill>
                  <a:srgbClr val="263442"/>
                </a:solidFill>
                <a:latin typeface="Arial"/>
              </a:rPr>
              <a:t>Learned projections</a:t>
            </a:r>
          </a:p>
        </p:txBody>
      </p:sp>
      <p:sp>
        <p:nvSpPr>
          <p:cNvPr id="734" name="Math | s_j,k^">
            <a:extLst>
              <a:ext uri="{FF2B5EF4-FFF2-40B4-BE49-F238E27FC236}">
                <a16:creationId xmlns:a16="http://schemas.microsoft.com/office/drawing/2014/main" id="{BD0A37AE-0CF6-77DD-8048-3FF0945F4158}"/>
              </a:ext>
            </a:extLst>
          </p:cNvPr>
          <p:cNvSpPr txBox="1"/>
          <p:nvPr/>
        </p:nvSpPr>
        <p:spPr>
          <a:xfrm>
            <a:off x="3930163" y="4086560"/>
            <a:ext cx="104196" cy="117083"/>
          </a:xfrm>
          <a:prstGeom prst="rect">
            <a:avLst/>
          </a:prstGeom>
          <a:noFill/>
        </p:spPr>
        <p:txBody>
          <a:bodyPr wrap="none" lIns="0" tIns="0" rIns="0" bIns="0" anchor="ctr">
            <a:spAutoFit/>
          </a:bodyPr>
          <a:lstStyle/>
          <a:p>
            <a:pPr algn="ctr"/>
            <a:r>
              <a:rPr sz="791" i="1" dirty="0" err="1">
                <a:solidFill>
                  <a:srgbClr val="263442"/>
                </a:solidFill>
                <a:latin typeface="Times New Roman"/>
              </a:rPr>
              <a:t>s</a:t>
            </a:r>
            <a:r>
              <a:rPr sz="780" i="1" baseline="-28000" dirty="0" err="1">
                <a:solidFill>
                  <a:srgbClr val="263442"/>
                </a:solidFill>
                <a:latin typeface="Times New Roman"/>
              </a:rPr>
              <a:t>j,k</a:t>
            </a:r>
            <a:endParaRPr sz="780" i="1" baseline="-28000" dirty="0">
              <a:solidFill>
                <a:srgbClr val="263442"/>
              </a:solidFill>
              <a:latin typeface="Times New Roman"/>
            </a:endParaRPr>
          </a:p>
        </p:txBody>
      </p:sp>
      <p:sp>
        <p:nvSpPr>
          <p:cNvPr id="735" name="TextBox 12279">
            <a:extLst>
              <a:ext uri="{FF2B5EF4-FFF2-40B4-BE49-F238E27FC236}">
                <a16:creationId xmlns:a16="http://schemas.microsoft.com/office/drawing/2014/main" id="{C56E8311-ADDA-7C63-9110-2C3006BDD08E}"/>
              </a:ext>
            </a:extLst>
          </p:cNvPr>
          <p:cNvSpPr txBox="1"/>
          <p:nvPr/>
        </p:nvSpPr>
        <p:spPr>
          <a:xfrm>
            <a:off x="4189537" y="3931330"/>
            <a:ext cx="479297" cy="87268"/>
          </a:xfrm>
          <a:prstGeom prst="rect">
            <a:avLst/>
          </a:prstGeom>
          <a:noFill/>
        </p:spPr>
        <p:txBody>
          <a:bodyPr wrap="none" lIns="0" tIns="0" rIns="0" bIns="0" anchor="ctr">
            <a:spAutoFit/>
          </a:bodyPr>
          <a:lstStyle/>
          <a:p>
            <a:pPr algn="ctr">
              <a:lnSpc>
                <a:spcPct val="105000"/>
              </a:lnSpc>
            </a:pPr>
            <a:r>
              <a:rPr sz="580">
                <a:solidFill>
                  <a:srgbClr val="263442"/>
                </a:solidFill>
                <a:latin typeface="Arial"/>
              </a:rPr>
              <a:t>Identity scores</a:t>
            </a:r>
          </a:p>
        </p:txBody>
      </p:sp>
      <p:sp>
        <p:nvSpPr>
          <p:cNvPr id="736" name="TextBox 12280">
            <a:extLst>
              <a:ext uri="{FF2B5EF4-FFF2-40B4-BE49-F238E27FC236}">
                <a16:creationId xmlns:a16="http://schemas.microsoft.com/office/drawing/2014/main" id="{C640A1D5-D4D1-3FBF-0F27-45AD836A7FCE}"/>
              </a:ext>
            </a:extLst>
          </p:cNvPr>
          <p:cNvSpPr txBox="1"/>
          <p:nvPr/>
        </p:nvSpPr>
        <p:spPr>
          <a:xfrm>
            <a:off x="4428041" y="4018471"/>
            <a:ext cx="102835" cy="85921"/>
          </a:xfrm>
          <a:prstGeom prst="rect">
            <a:avLst/>
          </a:prstGeom>
          <a:noFill/>
        </p:spPr>
        <p:txBody>
          <a:bodyPr wrap="square" lIns="0" tIns="0" rIns="0" bIns="0" anchor="ctr">
            <a:spAutoFit/>
          </a:bodyPr>
          <a:lstStyle/>
          <a:p>
            <a:pPr algn="ctr">
              <a:lnSpc>
                <a:spcPct val="105000"/>
              </a:lnSpc>
            </a:pPr>
            <a:r>
              <a:rPr sz="571" dirty="0">
                <a:solidFill>
                  <a:srgbClr val="263442"/>
                </a:solidFill>
                <a:latin typeface="Arial"/>
              </a:rPr>
              <a:t>k</a:t>
            </a:r>
          </a:p>
        </p:txBody>
      </p:sp>
      <p:sp>
        <p:nvSpPr>
          <p:cNvPr id="737" name="TextBox 12281">
            <a:extLst>
              <a:ext uri="{FF2B5EF4-FFF2-40B4-BE49-F238E27FC236}">
                <a16:creationId xmlns:a16="http://schemas.microsoft.com/office/drawing/2014/main" id="{F472392A-4724-5EDA-C6D8-557EF063B52F}"/>
              </a:ext>
            </a:extLst>
          </p:cNvPr>
          <p:cNvSpPr txBox="1"/>
          <p:nvPr/>
        </p:nvSpPr>
        <p:spPr>
          <a:xfrm>
            <a:off x="4128591" y="4169314"/>
            <a:ext cx="87014" cy="85921"/>
          </a:xfrm>
          <a:prstGeom prst="rect">
            <a:avLst/>
          </a:prstGeom>
          <a:noFill/>
        </p:spPr>
        <p:txBody>
          <a:bodyPr wrap="square" lIns="0" tIns="0" rIns="0" bIns="0" anchor="ctr">
            <a:spAutoFit/>
          </a:bodyPr>
          <a:lstStyle/>
          <a:p>
            <a:pPr algn="ctr">
              <a:lnSpc>
                <a:spcPct val="105000"/>
              </a:lnSpc>
            </a:pPr>
            <a:r>
              <a:rPr sz="571">
                <a:solidFill>
                  <a:srgbClr val="263442"/>
                </a:solidFill>
                <a:latin typeface="Arial"/>
              </a:rPr>
              <a:t>j</a:t>
            </a:r>
          </a:p>
        </p:txBody>
      </p:sp>
      <p:sp>
        <p:nvSpPr>
          <p:cNvPr id="738" name="Matrix cell (0,0)">
            <a:extLst>
              <a:ext uri="{FF2B5EF4-FFF2-40B4-BE49-F238E27FC236}">
                <a16:creationId xmlns:a16="http://schemas.microsoft.com/office/drawing/2014/main" id="{1FAFF817-C1CE-5F45-E950-98E19AE452CF}"/>
              </a:ext>
            </a:extLst>
          </p:cNvPr>
          <p:cNvSpPr/>
          <p:nvPr/>
        </p:nvSpPr>
        <p:spPr>
          <a:xfrm>
            <a:off x="4223515" y="4105485"/>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39" name="Matrix cell (0,1)">
            <a:extLst>
              <a:ext uri="{FF2B5EF4-FFF2-40B4-BE49-F238E27FC236}">
                <a16:creationId xmlns:a16="http://schemas.microsoft.com/office/drawing/2014/main" id="{ED9FACB8-4D6A-044F-997F-E09503AC15AA}"/>
              </a:ext>
            </a:extLst>
          </p:cNvPr>
          <p:cNvSpPr/>
          <p:nvPr/>
        </p:nvSpPr>
        <p:spPr>
          <a:xfrm>
            <a:off x="4326350" y="4105485"/>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0" name="Matrix cell (0,2)">
            <a:extLst>
              <a:ext uri="{FF2B5EF4-FFF2-40B4-BE49-F238E27FC236}">
                <a16:creationId xmlns:a16="http://schemas.microsoft.com/office/drawing/2014/main" id="{DE25E670-FAB3-667C-5777-C71ED9075845}"/>
              </a:ext>
            </a:extLst>
          </p:cNvPr>
          <p:cNvSpPr/>
          <p:nvPr/>
        </p:nvSpPr>
        <p:spPr>
          <a:xfrm>
            <a:off x="4429185" y="4105485"/>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1" name="Matrix cell (0,3)">
            <a:extLst>
              <a:ext uri="{FF2B5EF4-FFF2-40B4-BE49-F238E27FC236}">
                <a16:creationId xmlns:a16="http://schemas.microsoft.com/office/drawing/2014/main" id="{D15A0AB1-9BF7-4E76-6CED-C525DFBAA5F7}"/>
              </a:ext>
            </a:extLst>
          </p:cNvPr>
          <p:cNvSpPr/>
          <p:nvPr/>
        </p:nvSpPr>
        <p:spPr>
          <a:xfrm>
            <a:off x="4532020" y="4105485"/>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2" name="Matrix cell (1,0)">
            <a:extLst>
              <a:ext uri="{FF2B5EF4-FFF2-40B4-BE49-F238E27FC236}">
                <a16:creationId xmlns:a16="http://schemas.microsoft.com/office/drawing/2014/main" id="{5C20FC23-8B30-D896-36CC-91D73273996F}"/>
              </a:ext>
            </a:extLst>
          </p:cNvPr>
          <p:cNvSpPr/>
          <p:nvPr/>
        </p:nvSpPr>
        <p:spPr>
          <a:xfrm>
            <a:off x="4223515" y="4176678"/>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3" name="Matrix cell (1,1)">
            <a:extLst>
              <a:ext uri="{FF2B5EF4-FFF2-40B4-BE49-F238E27FC236}">
                <a16:creationId xmlns:a16="http://schemas.microsoft.com/office/drawing/2014/main" id="{023C0380-7EA8-B629-5738-AD00698F49B6}"/>
              </a:ext>
            </a:extLst>
          </p:cNvPr>
          <p:cNvSpPr/>
          <p:nvPr/>
        </p:nvSpPr>
        <p:spPr>
          <a:xfrm>
            <a:off x="4326350" y="4176678"/>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4" name="Matrix cell (1,2)">
            <a:extLst>
              <a:ext uri="{FF2B5EF4-FFF2-40B4-BE49-F238E27FC236}">
                <a16:creationId xmlns:a16="http://schemas.microsoft.com/office/drawing/2014/main" id="{12FBEABC-63F9-0304-4A97-80811BFE2B66}"/>
              </a:ext>
            </a:extLst>
          </p:cNvPr>
          <p:cNvSpPr/>
          <p:nvPr/>
        </p:nvSpPr>
        <p:spPr>
          <a:xfrm>
            <a:off x="4429185" y="4176678"/>
            <a:ext cx="102835" cy="71193"/>
          </a:xfrm>
          <a:prstGeom prst="rect">
            <a:avLst/>
          </a:prstGeom>
          <a:solidFill>
            <a:srgbClr val="3C9486"/>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5" name="Matrix cell (1,3)">
            <a:extLst>
              <a:ext uri="{FF2B5EF4-FFF2-40B4-BE49-F238E27FC236}">
                <a16:creationId xmlns:a16="http://schemas.microsoft.com/office/drawing/2014/main" id="{90D1E1D0-D1D8-F490-5B4D-27F3093D1ECE}"/>
              </a:ext>
            </a:extLst>
          </p:cNvPr>
          <p:cNvSpPr/>
          <p:nvPr/>
        </p:nvSpPr>
        <p:spPr>
          <a:xfrm>
            <a:off x="4532020" y="4176678"/>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6" name="Matrix cell (2,0)">
            <a:extLst>
              <a:ext uri="{FF2B5EF4-FFF2-40B4-BE49-F238E27FC236}">
                <a16:creationId xmlns:a16="http://schemas.microsoft.com/office/drawing/2014/main" id="{158A66BE-E7B7-0506-657E-0BF13A0E4F5E}"/>
              </a:ext>
            </a:extLst>
          </p:cNvPr>
          <p:cNvSpPr/>
          <p:nvPr/>
        </p:nvSpPr>
        <p:spPr>
          <a:xfrm>
            <a:off x="4223515" y="4247872"/>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7" name="Matrix cell (2,1)">
            <a:extLst>
              <a:ext uri="{FF2B5EF4-FFF2-40B4-BE49-F238E27FC236}">
                <a16:creationId xmlns:a16="http://schemas.microsoft.com/office/drawing/2014/main" id="{3B18D166-F88A-573E-0225-1ACB99CB2512}"/>
              </a:ext>
            </a:extLst>
          </p:cNvPr>
          <p:cNvSpPr/>
          <p:nvPr/>
        </p:nvSpPr>
        <p:spPr>
          <a:xfrm>
            <a:off x="4326350" y="4247872"/>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8" name="Matrix cell (2,2)">
            <a:extLst>
              <a:ext uri="{FF2B5EF4-FFF2-40B4-BE49-F238E27FC236}">
                <a16:creationId xmlns:a16="http://schemas.microsoft.com/office/drawing/2014/main" id="{FC858539-3EA9-E4FE-E803-0C8FFAD3870F}"/>
              </a:ext>
            </a:extLst>
          </p:cNvPr>
          <p:cNvSpPr/>
          <p:nvPr/>
        </p:nvSpPr>
        <p:spPr>
          <a:xfrm>
            <a:off x="4429185" y="4247872"/>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9" name="Matrix cell (2,3)">
            <a:extLst>
              <a:ext uri="{FF2B5EF4-FFF2-40B4-BE49-F238E27FC236}">
                <a16:creationId xmlns:a16="http://schemas.microsoft.com/office/drawing/2014/main" id="{3713326C-75C4-31D8-12F4-1CA18BF652D7}"/>
              </a:ext>
            </a:extLst>
          </p:cNvPr>
          <p:cNvSpPr/>
          <p:nvPr/>
        </p:nvSpPr>
        <p:spPr>
          <a:xfrm>
            <a:off x="4532020" y="4247872"/>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50" name="TextBox 12294">
            <a:extLst>
              <a:ext uri="{FF2B5EF4-FFF2-40B4-BE49-F238E27FC236}">
                <a16:creationId xmlns:a16="http://schemas.microsoft.com/office/drawing/2014/main" id="{E992C05A-634A-6CF2-2936-1480C4EA17F1}"/>
              </a:ext>
            </a:extLst>
          </p:cNvPr>
          <p:cNvSpPr txBox="1"/>
          <p:nvPr/>
        </p:nvSpPr>
        <p:spPr>
          <a:xfrm>
            <a:off x="4223516" y="4312989"/>
            <a:ext cx="411339" cy="82587"/>
          </a:xfrm>
          <a:prstGeom prst="rect">
            <a:avLst/>
          </a:prstGeom>
          <a:noFill/>
        </p:spPr>
        <p:txBody>
          <a:bodyPr wrap="square" lIns="0" tIns="0" rIns="0" bIns="0" anchor="ctr">
            <a:spAutoFit/>
          </a:bodyPr>
          <a:lstStyle/>
          <a:p>
            <a:pPr algn="ctr">
              <a:lnSpc>
                <a:spcPct val="105000"/>
              </a:lnSpc>
            </a:pPr>
            <a:r>
              <a:rPr sz="536">
                <a:solidFill>
                  <a:srgbClr val="263442"/>
                </a:solidFill>
                <a:latin typeface="Arial"/>
              </a:rPr>
              <a:t>J × K</a:t>
            </a:r>
          </a:p>
        </p:txBody>
      </p:sp>
      <p:grpSp>
        <p:nvGrpSpPr>
          <p:cNvPr id="751" name="组合 13795">
            <a:extLst>
              <a:ext uri="{FF2B5EF4-FFF2-40B4-BE49-F238E27FC236}">
                <a16:creationId xmlns:a16="http://schemas.microsoft.com/office/drawing/2014/main" id="{7EA912CF-516A-2745-A5D0-8704116A4D72}"/>
              </a:ext>
            </a:extLst>
          </p:cNvPr>
          <p:cNvGrpSpPr/>
          <p:nvPr/>
        </p:nvGrpSpPr>
        <p:grpSpPr>
          <a:xfrm>
            <a:off x="2038007" y="554865"/>
            <a:ext cx="1978883" cy="340209"/>
            <a:chOff x="6312668" y="2448732"/>
            <a:chExt cx="1215499" cy="343631"/>
          </a:xfrm>
        </p:grpSpPr>
        <p:pic>
          <p:nvPicPr>
            <p:cNvPr id="752" name="图片 12">
              <a:extLst>
                <a:ext uri="{FF2B5EF4-FFF2-40B4-BE49-F238E27FC236}">
                  <a16:creationId xmlns:a16="http://schemas.microsoft.com/office/drawing/2014/main" id="{521CB8EA-9697-F11D-7107-B4A42B988070}"/>
                </a:ext>
              </a:extLst>
            </p:cNvPr>
            <p:cNvPicPr>
              <a:picLocks/>
            </p:cNvPicPr>
            <p:nvPr/>
          </p:nvPicPr>
          <p:blipFill>
            <a:blip r:embed="rId5"/>
            <a:srcRect l="70243" t="-18171" b="-1"/>
            <a:stretch>
              <a:fillRect/>
            </a:stretch>
          </p:blipFill>
          <p:spPr>
            <a:xfrm>
              <a:off x="7112075" y="2448732"/>
              <a:ext cx="416092" cy="323855"/>
            </a:xfrm>
            <a:prstGeom prst="rect">
              <a:avLst/>
            </a:prstGeom>
          </p:spPr>
        </p:pic>
        <p:pic>
          <p:nvPicPr>
            <p:cNvPr id="753" name="图片 12">
              <a:extLst>
                <a:ext uri="{FF2B5EF4-FFF2-40B4-BE49-F238E27FC236}">
                  <a16:creationId xmlns:a16="http://schemas.microsoft.com/office/drawing/2014/main" id="{546466D8-C7C6-7C8A-3307-95F68FB4F610}"/>
                </a:ext>
              </a:extLst>
            </p:cNvPr>
            <p:cNvPicPr>
              <a:picLocks/>
            </p:cNvPicPr>
            <p:nvPr/>
          </p:nvPicPr>
          <p:blipFill>
            <a:blip r:embed="rId5"/>
            <a:srcRect r="70534" b="-8235"/>
            <a:stretch>
              <a:fillRect/>
            </a:stretch>
          </p:blipFill>
          <p:spPr>
            <a:xfrm>
              <a:off x="6312668" y="2495741"/>
              <a:ext cx="412024" cy="296622"/>
            </a:xfrm>
            <a:prstGeom prst="rect">
              <a:avLst/>
            </a:prstGeom>
          </p:spPr>
        </p:pic>
        <p:pic>
          <p:nvPicPr>
            <p:cNvPr id="754" name="Picture 10000" descr="unet_block_18.png">
              <a:extLst>
                <a:ext uri="{FF2B5EF4-FFF2-40B4-BE49-F238E27FC236}">
                  <a16:creationId xmlns:a16="http://schemas.microsoft.com/office/drawing/2014/main" id="{75A7694C-DEA5-AFE8-E284-0A0D89F845C1}"/>
                </a:ext>
              </a:extLst>
            </p:cNvPr>
            <p:cNvPicPr>
              <a:picLocks noChangeAspect="1"/>
            </p:cNvPicPr>
            <p:nvPr/>
          </p:nvPicPr>
          <p:blipFill>
            <a:blip r:embed="rId6"/>
            <a:stretch>
              <a:fillRect/>
            </a:stretch>
          </p:blipFill>
          <p:spPr>
            <a:xfrm>
              <a:off x="6776851" y="2645026"/>
              <a:ext cx="276863" cy="126566"/>
            </a:xfrm>
            <a:prstGeom prst="rect">
              <a:avLst/>
            </a:prstGeom>
          </p:spPr>
        </p:pic>
      </p:grpSp>
      <p:grpSp>
        <p:nvGrpSpPr>
          <p:cNvPr id="755" name="Find candidate blob 1">
            <a:extLst>
              <a:ext uri="{FF2B5EF4-FFF2-40B4-BE49-F238E27FC236}">
                <a16:creationId xmlns:a16="http://schemas.microsoft.com/office/drawing/2014/main" id="{3B821B97-56A6-DCED-E85F-DBF945F3EA13}"/>
              </a:ext>
            </a:extLst>
          </p:cNvPr>
          <p:cNvGrpSpPr/>
          <p:nvPr/>
        </p:nvGrpSpPr>
        <p:grpSpPr>
          <a:xfrm>
            <a:off x="4357668" y="1039644"/>
            <a:ext cx="163890" cy="111953"/>
            <a:chOff x="1928706" y="3559489"/>
            <a:chExt cx="227897" cy="155682"/>
          </a:xfrm>
        </p:grpSpPr>
        <p:sp>
          <p:nvSpPr>
            <p:cNvPr id="756" name="Candidate blob | editable contour">
              <a:extLst>
                <a:ext uri="{FF2B5EF4-FFF2-40B4-BE49-F238E27FC236}">
                  <a16:creationId xmlns:a16="http://schemas.microsoft.com/office/drawing/2014/main" id="{B3B117DA-D182-38E6-AD16-B4776AD2C7B7}"/>
                </a:ext>
              </a:extLst>
            </p:cNvPr>
            <p:cNvSpPr/>
            <p:nvPr/>
          </p:nvSpPr>
          <p:spPr>
            <a:xfrm>
              <a:off x="1928706" y="3559489"/>
              <a:ext cx="227897" cy="155682"/>
            </a:xfrm>
            <a:custGeom>
              <a:avLst/>
              <a:gdLst/>
              <a:ahLst/>
              <a:cxnLst/>
              <a:rect l="0" t="0" r="w" b="h"/>
              <a:pathLst>
                <a:path w="227897" h="155682" extrusionOk="0">
                  <a:moveTo>
                    <a:pt x="5338" y="97866"/>
                  </a:moveTo>
                  <a:cubicBezTo>
                    <a:pt x="0" y="80701"/>
                    <a:pt x="18889" y="54504"/>
                    <a:pt x="29976" y="43663"/>
                  </a:cubicBezTo>
                  <a:cubicBezTo>
                    <a:pt x="41062" y="32823"/>
                    <a:pt x="58719" y="39447"/>
                    <a:pt x="71859" y="32823"/>
                  </a:cubicBezTo>
                  <a:cubicBezTo>
                    <a:pt x="84999" y="26198"/>
                    <a:pt x="92391" y="7829"/>
                    <a:pt x="108816" y="3915"/>
                  </a:cubicBezTo>
                  <a:cubicBezTo>
                    <a:pt x="125241" y="0"/>
                    <a:pt x="153984" y="3613"/>
                    <a:pt x="170409" y="9335"/>
                  </a:cubicBezTo>
                  <a:cubicBezTo>
                    <a:pt x="186834" y="15056"/>
                    <a:pt x="198332" y="26198"/>
                    <a:pt x="207366" y="38243"/>
                  </a:cubicBezTo>
                  <a:cubicBezTo>
                    <a:pt x="216399" y="50288"/>
                    <a:pt x="227897" y="67151"/>
                    <a:pt x="224612" y="81605"/>
                  </a:cubicBezTo>
                  <a:cubicBezTo>
                    <a:pt x="221327" y="96059"/>
                    <a:pt x="203259" y="113223"/>
                    <a:pt x="187656" y="124967"/>
                  </a:cubicBezTo>
                  <a:cubicBezTo>
                    <a:pt x="172052" y="136711"/>
                    <a:pt x="151931" y="148455"/>
                    <a:pt x="130989" y="152068"/>
                  </a:cubicBezTo>
                  <a:cubicBezTo>
                    <a:pt x="110048" y="155682"/>
                    <a:pt x="82946" y="155682"/>
                    <a:pt x="62004" y="146648"/>
                  </a:cubicBezTo>
                  <a:cubicBezTo>
                    <a:pt x="41062" y="137614"/>
                    <a:pt x="10676" y="115030"/>
                    <a:pt x="5338" y="97866"/>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757" name="ellipse_2612">
              <a:extLst>
                <a:ext uri="{FF2B5EF4-FFF2-40B4-BE49-F238E27FC236}">
                  <a16:creationId xmlns:a16="http://schemas.microsoft.com/office/drawing/2014/main" id="{901C6437-E94C-AFDE-D242-E688A89ABBDB}"/>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grpSp>
        <p:nvGrpSpPr>
          <p:cNvPr id="758" name="Find candidate blob 2">
            <a:extLst>
              <a:ext uri="{FF2B5EF4-FFF2-40B4-BE49-F238E27FC236}">
                <a16:creationId xmlns:a16="http://schemas.microsoft.com/office/drawing/2014/main" id="{00C0C92B-D4C8-0994-E860-1581EB873D86}"/>
              </a:ext>
            </a:extLst>
          </p:cNvPr>
          <p:cNvGrpSpPr/>
          <p:nvPr/>
        </p:nvGrpSpPr>
        <p:grpSpPr>
          <a:xfrm>
            <a:off x="4352956" y="917369"/>
            <a:ext cx="168602" cy="95394"/>
            <a:chOff x="1928706" y="3559489"/>
            <a:chExt cx="227897" cy="155682"/>
          </a:xfrm>
        </p:grpSpPr>
        <p:sp>
          <p:nvSpPr>
            <p:cNvPr id="759" name="Candidate blob | editable contour">
              <a:extLst>
                <a:ext uri="{FF2B5EF4-FFF2-40B4-BE49-F238E27FC236}">
                  <a16:creationId xmlns:a16="http://schemas.microsoft.com/office/drawing/2014/main" id="{A172A8B3-EFA3-33C9-CD2B-307B24D7293D}"/>
                </a:ext>
              </a:extLst>
            </p:cNvPr>
            <p:cNvSpPr/>
            <p:nvPr/>
          </p:nvSpPr>
          <p:spPr>
            <a:xfrm>
              <a:off x="1928706" y="3559489"/>
              <a:ext cx="227897" cy="155682"/>
            </a:xfrm>
            <a:custGeom>
              <a:avLst/>
              <a:gdLst/>
              <a:ahLst/>
              <a:cxnLst/>
              <a:rect l="0" t="0" r="w" b="h"/>
              <a:pathLst>
                <a:path w="227897" h="155682" extrusionOk="0">
                  <a:moveTo>
                    <a:pt x="3521" y="100385"/>
                  </a:moveTo>
                  <a:cubicBezTo>
                    <a:pt x="0" y="80701"/>
                    <a:pt x="26006" y="62787"/>
                    <a:pt x="43453" y="54263"/>
                  </a:cubicBezTo>
                  <a:cubicBezTo>
                    <a:pt x="58843" y="43224"/>
                    <a:pt x="83460" y="52781"/>
                    <a:pt x="99588" y="43358"/>
                  </a:cubicBezTo>
                  <a:cubicBezTo>
                    <a:pt x="112436" y="32945"/>
                    <a:pt x="102548" y="9475"/>
                    <a:pt x="114181" y="4123"/>
                  </a:cubicBezTo>
                  <a:cubicBezTo>
                    <a:pt x="125241" y="0"/>
                    <a:pt x="158214" y="2398"/>
                    <a:pt x="179365" y="5837"/>
                  </a:cubicBezTo>
                  <a:cubicBezTo>
                    <a:pt x="197301" y="9996"/>
                    <a:pt x="210134" y="19340"/>
                    <a:pt x="216909" y="31256"/>
                  </a:cubicBezTo>
                  <a:cubicBezTo>
                    <a:pt x="221237" y="45342"/>
                    <a:pt x="227897" y="67151"/>
                    <a:pt x="224378" y="79920"/>
                  </a:cubicBezTo>
                  <a:cubicBezTo>
                    <a:pt x="219253" y="92918"/>
                    <a:pt x="191986" y="104353"/>
                    <a:pt x="170629" y="115250"/>
                  </a:cubicBezTo>
                  <a:cubicBezTo>
                    <a:pt x="155563" y="129736"/>
                    <a:pt x="143418" y="146104"/>
                    <a:pt x="126157" y="151452"/>
                  </a:cubicBezTo>
                  <a:cubicBezTo>
                    <a:pt x="110048" y="155682"/>
                    <a:pt x="82946" y="155682"/>
                    <a:pt x="52808" y="150002"/>
                  </a:cubicBezTo>
                  <a:cubicBezTo>
                    <a:pt x="28847" y="143645"/>
                    <a:pt x="5675" y="118994"/>
                    <a:pt x="3521" y="100385"/>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760" name="ellipse_2612">
              <a:extLst>
                <a:ext uri="{FF2B5EF4-FFF2-40B4-BE49-F238E27FC236}">
                  <a16:creationId xmlns:a16="http://schemas.microsoft.com/office/drawing/2014/main" id="{CF37E813-914E-4383-9CE9-1C5F4095124F}"/>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grpSp>
        <p:nvGrpSpPr>
          <p:cNvPr id="761" name="Find candidate blob 3">
            <a:extLst>
              <a:ext uri="{FF2B5EF4-FFF2-40B4-BE49-F238E27FC236}">
                <a16:creationId xmlns:a16="http://schemas.microsoft.com/office/drawing/2014/main" id="{D7299A48-8BF0-7050-EF56-14DA3F495CB7}"/>
              </a:ext>
            </a:extLst>
          </p:cNvPr>
          <p:cNvGrpSpPr/>
          <p:nvPr/>
        </p:nvGrpSpPr>
        <p:grpSpPr>
          <a:xfrm rot="364243">
            <a:off x="4559731" y="1028968"/>
            <a:ext cx="127658" cy="129194"/>
            <a:chOff x="1928706" y="3559489"/>
            <a:chExt cx="227897" cy="155682"/>
          </a:xfrm>
        </p:grpSpPr>
        <p:sp>
          <p:nvSpPr>
            <p:cNvPr id="762" name="Candidate blob | editable contour">
              <a:extLst>
                <a:ext uri="{FF2B5EF4-FFF2-40B4-BE49-F238E27FC236}">
                  <a16:creationId xmlns:a16="http://schemas.microsoft.com/office/drawing/2014/main" id="{8902F596-0D84-3C56-EB93-D63FC7E9041E}"/>
                </a:ext>
              </a:extLst>
            </p:cNvPr>
            <p:cNvSpPr/>
            <p:nvPr/>
          </p:nvSpPr>
          <p:spPr>
            <a:xfrm>
              <a:off x="1928706" y="3559489"/>
              <a:ext cx="227897" cy="155682"/>
            </a:xfrm>
            <a:custGeom>
              <a:avLst/>
              <a:gdLst/>
              <a:ahLst/>
              <a:cxnLst/>
              <a:rect l="0" t="0" r="w" b="h"/>
              <a:pathLst>
                <a:path w="227897" h="155682" extrusionOk="0">
                  <a:moveTo>
                    <a:pt x="4633" y="103508"/>
                  </a:moveTo>
                  <a:cubicBezTo>
                    <a:pt x="0" y="80701"/>
                    <a:pt x="17781" y="72087"/>
                    <a:pt x="35225" y="64107"/>
                  </a:cubicBezTo>
                  <a:cubicBezTo>
                    <a:pt x="54476" y="49917"/>
                    <a:pt x="72264" y="52549"/>
                    <a:pt x="92778" y="35736"/>
                  </a:cubicBezTo>
                  <a:cubicBezTo>
                    <a:pt x="110195" y="21040"/>
                    <a:pt x="104326" y="5059"/>
                    <a:pt x="115221" y="1753"/>
                  </a:cubicBezTo>
                  <a:cubicBezTo>
                    <a:pt x="125241" y="0"/>
                    <a:pt x="159037" y="3786"/>
                    <a:pt x="180838" y="12966"/>
                  </a:cubicBezTo>
                  <a:cubicBezTo>
                    <a:pt x="198427" y="23372"/>
                    <a:pt x="209170" y="39484"/>
                    <a:pt x="212983" y="52913"/>
                  </a:cubicBezTo>
                  <a:cubicBezTo>
                    <a:pt x="216818" y="61184"/>
                    <a:pt x="227897" y="67151"/>
                    <a:pt x="223406" y="85389"/>
                  </a:cubicBezTo>
                  <a:cubicBezTo>
                    <a:pt x="220211" y="103077"/>
                    <a:pt x="208185" y="131257"/>
                    <a:pt x="201464" y="141174"/>
                  </a:cubicBezTo>
                  <a:cubicBezTo>
                    <a:pt x="189414" y="144450"/>
                    <a:pt x="161966" y="148455"/>
                    <a:pt x="136762" y="150513"/>
                  </a:cubicBezTo>
                  <a:cubicBezTo>
                    <a:pt x="110048" y="155682"/>
                    <a:pt x="82946" y="155682"/>
                    <a:pt x="72733" y="149421"/>
                  </a:cubicBezTo>
                  <a:cubicBezTo>
                    <a:pt x="54091" y="147525"/>
                    <a:pt x="13199" y="123788"/>
                    <a:pt x="4633" y="103508"/>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763" name="ellipse_2612">
              <a:extLst>
                <a:ext uri="{FF2B5EF4-FFF2-40B4-BE49-F238E27FC236}">
                  <a16:creationId xmlns:a16="http://schemas.microsoft.com/office/drawing/2014/main" id="{85D74281-2FE6-E2D2-EFBA-AF54A45686E3}"/>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sp>
        <p:nvSpPr>
          <p:cNvPr id="765" name="Find auxiliary label">
            <a:extLst>
              <a:ext uri="{FF2B5EF4-FFF2-40B4-BE49-F238E27FC236}">
                <a16:creationId xmlns:a16="http://schemas.microsoft.com/office/drawing/2014/main" id="{CAD88599-B783-720B-B6BD-9F787FCB6CF4}"/>
              </a:ext>
            </a:extLst>
          </p:cNvPr>
          <p:cNvSpPr>
            <a:spLocks noGrp="1"/>
          </p:cNvSpPr>
          <p:nvPr/>
        </p:nvSpPr>
        <p:spPr>
          <a:xfrm>
            <a:off x="4315962" y="1518303"/>
            <a:ext cx="433362" cy="157954"/>
          </a:xfrm>
          <a:prstGeom prst="rect">
            <a:avLst/>
          </a:prstGeom>
          <a:noFill/>
          <a:ln w="6885">
            <a:noFill/>
            <a:prstDash val="solid"/>
          </a:ln>
        </p:spPr>
        <p:txBody>
          <a:bodyPr lIns="0" tIns="0" rIns="0" bIns="0" anchor="ctr"/>
          <a:lstStyle>
            <a:defPPr algn="ctr">
              <a:defRPr sz="590" b="0">
                <a:solidFill>
                  <a:srgbClr val="263442"/>
                </a:solidFill>
                <a:latin typeface="Arial"/>
                <a:ea typeface="Arial"/>
                <a:cs typeface="Arial"/>
              </a:defRPr>
            </a:defPPr>
            <a:lvl1pPr algn="ctr">
              <a:defRPr sz="590" b="0">
                <a:solidFill>
                  <a:srgbClr val="263442"/>
                </a:solidFill>
                <a:latin typeface="Arial"/>
                <a:ea typeface="Arial"/>
                <a:cs typeface="Arial"/>
              </a:defRPr>
            </a:lvl1pPr>
            <a:lvl2pPr algn="ctr">
              <a:defRPr sz="590" b="0">
                <a:solidFill>
                  <a:srgbClr val="263442"/>
                </a:solidFill>
                <a:latin typeface="Arial"/>
                <a:ea typeface="Arial"/>
                <a:cs typeface="Arial"/>
              </a:defRPr>
            </a:lvl2pPr>
            <a:lvl3pPr algn="ctr">
              <a:defRPr sz="590" b="0">
                <a:solidFill>
                  <a:srgbClr val="263442"/>
                </a:solidFill>
                <a:latin typeface="Arial"/>
                <a:ea typeface="Arial"/>
                <a:cs typeface="Arial"/>
              </a:defRPr>
            </a:lvl3pPr>
            <a:lvl4pPr algn="ctr">
              <a:defRPr sz="590" b="0">
                <a:solidFill>
                  <a:srgbClr val="263442"/>
                </a:solidFill>
                <a:latin typeface="Arial"/>
                <a:ea typeface="Arial"/>
                <a:cs typeface="Arial"/>
              </a:defRPr>
            </a:lvl4pPr>
            <a:lvl5pPr algn="ctr">
              <a:defRPr sz="590" b="0">
                <a:solidFill>
                  <a:srgbClr val="263442"/>
                </a:solidFill>
                <a:latin typeface="Arial"/>
                <a:ea typeface="Arial"/>
                <a:cs typeface="Arial"/>
              </a:defRPr>
            </a:lvl5pPr>
            <a:lvl6pPr algn="ctr">
              <a:defRPr sz="590" b="0">
                <a:solidFill>
                  <a:srgbClr val="263442"/>
                </a:solidFill>
                <a:latin typeface="Arial"/>
                <a:ea typeface="Arial"/>
                <a:cs typeface="Arial"/>
              </a:defRPr>
            </a:lvl6pPr>
            <a:lvl7pPr algn="ctr">
              <a:defRPr sz="590" b="0">
                <a:solidFill>
                  <a:srgbClr val="263442"/>
                </a:solidFill>
                <a:latin typeface="Arial"/>
                <a:ea typeface="Arial"/>
                <a:cs typeface="Arial"/>
              </a:defRPr>
            </a:lvl7pPr>
            <a:lvl8pPr algn="ctr">
              <a:defRPr sz="590" b="0">
                <a:solidFill>
                  <a:srgbClr val="263442"/>
                </a:solidFill>
                <a:latin typeface="Arial"/>
                <a:ea typeface="Arial"/>
                <a:cs typeface="Arial"/>
              </a:defRPr>
            </a:lvl8pPr>
            <a:lvl9pPr algn="ctr">
              <a:defRPr sz="590" b="0">
                <a:solidFill>
                  <a:srgbClr val="263442"/>
                </a:solidFill>
                <a:latin typeface="Arial"/>
                <a:ea typeface="Arial"/>
                <a:cs typeface="Arial"/>
              </a:defRPr>
            </a:lvl9pPr>
          </a:lstStyle>
          <a:p>
            <a:pPr algn="ctr">
              <a:defRPr sz="590" b="0">
                <a:solidFill>
                  <a:srgbClr val="263442"/>
                </a:solidFill>
                <a:latin typeface="Arial"/>
                <a:ea typeface="Arial"/>
                <a:cs typeface="Arial"/>
              </a:defRPr>
            </a:pPr>
            <a:r>
              <a:rPr sz="590" dirty="0">
                <a:solidFill>
                  <a:srgbClr val="263442"/>
                </a:solidFill>
                <a:latin typeface="Arial"/>
                <a:ea typeface="Arial"/>
                <a:cs typeface="Arial"/>
              </a:rPr>
              <a:t>Auxiliary</a:t>
            </a:r>
          </a:p>
          <a:p>
            <a:pPr algn="ctr">
              <a:defRPr sz="590" b="0">
                <a:solidFill>
                  <a:srgbClr val="263442"/>
                </a:solidFill>
                <a:latin typeface="Arial"/>
                <a:ea typeface="Arial"/>
                <a:cs typeface="Arial"/>
              </a:defRPr>
            </a:pPr>
            <a:r>
              <a:rPr sz="590" dirty="0">
                <a:solidFill>
                  <a:srgbClr val="263442"/>
                </a:solidFill>
                <a:latin typeface="Arial"/>
                <a:ea typeface="Arial"/>
                <a:cs typeface="Arial"/>
              </a:rPr>
              <a:t>features</a:t>
            </a:r>
          </a:p>
        </p:txBody>
      </p:sp>
      <p:sp>
        <p:nvSpPr>
          <p:cNvPr id="766" name="Match auxiliary label">
            <a:extLst>
              <a:ext uri="{FF2B5EF4-FFF2-40B4-BE49-F238E27FC236}">
                <a16:creationId xmlns:a16="http://schemas.microsoft.com/office/drawing/2014/main" id="{C154BF4F-4214-59BC-DCE1-F9C23194AC63}"/>
              </a:ext>
            </a:extLst>
          </p:cNvPr>
          <p:cNvSpPr>
            <a:spLocks noGrp="1"/>
          </p:cNvSpPr>
          <p:nvPr/>
        </p:nvSpPr>
        <p:spPr>
          <a:xfrm>
            <a:off x="1539032" y="2843177"/>
            <a:ext cx="405011" cy="174155"/>
          </a:xfrm>
          <a:prstGeom prst="rect">
            <a:avLst/>
          </a:prstGeom>
          <a:noFill/>
          <a:ln w="6885">
            <a:noFill/>
            <a:prstDash val="solid"/>
          </a:ln>
        </p:spPr>
        <p:txBody>
          <a:bodyPr lIns="0" tIns="0" rIns="0" bIns="0" anchor="ctr"/>
          <a:lstStyle>
            <a:defPPr algn="ctr">
              <a:defRPr sz="590" b="1">
                <a:solidFill>
                  <a:srgbClr val="263442"/>
                </a:solidFill>
                <a:latin typeface="Arial"/>
                <a:ea typeface="Arial"/>
                <a:cs typeface="Arial"/>
              </a:defRPr>
            </a:defPPr>
            <a:lvl1pPr algn="ctr">
              <a:defRPr sz="590" b="1">
                <a:solidFill>
                  <a:srgbClr val="263442"/>
                </a:solidFill>
                <a:latin typeface="Arial"/>
                <a:ea typeface="Arial"/>
                <a:cs typeface="Arial"/>
              </a:defRPr>
            </a:lvl1pPr>
            <a:lvl2pPr algn="ctr">
              <a:defRPr sz="590" b="1">
                <a:solidFill>
                  <a:srgbClr val="263442"/>
                </a:solidFill>
                <a:latin typeface="Arial"/>
                <a:ea typeface="Arial"/>
                <a:cs typeface="Arial"/>
              </a:defRPr>
            </a:lvl2pPr>
            <a:lvl3pPr algn="ctr">
              <a:defRPr sz="590" b="1">
                <a:solidFill>
                  <a:srgbClr val="263442"/>
                </a:solidFill>
                <a:latin typeface="Arial"/>
                <a:ea typeface="Arial"/>
                <a:cs typeface="Arial"/>
              </a:defRPr>
            </a:lvl3pPr>
            <a:lvl4pPr algn="ctr">
              <a:defRPr sz="590" b="1">
                <a:solidFill>
                  <a:srgbClr val="263442"/>
                </a:solidFill>
                <a:latin typeface="Arial"/>
                <a:ea typeface="Arial"/>
                <a:cs typeface="Arial"/>
              </a:defRPr>
            </a:lvl4pPr>
            <a:lvl5pPr algn="ctr">
              <a:defRPr sz="590" b="1">
                <a:solidFill>
                  <a:srgbClr val="263442"/>
                </a:solidFill>
                <a:latin typeface="Arial"/>
                <a:ea typeface="Arial"/>
                <a:cs typeface="Arial"/>
              </a:defRPr>
            </a:lvl5pPr>
            <a:lvl6pPr algn="ctr">
              <a:defRPr sz="590" b="1">
                <a:solidFill>
                  <a:srgbClr val="263442"/>
                </a:solidFill>
                <a:latin typeface="Arial"/>
                <a:ea typeface="Arial"/>
                <a:cs typeface="Arial"/>
              </a:defRPr>
            </a:lvl6pPr>
            <a:lvl7pPr algn="ctr">
              <a:defRPr sz="590" b="1">
                <a:solidFill>
                  <a:srgbClr val="263442"/>
                </a:solidFill>
                <a:latin typeface="Arial"/>
                <a:ea typeface="Arial"/>
                <a:cs typeface="Arial"/>
              </a:defRPr>
            </a:lvl7pPr>
            <a:lvl8pPr algn="ctr">
              <a:defRPr sz="590" b="1">
                <a:solidFill>
                  <a:srgbClr val="263442"/>
                </a:solidFill>
                <a:latin typeface="Arial"/>
                <a:ea typeface="Arial"/>
                <a:cs typeface="Arial"/>
              </a:defRPr>
            </a:lvl8pPr>
            <a:lvl9pPr algn="ctr">
              <a:defRPr sz="590" b="1">
                <a:solidFill>
                  <a:srgbClr val="263442"/>
                </a:solidFill>
                <a:latin typeface="Arial"/>
                <a:ea typeface="Arial"/>
                <a:cs typeface="Arial"/>
              </a:defRPr>
            </a:lvl9pPr>
          </a:lstStyle>
          <a:p>
            <a:pPr algn="ctr">
              <a:defRPr sz="590" b="1">
                <a:solidFill>
                  <a:srgbClr val="263442"/>
                </a:solidFill>
                <a:latin typeface="Arial"/>
                <a:ea typeface="Arial"/>
                <a:cs typeface="Arial"/>
              </a:defRPr>
            </a:pPr>
            <a:r>
              <a:rPr sz="590" b="0" dirty="0">
                <a:solidFill>
                  <a:srgbClr val="263442"/>
                </a:solidFill>
                <a:latin typeface="Arial"/>
                <a:ea typeface="Arial"/>
                <a:cs typeface="Arial"/>
              </a:rPr>
              <a:t>Auxiliary</a:t>
            </a:r>
          </a:p>
          <a:p>
            <a:pPr algn="ctr">
              <a:defRPr sz="590" b="1">
                <a:solidFill>
                  <a:srgbClr val="263442"/>
                </a:solidFill>
                <a:latin typeface="Arial"/>
                <a:ea typeface="Arial"/>
                <a:cs typeface="Arial"/>
              </a:defRPr>
            </a:pPr>
            <a:r>
              <a:rPr sz="590" b="0" dirty="0">
                <a:solidFill>
                  <a:srgbClr val="263442"/>
                </a:solidFill>
                <a:latin typeface="Arial"/>
                <a:ea typeface="Arial"/>
                <a:cs typeface="Arial"/>
              </a:rPr>
              <a:t>features</a:t>
            </a:r>
          </a:p>
        </p:txBody>
      </p:sp>
      <p:sp>
        <p:nvSpPr>
          <p:cNvPr id="767" name="Concat label">
            <a:extLst>
              <a:ext uri="{FF2B5EF4-FFF2-40B4-BE49-F238E27FC236}">
                <a16:creationId xmlns:a16="http://schemas.microsoft.com/office/drawing/2014/main" id="{9D20C35C-694E-CDD5-F90A-040BE36EEE21}"/>
              </a:ext>
            </a:extLst>
          </p:cNvPr>
          <p:cNvSpPr>
            <a:spLocks noGrp="1"/>
          </p:cNvSpPr>
          <p:nvPr/>
        </p:nvSpPr>
        <p:spPr>
          <a:xfrm>
            <a:off x="1141938" y="3608830"/>
            <a:ext cx="259207" cy="81002"/>
          </a:xfrm>
          <a:prstGeom prst="rect">
            <a:avLst/>
          </a:prstGeom>
          <a:noFill/>
          <a:ln w="6885">
            <a:noFill/>
            <a:prstDash val="solid"/>
          </a:ln>
        </p:spPr>
        <p:txBody>
          <a:bodyPr lIns="0" tIns="0" rIns="0" bIns="0" anchor="ctr"/>
          <a:lstStyle>
            <a:defPPr algn="ctr">
              <a:defRPr sz="568" b="0">
                <a:solidFill>
                  <a:srgbClr val="263442"/>
                </a:solidFill>
                <a:latin typeface="Arial"/>
                <a:ea typeface="Arial"/>
                <a:cs typeface="Arial"/>
              </a:defRPr>
            </a:defPPr>
            <a:lvl1pPr algn="ctr">
              <a:defRPr sz="568" b="0">
                <a:solidFill>
                  <a:srgbClr val="263442"/>
                </a:solidFill>
                <a:latin typeface="Arial"/>
                <a:ea typeface="Arial"/>
                <a:cs typeface="Arial"/>
              </a:defRPr>
            </a:lvl1pPr>
            <a:lvl2pPr algn="ctr">
              <a:defRPr sz="568" b="0">
                <a:solidFill>
                  <a:srgbClr val="263442"/>
                </a:solidFill>
                <a:latin typeface="Arial"/>
                <a:ea typeface="Arial"/>
                <a:cs typeface="Arial"/>
              </a:defRPr>
            </a:lvl2pPr>
            <a:lvl3pPr algn="ctr">
              <a:defRPr sz="568" b="0">
                <a:solidFill>
                  <a:srgbClr val="263442"/>
                </a:solidFill>
                <a:latin typeface="Arial"/>
                <a:ea typeface="Arial"/>
                <a:cs typeface="Arial"/>
              </a:defRPr>
            </a:lvl3pPr>
            <a:lvl4pPr algn="ctr">
              <a:defRPr sz="568" b="0">
                <a:solidFill>
                  <a:srgbClr val="263442"/>
                </a:solidFill>
                <a:latin typeface="Arial"/>
                <a:ea typeface="Arial"/>
                <a:cs typeface="Arial"/>
              </a:defRPr>
            </a:lvl4pPr>
            <a:lvl5pPr algn="ctr">
              <a:defRPr sz="568" b="0">
                <a:solidFill>
                  <a:srgbClr val="263442"/>
                </a:solidFill>
                <a:latin typeface="Arial"/>
                <a:ea typeface="Arial"/>
                <a:cs typeface="Arial"/>
              </a:defRPr>
            </a:lvl5pPr>
            <a:lvl6pPr algn="ctr">
              <a:defRPr sz="568" b="0">
                <a:solidFill>
                  <a:srgbClr val="263442"/>
                </a:solidFill>
                <a:latin typeface="Arial"/>
                <a:ea typeface="Arial"/>
                <a:cs typeface="Arial"/>
              </a:defRPr>
            </a:lvl6pPr>
            <a:lvl7pPr algn="ctr">
              <a:defRPr sz="568" b="0">
                <a:solidFill>
                  <a:srgbClr val="263442"/>
                </a:solidFill>
                <a:latin typeface="Arial"/>
                <a:ea typeface="Arial"/>
                <a:cs typeface="Arial"/>
              </a:defRPr>
            </a:lvl7pPr>
            <a:lvl8pPr algn="ctr">
              <a:defRPr sz="568" b="0">
                <a:solidFill>
                  <a:srgbClr val="263442"/>
                </a:solidFill>
                <a:latin typeface="Arial"/>
                <a:ea typeface="Arial"/>
                <a:cs typeface="Arial"/>
              </a:defRPr>
            </a:lvl8pPr>
            <a:lvl9pPr algn="ctr">
              <a:defRPr sz="568" b="0">
                <a:solidFill>
                  <a:srgbClr val="263442"/>
                </a:solidFill>
                <a:latin typeface="Arial"/>
                <a:ea typeface="Arial"/>
                <a:cs typeface="Arial"/>
              </a:defRPr>
            </a:lvl9pPr>
          </a:lstStyle>
          <a:p>
            <a:pPr algn="ctr">
              <a:defRPr sz="568" b="0">
                <a:solidFill>
                  <a:srgbClr val="263442"/>
                </a:solidFill>
                <a:latin typeface="Arial"/>
                <a:ea typeface="Arial"/>
                <a:cs typeface="Arial"/>
              </a:defRPr>
            </a:pPr>
            <a:r>
              <a:rPr sz="568" dirty="0" err="1">
                <a:solidFill>
                  <a:srgbClr val="263442"/>
                </a:solidFill>
                <a:latin typeface="Arial"/>
                <a:ea typeface="Arial"/>
                <a:cs typeface="Arial"/>
              </a:rPr>
              <a:t>Concat</a:t>
            </a:r>
            <a:endParaRPr sz="568" dirty="0">
              <a:solidFill>
                <a:srgbClr val="263442"/>
              </a:solidFill>
              <a:latin typeface="Arial"/>
              <a:ea typeface="Arial"/>
              <a:cs typeface="Arial"/>
            </a:endParaRPr>
          </a:p>
        </p:txBody>
      </p:sp>
      <p:grpSp>
        <p:nvGrpSpPr>
          <p:cNvPr id="1248" name="Unified flow and feature elements">
            <a:extLst>
              <a:ext uri="{FF2B5EF4-FFF2-40B4-BE49-F238E27FC236}">
                <a16:creationId xmlns:a16="http://schemas.microsoft.com/office/drawing/2014/main" id="{DA74696D-FF4F-021F-A459-9CD0851351CF}"/>
              </a:ext>
            </a:extLst>
          </p:cNvPr>
          <p:cNvGrpSpPr/>
          <p:nvPr/>
        </p:nvGrpSpPr>
        <p:grpSpPr>
          <a:xfrm>
            <a:off x="906174" y="284723"/>
            <a:ext cx="3778711" cy="3984382"/>
            <a:chOff x="2131133" y="669608"/>
            <a:chExt cx="8886725" cy="9370426"/>
          </a:xfrm>
        </p:grpSpPr>
        <p:sp>
          <p:nvSpPr>
            <p:cNvPr id="1249" name="Preprocessing refined">
              <a:extLst>
                <a:ext uri="{FF2B5EF4-FFF2-40B4-BE49-F238E27FC236}">
                  <a16:creationId xmlns:a16="http://schemas.microsoft.com/office/drawing/2014/main" id="{A3A31885-181B-CF24-BE30-3ED8DAACE460}"/>
                </a:ext>
              </a:extLst>
            </p:cNvPr>
            <p:cNvSpPr>
              <a:spLocks noGrp="1"/>
            </p:cNvSpPr>
            <p:nvPr/>
          </p:nvSpPr>
          <p:spPr>
            <a:xfrm>
              <a:off x="3122581" y="669608"/>
              <a:ext cx="1028701" cy="3460433"/>
            </a:xfrm>
            <a:prstGeom prst="roundRect">
              <a:avLst>
                <a:gd name="adj" fmla="val 6481"/>
              </a:avLst>
            </a:prstGeom>
            <a:solidFill>
              <a:srgbClr val="E8EFF7"/>
            </a:solidFill>
            <a:ln w="7290">
              <a:solidFill>
                <a:srgbClr val="BEC7CE"/>
              </a:solidFill>
            </a:ln>
          </p:spPr>
        </p:sp>
        <p:sp>
          <p:nvSpPr>
            <p:cNvPr id="1250" name="Preprocessing divider refined">
              <a:extLst>
                <a:ext uri="{FF2B5EF4-FFF2-40B4-BE49-F238E27FC236}">
                  <a16:creationId xmlns:a16="http://schemas.microsoft.com/office/drawing/2014/main" id="{E21BD2F9-92DD-96F0-3AAF-0957638A49FB}"/>
                </a:ext>
              </a:extLst>
            </p:cNvPr>
            <p:cNvSpPr>
              <a:spLocks noGrp="1"/>
            </p:cNvSpPr>
            <p:nvPr/>
          </p:nvSpPr>
          <p:spPr>
            <a:xfrm>
              <a:off x="3199219" y="2418363"/>
              <a:ext cx="800100" cy="190"/>
            </a:xfrm>
            <a:custGeom>
              <a:avLst/>
              <a:gdLst/>
              <a:ahLst/>
              <a:cxnLst/>
              <a:rect l="0" t="0" r="0" b="0"/>
              <a:pathLst>
                <a:path w="800100" h="191">
                  <a:moveTo>
                    <a:pt x="0" y="0"/>
                  </a:moveTo>
                  <a:lnTo>
                    <a:pt x="800100" y="0"/>
                  </a:lnTo>
                </a:path>
              </a:pathLst>
            </a:custGeom>
            <a:noFill/>
            <a:ln w="6075">
              <a:solidFill>
                <a:srgbClr val="C8CFD4"/>
              </a:solidFill>
              <a:prstDash val="solid"/>
            </a:ln>
          </p:spPr>
        </p:sp>
        <p:sp>
          <p:nvSpPr>
            <p:cNvPr id="1251" name="Density bank refined">
              <a:extLst>
                <a:ext uri="{FF2B5EF4-FFF2-40B4-BE49-F238E27FC236}">
                  <a16:creationId xmlns:a16="http://schemas.microsoft.com/office/drawing/2014/main" id="{1E51E71A-A2BC-0776-E4CA-D30FBB1BE241}"/>
                </a:ext>
              </a:extLst>
            </p:cNvPr>
            <p:cNvSpPr>
              <a:spLocks noGrp="1"/>
            </p:cNvSpPr>
            <p:nvPr/>
          </p:nvSpPr>
          <p:spPr>
            <a:xfrm>
              <a:off x="3160769" y="695478"/>
              <a:ext cx="990599" cy="457199"/>
            </a:xfrm>
            <a:prstGeom prst="rect">
              <a:avLst/>
            </a:prstGeom>
            <a:noFill/>
            <a:ln w="7290">
              <a:noFill/>
            </a:ln>
          </p:spPr>
          <p:txBody>
            <a:bodyPr lIns="0" tIns="0" rIns="0" bIns="0" anchor="ctr"/>
            <a:lstStyle>
              <a:defPPr algn="ctr">
                <a:defRPr sz="612">
                  <a:solidFill>
                    <a:srgbClr val="263442"/>
                  </a:solidFill>
                  <a:latin typeface="Arial"/>
                  <a:ea typeface="Arial"/>
                  <a:cs typeface="Arial"/>
                </a:defRPr>
              </a:defPPr>
              <a:lvl1pPr algn="ctr">
                <a:defRPr sz="612">
                  <a:solidFill>
                    <a:srgbClr val="263442"/>
                  </a:solidFill>
                  <a:latin typeface="Arial"/>
                  <a:ea typeface="Arial"/>
                  <a:cs typeface="Arial"/>
                </a:defRPr>
              </a:lvl1pPr>
              <a:lvl2pPr algn="ctr">
                <a:defRPr sz="612">
                  <a:solidFill>
                    <a:srgbClr val="263442"/>
                  </a:solidFill>
                  <a:latin typeface="Arial"/>
                  <a:ea typeface="Arial"/>
                  <a:cs typeface="Arial"/>
                </a:defRPr>
              </a:lvl2pPr>
              <a:lvl3pPr algn="ctr">
                <a:defRPr sz="612">
                  <a:solidFill>
                    <a:srgbClr val="263442"/>
                  </a:solidFill>
                  <a:latin typeface="Arial"/>
                  <a:ea typeface="Arial"/>
                  <a:cs typeface="Arial"/>
                </a:defRPr>
              </a:lvl3pPr>
              <a:lvl4pPr algn="ctr">
                <a:defRPr sz="612">
                  <a:solidFill>
                    <a:srgbClr val="263442"/>
                  </a:solidFill>
                  <a:latin typeface="Arial"/>
                  <a:ea typeface="Arial"/>
                  <a:cs typeface="Arial"/>
                </a:defRPr>
              </a:lvl4pPr>
              <a:lvl5pPr algn="ctr">
                <a:defRPr sz="612">
                  <a:solidFill>
                    <a:srgbClr val="263442"/>
                  </a:solidFill>
                  <a:latin typeface="Arial"/>
                  <a:ea typeface="Arial"/>
                  <a:cs typeface="Arial"/>
                </a:defRPr>
              </a:lvl5pPr>
              <a:lvl6pPr algn="ctr">
                <a:defRPr sz="612">
                  <a:solidFill>
                    <a:srgbClr val="263442"/>
                  </a:solidFill>
                  <a:latin typeface="Arial"/>
                  <a:ea typeface="Arial"/>
                  <a:cs typeface="Arial"/>
                </a:defRPr>
              </a:lvl6pPr>
              <a:lvl7pPr algn="ctr">
                <a:defRPr sz="612">
                  <a:solidFill>
                    <a:srgbClr val="263442"/>
                  </a:solidFill>
                  <a:latin typeface="Arial"/>
                  <a:ea typeface="Arial"/>
                  <a:cs typeface="Arial"/>
                </a:defRPr>
              </a:lvl7pPr>
              <a:lvl8pPr algn="ctr">
                <a:defRPr sz="612">
                  <a:solidFill>
                    <a:srgbClr val="263442"/>
                  </a:solidFill>
                  <a:latin typeface="Arial"/>
                  <a:ea typeface="Arial"/>
                  <a:cs typeface="Arial"/>
                </a:defRPr>
              </a:lvl8pPr>
              <a:lvl9pPr algn="ctr">
                <a:defRPr sz="612">
                  <a:solidFill>
                    <a:srgbClr val="263442"/>
                  </a:solidFill>
                  <a:latin typeface="Arial"/>
                  <a:ea typeface="Arial"/>
                  <a:cs typeface="Arial"/>
                </a:defRPr>
              </a:lvl9pPr>
            </a:lstStyle>
            <a:p>
              <a:pPr algn="ctr">
                <a:defRPr sz="612">
                  <a:solidFill>
                    <a:srgbClr val="263442"/>
                  </a:solidFill>
                  <a:latin typeface="Arial"/>
                  <a:ea typeface="Arial"/>
                  <a:cs typeface="Arial"/>
                </a:defRPr>
              </a:pPr>
              <a:r>
                <a:rPr sz="550" dirty="0">
                  <a:solidFill>
                    <a:srgbClr val="263442"/>
                  </a:solidFill>
                  <a:latin typeface="Arial"/>
                  <a:ea typeface="Arial"/>
                  <a:cs typeface="Arial"/>
                </a:rPr>
                <a:t>Density</a:t>
              </a:r>
            </a:p>
            <a:p>
              <a:pPr algn="ctr">
                <a:defRPr sz="612">
                  <a:solidFill>
                    <a:srgbClr val="263442"/>
                  </a:solidFill>
                  <a:latin typeface="Arial"/>
                  <a:ea typeface="Arial"/>
                  <a:cs typeface="Arial"/>
                </a:defRPr>
              </a:pPr>
              <a:r>
                <a:rPr lang="en-US" sz="550" dirty="0">
                  <a:solidFill>
                    <a:srgbClr val="263442"/>
                  </a:solidFill>
                  <a:latin typeface="Arial"/>
                  <a:ea typeface="Arial"/>
                  <a:cs typeface="Arial"/>
                </a:rPr>
                <a:t>B</a:t>
              </a:r>
              <a:r>
                <a:rPr sz="550" dirty="0">
                  <a:solidFill>
                    <a:srgbClr val="263442"/>
                  </a:solidFill>
                  <a:latin typeface="Arial"/>
                  <a:ea typeface="Arial"/>
                  <a:cs typeface="Arial"/>
                </a:rPr>
                <a:t>ank</a:t>
              </a:r>
            </a:p>
          </p:txBody>
        </p:sp>
        <p:sp>
          <p:nvSpPr>
            <p:cNvPr id="1252" name="Embedding head refined">
              <a:extLst>
                <a:ext uri="{FF2B5EF4-FFF2-40B4-BE49-F238E27FC236}">
                  <a16:creationId xmlns:a16="http://schemas.microsoft.com/office/drawing/2014/main" id="{58C61B38-F8DB-1F98-DEE4-C9D7130E2730}"/>
                </a:ext>
              </a:extLst>
            </p:cNvPr>
            <p:cNvSpPr>
              <a:spLocks noGrp="1"/>
            </p:cNvSpPr>
            <p:nvPr/>
          </p:nvSpPr>
          <p:spPr>
            <a:xfrm>
              <a:off x="3122433" y="2542570"/>
              <a:ext cx="990599" cy="457199"/>
            </a:xfrm>
            <a:prstGeom prst="rect">
              <a:avLst/>
            </a:prstGeom>
            <a:noFill/>
            <a:ln w="7290">
              <a:noFill/>
            </a:ln>
          </p:spPr>
          <p:txBody>
            <a:bodyPr lIns="0" tIns="0" rIns="0" bIns="0" anchor="ctr"/>
            <a:lstStyle>
              <a:defPPr algn="ctr">
                <a:defRPr sz="612">
                  <a:solidFill>
                    <a:srgbClr val="263442"/>
                  </a:solidFill>
                  <a:latin typeface="Arial"/>
                  <a:ea typeface="Arial"/>
                  <a:cs typeface="Arial"/>
                </a:defRPr>
              </a:defPPr>
              <a:lvl1pPr algn="ctr">
                <a:defRPr sz="612">
                  <a:solidFill>
                    <a:srgbClr val="263442"/>
                  </a:solidFill>
                  <a:latin typeface="Arial"/>
                  <a:ea typeface="Arial"/>
                  <a:cs typeface="Arial"/>
                </a:defRPr>
              </a:lvl1pPr>
              <a:lvl2pPr algn="ctr">
                <a:defRPr sz="612">
                  <a:solidFill>
                    <a:srgbClr val="263442"/>
                  </a:solidFill>
                  <a:latin typeface="Arial"/>
                  <a:ea typeface="Arial"/>
                  <a:cs typeface="Arial"/>
                </a:defRPr>
              </a:lvl2pPr>
              <a:lvl3pPr algn="ctr">
                <a:defRPr sz="612">
                  <a:solidFill>
                    <a:srgbClr val="263442"/>
                  </a:solidFill>
                  <a:latin typeface="Arial"/>
                  <a:ea typeface="Arial"/>
                  <a:cs typeface="Arial"/>
                </a:defRPr>
              </a:lvl3pPr>
              <a:lvl4pPr algn="ctr">
                <a:defRPr sz="612">
                  <a:solidFill>
                    <a:srgbClr val="263442"/>
                  </a:solidFill>
                  <a:latin typeface="Arial"/>
                  <a:ea typeface="Arial"/>
                  <a:cs typeface="Arial"/>
                </a:defRPr>
              </a:lvl4pPr>
              <a:lvl5pPr algn="ctr">
                <a:defRPr sz="612">
                  <a:solidFill>
                    <a:srgbClr val="263442"/>
                  </a:solidFill>
                  <a:latin typeface="Arial"/>
                  <a:ea typeface="Arial"/>
                  <a:cs typeface="Arial"/>
                </a:defRPr>
              </a:lvl5pPr>
              <a:lvl6pPr algn="ctr">
                <a:defRPr sz="612">
                  <a:solidFill>
                    <a:srgbClr val="263442"/>
                  </a:solidFill>
                  <a:latin typeface="Arial"/>
                  <a:ea typeface="Arial"/>
                  <a:cs typeface="Arial"/>
                </a:defRPr>
              </a:lvl6pPr>
              <a:lvl7pPr algn="ctr">
                <a:defRPr sz="612">
                  <a:solidFill>
                    <a:srgbClr val="263442"/>
                  </a:solidFill>
                  <a:latin typeface="Arial"/>
                  <a:ea typeface="Arial"/>
                  <a:cs typeface="Arial"/>
                </a:defRPr>
              </a:lvl7pPr>
              <a:lvl8pPr algn="ctr">
                <a:defRPr sz="612">
                  <a:solidFill>
                    <a:srgbClr val="263442"/>
                  </a:solidFill>
                  <a:latin typeface="Arial"/>
                  <a:ea typeface="Arial"/>
                  <a:cs typeface="Arial"/>
                </a:defRPr>
              </a:lvl8pPr>
              <a:lvl9pPr algn="ctr">
                <a:defRPr sz="612">
                  <a:solidFill>
                    <a:srgbClr val="263442"/>
                  </a:solidFill>
                  <a:latin typeface="Arial"/>
                  <a:ea typeface="Arial"/>
                  <a:cs typeface="Arial"/>
                </a:defRPr>
              </a:lvl9pPr>
            </a:lstStyle>
            <a:p>
              <a:pPr algn="ctr">
                <a:defRPr sz="612">
                  <a:solidFill>
                    <a:srgbClr val="263442"/>
                  </a:solidFill>
                  <a:latin typeface="Arial"/>
                  <a:ea typeface="Arial"/>
                  <a:cs typeface="Arial"/>
                </a:defRPr>
              </a:pPr>
              <a:r>
                <a:rPr lang="en-US" sz="550" dirty="0">
                  <a:solidFill>
                    <a:srgbClr val="263442"/>
                  </a:solidFill>
                  <a:latin typeface="Arial"/>
                  <a:ea typeface="Arial"/>
                  <a:cs typeface="Arial"/>
                </a:rPr>
                <a:t>Atom embeddings</a:t>
              </a:r>
              <a:endParaRPr sz="550" dirty="0">
                <a:solidFill>
                  <a:srgbClr val="263442"/>
                </a:solidFill>
                <a:latin typeface="Arial"/>
                <a:ea typeface="Arial"/>
                <a:cs typeface="Arial"/>
              </a:endParaRPr>
            </a:p>
          </p:txBody>
        </p:sp>
        <p:sp>
          <p:nvSpPr>
            <p:cNvPr id="1253" name="Find matrix 0-0">
              <a:extLst>
                <a:ext uri="{FF2B5EF4-FFF2-40B4-BE49-F238E27FC236}">
                  <a16:creationId xmlns:a16="http://schemas.microsoft.com/office/drawing/2014/main" id="{BBF0C328-3AF9-A068-FA92-FBF890856A66}"/>
                </a:ext>
              </a:extLst>
            </p:cNvPr>
            <p:cNvSpPr>
              <a:spLocks noGrp="1"/>
            </p:cNvSpPr>
            <p:nvPr/>
          </p:nvSpPr>
          <p:spPr>
            <a:xfrm>
              <a:off x="10255382" y="3200400"/>
              <a:ext cx="91559" cy="70009"/>
            </a:xfrm>
            <a:prstGeom prst="rect">
              <a:avLst/>
            </a:prstGeom>
            <a:solidFill>
              <a:srgbClr val="3E8F9A"/>
            </a:solidFill>
            <a:ln w="7290">
              <a:noFill/>
            </a:ln>
          </p:spPr>
        </p:sp>
        <p:sp>
          <p:nvSpPr>
            <p:cNvPr id="1254" name="Find matrix 0-1">
              <a:extLst>
                <a:ext uri="{FF2B5EF4-FFF2-40B4-BE49-F238E27FC236}">
                  <a16:creationId xmlns:a16="http://schemas.microsoft.com/office/drawing/2014/main" id="{3474DD36-B24E-DC42-848D-72CE3DEC2274}"/>
                </a:ext>
              </a:extLst>
            </p:cNvPr>
            <p:cNvSpPr>
              <a:spLocks noGrp="1"/>
            </p:cNvSpPr>
            <p:nvPr/>
          </p:nvSpPr>
          <p:spPr>
            <a:xfrm>
              <a:off x="10351227" y="3200400"/>
              <a:ext cx="91559" cy="70009"/>
            </a:xfrm>
            <a:prstGeom prst="rect">
              <a:avLst/>
            </a:prstGeom>
            <a:solidFill>
              <a:srgbClr val="5B9FB6"/>
            </a:solidFill>
            <a:ln w="7290">
              <a:noFill/>
            </a:ln>
          </p:spPr>
        </p:sp>
        <p:sp>
          <p:nvSpPr>
            <p:cNvPr id="1255" name="Find matrix 0-2">
              <a:extLst>
                <a:ext uri="{FF2B5EF4-FFF2-40B4-BE49-F238E27FC236}">
                  <a16:creationId xmlns:a16="http://schemas.microsoft.com/office/drawing/2014/main" id="{F807BDD1-EE13-F00C-2E77-C8910F6ACC73}"/>
                </a:ext>
              </a:extLst>
            </p:cNvPr>
            <p:cNvSpPr>
              <a:spLocks noGrp="1"/>
            </p:cNvSpPr>
            <p:nvPr/>
          </p:nvSpPr>
          <p:spPr>
            <a:xfrm>
              <a:off x="10447072" y="3200400"/>
              <a:ext cx="91559" cy="70009"/>
            </a:xfrm>
            <a:prstGeom prst="rect">
              <a:avLst/>
            </a:prstGeom>
            <a:solidFill>
              <a:srgbClr val="A3CDDA"/>
            </a:solidFill>
            <a:ln w="7290">
              <a:noFill/>
            </a:ln>
          </p:spPr>
        </p:sp>
        <p:sp>
          <p:nvSpPr>
            <p:cNvPr id="1256" name="Find matrix 0-3">
              <a:extLst>
                <a:ext uri="{FF2B5EF4-FFF2-40B4-BE49-F238E27FC236}">
                  <a16:creationId xmlns:a16="http://schemas.microsoft.com/office/drawing/2014/main" id="{DB1A890F-778A-35C9-7AE1-C0AE618D52CF}"/>
                </a:ext>
              </a:extLst>
            </p:cNvPr>
            <p:cNvSpPr>
              <a:spLocks noGrp="1"/>
            </p:cNvSpPr>
            <p:nvPr/>
          </p:nvSpPr>
          <p:spPr>
            <a:xfrm>
              <a:off x="10542917" y="3200400"/>
              <a:ext cx="91559" cy="70009"/>
            </a:xfrm>
            <a:prstGeom prst="rect">
              <a:avLst/>
            </a:prstGeom>
            <a:solidFill>
              <a:srgbClr val="88BEC3"/>
            </a:solidFill>
            <a:ln w="7290">
              <a:noFill/>
            </a:ln>
          </p:spPr>
        </p:sp>
        <p:sp>
          <p:nvSpPr>
            <p:cNvPr id="1257" name="Find matrix 0-4">
              <a:extLst>
                <a:ext uri="{FF2B5EF4-FFF2-40B4-BE49-F238E27FC236}">
                  <a16:creationId xmlns:a16="http://schemas.microsoft.com/office/drawing/2014/main" id="{B445D6B3-6FC7-4615-5975-85730846D82F}"/>
                </a:ext>
              </a:extLst>
            </p:cNvPr>
            <p:cNvSpPr>
              <a:spLocks noGrp="1"/>
            </p:cNvSpPr>
            <p:nvPr/>
          </p:nvSpPr>
          <p:spPr>
            <a:xfrm>
              <a:off x="10638763" y="3200400"/>
              <a:ext cx="91559" cy="70009"/>
            </a:xfrm>
            <a:prstGeom prst="rect">
              <a:avLst/>
            </a:prstGeom>
            <a:solidFill>
              <a:srgbClr val="67AD9F"/>
            </a:solidFill>
            <a:ln w="7290">
              <a:noFill/>
            </a:ln>
          </p:spPr>
        </p:sp>
        <p:sp>
          <p:nvSpPr>
            <p:cNvPr id="1258" name="Find matrix 0-5">
              <a:extLst>
                <a:ext uri="{FF2B5EF4-FFF2-40B4-BE49-F238E27FC236}">
                  <a16:creationId xmlns:a16="http://schemas.microsoft.com/office/drawing/2014/main" id="{EDF77049-6933-CA1B-21BD-2D261FB460F5}"/>
                </a:ext>
              </a:extLst>
            </p:cNvPr>
            <p:cNvSpPr>
              <a:spLocks noGrp="1"/>
            </p:cNvSpPr>
            <p:nvPr/>
          </p:nvSpPr>
          <p:spPr>
            <a:xfrm>
              <a:off x="10734608" y="3200400"/>
              <a:ext cx="91559" cy="70009"/>
            </a:xfrm>
            <a:prstGeom prst="rect">
              <a:avLst/>
            </a:prstGeom>
            <a:solidFill>
              <a:srgbClr val="C4DDE0"/>
            </a:solidFill>
            <a:ln w="7290">
              <a:noFill/>
            </a:ln>
          </p:spPr>
        </p:sp>
        <p:sp>
          <p:nvSpPr>
            <p:cNvPr id="1259" name="Find matrix 0-6">
              <a:extLst>
                <a:ext uri="{FF2B5EF4-FFF2-40B4-BE49-F238E27FC236}">
                  <a16:creationId xmlns:a16="http://schemas.microsoft.com/office/drawing/2014/main" id="{F24780FB-09E3-AE39-557B-018C817CABA7}"/>
                </a:ext>
              </a:extLst>
            </p:cNvPr>
            <p:cNvSpPr>
              <a:spLocks noGrp="1"/>
            </p:cNvSpPr>
            <p:nvPr/>
          </p:nvSpPr>
          <p:spPr>
            <a:xfrm>
              <a:off x="10830453" y="3200400"/>
              <a:ext cx="91559" cy="70009"/>
            </a:xfrm>
            <a:prstGeom prst="rect">
              <a:avLst/>
            </a:prstGeom>
            <a:solidFill>
              <a:srgbClr val="B6D8CC"/>
            </a:solidFill>
            <a:ln w="7290">
              <a:noFill/>
            </a:ln>
          </p:spPr>
        </p:sp>
        <p:sp>
          <p:nvSpPr>
            <p:cNvPr id="1260" name="Find matrix 0-7">
              <a:extLst>
                <a:ext uri="{FF2B5EF4-FFF2-40B4-BE49-F238E27FC236}">
                  <a16:creationId xmlns:a16="http://schemas.microsoft.com/office/drawing/2014/main" id="{69791062-44B8-8426-AAD4-DD68B1FF31BA}"/>
                </a:ext>
              </a:extLst>
            </p:cNvPr>
            <p:cNvSpPr>
              <a:spLocks noGrp="1"/>
            </p:cNvSpPr>
            <p:nvPr/>
          </p:nvSpPr>
          <p:spPr>
            <a:xfrm>
              <a:off x="10926299" y="3200400"/>
              <a:ext cx="91559" cy="70009"/>
            </a:xfrm>
            <a:prstGeom prst="rect">
              <a:avLst/>
            </a:prstGeom>
            <a:solidFill>
              <a:srgbClr val="D6E5ED"/>
            </a:solidFill>
            <a:ln w="7290">
              <a:noFill/>
            </a:ln>
          </p:spPr>
        </p:sp>
        <p:sp>
          <p:nvSpPr>
            <p:cNvPr id="1261" name="Find matrix 1-0">
              <a:extLst>
                <a:ext uri="{FF2B5EF4-FFF2-40B4-BE49-F238E27FC236}">
                  <a16:creationId xmlns:a16="http://schemas.microsoft.com/office/drawing/2014/main" id="{DAD773D5-9108-C0B7-81D5-AC1CF98B49B0}"/>
                </a:ext>
              </a:extLst>
            </p:cNvPr>
            <p:cNvSpPr>
              <a:spLocks noGrp="1"/>
            </p:cNvSpPr>
            <p:nvPr/>
          </p:nvSpPr>
          <p:spPr>
            <a:xfrm>
              <a:off x="10255382" y="3274695"/>
              <a:ext cx="91559" cy="70009"/>
            </a:xfrm>
            <a:prstGeom prst="rect">
              <a:avLst/>
            </a:prstGeom>
            <a:solidFill>
              <a:srgbClr val="A3CDDA"/>
            </a:solidFill>
            <a:ln w="7290">
              <a:noFill/>
            </a:ln>
          </p:spPr>
        </p:sp>
        <p:sp>
          <p:nvSpPr>
            <p:cNvPr id="1262" name="Find matrix 1-1">
              <a:extLst>
                <a:ext uri="{FF2B5EF4-FFF2-40B4-BE49-F238E27FC236}">
                  <a16:creationId xmlns:a16="http://schemas.microsoft.com/office/drawing/2014/main" id="{FD6D65E0-3CD4-81C9-A7EC-EE4D1EA03DA1}"/>
                </a:ext>
              </a:extLst>
            </p:cNvPr>
            <p:cNvSpPr>
              <a:spLocks noGrp="1"/>
            </p:cNvSpPr>
            <p:nvPr/>
          </p:nvSpPr>
          <p:spPr>
            <a:xfrm>
              <a:off x="10351227" y="3274695"/>
              <a:ext cx="91559" cy="70009"/>
            </a:xfrm>
            <a:prstGeom prst="rect">
              <a:avLst/>
            </a:prstGeom>
            <a:solidFill>
              <a:srgbClr val="B6D8CC"/>
            </a:solidFill>
            <a:ln w="7290">
              <a:noFill/>
            </a:ln>
          </p:spPr>
        </p:sp>
        <p:sp>
          <p:nvSpPr>
            <p:cNvPr id="1263" name="Find matrix 1-2">
              <a:extLst>
                <a:ext uri="{FF2B5EF4-FFF2-40B4-BE49-F238E27FC236}">
                  <a16:creationId xmlns:a16="http://schemas.microsoft.com/office/drawing/2014/main" id="{C06E5EF8-D1B9-1DB5-4010-25CDECE16DF3}"/>
                </a:ext>
              </a:extLst>
            </p:cNvPr>
            <p:cNvSpPr>
              <a:spLocks noGrp="1"/>
            </p:cNvSpPr>
            <p:nvPr/>
          </p:nvSpPr>
          <p:spPr>
            <a:xfrm>
              <a:off x="10447072" y="3274695"/>
              <a:ext cx="91559" cy="70009"/>
            </a:xfrm>
            <a:prstGeom prst="rect">
              <a:avLst/>
            </a:prstGeom>
            <a:solidFill>
              <a:srgbClr val="88BEC3"/>
            </a:solidFill>
            <a:ln w="7290">
              <a:noFill/>
            </a:ln>
          </p:spPr>
        </p:sp>
        <p:sp>
          <p:nvSpPr>
            <p:cNvPr id="1264" name="Find matrix 1-3">
              <a:extLst>
                <a:ext uri="{FF2B5EF4-FFF2-40B4-BE49-F238E27FC236}">
                  <a16:creationId xmlns:a16="http://schemas.microsoft.com/office/drawing/2014/main" id="{9AD5706A-D366-481E-242D-C3727EE68292}"/>
                </a:ext>
              </a:extLst>
            </p:cNvPr>
            <p:cNvSpPr>
              <a:spLocks noGrp="1"/>
            </p:cNvSpPr>
            <p:nvPr/>
          </p:nvSpPr>
          <p:spPr>
            <a:xfrm>
              <a:off x="10542917" y="3274695"/>
              <a:ext cx="91559" cy="70009"/>
            </a:xfrm>
            <a:prstGeom prst="rect">
              <a:avLst/>
            </a:prstGeom>
            <a:solidFill>
              <a:srgbClr val="D6E5ED"/>
            </a:solidFill>
            <a:ln w="7290">
              <a:noFill/>
            </a:ln>
          </p:spPr>
        </p:sp>
        <p:sp>
          <p:nvSpPr>
            <p:cNvPr id="1265" name="Find matrix 1-4">
              <a:extLst>
                <a:ext uri="{FF2B5EF4-FFF2-40B4-BE49-F238E27FC236}">
                  <a16:creationId xmlns:a16="http://schemas.microsoft.com/office/drawing/2014/main" id="{6454B603-2435-1F3E-EFE1-9F3ED69FE183}"/>
                </a:ext>
              </a:extLst>
            </p:cNvPr>
            <p:cNvSpPr>
              <a:spLocks noGrp="1"/>
            </p:cNvSpPr>
            <p:nvPr/>
          </p:nvSpPr>
          <p:spPr>
            <a:xfrm>
              <a:off x="10638763" y="3274695"/>
              <a:ext cx="91559" cy="70009"/>
            </a:xfrm>
            <a:prstGeom prst="rect">
              <a:avLst/>
            </a:prstGeom>
            <a:solidFill>
              <a:srgbClr val="5B9FB6"/>
            </a:solidFill>
            <a:ln w="7290">
              <a:noFill/>
            </a:ln>
          </p:spPr>
        </p:sp>
        <p:sp>
          <p:nvSpPr>
            <p:cNvPr id="1266" name="Find matrix 1-5">
              <a:extLst>
                <a:ext uri="{FF2B5EF4-FFF2-40B4-BE49-F238E27FC236}">
                  <a16:creationId xmlns:a16="http://schemas.microsoft.com/office/drawing/2014/main" id="{BDC3058F-5BB6-EF0A-C0E4-8FFF478A86C2}"/>
                </a:ext>
              </a:extLst>
            </p:cNvPr>
            <p:cNvSpPr>
              <a:spLocks noGrp="1"/>
            </p:cNvSpPr>
            <p:nvPr/>
          </p:nvSpPr>
          <p:spPr>
            <a:xfrm>
              <a:off x="10734608" y="3274695"/>
              <a:ext cx="91559" cy="70009"/>
            </a:xfrm>
            <a:prstGeom prst="rect">
              <a:avLst/>
            </a:prstGeom>
            <a:solidFill>
              <a:srgbClr val="3E8F9A"/>
            </a:solidFill>
            <a:ln w="7290">
              <a:noFill/>
            </a:ln>
          </p:spPr>
        </p:sp>
        <p:sp>
          <p:nvSpPr>
            <p:cNvPr id="1267" name="Find matrix 1-6">
              <a:extLst>
                <a:ext uri="{FF2B5EF4-FFF2-40B4-BE49-F238E27FC236}">
                  <a16:creationId xmlns:a16="http://schemas.microsoft.com/office/drawing/2014/main" id="{7A6FD57F-2D4A-E860-6015-70841E18A307}"/>
                </a:ext>
              </a:extLst>
            </p:cNvPr>
            <p:cNvSpPr>
              <a:spLocks noGrp="1"/>
            </p:cNvSpPr>
            <p:nvPr/>
          </p:nvSpPr>
          <p:spPr>
            <a:xfrm>
              <a:off x="10830453" y="3274695"/>
              <a:ext cx="91559" cy="70009"/>
            </a:xfrm>
            <a:prstGeom prst="rect">
              <a:avLst/>
            </a:prstGeom>
            <a:solidFill>
              <a:srgbClr val="C4DDE0"/>
            </a:solidFill>
            <a:ln w="7290">
              <a:noFill/>
            </a:ln>
          </p:spPr>
        </p:sp>
        <p:sp>
          <p:nvSpPr>
            <p:cNvPr id="1268" name="Find matrix 1-7">
              <a:extLst>
                <a:ext uri="{FF2B5EF4-FFF2-40B4-BE49-F238E27FC236}">
                  <a16:creationId xmlns:a16="http://schemas.microsoft.com/office/drawing/2014/main" id="{289EF4F7-DDB6-5545-39F7-5D1B3F86D2D3}"/>
                </a:ext>
              </a:extLst>
            </p:cNvPr>
            <p:cNvSpPr>
              <a:spLocks noGrp="1"/>
            </p:cNvSpPr>
            <p:nvPr/>
          </p:nvSpPr>
          <p:spPr>
            <a:xfrm>
              <a:off x="10926299" y="3274695"/>
              <a:ext cx="91559" cy="70009"/>
            </a:xfrm>
            <a:prstGeom prst="rect">
              <a:avLst/>
            </a:prstGeom>
            <a:solidFill>
              <a:srgbClr val="67AD9F"/>
            </a:solidFill>
            <a:ln w="7290">
              <a:noFill/>
            </a:ln>
          </p:spPr>
        </p:sp>
        <p:sp>
          <p:nvSpPr>
            <p:cNvPr id="1269" name="Find matrix 2-0">
              <a:extLst>
                <a:ext uri="{FF2B5EF4-FFF2-40B4-BE49-F238E27FC236}">
                  <a16:creationId xmlns:a16="http://schemas.microsoft.com/office/drawing/2014/main" id="{B1282592-D5D6-9C68-2D42-3D2A0FA6458C}"/>
                </a:ext>
              </a:extLst>
            </p:cNvPr>
            <p:cNvSpPr>
              <a:spLocks noGrp="1"/>
            </p:cNvSpPr>
            <p:nvPr/>
          </p:nvSpPr>
          <p:spPr>
            <a:xfrm>
              <a:off x="10255382" y="3348990"/>
              <a:ext cx="91559" cy="70009"/>
            </a:xfrm>
            <a:prstGeom prst="rect">
              <a:avLst/>
            </a:prstGeom>
            <a:solidFill>
              <a:srgbClr val="67AD9F"/>
            </a:solidFill>
            <a:ln w="7290">
              <a:noFill/>
            </a:ln>
          </p:spPr>
        </p:sp>
        <p:sp>
          <p:nvSpPr>
            <p:cNvPr id="1270" name="Find matrix 2-1">
              <a:extLst>
                <a:ext uri="{FF2B5EF4-FFF2-40B4-BE49-F238E27FC236}">
                  <a16:creationId xmlns:a16="http://schemas.microsoft.com/office/drawing/2014/main" id="{390A8337-4744-F454-87FF-4E9BDE799C1D}"/>
                </a:ext>
              </a:extLst>
            </p:cNvPr>
            <p:cNvSpPr>
              <a:spLocks noGrp="1"/>
            </p:cNvSpPr>
            <p:nvPr/>
          </p:nvSpPr>
          <p:spPr>
            <a:xfrm>
              <a:off x="10351227" y="3348990"/>
              <a:ext cx="91559" cy="70009"/>
            </a:xfrm>
            <a:prstGeom prst="rect">
              <a:avLst/>
            </a:prstGeom>
            <a:solidFill>
              <a:srgbClr val="C4DDE0"/>
            </a:solidFill>
            <a:ln w="7290">
              <a:noFill/>
            </a:ln>
          </p:spPr>
        </p:sp>
        <p:sp>
          <p:nvSpPr>
            <p:cNvPr id="1271" name="Find matrix 2-2">
              <a:extLst>
                <a:ext uri="{FF2B5EF4-FFF2-40B4-BE49-F238E27FC236}">
                  <a16:creationId xmlns:a16="http://schemas.microsoft.com/office/drawing/2014/main" id="{F2F7291B-E14D-7E55-CC39-0366DDE36AB6}"/>
                </a:ext>
              </a:extLst>
            </p:cNvPr>
            <p:cNvSpPr>
              <a:spLocks noGrp="1"/>
            </p:cNvSpPr>
            <p:nvPr/>
          </p:nvSpPr>
          <p:spPr>
            <a:xfrm>
              <a:off x="10447072" y="3348990"/>
              <a:ext cx="91559" cy="70009"/>
            </a:xfrm>
            <a:prstGeom prst="rect">
              <a:avLst/>
            </a:prstGeom>
            <a:solidFill>
              <a:srgbClr val="5B9FB6"/>
            </a:solidFill>
            <a:ln w="7290">
              <a:noFill/>
            </a:ln>
          </p:spPr>
        </p:sp>
        <p:sp>
          <p:nvSpPr>
            <p:cNvPr id="1272" name="Find matrix 2-3">
              <a:extLst>
                <a:ext uri="{FF2B5EF4-FFF2-40B4-BE49-F238E27FC236}">
                  <a16:creationId xmlns:a16="http://schemas.microsoft.com/office/drawing/2014/main" id="{7DDB5DDB-AA90-B36F-ECCA-B3D87BDEF49C}"/>
                </a:ext>
              </a:extLst>
            </p:cNvPr>
            <p:cNvSpPr>
              <a:spLocks noGrp="1"/>
            </p:cNvSpPr>
            <p:nvPr/>
          </p:nvSpPr>
          <p:spPr>
            <a:xfrm>
              <a:off x="10542917" y="3348990"/>
              <a:ext cx="91559" cy="70009"/>
            </a:xfrm>
            <a:prstGeom prst="rect">
              <a:avLst/>
            </a:prstGeom>
            <a:solidFill>
              <a:srgbClr val="B6D8CC"/>
            </a:solidFill>
            <a:ln w="7290">
              <a:noFill/>
            </a:ln>
          </p:spPr>
        </p:sp>
        <p:sp>
          <p:nvSpPr>
            <p:cNvPr id="1273" name="Find matrix 2-4">
              <a:extLst>
                <a:ext uri="{FF2B5EF4-FFF2-40B4-BE49-F238E27FC236}">
                  <a16:creationId xmlns:a16="http://schemas.microsoft.com/office/drawing/2014/main" id="{FBF483EB-0895-E2F9-E946-2CE7B0273010}"/>
                </a:ext>
              </a:extLst>
            </p:cNvPr>
            <p:cNvSpPr>
              <a:spLocks noGrp="1"/>
            </p:cNvSpPr>
            <p:nvPr/>
          </p:nvSpPr>
          <p:spPr>
            <a:xfrm>
              <a:off x="10638763" y="3348990"/>
              <a:ext cx="91559" cy="70009"/>
            </a:xfrm>
            <a:prstGeom prst="rect">
              <a:avLst/>
            </a:prstGeom>
            <a:solidFill>
              <a:srgbClr val="3E8F9A"/>
            </a:solidFill>
            <a:ln w="7290">
              <a:noFill/>
            </a:ln>
          </p:spPr>
        </p:sp>
        <p:sp>
          <p:nvSpPr>
            <p:cNvPr id="1274" name="Find matrix 2-5">
              <a:extLst>
                <a:ext uri="{FF2B5EF4-FFF2-40B4-BE49-F238E27FC236}">
                  <a16:creationId xmlns:a16="http://schemas.microsoft.com/office/drawing/2014/main" id="{235264C0-29EF-D9B8-F0D1-9BEBBAD9D6E8}"/>
                </a:ext>
              </a:extLst>
            </p:cNvPr>
            <p:cNvSpPr>
              <a:spLocks noGrp="1"/>
            </p:cNvSpPr>
            <p:nvPr/>
          </p:nvSpPr>
          <p:spPr>
            <a:xfrm>
              <a:off x="10734608" y="3348990"/>
              <a:ext cx="91559" cy="70009"/>
            </a:xfrm>
            <a:prstGeom prst="rect">
              <a:avLst/>
            </a:prstGeom>
            <a:solidFill>
              <a:srgbClr val="D6E5ED"/>
            </a:solidFill>
            <a:ln w="7290">
              <a:noFill/>
            </a:ln>
          </p:spPr>
        </p:sp>
        <p:sp>
          <p:nvSpPr>
            <p:cNvPr id="1275" name="Find matrix 2-6">
              <a:extLst>
                <a:ext uri="{FF2B5EF4-FFF2-40B4-BE49-F238E27FC236}">
                  <a16:creationId xmlns:a16="http://schemas.microsoft.com/office/drawing/2014/main" id="{89BB4142-622C-474C-899B-E7C760EA5054}"/>
                </a:ext>
              </a:extLst>
            </p:cNvPr>
            <p:cNvSpPr>
              <a:spLocks noGrp="1"/>
            </p:cNvSpPr>
            <p:nvPr/>
          </p:nvSpPr>
          <p:spPr>
            <a:xfrm>
              <a:off x="10830453" y="3348990"/>
              <a:ext cx="91559" cy="70009"/>
            </a:xfrm>
            <a:prstGeom prst="rect">
              <a:avLst/>
            </a:prstGeom>
            <a:solidFill>
              <a:srgbClr val="88BEC3"/>
            </a:solidFill>
            <a:ln w="7290">
              <a:noFill/>
            </a:ln>
          </p:spPr>
        </p:sp>
        <p:sp>
          <p:nvSpPr>
            <p:cNvPr id="1276" name="Find matrix 2-7">
              <a:extLst>
                <a:ext uri="{FF2B5EF4-FFF2-40B4-BE49-F238E27FC236}">
                  <a16:creationId xmlns:a16="http://schemas.microsoft.com/office/drawing/2014/main" id="{6D2284D9-4AE6-02DD-AA99-C88ED825A8F4}"/>
                </a:ext>
              </a:extLst>
            </p:cNvPr>
            <p:cNvSpPr>
              <a:spLocks noGrp="1"/>
            </p:cNvSpPr>
            <p:nvPr/>
          </p:nvSpPr>
          <p:spPr>
            <a:xfrm>
              <a:off x="10926299" y="3348990"/>
              <a:ext cx="91559" cy="70009"/>
            </a:xfrm>
            <a:prstGeom prst="rect">
              <a:avLst/>
            </a:prstGeom>
            <a:solidFill>
              <a:srgbClr val="A3CDDA"/>
            </a:solidFill>
            <a:ln w="7290">
              <a:noFill/>
            </a:ln>
          </p:spPr>
        </p:sp>
        <p:sp>
          <p:nvSpPr>
            <p:cNvPr id="1277" name="Find matrix 3-0">
              <a:extLst>
                <a:ext uri="{FF2B5EF4-FFF2-40B4-BE49-F238E27FC236}">
                  <a16:creationId xmlns:a16="http://schemas.microsoft.com/office/drawing/2014/main" id="{A354350A-00E7-4344-FF84-5BBF2165CEDA}"/>
                </a:ext>
              </a:extLst>
            </p:cNvPr>
            <p:cNvSpPr>
              <a:spLocks noGrp="1"/>
            </p:cNvSpPr>
            <p:nvPr/>
          </p:nvSpPr>
          <p:spPr>
            <a:xfrm>
              <a:off x="10255382" y="3423285"/>
              <a:ext cx="91559" cy="70009"/>
            </a:xfrm>
            <a:prstGeom prst="rect">
              <a:avLst/>
            </a:prstGeom>
            <a:solidFill>
              <a:srgbClr val="88BEC3"/>
            </a:solidFill>
            <a:ln w="7290">
              <a:noFill/>
            </a:ln>
          </p:spPr>
        </p:sp>
        <p:sp>
          <p:nvSpPr>
            <p:cNvPr id="1278" name="Find matrix 3-1">
              <a:extLst>
                <a:ext uri="{FF2B5EF4-FFF2-40B4-BE49-F238E27FC236}">
                  <a16:creationId xmlns:a16="http://schemas.microsoft.com/office/drawing/2014/main" id="{E2EDFAC2-C5CD-2DF8-165C-4DBC9D98B449}"/>
                </a:ext>
              </a:extLst>
            </p:cNvPr>
            <p:cNvSpPr>
              <a:spLocks noGrp="1"/>
            </p:cNvSpPr>
            <p:nvPr/>
          </p:nvSpPr>
          <p:spPr>
            <a:xfrm>
              <a:off x="10351227" y="3423285"/>
              <a:ext cx="91559" cy="70009"/>
            </a:xfrm>
            <a:prstGeom prst="rect">
              <a:avLst/>
            </a:prstGeom>
            <a:solidFill>
              <a:srgbClr val="D6E5ED"/>
            </a:solidFill>
            <a:ln w="7290">
              <a:noFill/>
            </a:ln>
          </p:spPr>
        </p:sp>
        <p:sp>
          <p:nvSpPr>
            <p:cNvPr id="1279" name="Find matrix 3-2">
              <a:extLst>
                <a:ext uri="{FF2B5EF4-FFF2-40B4-BE49-F238E27FC236}">
                  <a16:creationId xmlns:a16="http://schemas.microsoft.com/office/drawing/2014/main" id="{4D088869-EB59-E1B3-59B4-C3C92C8170BA}"/>
                </a:ext>
              </a:extLst>
            </p:cNvPr>
            <p:cNvSpPr>
              <a:spLocks noGrp="1"/>
            </p:cNvSpPr>
            <p:nvPr/>
          </p:nvSpPr>
          <p:spPr>
            <a:xfrm>
              <a:off x="10447072" y="3423285"/>
              <a:ext cx="91559" cy="70009"/>
            </a:xfrm>
            <a:prstGeom prst="rect">
              <a:avLst/>
            </a:prstGeom>
            <a:solidFill>
              <a:srgbClr val="67AD9F"/>
            </a:solidFill>
            <a:ln w="7290">
              <a:noFill/>
            </a:ln>
          </p:spPr>
        </p:sp>
        <p:sp>
          <p:nvSpPr>
            <p:cNvPr id="1280" name="Find matrix 3-3">
              <a:extLst>
                <a:ext uri="{FF2B5EF4-FFF2-40B4-BE49-F238E27FC236}">
                  <a16:creationId xmlns:a16="http://schemas.microsoft.com/office/drawing/2014/main" id="{119CBCB9-6860-7DCC-AF73-C422647EEF23}"/>
                </a:ext>
              </a:extLst>
            </p:cNvPr>
            <p:cNvSpPr>
              <a:spLocks noGrp="1"/>
            </p:cNvSpPr>
            <p:nvPr/>
          </p:nvSpPr>
          <p:spPr>
            <a:xfrm>
              <a:off x="10542917" y="3423285"/>
              <a:ext cx="91559" cy="70009"/>
            </a:xfrm>
            <a:prstGeom prst="rect">
              <a:avLst/>
            </a:prstGeom>
            <a:solidFill>
              <a:srgbClr val="3E8F9A"/>
            </a:solidFill>
            <a:ln w="7290">
              <a:noFill/>
            </a:ln>
          </p:spPr>
        </p:sp>
        <p:sp>
          <p:nvSpPr>
            <p:cNvPr id="1281" name="Find matrix 3-4">
              <a:extLst>
                <a:ext uri="{FF2B5EF4-FFF2-40B4-BE49-F238E27FC236}">
                  <a16:creationId xmlns:a16="http://schemas.microsoft.com/office/drawing/2014/main" id="{F0ED964A-EDEB-7D43-69F8-BEFE576D1277}"/>
                </a:ext>
              </a:extLst>
            </p:cNvPr>
            <p:cNvSpPr>
              <a:spLocks noGrp="1"/>
            </p:cNvSpPr>
            <p:nvPr/>
          </p:nvSpPr>
          <p:spPr>
            <a:xfrm>
              <a:off x="10638763" y="3423285"/>
              <a:ext cx="91559" cy="70009"/>
            </a:xfrm>
            <a:prstGeom prst="rect">
              <a:avLst/>
            </a:prstGeom>
            <a:solidFill>
              <a:srgbClr val="C4DDE0"/>
            </a:solidFill>
            <a:ln w="7290">
              <a:noFill/>
            </a:ln>
          </p:spPr>
        </p:sp>
        <p:sp>
          <p:nvSpPr>
            <p:cNvPr id="1282" name="Find matrix 3-5">
              <a:extLst>
                <a:ext uri="{FF2B5EF4-FFF2-40B4-BE49-F238E27FC236}">
                  <a16:creationId xmlns:a16="http://schemas.microsoft.com/office/drawing/2014/main" id="{A0A2A64A-E67D-3395-0409-F2703179F7EC}"/>
                </a:ext>
              </a:extLst>
            </p:cNvPr>
            <p:cNvSpPr>
              <a:spLocks noGrp="1"/>
            </p:cNvSpPr>
            <p:nvPr/>
          </p:nvSpPr>
          <p:spPr>
            <a:xfrm>
              <a:off x="10734608" y="3423285"/>
              <a:ext cx="91559" cy="70009"/>
            </a:xfrm>
            <a:prstGeom prst="rect">
              <a:avLst/>
            </a:prstGeom>
            <a:solidFill>
              <a:srgbClr val="A3CDDA"/>
            </a:solidFill>
            <a:ln w="7290">
              <a:noFill/>
            </a:ln>
          </p:spPr>
        </p:sp>
        <p:sp>
          <p:nvSpPr>
            <p:cNvPr id="1283" name="Find matrix 3-6">
              <a:extLst>
                <a:ext uri="{FF2B5EF4-FFF2-40B4-BE49-F238E27FC236}">
                  <a16:creationId xmlns:a16="http://schemas.microsoft.com/office/drawing/2014/main" id="{EA7CE8E7-C1AC-E261-A970-8EC80886D558}"/>
                </a:ext>
              </a:extLst>
            </p:cNvPr>
            <p:cNvSpPr>
              <a:spLocks noGrp="1"/>
            </p:cNvSpPr>
            <p:nvPr/>
          </p:nvSpPr>
          <p:spPr>
            <a:xfrm>
              <a:off x="10830453" y="3423285"/>
              <a:ext cx="91559" cy="70009"/>
            </a:xfrm>
            <a:prstGeom prst="rect">
              <a:avLst/>
            </a:prstGeom>
            <a:solidFill>
              <a:srgbClr val="B6D8CC"/>
            </a:solidFill>
            <a:ln w="7290">
              <a:noFill/>
            </a:ln>
          </p:spPr>
        </p:sp>
        <p:sp>
          <p:nvSpPr>
            <p:cNvPr id="1284" name="Find matrix 3-7">
              <a:extLst>
                <a:ext uri="{FF2B5EF4-FFF2-40B4-BE49-F238E27FC236}">
                  <a16:creationId xmlns:a16="http://schemas.microsoft.com/office/drawing/2014/main" id="{3CC5802F-96A8-F327-8DCD-5C642BB94DCE}"/>
                </a:ext>
              </a:extLst>
            </p:cNvPr>
            <p:cNvSpPr>
              <a:spLocks noGrp="1"/>
            </p:cNvSpPr>
            <p:nvPr/>
          </p:nvSpPr>
          <p:spPr>
            <a:xfrm>
              <a:off x="10926299" y="3423285"/>
              <a:ext cx="91559" cy="70009"/>
            </a:xfrm>
            <a:prstGeom prst="rect">
              <a:avLst/>
            </a:prstGeom>
            <a:solidFill>
              <a:srgbClr val="5B9FB6"/>
            </a:solidFill>
            <a:ln w="7290">
              <a:noFill/>
            </a:ln>
          </p:spPr>
        </p:sp>
        <p:sp>
          <p:nvSpPr>
            <p:cNvPr id="1285" name="Match matrix 0-0">
              <a:extLst>
                <a:ext uri="{FF2B5EF4-FFF2-40B4-BE49-F238E27FC236}">
                  <a16:creationId xmlns:a16="http://schemas.microsoft.com/office/drawing/2014/main" id="{1E148E3C-F1D3-F47F-36C6-42E1C579FB78}"/>
                </a:ext>
              </a:extLst>
            </p:cNvPr>
            <p:cNvSpPr>
              <a:spLocks noGrp="1"/>
            </p:cNvSpPr>
            <p:nvPr/>
          </p:nvSpPr>
          <p:spPr>
            <a:xfrm>
              <a:off x="3633156" y="7252039"/>
              <a:ext cx="88583" cy="70009"/>
            </a:xfrm>
            <a:prstGeom prst="rect">
              <a:avLst/>
            </a:prstGeom>
            <a:solidFill>
              <a:srgbClr val="3E8F9A"/>
            </a:solidFill>
            <a:ln w="7290">
              <a:noFill/>
            </a:ln>
          </p:spPr>
        </p:sp>
        <p:sp>
          <p:nvSpPr>
            <p:cNvPr id="1286" name="Match matrix 0-1">
              <a:extLst>
                <a:ext uri="{FF2B5EF4-FFF2-40B4-BE49-F238E27FC236}">
                  <a16:creationId xmlns:a16="http://schemas.microsoft.com/office/drawing/2014/main" id="{6CE95E95-35B4-AAA3-E629-B7804854BFD1}"/>
                </a:ext>
              </a:extLst>
            </p:cNvPr>
            <p:cNvSpPr>
              <a:spLocks noGrp="1"/>
            </p:cNvSpPr>
            <p:nvPr/>
          </p:nvSpPr>
          <p:spPr>
            <a:xfrm>
              <a:off x="3726025" y="7252039"/>
              <a:ext cx="88583" cy="70009"/>
            </a:xfrm>
            <a:prstGeom prst="rect">
              <a:avLst/>
            </a:prstGeom>
            <a:solidFill>
              <a:srgbClr val="5B9FB6"/>
            </a:solidFill>
            <a:ln w="7290">
              <a:noFill/>
            </a:ln>
          </p:spPr>
        </p:sp>
        <p:sp>
          <p:nvSpPr>
            <p:cNvPr id="1287" name="Match matrix 0-2">
              <a:extLst>
                <a:ext uri="{FF2B5EF4-FFF2-40B4-BE49-F238E27FC236}">
                  <a16:creationId xmlns:a16="http://schemas.microsoft.com/office/drawing/2014/main" id="{7AA444A0-2B6A-4C23-EFFA-BB0D0814FEA4}"/>
                </a:ext>
              </a:extLst>
            </p:cNvPr>
            <p:cNvSpPr>
              <a:spLocks noGrp="1"/>
            </p:cNvSpPr>
            <p:nvPr/>
          </p:nvSpPr>
          <p:spPr>
            <a:xfrm>
              <a:off x="3818894" y="7252039"/>
              <a:ext cx="88583" cy="70009"/>
            </a:xfrm>
            <a:prstGeom prst="rect">
              <a:avLst/>
            </a:prstGeom>
            <a:solidFill>
              <a:srgbClr val="A3CDDA"/>
            </a:solidFill>
            <a:ln w="7290">
              <a:noFill/>
            </a:ln>
          </p:spPr>
        </p:sp>
        <p:sp>
          <p:nvSpPr>
            <p:cNvPr id="1288" name="Match matrix 0-3">
              <a:extLst>
                <a:ext uri="{FF2B5EF4-FFF2-40B4-BE49-F238E27FC236}">
                  <a16:creationId xmlns:a16="http://schemas.microsoft.com/office/drawing/2014/main" id="{FA614244-906C-CFFC-1294-6D233D01CB35}"/>
                </a:ext>
              </a:extLst>
            </p:cNvPr>
            <p:cNvSpPr>
              <a:spLocks noGrp="1"/>
            </p:cNvSpPr>
            <p:nvPr/>
          </p:nvSpPr>
          <p:spPr>
            <a:xfrm>
              <a:off x="3911762" y="7252039"/>
              <a:ext cx="88583" cy="70009"/>
            </a:xfrm>
            <a:prstGeom prst="rect">
              <a:avLst/>
            </a:prstGeom>
            <a:solidFill>
              <a:srgbClr val="88BEC3"/>
            </a:solidFill>
            <a:ln w="7290">
              <a:noFill/>
            </a:ln>
          </p:spPr>
        </p:sp>
        <p:sp>
          <p:nvSpPr>
            <p:cNvPr id="1289" name="Match matrix 0-4">
              <a:extLst>
                <a:ext uri="{FF2B5EF4-FFF2-40B4-BE49-F238E27FC236}">
                  <a16:creationId xmlns:a16="http://schemas.microsoft.com/office/drawing/2014/main" id="{EE4A1296-1DD3-454F-610D-2BDEB1D0EFA9}"/>
                </a:ext>
              </a:extLst>
            </p:cNvPr>
            <p:cNvSpPr>
              <a:spLocks noGrp="1"/>
            </p:cNvSpPr>
            <p:nvPr/>
          </p:nvSpPr>
          <p:spPr>
            <a:xfrm>
              <a:off x="4004631" y="7252039"/>
              <a:ext cx="88583" cy="70009"/>
            </a:xfrm>
            <a:prstGeom prst="rect">
              <a:avLst/>
            </a:prstGeom>
            <a:solidFill>
              <a:srgbClr val="67AD9F"/>
            </a:solidFill>
            <a:ln w="7290">
              <a:noFill/>
            </a:ln>
          </p:spPr>
        </p:sp>
        <p:sp>
          <p:nvSpPr>
            <p:cNvPr id="1290" name="Match matrix 0-5">
              <a:extLst>
                <a:ext uri="{FF2B5EF4-FFF2-40B4-BE49-F238E27FC236}">
                  <a16:creationId xmlns:a16="http://schemas.microsoft.com/office/drawing/2014/main" id="{A27DCA6A-D9A0-89D2-300F-145A0353541B}"/>
                </a:ext>
              </a:extLst>
            </p:cNvPr>
            <p:cNvSpPr>
              <a:spLocks noGrp="1"/>
            </p:cNvSpPr>
            <p:nvPr/>
          </p:nvSpPr>
          <p:spPr>
            <a:xfrm>
              <a:off x="4097500" y="7252039"/>
              <a:ext cx="88583" cy="70009"/>
            </a:xfrm>
            <a:prstGeom prst="rect">
              <a:avLst/>
            </a:prstGeom>
            <a:solidFill>
              <a:srgbClr val="C4DDE0"/>
            </a:solidFill>
            <a:ln w="7290">
              <a:noFill/>
            </a:ln>
          </p:spPr>
        </p:sp>
        <p:sp>
          <p:nvSpPr>
            <p:cNvPr id="1291" name="Match matrix 0-6">
              <a:extLst>
                <a:ext uri="{FF2B5EF4-FFF2-40B4-BE49-F238E27FC236}">
                  <a16:creationId xmlns:a16="http://schemas.microsoft.com/office/drawing/2014/main" id="{110481AC-0BB3-A98A-15F4-6DA00B6462E6}"/>
                </a:ext>
              </a:extLst>
            </p:cNvPr>
            <p:cNvSpPr>
              <a:spLocks noGrp="1"/>
            </p:cNvSpPr>
            <p:nvPr/>
          </p:nvSpPr>
          <p:spPr>
            <a:xfrm>
              <a:off x="4190369" y="7252039"/>
              <a:ext cx="88583" cy="70009"/>
            </a:xfrm>
            <a:prstGeom prst="rect">
              <a:avLst/>
            </a:prstGeom>
            <a:solidFill>
              <a:srgbClr val="B6D8CC"/>
            </a:solidFill>
            <a:ln w="7290">
              <a:noFill/>
            </a:ln>
          </p:spPr>
        </p:sp>
        <p:sp>
          <p:nvSpPr>
            <p:cNvPr id="1292" name="Match matrix 0-7">
              <a:extLst>
                <a:ext uri="{FF2B5EF4-FFF2-40B4-BE49-F238E27FC236}">
                  <a16:creationId xmlns:a16="http://schemas.microsoft.com/office/drawing/2014/main" id="{CA0FE5FF-20F8-A515-1575-D2B579C6A384}"/>
                </a:ext>
              </a:extLst>
            </p:cNvPr>
            <p:cNvSpPr>
              <a:spLocks noGrp="1"/>
            </p:cNvSpPr>
            <p:nvPr/>
          </p:nvSpPr>
          <p:spPr>
            <a:xfrm>
              <a:off x="4283237" y="7252039"/>
              <a:ext cx="88583" cy="70009"/>
            </a:xfrm>
            <a:prstGeom prst="rect">
              <a:avLst/>
            </a:prstGeom>
            <a:solidFill>
              <a:srgbClr val="D6E5ED"/>
            </a:solidFill>
            <a:ln w="7290">
              <a:noFill/>
            </a:ln>
          </p:spPr>
        </p:sp>
        <p:sp>
          <p:nvSpPr>
            <p:cNvPr id="1293" name="Match matrix 1-0">
              <a:extLst>
                <a:ext uri="{FF2B5EF4-FFF2-40B4-BE49-F238E27FC236}">
                  <a16:creationId xmlns:a16="http://schemas.microsoft.com/office/drawing/2014/main" id="{62DD97DC-E1EF-3AC8-77C6-31E750CF1688}"/>
                </a:ext>
              </a:extLst>
            </p:cNvPr>
            <p:cNvSpPr>
              <a:spLocks noGrp="1"/>
            </p:cNvSpPr>
            <p:nvPr/>
          </p:nvSpPr>
          <p:spPr>
            <a:xfrm>
              <a:off x="3633156" y="7326334"/>
              <a:ext cx="88583" cy="70009"/>
            </a:xfrm>
            <a:prstGeom prst="rect">
              <a:avLst/>
            </a:prstGeom>
            <a:solidFill>
              <a:srgbClr val="A3CDDA"/>
            </a:solidFill>
            <a:ln w="7290">
              <a:noFill/>
            </a:ln>
          </p:spPr>
        </p:sp>
        <p:sp>
          <p:nvSpPr>
            <p:cNvPr id="1294" name="Match matrix 1-1">
              <a:extLst>
                <a:ext uri="{FF2B5EF4-FFF2-40B4-BE49-F238E27FC236}">
                  <a16:creationId xmlns:a16="http://schemas.microsoft.com/office/drawing/2014/main" id="{B545DCC8-F9BD-6322-3BD3-A195D0A92FFB}"/>
                </a:ext>
              </a:extLst>
            </p:cNvPr>
            <p:cNvSpPr>
              <a:spLocks noGrp="1"/>
            </p:cNvSpPr>
            <p:nvPr/>
          </p:nvSpPr>
          <p:spPr>
            <a:xfrm>
              <a:off x="3726025" y="7326334"/>
              <a:ext cx="88583" cy="70009"/>
            </a:xfrm>
            <a:prstGeom prst="rect">
              <a:avLst/>
            </a:prstGeom>
            <a:solidFill>
              <a:srgbClr val="B6D8CC"/>
            </a:solidFill>
            <a:ln w="7290">
              <a:noFill/>
            </a:ln>
          </p:spPr>
        </p:sp>
        <p:sp>
          <p:nvSpPr>
            <p:cNvPr id="1295" name="Match matrix 1-2">
              <a:extLst>
                <a:ext uri="{FF2B5EF4-FFF2-40B4-BE49-F238E27FC236}">
                  <a16:creationId xmlns:a16="http://schemas.microsoft.com/office/drawing/2014/main" id="{CA362456-65E1-995A-0618-99CCC4184C18}"/>
                </a:ext>
              </a:extLst>
            </p:cNvPr>
            <p:cNvSpPr>
              <a:spLocks noGrp="1"/>
            </p:cNvSpPr>
            <p:nvPr/>
          </p:nvSpPr>
          <p:spPr>
            <a:xfrm>
              <a:off x="3818894" y="7326334"/>
              <a:ext cx="88583" cy="70009"/>
            </a:xfrm>
            <a:prstGeom prst="rect">
              <a:avLst/>
            </a:prstGeom>
            <a:solidFill>
              <a:srgbClr val="88BEC3"/>
            </a:solidFill>
            <a:ln w="7290">
              <a:noFill/>
            </a:ln>
          </p:spPr>
        </p:sp>
        <p:sp>
          <p:nvSpPr>
            <p:cNvPr id="1296" name="Match matrix 1-3">
              <a:extLst>
                <a:ext uri="{FF2B5EF4-FFF2-40B4-BE49-F238E27FC236}">
                  <a16:creationId xmlns:a16="http://schemas.microsoft.com/office/drawing/2014/main" id="{A2C35F9E-7361-3F63-4B0D-A98BA11C6FD6}"/>
                </a:ext>
              </a:extLst>
            </p:cNvPr>
            <p:cNvSpPr>
              <a:spLocks noGrp="1"/>
            </p:cNvSpPr>
            <p:nvPr/>
          </p:nvSpPr>
          <p:spPr>
            <a:xfrm>
              <a:off x="3911762" y="7326334"/>
              <a:ext cx="88583" cy="70009"/>
            </a:xfrm>
            <a:prstGeom prst="rect">
              <a:avLst/>
            </a:prstGeom>
            <a:solidFill>
              <a:srgbClr val="D6E5ED"/>
            </a:solidFill>
            <a:ln w="7290">
              <a:noFill/>
            </a:ln>
          </p:spPr>
        </p:sp>
        <p:sp>
          <p:nvSpPr>
            <p:cNvPr id="1297" name="Match matrix 1-4">
              <a:extLst>
                <a:ext uri="{FF2B5EF4-FFF2-40B4-BE49-F238E27FC236}">
                  <a16:creationId xmlns:a16="http://schemas.microsoft.com/office/drawing/2014/main" id="{FAAA67D0-1522-17CF-8376-8D76753F582D}"/>
                </a:ext>
              </a:extLst>
            </p:cNvPr>
            <p:cNvSpPr>
              <a:spLocks noGrp="1"/>
            </p:cNvSpPr>
            <p:nvPr/>
          </p:nvSpPr>
          <p:spPr>
            <a:xfrm>
              <a:off x="4004631" y="7326334"/>
              <a:ext cx="88583" cy="70009"/>
            </a:xfrm>
            <a:prstGeom prst="rect">
              <a:avLst/>
            </a:prstGeom>
            <a:solidFill>
              <a:srgbClr val="5B9FB6"/>
            </a:solidFill>
            <a:ln w="7290">
              <a:noFill/>
            </a:ln>
          </p:spPr>
        </p:sp>
        <p:sp>
          <p:nvSpPr>
            <p:cNvPr id="1298" name="Match matrix 1-5">
              <a:extLst>
                <a:ext uri="{FF2B5EF4-FFF2-40B4-BE49-F238E27FC236}">
                  <a16:creationId xmlns:a16="http://schemas.microsoft.com/office/drawing/2014/main" id="{8EFA4585-A006-C810-377D-DBA6C87576CE}"/>
                </a:ext>
              </a:extLst>
            </p:cNvPr>
            <p:cNvSpPr>
              <a:spLocks noGrp="1"/>
            </p:cNvSpPr>
            <p:nvPr/>
          </p:nvSpPr>
          <p:spPr>
            <a:xfrm>
              <a:off x="4097500" y="7326334"/>
              <a:ext cx="88583" cy="70009"/>
            </a:xfrm>
            <a:prstGeom prst="rect">
              <a:avLst/>
            </a:prstGeom>
            <a:solidFill>
              <a:srgbClr val="3E8F9A"/>
            </a:solidFill>
            <a:ln w="7290">
              <a:noFill/>
            </a:ln>
          </p:spPr>
        </p:sp>
        <p:sp>
          <p:nvSpPr>
            <p:cNvPr id="1299" name="Match matrix 1-6">
              <a:extLst>
                <a:ext uri="{FF2B5EF4-FFF2-40B4-BE49-F238E27FC236}">
                  <a16:creationId xmlns:a16="http://schemas.microsoft.com/office/drawing/2014/main" id="{64D11889-0CF0-CA9A-1917-2BF4C8C70236}"/>
                </a:ext>
              </a:extLst>
            </p:cNvPr>
            <p:cNvSpPr>
              <a:spLocks noGrp="1"/>
            </p:cNvSpPr>
            <p:nvPr/>
          </p:nvSpPr>
          <p:spPr>
            <a:xfrm>
              <a:off x="4190369" y="7326334"/>
              <a:ext cx="88583" cy="70009"/>
            </a:xfrm>
            <a:prstGeom prst="rect">
              <a:avLst/>
            </a:prstGeom>
            <a:solidFill>
              <a:srgbClr val="C4DDE0"/>
            </a:solidFill>
            <a:ln w="7290">
              <a:noFill/>
            </a:ln>
          </p:spPr>
        </p:sp>
        <p:sp>
          <p:nvSpPr>
            <p:cNvPr id="1300" name="Match matrix 1-7">
              <a:extLst>
                <a:ext uri="{FF2B5EF4-FFF2-40B4-BE49-F238E27FC236}">
                  <a16:creationId xmlns:a16="http://schemas.microsoft.com/office/drawing/2014/main" id="{188B5773-F5C9-7D4C-8152-FA7D9B627789}"/>
                </a:ext>
              </a:extLst>
            </p:cNvPr>
            <p:cNvSpPr>
              <a:spLocks noGrp="1"/>
            </p:cNvSpPr>
            <p:nvPr/>
          </p:nvSpPr>
          <p:spPr>
            <a:xfrm>
              <a:off x="4283237" y="7326334"/>
              <a:ext cx="88583" cy="70009"/>
            </a:xfrm>
            <a:prstGeom prst="rect">
              <a:avLst/>
            </a:prstGeom>
            <a:solidFill>
              <a:srgbClr val="67AD9F"/>
            </a:solidFill>
            <a:ln w="7290">
              <a:noFill/>
            </a:ln>
          </p:spPr>
        </p:sp>
        <p:sp>
          <p:nvSpPr>
            <p:cNvPr id="1301" name="Match matrix 2-0">
              <a:extLst>
                <a:ext uri="{FF2B5EF4-FFF2-40B4-BE49-F238E27FC236}">
                  <a16:creationId xmlns:a16="http://schemas.microsoft.com/office/drawing/2014/main" id="{BBF02AFB-8489-0057-17C0-1186E4D7244F}"/>
                </a:ext>
              </a:extLst>
            </p:cNvPr>
            <p:cNvSpPr>
              <a:spLocks noGrp="1"/>
            </p:cNvSpPr>
            <p:nvPr/>
          </p:nvSpPr>
          <p:spPr>
            <a:xfrm>
              <a:off x="3633156" y="7400629"/>
              <a:ext cx="88583" cy="70009"/>
            </a:xfrm>
            <a:prstGeom prst="rect">
              <a:avLst/>
            </a:prstGeom>
            <a:solidFill>
              <a:srgbClr val="67AD9F"/>
            </a:solidFill>
            <a:ln w="7290">
              <a:noFill/>
            </a:ln>
          </p:spPr>
        </p:sp>
        <p:sp>
          <p:nvSpPr>
            <p:cNvPr id="1302" name="Match matrix 2-1">
              <a:extLst>
                <a:ext uri="{FF2B5EF4-FFF2-40B4-BE49-F238E27FC236}">
                  <a16:creationId xmlns:a16="http://schemas.microsoft.com/office/drawing/2014/main" id="{4D1F1E41-46E5-997B-A9A2-D4A7E86A821C}"/>
                </a:ext>
              </a:extLst>
            </p:cNvPr>
            <p:cNvSpPr>
              <a:spLocks noGrp="1"/>
            </p:cNvSpPr>
            <p:nvPr/>
          </p:nvSpPr>
          <p:spPr>
            <a:xfrm>
              <a:off x="3726025" y="7400629"/>
              <a:ext cx="88583" cy="70009"/>
            </a:xfrm>
            <a:prstGeom prst="rect">
              <a:avLst/>
            </a:prstGeom>
            <a:solidFill>
              <a:srgbClr val="C4DDE0"/>
            </a:solidFill>
            <a:ln w="7290">
              <a:noFill/>
            </a:ln>
          </p:spPr>
        </p:sp>
        <p:sp>
          <p:nvSpPr>
            <p:cNvPr id="1303" name="Match matrix 2-2">
              <a:extLst>
                <a:ext uri="{FF2B5EF4-FFF2-40B4-BE49-F238E27FC236}">
                  <a16:creationId xmlns:a16="http://schemas.microsoft.com/office/drawing/2014/main" id="{BDC0B5DB-1FDB-9192-A8A8-9F9E9FC2CF48}"/>
                </a:ext>
              </a:extLst>
            </p:cNvPr>
            <p:cNvSpPr>
              <a:spLocks noGrp="1"/>
            </p:cNvSpPr>
            <p:nvPr/>
          </p:nvSpPr>
          <p:spPr>
            <a:xfrm>
              <a:off x="3818894" y="7400629"/>
              <a:ext cx="88583" cy="70009"/>
            </a:xfrm>
            <a:prstGeom prst="rect">
              <a:avLst/>
            </a:prstGeom>
            <a:solidFill>
              <a:srgbClr val="5B9FB6"/>
            </a:solidFill>
            <a:ln w="7290">
              <a:noFill/>
            </a:ln>
          </p:spPr>
        </p:sp>
        <p:sp>
          <p:nvSpPr>
            <p:cNvPr id="1304" name="Match matrix 2-3">
              <a:extLst>
                <a:ext uri="{FF2B5EF4-FFF2-40B4-BE49-F238E27FC236}">
                  <a16:creationId xmlns:a16="http://schemas.microsoft.com/office/drawing/2014/main" id="{9C663294-FCA2-F8DE-2AEC-EEF54C48921A}"/>
                </a:ext>
              </a:extLst>
            </p:cNvPr>
            <p:cNvSpPr>
              <a:spLocks noGrp="1"/>
            </p:cNvSpPr>
            <p:nvPr/>
          </p:nvSpPr>
          <p:spPr>
            <a:xfrm>
              <a:off x="3911762" y="7400629"/>
              <a:ext cx="88583" cy="70009"/>
            </a:xfrm>
            <a:prstGeom prst="rect">
              <a:avLst/>
            </a:prstGeom>
            <a:solidFill>
              <a:srgbClr val="B6D8CC"/>
            </a:solidFill>
            <a:ln w="7290">
              <a:noFill/>
            </a:ln>
          </p:spPr>
        </p:sp>
        <p:sp>
          <p:nvSpPr>
            <p:cNvPr id="1305" name="Match matrix 2-4">
              <a:extLst>
                <a:ext uri="{FF2B5EF4-FFF2-40B4-BE49-F238E27FC236}">
                  <a16:creationId xmlns:a16="http://schemas.microsoft.com/office/drawing/2014/main" id="{28E76182-0A60-4A72-9586-C12459BE0B58}"/>
                </a:ext>
              </a:extLst>
            </p:cNvPr>
            <p:cNvSpPr>
              <a:spLocks noGrp="1"/>
            </p:cNvSpPr>
            <p:nvPr/>
          </p:nvSpPr>
          <p:spPr>
            <a:xfrm>
              <a:off x="4004631" y="7400629"/>
              <a:ext cx="88583" cy="70009"/>
            </a:xfrm>
            <a:prstGeom prst="rect">
              <a:avLst/>
            </a:prstGeom>
            <a:solidFill>
              <a:srgbClr val="3E8F9A"/>
            </a:solidFill>
            <a:ln w="7290">
              <a:noFill/>
            </a:ln>
          </p:spPr>
        </p:sp>
        <p:sp>
          <p:nvSpPr>
            <p:cNvPr id="1306" name="Match matrix 2-5">
              <a:extLst>
                <a:ext uri="{FF2B5EF4-FFF2-40B4-BE49-F238E27FC236}">
                  <a16:creationId xmlns:a16="http://schemas.microsoft.com/office/drawing/2014/main" id="{29FC68A5-EB54-9596-85EC-EDC1175B056F}"/>
                </a:ext>
              </a:extLst>
            </p:cNvPr>
            <p:cNvSpPr>
              <a:spLocks noGrp="1"/>
            </p:cNvSpPr>
            <p:nvPr/>
          </p:nvSpPr>
          <p:spPr>
            <a:xfrm>
              <a:off x="4097500" y="7400629"/>
              <a:ext cx="88583" cy="70009"/>
            </a:xfrm>
            <a:prstGeom prst="rect">
              <a:avLst/>
            </a:prstGeom>
            <a:solidFill>
              <a:srgbClr val="D6E5ED"/>
            </a:solidFill>
            <a:ln w="7290">
              <a:noFill/>
            </a:ln>
          </p:spPr>
        </p:sp>
        <p:sp>
          <p:nvSpPr>
            <p:cNvPr id="1307" name="Match matrix 2-6">
              <a:extLst>
                <a:ext uri="{FF2B5EF4-FFF2-40B4-BE49-F238E27FC236}">
                  <a16:creationId xmlns:a16="http://schemas.microsoft.com/office/drawing/2014/main" id="{59C9C8C5-D90A-7A02-93D3-957FE3AE7DC3}"/>
                </a:ext>
              </a:extLst>
            </p:cNvPr>
            <p:cNvSpPr>
              <a:spLocks noGrp="1"/>
            </p:cNvSpPr>
            <p:nvPr/>
          </p:nvSpPr>
          <p:spPr>
            <a:xfrm>
              <a:off x="4190369" y="7400629"/>
              <a:ext cx="88583" cy="70009"/>
            </a:xfrm>
            <a:prstGeom prst="rect">
              <a:avLst/>
            </a:prstGeom>
            <a:solidFill>
              <a:srgbClr val="88BEC3"/>
            </a:solidFill>
            <a:ln w="7290">
              <a:noFill/>
            </a:ln>
          </p:spPr>
        </p:sp>
        <p:sp>
          <p:nvSpPr>
            <p:cNvPr id="1308" name="Match matrix 2-7">
              <a:extLst>
                <a:ext uri="{FF2B5EF4-FFF2-40B4-BE49-F238E27FC236}">
                  <a16:creationId xmlns:a16="http://schemas.microsoft.com/office/drawing/2014/main" id="{83DFB888-0521-0863-270C-DBAF169C149A}"/>
                </a:ext>
              </a:extLst>
            </p:cNvPr>
            <p:cNvSpPr>
              <a:spLocks noGrp="1"/>
            </p:cNvSpPr>
            <p:nvPr/>
          </p:nvSpPr>
          <p:spPr>
            <a:xfrm>
              <a:off x="4283237" y="7400629"/>
              <a:ext cx="88583" cy="70009"/>
            </a:xfrm>
            <a:prstGeom prst="rect">
              <a:avLst/>
            </a:prstGeom>
            <a:solidFill>
              <a:srgbClr val="A3CDDA"/>
            </a:solidFill>
            <a:ln w="7290">
              <a:noFill/>
            </a:ln>
          </p:spPr>
        </p:sp>
        <p:sp>
          <p:nvSpPr>
            <p:cNvPr id="1309" name="Match matrix 3-0">
              <a:extLst>
                <a:ext uri="{FF2B5EF4-FFF2-40B4-BE49-F238E27FC236}">
                  <a16:creationId xmlns:a16="http://schemas.microsoft.com/office/drawing/2014/main" id="{CDAE8F1E-742C-7BA1-EB00-87CA9B9E40A2}"/>
                </a:ext>
              </a:extLst>
            </p:cNvPr>
            <p:cNvSpPr>
              <a:spLocks noGrp="1"/>
            </p:cNvSpPr>
            <p:nvPr/>
          </p:nvSpPr>
          <p:spPr>
            <a:xfrm>
              <a:off x="3633156" y="7474924"/>
              <a:ext cx="88583" cy="70009"/>
            </a:xfrm>
            <a:prstGeom prst="rect">
              <a:avLst/>
            </a:prstGeom>
            <a:solidFill>
              <a:srgbClr val="88BEC3"/>
            </a:solidFill>
            <a:ln w="7290">
              <a:noFill/>
            </a:ln>
          </p:spPr>
        </p:sp>
        <p:sp>
          <p:nvSpPr>
            <p:cNvPr id="1310" name="Match matrix 3-1">
              <a:extLst>
                <a:ext uri="{FF2B5EF4-FFF2-40B4-BE49-F238E27FC236}">
                  <a16:creationId xmlns:a16="http://schemas.microsoft.com/office/drawing/2014/main" id="{74117986-6240-D77F-909C-522F6146D289}"/>
                </a:ext>
              </a:extLst>
            </p:cNvPr>
            <p:cNvSpPr>
              <a:spLocks noGrp="1"/>
            </p:cNvSpPr>
            <p:nvPr/>
          </p:nvSpPr>
          <p:spPr>
            <a:xfrm>
              <a:off x="3726025" y="7474924"/>
              <a:ext cx="88583" cy="70009"/>
            </a:xfrm>
            <a:prstGeom prst="rect">
              <a:avLst/>
            </a:prstGeom>
            <a:solidFill>
              <a:srgbClr val="D6E5ED"/>
            </a:solidFill>
            <a:ln w="7290">
              <a:noFill/>
            </a:ln>
          </p:spPr>
        </p:sp>
        <p:sp>
          <p:nvSpPr>
            <p:cNvPr id="1311" name="Match matrix 3-2">
              <a:extLst>
                <a:ext uri="{FF2B5EF4-FFF2-40B4-BE49-F238E27FC236}">
                  <a16:creationId xmlns:a16="http://schemas.microsoft.com/office/drawing/2014/main" id="{68BD8A38-75EC-BA37-589D-F9C3EBE804E8}"/>
                </a:ext>
              </a:extLst>
            </p:cNvPr>
            <p:cNvSpPr>
              <a:spLocks noGrp="1"/>
            </p:cNvSpPr>
            <p:nvPr/>
          </p:nvSpPr>
          <p:spPr>
            <a:xfrm>
              <a:off x="3818894" y="7474924"/>
              <a:ext cx="88583" cy="70009"/>
            </a:xfrm>
            <a:prstGeom prst="rect">
              <a:avLst/>
            </a:prstGeom>
            <a:solidFill>
              <a:srgbClr val="67AD9F"/>
            </a:solidFill>
            <a:ln w="7290">
              <a:noFill/>
            </a:ln>
          </p:spPr>
        </p:sp>
        <p:sp>
          <p:nvSpPr>
            <p:cNvPr id="1312" name="Match matrix 3-3">
              <a:extLst>
                <a:ext uri="{FF2B5EF4-FFF2-40B4-BE49-F238E27FC236}">
                  <a16:creationId xmlns:a16="http://schemas.microsoft.com/office/drawing/2014/main" id="{BA2E6B5A-7074-DCD3-8646-836425ECA4E6}"/>
                </a:ext>
              </a:extLst>
            </p:cNvPr>
            <p:cNvSpPr>
              <a:spLocks noGrp="1"/>
            </p:cNvSpPr>
            <p:nvPr/>
          </p:nvSpPr>
          <p:spPr>
            <a:xfrm>
              <a:off x="3911762" y="7474924"/>
              <a:ext cx="88583" cy="70009"/>
            </a:xfrm>
            <a:prstGeom prst="rect">
              <a:avLst/>
            </a:prstGeom>
            <a:solidFill>
              <a:srgbClr val="3E8F9A"/>
            </a:solidFill>
            <a:ln w="7290">
              <a:noFill/>
            </a:ln>
          </p:spPr>
        </p:sp>
        <p:sp>
          <p:nvSpPr>
            <p:cNvPr id="1313" name="Match matrix 3-4">
              <a:extLst>
                <a:ext uri="{FF2B5EF4-FFF2-40B4-BE49-F238E27FC236}">
                  <a16:creationId xmlns:a16="http://schemas.microsoft.com/office/drawing/2014/main" id="{E2B9FFDB-87E6-991D-6FE1-3A8ED7934F53}"/>
                </a:ext>
              </a:extLst>
            </p:cNvPr>
            <p:cNvSpPr>
              <a:spLocks noGrp="1"/>
            </p:cNvSpPr>
            <p:nvPr/>
          </p:nvSpPr>
          <p:spPr>
            <a:xfrm>
              <a:off x="4004631" y="7474924"/>
              <a:ext cx="88583" cy="70009"/>
            </a:xfrm>
            <a:prstGeom prst="rect">
              <a:avLst/>
            </a:prstGeom>
            <a:solidFill>
              <a:srgbClr val="C4DDE0"/>
            </a:solidFill>
            <a:ln w="7290">
              <a:noFill/>
            </a:ln>
          </p:spPr>
        </p:sp>
        <p:sp>
          <p:nvSpPr>
            <p:cNvPr id="1314" name="Match matrix 3-5">
              <a:extLst>
                <a:ext uri="{FF2B5EF4-FFF2-40B4-BE49-F238E27FC236}">
                  <a16:creationId xmlns:a16="http://schemas.microsoft.com/office/drawing/2014/main" id="{93BBAAA9-24B8-1E29-A6DC-8B4D096073B5}"/>
                </a:ext>
              </a:extLst>
            </p:cNvPr>
            <p:cNvSpPr>
              <a:spLocks noGrp="1"/>
            </p:cNvSpPr>
            <p:nvPr/>
          </p:nvSpPr>
          <p:spPr>
            <a:xfrm>
              <a:off x="4097500" y="7474924"/>
              <a:ext cx="88583" cy="70009"/>
            </a:xfrm>
            <a:prstGeom prst="rect">
              <a:avLst/>
            </a:prstGeom>
            <a:solidFill>
              <a:srgbClr val="A3CDDA"/>
            </a:solidFill>
            <a:ln w="7290">
              <a:noFill/>
            </a:ln>
          </p:spPr>
        </p:sp>
        <p:sp>
          <p:nvSpPr>
            <p:cNvPr id="1315" name="Match matrix 3-6">
              <a:extLst>
                <a:ext uri="{FF2B5EF4-FFF2-40B4-BE49-F238E27FC236}">
                  <a16:creationId xmlns:a16="http://schemas.microsoft.com/office/drawing/2014/main" id="{68A528E6-65EA-9C73-7412-55AD6CD16CE8}"/>
                </a:ext>
              </a:extLst>
            </p:cNvPr>
            <p:cNvSpPr>
              <a:spLocks noGrp="1"/>
            </p:cNvSpPr>
            <p:nvPr/>
          </p:nvSpPr>
          <p:spPr>
            <a:xfrm>
              <a:off x="4190369" y="7474924"/>
              <a:ext cx="88583" cy="70009"/>
            </a:xfrm>
            <a:prstGeom prst="rect">
              <a:avLst/>
            </a:prstGeom>
            <a:solidFill>
              <a:srgbClr val="B6D8CC"/>
            </a:solidFill>
            <a:ln w="7290">
              <a:noFill/>
            </a:ln>
          </p:spPr>
        </p:sp>
        <p:sp>
          <p:nvSpPr>
            <p:cNvPr id="1316" name="Match matrix 3-7">
              <a:extLst>
                <a:ext uri="{FF2B5EF4-FFF2-40B4-BE49-F238E27FC236}">
                  <a16:creationId xmlns:a16="http://schemas.microsoft.com/office/drawing/2014/main" id="{2EEE91B3-D81D-6257-AECC-400C8A929123}"/>
                </a:ext>
              </a:extLst>
            </p:cNvPr>
            <p:cNvSpPr>
              <a:spLocks noGrp="1"/>
            </p:cNvSpPr>
            <p:nvPr/>
          </p:nvSpPr>
          <p:spPr>
            <a:xfrm>
              <a:off x="4283237" y="7474924"/>
              <a:ext cx="88583" cy="70009"/>
            </a:xfrm>
            <a:prstGeom prst="rect">
              <a:avLst/>
            </a:prstGeom>
            <a:solidFill>
              <a:srgbClr val="5B9FB6"/>
            </a:solidFill>
            <a:ln w="7290">
              <a:noFill/>
            </a:ln>
          </p:spPr>
        </p:sp>
        <p:sp>
          <p:nvSpPr>
            <p:cNvPr id="1318" name="SMILES continuation 806-628.2">
              <a:extLst>
                <a:ext uri="{FF2B5EF4-FFF2-40B4-BE49-F238E27FC236}">
                  <a16:creationId xmlns:a16="http://schemas.microsoft.com/office/drawing/2014/main" id="{F23A2C65-E88A-BB4F-DB2B-F6BDFE0A90A0}"/>
                </a:ext>
              </a:extLst>
            </p:cNvPr>
            <p:cNvSpPr>
              <a:spLocks noGrp="1"/>
            </p:cNvSpPr>
            <p:nvPr/>
          </p:nvSpPr>
          <p:spPr>
            <a:xfrm>
              <a:off x="8110676" y="5974080"/>
              <a:ext cx="19050" cy="19050"/>
            </a:xfrm>
            <a:prstGeom prst="ellipse">
              <a:avLst/>
            </a:prstGeom>
            <a:solidFill>
              <a:srgbClr val="71808C"/>
            </a:solidFill>
            <a:ln w="0">
              <a:noFill/>
            </a:ln>
          </p:spPr>
        </p:sp>
        <p:sp>
          <p:nvSpPr>
            <p:cNvPr id="1319" name="SMILES continuation 812-628.2">
              <a:extLst>
                <a:ext uri="{FF2B5EF4-FFF2-40B4-BE49-F238E27FC236}">
                  <a16:creationId xmlns:a16="http://schemas.microsoft.com/office/drawing/2014/main" id="{3B989565-3BAD-D4AD-9254-F92A9CA55F5F}"/>
                </a:ext>
              </a:extLst>
            </p:cNvPr>
            <p:cNvSpPr>
              <a:spLocks noGrp="1"/>
            </p:cNvSpPr>
            <p:nvPr/>
          </p:nvSpPr>
          <p:spPr>
            <a:xfrm>
              <a:off x="8167826" y="5974080"/>
              <a:ext cx="19050" cy="19050"/>
            </a:xfrm>
            <a:prstGeom prst="ellipse">
              <a:avLst/>
            </a:prstGeom>
            <a:solidFill>
              <a:srgbClr val="71808C"/>
            </a:solidFill>
            <a:ln w="0">
              <a:noFill/>
            </a:ln>
          </p:spPr>
        </p:sp>
        <p:sp>
          <p:nvSpPr>
            <p:cNvPr id="1320" name="SMILES continuation 818-628.2">
              <a:extLst>
                <a:ext uri="{FF2B5EF4-FFF2-40B4-BE49-F238E27FC236}">
                  <a16:creationId xmlns:a16="http://schemas.microsoft.com/office/drawing/2014/main" id="{42B8B6C2-B43E-383F-14DE-C418D4494332}"/>
                </a:ext>
              </a:extLst>
            </p:cNvPr>
            <p:cNvSpPr>
              <a:spLocks noGrp="1"/>
            </p:cNvSpPr>
            <p:nvPr/>
          </p:nvSpPr>
          <p:spPr>
            <a:xfrm>
              <a:off x="8224976" y="5974080"/>
              <a:ext cx="19050" cy="19050"/>
            </a:xfrm>
            <a:prstGeom prst="ellipse">
              <a:avLst/>
            </a:prstGeom>
            <a:solidFill>
              <a:srgbClr val="71808C"/>
            </a:solidFill>
            <a:ln w="0">
              <a:noFill/>
            </a:ln>
          </p:spPr>
        </p:sp>
        <p:sp>
          <p:nvSpPr>
            <p:cNvPr id="1321" name="SMILES continuation 806-667">
              <a:extLst>
                <a:ext uri="{FF2B5EF4-FFF2-40B4-BE49-F238E27FC236}">
                  <a16:creationId xmlns:a16="http://schemas.microsoft.com/office/drawing/2014/main" id="{39894408-4EFC-1123-4D43-5E7226F5F0C0}"/>
                </a:ext>
              </a:extLst>
            </p:cNvPr>
            <p:cNvSpPr>
              <a:spLocks noGrp="1"/>
            </p:cNvSpPr>
            <p:nvPr/>
          </p:nvSpPr>
          <p:spPr>
            <a:xfrm>
              <a:off x="8110676" y="6343650"/>
              <a:ext cx="19050" cy="19050"/>
            </a:xfrm>
            <a:prstGeom prst="ellipse">
              <a:avLst/>
            </a:prstGeom>
            <a:solidFill>
              <a:srgbClr val="71808C"/>
            </a:solidFill>
            <a:ln w="0">
              <a:noFill/>
            </a:ln>
          </p:spPr>
        </p:sp>
        <p:sp>
          <p:nvSpPr>
            <p:cNvPr id="1322" name="SMILES continuation 812-667">
              <a:extLst>
                <a:ext uri="{FF2B5EF4-FFF2-40B4-BE49-F238E27FC236}">
                  <a16:creationId xmlns:a16="http://schemas.microsoft.com/office/drawing/2014/main" id="{B15788D5-8154-0220-0ADD-B84E221B0B6F}"/>
                </a:ext>
              </a:extLst>
            </p:cNvPr>
            <p:cNvSpPr>
              <a:spLocks noGrp="1"/>
            </p:cNvSpPr>
            <p:nvPr/>
          </p:nvSpPr>
          <p:spPr>
            <a:xfrm>
              <a:off x="8167826" y="6343650"/>
              <a:ext cx="19050" cy="19050"/>
            </a:xfrm>
            <a:prstGeom prst="ellipse">
              <a:avLst/>
            </a:prstGeom>
            <a:solidFill>
              <a:srgbClr val="71808C"/>
            </a:solidFill>
            <a:ln w="0">
              <a:noFill/>
            </a:ln>
          </p:spPr>
        </p:sp>
        <p:sp>
          <p:nvSpPr>
            <p:cNvPr id="1323" name="SMILES continuation 818-667">
              <a:extLst>
                <a:ext uri="{FF2B5EF4-FFF2-40B4-BE49-F238E27FC236}">
                  <a16:creationId xmlns:a16="http://schemas.microsoft.com/office/drawing/2014/main" id="{06FB727B-1C36-BDAC-BF90-119F79F57919}"/>
                </a:ext>
              </a:extLst>
            </p:cNvPr>
            <p:cNvSpPr>
              <a:spLocks noGrp="1"/>
            </p:cNvSpPr>
            <p:nvPr/>
          </p:nvSpPr>
          <p:spPr>
            <a:xfrm>
              <a:off x="8224976" y="6343650"/>
              <a:ext cx="19050" cy="19050"/>
            </a:xfrm>
            <a:prstGeom prst="ellipse">
              <a:avLst/>
            </a:prstGeom>
            <a:solidFill>
              <a:srgbClr val="71808C"/>
            </a:solidFill>
            <a:ln w="0">
              <a:noFill/>
            </a:ln>
          </p:spPr>
        </p:sp>
        <p:sp>
          <p:nvSpPr>
            <p:cNvPr id="1324" name="Find density input">
              <a:extLst>
                <a:ext uri="{FF2B5EF4-FFF2-40B4-BE49-F238E27FC236}">
                  <a16:creationId xmlns:a16="http://schemas.microsoft.com/office/drawing/2014/main" id="{3BB3F16C-BBC6-CEA5-1D5F-BADEC13D0E07}"/>
                </a:ext>
              </a:extLst>
            </p:cNvPr>
            <p:cNvSpPr>
              <a:spLocks noGrp="1"/>
            </p:cNvSpPr>
            <p:nvPr/>
          </p:nvSpPr>
          <p:spPr>
            <a:xfrm flipV="1">
              <a:off x="2405391" y="1410958"/>
              <a:ext cx="692378" cy="107521"/>
            </a:xfrm>
            <a:custGeom>
              <a:avLst/>
              <a:gdLst/>
              <a:ahLst/>
              <a:cxnLst/>
              <a:rect l="0" t="0" r="0" b="0"/>
              <a:pathLst>
                <a:path w="125540" h="191">
                  <a:moveTo>
                    <a:pt x="0" y="0"/>
                  </a:moveTo>
                  <a:lnTo>
                    <a:pt x="125540" y="0"/>
                  </a:lnTo>
                </a:path>
              </a:pathLst>
            </a:custGeom>
            <a:noFill/>
            <a:ln w="8505">
              <a:solidFill>
                <a:srgbClr val="77828C"/>
              </a:solidFill>
              <a:prstDash val="solid"/>
            </a:ln>
          </p:spPr>
        </p:sp>
        <p:sp>
          <p:nvSpPr>
            <p:cNvPr id="1325" name="Find density input head">
              <a:extLst>
                <a:ext uri="{FF2B5EF4-FFF2-40B4-BE49-F238E27FC236}">
                  <a16:creationId xmlns:a16="http://schemas.microsoft.com/office/drawing/2014/main" id="{DD01582E-D72F-DC2A-ED51-209065AB4BE2}"/>
                </a:ext>
              </a:extLst>
            </p:cNvPr>
            <p:cNvSpPr>
              <a:spLocks noGrp="1"/>
            </p:cNvSpPr>
            <p:nvPr/>
          </p:nvSpPr>
          <p:spPr>
            <a:xfrm>
              <a:off x="3052858" y="1489808"/>
              <a:ext cx="66676" cy="57339"/>
            </a:xfrm>
            <a:custGeom>
              <a:avLst/>
              <a:gdLst/>
              <a:ahLst/>
              <a:cxnLst/>
              <a:rect l="0" t="0" r="0" b="0"/>
              <a:pathLst>
                <a:path w="66675" h="57340">
                  <a:moveTo>
                    <a:pt x="66675" y="28670"/>
                  </a:moveTo>
                  <a:lnTo>
                    <a:pt x="0" y="0"/>
                  </a:lnTo>
                  <a:lnTo>
                    <a:pt x="0" y="57340"/>
                  </a:lnTo>
                  <a:close/>
                </a:path>
              </a:pathLst>
            </a:custGeom>
            <a:solidFill>
              <a:srgbClr val="77828C"/>
            </a:solidFill>
            <a:ln w="0">
              <a:noFill/>
              <a:prstDash val="solid"/>
            </a:ln>
          </p:spPr>
        </p:sp>
        <p:sp>
          <p:nvSpPr>
            <p:cNvPr id="1328" name="Find receptor input">
              <a:extLst>
                <a:ext uri="{FF2B5EF4-FFF2-40B4-BE49-F238E27FC236}">
                  <a16:creationId xmlns:a16="http://schemas.microsoft.com/office/drawing/2014/main" id="{8835B13D-A150-D32A-EA5F-DF6B94803636}"/>
                </a:ext>
              </a:extLst>
            </p:cNvPr>
            <p:cNvSpPr>
              <a:spLocks noGrp="1"/>
            </p:cNvSpPr>
            <p:nvPr/>
          </p:nvSpPr>
          <p:spPr>
            <a:xfrm>
              <a:off x="2405391" y="3260557"/>
              <a:ext cx="692378" cy="107521"/>
            </a:xfrm>
            <a:custGeom>
              <a:avLst/>
              <a:gdLst/>
              <a:ahLst/>
              <a:cxnLst/>
              <a:rect l="0" t="0" r="0" b="0"/>
              <a:pathLst>
                <a:path w="125540" h="191">
                  <a:moveTo>
                    <a:pt x="0" y="0"/>
                  </a:moveTo>
                  <a:lnTo>
                    <a:pt x="125540" y="0"/>
                  </a:lnTo>
                </a:path>
              </a:pathLst>
            </a:custGeom>
            <a:solidFill>
              <a:srgbClr val="77828C"/>
            </a:solidFill>
            <a:ln w="8505">
              <a:solidFill>
                <a:srgbClr val="77828C"/>
              </a:solidFill>
              <a:prstDash val="solid"/>
            </a:ln>
          </p:spPr>
        </p:sp>
        <p:sp>
          <p:nvSpPr>
            <p:cNvPr id="1329" name="Find receptor input head">
              <a:extLst>
                <a:ext uri="{FF2B5EF4-FFF2-40B4-BE49-F238E27FC236}">
                  <a16:creationId xmlns:a16="http://schemas.microsoft.com/office/drawing/2014/main" id="{A5463DF5-F357-C133-4537-3687854104BD}"/>
                </a:ext>
              </a:extLst>
            </p:cNvPr>
            <p:cNvSpPr>
              <a:spLocks noGrp="1"/>
            </p:cNvSpPr>
            <p:nvPr/>
          </p:nvSpPr>
          <p:spPr>
            <a:xfrm>
              <a:off x="3052858" y="3231886"/>
              <a:ext cx="66676" cy="57339"/>
            </a:xfrm>
            <a:custGeom>
              <a:avLst/>
              <a:gdLst/>
              <a:ahLst/>
              <a:cxnLst/>
              <a:rect l="0" t="0" r="0" b="0"/>
              <a:pathLst>
                <a:path w="66675" h="57340">
                  <a:moveTo>
                    <a:pt x="66675" y="28670"/>
                  </a:moveTo>
                  <a:lnTo>
                    <a:pt x="0" y="0"/>
                  </a:lnTo>
                  <a:lnTo>
                    <a:pt x="0" y="57340"/>
                  </a:lnTo>
                  <a:close/>
                </a:path>
              </a:pathLst>
            </a:custGeom>
            <a:solidFill>
              <a:srgbClr val="77828C"/>
            </a:solidFill>
            <a:ln w="0">
              <a:noFill/>
              <a:prstDash val="solid"/>
            </a:ln>
          </p:spPr>
        </p:sp>
        <p:sp>
          <p:nvSpPr>
            <p:cNvPr id="1332" name="Find voxel output">
              <a:extLst>
                <a:ext uri="{FF2B5EF4-FFF2-40B4-BE49-F238E27FC236}">
                  <a16:creationId xmlns:a16="http://schemas.microsoft.com/office/drawing/2014/main" id="{A7A050F5-4BBD-83D0-3E56-868138C02A2E}"/>
                </a:ext>
              </a:extLst>
            </p:cNvPr>
            <p:cNvSpPr>
              <a:spLocks noGrp="1"/>
            </p:cNvSpPr>
            <p:nvPr/>
          </p:nvSpPr>
          <p:spPr>
            <a:xfrm>
              <a:off x="9680238" y="1544003"/>
              <a:ext cx="409314" cy="191"/>
            </a:xfrm>
            <a:custGeom>
              <a:avLst/>
              <a:gdLst/>
              <a:ahLst/>
              <a:cxnLst/>
              <a:rect l="0" t="0" r="0" b="0"/>
              <a:pathLst>
                <a:path w="252508" h="191">
                  <a:moveTo>
                    <a:pt x="0" y="0"/>
                  </a:moveTo>
                  <a:lnTo>
                    <a:pt x="252508" y="0"/>
                  </a:lnTo>
                </a:path>
              </a:pathLst>
            </a:custGeom>
            <a:noFill/>
            <a:ln w="8505">
              <a:solidFill>
                <a:srgbClr val="77828C"/>
              </a:solidFill>
              <a:prstDash val="solid"/>
            </a:ln>
          </p:spPr>
        </p:sp>
        <p:sp>
          <p:nvSpPr>
            <p:cNvPr id="1333" name="Find voxel output head">
              <a:extLst>
                <a:ext uri="{FF2B5EF4-FFF2-40B4-BE49-F238E27FC236}">
                  <a16:creationId xmlns:a16="http://schemas.microsoft.com/office/drawing/2014/main" id="{375132D2-B1BA-3819-E6E4-408E45D3577A}"/>
                </a:ext>
              </a:extLst>
            </p:cNvPr>
            <p:cNvSpPr>
              <a:spLocks noGrp="1"/>
            </p:cNvSpPr>
            <p:nvPr/>
          </p:nvSpPr>
          <p:spPr>
            <a:xfrm>
              <a:off x="10046213" y="1515332"/>
              <a:ext cx="66675" cy="57340"/>
            </a:xfrm>
            <a:custGeom>
              <a:avLst/>
              <a:gdLst/>
              <a:ahLst/>
              <a:cxnLst/>
              <a:rect l="0" t="0" r="0" b="0"/>
              <a:pathLst>
                <a:path w="66675" h="57340">
                  <a:moveTo>
                    <a:pt x="66675" y="28670"/>
                  </a:moveTo>
                  <a:lnTo>
                    <a:pt x="0" y="0"/>
                  </a:lnTo>
                  <a:lnTo>
                    <a:pt x="0" y="57340"/>
                  </a:lnTo>
                  <a:close/>
                </a:path>
              </a:pathLst>
            </a:custGeom>
            <a:solidFill>
              <a:srgbClr val="77828C"/>
            </a:solidFill>
            <a:ln w="0">
              <a:noFill/>
              <a:prstDash val="solid"/>
            </a:ln>
          </p:spPr>
        </p:sp>
        <p:sp>
          <p:nvSpPr>
            <p:cNvPr id="1334" name="Find point output">
              <a:extLst>
                <a:ext uri="{FF2B5EF4-FFF2-40B4-BE49-F238E27FC236}">
                  <a16:creationId xmlns:a16="http://schemas.microsoft.com/office/drawing/2014/main" id="{E2AB92F8-FB1A-DF4D-C056-6A909BEA2DE1}"/>
                </a:ext>
              </a:extLst>
            </p:cNvPr>
            <p:cNvSpPr>
              <a:spLocks noGrp="1"/>
            </p:cNvSpPr>
            <p:nvPr/>
          </p:nvSpPr>
          <p:spPr>
            <a:xfrm>
              <a:off x="9680238" y="3107055"/>
              <a:ext cx="409314" cy="191"/>
            </a:xfrm>
            <a:custGeom>
              <a:avLst/>
              <a:gdLst/>
              <a:ahLst/>
              <a:cxnLst/>
              <a:rect l="0" t="0" r="0" b="0"/>
              <a:pathLst>
                <a:path w="252508" h="191">
                  <a:moveTo>
                    <a:pt x="0" y="0"/>
                  </a:moveTo>
                  <a:lnTo>
                    <a:pt x="252508" y="0"/>
                  </a:lnTo>
                </a:path>
              </a:pathLst>
            </a:custGeom>
            <a:noFill/>
            <a:ln w="8505">
              <a:solidFill>
                <a:srgbClr val="77828C"/>
              </a:solidFill>
              <a:prstDash val="solid"/>
            </a:ln>
          </p:spPr>
        </p:sp>
        <p:sp>
          <p:nvSpPr>
            <p:cNvPr id="1335" name="Find point output head">
              <a:extLst>
                <a:ext uri="{FF2B5EF4-FFF2-40B4-BE49-F238E27FC236}">
                  <a16:creationId xmlns:a16="http://schemas.microsoft.com/office/drawing/2014/main" id="{28B06725-C3FB-3373-8A56-A66D9CE3ECA7}"/>
                </a:ext>
              </a:extLst>
            </p:cNvPr>
            <p:cNvSpPr>
              <a:spLocks noGrp="1"/>
            </p:cNvSpPr>
            <p:nvPr/>
          </p:nvSpPr>
          <p:spPr>
            <a:xfrm>
              <a:off x="10046213" y="3078385"/>
              <a:ext cx="66675" cy="57340"/>
            </a:xfrm>
            <a:custGeom>
              <a:avLst/>
              <a:gdLst/>
              <a:ahLst/>
              <a:cxnLst/>
              <a:rect l="0" t="0" r="0" b="0"/>
              <a:pathLst>
                <a:path w="66675" h="57340">
                  <a:moveTo>
                    <a:pt x="66675" y="28670"/>
                  </a:moveTo>
                  <a:lnTo>
                    <a:pt x="0" y="0"/>
                  </a:lnTo>
                  <a:lnTo>
                    <a:pt x="0" y="57340"/>
                  </a:lnTo>
                  <a:close/>
                </a:path>
              </a:pathLst>
            </a:custGeom>
            <a:solidFill>
              <a:srgbClr val="77828C"/>
            </a:solidFill>
            <a:ln w="0">
              <a:noFill/>
              <a:prstDash val="solid"/>
            </a:ln>
          </p:spPr>
        </p:sp>
        <p:sp>
          <p:nvSpPr>
            <p:cNvPr id="1336" name="U-Net flow refined 1">
              <a:extLst>
                <a:ext uri="{FF2B5EF4-FFF2-40B4-BE49-F238E27FC236}">
                  <a16:creationId xmlns:a16="http://schemas.microsoft.com/office/drawing/2014/main" id="{5BDE2ECB-1CBA-ACB1-3426-F3E9F144A8A7}"/>
                </a:ext>
              </a:extLst>
            </p:cNvPr>
            <p:cNvSpPr>
              <a:spLocks noGrp="1"/>
            </p:cNvSpPr>
            <p:nvPr/>
          </p:nvSpPr>
          <p:spPr>
            <a:xfrm>
              <a:off x="5329408" y="1943100"/>
              <a:ext cx="71390" cy="191"/>
            </a:xfrm>
            <a:custGeom>
              <a:avLst/>
              <a:gdLst/>
              <a:ahLst/>
              <a:cxnLst/>
              <a:rect l="0" t="0" r="0" b="0"/>
              <a:pathLst>
                <a:path w="71390" h="191">
                  <a:moveTo>
                    <a:pt x="0" y="0"/>
                  </a:moveTo>
                  <a:lnTo>
                    <a:pt x="71390" y="0"/>
                  </a:lnTo>
                </a:path>
              </a:pathLst>
            </a:custGeom>
            <a:noFill/>
            <a:ln w="6480">
              <a:solidFill>
                <a:srgbClr val="77828C"/>
              </a:solidFill>
              <a:prstDash val="solid"/>
            </a:ln>
          </p:spPr>
        </p:sp>
        <p:sp>
          <p:nvSpPr>
            <p:cNvPr id="1337" name="U-Net flow refined 1 head">
              <a:extLst>
                <a:ext uri="{FF2B5EF4-FFF2-40B4-BE49-F238E27FC236}">
                  <a16:creationId xmlns:a16="http://schemas.microsoft.com/office/drawing/2014/main" id="{94C963B0-6292-D96E-8000-E5176CACF1B1}"/>
                </a:ext>
              </a:extLst>
            </p:cNvPr>
            <p:cNvSpPr>
              <a:spLocks noGrp="1"/>
            </p:cNvSpPr>
            <p:nvPr/>
          </p:nvSpPr>
          <p:spPr>
            <a:xfrm>
              <a:off x="5374176" y="1925488"/>
              <a:ext cx="40957" cy="35223"/>
            </a:xfrm>
            <a:custGeom>
              <a:avLst/>
              <a:gdLst/>
              <a:ahLst/>
              <a:cxnLst/>
              <a:rect l="0" t="0" r="0" b="0"/>
              <a:pathLst>
                <a:path w="40957" h="35223">
                  <a:moveTo>
                    <a:pt x="40957" y="17612"/>
                  </a:moveTo>
                  <a:lnTo>
                    <a:pt x="0" y="0"/>
                  </a:lnTo>
                  <a:lnTo>
                    <a:pt x="0" y="35223"/>
                  </a:lnTo>
                  <a:close/>
                </a:path>
              </a:pathLst>
            </a:custGeom>
            <a:solidFill>
              <a:srgbClr val="77828C"/>
            </a:solidFill>
            <a:ln w="0">
              <a:noFill/>
              <a:prstDash val="solid"/>
            </a:ln>
          </p:spPr>
        </p:sp>
        <p:sp>
          <p:nvSpPr>
            <p:cNvPr id="1338" name="U-Net flow refined 2">
              <a:extLst>
                <a:ext uri="{FF2B5EF4-FFF2-40B4-BE49-F238E27FC236}">
                  <a16:creationId xmlns:a16="http://schemas.microsoft.com/office/drawing/2014/main" id="{6EDFECDB-834F-45E8-C447-187E68499D36}"/>
                </a:ext>
              </a:extLst>
            </p:cNvPr>
            <p:cNvSpPr>
              <a:spLocks noGrp="1"/>
            </p:cNvSpPr>
            <p:nvPr/>
          </p:nvSpPr>
          <p:spPr>
            <a:xfrm>
              <a:off x="5786608" y="1943100"/>
              <a:ext cx="61865" cy="191"/>
            </a:xfrm>
            <a:custGeom>
              <a:avLst/>
              <a:gdLst/>
              <a:ahLst/>
              <a:cxnLst/>
              <a:rect l="0" t="0" r="0" b="0"/>
              <a:pathLst>
                <a:path w="61865" h="191">
                  <a:moveTo>
                    <a:pt x="0" y="0"/>
                  </a:moveTo>
                  <a:lnTo>
                    <a:pt x="61865" y="0"/>
                  </a:lnTo>
                </a:path>
              </a:pathLst>
            </a:custGeom>
            <a:noFill/>
            <a:ln w="6480">
              <a:solidFill>
                <a:srgbClr val="77828C"/>
              </a:solidFill>
              <a:prstDash val="solid"/>
            </a:ln>
          </p:spPr>
        </p:sp>
        <p:sp>
          <p:nvSpPr>
            <p:cNvPr id="1339" name="U-Net flow refined 2 head">
              <a:extLst>
                <a:ext uri="{FF2B5EF4-FFF2-40B4-BE49-F238E27FC236}">
                  <a16:creationId xmlns:a16="http://schemas.microsoft.com/office/drawing/2014/main" id="{147D1FA6-05BE-3A5D-C1FE-78DB516DA9EB}"/>
                </a:ext>
              </a:extLst>
            </p:cNvPr>
            <p:cNvSpPr>
              <a:spLocks noGrp="1"/>
            </p:cNvSpPr>
            <p:nvPr/>
          </p:nvSpPr>
          <p:spPr>
            <a:xfrm>
              <a:off x="5821851" y="1925488"/>
              <a:ext cx="40957" cy="35223"/>
            </a:xfrm>
            <a:custGeom>
              <a:avLst/>
              <a:gdLst/>
              <a:ahLst/>
              <a:cxnLst/>
              <a:rect l="0" t="0" r="0" b="0"/>
              <a:pathLst>
                <a:path w="40957" h="35223">
                  <a:moveTo>
                    <a:pt x="40957" y="17612"/>
                  </a:moveTo>
                  <a:lnTo>
                    <a:pt x="0" y="0"/>
                  </a:lnTo>
                  <a:lnTo>
                    <a:pt x="0" y="35223"/>
                  </a:lnTo>
                  <a:close/>
                </a:path>
              </a:pathLst>
            </a:custGeom>
            <a:solidFill>
              <a:srgbClr val="77828C"/>
            </a:solidFill>
            <a:ln w="0">
              <a:noFill/>
              <a:prstDash val="solid"/>
            </a:ln>
          </p:spPr>
        </p:sp>
        <p:sp>
          <p:nvSpPr>
            <p:cNvPr id="1340" name="U-Net flow refined 3">
              <a:extLst>
                <a:ext uri="{FF2B5EF4-FFF2-40B4-BE49-F238E27FC236}">
                  <a16:creationId xmlns:a16="http://schemas.microsoft.com/office/drawing/2014/main" id="{7AF7CF23-54DF-A29D-2F07-D36A3F45EDD2}"/>
                </a:ext>
              </a:extLst>
            </p:cNvPr>
            <p:cNvSpPr>
              <a:spLocks noGrp="1"/>
            </p:cNvSpPr>
            <p:nvPr/>
          </p:nvSpPr>
          <p:spPr>
            <a:xfrm>
              <a:off x="6358108" y="1943100"/>
              <a:ext cx="185690" cy="191"/>
            </a:xfrm>
            <a:custGeom>
              <a:avLst/>
              <a:gdLst/>
              <a:ahLst/>
              <a:cxnLst/>
              <a:rect l="0" t="0" r="0" b="0"/>
              <a:pathLst>
                <a:path w="185690" h="191">
                  <a:moveTo>
                    <a:pt x="0" y="0"/>
                  </a:moveTo>
                  <a:lnTo>
                    <a:pt x="185690" y="0"/>
                  </a:lnTo>
                </a:path>
              </a:pathLst>
            </a:custGeom>
            <a:noFill/>
            <a:ln w="6480">
              <a:solidFill>
                <a:srgbClr val="77828C"/>
              </a:solidFill>
              <a:prstDash val="solid"/>
            </a:ln>
          </p:spPr>
        </p:sp>
        <p:sp>
          <p:nvSpPr>
            <p:cNvPr id="1341" name="U-Net flow refined 3 head">
              <a:extLst>
                <a:ext uri="{FF2B5EF4-FFF2-40B4-BE49-F238E27FC236}">
                  <a16:creationId xmlns:a16="http://schemas.microsoft.com/office/drawing/2014/main" id="{99F4C0B1-883D-15E1-DE1D-B9D0B602A47D}"/>
                </a:ext>
              </a:extLst>
            </p:cNvPr>
            <p:cNvSpPr>
              <a:spLocks noGrp="1"/>
            </p:cNvSpPr>
            <p:nvPr/>
          </p:nvSpPr>
          <p:spPr>
            <a:xfrm>
              <a:off x="6517176" y="1925488"/>
              <a:ext cx="40957" cy="35223"/>
            </a:xfrm>
            <a:custGeom>
              <a:avLst/>
              <a:gdLst/>
              <a:ahLst/>
              <a:cxnLst/>
              <a:rect l="0" t="0" r="0" b="0"/>
              <a:pathLst>
                <a:path w="40957" h="35223">
                  <a:moveTo>
                    <a:pt x="40957" y="17612"/>
                  </a:moveTo>
                  <a:lnTo>
                    <a:pt x="0" y="0"/>
                  </a:lnTo>
                  <a:lnTo>
                    <a:pt x="0" y="35223"/>
                  </a:lnTo>
                  <a:close/>
                </a:path>
              </a:pathLst>
            </a:custGeom>
            <a:solidFill>
              <a:srgbClr val="77828C"/>
            </a:solidFill>
            <a:ln w="0">
              <a:noFill/>
              <a:prstDash val="solid"/>
            </a:ln>
          </p:spPr>
        </p:sp>
        <p:sp>
          <p:nvSpPr>
            <p:cNvPr id="1342" name="U-Net flow refined 4">
              <a:extLst>
                <a:ext uri="{FF2B5EF4-FFF2-40B4-BE49-F238E27FC236}">
                  <a16:creationId xmlns:a16="http://schemas.microsoft.com/office/drawing/2014/main" id="{1AB9AC41-CF99-6B25-72AE-CA5759E07BBC}"/>
                </a:ext>
              </a:extLst>
            </p:cNvPr>
            <p:cNvSpPr>
              <a:spLocks noGrp="1"/>
            </p:cNvSpPr>
            <p:nvPr/>
          </p:nvSpPr>
          <p:spPr>
            <a:xfrm>
              <a:off x="7634458" y="1943100"/>
              <a:ext cx="204740" cy="191"/>
            </a:xfrm>
            <a:custGeom>
              <a:avLst/>
              <a:gdLst/>
              <a:ahLst/>
              <a:cxnLst/>
              <a:rect l="0" t="0" r="0" b="0"/>
              <a:pathLst>
                <a:path w="204740" h="191">
                  <a:moveTo>
                    <a:pt x="0" y="0"/>
                  </a:moveTo>
                  <a:lnTo>
                    <a:pt x="204740" y="0"/>
                  </a:lnTo>
                </a:path>
              </a:pathLst>
            </a:custGeom>
            <a:noFill/>
            <a:ln w="6480">
              <a:solidFill>
                <a:srgbClr val="77828C"/>
              </a:solidFill>
              <a:prstDash val="solid"/>
            </a:ln>
          </p:spPr>
        </p:sp>
        <p:sp>
          <p:nvSpPr>
            <p:cNvPr id="1343" name="U-Net flow refined 4 head">
              <a:extLst>
                <a:ext uri="{FF2B5EF4-FFF2-40B4-BE49-F238E27FC236}">
                  <a16:creationId xmlns:a16="http://schemas.microsoft.com/office/drawing/2014/main" id="{8B74AF9E-166C-456E-8C30-81819473FD65}"/>
                </a:ext>
              </a:extLst>
            </p:cNvPr>
            <p:cNvSpPr>
              <a:spLocks noGrp="1"/>
            </p:cNvSpPr>
            <p:nvPr/>
          </p:nvSpPr>
          <p:spPr>
            <a:xfrm>
              <a:off x="7812576" y="1925488"/>
              <a:ext cx="40957" cy="35223"/>
            </a:xfrm>
            <a:custGeom>
              <a:avLst/>
              <a:gdLst/>
              <a:ahLst/>
              <a:cxnLst/>
              <a:rect l="0" t="0" r="0" b="0"/>
              <a:pathLst>
                <a:path w="40957" h="35223">
                  <a:moveTo>
                    <a:pt x="40957" y="17612"/>
                  </a:moveTo>
                  <a:lnTo>
                    <a:pt x="0" y="0"/>
                  </a:lnTo>
                  <a:lnTo>
                    <a:pt x="0" y="35223"/>
                  </a:lnTo>
                  <a:close/>
                </a:path>
              </a:pathLst>
            </a:custGeom>
            <a:solidFill>
              <a:srgbClr val="77828C"/>
            </a:solidFill>
            <a:ln w="0">
              <a:noFill/>
              <a:prstDash val="solid"/>
            </a:ln>
          </p:spPr>
        </p:sp>
        <p:sp>
          <p:nvSpPr>
            <p:cNvPr id="1344" name="U-Net flow refined 5">
              <a:extLst>
                <a:ext uri="{FF2B5EF4-FFF2-40B4-BE49-F238E27FC236}">
                  <a16:creationId xmlns:a16="http://schemas.microsoft.com/office/drawing/2014/main" id="{1DF9FEC8-127A-C6BF-A242-5459B8B47514}"/>
                </a:ext>
              </a:extLst>
            </p:cNvPr>
            <p:cNvSpPr>
              <a:spLocks noGrp="1"/>
            </p:cNvSpPr>
            <p:nvPr/>
          </p:nvSpPr>
          <p:spPr>
            <a:xfrm>
              <a:off x="8358358" y="1943100"/>
              <a:ext cx="71390" cy="191"/>
            </a:xfrm>
            <a:custGeom>
              <a:avLst/>
              <a:gdLst/>
              <a:ahLst/>
              <a:cxnLst/>
              <a:rect l="0" t="0" r="0" b="0"/>
              <a:pathLst>
                <a:path w="71390" h="191">
                  <a:moveTo>
                    <a:pt x="0" y="0"/>
                  </a:moveTo>
                  <a:lnTo>
                    <a:pt x="71390" y="0"/>
                  </a:lnTo>
                </a:path>
              </a:pathLst>
            </a:custGeom>
            <a:noFill/>
            <a:ln w="6480">
              <a:solidFill>
                <a:srgbClr val="77828C"/>
              </a:solidFill>
              <a:prstDash val="solid"/>
            </a:ln>
          </p:spPr>
        </p:sp>
        <p:sp>
          <p:nvSpPr>
            <p:cNvPr id="1345" name="U-Net flow refined 5 head">
              <a:extLst>
                <a:ext uri="{FF2B5EF4-FFF2-40B4-BE49-F238E27FC236}">
                  <a16:creationId xmlns:a16="http://schemas.microsoft.com/office/drawing/2014/main" id="{235A2EBC-75E8-8D72-4A9D-B691D888DD1B}"/>
                </a:ext>
              </a:extLst>
            </p:cNvPr>
            <p:cNvSpPr>
              <a:spLocks noGrp="1"/>
            </p:cNvSpPr>
            <p:nvPr/>
          </p:nvSpPr>
          <p:spPr>
            <a:xfrm>
              <a:off x="8403126" y="1925488"/>
              <a:ext cx="40957" cy="35223"/>
            </a:xfrm>
            <a:custGeom>
              <a:avLst/>
              <a:gdLst/>
              <a:ahLst/>
              <a:cxnLst/>
              <a:rect l="0" t="0" r="0" b="0"/>
              <a:pathLst>
                <a:path w="40957" h="35223">
                  <a:moveTo>
                    <a:pt x="40957" y="17612"/>
                  </a:moveTo>
                  <a:lnTo>
                    <a:pt x="0" y="0"/>
                  </a:lnTo>
                  <a:lnTo>
                    <a:pt x="0" y="35223"/>
                  </a:lnTo>
                  <a:close/>
                </a:path>
              </a:pathLst>
            </a:custGeom>
            <a:solidFill>
              <a:srgbClr val="77828C"/>
            </a:solidFill>
            <a:ln w="0">
              <a:noFill/>
              <a:prstDash val="solid"/>
            </a:ln>
          </p:spPr>
        </p:sp>
        <p:sp>
          <p:nvSpPr>
            <p:cNvPr id="1346" name="U-Net flow refined 6">
              <a:extLst>
                <a:ext uri="{FF2B5EF4-FFF2-40B4-BE49-F238E27FC236}">
                  <a16:creationId xmlns:a16="http://schemas.microsoft.com/office/drawing/2014/main" id="{E16F5364-FA67-8E77-55DD-31048ACFB369}"/>
                </a:ext>
              </a:extLst>
            </p:cNvPr>
            <p:cNvSpPr>
              <a:spLocks noGrp="1"/>
            </p:cNvSpPr>
            <p:nvPr/>
          </p:nvSpPr>
          <p:spPr>
            <a:xfrm>
              <a:off x="8796508" y="1943100"/>
              <a:ext cx="90440" cy="191"/>
            </a:xfrm>
            <a:custGeom>
              <a:avLst/>
              <a:gdLst/>
              <a:ahLst/>
              <a:cxnLst/>
              <a:rect l="0" t="0" r="0" b="0"/>
              <a:pathLst>
                <a:path w="90440" h="191">
                  <a:moveTo>
                    <a:pt x="0" y="0"/>
                  </a:moveTo>
                  <a:lnTo>
                    <a:pt x="90440" y="0"/>
                  </a:lnTo>
                </a:path>
              </a:pathLst>
            </a:custGeom>
            <a:noFill/>
            <a:ln w="6480">
              <a:solidFill>
                <a:srgbClr val="77828C"/>
              </a:solidFill>
              <a:prstDash val="solid"/>
            </a:ln>
          </p:spPr>
        </p:sp>
        <p:sp>
          <p:nvSpPr>
            <p:cNvPr id="1347" name="U-Net flow refined 6 head">
              <a:extLst>
                <a:ext uri="{FF2B5EF4-FFF2-40B4-BE49-F238E27FC236}">
                  <a16:creationId xmlns:a16="http://schemas.microsoft.com/office/drawing/2014/main" id="{CAB8405E-639F-441D-4076-97C5C8079141}"/>
                </a:ext>
              </a:extLst>
            </p:cNvPr>
            <p:cNvSpPr>
              <a:spLocks noGrp="1"/>
            </p:cNvSpPr>
            <p:nvPr/>
          </p:nvSpPr>
          <p:spPr>
            <a:xfrm>
              <a:off x="8860326" y="1925488"/>
              <a:ext cx="40957" cy="35223"/>
            </a:xfrm>
            <a:custGeom>
              <a:avLst/>
              <a:gdLst/>
              <a:ahLst/>
              <a:cxnLst/>
              <a:rect l="0" t="0" r="0" b="0"/>
              <a:pathLst>
                <a:path w="40957" h="35223">
                  <a:moveTo>
                    <a:pt x="40957" y="17612"/>
                  </a:moveTo>
                  <a:lnTo>
                    <a:pt x="0" y="0"/>
                  </a:lnTo>
                  <a:lnTo>
                    <a:pt x="0" y="35223"/>
                  </a:lnTo>
                  <a:close/>
                </a:path>
              </a:pathLst>
            </a:custGeom>
            <a:solidFill>
              <a:srgbClr val="77828C"/>
            </a:solidFill>
            <a:ln w="0">
              <a:noFill/>
              <a:prstDash val="solid"/>
            </a:ln>
          </p:spPr>
        </p:sp>
        <p:sp>
          <p:nvSpPr>
            <p:cNvPr id="1348" name="Skip outer refined">
              <a:extLst>
                <a:ext uri="{FF2B5EF4-FFF2-40B4-BE49-F238E27FC236}">
                  <a16:creationId xmlns:a16="http://schemas.microsoft.com/office/drawing/2014/main" id="{FCEC7BC5-9C91-5A2D-286F-54CED1B58658}"/>
                </a:ext>
              </a:extLst>
            </p:cNvPr>
            <p:cNvSpPr>
              <a:spLocks noGrp="1"/>
            </p:cNvSpPr>
            <p:nvPr/>
          </p:nvSpPr>
          <p:spPr>
            <a:xfrm>
              <a:off x="4919833" y="1209675"/>
              <a:ext cx="4333875" cy="219075"/>
            </a:xfrm>
            <a:custGeom>
              <a:avLst/>
              <a:gdLst/>
              <a:ahLst/>
              <a:cxnLst/>
              <a:rect l="0" t="0" r="0" b="0"/>
              <a:pathLst>
                <a:path w="4333875" h="219075">
                  <a:moveTo>
                    <a:pt x="0" y="219075"/>
                  </a:moveTo>
                  <a:lnTo>
                    <a:pt x="0" y="0"/>
                  </a:lnTo>
                  <a:lnTo>
                    <a:pt x="4333875" y="0"/>
                  </a:lnTo>
                  <a:lnTo>
                    <a:pt x="4333875" y="204073"/>
                  </a:lnTo>
                </a:path>
              </a:pathLst>
            </a:custGeom>
            <a:noFill/>
            <a:ln w="5468">
              <a:solidFill>
                <a:srgbClr val="A3ACB4"/>
              </a:solidFill>
              <a:prstDash val="dash"/>
            </a:ln>
          </p:spPr>
        </p:sp>
        <p:sp>
          <p:nvSpPr>
            <p:cNvPr id="1349" name="Skip outer refined head">
              <a:extLst>
                <a:ext uri="{FF2B5EF4-FFF2-40B4-BE49-F238E27FC236}">
                  <a16:creationId xmlns:a16="http://schemas.microsoft.com/office/drawing/2014/main" id="{D6AAD354-1253-F73A-1F09-0D42951F0AD2}"/>
                </a:ext>
              </a:extLst>
            </p:cNvPr>
            <p:cNvSpPr>
              <a:spLocks noGrp="1"/>
            </p:cNvSpPr>
            <p:nvPr/>
          </p:nvSpPr>
          <p:spPr>
            <a:xfrm>
              <a:off x="9235277" y="1385888"/>
              <a:ext cx="36862" cy="42863"/>
            </a:xfrm>
            <a:custGeom>
              <a:avLst/>
              <a:gdLst/>
              <a:ahLst/>
              <a:cxnLst/>
              <a:rect l="0" t="0" r="0" b="0"/>
              <a:pathLst>
                <a:path w="36862" h="42863">
                  <a:moveTo>
                    <a:pt x="18431" y="42863"/>
                  </a:moveTo>
                  <a:lnTo>
                    <a:pt x="36862" y="0"/>
                  </a:lnTo>
                  <a:lnTo>
                    <a:pt x="0" y="0"/>
                  </a:lnTo>
                  <a:close/>
                </a:path>
              </a:pathLst>
            </a:custGeom>
            <a:solidFill>
              <a:srgbClr val="A3ACB4"/>
            </a:solidFill>
            <a:ln w="0">
              <a:noFill/>
              <a:prstDash val="solid"/>
            </a:ln>
          </p:spPr>
        </p:sp>
        <p:sp>
          <p:nvSpPr>
            <p:cNvPr id="1350" name="Skip middle refined">
              <a:extLst>
                <a:ext uri="{FF2B5EF4-FFF2-40B4-BE49-F238E27FC236}">
                  <a16:creationId xmlns:a16="http://schemas.microsoft.com/office/drawing/2014/main" id="{E944DD48-0E77-62B4-4E66-FC482D648DB0}"/>
                </a:ext>
              </a:extLst>
            </p:cNvPr>
            <p:cNvSpPr>
              <a:spLocks noGrp="1"/>
            </p:cNvSpPr>
            <p:nvPr/>
          </p:nvSpPr>
          <p:spPr>
            <a:xfrm>
              <a:off x="5558008" y="1295400"/>
              <a:ext cx="3067050" cy="266700"/>
            </a:xfrm>
            <a:custGeom>
              <a:avLst/>
              <a:gdLst/>
              <a:ahLst/>
              <a:cxnLst/>
              <a:rect l="0" t="0" r="0" b="0"/>
              <a:pathLst>
                <a:path w="3067050" h="266700">
                  <a:moveTo>
                    <a:pt x="0" y="266700"/>
                  </a:moveTo>
                  <a:lnTo>
                    <a:pt x="0" y="0"/>
                  </a:lnTo>
                  <a:lnTo>
                    <a:pt x="3067050" y="0"/>
                  </a:lnTo>
                  <a:lnTo>
                    <a:pt x="3067050" y="251698"/>
                  </a:lnTo>
                </a:path>
              </a:pathLst>
            </a:custGeom>
            <a:noFill/>
            <a:ln w="5468">
              <a:solidFill>
                <a:srgbClr val="A3ACB4"/>
              </a:solidFill>
              <a:prstDash val="dash"/>
            </a:ln>
          </p:spPr>
        </p:sp>
        <p:sp>
          <p:nvSpPr>
            <p:cNvPr id="1351" name="Skip middle refined head">
              <a:extLst>
                <a:ext uri="{FF2B5EF4-FFF2-40B4-BE49-F238E27FC236}">
                  <a16:creationId xmlns:a16="http://schemas.microsoft.com/office/drawing/2014/main" id="{5D984C66-44F4-6C0C-29FA-C26BCC014DA5}"/>
                </a:ext>
              </a:extLst>
            </p:cNvPr>
            <p:cNvSpPr>
              <a:spLocks noGrp="1"/>
            </p:cNvSpPr>
            <p:nvPr/>
          </p:nvSpPr>
          <p:spPr>
            <a:xfrm>
              <a:off x="8606627" y="1519238"/>
              <a:ext cx="36862" cy="42863"/>
            </a:xfrm>
            <a:custGeom>
              <a:avLst/>
              <a:gdLst/>
              <a:ahLst/>
              <a:cxnLst/>
              <a:rect l="0" t="0" r="0" b="0"/>
              <a:pathLst>
                <a:path w="36862" h="42863">
                  <a:moveTo>
                    <a:pt x="18431" y="42863"/>
                  </a:moveTo>
                  <a:lnTo>
                    <a:pt x="36862" y="0"/>
                  </a:lnTo>
                  <a:lnTo>
                    <a:pt x="0" y="0"/>
                  </a:lnTo>
                  <a:close/>
                </a:path>
              </a:pathLst>
            </a:custGeom>
            <a:solidFill>
              <a:srgbClr val="A3ACB4"/>
            </a:solidFill>
            <a:ln w="0">
              <a:noFill/>
              <a:prstDash val="solid"/>
            </a:ln>
          </p:spPr>
        </p:sp>
        <p:sp>
          <p:nvSpPr>
            <p:cNvPr id="1352" name="Skip inner refined">
              <a:extLst>
                <a:ext uri="{FF2B5EF4-FFF2-40B4-BE49-F238E27FC236}">
                  <a16:creationId xmlns:a16="http://schemas.microsoft.com/office/drawing/2014/main" id="{796339B7-CA5C-9A6F-F626-7D7B76227D0E}"/>
                </a:ext>
              </a:extLst>
            </p:cNvPr>
            <p:cNvSpPr>
              <a:spLocks noGrp="1"/>
            </p:cNvSpPr>
            <p:nvPr/>
          </p:nvSpPr>
          <p:spPr>
            <a:xfrm>
              <a:off x="6081883" y="1381125"/>
              <a:ext cx="2000250" cy="323850"/>
            </a:xfrm>
            <a:custGeom>
              <a:avLst/>
              <a:gdLst/>
              <a:ahLst/>
              <a:cxnLst/>
              <a:rect l="0" t="0" r="0" b="0"/>
              <a:pathLst>
                <a:path w="2000250" h="323850">
                  <a:moveTo>
                    <a:pt x="0" y="323850"/>
                  </a:moveTo>
                  <a:lnTo>
                    <a:pt x="0" y="0"/>
                  </a:lnTo>
                  <a:lnTo>
                    <a:pt x="2000250" y="0"/>
                  </a:lnTo>
                  <a:lnTo>
                    <a:pt x="2000250" y="308848"/>
                  </a:lnTo>
                </a:path>
              </a:pathLst>
            </a:custGeom>
            <a:noFill/>
            <a:ln w="5468">
              <a:solidFill>
                <a:srgbClr val="A3ACB4"/>
              </a:solidFill>
              <a:prstDash val="dash"/>
            </a:ln>
          </p:spPr>
        </p:sp>
        <p:sp>
          <p:nvSpPr>
            <p:cNvPr id="1353" name="Skip inner refined head">
              <a:extLst>
                <a:ext uri="{FF2B5EF4-FFF2-40B4-BE49-F238E27FC236}">
                  <a16:creationId xmlns:a16="http://schemas.microsoft.com/office/drawing/2014/main" id="{5389494F-4196-1B0C-C069-F40391B0419B}"/>
                </a:ext>
              </a:extLst>
            </p:cNvPr>
            <p:cNvSpPr>
              <a:spLocks noGrp="1"/>
            </p:cNvSpPr>
            <p:nvPr/>
          </p:nvSpPr>
          <p:spPr>
            <a:xfrm>
              <a:off x="8063702" y="1662113"/>
              <a:ext cx="36862" cy="42863"/>
            </a:xfrm>
            <a:custGeom>
              <a:avLst/>
              <a:gdLst/>
              <a:ahLst/>
              <a:cxnLst/>
              <a:rect l="0" t="0" r="0" b="0"/>
              <a:pathLst>
                <a:path w="36862" h="42863">
                  <a:moveTo>
                    <a:pt x="18431" y="42863"/>
                  </a:moveTo>
                  <a:lnTo>
                    <a:pt x="36862" y="0"/>
                  </a:lnTo>
                  <a:lnTo>
                    <a:pt x="0" y="0"/>
                  </a:lnTo>
                  <a:close/>
                </a:path>
              </a:pathLst>
            </a:custGeom>
            <a:solidFill>
              <a:srgbClr val="A3ACB4"/>
            </a:solidFill>
            <a:ln w="0">
              <a:noFill/>
              <a:prstDash val="solid"/>
            </a:ln>
          </p:spPr>
        </p:sp>
        <p:sp>
          <p:nvSpPr>
            <p:cNvPr id="1354" name="PTV3 forward refined 1">
              <a:extLst>
                <a:ext uri="{FF2B5EF4-FFF2-40B4-BE49-F238E27FC236}">
                  <a16:creationId xmlns:a16="http://schemas.microsoft.com/office/drawing/2014/main" id="{B0492619-D665-D0F6-7061-EDCBCE3DDA3A}"/>
                </a:ext>
              </a:extLst>
            </p:cNvPr>
            <p:cNvSpPr>
              <a:spLocks noGrp="1"/>
            </p:cNvSpPr>
            <p:nvPr/>
          </p:nvSpPr>
          <p:spPr>
            <a:xfrm>
              <a:off x="5447899" y="3106769"/>
              <a:ext cx="255746" cy="191"/>
            </a:xfrm>
            <a:custGeom>
              <a:avLst/>
              <a:gdLst/>
              <a:ahLst/>
              <a:cxnLst/>
              <a:rect l="0" t="0" r="0" b="0"/>
              <a:pathLst>
                <a:path w="255746" h="191">
                  <a:moveTo>
                    <a:pt x="0" y="0"/>
                  </a:moveTo>
                  <a:lnTo>
                    <a:pt x="255746" y="0"/>
                  </a:lnTo>
                </a:path>
              </a:pathLst>
            </a:custGeom>
            <a:noFill/>
            <a:ln w="8505">
              <a:solidFill>
                <a:srgbClr val="77828C"/>
              </a:solidFill>
              <a:prstDash val="solid"/>
            </a:ln>
          </p:spPr>
        </p:sp>
        <p:sp>
          <p:nvSpPr>
            <p:cNvPr id="1355" name="PTV3 forward refined 1 head">
              <a:extLst>
                <a:ext uri="{FF2B5EF4-FFF2-40B4-BE49-F238E27FC236}">
                  <a16:creationId xmlns:a16="http://schemas.microsoft.com/office/drawing/2014/main" id="{B7BCE76F-C831-1ABC-ADA2-90D7588CB987}"/>
                </a:ext>
              </a:extLst>
            </p:cNvPr>
            <p:cNvSpPr>
              <a:spLocks noGrp="1"/>
            </p:cNvSpPr>
            <p:nvPr/>
          </p:nvSpPr>
          <p:spPr>
            <a:xfrm>
              <a:off x="5660307" y="3078099"/>
              <a:ext cx="66675" cy="57340"/>
            </a:xfrm>
            <a:custGeom>
              <a:avLst/>
              <a:gdLst/>
              <a:ahLst/>
              <a:cxnLst/>
              <a:rect l="0" t="0" r="0" b="0"/>
              <a:pathLst>
                <a:path w="66675" h="57340">
                  <a:moveTo>
                    <a:pt x="66675" y="28670"/>
                  </a:moveTo>
                  <a:lnTo>
                    <a:pt x="0" y="0"/>
                  </a:lnTo>
                  <a:lnTo>
                    <a:pt x="0" y="57340"/>
                  </a:lnTo>
                  <a:close/>
                </a:path>
              </a:pathLst>
            </a:custGeom>
            <a:solidFill>
              <a:srgbClr val="77828C"/>
            </a:solidFill>
            <a:ln w="0">
              <a:solidFill>
                <a:srgbClr val="77828C"/>
              </a:solidFill>
              <a:prstDash val="solid"/>
            </a:ln>
          </p:spPr>
        </p:sp>
        <p:sp>
          <p:nvSpPr>
            <p:cNvPr id="1356" name="PTV3 forward refined 2">
              <a:extLst>
                <a:ext uri="{FF2B5EF4-FFF2-40B4-BE49-F238E27FC236}">
                  <a16:creationId xmlns:a16="http://schemas.microsoft.com/office/drawing/2014/main" id="{24AE15E3-3B2D-CC4A-618E-E9BB13DA2E16}"/>
                </a:ext>
              </a:extLst>
            </p:cNvPr>
            <p:cNvSpPr>
              <a:spLocks noGrp="1"/>
            </p:cNvSpPr>
            <p:nvPr/>
          </p:nvSpPr>
          <p:spPr>
            <a:xfrm>
              <a:off x="6452501" y="3106769"/>
              <a:ext cx="311563" cy="191"/>
            </a:xfrm>
            <a:custGeom>
              <a:avLst/>
              <a:gdLst/>
              <a:ahLst/>
              <a:cxnLst/>
              <a:rect l="0" t="0" r="0" b="0"/>
              <a:pathLst>
                <a:path w="311563" h="191">
                  <a:moveTo>
                    <a:pt x="0" y="0"/>
                  </a:moveTo>
                  <a:lnTo>
                    <a:pt x="311563" y="0"/>
                  </a:lnTo>
                </a:path>
              </a:pathLst>
            </a:custGeom>
            <a:noFill/>
            <a:ln w="8505">
              <a:solidFill>
                <a:srgbClr val="77828C"/>
              </a:solidFill>
              <a:prstDash val="solid"/>
            </a:ln>
          </p:spPr>
        </p:sp>
        <p:sp>
          <p:nvSpPr>
            <p:cNvPr id="1357" name="PTV3 forward refined 2 head">
              <a:extLst>
                <a:ext uri="{FF2B5EF4-FFF2-40B4-BE49-F238E27FC236}">
                  <a16:creationId xmlns:a16="http://schemas.microsoft.com/office/drawing/2014/main" id="{8007E90B-E49B-BC36-45F6-E1B46BA41A6C}"/>
                </a:ext>
              </a:extLst>
            </p:cNvPr>
            <p:cNvSpPr>
              <a:spLocks noGrp="1"/>
            </p:cNvSpPr>
            <p:nvPr/>
          </p:nvSpPr>
          <p:spPr>
            <a:xfrm>
              <a:off x="6720725" y="3078099"/>
              <a:ext cx="66675" cy="57340"/>
            </a:xfrm>
            <a:custGeom>
              <a:avLst/>
              <a:gdLst/>
              <a:ahLst/>
              <a:cxnLst/>
              <a:rect l="0" t="0" r="0" b="0"/>
              <a:pathLst>
                <a:path w="66675" h="57340">
                  <a:moveTo>
                    <a:pt x="66675" y="28670"/>
                  </a:moveTo>
                  <a:lnTo>
                    <a:pt x="0" y="0"/>
                  </a:lnTo>
                  <a:lnTo>
                    <a:pt x="0" y="57340"/>
                  </a:lnTo>
                  <a:close/>
                </a:path>
              </a:pathLst>
            </a:custGeom>
            <a:solidFill>
              <a:srgbClr val="77828C"/>
            </a:solidFill>
            <a:ln w="0">
              <a:noFill/>
              <a:prstDash val="solid"/>
            </a:ln>
          </p:spPr>
        </p:sp>
        <p:sp>
          <p:nvSpPr>
            <p:cNvPr id="1358" name="PTV3 forward refined 3">
              <a:extLst>
                <a:ext uri="{FF2B5EF4-FFF2-40B4-BE49-F238E27FC236}">
                  <a16:creationId xmlns:a16="http://schemas.microsoft.com/office/drawing/2014/main" id="{2D087525-2ABD-3A01-10DA-7F65FB2DD09A}"/>
                </a:ext>
              </a:extLst>
            </p:cNvPr>
            <p:cNvSpPr>
              <a:spLocks noGrp="1"/>
            </p:cNvSpPr>
            <p:nvPr/>
          </p:nvSpPr>
          <p:spPr>
            <a:xfrm>
              <a:off x="7438529" y="3106769"/>
              <a:ext cx="311563" cy="191"/>
            </a:xfrm>
            <a:custGeom>
              <a:avLst/>
              <a:gdLst/>
              <a:ahLst/>
              <a:cxnLst/>
              <a:rect l="0" t="0" r="0" b="0"/>
              <a:pathLst>
                <a:path w="311563" h="191">
                  <a:moveTo>
                    <a:pt x="0" y="0"/>
                  </a:moveTo>
                  <a:lnTo>
                    <a:pt x="311563" y="0"/>
                  </a:lnTo>
                </a:path>
              </a:pathLst>
            </a:custGeom>
            <a:noFill/>
            <a:ln w="8505">
              <a:solidFill>
                <a:srgbClr val="77828C"/>
              </a:solidFill>
              <a:prstDash val="solid"/>
            </a:ln>
          </p:spPr>
        </p:sp>
        <p:sp>
          <p:nvSpPr>
            <p:cNvPr id="1359" name="PTV3 forward refined 3 head">
              <a:extLst>
                <a:ext uri="{FF2B5EF4-FFF2-40B4-BE49-F238E27FC236}">
                  <a16:creationId xmlns:a16="http://schemas.microsoft.com/office/drawing/2014/main" id="{417DAC3E-DE7D-4EBD-83BF-06F7FB2A8085}"/>
                </a:ext>
              </a:extLst>
            </p:cNvPr>
            <p:cNvSpPr>
              <a:spLocks noGrp="1"/>
            </p:cNvSpPr>
            <p:nvPr/>
          </p:nvSpPr>
          <p:spPr>
            <a:xfrm>
              <a:off x="7706753" y="3078099"/>
              <a:ext cx="66675" cy="57340"/>
            </a:xfrm>
            <a:custGeom>
              <a:avLst/>
              <a:gdLst/>
              <a:ahLst/>
              <a:cxnLst/>
              <a:rect l="0" t="0" r="0" b="0"/>
              <a:pathLst>
                <a:path w="66675" h="57340">
                  <a:moveTo>
                    <a:pt x="66675" y="28670"/>
                  </a:moveTo>
                  <a:lnTo>
                    <a:pt x="0" y="0"/>
                  </a:lnTo>
                  <a:lnTo>
                    <a:pt x="0" y="57340"/>
                  </a:lnTo>
                  <a:close/>
                </a:path>
              </a:pathLst>
            </a:custGeom>
            <a:solidFill>
              <a:srgbClr val="77828C"/>
            </a:solidFill>
            <a:ln w="0">
              <a:solidFill>
                <a:srgbClr val="77828C"/>
              </a:solidFill>
              <a:prstDash val="solid"/>
            </a:ln>
          </p:spPr>
        </p:sp>
        <p:sp>
          <p:nvSpPr>
            <p:cNvPr id="1360" name="PTV3 forward refined 4">
              <a:extLst>
                <a:ext uri="{FF2B5EF4-FFF2-40B4-BE49-F238E27FC236}">
                  <a16:creationId xmlns:a16="http://schemas.microsoft.com/office/drawing/2014/main" id="{3F66A9B7-F35C-EB4C-B102-3F29A4296978}"/>
                </a:ext>
              </a:extLst>
            </p:cNvPr>
            <p:cNvSpPr>
              <a:spLocks noGrp="1"/>
            </p:cNvSpPr>
            <p:nvPr/>
          </p:nvSpPr>
          <p:spPr>
            <a:xfrm>
              <a:off x="8498852" y="3106769"/>
              <a:ext cx="255746" cy="191"/>
            </a:xfrm>
            <a:custGeom>
              <a:avLst/>
              <a:gdLst/>
              <a:ahLst/>
              <a:cxnLst/>
              <a:rect l="0" t="0" r="0" b="0"/>
              <a:pathLst>
                <a:path w="255746" h="191">
                  <a:moveTo>
                    <a:pt x="0" y="0"/>
                  </a:moveTo>
                  <a:lnTo>
                    <a:pt x="255746" y="0"/>
                  </a:lnTo>
                </a:path>
              </a:pathLst>
            </a:custGeom>
            <a:noFill/>
            <a:ln w="8505">
              <a:solidFill>
                <a:srgbClr val="77828C"/>
              </a:solidFill>
              <a:prstDash val="solid"/>
            </a:ln>
          </p:spPr>
        </p:sp>
        <p:sp>
          <p:nvSpPr>
            <p:cNvPr id="1361" name="PTV3 forward refined 4 head">
              <a:extLst>
                <a:ext uri="{FF2B5EF4-FFF2-40B4-BE49-F238E27FC236}">
                  <a16:creationId xmlns:a16="http://schemas.microsoft.com/office/drawing/2014/main" id="{4634E7DB-F8E3-B989-4F8D-785672F195B4}"/>
                </a:ext>
              </a:extLst>
            </p:cNvPr>
            <p:cNvSpPr>
              <a:spLocks noGrp="1"/>
            </p:cNvSpPr>
            <p:nvPr/>
          </p:nvSpPr>
          <p:spPr>
            <a:xfrm>
              <a:off x="8711259" y="3078099"/>
              <a:ext cx="66675" cy="57340"/>
            </a:xfrm>
            <a:custGeom>
              <a:avLst/>
              <a:gdLst/>
              <a:ahLst/>
              <a:cxnLst/>
              <a:rect l="0" t="0" r="0" b="0"/>
              <a:pathLst>
                <a:path w="66675" h="57340">
                  <a:moveTo>
                    <a:pt x="66675" y="28670"/>
                  </a:moveTo>
                  <a:lnTo>
                    <a:pt x="0" y="0"/>
                  </a:lnTo>
                  <a:lnTo>
                    <a:pt x="0" y="57340"/>
                  </a:lnTo>
                  <a:close/>
                </a:path>
              </a:pathLst>
            </a:custGeom>
            <a:solidFill>
              <a:srgbClr val="77828C"/>
            </a:solidFill>
            <a:ln w="0">
              <a:noFill/>
              <a:prstDash val="solid"/>
            </a:ln>
          </p:spPr>
        </p:sp>
        <p:sp>
          <p:nvSpPr>
            <p:cNvPr id="1362" name="Fusion refined 487.16">
              <a:extLst>
                <a:ext uri="{FF2B5EF4-FFF2-40B4-BE49-F238E27FC236}">
                  <a16:creationId xmlns:a16="http://schemas.microsoft.com/office/drawing/2014/main" id="{0FF19FA3-F74F-0EF3-2637-6AA25406EF88}"/>
                </a:ext>
              </a:extLst>
            </p:cNvPr>
            <p:cNvSpPr>
              <a:spLocks noGrp="1"/>
            </p:cNvSpPr>
            <p:nvPr/>
          </p:nvSpPr>
          <p:spPr>
            <a:xfrm>
              <a:off x="5085187" y="2418493"/>
              <a:ext cx="191" cy="404527"/>
            </a:xfrm>
            <a:custGeom>
              <a:avLst/>
              <a:gdLst/>
              <a:ahLst/>
              <a:cxnLst/>
              <a:rect l="0" t="0" r="0" b="0"/>
              <a:pathLst>
                <a:path w="191" h="404527">
                  <a:moveTo>
                    <a:pt x="0" y="0"/>
                  </a:moveTo>
                  <a:lnTo>
                    <a:pt x="0" y="404527"/>
                  </a:lnTo>
                </a:path>
              </a:pathLst>
            </a:custGeom>
            <a:noFill/>
            <a:ln w="8505">
              <a:solidFill>
                <a:srgbClr val="77828C"/>
              </a:solidFill>
              <a:prstDash val="solid"/>
            </a:ln>
          </p:spPr>
        </p:sp>
        <p:sp>
          <p:nvSpPr>
            <p:cNvPr id="1363" name="Fusion refined 487.16 head">
              <a:extLst>
                <a:ext uri="{FF2B5EF4-FFF2-40B4-BE49-F238E27FC236}">
                  <a16:creationId xmlns:a16="http://schemas.microsoft.com/office/drawing/2014/main" id="{3D13397A-1EED-4CCF-C88D-62A5EFCF622C}"/>
                </a:ext>
              </a:extLst>
            </p:cNvPr>
            <p:cNvSpPr>
              <a:spLocks noGrp="1"/>
            </p:cNvSpPr>
            <p:nvPr/>
          </p:nvSpPr>
          <p:spPr>
            <a:xfrm>
              <a:off x="5056517" y="2779681"/>
              <a:ext cx="57340" cy="66675"/>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364" name="Fusion refined 700.05">
              <a:extLst>
                <a:ext uri="{FF2B5EF4-FFF2-40B4-BE49-F238E27FC236}">
                  <a16:creationId xmlns:a16="http://schemas.microsoft.com/office/drawing/2014/main" id="{F3328C85-8D10-5BAE-F06A-A042F88B4457}"/>
                </a:ext>
              </a:extLst>
            </p:cNvPr>
            <p:cNvSpPr>
              <a:spLocks noGrp="1"/>
            </p:cNvSpPr>
            <p:nvPr/>
          </p:nvSpPr>
          <p:spPr>
            <a:xfrm>
              <a:off x="7112964" y="2418493"/>
              <a:ext cx="191" cy="404527"/>
            </a:xfrm>
            <a:custGeom>
              <a:avLst/>
              <a:gdLst/>
              <a:ahLst/>
              <a:cxnLst/>
              <a:rect l="0" t="0" r="0" b="0"/>
              <a:pathLst>
                <a:path w="191" h="404527">
                  <a:moveTo>
                    <a:pt x="0" y="0"/>
                  </a:moveTo>
                  <a:lnTo>
                    <a:pt x="0" y="404527"/>
                  </a:lnTo>
                </a:path>
              </a:pathLst>
            </a:custGeom>
            <a:noFill/>
            <a:ln w="8505">
              <a:solidFill>
                <a:srgbClr val="77828C"/>
              </a:solidFill>
              <a:prstDash val="solid"/>
            </a:ln>
          </p:spPr>
        </p:sp>
        <p:sp>
          <p:nvSpPr>
            <p:cNvPr id="1365" name="Fusion refined 700.05 head">
              <a:extLst>
                <a:ext uri="{FF2B5EF4-FFF2-40B4-BE49-F238E27FC236}">
                  <a16:creationId xmlns:a16="http://schemas.microsoft.com/office/drawing/2014/main" id="{615DF42F-7A96-D005-2B04-2E5B83AF189A}"/>
                </a:ext>
              </a:extLst>
            </p:cNvPr>
            <p:cNvSpPr>
              <a:spLocks noGrp="1"/>
            </p:cNvSpPr>
            <p:nvPr/>
          </p:nvSpPr>
          <p:spPr>
            <a:xfrm>
              <a:off x="7084294" y="2779681"/>
              <a:ext cx="57340" cy="66675"/>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366" name="Fusion refined 912.94">
              <a:extLst>
                <a:ext uri="{FF2B5EF4-FFF2-40B4-BE49-F238E27FC236}">
                  <a16:creationId xmlns:a16="http://schemas.microsoft.com/office/drawing/2014/main" id="{8F954EB4-FAB9-9DC0-DCA1-6E84B625ECD7}"/>
                </a:ext>
              </a:extLst>
            </p:cNvPr>
            <p:cNvSpPr>
              <a:spLocks noGrp="1"/>
            </p:cNvSpPr>
            <p:nvPr/>
          </p:nvSpPr>
          <p:spPr>
            <a:xfrm>
              <a:off x="9140742" y="2418493"/>
              <a:ext cx="191" cy="404527"/>
            </a:xfrm>
            <a:custGeom>
              <a:avLst/>
              <a:gdLst/>
              <a:ahLst/>
              <a:cxnLst/>
              <a:rect l="0" t="0" r="0" b="0"/>
              <a:pathLst>
                <a:path w="191" h="404527">
                  <a:moveTo>
                    <a:pt x="0" y="0"/>
                  </a:moveTo>
                  <a:lnTo>
                    <a:pt x="0" y="404527"/>
                  </a:lnTo>
                </a:path>
              </a:pathLst>
            </a:custGeom>
            <a:noFill/>
            <a:ln w="8505">
              <a:solidFill>
                <a:srgbClr val="77828C"/>
              </a:solidFill>
              <a:prstDash val="solid"/>
            </a:ln>
          </p:spPr>
        </p:sp>
        <p:sp>
          <p:nvSpPr>
            <p:cNvPr id="1367" name="Fusion refined 912.94 head">
              <a:extLst>
                <a:ext uri="{FF2B5EF4-FFF2-40B4-BE49-F238E27FC236}">
                  <a16:creationId xmlns:a16="http://schemas.microsoft.com/office/drawing/2014/main" id="{DDC6F6E8-2600-F9F0-8C4C-DF220F079064}"/>
                </a:ext>
              </a:extLst>
            </p:cNvPr>
            <p:cNvSpPr>
              <a:spLocks noGrp="1"/>
            </p:cNvSpPr>
            <p:nvPr/>
          </p:nvSpPr>
          <p:spPr>
            <a:xfrm>
              <a:off x="9112071" y="2779681"/>
              <a:ext cx="57340" cy="66675"/>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368" name="Recycle right refined">
              <a:extLst>
                <a:ext uri="{FF2B5EF4-FFF2-40B4-BE49-F238E27FC236}">
                  <a16:creationId xmlns:a16="http://schemas.microsoft.com/office/drawing/2014/main" id="{D9AFE2A4-7629-8D55-72A2-74513ED16554}"/>
                </a:ext>
              </a:extLst>
            </p:cNvPr>
            <p:cNvSpPr>
              <a:spLocks noGrp="1"/>
            </p:cNvSpPr>
            <p:nvPr/>
          </p:nvSpPr>
          <p:spPr>
            <a:xfrm>
              <a:off x="7596644" y="3385852"/>
              <a:ext cx="1544098" cy="241840"/>
            </a:xfrm>
            <a:custGeom>
              <a:avLst/>
              <a:gdLst/>
              <a:ahLst/>
              <a:cxnLst/>
              <a:rect l="0" t="0" r="0" b="0"/>
              <a:pathLst>
                <a:path w="1544098" h="241840">
                  <a:moveTo>
                    <a:pt x="1544098" y="0"/>
                  </a:moveTo>
                  <a:lnTo>
                    <a:pt x="1544098" y="241840"/>
                  </a:lnTo>
                  <a:lnTo>
                    <a:pt x="0" y="241840"/>
                  </a:lnTo>
                </a:path>
              </a:pathLst>
            </a:custGeom>
            <a:noFill/>
            <a:ln w="8505">
              <a:solidFill>
                <a:srgbClr val="77828C"/>
              </a:solidFill>
              <a:prstDash val="solid"/>
            </a:ln>
          </p:spPr>
        </p:sp>
        <p:sp>
          <p:nvSpPr>
            <p:cNvPr id="1369" name="Recycle left refined">
              <a:extLst>
                <a:ext uri="{FF2B5EF4-FFF2-40B4-BE49-F238E27FC236}">
                  <a16:creationId xmlns:a16="http://schemas.microsoft.com/office/drawing/2014/main" id="{9E9F6AF5-6C88-4D6A-4EB6-AE11098D540D}"/>
                </a:ext>
              </a:extLst>
            </p:cNvPr>
            <p:cNvSpPr>
              <a:spLocks noGrp="1"/>
            </p:cNvSpPr>
            <p:nvPr/>
          </p:nvSpPr>
          <p:spPr>
            <a:xfrm>
              <a:off x="5085187" y="3409188"/>
              <a:ext cx="1544098" cy="218503"/>
            </a:xfrm>
            <a:custGeom>
              <a:avLst/>
              <a:gdLst/>
              <a:ahLst/>
              <a:cxnLst/>
              <a:rect l="0" t="0" r="0" b="0"/>
              <a:pathLst>
                <a:path w="1544098" h="218503">
                  <a:moveTo>
                    <a:pt x="1544098" y="218503"/>
                  </a:moveTo>
                  <a:lnTo>
                    <a:pt x="0" y="218503"/>
                  </a:lnTo>
                  <a:lnTo>
                    <a:pt x="0" y="0"/>
                  </a:lnTo>
                </a:path>
              </a:pathLst>
            </a:custGeom>
            <a:noFill/>
            <a:ln w="8505">
              <a:solidFill>
                <a:srgbClr val="77828C"/>
              </a:solidFill>
              <a:prstDash val="solid"/>
            </a:ln>
          </p:spPr>
        </p:sp>
        <p:sp>
          <p:nvSpPr>
            <p:cNvPr id="1370" name="Recycle left refined head">
              <a:extLst>
                <a:ext uri="{FF2B5EF4-FFF2-40B4-BE49-F238E27FC236}">
                  <a16:creationId xmlns:a16="http://schemas.microsoft.com/office/drawing/2014/main" id="{FC70626C-9297-3774-289D-8C74BAB81591}"/>
                </a:ext>
              </a:extLst>
            </p:cNvPr>
            <p:cNvSpPr>
              <a:spLocks noGrp="1"/>
            </p:cNvSpPr>
            <p:nvPr/>
          </p:nvSpPr>
          <p:spPr>
            <a:xfrm>
              <a:off x="5056517" y="3385852"/>
              <a:ext cx="57340" cy="66675"/>
            </a:xfrm>
            <a:custGeom>
              <a:avLst/>
              <a:gdLst/>
              <a:ahLst/>
              <a:cxnLst/>
              <a:rect l="0" t="0" r="0" b="0"/>
              <a:pathLst>
                <a:path w="57340" h="66675">
                  <a:moveTo>
                    <a:pt x="28670" y="0"/>
                  </a:moveTo>
                  <a:lnTo>
                    <a:pt x="0" y="66675"/>
                  </a:lnTo>
                  <a:lnTo>
                    <a:pt x="57340" y="66675"/>
                  </a:lnTo>
                  <a:close/>
                </a:path>
              </a:pathLst>
            </a:custGeom>
            <a:solidFill>
              <a:srgbClr val="77828C"/>
            </a:solidFill>
            <a:ln w="0">
              <a:noFill/>
              <a:prstDash val="solid"/>
            </a:ln>
          </p:spPr>
        </p:sp>
        <p:sp>
          <p:nvSpPr>
            <p:cNvPr id="1371" name="Crop to summary refined">
              <a:extLst>
                <a:ext uri="{FF2B5EF4-FFF2-40B4-BE49-F238E27FC236}">
                  <a16:creationId xmlns:a16="http://schemas.microsoft.com/office/drawing/2014/main" id="{23964A60-5300-B32A-CC8C-9F9A10909522}"/>
                </a:ext>
              </a:extLst>
            </p:cNvPr>
            <p:cNvSpPr>
              <a:spLocks noGrp="1"/>
            </p:cNvSpPr>
            <p:nvPr/>
          </p:nvSpPr>
          <p:spPr>
            <a:xfrm flipV="1">
              <a:off x="3571124" y="5920900"/>
              <a:ext cx="1306769" cy="143591"/>
            </a:xfrm>
            <a:custGeom>
              <a:avLst/>
              <a:gdLst/>
              <a:ahLst/>
              <a:cxnLst/>
              <a:rect l="0" t="0" r="0" b="0"/>
              <a:pathLst>
                <a:path w="1148715" h="191">
                  <a:moveTo>
                    <a:pt x="0" y="0"/>
                  </a:moveTo>
                  <a:lnTo>
                    <a:pt x="1148715" y="0"/>
                  </a:lnTo>
                </a:path>
              </a:pathLst>
            </a:custGeom>
            <a:noFill/>
            <a:ln w="8505">
              <a:solidFill>
                <a:srgbClr val="77828C"/>
              </a:solidFill>
              <a:prstDash val="solid"/>
            </a:ln>
          </p:spPr>
        </p:sp>
        <p:sp>
          <p:nvSpPr>
            <p:cNvPr id="1372" name="Crop to summary refined head">
              <a:extLst>
                <a:ext uri="{FF2B5EF4-FFF2-40B4-BE49-F238E27FC236}">
                  <a16:creationId xmlns:a16="http://schemas.microsoft.com/office/drawing/2014/main" id="{864E15CB-81EF-2FAC-14F2-E25D89F29346}"/>
                </a:ext>
              </a:extLst>
            </p:cNvPr>
            <p:cNvSpPr>
              <a:spLocks noGrp="1"/>
            </p:cNvSpPr>
            <p:nvPr/>
          </p:nvSpPr>
          <p:spPr>
            <a:xfrm>
              <a:off x="4832301" y="6036088"/>
              <a:ext cx="66676" cy="57339"/>
            </a:xfrm>
            <a:custGeom>
              <a:avLst/>
              <a:gdLst/>
              <a:ahLst/>
              <a:cxnLst/>
              <a:rect l="0" t="0" r="0" b="0"/>
              <a:pathLst>
                <a:path w="66675" h="57340">
                  <a:moveTo>
                    <a:pt x="66675" y="28670"/>
                  </a:moveTo>
                  <a:lnTo>
                    <a:pt x="0" y="0"/>
                  </a:lnTo>
                  <a:lnTo>
                    <a:pt x="0" y="57340"/>
                  </a:lnTo>
                  <a:close/>
                </a:path>
              </a:pathLst>
            </a:custGeom>
            <a:solidFill>
              <a:srgbClr val="77828C"/>
            </a:solidFill>
            <a:ln w="0">
              <a:noFill/>
              <a:prstDash val="solid"/>
            </a:ln>
          </p:spPr>
        </p:sp>
        <p:sp>
          <p:nvSpPr>
            <p:cNvPr id="1373" name="Input split refined">
              <a:extLst>
                <a:ext uri="{FF2B5EF4-FFF2-40B4-BE49-F238E27FC236}">
                  <a16:creationId xmlns:a16="http://schemas.microsoft.com/office/drawing/2014/main" id="{B4BBBDF4-6774-1D2C-95B2-F3B88AB1C869}"/>
                </a:ext>
              </a:extLst>
            </p:cNvPr>
            <p:cNvSpPr>
              <a:spLocks noGrp="1"/>
            </p:cNvSpPr>
            <p:nvPr/>
          </p:nvSpPr>
          <p:spPr>
            <a:xfrm>
              <a:off x="2152323" y="7793354"/>
              <a:ext cx="846770" cy="160020"/>
            </a:xfrm>
            <a:custGeom>
              <a:avLst/>
              <a:gdLst/>
              <a:ahLst/>
              <a:cxnLst/>
              <a:rect l="0" t="0" r="0" b="0"/>
              <a:pathLst>
                <a:path w="846772" h="160020">
                  <a:moveTo>
                    <a:pt x="846772" y="0"/>
                  </a:moveTo>
                  <a:lnTo>
                    <a:pt x="846772" y="160020"/>
                  </a:lnTo>
                  <a:lnTo>
                    <a:pt x="0" y="160020"/>
                  </a:lnTo>
                </a:path>
              </a:pathLst>
            </a:custGeom>
            <a:noFill/>
            <a:ln w="8505">
              <a:solidFill>
                <a:srgbClr val="77828C"/>
              </a:solidFill>
              <a:prstDash val="solid"/>
            </a:ln>
          </p:spPr>
        </p:sp>
        <p:sp>
          <p:nvSpPr>
            <p:cNvPr id="1374" name="Input split right refined">
              <a:extLst>
                <a:ext uri="{FF2B5EF4-FFF2-40B4-BE49-F238E27FC236}">
                  <a16:creationId xmlns:a16="http://schemas.microsoft.com/office/drawing/2014/main" id="{950F0CCA-2F88-9AFF-22D8-DAA7ACB6176C}"/>
                </a:ext>
              </a:extLst>
            </p:cNvPr>
            <p:cNvSpPr>
              <a:spLocks noGrp="1"/>
            </p:cNvSpPr>
            <p:nvPr/>
          </p:nvSpPr>
          <p:spPr>
            <a:xfrm>
              <a:off x="2999100" y="7953375"/>
              <a:ext cx="827723" cy="190"/>
            </a:xfrm>
            <a:custGeom>
              <a:avLst/>
              <a:gdLst/>
              <a:ahLst/>
              <a:cxnLst/>
              <a:rect l="0" t="0" r="0" b="0"/>
              <a:pathLst>
                <a:path w="827723" h="191">
                  <a:moveTo>
                    <a:pt x="0" y="0"/>
                  </a:moveTo>
                  <a:lnTo>
                    <a:pt x="827723" y="0"/>
                  </a:lnTo>
                </a:path>
              </a:pathLst>
            </a:custGeom>
            <a:noFill/>
            <a:ln w="8505">
              <a:solidFill>
                <a:srgbClr val="77828C"/>
              </a:solidFill>
              <a:prstDash val="solid"/>
            </a:ln>
          </p:spPr>
        </p:sp>
        <p:sp>
          <p:nvSpPr>
            <p:cNvPr id="1375" name="Inputs to pool refined">
              <a:extLst>
                <a:ext uri="{FF2B5EF4-FFF2-40B4-BE49-F238E27FC236}">
                  <a16:creationId xmlns:a16="http://schemas.microsoft.com/office/drawing/2014/main" id="{B22E0EF3-FD19-0826-1822-07182CC69FC5}"/>
                </a:ext>
              </a:extLst>
            </p:cNvPr>
            <p:cNvSpPr>
              <a:spLocks noGrp="1"/>
            </p:cNvSpPr>
            <p:nvPr/>
          </p:nvSpPr>
          <p:spPr>
            <a:xfrm>
              <a:off x="2159804" y="7953375"/>
              <a:ext cx="190" cy="143732"/>
            </a:xfrm>
            <a:custGeom>
              <a:avLst/>
              <a:gdLst/>
              <a:ahLst/>
              <a:cxnLst/>
              <a:rect l="0" t="0" r="0" b="0"/>
              <a:pathLst>
                <a:path w="191" h="143732">
                  <a:moveTo>
                    <a:pt x="0" y="0"/>
                  </a:moveTo>
                  <a:lnTo>
                    <a:pt x="0" y="143732"/>
                  </a:lnTo>
                </a:path>
              </a:pathLst>
            </a:custGeom>
            <a:noFill/>
            <a:ln w="8505">
              <a:solidFill>
                <a:srgbClr val="77828C"/>
              </a:solidFill>
              <a:prstDash val="solid"/>
            </a:ln>
          </p:spPr>
        </p:sp>
        <p:sp>
          <p:nvSpPr>
            <p:cNvPr id="1376" name="Inputs to pool refined head">
              <a:extLst>
                <a:ext uri="{FF2B5EF4-FFF2-40B4-BE49-F238E27FC236}">
                  <a16:creationId xmlns:a16="http://schemas.microsoft.com/office/drawing/2014/main" id="{CA70B1F6-4A00-BABC-2972-012866989961}"/>
                </a:ext>
              </a:extLst>
            </p:cNvPr>
            <p:cNvSpPr>
              <a:spLocks noGrp="1"/>
            </p:cNvSpPr>
            <p:nvPr/>
          </p:nvSpPr>
          <p:spPr>
            <a:xfrm>
              <a:off x="2131133" y="8053769"/>
              <a:ext cx="57339" cy="66676"/>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377" name="Inputs to attention refined">
              <a:extLst>
                <a:ext uri="{FF2B5EF4-FFF2-40B4-BE49-F238E27FC236}">
                  <a16:creationId xmlns:a16="http://schemas.microsoft.com/office/drawing/2014/main" id="{08F1A61E-3B0E-8BF6-7F27-5CCE4D22C59A}"/>
                </a:ext>
              </a:extLst>
            </p:cNvPr>
            <p:cNvSpPr>
              <a:spLocks noGrp="1"/>
            </p:cNvSpPr>
            <p:nvPr/>
          </p:nvSpPr>
          <p:spPr>
            <a:xfrm>
              <a:off x="3825152" y="7950242"/>
              <a:ext cx="190" cy="143732"/>
            </a:xfrm>
            <a:custGeom>
              <a:avLst/>
              <a:gdLst/>
              <a:ahLst/>
              <a:cxnLst/>
              <a:rect l="0" t="0" r="0" b="0"/>
              <a:pathLst>
                <a:path w="191" h="143732">
                  <a:moveTo>
                    <a:pt x="0" y="0"/>
                  </a:moveTo>
                  <a:lnTo>
                    <a:pt x="0" y="143732"/>
                  </a:lnTo>
                </a:path>
              </a:pathLst>
            </a:custGeom>
            <a:noFill/>
            <a:ln w="8505">
              <a:solidFill>
                <a:srgbClr val="77828C"/>
              </a:solidFill>
              <a:prstDash val="solid"/>
            </a:ln>
          </p:spPr>
        </p:sp>
        <p:sp>
          <p:nvSpPr>
            <p:cNvPr id="1378" name="Inputs to attention refined head">
              <a:extLst>
                <a:ext uri="{FF2B5EF4-FFF2-40B4-BE49-F238E27FC236}">
                  <a16:creationId xmlns:a16="http://schemas.microsoft.com/office/drawing/2014/main" id="{4A8E2717-7DBF-7A20-898F-8A4B8D99C916}"/>
                </a:ext>
              </a:extLst>
            </p:cNvPr>
            <p:cNvSpPr>
              <a:spLocks noGrp="1"/>
            </p:cNvSpPr>
            <p:nvPr/>
          </p:nvSpPr>
          <p:spPr>
            <a:xfrm>
              <a:off x="3793990" y="8050639"/>
              <a:ext cx="57339" cy="66676"/>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383" name="MLP to FiLM refined">
              <a:extLst>
                <a:ext uri="{FF2B5EF4-FFF2-40B4-BE49-F238E27FC236}">
                  <a16:creationId xmlns:a16="http://schemas.microsoft.com/office/drawing/2014/main" id="{2C7C678A-F3D0-E51D-2CD6-B41E5CBA7774}"/>
                </a:ext>
              </a:extLst>
            </p:cNvPr>
            <p:cNvSpPr>
              <a:spLocks noGrp="1"/>
            </p:cNvSpPr>
            <p:nvPr/>
          </p:nvSpPr>
          <p:spPr>
            <a:xfrm>
              <a:off x="3409393" y="8968263"/>
              <a:ext cx="1502569" cy="190"/>
            </a:xfrm>
            <a:custGeom>
              <a:avLst/>
              <a:gdLst/>
              <a:ahLst/>
              <a:cxnLst/>
              <a:rect l="0" t="0" r="0" b="0"/>
              <a:pathLst>
                <a:path w="1502569" h="191">
                  <a:moveTo>
                    <a:pt x="0" y="0"/>
                  </a:moveTo>
                  <a:lnTo>
                    <a:pt x="1502569" y="0"/>
                  </a:lnTo>
                </a:path>
              </a:pathLst>
            </a:custGeom>
            <a:noFill/>
            <a:ln w="8505">
              <a:solidFill>
                <a:srgbClr val="77828C"/>
              </a:solidFill>
              <a:prstDash val="solid"/>
            </a:ln>
          </p:spPr>
        </p:sp>
        <p:sp>
          <p:nvSpPr>
            <p:cNvPr id="1384" name="MLP to FiLM refined head">
              <a:extLst>
                <a:ext uri="{FF2B5EF4-FFF2-40B4-BE49-F238E27FC236}">
                  <a16:creationId xmlns:a16="http://schemas.microsoft.com/office/drawing/2014/main" id="{E62BF4CB-2DFB-E34F-0A43-259454CA6416}"/>
                </a:ext>
              </a:extLst>
            </p:cNvPr>
            <p:cNvSpPr>
              <a:spLocks noGrp="1"/>
            </p:cNvSpPr>
            <p:nvPr/>
          </p:nvSpPr>
          <p:spPr>
            <a:xfrm>
              <a:off x="4868623" y="8939595"/>
              <a:ext cx="66676" cy="57339"/>
            </a:xfrm>
            <a:custGeom>
              <a:avLst/>
              <a:gdLst/>
              <a:ahLst/>
              <a:cxnLst/>
              <a:rect l="0" t="0" r="0" b="0"/>
              <a:pathLst>
                <a:path w="66675" h="57340">
                  <a:moveTo>
                    <a:pt x="66675" y="28670"/>
                  </a:moveTo>
                  <a:lnTo>
                    <a:pt x="0" y="0"/>
                  </a:lnTo>
                  <a:lnTo>
                    <a:pt x="0" y="57340"/>
                  </a:lnTo>
                  <a:close/>
                </a:path>
              </a:pathLst>
            </a:custGeom>
            <a:solidFill>
              <a:srgbClr val="77828C"/>
            </a:solidFill>
            <a:ln w="0">
              <a:noFill/>
              <a:prstDash val="solid"/>
            </a:ln>
          </p:spPr>
        </p:sp>
        <p:sp>
          <p:nvSpPr>
            <p:cNvPr id="1385" name="Summary to FiLM refined">
              <a:extLst>
                <a:ext uri="{FF2B5EF4-FFF2-40B4-BE49-F238E27FC236}">
                  <a16:creationId xmlns:a16="http://schemas.microsoft.com/office/drawing/2014/main" id="{4AD6C56A-E9C3-F934-64AC-D936F1D8505E}"/>
                </a:ext>
              </a:extLst>
            </p:cNvPr>
            <p:cNvSpPr>
              <a:spLocks noGrp="1"/>
            </p:cNvSpPr>
            <p:nvPr/>
          </p:nvSpPr>
          <p:spPr>
            <a:xfrm>
              <a:off x="5261889" y="6405028"/>
              <a:ext cx="190" cy="2367440"/>
            </a:xfrm>
            <a:custGeom>
              <a:avLst/>
              <a:gdLst/>
              <a:ahLst/>
              <a:cxnLst/>
              <a:rect l="0" t="0" r="0" b="0"/>
              <a:pathLst>
                <a:path w="191" h="2367439">
                  <a:moveTo>
                    <a:pt x="0" y="0"/>
                  </a:moveTo>
                  <a:lnTo>
                    <a:pt x="0" y="2367439"/>
                  </a:lnTo>
                </a:path>
              </a:pathLst>
            </a:custGeom>
            <a:noFill/>
            <a:ln w="8505">
              <a:solidFill>
                <a:srgbClr val="77828C"/>
              </a:solidFill>
              <a:prstDash val="solid"/>
            </a:ln>
          </p:spPr>
        </p:sp>
        <p:sp>
          <p:nvSpPr>
            <p:cNvPr id="1386" name="Summary to FiLM refined head">
              <a:extLst>
                <a:ext uri="{FF2B5EF4-FFF2-40B4-BE49-F238E27FC236}">
                  <a16:creationId xmlns:a16="http://schemas.microsoft.com/office/drawing/2014/main" id="{EEAEF4BF-5039-6C23-B675-9771749FE17A}"/>
                </a:ext>
              </a:extLst>
            </p:cNvPr>
            <p:cNvSpPr>
              <a:spLocks noGrp="1"/>
            </p:cNvSpPr>
            <p:nvPr/>
          </p:nvSpPr>
          <p:spPr>
            <a:xfrm>
              <a:off x="5234867" y="8724900"/>
              <a:ext cx="57339" cy="66676"/>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387" name="Summary to cross attention refined">
              <a:extLst>
                <a:ext uri="{FF2B5EF4-FFF2-40B4-BE49-F238E27FC236}">
                  <a16:creationId xmlns:a16="http://schemas.microsoft.com/office/drawing/2014/main" id="{EFD90DBF-A222-410E-15F3-D541CA16A8AE}"/>
                </a:ext>
              </a:extLst>
            </p:cNvPr>
            <p:cNvSpPr>
              <a:spLocks noGrp="1"/>
            </p:cNvSpPr>
            <p:nvPr/>
          </p:nvSpPr>
          <p:spPr>
            <a:xfrm>
              <a:off x="4659180" y="8299325"/>
              <a:ext cx="604619" cy="107521"/>
            </a:xfrm>
            <a:custGeom>
              <a:avLst/>
              <a:gdLst/>
              <a:ahLst/>
              <a:cxnLst/>
              <a:rect l="0" t="0" r="0" b="0"/>
              <a:pathLst>
                <a:path w="664845" h="191">
                  <a:moveTo>
                    <a:pt x="664845" y="0"/>
                  </a:moveTo>
                  <a:lnTo>
                    <a:pt x="0" y="0"/>
                  </a:lnTo>
                </a:path>
              </a:pathLst>
            </a:custGeom>
            <a:noFill/>
            <a:ln w="8505">
              <a:solidFill>
                <a:srgbClr val="77828C"/>
              </a:solidFill>
              <a:prstDash val="solid"/>
            </a:ln>
          </p:spPr>
        </p:sp>
        <p:sp>
          <p:nvSpPr>
            <p:cNvPr id="1388" name="Summary to cross attention refined head">
              <a:extLst>
                <a:ext uri="{FF2B5EF4-FFF2-40B4-BE49-F238E27FC236}">
                  <a16:creationId xmlns:a16="http://schemas.microsoft.com/office/drawing/2014/main" id="{91B08F31-0339-9716-3395-2B3F8970BA82}"/>
                </a:ext>
              </a:extLst>
            </p:cNvPr>
            <p:cNvSpPr>
              <a:spLocks noGrp="1"/>
            </p:cNvSpPr>
            <p:nvPr/>
          </p:nvSpPr>
          <p:spPr>
            <a:xfrm>
              <a:off x="4592349" y="8268463"/>
              <a:ext cx="66676" cy="57339"/>
            </a:xfrm>
            <a:custGeom>
              <a:avLst/>
              <a:gdLst/>
              <a:ahLst/>
              <a:cxnLst/>
              <a:rect l="0" t="0" r="0" b="0"/>
              <a:pathLst>
                <a:path w="66675" h="57340">
                  <a:moveTo>
                    <a:pt x="0" y="28670"/>
                  </a:moveTo>
                  <a:lnTo>
                    <a:pt x="66675" y="57340"/>
                  </a:lnTo>
                  <a:lnTo>
                    <a:pt x="66675" y="0"/>
                  </a:lnTo>
                  <a:close/>
                </a:path>
              </a:pathLst>
            </a:custGeom>
            <a:solidFill>
              <a:srgbClr val="77828C"/>
            </a:solidFill>
            <a:ln w="0">
              <a:noFill/>
              <a:prstDash val="solid"/>
            </a:ln>
          </p:spPr>
        </p:sp>
        <p:sp>
          <p:nvSpPr>
            <p:cNvPr id="1389" name="FiLM to candidate refined">
              <a:extLst>
                <a:ext uri="{FF2B5EF4-FFF2-40B4-BE49-F238E27FC236}">
                  <a16:creationId xmlns:a16="http://schemas.microsoft.com/office/drawing/2014/main" id="{25FC3F76-C3DD-1537-7837-64B9361AE243}"/>
                </a:ext>
              </a:extLst>
            </p:cNvPr>
            <p:cNvSpPr>
              <a:spLocks noGrp="1"/>
            </p:cNvSpPr>
            <p:nvPr/>
          </p:nvSpPr>
          <p:spPr>
            <a:xfrm>
              <a:off x="5260059" y="9144953"/>
              <a:ext cx="190" cy="215360"/>
            </a:xfrm>
            <a:custGeom>
              <a:avLst/>
              <a:gdLst/>
              <a:ahLst/>
              <a:cxnLst/>
              <a:rect l="0" t="0" r="0" b="0"/>
              <a:pathLst>
                <a:path w="191" h="215360">
                  <a:moveTo>
                    <a:pt x="0" y="0"/>
                  </a:moveTo>
                  <a:lnTo>
                    <a:pt x="0" y="215360"/>
                  </a:lnTo>
                </a:path>
              </a:pathLst>
            </a:custGeom>
            <a:noFill/>
            <a:ln w="8505">
              <a:solidFill>
                <a:srgbClr val="77828C"/>
              </a:solidFill>
              <a:prstDash val="solid"/>
            </a:ln>
          </p:spPr>
        </p:sp>
        <p:sp>
          <p:nvSpPr>
            <p:cNvPr id="1390" name="FiLM to candidate refined head">
              <a:extLst>
                <a:ext uri="{FF2B5EF4-FFF2-40B4-BE49-F238E27FC236}">
                  <a16:creationId xmlns:a16="http://schemas.microsoft.com/office/drawing/2014/main" id="{7A05C2E3-B0E7-7DA8-4847-EC91C004D35D}"/>
                </a:ext>
              </a:extLst>
            </p:cNvPr>
            <p:cNvSpPr>
              <a:spLocks noGrp="1"/>
            </p:cNvSpPr>
            <p:nvPr/>
          </p:nvSpPr>
          <p:spPr>
            <a:xfrm>
              <a:off x="5227656" y="9316975"/>
              <a:ext cx="57339" cy="66676"/>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391" name="Candidate to foreground refined">
              <a:extLst>
                <a:ext uri="{FF2B5EF4-FFF2-40B4-BE49-F238E27FC236}">
                  <a16:creationId xmlns:a16="http://schemas.microsoft.com/office/drawing/2014/main" id="{FE203BD6-3778-87C2-8526-E332B5B380C4}"/>
                </a:ext>
              </a:extLst>
            </p:cNvPr>
            <p:cNvSpPr>
              <a:spLocks noGrp="1"/>
            </p:cNvSpPr>
            <p:nvPr/>
          </p:nvSpPr>
          <p:spPr>
            <a:xfrm>
              <a:off x="2390046" y="9532751"/>
              <a:ext cx="2867433" cy="278948"/>
            </a:xfrm>
            <a:custGeom>
              <a:avLst/>
              <a:gdLst/>
              <a:ahLst/>
              <a:cxnLst/>
              <a:rect l="0" t="0" r="0" b="0"/>
              <a:pathLst>
                <a:path w="2809018" h="286702">
                  <a:moveTo>
                    <a:pt x="2809018" y="0"/>
                  </a:moveTo>
                  <a:lnTo>
                    <a:pt x="2809018" y="95250"/>
                  </a:lnTo>
                  <a:lnTo>
                    <a:pt x="0" y="95250"/>
                  </a:lnTo>
                  <a:lnTo>
                    <a:pt x="0" y="286702"/>
                  </a:lnTo>
                </a:path>
              </a:pathLst>
            </a:custGeom>
            <a:noFill/>
            <a:ln w="8505">
              <a:solidFill>
                <a:srgbClr val="77828C"/>
              </a:solidFill>
              <a:prstDash val="solid"/>
            </a:ln>
          </p:spPr>
        </p:sp>
        <p:sp>
          <p:nvSpPr>
            <p:cNvPr id="1392" name="Candidate to foreground refined head">
              <a:extLst>
                <a:ext uri="{FF2B5EF4-FFF2-40B4-BE49-F238E27FC236}">
                  <a16:creationId xmlns:a16="http://schemas.microsoft.com/office/drawing/2014/main" id="{D2B7433A-243E-C206-1CB1-3F191E6AD029}"/>
                </a:ext>
              </a:extLst>
            </p:cNvPr>
            <p:cNvSpPr>
              <a:spLocks noGrp="1"/>
            </p:cNvSpPr>
            <p:nvPr/>
          </p:nvSpPr>
          <p:spPr>
            <a:xfrm>
              <a:off x="2361378" y="9768364"/>
              <a:ext cx="57340" cy="66675"/>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393" name="Foreground to probability refined">
              <a:extLst>
                <a:ext uri="{FF2B5EF4-FFF2-40B4-BE49-F238E27FC236}">
                  <a16:creationId xmlns:a16="http://schemas.microsoft.com/office/drawing/2014/main" id="{D5A6B998-ADFA-E982-8C35-E6D90114C21C}"/>
                </a:ext>
              </a:extLst>
            </p:cNvPr>
            <p:cNvSpPr>
              <a:spLocks noGrp="1"/>
            </p:cNvSpPr>
            <p:nvPr/>
          </p:nvSpPr>
          <p:spPr>
            <a:xfrm flipV="1">
              <a:off x="3273601" y="9904498"/>
              <a:ext cx="621737" cy="107521"/>
            </a:xfrm>
            <a:custGeom>
              <a:avLst/>
              <a:gdLst/>
              <a:ahLst/>
              <a:cxnLst/>
              <a:rect l="0" t="0" r="0" b="0"/>
              <a:pathLst>
                <a:path w="600742" h="191">
                  <a:moveTo>
                    <a:pt x="0" y="0"/>
                  </a:moveTo>
                  <a:lnTo>
                    <a:pt x="600742" y="0"/>
                  </a:lnTo>
                </a:path>
              </a:pathLst>
            </a:custGeom>
            <a:noFill/>
            <a:ln w="8505">
              <a:solidFill>
                <a:srgbClr val="77828C"/>
              </a:solidFill>
              <a:prstDash val="solid"/>
            </a:ln>
          </p:spPr>
        </p:sp>
        <p:sp>
          <p:nvSpPr>
            <p:cNvPr id="1394" name="Foreground to probability refined head">
              <a:extLst>
                <a:ext uri="{FF2B5EF4-FFF2-40B4-BE49-F238E27FC236}">
                  <a16:creationId xmlns:a16="http://schemas.microsoft.com/office/drawing/2014/main" id="{660BE4D6-2608-6E09-7FF4-AD7C50994699}"/>
                </a:ext>
              </a:extLst>
            </p:cNvPr>
            <p:cNvSpPr>
              <a:spLocks noGrp="1"/>
            </p:cNvSpPr>
            <p:nvPr/>
          </p:nvSpPr>
          <p:spPr>
            <a:xfrm>
              <a:off x="3856976" y="9982695"/>
              <a:ext cx="66676" cy="57339"/>
            </a:xfrm>
            <a:custGeom>
              <a:avLst/>
              <a:gdLst/>
              <a:ahLst/>
              <a:cxnLst/>
              <a:rect l="0" t="0" r="0" b="0"/>
              <a:pathLst>
                <a:path w="66675" h="57340">
                  <a:moveTo>
                    <a:pt x="66675" y="28670"/>
                  </a:moveTo>
                  <a:lnTo>
                    <a:pt x="0" y="0"/>
                  </a:lnTo>
                  <a:lnTo>
                    <a:pt x="0" y="57340"/>
                  </a:lnTo>
                  <a:close/>
                </a:path>
              </a:pathLst>
            </a:custGeom>
            <a:solidFill>
              <a:srgbClr val="77828C"/>
            </a:solidFill>
            <a:ln w="0">
              <a:noFill/>
              <a:prstDash val="solid"/>
            </a:ln>
          </p:spPr>
        </p:sp>
        <p:sp>
          <p:nvSpPr>
            <p:cNvPr id="1395" name="Candidate to cosine refined">
              <a:extLst>
                <a:ext uri="{FF2B5EF4-FFF2-40B4-BE49-F238E27FC236}">
                  <a16:creationId xmlns:a16="http://schemas.microsoft.com/office/drawing/2014/main" id="{22A5040B-9402-AB7D-9094-F4BF5F10ADD2}"/>
                </a:ext>
              </a:extLst>
            </p:cNvPr>
            <p:cNvSpPr>
              <a:spLocks noGrp="1"/>
            </p:cNvSpPr>
            <p:nvPr/>
          </p:nvSpPr>
          <p:spPr>
            <a:xfrm>
              <a:off x="5257496" y="9528367"/>
              <a:ext cx="2419601" cy="443164"/>
            </a:xfrm>
            <a:custGeom>
              <a:avLst/>
              <a:gdLst/>
              <a:ahLst/>
              <a:cxnLst/>
              <a:rect l="0" t="0" r="0" b="0"/>
              <a:pathLst>
                <a:path w="2143887" h="446532">
                  <a:moveTo>
                    <a:pt x="0" y="0"/>
                  </a:moveTo>
                  <a:lnTo>
                    <a:pt x="0" y="446532"/>
                  </a:lnTo>
                  <a:lnTo>
                    <a:pt x="2143887" y="446532"/>
                  </a:lnTo>
                </a:path>
              </a:pathLst>
            </a:custGeom>
            <a:noFill/>
            <a:ln w="8505">
              <a:solidFill>
                <a:srgbClr val="77828C"/>
              </a:solidFill>
              <a:prstDash val="solid"/>
            </a:ln>
          </p:spPr>
        </p:sp>
        <p:sp>
          <p:nvSpPr>
            <p:cNvPr id="1396" name="Candidate to cosine refined head">
              <a:extLst>
                <a:ext uri="{FF2B5EF4-FFF2-40B4-BE49-F238E27FC236}">
                  <a16:creationId xmlns:a16="http://schemas.microsoft.com/office/drawing/2014/main" id="{D0F3AAE9-EBC0-FC07-AF0A-FBDAD938D93E}"/>
                </a:ext>
              </a:extLst>
            </p:cNvPr>
            <p:cNvSpPr>
              <a:spLocks noGrp="1"/>
            </p:cNvSpPr>
            <p:nvPr/>
          </p:nvSpPr>
          <p:spPr>
            <a:xfrm>
              <a:off x="7633759" y="9942862"/>
              <a:ext cx="66675" cy="57340"/>
            </a:xfrm>
            <a:custGeom>
              <a:avLst/>
              <a:gdLst/>
              <a:ahLst/>
              <a:cxnLst/>
              <a:rect l="0" t="0" r="0" b="0"/>
              <a:pathLst>
                <a:path w="66675" h="57340">
                  <a:moveTo>
                    <a:pt x="66675" y="28670"/>
                  </a:moveTo>
                  <a:lnTo>
                    <a:pt x="0" y="0"/>
                  </a:lnTo>
                  <a:lnTo>
                    <a:pt x="0" y="57340"/>
                  </a:lnTo>
                  <a:close/>
                </a:path>
              </a:pathLst>
            </a:custGeom>
            <a:solidFill>
              <a:srgbClr val="77828C"/>
            </a:solidFill>
            <a:ln w="0">
              <a:noFill/>
              <a:prstDash val="solid"/>
            </a:ln>
          </p:spPr>
        </p:sp>
        <p:sp>
          <p:nvSpPr>
            <p:cNvPr id="1397" name="Selected identity to graph refined">
              <a:extLst>
                <a:ext uri="{FF2B5EF4-FFF2-40B4-BE49-F238E27FC236}">
                  <a16:creationId xmlns:a16="http://schemas.microsoft.com/office/drawing/2014/main" id="{2545D43E-9B8D-BA3E-80CD-880BD63B35AE}"/>
                </a:ext>
              </a:extLst>
            </p:cNvPr>
            <p:cNvSpPr>
              <a:spLocks noGrp="1"/>
            </p:cNvSpPr>
            <p:nvPr/>
          </p:nvSpPr>
          <p:spPr>
            <a:xfrm>
              <a:off x="7067879" y="6134481"/>
              <a:ext cx="651129" cy="595217"/>
            </a:xfrm>
            <a:custGeom>
              <a:avLst/>
              <a:gdLst/>
              <a:ahLst/>
              <a:cxnLst/>
              <a:rect l="0" t="0" r="0" b="0"/>
              <a:pathLst>
                <a:path w="651129" h="595217">
                  <a:moveTo>
                    <a:pt x="651129" y="0"/>
                  </a:moveTo>
                  <a:lnTo>
                    <a:pt x="0" y="0"/>
                  </a:lnTo>
                  <a:lnTo>
                    <a:pt x="0" y="595217"/>
                  </a:lnTo>
                </a:path>
              </a:pathLst>
            </a:custGeom>
            <a:noFill/>
            <a:ln w="8505">
              <a:solidFill>
                <a:srgbClr val="77828C"/>
              </a:solidFill>
              <a:prstDash val="solid"/>
            </a:ln>
          </p:spPr>
        </p:sp>
        <p:sp>
          <p:nvSpPr>
            <p:cNvPr id="1398" name="Selected identity to graph refined head">
              <a:extLst>
                <a:ext uri="{FF2B5EF4-FFF2-40B4-BE49-F238E27FC236}">
                  <a16:creationId xmlns:a16="http://schemas.microsoft.com/office/drawing/2014/main" id="{2F033F6F-AC85-37DE-479C-D063C3DB8E25}"/>
                </a:ext>
              </a:extLst>
            </p:cNvPr>
            <p:cNvSpPr>
              <a:spLocks noGrp="1"/>
            </p:cNvSpPr>
            <p:nvPr/>
          </p:nvSpPr>
          <p:spPr>
            <a:xfrm>
              <a:off x="7039209" y="6686360"/>
              <a:ext cx="57340" cy="66675"/>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399" name="Graph to GNN refined">
              <a:extLst>
                <a:ext uri="{FF2B5EF4-FFF2-40B4-BE49-F238E27FC236}">
                  <a16:creationId xmlns:a16="http://schemas.microsoft.com/office/drawing/2014/main" id="{7EF864D3-D6E3-5180-82C2-0A0AE886C150}"/>
                </a:ext>
              </a:extLst>
            </p:cNvPr>
            <p:cNvSpPr>
              <a:spLocks noGrp="1"/>
            </p:cNvSpPr>
            <p:nvPr/>
          </p:nvSpPr>
          <p:spPr>
            <a:xfrm>
              <a:off x="7067879" y="7441406"/>
              <a:ext cx="191" cy="153448"/>
            </a:xfrm>
            <a:custGeom>
              <a:avLst/>
              <a:gdLst/>
              <a:ahLst/>
              <a:cxnLst/>
              <a:rect l="0" t="0" r="0" b="0"/>
              <a:pathLst>
                <a:path w="191" h="153448">
                  <a:moveTo>
                    <a:pt x="0" y="0"/>
                  </a:moveTo>
                  <a:lnTo>
                    <a:pt x="0" y="153448"/>
                  </a:lnTo>
                </a:path>
              </a:pathLst>
            </a:custGeom>
            <a:noFill/>
            <a:ln w="8505">
              <a:solidFill>
                <a:srgbClr val="77828C"/>
              </a:solidFill>
              <a:prstDash val="solid"/>
            </a:ln>
          </p:spPr>
        </p:sp>
        <p:sp>
          <p:nvSpPr>
            <p:cNvPr id="1400" name="Graph to GNN refined head">
              <a:extLst>
                <a:ext uri="{FF2B5EF4-FFF2-40B4-BE49-F238E27FC236}">
                  <a16:creationId xmlns:a16="http://schemas.microsoft.com/office/drawing/2014/main" id="{B23BD653-4893-2671-9B86-7F888A6E5617}"/>
                </a:ext>
              </a:extLst>
            </p:cNvPr>
            <p:cNvSpPr>
              <a:spLocks noGrp="1"/>
            </p:cNvSpPr>
            <p:nvPr/>
          </p:nvSpPr>
          <p:spPr>
            <a:xfrm>
              <a:off x="7039209" y="7551515"/>
              <a:ext cx="57340" cy="66675"/>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401" name="GNN to graph attention refined">
              <a:extLst>
                <a:ext uri="{FF2B5EF4-FFF2-40B4-BE49-F238E27FC236}">
                  <a16:creationId xmlns:a16="http://schemas.microsoft.com/office/drawing/2014/main" id="{B0DCC1B2-7C1A-332C-0127-08382278DBC6}"/>
                </a:ext>
              </a:extLst>
            </p:cNvPr>
            <p:cNvSpPr>
              <a:spLocks noGrp="1"/>
            </p:cNvSpPr>
            <p:nvPr/>
          </p:nvSpPr>
          <p:spPr>
            <a:xfrm>
              <a:off x="7067879" y="7934420"/>
              <a:ext cx="191" cy="274320"/>
            </a:xfrm>
            <a:custGeom>
              <a:avLst/>
              <a:gdLst/>
              <a:ahLst/>
              <a:cxnLst/>
              <a:rect l="0" t="0" r="0" b="0"/>
              <a:pathLst>
                <a:path w="191" h="274320">
                  <a:moveTo>
                    <a:pt x="0" y="0"/>
                  </a:moveTo>
                  <a:lnTo>
                    <a:pt x="0" y="274320"/>
                  </a:lnTo>
                </a:path>
              </a:pathLst>
            </a:custGeom>
            <a:noFill/>
            <a:ln w="8505">
              <a:solidFill>
                <a:srgbClr val="77828C"/>
              </a:solidFill>
              <a:prstDash val="solid"/>
            </a:ln>
          </p:spPr>
        </p:sp>
        <p:sp>
          <p:nvSpPr>
            <p:cNvPr id="1402" name="GNN to graph attention refined head">
              <a:extLst>
                <a:ext uri="{FF2B5EF4-FFF2-40B4-BE49-F238E27FC236}">
                  <a16:creationId xmlns:a16="http://schemas.microsoft.com/office/drawing/2014/main" id="{F5D1A0D2-1869-EB89-61A3-D3ABFE580C35}"/>
                </a:ext>
              </a:extLst>
            </p:cNvPr>
            <p:cNvSpPr>
              <a:spLocks noGrp="1"/>
            </p:cNvSpPr>
            <p:nvPr/>
          </p:nvSpPr>
          <p:spPr>
            <a:xfrm>
              <a:off x="7039209" y="8165402"/>
              <a:ext cx="57340" cy="66675"/>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403" name="Identity to SMI-TED refined">
              <a:extLst>
                <a:ext uri="{FF2B5EF4-FFF2-40B4-BE49-F238E27FC236}">
                  <a16:creationId xmlns:a16="http://schemas.microsoft.com/office/drawing/2014/main" id="{416B661C-118E-CA99-59DC-DA4857A74E2E}"/>
                </a:ext>
              </a:extLst>
            </p:cNvPr>
            <p:cNvSpPr>
              <a:spLocks noGrp="1"/>
            </p:cNvSpPr>
            <p:nvPr/>
          </p:nvSpPr>
          <p:spPr>
            <a:xfrm>
              <a:off x="8637980" y="6638068"/>
              <a:ext cx="191" cy="326993"/>
            </a:xfrm>
            <a:custGeom>
              <a:avLst/>
              <a:gdLst/>
              <a:ahLst/>
              <a:cxnLst/>
              <a:rect l="0" t="0" r="0" b="0"/>
              <a:pathLst>
                <a:path w="191" h="326993">
                  <a:moveTo>
                    <a:pt x="0" y="0"/>
                  </a:moveTo>
                  <a:lnTo>
                    <a:pt x="0" y="326993"/>
                  </a:lnTo>
                </a:path>
              </a:pathLst>
            </a:custGeom>
            <a:noFill/>
            <a:ln w="8505">
              <a:solidFill>
                <a:srgbClr val="77828C"/>
              </a:solidFill>
              <a:prstDash val="solid"/>
            </a:ln>
          </p:spPr>
        </p:sp>
        <p:sp>
          <p:nvSpPr>
            <p:cNvPr id="1404" name="Identity to SMI-TED refined head">
              <a:extLst>
                <a:ext uri="{FF2B5EF4-FFF2-40B4-BE49-F238E27FC236}">
                  <a16:creationId xmlns:a16="http://schemas.microsoft.com/office/drawing/2014/main" id="{0BA2F96A-2AFB-7C00-99C8-78C9DC78B848}"/>
                </a:ext>
              </a:extLst>
            </p:cNvPr>
            <p:cNvSpPr>
              <a:spLocks noGrp="1"/>
            </p:cNvSpPr>
            <p:nvPr/>
          </p:nvSpPr>
          <p:spPr>
            <a:xfrm>
              <a:off x="8609310" y="6921722"/>
              <a:ext cx="57340" cy="66675"/>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405" name="SMI-TED to language refined">
              <a:extLst>
                <a:ext uri="{FF2B5EF4-FFF2-40B4-BE49-F238E27FC236}">
                  <a16:creationId xmlns:a16="http://schemas.microsoft.com/office/drawing/2014/main" id="{688B9630-847C-74A2-04EF-D75E08D7E423}"/>
                </a:ext>
              </a:extLst>
            </p:cNvPr>
            <p:cNvSpPr>
              <a:spLocks noGrp="1"/>
            </p:cNvSpPr>
            <p:nvPr/>
          </p:nvSpPr>
          <p:spPr>
            <a:xfrm>
              <a:off x="8637980" y="7304627"/>
              <a:ext cx="191" cy="1013841"/>
            </a:xfrm>
            <a:custGeom>
              <a:avLst/>
              <a:gdLst/>
              <a:ahLst/>
              <a:cxnLst/>
              <a:rect l="0" t="0" r="0" b="0"/>
              <a:pathLst>
                <a:path w="191" h="1013841">
                  <a:moveTo>
                    <a:pt x="0" y="0"/>
                  </a:moveTo>
                  <a:lnTo>
                    <a:pt x="0" y="1013841"/>
                  </a:lnTo>
                </a:path>
              </a:pathLst>
            </a:custGeom>
            <a:noFill/>
            <a:ln w="8505">
              <a:solidFill>
                <a:srgbClr val="77828C"/>
              </a:solidFill>
              <a:prstDash val="solid"/>
            </a:ln>
          </p:spPr>
        </p:sp>
        <p:sp>
          <p:nvSpPr>
            <p:cNvPr id="1406" name="SMI-TED to language refined head">
              <a:extLst>
                <a:ext uri="{FF2B5EF4-FFF2-40B4-BE49-F238E27FC236}">
                  <a16:creationId xmlns:a16="http://schemas.microsoft.com/office/drawing/2014/main" id="{7251A2B8-D12B-A433-6B0D-10AA76953AAB}"/>
                </a:ext>
              </a:extLst>
            </p:cNvPr>
            <p:cNvSpPr>
              <a:spLocks noGrp="1"/>
            </p:cNvSpPr>
            <p:nvPr/>
          </p:nvSpPr>
          <p:spPr>
            <a:xfrm>
              <a:off x="8609310" y="8275130"/>
              <a:ext cx="57340" cy="66675"/>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407" name="Other identities refined">
              <a:extLst>
                <a:ext uri="{FF2B5EF4-FFF2-40B4-BE49-F238E27FC236}">
                  <a16:creationId xmlns:a16="http://schemas.microsoft.com/office/drawing/2014/main" id="{A4787BA6-E950-16B8-B01A-9B4C92E13C7A}"/>
                </a:ext>
              </a:extLst>
            </p:cNvPr>
            <p:cNvSpPr>
              <a:spLocks noGrp="1"/>
            </p:cNvSpPr>
            <p:nvPr/>
          </p:nvSpPr>
          <p:spPr>
            <a:xfrm>
              <a:off x="9616579" y="5581174"/>
              <a:ext cx="613886" cy="1373695"/>
            </a:xfrm>
            <a:custGeom>
              <a:avLst/>
              <a:gdLst/>
              <a:ahLst/>
              <a:cxnLst/>
              <a:rect l="0" t="0" r="0" b="0"/>
              <a:pathLst>
                <a:path w="613886" h="1373695">
                  <a:moveTo>
                    <a:pt x="0" y="0"/>
                  </a:moveTo>
                  <a:lnTo>
                    <a:pt x="613886" y="0"/>
                  </a:lnTo>
                  <a:lnTo>
                    <a:pt x="613886" y="1373695"/>
                  </a:lnTo>
                </a:path>
              </a:pathLst>
            </a:custGeom>
            <a:noFill/>
            <a:ln w="8505">
              <a:solidFill>
                <a:srgbClr val="77828C"/>
              </a:solidFill>
              <a:prstDash val="solid"/>
            </a:ln>
          </p:spPr>
        </p:sp>
        <p:sp>
          <p:nvSpPr>
            <p:cNvPr id="1408" name="Other identities refined head">
              <a:extLst>
                <a:ext uri="{FF2B5EF4-FFF2-40B4-BE49-F238E27FC236}">
                  <a16:creationId xmlns:a16="http://schemas.microsoft.com/office/drawing/2014/main" id="{9D094DDB-3471-ECAC-BCA5-E9612E620328}"/>
                </a:ext>
              </a:extLst>
            </p:cNvPr>
            <p:cNvSpPr>
              <a:spLocks noGrp="1"/>
            </p:cNvSpPr>
            <p:nvPr/>
          </p:nvSpPr>
          <p:spPr>
            <a:xfrm>
              <a:off x="10201795" y="6911531"/>
              <a:ext cx="57340" cy="66675"/>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409" name="Other identities middle refined">
              <a:extLst>
                <a:ext uri="{FF2B5EF4-FFF2-40B4-BE49-F238E27FC236}">
                  <a16:creationId xmlns:a16="http://schemas.microsoft.com/office/drawing/2014/main" id="{43A875F1-64CC-3AE0-16D0-832B017C6CB3}"/>
                </a:ext>
              </a:extLst>
            </p:cNvPr>
            <p:cNvSpPr>
              <a:spLocks noGrp="1"/>
            </p:cNvSpPr>
            <p:nvPr/>
          </p:nvSpPr>
          <p:spPr>
            <a:xfrm>
              <a:off x="9616579" y="5851112"/>
              <a:ext cx="613886" cy="191"/>
            </a:xfrm>
            <a:custGeom>
              <a:avLst/>
              <a:gdLst/>
              <a:ahLst/>
              <a:cxnLst/>
              <a:rect l="0" t="0" r="0" b="0"/>
              <a:pathLst>
                <a:path w="613886" h="191">
                  <a:moveTo>
                    <a:pt x="0" y="0"/>
                  </a:moveTo>
                  <a:lnTo>
                    <a:pt x="613886" y="0"/>
                  </a:lnTo>
                </a:path>
              </a:pathLst>
            </a:custGeom>
            <a:noFill/>
            <a:ln w="8505">
              <a:solidFill>
                <a:srgbClr val="77828C"/>
              </a:solidFill>
              <a:prstDash val="solid"/>
            </a:ln>
          </p:spPr>
        </p:sp>
        <p:sp>
          <p:nvSpPr>
            <p:cNvPr id="1410" name="Other identities lower refined">
              <a:extLst>
                <a:ext uri="{FF2B5EF4-FFF2-40B4-BE49-F238E27FC236}">
                  <a16:creationId xmlns:a16="http://schemas.microsoft.com/office/drawing/2014/main" id="{D83A070A-E1D1-4067-2310-74DC30F9F921}"/>
                </a:ext>
              </a:extLst>
            </p:cNvPr>
            <p:cNvSpPr>
              <a:spLocks noGrp="1"/>
            </p:cNvSpPr>
            <p:nvPr/>
          </p:nvSpPr>
          <p:spPr>
            <a:xfrm>
              <a:off x="9616579" y="6533293"/>
              <a:ext cx="613886" cy="191"/>
            </a:xfrm>
            <a:custGeom>
              <a:avLst/>
              <a:gdLst/>
              <a:ahLst/>
              <a:cxnLst/>
              <a:rect l="0" t="0" r="0" b="0"/>
              <a:pathLst>
                <a:path w="613886" h="191">
                  <a:moveTo>
                    <a:pt x="0" y="0"/>
                  </a:moveTo>
                  <a:lnTo>
                    <a:pt x="613886" y="0"/>
                  </a:lnTo>
                </a:path>
              </a:pathLst>
            </a:custGeom>
            <a:noFill/>
            <a:ln w="8505">
              <a:solidFill>
                <a:srgbClr val="77828C"/>
              </a:solidFill>
              <a:prstDash val="solid"/>
            </a:ln>
          </p:spPr>
        </p:sp>
        <p:sp>
          <p:nvSpPr>
            <p:cNvPr id="1411" name="Context SMI-TED to matrix refined">
              <a:extLst>
                <a:ext uri="{FF2B5EF4-FFF2-40B4-BE49-F238E27FC236}">
                  <a16:creationId xmlns:a16="http://schemas.microsoft.com/office/drawing/2014/main" id="{3BA39657-BA55-8B03-4B42-2E8CA0F2402A}"/>
                </a:ext>
              </a:extLst>
            </p:cNvPr>
            <p:cNvSpPr>
              <a:spLocks noGrp="1"/>
            </p:cNvSpPr>
            <p:nvPr/>
          </p:nvSpPr>
          <p:spPr>
            <a:xfrm>
              <a:off x="10240942" y="7294436"/>
              <a:ext cx="191" cy="264128"/>
            </a:xfrm>
            <a:custGeom>
              <a:avLst/>
              <a:gdLst/>
              <a:ahLst/>
              <a:cxnLst/>
              <a:rect l="0" t="0" r="0" b="0"/>
              <a:pathLst>
                <a:path w="191" h="264128">
                  <a:moveTo>
                    <a:pt x="0" y="0"/>
                  </a:moveTo>
                  <a:lnTo>
                    <a:pt x="0" y="264128"/>
                  </a:lnTo>
                </a:path>
              </a:pathLst>
            </a:custGeom>
            <a:noFill/>
            <a:ln w="8505">
              <a:solidFill>
                <a:srgbClr val="77828C"/>
              </a:solidFill>
              <a:prstDash val="solid"/>
            </a:ln>
          </p:spPr>
        </p:sp>
        <p:sp>
          <p:nvSpPr>
            <p:cNvPr id="1412" name="Context SMI-TED to matrix refined head">
              <a:extLst>
                <a:ext uri="{FF2B5EF4-FFF2-40B4-BE49-F238E27FC236}">
                  <a16:creationId xmlns:a16="http://schemas.microsoft.com/office/drawing/2014/main" id="{46BBCF7E-77B7-430B-5E68-8D5D4D07C9BA}"/>
                </a:ext>
              </a:extLst>
            </p:cNvPr>
            <p:cNvSpPr>
              <a:spLocks noGrp="1"/>
            </p:cNvSpPr>
            <p:nvPr/>
          </p:nvSpPr>
          <p:spPr>
            <a:xfrm>
              <a:off x="10212272" y="7515226"/>
              <a:ext cx="57339" cy="66676"/>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413" name="Context matrix to attention refined">
              <a:extLst>
                <a:ext uri="{FF2B5EF4-FFF2-40B4-BE49-F238E27FC236}">
                  <a16:creationId xmlns:a16="http://schemas.microsoft.com/office/drawing/2014/main" id="{19123C2B-08C0-5942-5974-56E3DB290164}"/>
                </a:ext>
              </a:extLst>
            </p:cNvPr>
            <p:cNvSpPr>
              <a:spLocks noGrp="1"/>
            </p:cNvSpPr>
            <p:nvPr/>
          </p:nvSpPr>
          <p:spPr>
            <a:xfrm>
              <a:off x="10230465" y="7958995"/>
              <a:ext cx="191" cy="249745"/>
            </a:xfrm>
            <a:custGeom>
              <a:avLst/>
              <a:gdLst/>
              <a:ahLst/>
              <a:cxnLst/>
              <a:rect l="0" t="0" r="0" b="0"/>
              <a:pathLst>
                <a:path w="191" h="249745">
                  <a:moveTo>
                    <a:pt x="0" y="0"/>
                  </a:moveTo>
                  <a:lnTo>
                    <a:pt x="0" y="249745"/>
                  </a:lnTo>
                </a:path>
              </a:pathLst>
            </a:custGeom>
            <a:noFill/>
            <a:ln w="8505">
              <a:solidFill>
                <a:srgbClr val="77828C"/>
              </a:solidFill>
              <a:prstDash val="solid"/>
            </a:ln>
          </p:spPr>
        </p:sp>
        <p:sp>
          <p:nvSpPr>
            <p:cNvPr id="1414" name="Context matrix to attention refined head">
              <a:extLst>
                <a:ext uri="{FF2B5EF4-FFF2-40B4-BE49-F238E27FC236}">
                  <a16:creationId xmlns:a16="http://schemas.microsoft.com/office/drawing/2014/main" id="{F6D726DD-707A-38A3-9C89-49061435E2BF}"/>
                </a:ext>
              </a:extLst>
            </p:cNvPr>
            <p:cNvSpPr>
              <a:spLocks noGrp="1"/>
            </p:cNvSpPr>
            <p:nvPr/>
          </p:nvSpPr>
          <p:spPr>
            <a:xfrm>
              <a:off x="10201795" y="8165402"/>
              <a:ext cx="57340" cy="66675"/>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415" name="Language query left refined">
              <a:extLst>
                <a:ext uri="{FF2B5EF4-FFF2-40B4-BE49-F238E27FC236}">
                  <a16:creationId xmlns:a16="http://schemas.microsoft.com/office/drawing/2014/main" id="{739AFAAD-E669-E2AC-687E-E59FC6E7FAD2}"/>
                </a:ext>
              </a:extLst>
            </p:cNvPr>
            <p:cNvSpPr>
              <a:spLocks noGrp="1"/>
            </p:cNvSpPr>
            <p:nvPr/>
          </p:nvSpPr>
          <p:spPr>
            <a:xfrm>
              <a:off x="7816735" y="8408765"/>
              <a:ext cx="479012" cy="191"/>
            </a:xfrm>
            <a:custGeom>
              <a:avLst/>
              <a:gdLst/>
              <a:ahLst/>
              <a:cxnLst/>
              <a:rect l="0" t="0" r="0" b="0"/>
              <a:pathLst>
                <a:path w="479012" h="191">
                  <a:moveTo>
                    <a:pt x="479012" y="0"/>
                  </a:moveTo>
                  <a:lnTo>
                    <a:pt x="0" y="0"/>
                  </a:lnTo>
                </a:path>
              </a:pathLst>
            </a:custGeom>
            <a:noFill/>
            <a:ln w="8505">
              <a:solidFill>
                <a:srgbClr val="77828C"/>
              </a:solidFill>
              <a:prstDash val="solid"/>
            </a:ln>
          </p:spPr>
        </p:sp>
        <p:sp>
          <p:nvSpPr>
            <p:cNvPr id="1416" name="Language query left refined head">
              <a:extLst>
                <a:ext uri="{FF2B5EF4-FFF2-40B4-BE49-F238E27FC236}">
                  <a16:creationId xmlns:a16="http://schemas.microsoft.com/office/drawing/2014/main" id="{98D92A42-D662-B44C-CD57-583BDD75174C}"/>
                </a:ext>
              </a:extLst>
            </p:cNvPr>
            <p:cNvSpPr>
              <a:spLocks noGrp="1"/>
            </p:cNvSpPr>
            <p:nvPr/>
          </p:nvSpPr>
          <p:spPr>
            <a:xfrm>
              <a:off x="7793398" y="8380095"/>
              <a:ext cx="66675" cy="57340"/>
            </a:xfrm>
            <a:custGeom>
              <a:avLst/>
              <a:gdLst/>
              <a:ahLst/>
              <a:cxnLst/>
              <a:rect l="0" t="0" r="0" b="0"/>
              <a:pathLst>
                <a:path w="66675" h="57340">
                  <a:moveTo>
                    <a:pt x="0" y="28670"/>
                  </a:moveTo>
                  <a:lnTo>
                    <a:pt x="66675" y="57340"/>
                  </a:lnTo>
                  <a:lnTo>
                    <a:pt x="66675" y="0"/>
                  </a:lnTo>
                  <a:close/>
                </a:path>
              </a:pathLst>
            </a:custGeom>
            <a:solidFill>
              <a:srgbClr val="77828C"/>
            </a:solidFill>
            <a:ln w="0">
              <a:noFill/>
              <a:prstDash val="solid"/>
            </a:ln>
          </p:spPr>
        </p:sp>
        <p:sp>
          <p:nvSpPr>
            <p:cNvPr id="1417" name="Language query right refined">
              <a:extLst>
                <a:ext uri="{FF2B5EF4-FFF2-40B4-BE49-F238E27FC236}">
                  <a16:creationId xmlns:a16="http://schemas.microsoft.com/office/drawing/2014/main" id="{97C332FD-B4F7-4A69-7F24-BE35ED3CC233}"/>
                </a:ext>
              </a:extLst>
            </p:cNvPr>
            <p:cNvSpPr>
              <a:spLocks noGrp="1"/>
            </p:cNvSpPr>
            <p:nvPr/>
          </p:nvSpPr>
          <p:spPr>
            <a:xfrm>
              <a:off x="8965450" y="8408765"/>
              <a:ext cx="478917" cy="191"/>
            </a:xfrm>
            <a:custGeom>
              <a:avLst/>
              <a:gdLst/>
              <a:ahLst/>
              <a:cxnLst/>
              <a:rect l="0" t="0" r="0" b="0"/>
              <a:pathLst>
                <a:path w="478917" h="191">
                  <a:moveTo>
                    <a:pt x="0" y="0"/>
                  </a:moveTo>
                  <a:lnTo>
                    <a:pt x="478917" y="0"/>
                  </a:lnTo>
                </a:path>
              </a:pathLst>
            </a:custGeom>
            <a:noFill/>
            <a:ln w="8505">
              <a:solidFill>
                <a:srgbClr val="77828C"/>
              </a:solidFill>
              <a:prstDash val="solid"/>
            </a:ln>
          </p:spPr>
        </p:sp>
        <p:sp>
          <p:nvSpPr>
            <p:cNvPr id="1418" name="Language query right refined head">
              <a:extLst>
                <a:ext uri="{FF2B5EF4-FFF2-40B4-BE49-F238E27FC236}">
                  <a16:creationId xmlns:a16="http://schemas.microsoft.com/office/drawing/2014/main" id="{4B6A3B32-B3D1-5F9B-FDB9-6517BE3635C2}"/>
                </a:ext>
              </a:extLst>
            </p:cNvPr>
            <p:cNvSpPr>
              <a:spLocks noGrp="1"/>
            </p:cNvSpPr>
            <p:nvPr/>
          </p:nvSpPr>
          <p:spPr>
            <a:xfrm>
              <a:off x="9401028" y="8380095"/>
              <a:ext cx="66675" cy="57340"/>
            </a:xfrm>
            <a:custGeom>
              <a:avLst/>
              <a:gdLst/>
              <a:ahLst/>
              <a:cxnLst/>
              <a:rect l="0" t="0" r="0" b="0"/>
              <a:pathLst>
                <a:path w="66675" h="57340">
                  <a:moveTo>
                    <a:pt x="66675" y="28670"/>
                  </a:moveTo>
                  <a:lnTo>
                    <a:pt x="0" y="0"/>
                  </a:lnTo>
                  <a:lnTo>
                    <a:pt x="0" y="57340"/>
                  </a:lnTo>
                  <a:close/>
                </a:path>
              </a:pathLst>
            </a:custGeom>
            <a:solidFill>
              <a:srgbClr val="77828C"/>
            </a:solidFill>
            <a:ln w="0">
              <a:noFill/>
              <a:prstDash val="solid"/>
            </a:ln>
          </p:spPr>
        </p:sp>
        <p:sp>
          <p:nvSpPr>
            <p:cNvPr id="1419" name="Language to fusion refined">
              <a:extLst>
                <a:ext uri="{FF2B5EF4-FFF2-40B4-BE49-F238E27FC236}">
                  <a16:creationId xmlns:a16="http://schemas.microsoft.com/office/drawing/2014/main" id="{CC1BD470-88ED-E459-BC64-3926AF1B81FC}"/>
                </a:ext>
              </a:extLst>
            </p:cNvPr>
            <p:cNvSpPr>
              <a:spLocks noGrp="1"/>
            </p:cNvSpPr>
            <p:nvPr/>
          </p:nvSpPr>
          <p:spPr>
            <a:xfrm>
              <a:off x="8630551" y="8475726"/>
              <a:ext cx="191" cy="281845"/>
            </a:xfrm>
            <a:custGeom>
              <a:avLst/>
              <a:gdLst/>
              <a:ahLst/>
              <a:cxnLst/>
              <a:rect l="0" t="0" r="0" b="0"/>
              <a:pathLst>
                <a:path w="191" h="281845">
                  <a:moveTo>
                    <a:pt x="0" y="0"/>
                  </a:moveTo>
                  <a:lnTo>
                    <a:pt x="0" y="281845"/>
                  </a:lnTo>
                </a:path>
              </a:pathLst>
            </a:custGeom>
            <a:noFill/>
            <a:ln w="8505">
              <a:solidFill>
                <a:srgbClr val="77828C"/>
              </a:solidFill>
              <a:prstDash val="solid"/>
            </a:ln>
          </p:spPr>
        </p:sp>
        <p:sp>
          <p:nvSpPr>
            <p:cNvPr id="1420" name="Language to fusion refined head">
              <a:extLst>
                <a:ext uri="{FF2B5EF4-FFF2-40B4-BE49-F238E27FC236}">
                  <a16:creationId xmlns:a16="http://schemas.microsoft.com/office/drawing/2014/main" id="{7DE28A53-D82C-C158-A00E-484E630E57C6}"/>
                </a:ext>
              </a:extLst>
            </p:cNvPr>
            <p:cNvSpPr>
              <a:spLocks noGrp="1"/>
            </p:cNvSpPr>
            <p:nvPr/>
          </p:nvSpPr>
          <p:spPr>
            <a:xfrm>
              <a:off x="8601880" y="8714232"/>
              <a:ext cx="57340" cy="66675"/>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421" name="Graph attention to fusion refined">
              <a:extLst>
                <a:ext uri="{FF2B5EF4-FFF2-40B4-BE49-F238E27FC236}">
                  <a16:creationId xmlns:a16="http://schemas.microsoft.com/office/drawing/2014/main" id="{9DE07E88-6455-6397-3B15-5E2794D66EC1}"/>
                </a:ext>
              </a:extLst>
            </p:cNvPr>
            <p:cNvSpPr>
              <a:spLocks noGrp="1"/>
            </p:cNvSpPr>
            <p:nvPr/>
          </p:nvSpPr>
          <p:spPr>
            <a:xfrm>
              <a:off x="7067879" y="8585549"/>
              <a:ext cx="1092899" cy="362807"/>
            </a:xfrm>
            <a:custGeom>
              <a:avLst/>
              <a:gdLst/>
              <a:ahLst/>
              <a:cxnLst/>
              <a:rect l="0" t="0" r="0" b="0"/>
              <a:pathLst>
                <a:path w="1092899" h="362807">
                  <a:moveTo>
                    <a:pt x="0" y="0"/>
                  </a:moveTo>
                  <a:lnTo>
                    <a:pt x="0" y="362807"/>
                  </a:lnTo>
                  <a:lnTo>
                    <a:pt x="1092899" y="362807"/>
                  </a:lnTo>
                </a:path>
              </a:pathLst>
            </a:custGeom>
            <a:noFill/>
            <a:ln w="8505">
              <a:solidFill>
                <a:srgbClr val="77828C"/>
              </a:solidFill>
              <a:prstDash val="solid"/>
            </a:ln>
          </p:spPr>
        </p:sp>
        <p:sp>
          <p:nvSpPr>
            <p:cNvPr id="1422" name="Graph attention to fusion refined head">
              <a:extLst>
                <a:ext uri="{FF2B5EF4-FFF2-40B4-BE49-F238E27FC236}">
                  <a16:creationId xmlns:a16="http://schemas.microsoft.com/office/drawing/2014/main" id="{80249588-4991-7EA9-C183-E31DFF970425}"/>
                </a:ext>
              </a:extLst>
            </p:cNvPr>
            <p:cNvSpPr>
              <a:spLocks noGrp="1"/>
            </p:cNvSpPr>
            <p:nvPr/>
          </p:nvSpPr>
          <p:spPr>
            <a:xfrm>
              <a:off x="8117439" y="8919686"/>
              <a:ext cx="66675" cy="57340"/>
            </a:xfrm>
            <a:custGeom>
              <a:avLst/>
              <a:gdLst/>
              <a:ahLst/>
              <a:cxnLst/>
              <a:rect l="0" t="0" r="0" b="0"/>
              <a:pathLst>
                <a:path w="66675" h="57340">
                  <a:moveTo>
                    <a:pt x="66675" y="28670"/>
                  </a:moveTo>
                  <a:lnTo>
                    <a:pt x="0" y="0"/>
                  </a:lnTo>
                  <a:lnTo>
                    <a:pt x="0" y="57340"/>
                  </a:lnTo>
                  <a:close/>
                </a:path>
              </a:pathLst>
            </a:custGeom>
            <a:solidFill>
              <a:srgbClr val="77828C"/>
            </a:solidFill>
            <a:ln w="0">
              <a:noFill/>
              <a:prstDash val="solid"/>
            </a:ln>
          </p:spPr>
        </p:sp>
        <p:sp>
          <p:nvSpPr>
            <p:cNvPr id="1423" name="Context attention to fusion refined">
              <a:extLst>
                <a:ext uri="{FF2B5EF4-FFF2-40B4-BE49-F238E27FC236}">
                  <a16:creationId xmlns:a16="http://schemas.microsoft.com/office/drawing/2014/main" id="{EB1CDE84-2AAC-05C7-2AC2-7F0CD69C4010}"/>
                </a:ext>
              </a:extLst>
            </p:cNvPr>
            <p:cNvSpPr>
              <a:spLocks noGrp="1"/>
            </p:cNvSpPr>
            <p:nvPr/>
          </p:nvSpPr>
          <p:spPr>
            <a:xfrm>
              <a:off x="9100419" y="8585549"/>
              <a:ext cx="1130046" cy="362807"/>
            </a:xfrm>
            <a:custGeom>
              <a:avLst/>
              <a:gdLst/>
              <a:ahLst/>
              <a:cxnLst/>
              <a:rect l="0" t="0" r="0" b="0"/>
              <a:pathLst>
                <a:path w="1130046" h="362807">
                  <a:moveTo>
                    <a:pt x="1130046" y="0"/>
                  </a:moveTo>
                  <a:lnTo>
                    <a:pt x="1130046" y="362807"/>
                  </a:lnTo>
                  <a:lnTo>
                    <a:pt x="0" y="362807"/>
                  </a:lnTo>
                </a:path>
              </a:pathLst>
            </a:custGeom>
            <a:noFill/>
            <a:ln w="8505">
              <a:solidFill>
                <a:srgbClr val="77828C"/>
              </a:solidFill>
              <a:prstDash val="solid"/>
            </a:ln>
          </p:spPr>
        </p:sp>
        <p:sp>
          <p:nvSpPr>
            <p:cNvPr id="1424" name="Context attention to fusion refined head">
              <a:extLst>
                <a:ext uri="{FF2B5EF4-FFF2-40B4-BE49-F238E27FC236}">
                  <a16:creationId xmlns:a16="http://schemas.microsoft.com/office/drawing/2014/main" id="{2AAA0335-3D51-EA88-2522-F717A483BF32}"/>
                </a:ext>
              </a:extLst>
            </p:cNvPr>
            <p:cNvSpPr>
              <a:spLocks noGrp="1"/>
            </p:cNvSpPr>
            <p:nvPr/>
          </p:nvSpPr>
          <p:spPr>
            <a:xfrm>
              <a:off x="9077083" y="8919686"/>
              <a:ext cx="66675" cy="57340"/>
            </a:xfrm>
            <a:custGeom>
              <a:avLst/>
              <a:gdLst/>
              <a:ahLst/>
              <a:cxnLst/>
              <a:rect l="0" t="0" r="0" b="0"/>
              <a:pathLst>
                <a:path w="66675" h="57340">
                  <a:moveTo>
                    <a:pt x="0" y="28670"/>
                  </a:moveTo>
                  <a:lnTo>
                    <a:pt x="66675" y="57340"/>
                  </a:lnTo>
                  <a:lnTo>
                    <a:pt x="66675" y="0"/>
                  </a:lnTo>
                  <a:close/>
                </a:path>
              </a:pathLst>
            </a:custGeom>
            <a:solidFill>
              <a:srgbClr val="77828C"/>
            </a:solidFill>
            <a:ln w="0">
              <a:noFill/>
              <a:prstDash val="solid"/>
            </a:ln>
          </p:spPr>
        </p:sp>
        <p:sp>
          <p:nvSpPr>
            <p:cNvPr id="1425" name="Fusion to identity vector refined">
              <a:extLst>
                <a:ext uri="{FF2B5EF4-FFF2-40B4-BE49-F238E27FC236}">
                  <a16:creationId xmlns:a16="http://schemas.microsoft.com/office/drawing/2014/main" id="{67958AAC-3FC5-4E94-249E-68F363396C6E}"/>
                </a:ext>
              </a:extLst>
            </p:cNvPr>
            <p:cNvSpPr>
              <a:spLocks noGrp="1"/>
            </p:cNvSpPr>
            <p:nvPr/>
          </p:nvSpPr>
          <p:spPr>
            <a:xfrm>
              <a:off x="8630551" y="9115806"/>
              <a:ext cx="191" cy="244507"/>
            </a:xfrm>
            <a:custGeom>
              <a:avLst/>
              <a:gdLst/>
              <a:ahLst/>
              <a:cxnLst/>
              <a:rect l="0" t="0" r="0" b="0"/>
              <a:pathLst>
                <a:path w="191" h="244507">
                  <a:moveTo>
                    <a:pt x="0" y="0"/>
                  </a:moveTo>
                  <a:lnTo>
                    <a:pt x="0" y="244507"/>
                  </a:lnTo>
                </a:path>
              </a:pathLst>
            </a:custGeom>
            <a:noFill/>
            <a:ln w="8505">
              <a:solidFill>
                <a:srgbClr val="77828C"/>
              </a:solidFill>
              <a:prstDash val="solid"/>
            </a:ln>
          </p:spPr>
        </p:sp>
        <p:sp>
          <p:nvSpPr>
            <p:cNvPr id="1426" name="Fusion to identity vector refined head">
              <a:extLst>
                <a:ext uri="{FF2B5EF4-FFF2-40B4-BE49-F238E27FC236}">
                  <a16:creationId xmlns:a16="http://schemas.microsoft.com/office/drawing/2014/main" id="{5B85A195-1A68-48DC-E553-B1E99915D03B}"/>
                </a:ext>
              </a:extLst>
            </p:cNvPr>
            <p:cNvSpPr>
              <a:spLocks noGrp="1"/>
            </p:cNvSpPr>
            <p:nvPr/>
          </p:nvSpPr>
          <p:spPr>
            <a:xfrm>
              <a:off x="8601880" y="9316974"/>
              <a:ext cx="57340" cy="66675"/>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427" name="Identity vector to cosine refined">
              <a:extLst>
                <a:ext uri="{FF2B5EF4-FFF2-40B4-BE49-F238E27FC236}">
                  <a16:creationId xmlns:a16="http://schemas.microsoft.com/office/drawing/2014/main" id="{DDE80B97-A909-A736-F258-523B74319AC3}"/>
                </a:ext>
              </a:extLst>
            </p:cNvPr>
            <p:cNvSpPr>
              <a:spLocks noGrp="1"/>
            </p:cNvSpPr>
            <p:nvPr/>
          </p:nvSpPr>
          <p:spPr>
            <a:xfrm>
              <a:off x="8630551" y="9517571"/>
              <a:ext cx="191" cy="253841"/>
            </a:xfrm>
            <a:custGeom>
              <a:avLst/>
              <a:gdLst/>
              <a:ahLst/>
              <a:cxnLst/>
              <a:rect l="0" t="0" r="0" b="0"/>
              <a:pathLst>
                <a:path w="191" h="253841">
                  <a:moveTo>
                    <a:pt x="0" y="0"/>
                  </a:moveTo>
                  <a:lnTo>
                    <a:pt x="0" y="253841"/>
                  </a:lnTo>
                </a:path>
              </a:pathLst>
            </a:custGeom>
            <a:noFill/>
            <a:ln w="8505">
              <a:solidFill>
                <a:srgbClr val="77828C"/>
              </a:solidFill>
              <a:prstDash val="solid"/>
            </a:ln>
          </p:spPr>
        </p:sp>
        <p:sp>
          <p:nvSpPr>
            <p:cNvPr id="1428" name="Identity vector to cosine refined head">
              <a:extLst>
                <a:ext uri="{FF2B5EF4-FFF2-40B4-BE49-F238E27FC236}">
                  <a16:creationId xmlns:a16="http://schemas.microsoft.com/office/drawing/2014/main" id="{E490B029-346A-A57E-7B15-889C23CE6281}"/>
                </a:ext>
              </a:extLst>
            </p:cNvPr>
            <p:cNvSpPr>
              <a:spLocks noGrp="1"/>
            </p:cNvSpPr>
            <p:nvPr/>
          </p:nvSpPr>
          <p:spPr>
            <a:xfrm>
              <a:off x="8601880" y="9728073"/>
              <a:ext cx="57340" cy="66675"/>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429" name="Cosine to score matrix refined">
              <a:extLst>
                <a:ext uri="{FF2B5EF4-FFF2-40B4-BE49-F238E27FC236}">
                  <a16:creationId xmlns:a16="http://schemas.microsoft.com/office/drawing/2014/main" id="{B53F289C-77E1-6513-62C8-F939A23BF1B2}"/>
                </a:ext>
              </a:extLst>
            </p:cNvPr>
            <p:cNvSpPr>
              <a:spLocks noGrp="1"/>
            </p:cNvSpPr>
            <p:nvPr/>
          </p:nvSpPr>
          <p:spPr>
            <a:xfrm>
              <a:off x="9044913" y="9971531"/>
              <a:ext cx="619030" cy="190"/>
            </a:xfrm>
            <a:custGeom>
              <a:avLst/>
              <a:gdLst/>
              <a:ahLst/>
              <a:cxnLst/>
              <a:rect l="0" t="0" r="0" b="0"/>
              <a:pathLst>
                <a:path w="619030" h="191">
                  <a:moveTo>
                    <a:pt x="0" y="0"/>
                  </a:moveTo>
                  <a:lnTo>
                    <a:pt x="619030" y="0"/>
                  </a:lnTo>
                </a:path>
              </a:pathLst>
            </a:custGeom>
            <a:noFill/>
            <a:ln w="8505">
              <a:solidFill>
                <a:srgbClr val="77828C"/>
              </a:solidFill>
              <a:prstDash val="solid"/>
            </a:ln>
          </p:spPr>
        </p:sp>
        <p:sp>
          <p:nvSpPr>
            <p:cNvPr id="1430" name="Cosine to score matrix refined head">
              <a:extLst>
                <a:ext uri="{FF2B5EF4-FFF2-40B4-BE49-F238E27FC236}">
                  <a16:creationId xmlns:a16="http://schemas.microsoft.com/office/drawing/2014/main" id="{7D1ABF5A-29C9-76A4-1903-E132A41C0C6D}"/>
                </a:ext>
              </a:extLst>
            </p:cNvPr>
            <p:cNvSpPr>
              <a:spLocks noGrp="1"/>
            </p:cNvSpPr>
            <p:nvPr/>
          </p:nvSpPr>
          <p:spPr>
            <a:xfrm>
              <a:off x="9615626" y="9942862"/>
              <a:ext cx="66675" cy="57340"/>
            </a:xfrm>
            <a:custGeom>
              <a:avLst/>
              <a:gdLst/>
              <a:ahLst/>
              <a:cxnLst/>
              <a:rect l="0" t="0" r="0" b="0"/>
              <a:pathLst>
                <a:path w="66675" h="57340">
                  <a:moveTo>
                    <a:pt x="66675" y="28670"/>
                  </a:moveTo>
                  <a:lnTo>
                    <a:pt x="0" y="0"/>
                  </a:lnTo>
                  <a:lnTo>
                    <a:pt x="0" y="57340"/>
                  </a:lnTo>
                  <a:close/>
                </a:path>
              </a:pathLst>
            </a:custGeom>
            <a:solidFill>
              <a:srgbClr val="77828C"/>
            </a:solidFill>
            <a:ln w="0">
              <a:noFill/>
              <a:prstDash val="solid"/>
            </a:ln>
          </p:spPr>
        </p:sp>
      </p:grpSp>
      <p:pic>
        <p:nvPicPr>
          <p:cNvPr id="1436" name="Match clear receptor" descr="Receptor cartoon rendered from unchanged local coordinates, chain C1 of the 9LLG CA2 model.">
            <a:extLst>
              <a:ext uri="{FF2B5EF4-FFF2-40B4-BE49-F238E27FC236}">
                <a16:creationId xmlns:a16="http://schemas.microsoft.com/office/drawing/2014/main" id="{515E1CE9-4EFA-F96B-A08A-C6C2EC64DC6F}"/>
              </a:ext>
            </a:extLst>
          </p:cNvPr>
          <p:cNvPicPr/>
          <p:nvPr/>
        </p:nvPicPr>
        <p:blipFill>
          <a:blip r:embed="rId7"/>
          <a:srcRect l="16857" t="30389" r="19786" b="22500"/>
          <a:stretch>
            <a:fillRect/>
          </a:stretch>
        </p:blipFill>
        <p:spPr>
          <a:xfrm>
            <a:off x="664274" y="2388765"/>
            <a:ext cx="332109" cy="317507"/>
          </a:xfrm>
          <a:prstGeom prst="rect">
            <a:avLst/>
          </a:prstGeom>
        </p:spPr>
      </p:pic>
      <p:sp>
        <p:nvSpPr>
          <p:cNvPr id="1442" name="文本框 1441">
            <a:extLst>
              <a:ext uri="{FF2B5EF4-FFF2-40B4-BE49-F238E27FC236}">
                <a16:creationId xmlns:a16="http://schemas.microsoft.com/office/drawing/2014/main" id="{814431DA-F1EE-CFB8-E7E0-CF4D130ECF44}"/>
              </a:ext>
            </a:extLst>
          </p:cNvPr>
          <p:cNvSpPr txBox="1"/>
          <p:nvPr/>
        </p:nvSpPr>
        <p:spPr>
          <a:xfrm>
            <a:off x="1260165" y="775016"/>
            <a:ext cx="559769" cy="176972"/>
          </a:xfrm>
          <a:prstGeom prst="rect">
            <a:avLst/>
          </a:prstGeom>
          <a:noFill/>
        </p:spPr>
        <p:txBody>
          <a:bodyPr wrap="none" rtlCol="0">
            <a:spAutoFit/>
          </a:bodyPr>
          <a:lstStyle/>
          <a:p>
            <a:r>
              <a:rPr lang="en-US" altLang="zh-CN" sz="550" dirty="0">
                <a:solidFill>
                  <a:srgbClr val="263442"/>
                </a:solidFill>
                <a:latin typeface="Arial"/>
                <a:cs typeface="Arial"/>
              </a:rPr>
              <a:t>56 channels</a:t>
            </a:r>
            <a:endParaRPr lang="zh-CN" altLang="en-US" sz="550" dirty="0">
              <a:solidFill>
                <a:srgbClr val="263442"/>
              </a:solidFill>
              <a:latin typeface="Arial"/>
              <a:cs typeface="Arial"/>
            </a:endParaRPr>
          </a:p>
        </p:txBody>
      </p:sp>
      <p:sp>
        <p:nvSpPr>
          <p:cNvPr id="1443" name="V8 embedding computation frame">
            <a:extLst>
              <a:ext uri="{FF2B5EF4-FFF2-40B4-BE49-F238E27FC236}">
                <a16:creationId xmlns:a16="http://schemas.microsoft.com/office/drawing/2014/main" id="{FB41A424-8C9A-2DA8-76B2-57C0C54ECB10}"/>
              </a:ext>
            </a:extLst>
          </p:cNvPr>
          <p:cNvSpPr/>
          <p:nvPr/>
        </p:nvSpPr>
        <p:spPr>
          <a:xfrm>
            <a:off x="1351898" y="1318283"/>
            <a:ext cx="386080" cy="417830"/>
          </a:xfrm>
          <a:prstGeom prst="roundRect">
            <a:avLst>
              <a:gd name="adj" fmla="val 6579"/>
            </a:avLst>
          </a:prstGeom>
          <a:solidFill>
            <a:srgbClr val="F8FAFC"/>
          </a:solidFill>
          <a:ln w="6096" cap="rnd">
            <a:solidFill>
              <a:srgbClr val="BEC7CE"/>
            </a:solidFill>
            <a:prstDash val="solid"/>
            <a:round/>
          </a:ln>
        </p:spPr>
      </p:sp>
      <p:sp>
        <p:nvSpPr>
          <p:cNvPr id="1444" name="V8 embedding neighbor 1 to center">
            <a:extLst>
              <a:ext uri="{FF2B5EF4-FFF2-40B4-BE49-F238E27FC236}">
                <a16:creationId xmlns:a16="http://schemas.microsoft.com/office/drawing/2014/main" id="{3355B015-AF42-20CF-CA69-CEE14894D5E1}"/>
              </a:ext>
            </a:extLst>
          </p:cNvPr>
          <p:cNvSpPr/>
          <p:nvPr/>
        </p:nvSpPr>
        <p:spPr>
          <a:xfrm>
            <a:off x="1408080" y="1388677"/>
            <a:ext cx="84338" cy="113635"/>
          </a:xfrm>
          <a:custGeom>
            <a:avLst/>
            <a:gdLst/>
            <a:ahLst/>
            <a:cxnLst/>
            <a:rect l="l" t="t" r="r" b="b"/>
            <a:pathLst>
              <a:path w="84338" h="113635">
                <a:moveTo>
                  <a:pt x="0" y="0"/>
                </a:moveTo>
                <a:lnTo>
                  <a:pt x="84338" y="113635"/>
                </a:lnTo>
              </a:path>
            </a:pathLst>
          </a:custGeom>
          <a:noFill/>
          <a:ln w="5842" cap="rnd">
            <a:solidFill>
              <a:srgbClr val="4083B4"/>
            </a:solidFill>
            <a:prstDash val="solid"/>
            <a:round/>
          </a:ln>
        </p:spPr>
      </p:sp>
      <p:sp>
        <p:nvSpPr>
          <p:cNvPr id="1445" name="V8 embedding neighbor 1 to center head">
            <a:extLst>
              <a:ext uri="{FF2B5EF4-FFF2-40B4-BE49-F238E27FC236}">
                <a16:creationId xmlns:a16="http://schemas.microsoft.com/office/drawing/2014/main" id="{27615381-2E0E-2FB6-4DD6-10A8B1F481AB}"/>
              </a:ext>
            </a:extLst>
          </p:cNvPr>
          <p:cNvSpPr/>
          <p:nvPr/>
        </p:nvSpPr>
        <p:spPr>
          <a:xfrm>
            <a:off x="1478827" y="1488319"/>
            <a:ext cx="18870" cy="21105"/>
          </a:xfrm>
          <a:custGeom>
            <a:avLst/>
            <a:gdLst/>
            <a:ahLst/>
            <a:cxnLst/>
            <a:rect l="l" t="t" r="r" b="b"/>
            <a:pathLst>
              <a:path w="18870" h="21105">
                <a:moveTo>
                  <a:pt x="18870" y="21105"/>
                </a:moveTo>
                <a:lnTo>
                  <a:pt x="14277" y="0"/>
                </a:lnTo>
                <a:lnTo>
                  <a:pt x="0" y="10596"/>
                </a:lnTo>
                <a:close/>
              </a:path>
            </a:pathLst>
          </a:custGeom>
          <a:solidFill>
            <a:srgbClr val="4083B4"/>
          </a:solidFill>
          <a:ln w="0" cap="rnd">
            <a:noFill/>
          </a:ln>
        </p:spPr>
      </p:sp>
      <p:sp>
        <p:nvSpPr>
          <p:cNvPr id="1446" name="V8 embedding neighbor 1">
            <a:extLst>
              <a:ext uri="{FF2B5EF4-FFF2-40B4-BE49-F238E27FC236}">
                <a16:creationId xmlns:a16="http://schemas.microsoft.com/office/drawing/2014/main" id="{B5E8A971-284C-84D2-C0DB-7EB12E4B5902}"/>
              </a:ext>
            </a:extLst>
          </p:cNvPr>
          <p:cNvSpPr/>
          <p:nvPr/>
        </p:nvSpPr>
        <p:spPr>
          <a:xfrm>
            <a:off x="1382060" y="1358582"/>
            <a:ext cx="28575" cy="28575"/>
          </a:xfrm>
          <a:prstGeom prst="ellipse">
            <a:avLst/>
          </a:prstGeom>
          <a:noFill/>
          <a:ln w="7112" cap="rnd">
            <a:solidFill>
              <a:srgbClr val="4083B4"/>
            </a:solidFill>
            <a:prstDash val="solid"/>
            <a:round/>
          </a:ln>
        </p:spPr>
      </p:sp>
      <p:sp>
        <p:nvSpPr>
          <p:cNvPr id="1447" name="V8 embedding neighbor 2 to center">
            <a:extLst>
              <a:ext uri="{FF2B5EF4-FFF2-40B4-BE49-F238E27FC236}">
                <a16:creationId xmlns:a16="http://schemas.microsoft.com/office/drawing/2014/main" id="{410E19AF-558D-0BA4-4F56-8A43CC949018}"/>
              </a:ext>
            </a:extLst>
          </p:cNvPr>
          <p:cNvSpPr/>
          <p:nvPr/>
        </p:nvSpPr>
        <p:spPr>
          <a:xfrm>
            <a:off x="1537980" y="1384737"/>
            <a:ext cx="68064" cy="115185"/>
          </a:xfrm>
          <a:custGeom>
            <a:avLst/>
            <a:gdLst/>
            <a:ahLst/>
            <a:cxnLst/>
            <a:rect l="l" t="t" r="r" b="b"/>
            <a:pathLst>
              <a:path w="68064" h="115185">
                <a:moveTo>
                  <a:pt x="68064" y="0"/>
                </a:moveTo>
                <a:lnTo>
                  <a:pt x="0" y="115185"/>
                </a:lnTo>
              </a:path>
            </a:pathLst>
          </a:custGeom>
          <a:noFill/>
          <a:ln w="5842" cap="rnd">
            <a:solidFill>
              <a:srgbClr val="4083B4"/>
            </a:solidFill>
            <a:prstDash val="solid"/>
            <a:round/>
          </a:ln>
        </p:spPr>
      </p:sp>
      <p:sp>
        <p:nvSpPr>
          <p:cNvPr id="1448" name="V8 embedding neighbor 2 to center head">
            <a:extLst>
              <a:ext uri="{FF2B5EF4-FFF2-40B4-BE49-F238E27FC236}">
                <a16:creationId xmlns:a16="http://schemas.microsoft.com/office/drawing/2014/main" id="{50A61875-DCE0-421C-1735-CFE0432F2E90}"/>
              </a:ext>
            </a:extLst>
          </p:cNvPr>
          <p:cNvSpPr/>
          <p:nvPr/>
        </p:nvSpPr>
        <p:spPr>
          <a:xfrm>
            <a:off x="1533473" y="1486079"/>
            <a:ext cx="17668" cy="21470"/>
          </a:xfrm>
          <a:custGeom>
            <a:avLst/>
            <a:gdLst/>
            <a:ahLst/>
            <a:cxnLst/>
            <a:rect l="l" t="t" r="r" b="b"/>
            <a:pathLst>
              <a:path w="17668" h="21470">
                <a:moveTo>
                  <a:pt x="0" y="21470"/>
                </a:moveTo>
                <a:lnTo>
                  <a:pt x="17668" y="9045"/>
                </a:lnTo>
                <a:lnTo>
                  <a:pt x="2361" y="0"/>
                </a:lnTo>
                <a:close/>
              </a:path>
            </a:pathLst>
          </a:custGeom>
          <a:solidFill>
            <a:srgbClr val="4083B4"/>
          </a:solidFill>
          <a:ln w="0" cap="rnd">
            <a:noFill/>
          </a:ln>
        </p:spPr>
      </p:sp>
      <p:sp>
        <p:nvSpPr>
          <p:cNvPr id="1449" name="V8 embedding neighbor 2">
            <a:extLst>
              <a:ext uri="{FF2B5EF4-FFF2-40B4-BE49-F238E27FC236}">
                <a16:creationId xmlns:a16="http://schemas.microsoft.com/office/drawing/2014/main" id="{7AEBAFCB-8ED1-BA01-F100-82AD32FAB4F6}"/>
              </a:ext>
            </a:extLst>
          </p:cNvPr>
          <p:cNvSpPr/>
          <p:nvPr/>
        </p:nvSpPr>
        <p:spPr>
          <a:xfrm>
            <a:off x="1600500" y="1352232"/>
            <a:ext cx="31115" cy="31115"/>
          </a:xfrm>
          <a:prstGeom prst="ellipse">
            <a:avLst/>
          </a:prstGeom>
          <a:noFill/>
          <a:ln w="7112" cap="rnd">
            <a:solidFill>
              <a:srgbClr val="4083B4"/>
            </a:solidFill>
            <a:prstDash val="solid"/>
            <a:round/>
          </a:ln>
        </p:spPr>
      </p:sp>
      <p:sp>
        <p:nvSpPr>
          <p:cNvPr id="1450" name="V8 embedding upper curved aggregation">
            <a:extLst>
              <a:ext uri="{FF2B5EF4-FFF2-40B4-BE49-F238E27FC236}">
                <a16:creationId xmlns:a16="http://schemas.microsoft.com/office/drawing/2014/main" id="{1726AB57-DCD6-4DAB-768F-79635F178651}"/>
              </a:ext>
            </a:extLst>
          </p:cNvPr>
          <p:cNvSpPr/>
          <p:nvPr/>
        </p:nvSpPr>
        <p:spPr>
          <a:xfrm>
            <a:off x="1551288" y="1449794"/>
            <a:ext cx="120650" cy="48806"/>
          </a:xfrm>
          <a:custGeom>
            <a:avLst/>
            <a:gdLst/>
            <a:ahLst/>
            <a:cxnLst/>
            <a:rect l="l" t="t" r="r" b="b"/>
            <a:pathLst>
              <a:path w="120650" h="48806">
                <a:moveTo>
                  <a:pt x="118713" y="0"/>
                </a:moveTo>
                <a:cubicBezTo>
                  <a:pt x="120650" y="36106"/>
                  <a:pt x="44450" y="29756"/>
                  <a:pt x="0" y="48806"/>
                </a:cubicBezTo>
              </a:path>
            </a:pathLst>
          </a:custGeom>
          <a:noFill/>
          <a:ln w="5842" cap="rnd">
            <a:solidFill>
              <a:srgbClr val="4083B4"/>
            </a:solidFill>
            <a:prstDash val="solid"/>
            <a:round/>
          </a:ln>
        </p:spPr>
      </p:sp>
      <p:sp>
        <p:nvSpPr>
          <p:cNvPr id="1451" name="V8 embedding upper curved aggregation tip">
            <a:extLst>
              <a:ext uri="{FF2B5EF4-FFF2-40B4-BE49-F238E27FC236}">
                <a16:creationId xmlns:a16="http://schemas.microsoft.com/office/drawing/2014/main" id="{2B3CEBDA-0E2D-671A-9B26-76F746F7D64B}"/>
              </a:ext>
            </a:extLst>
          </p:cNvPr>
          <p:cNvSpPr/>
          <p:nvPr/>
        </p:nvSpPr>
        <p:spPr>
          <a:xfrm>
            <a:off x="1542577" y="1498600"/>
            <a:ext cx="8711" cy="4690"/>
          </a:xfrm>
          <a:custGeom>
            <a:avLst/>
            <a:gdLst/>
            <a:ahLst/>
            <a:cxnLst/>
            <a:rect l="l" t="t" r="r" b="b"/>
            <a:pathLst>
              <a:path w="8711" h="4690">
                <a:moveTo>
                  <a:pt x="8711" y="0"/>
                </a:moveTo>
                <a:lnTo>
                  <a:pt x="0" y="4690"/>
                </a:lnTo>
              </a:path>
            </a:pathLst>
          </a:custGeom>
          <a:noFill/>
          <a:ln w="5842" cap="rnd">
            <a:solidFill>
              <a:srgbClr val="9481B1"/>
            </a:solidFill>
            <a:prstDash val="solid"/>
            <a:round/>
          </a:ln>
        </p:spPr>
      </p:sp>
      <p:sp>
        <p:nvSpPr>
          <p:cNvPr id="1452" name="V8 embedding upper curved aggregation tip head">
            <a:extLst>
              <a:ext uri="{FF2B5EF4-FFF2-40B4-BE49-F238E27FC236}">
                <a16:creationId xmlns:a16="http://schemas.microsoft.com/office/drawing/2014/main" id="{EA8590B6-001E-E7FA-C91E-6684CAB2CE42}"/>
              </a:ext>
            </a:extLst>
          </p:cNvPr>
          <p:cNvSpPr/>
          <p:nvPr/>
        </p:nvSpPr>
        <p:spPr>
          <a:xfrm>
            <a:off x="1534778" y="1490330"/>
            <a:ext cx="21547" cy="17160"/>
          </a:xfrm>
          <a:custGeom>
            <a:avLst/>
            <a:gdLst/>
            <a:ahLst/>
            <a:cxnLst/>
            <a:rect l="l" t="t" r="r" b="b"/>
            <a:pathLst>
              <a:path w="21547" h="17160">
                <a:moveTo>
                  <a:pt x="0" y="17160"/>
                </a:moveTo>
                <a:lnTo>
                  <a:pt x="21547" y="15655"/>
                </a:lnTo>
                <a:lnTo>
                  <a:pt x="13117" y="0"/>
                </a:lnTo>
                <a:close/>
              </a:path>
            </a:pathLst>
          </a:custGeom>
          <a:solidFill>
            <a:srgbClr val="4083B4"/>
          </a:solidFill>
          <a:ln w="0" cap="rnd">
            <a:noFill/>
          </a:ln>
        </p:spPr>
      </p:sp>
      <p:sp>
        <p:nvSpPr>
          <p:cNvPr id="1453" name="V8 embedding neighbor 3">
            <a:extLst>
              <a:ext uri="{FF2B5EF4-FFF2-40B4-BE49-F238E27FC236}">
                <a16:creationId xmlns:a16="http://schemas.microsoft.com/office/drawing/2014/main" id="{122DFBAE-E742-85F4-F8BE-661BC7410AFC}"/>
              </a:ext>
            </a:extLst>
          </p:cNvPr>
          <p:cNvSpPr/>
          <p:nvPr/>
        </p:nvSpPr>
        <p:spPr>
          <a:xfrm>
            <a:off x="1673208" y="1426210"/>
            <a:ext cx="27940" cy="27940"/>
          </a:xfrm>
          <a:prstGeom prst="ellipse">
            <a:avLst/>
          </a:prstGeom>
          <a:noFill/>
          <a:ln w="7112" cap="rnd">
            <a:solidFill>
              <a:srgbClr val="4083B4"/>
            </a:solidFill>
            <a:prstDash val="solid"/>
            <a:round/>
          </a:ln>
        </p:spPr>
      </p:sp>
      <p:sp>
        <p:nvSpPr>
          <p:cNvPr id="1454" name="V8 embedding curved aggregation">
            <a:extLst>
              <a:ext uri="{FF2B5EF4-FFF2-40B4-BE49-F238E27FC236}">
                <a16:creationId xmlns:a16="http://schemas.microsoft.com/office/drawing/2014/main" id="{90CEAB6E-EBCA-9F13-36DE-C928BA671D5A}"/>
              </a:ext>
            </a:extLst>
          </p:cNvPr>
          <p:cNvSpPr/>
          <p:nvPr/>
        </p:nvSpPr>
        <p:spPr>
          <a:xfrm>
            <a:off x="1392538" y="1503680"/>
            <a:ext cx="77470" cy="107970"/>
          </a:xfrm>
          <a:custGeom>
            <a:avLst/>
            <a:gdLst/>
            <a:ahLst/>
            <a:cxnLst/>
            <a:rect l="l" t="t" r="r" b="b"/>
            <a:pathLst>
              <a:path w="77470" h="107970">
                <a:moveTo>
                  <a:pt x="17311" y="107970"/>
                </a:moveTo>
                <a:cubicBezTo>
                  <a:pt x="0" y="29210"/>
                  <a:pt x="35560" y="0"/>
                  <a:pt x="77470" y="12700"/>
                </a:cubicBezTo>
              </a:path>
            </a:pathLst>
          </a:custGeom>
          <a:noFill/>
          <a:ln w="8890" cap="rnd">
            <a:solidFill>
              <a:srgbClr val="4083B4"/>
            </a:solidFill>
            <a:prstDash val="solid"/>
            <a:round/>
          </a:ln>
        </p:spPr>
      </p:sp>
      <p:sp>
        <p:nvSpPr>
          <p:cNvPr id="1455" name="V8 embedding curved aggregation tip">
            <a:extLst>
              <a:ext uri="{FF2B5EF4-FFF2-40B4-BE49-F238E27FC236}">
                <a16:creationId xmlns:a16="http://schemas.microsoft.com/office/drawing/2014/main" id="{4871021E-0B37-6092-4FB6-FB482931253B}"/>
              </a:ext>
            </a:extLst>
          </p:cNvPr>
          <p:cNvSpPr/>
          <p:nvPr/>
        </p:nvSpPr>
        <p:spPr>
          <a:xfrm>
            <a:off x="1470008" y="1516380"/>
            <a:ext cx="6039" cy="3020"/>
          </a:xfrm>
          <a:custGeom>
            <a:avLst/>
            <a:gdLst/>
            <a:ahLst/>
            <a:cxnLst/>
            <a:rect l="l" t="t" r="r" b="b"/>
            <a:pathLst>
              <a:path w="6039" h="3020">
                <a:moveTo>
                  <a:pt x="0" y="0"/>
                </a:moveTo>
                <a:lnTo>
                  <a:pt x="6039" y="3020"/>
                </a:lnTo>
              </a:path>
            </a:pathLst>
          </a:custGeom>
          <a:noFill/>
          <a:ln w="8890" cap="rnd">
            <a:solidFill>
              <a:srgbClr val="9481B1"/>
            </a:solidFill>
            <a:prstDash val="solid"/>
            <a:round/>
          </a:ln>
        </p:spPr>
      </p:sp>
      <p:sp>
        <p:nvSpPr>
          <p:cNvPr id="1456" name="V8 embedding curved aggregation tip head">
            <a:extLst>
              <a:ext uri="{FF2B5EF4-FFF2-40B4-BE49-F238E27FC236}">
                <a16:creationId xmlns:a16="http://schemas.microsoft.com/office/drawing/2014/main" id="{86BC3798-BFD4-0C2D-6F96-1C5CADB6D7BE}"/>
              </a:ext>
            </a:extLst>
          </p:cNvPr>
          <p:cNvSpPr/>
          <p:nvPr/>
        </p:nvSpPr>
        <p:spPr>
          <a:xfrm>
            <a:off x="1460116" y="1504405"/>
            <a:ext cx="25132" cy="19595"/>
          </a:xfrm>
          <a:custGeom>
            <a:avLst/>
            <a:gdLst/>
            <a:ahLst/>
            <a:cxnLst/>
            <a:rect l="l" t="t" r="r" b="b"/>
            <a:pathLst>
              <a:path w="25132" h="19595">
                <a:moveTo>
                  <a:pt x="25132" y="19595"/>
                </a:moveTo>
                <a:lnTo>
                  <a:pt x="9371" y="0"/>
                </a:lnTo>
                <a:lnTo>
                  <a:pt x="0" y="18743"/>
                </a:lnTo>
                <a:close/>
              </a:path>
            </a:pathLst>
          </a:custGeom>
          <a:solidFill>
            <a:srgbClr val="4083B4"/>
          </a:solidFill>
          <a:ln w="0" cap="rnd">
            <a:solidFill>
              <a:srgbClr val="4083B4"/>
            </a:solidFill>
          </a:ln>
        </p:spPr>
      </p:sp>
      <p:sp>
        <p:nvSpPr>
          <p:cNvPr id="1457" name="V8 embedding neighbor 4">
            <a:extLst>
              <a:ext uri="{FF2B5EF4-FFF2-40B4-BE49-F238E27FC236}">
                <a16:creationId xmlns:a16="http://schemas.microsoft.com/office/drawing/2014/main" id="{AEADE014-9292-2360-C2CE-F8C845E8BCFD}"/>
              </a:ext>
            </a:extLst>
          </p:cNvPr>
          <p:cNvSpPr/>
          <p:nvPr/>
        </p:nvSpPr>
        <p:spPr>
          <a:xfrm>
            <a:off x="1377933" y="1607185"/>
            <a:ext cx="31750" cy="31750"/>
          </a:xfrm>
          <a:prstGeom prst="ellipse">
            <a:avLst/>
          </a:prstGeom>
          <a:noFill/>
          <a:ln w="7112" cap="rnd">
            <a:solidFill>
              <a:srgbClr val="4083B4"/>
            </a:solidFill>
            <a:prstDash val="solid"/>
            <a:round/>
          </a:ln>
        </p:spPr>
      </p:sp>
      <p:sp>
        <p:nvSpPr>
          <p:cNvPr id="1458" name="V8 embedding neighbor 5 to center">
            <a:extLst>
              <a:ext uri="{FF2B5EF4-FFF2-40B4-BE49-F238E27FC236}">
                <a16:creationId xmlns:a16="http://schemas.microsoft.com/office/drawing/2014/main" id="{88F2ECE0-BE4E-6B10-0F14-901F5AD31AE6}"/>
              </a:ext>
            </a:extLst>
          </p:cNvPr>
          <p:cNvSpPr/>
          <p:nvPr/>
        </p:nvSpPr>
        <p:spPr>
          <a:xfrm>
            <a:off x="1508228" y="1576570"/>
            <a:ext cx="5857" cy="82734"/>
          </a:xfrm>
          <a:custGeom>
            <a:avLst/>
            <a:gdLst/>
            <a:ahLst/>
            <a:cxnLst/>
            <a:rect l="l" t="t" r="r" b="b"/>
            <a:pathLst>
              <a:path w="5857" h="82734">
                <a:moveTo>
                  <a:pt x="0" y="82734"/>
                </a:moveTo>
                <a:lnTo>
                  <a:pt x="5857" y="0"/>
                </a:lnTo>
              </a:path>
            </a:pathLst>
          </a:custGeom>
          <a:noFill/>
          <a:ln w="5842" cap="rnd">
            <a:solidFill>
              <a:srgbClr val="4083B4"/>
            </a:solidFill>
            <a:prstDash val="solid"/>
            <a:round/>
          </a:ln>
        </p:spPr>
      </p:sp>
      <p:sp>
        <p:nvSpPr>
          <p:cNvPr id="1459" name="V8 embedding neighbor 5 to center head">
            <a:extLst>
              <a:ext uri="{FF2B5EF4-FFF2-40B4-BE49-F238E27FC236}">
                <a16:creationId xmlns:a16="http://schemas.microsoft.com/office/drawing/2014/main" id="{4E579011-FEC4-00D3-7546-C5CB388C9A0A}"/>
              </a:ext>
            </a:extLst>
          </p:cNvPr>
          <p:cNvSpPr/>
          <p:nvPr/>
        </p:nvSpPr>
        <p:spPr>
          <a:xfrm>
            <a:off x="1504453" y="1567734"/>
            <a:ext cx="17736" cy="20264"/>
          </a:xfrm>
          <a:custGeom>
            <a:avLst/>
            <a:gdLst/>
            <a:ahLst/>
            <a:cxnLst/>
            <a:rect l="l" t="t" r="r" b="b"/>
            <a:pathLst>
              <a:path w="17736" h="20264">
                <a:moveTo>
                  <a:pt x="10258" y="0"/>
                </a:moveTo>
                <a:lnTo>
                  <a:pt x="0" y="19008"/>
                </a:lnTo>
                <a:lnTo>
                  <a:pt x="17736" y="20264"/>
                </a:lnTo>
                <a:close/>
              </a:path>
            </a:pathLst>
          </a:custGeom>
          <a:solidFill>
            <a:srgbClr val="4083B4"/>
          </a:solidFill>
          <a:ln w="0" cap="rnd">
            <a:solidFill>
              <a:srgbClr val="4083B4"/>
            </a:solidFill>
          </a:ln>
        </p:spPr>
      </p:sp>
      <p:sp>
        <p:nvSpPr>
          <p:cNvPr id="1460" name="V8 embedding neighbor 5">
            <a:extLst>
              <a:ext uri="{FF2B5EF4-FFF2-40B4-BE49-F238E27FC236}">
                <a16:creationId xmlns:a16="http://schemas.microsoft.com/office/drawing/2014/main" id="{80A6CA00-4D1C-000D-C0AF-7F59BA21FF45}"/>
              </a:ext>
            </a:extLst>
          </p:cNvPr>
          <p:cNvSpPr/>
          <p:nvPr/>
        </p:nvSpPr>
        <p:spPr>
          <a:xfrm>
            <a:off x="1492233" y="1664335"/>
            <a:ext cx="29210" cy="29210"/>
          </a:xfrm>
          <a:prstGeom prst="ellipse">
            <a:avLst/>
          </a:prstGeom>
          <a:noFill/>
          <a:ln w="7112" cap="rnd">
            <a:solidFill>
              <a:srgbClr val="4083B4"/>
            </a:solidFill>
            <a:prstDash val="solid"/>
            <a:round/>
          </a:ln>
        </p:spPr>
      </p:sp>
      <p:sp>
        <p:nvSpPr>
          <p:cNvPr id="1461" name="V8 embedding center">
            <a:extLst>
              <a:ext uri="{FF2B5EF4-FFF2-40B4-BE49-F238E27FC236}">
                <a16:creationId xmlns:a16="http://schemas.microsoft.com/office/drawing/2014/main" id="{0973F1A0-63C8-796C-8269-8DC9810E39E1}"/>
              </a:ext>
            </a:extLst>
          </p:cNvPr>
          <p:cNvSpPr/>
          <p:nvPr/>
        </p:nvSpPr>
        <p:spPr>
          <a:xfrm>
            <a:off x="1494773" y="1513205"/>
            <a:ext cx="44450" cy="44450"/>
          </a:xfrm>
          <a:prstGeom prst="ellipse">
            <a:avLst/>
          </a:prstGeom>
          <a:noFill/>
          <a:ln w="9906" cap="rnd">
            <a:solidFill>
              <a:srgbClr val="3B8C80"/>
            </a:solidFill>
            <a:prstDash val="solid"/>
            <a:round/>
          </a:ln>
        </p:spPr>
      </p:sp>
      <p:sp>
        <p:nvSpPr>
          <p:cNvPr id="1462" name="V8 embedding feature 1">
            <a:extLst>
              <a:ext uri="{FF2B5EF4-FFF2-40B4-BE49-F238E27FC236}">
                <a16:creationId xmlns:a16="http://schemas.microsoft.com/office/drawing/2014/main" id="{FE0417EE-6828-F09F-AACE-DE1F76BE3EB6}"/>
              </a:ext>
            </a:extLst>
          </p:cNvPr>
          <p:cNvSpPr/>
          <p:nvPr/>
        </p:nvSpPr>
        <p:spPr>
          <a:xfrm>
            <a:off x="1548748" y="1518285"/>
            <a:ext cx="18415" cy="34290"/>
          </a:xfrm>
          <a:prstGeom prst="rect">
            <a:avLst/>
          </a:prstGeom>
          <a:solidFill>
            <a:srgbClr val="3E8F9A"/>
          </a:solidFill>
          <a:ln w="0" cap="rnd">
            <a:noFill/>
          </a:ln>
        </p:spPr>
      </p:sp>
      <p:sp>
        <p:nvSpPr>
          <p:cNvPr id="1463" name="V8 embedding feature 2">
            <a:extLst>
              <a:ext uri="{FF2B5EF4-FFF2-40B4-BE49-F238E27FC236}">
                <a16:creationId xmlns:a16="http://schemas.microsoft.com/office/drawing/2014/main" id="{28DF18A8-B7D6-40CC-F8D0-1CE005F88971}"/>
              </a:ext>
            </a:extLst>
          </p:cNvPr>
          <p:cNvSpPr/>
          <p:nvPr/>
        </p:nvSpPr>
        <p:spPr>
          <a:xfrm>
            <a:off x="1568433" y="1518285"/>
            <a:ext cx="18415" cy="34290"/>
          </a:xfrm>
          <a:prstGeom prst="rect">
            <a:avLst/>
          </a:prstGeom>
          <a:solidFill>
            <a:srgbClr val="88BEC3"/>
          </a:solidFill>
          <a:ln w="0" cap="rnd">
            <a:noFill/>
          </a:ln>
        </p:spPr>
      </p:sp>
      <p:sp>
        <p:nvSpPr>
          <p:cNvPr id="1464" name="V8 embedding feature 3">
            <a:extLst>
              <a:ext uri="{FF2B5EF4-FFF2-40B4-BE49-F238E27FC236}">
                <a16:creationId xmlns:a16="http://schemas.microsoft.com/office/drawing/2014/main" id="{D8B2548F-FDCB-962F-D116-8194E608D854}"/>
              </a:ext>
            </a:extLst>
          </p:cNvPr>
          <p:cNvSpPr/>
          <p:nvPr/>
        </p:nvSpPr>
        <p:spPr>
          <a:xfrm>
            <a:off x="1588118" y="1518285"/>
            <a:ext cx="18415" cy="34290"/>
          </a:xfrm>
          <a:prstGeom prst="rect">
            <a:avLst/>
          </a:prstGeom>
          <a:solidFill>
            <a:srgbClr val="67AD9F"/>
          </a:solidFill>
          <a:ln w="0" cap="rnd">
            <a:noFill/>
          </a:ln>
        </p:spPr>
      </p:sp>
      <p:sp>
        <p:nvSpPr>
          <p:cNvPr id="1465" name="V8 embedding feature 4">
            <a:extLst>
              <a:ext uri="{FF2B5EF4-FFF2-40B4-BE49-F238E27FC236}">
                <a16:creationId xmlns:a16="http://schemas.microsoft.com/office/drawing/2014/main" id="{4DB56FF7-AE6A-29C2-0D4E-A50B4A01B329}"/>
              </a:ext>
            </a:extLst>
          </p:cNvPr>
          <p:cNvSpPr/>
          <p:nvPr/>
        </p:nvSpPr>
        <p:spPr>
          <a:xfrm>
            <a:off x="1607803" y="1518285"/>
            <a:ext cx="18415" cy="34290"/>
          </a:xfrm>
          <a:prstGeom prst="rect">
            <a:avLst/>
          </a:prstGeom>
          <a:solidFill>
            <a:srgbClr val="B6D8CC"/>
          </a:solidFill>
          <a:ln w="0" cap="rnd">
            <a:noFill/>
          </a:ln>
        </p:spPr>
      </p:sp>
      <p:sp>
        <p:nvSpPr>
          <p:cNvPr id="1466" name="V8 embedding feature 5">
            <a:extLst>
              <a:ext uri="{FF2B5EF4-FFF2-40B4-BE49-F238E27FC236}">
                <a16:creationId xmlns:a16="http://schemas.microsoft.com/office/drawing/2014/main" id="{0834D08B-BC25-2ADC-AF12-5492513577F8}"/>
              </a:ext>
            </a:extLst>
          </p:cNvPr>
          <p:cNvSpPr/>
          <p:nvPr/>
        </p:nvSpPr>
        <p:spPr>
          <a:xfrm>
            <a:off x="1627488" y="1518285"/>
            <a:ext cx="18415" cy="34290"/>
          </a:xfrm>
          <a:prstGeom prst="rect">
            <a:avLst/>
          </a:prstGeom>
          <a:solidFill>
            <a:srgbClr val="3B8C80"/>
          </a:solidFill>
          <a:ln w="0" cap="rnd">
            <a:noFill/>
          </a:ln>
        </p:spPr>
      </p:sp>
      <p:sp>
        <p:nvSpPr>
          <p:cNvPr id="1467" name="V8 embedding feature 6">
            <a:extLst>
              <a:ext uri="{FF2B5EF4-FFF2-40B4-BE49-F238E27FC236}">
                <a16:creationId xmlns:a16="http://schemas.microsoft.com/office/drawing/2014/main" id="{7EDE9E92-6EF0-3023-2F22-6E7EFD9706C6}"/>
              </a:ext>
            </a:extLst>
          </p:cNvPr>
          <p:cNvSpPr/>
          <p:nvPr/>
        </p:nvSpPr>
        <p:spPr>
          <a:xfrm>
            <a:off x="1647173" y="1518285"/>
            <a:ext cx="18415" cy="34290"/>
          </a:xfrm>
          <a:prstGeom prst="rect">
            <a:avLst/>
          </a:prstGeom>
          <a:solidFill>
            <a:srgbClr val="A3CDDA"/>
          </a:solidFill>
          <a:ln w="0" cap="rnd">
            <a:noFill/>
          </a:ln>
        </p:spPr>
      </p:sp>
      <p:sp>
        <p:nvSpPr>
          <p:cNvPr id="1468" name="V8 embedding feature 7">
            <a:extLst>
              <a:ext uri="{FF2B5EF4-FFF2-40B4-BE49-F238E27FC236}">
                <a16:creationId xmlns:a16="http://schemas.microsoft.com/office/drawing/2014/main" id="{3791BD29-2650-00D8-2639-94010AF8036F}"/>
              </a:ext>
            </a:extLst>
          </p:cNvPr>
          <p:cNvSpPr/>
          <p:nvPr/>
        </p:nvSpPr>
        <p:spPr>
          <a:xfrm>
            <a:off x="1666858" y="1518285"/>
            <a:ext cx="18415" cy="34290"/>
          </a:xfrm>
          <a:prstGeom prst="rect">
            <a:avLst/>
          </a:prstGeom>
          <a:solidFill>
            <a:srgbClr val="6CAFA4"/>
          </a:solidFill>
          <a:ln w="0" cap="rnd">
            <a:noFill/>
          </a:ln>
        </p:spPr>
      </p:sp>
      <p:sp>
        <p:nvSpPr>
          <p:cNvPr id="1469" name="V8 embedding feature 8">
            <a:extLst>
              <a:ext uri="{FF2B5EF4-FFF2-40B4-BE49-F238E27FC236}">
                <a16:creationId xmlns:a16="http://schemas.microsoft.com/office/drawing/2014/main" id="{78D40256-09DE-A393-64FC-199BB5DEB767}"/>
              </a:ext>
            </a:extLst>
          </p:cNvPr>
          <p:cNvSpPr/>
          <p:nvPr/>
        </p:nvSpPr>
        <p:spPr>
          <a:xfrm>
            <a:off x="1686543" y="1518285"/>
            <a:ext cx="18415" cy="34290"/>
          </a:xfrm>
          <a:prstGeom prst="rect">
            <a:avLst/>
          </a:prstGeom>
          <a:solidFill>
            <a:srgbClr val="C4DDE0"/>
          </a:solidFill>
          <a:ln w="0" cap="rnd">
            <a:noFill/>
          </a:ln>
        </p:spPr>
      </p:sp>
      <p:sp>
        <p:nvSpPr>
          <p:cNvPr id="1471" name="V8 embedding to point branch">
            <a:extLst>
              <a:ext uri="{FF2B5EF4-FFF2-40B4-BE49-F238E27FC236}">
                <a16:creationId xmlns:a16="http://schemas.microsoft.com/office/drawing/2014/main" id="{CD0EF799-B1E4-C26B-BB25-441BB97890BE}"/>
              </a:ext>
            </a:extLst>
          </p:cNvPr>
          <p:cNvSpPr/>
          <p:nvPr/>
        </p:nvSpPr>
        <p:spPr>
          <a:xfrm flipV="1">
            <a:off x="1767191" y="1469001"/>
            <a:ext cx="157162" cy="66614"/>
          </a:xfrm>
          <a:custGeom>
            <a:avLst/>
            <a:gdLst/>
            <a:ahLst/>
            <a:cxnLst/>
            <a:rect l="l" t="t" r="r" b="b"/>
            <a:pathLst>
              <a:path w="63379" h="1">
                <a:moveTo>
                  <a:pt x="0" y="0"/>
                </a:moveTo>
                <a:lnTo>
                  <a:pt x="63379" y="0"/>
                </a:lnTo>
              </a:path>
            </a:pathLst>
          </a:custGeom>
          <a:noFill/>
          <a:ln w="8509" cap="rnd">
            <a:solidFill>
              <a:srgbClr val="77828C"/>
            </a:solidFill>
            <a:prstDash val="solid"/>
            <a:round/>
          </a:ln>
        </p:spPr>
      </p:sp>
      <p:sp>
        <p:nvSpPr>
          <p:cNvPr id="1472" name="V8 embedding to point branch head">
            <a:extLst>
              <a:ext uri="{FF2B5EF4-FFF2-40B4-BE49-F238E27FC236}">
                <a16:creationId xmlns:a16="http://schemas.microsoft.com/office/drawing/2014/main" id="{EE5B1593-BB31-DCD1-99C7-141C7B857AF7}"/>
              </a:ext>
            </a:extLst>
          </p:cNvPr>
          <p:cNvSpPr/>
          <p:nvPr/>
        </p:nvSpPr>
        <p:spPr>
          <a:xfrm>
            <a:off x="1909057" y="1523745"/>
            <a:ext cx="28321" cy="24384"/>
          </a:xfrm>
          <a:custGeom>
            <a:avLst/>
            <a:gdLst/>
            <a:ahLst/>
            <a:cxnLst/>
            <a:rect l="l" t="t" r="r" b="b"/>
            <a:pathLst>
              <a:path w="28321" h="24384">
                <a:moveTo>
                  <a:pt x="28321" y="12192"/>
                </a:moveTo>
                <a:lnTo>
                  <a:pt x="0" y="0"/>
                </a:lnTo>
                <a:lnTo>
                  <a:pt x="0" y="24384"/>
                </a:lnTo>
                <a:close/>
              </a:path>
            </a:pathLst>
          </a:custGeom>
          <a:solidFill>
            <a:srgbClr val="77828C"/>
          </a:solidFill>
          <a:ln w="0" cap="rnd">
            <a:solidFill>
              <a:srgbClr val="77828C"/>
            </a:solidFill>
          </a:ln>
        </p:spPr>
      </p:sp>
      <p:sp>
        <p:nvSpPr>
          <p:cNvPr id="1473" name="V8 embedding to voxel branch">
            <a:extLst>
              <a:ext uri="{FF2B5EF4-FFF2-40B4-BE49-F238E27FC236}">
                <a16:creationId xmlns:a16="http://schemas.microsoft.com/office/drawing/2014/main" id="{A9E148F4-6BCA-77FF-AE43-549D2AE883D5}"/>
              </a:ext>
            </a:extLst>
          </p:cNvPr>
          <p:cNvSpPr/>
          <p:nvPr/>
        </p:nvSpPr>
        <p:spPr>
          <a:xfrm flipH="1">
            <a:off x="1787927" y="835707"/>
            <a:ext cx="45719" cy="699723"/>
          </a:xfrm>
          <a:custGeom>
            <a:avLst/>
            <a:gdLst/>
            <a:ahLst/>
            <a:cxnLst/>
            <a:rect l="l" t="t" r="r" b="b"/>
            <a:pathLst>
              <a:path w="1" h="866159">
                <a:moveTo>
                  <a:pt x="0" y="866159"/>
                </a:moveTo>
                <a:lnTo>
                  <a:pt x="0" y="0"/>
                </a:lnTo>
              </a:path>
            </a:pathLst>
          </a:custGeom>
          <a:noFill/>
          <a:ln w="8509" cap="rnd">
            <a:solidFill>
              <a:srgbClr val="77828C"/>
            </a:solidFill>
            <a:prstDash val="solid"/>
            <a:round/>
          </a:ln>
        </p:spPr>
      </p:sp>
      <p:sp>
        <p:nvSpPr>
          <p:cNvPr id="1475" name="V8 density and receptor to voxel">
            <a:extLst>
              <a:ext uri="{FF2B5EF4-FFF2-40B4-BE49-F238E27FC236}">
                <a16:creationId xmlns:a16="http://schemas.microsoft.com/office/drawing/2014/main" id="{61ECA984-FF9D-A5D0-F819-33661D001ABE}"/>
              </a:ext>
            </a:extLst>
          </p:cNvPr>
          <p:cNvSpPr/>
          <p:nvPr/>
        </p:nvSpPr>
        <p:spPr>
          <a:xfrm flipV="1">
            <a:off x="1767284" y="610807"/>
            <a:ext cx="148072" cy="45719"/>
          </a:xfrm>
          <a:custGeom>
            <a:avLst/>
            <a:gdLst/>
            <a:ahLst/>
            <a:cxnLst/>
            <a:rect l="l" t="t" r="r" b="b"/>
            <a:pathLst>
              <a:path w="96730" h="1">
                <a:moveTo>
                  <a:pt x="0" y="0"/>
                </a:moveTo>
                <a:lnTo>
                  <a:pt x="96730" y="0"/>
                </a:lnTo>
              </a:path>
            </a:pathLst>
          </a:custGeom>
          <a:noFill/>
          <a:ln w="8509" cap="rnd">
            <a:solidFill>
              <a:srgbClr val="77828C"/>
            </a:solidFill>
            <a:prstDash val="solid"/>
            <a:round/>
          </a:ln>
        </p:spPr>
      </p:sp>
      <p:sp>
        <p:nvSpPr>
          <p:cNvPr id="1476" name="V8 density and receptor to voxel head">
            <a:extLst>
              <a:ext uri="{FF2B5EF4-FFF2-40B4-BE49-F238E27FC236}">
                <a16:creationId xmlns:a16="http://schemas.microsoft.com/office/drawing/2014/main" id="{D6CAD338-44F5-8993-3618-9A1839CB2DBC}"/>
              </a:ext>
            </a:extLst>
          </p:cNvPr>
          <p:cNvSpPr/>
          <p:nvPr/>
        </p:nvSpPr>
        <p:spPr>
          <a:xfrm>
            <a:off x="1904526" y="644334"/>
            <a:ext cx="28321" cy="24384"/>
          </a:xfrm>
          <a:custGeom>
            <a:avLst/>
            <a:gdLst/>
            <a:ahLst/>
            <a:cxnLst/>
            <a:rect l="l" t="t" r="r" b="b"/>
            <a:pathLst>
              <a:path w="28321" h="24384">
                <a:moveTo>
                  <a:pt x="28321" y="12192"/>
                </a:moveTo>
                <a:lnTo>
                  <a:pt x="0" y="0"/>
                </a:lnTo>
                <a:lnTo>
                  <a:pt x="0" y="24384"/>
                </a:lnTo>
                <a:close/>
              </a:path>
            </a:pathLst>
          </a:custGeom>
          <a:solidFill>
            <a:srgbClr val="77828C"/>
          </a:solidFill>
          <a:ln w="0" cap="rnd">
            <a:noFill/>
          </a:ln>
        </p:spPr>
      </p:sp>
      <p:sp>
        <p:nvSpPr>
          <p:cNvPr id="1479" name="V8 Match input divider">
            <a:extLst>
              <a:ext uri="{FF2B5EF4-FFF2-40B4-BE49-F238E27FC236}">
                <a16:creationId xmlns:a16="http://schemas.microsoft.com/office/drawing/2014/main" id="{2EDC4EC7-D903-3262-650D-444D37299D28}"/>
              </a:ext>
            </a:extLst>
          </p:cNvPr>
          <p:cNvSpPr/>
          <p:nvPr/>
        </p:nvSpPr>
        <p:spPr>
          <a:xfrm>
            <a:off x="596155" y="2767063"/>
            <a:ext cx="957199" cy="1"/>
          </a:xfrm>
          <a:custGeom>
            <a:avLst/>
            <a:gdLst/>
            <a:ahLst/>
            <a:cxnLst/>
            <a:rect l="l" t="t" r="r" b="b"/>
            <a:pathLst>
              <a:path w="957199" h="1">
                <a:moveTo>
                  <a:pt x="0" y="0"/>
                </a:moveTo>
                <a:lnTo>
                  <a:pt x="957199" y="0"/>
                </a:lnTo>
              </a:path>
            </a:pathLst>
          </a:custGeom>
          <a:noFill/>
          <a:ln w="7290" cap="rnd">
            <a:solidFill>
              <a:srgbClr val="C8CFD4"/>
            </a:solidFill>
            <a:prstDash val="solid"/>
            <a:round/>
          </a:ln>
        </p:spPr>
      </p:sp>
      <p:sp>
        <p:nvSpPr>
          <p:cNvPr id="1480" name="V8 pool to concat">
            <a:extLst>
              <a:ext uri="{FF2B5EF4-FFF2-40B4-BE49-F238E27FC236}">
                <a16:creationId xmlns:a16="http://schemas.microsoft.com/office/drawing/2014/main" id="{3702663D-F294-9B06-B213-0076F82464A6}"/>
              </a:ext>
            </a:extLst>
          </p:cNvPr>
          <p:cNvSpPr/>
          <p:nvPr/>
        </p:nvSpPr>
        <p:spPr>
          <a:xfrm>
            <a:off x="917331" y="3603168"/>
            <a:ext cx="355873" cy="100152"/>
          </a:xfrm>
          <a:custGeom>
            <a:avLst/>
            <a:gdLst/>
            <a:ahLst/>
            <a:cxnLst/>
            <a:rect l="l" t="t" r="r" b="b"/>
            <a:pathLst>
              <a:path w="355873" h="100152">
                <a:moveTo>
                  <a:pt x="0" y="0"/>
                </a:moveTo>
                <a:lnTo>
                  <a:pt x="0" y="100152"/>
                </a:lnTo>
                <a:lnTo>
                  <a:pt x="355873" y="100152"/>
                </a:lnTo>
              </a:path>
            </a:pathLst>
          </a:custGeom>
          <a:noFill/>
          <a:ln w="8509" cap="rnd">
            <a:solidFill>
              <a:srgbClr val="77828C"/>
            </a:solidFill>
            <a:prstDash val="solid"/>
            <a:round/>
          </a:ln>
        </p:spPr>
      </p:sp>
      <p:sp>
        <p:nvSpPr>
          <p:cNvPr id="1481" name="V8 attention to concat">
            <a:extLst>
              <a:ext uri="{FF2B5EF4-FFF2-40B4-BE49-F238E27FC236}">
                <a16:creationId xmlns:a16="http://schemas.microsoft.com/office/drawing/2014/main" id="{45C4FCB5-3380-E3A8-B0B1-54A427F52361}"/>
              </a:ext>
            </a:extLst>
          </p:cNvPr>
          <p:cNvSpPr/>
          <p:nvPr/>
        </p:nvSpPr>
        <p:spPr>
          <a:xfrm>
            <a:off x="1273204" y="3603168"/>
            <a:ext cx="356064" cy="100152"/>
          </a:xfrm>
          <a:custGeom>
            <a:avLst/>
            <a:gdLst/>
            <a:ahLst/>
            <a:cxnLst/>
            <a:rect l="l" t="t" r="r" b="b"/>
            <a:pathLst>
              <a:path w="356064" h="100152">
                <a:moveTo>
                  <a:pt x="356064" y="0"/>
                </a:moveTo>
                <a:lnTo>
                  <a:pt x="356064" y="100152"/>
                </a:lnTo>
                <a:lnTo>
                  <a:pt x="0" y="100152"/>
                </a:lnTo>
              </a:path>
            </a:pathLst>
          </a:custGeom>
          <a:noFill/>
          <a:ln w="8509" cap="rnd">
            <a:solidFill>
              <a:srgbClr val="77828C"/>
            </a:solidFill>
            <a:prstDash val="solid"/>
            <a:round/>
          </a:ln>
        </p:spPr>
      </p:sp>
      <p:sp>
        <p:nvSpPr>
          <p:cNvPr id="1482" name="V8 concat to MLP">
            <a:extLst>
              <a:ext uri="{FF2B5EF4-FFF2-40B4-BE49-F238E27FC236}">
                <a16:creationId xmlns:a16="http://schemas.microsoft.com/office/drawing/2014/main" id="{366946BB-F669-FC2F-4DBA-809EA592E5E1}"/>
              </a:ext>
            </a:extLst>
          </p:cNvPr>
          <p:cNvSpPr/>
          <p:nvPr/>
        </p:nvSpPr>
        <p:spPr>
          <a:xfrm>
            <a:off x="1273204" y="3703320"/>
            <a:ext cx="1" cy="22181"/>
          </a:xfrm>
          <a:custGeom>
            <a:avLst/>
            <a:gdLst/>
            <a:ahLst/>
            <a:cxnLst/>
            <a:rect l="l" t="t" r="r" b="b"/>
            <a:pathLst>
              <a:path w="1" h="22181">
                <a:moveTo>
                  <a:pt x="0" y="0"/>
                </a:moveTo>
                <a:lnTo>
                  <a:pt x="0" y="22181"/>
                </a:lnTo>
              </a:path>
            </a:pathLst>
          </a:custGeom>
          <a:noFill/>
          <a:ln w="8509" cap="rnd">
            <a:solidFill>
              <a:srgbClr val="77828C"/>
            </a:solidFill>
            <a:prstDash val="solid"/>
            <a:round/>
          </a:ln>
        </p:spPr>
      </p:sp>
      <p:sp>
        <p:nvSpPr>
          <p:cNvPr id="1483" name="V8 concat to MLP head">
            <a:extLst>
              <a:ext uri="{FF2B5EF4-FFF2-40B4-BE49-F238E27FC236}">
                <a16:creationId xmlns:a16="http://schemas.microsoft.com/office/drawing/2014/main" id="{234835D4-EF31-832C-586B-712FBD8CEB61}"/>
              </a:ext>
            </a:extLst>
          </p:cNvPr>
          <p:cNvSpPr/>
          <p:nvPr/>
        </p:nvSpPr>
        <p:spPr>
          <a:xfrm>
            <a:off x="1261012" y="3709924"/>
            <a:ext cx="24384" cy="28321"/>
          </a:xfrm>
          <a:custGeom>
            <a:avLst/>
            <a:gdLst/>
            <a:ahLst/>
            <a:cxnLst/>
            <a:rect l="l" t="t" r="r" b="b"/>
            <a:pathLst>
              <a:path w="24384" h="28321">
                <a:moveTo>
                  <a:pt x="12192" y="28321"/>
                </a:moveTo>
                <a:lnTo>
                  <a:pt x="24384" y="0"/>
                </a:lnTo>
                <a:lnTo>
                  <a:pt x="0" y="0"/>
                </a:lnTo>
                <a:close/>
              </a:path>
            </a:pathLst>
          </a:custGeom>
          <a:solidFill>
            <a:srgbClr val="77828C"/>
          </a:solidFill>
          <a:ln w="0" cap="rnd">
            <a:noFill/>
          </a:ln>
        </p:spPr>
      </p:sp>
      <p:grpSp>
        <p:nvGrpSpPr>
          <p:cNvPr id="6" name="Find candidate blob 2">
            <a:extLst>
              <a:ext uri="{FF2B5EF4-FFF2-40B4-BE49-F238E27FC236}">
                <a16:creationId xmlns:a16="http://schemas.microsoft.com/office/drawing/2014/main" id="{52582F41-8562-EDCF-D547-FEE06D78B091}"/>
              </a:ext>
            </a:extLst>
          </p:cNvPr>
          <p:cNvGrpSpPr/>
          <p:nvPr/>
        </p:nvGrpSpPr>
        <p:grpSpPr>
          <a:xfrm rot="3197729">
            <a:off x="4553030" y="901286"/>
            <a:ext cx="140909" cy="118817"/>
            <a:chOff x="1928706" y="3559489"/>
            <a:chExt cx="227897" cy="155682"/>
          </a:xfrm>
        </p:grpSpPr>
        <p:sp>
          <p:nvSpPr>
            <p:cNvPr id="16" name="Candidate blob | editable contour">
              <a:extLst>
                <a:ext uri="{FF2B5EF4-FFF2-40B4-BE49-F238E27FC236}">
                  <a16:creationId xmlns:a16="http://schemas.microsoft.com/office/drawing/2014/main" id="{AC599FE5-B7C8-2310-361D-307EF409B159}"/>
                </a:ext>
              </a:extLst>
            </p:cNvPr>
            <p:cNvSpPr/>
            <p:nvPr/>
          </p:nvSpPr>
          <p:spPr>
            <a:xfrm>
              <a:off x="1928706" y="3559489"/>
              <a:ext cx="227897" cy="155682"/>
            </a:xfrm>
            <a:custGeom>
              <a:avLst/>
              <a:gdLst/>
              <a:ahLst/>
              <a:cxnLst/>
              <a:rect l="0" t="0" r="w" b="h"/>
              <a:pathLst>
                <a:path w="227897" h="155682" extrusionOk="0">
                  <a:moveTo>
                    <a:pt x="3521" y="100385"/>
                  </a:moveTo>
                  <a:cubicBezTo>
                    <a:pt x="0" y="80701"/>
                    <a:pt x="26006" y="62787"/>
                    <a:pt x="43453" y="54263"/>
                  </a:cubicBezTo>
                  <a:cubicBezTo>
                    <a:pt x="58843" y="43224"/>
                    <a:pt x="83460" y="52781"/>
                    <a:pt x="99588" y="43358"/>
                  </a:cubicBezTo>
                  <a:cubicBezTo>
                    <a:pt x="112436" y="32945"/>
                    <a:pt x="102548" y="9475"/>
                    <a:pt x="114181" y="4123"/>
                  </a:cubicBezTo>
                  <a:cubicBezTo>
                    <a:pt x="125241" y="0"/>
                    <a:pt x="158214" y="2398"/>
                    <a:pt x="179365" y="5837"/>
                  </a:cubicBezTo>
                  <a:cubicBezTo>
                    <a:pt x="197301" y="9996"/>
                    <a:pt x="210134" y="19340"/>
                    <a:pt x="216909" y="31256"/>
                  </a:cubicBezTo>
                  <a:cubicBezTo>
                    <a:pt x="221237" y="45342"/>
                    <a:pt x="227897" y="67151"/>
                    <a:pt x="224378" y="79920"/>
                  </a:cubicBezTo>
                  <a:cubicBezTo>
                    <a:pt x="219253" y="92918"/>
                    <a:pt x="191986" y="104353"/>
                    <a:pt x="170629" y="115250"/>
                  </a:cubicBezTo>
                  <a:cubicBezTo>
                    <a:pt x="155563" y="129736"/>
                    <a:pt x="143418" y="146104"/>
                    <a:pt x="126157" y="151452"/>
                  </a:cubicBezTo>
                  <a:cubicBezTo>
                    <a:pt x="110048" y="155682"/>
                    <a:pt x="82946" y="155682"/>
                    <a:pt x="52808" y="150002"/>
                  </a:cubicBezTo>
                  <a:cubicBezTo>
                    <a:pt x="28847" y="143645"/>
                    <a:pt x="5675" y="118994"/>
                    <a:pt x="3521" y="100385"/>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17" name="ellipse_2612">
              <a:extLst>
                <a:ext uri="{FF2B5EF4-FFF2-40B4-BE49-F238E27FC236}">
                  <a16:creationId xmlns:a16="http://schemas.microsoft.com/office/drawing/2014/main" id="{899D545A-9188-B8A5-5122-F55763321954}"/>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sp>
        <p:nvSpPr>
          <p:cNvPr id="50449" name="F2-bank-channel">
            <a:extLst>
              <a:ext uri="{FF2B5EF4-FFF2-40B4-BE49-F238E27FC236}">
                <a16:creationId xmlns:a16="http://schemas.microsoft.com/office/drawing/2014/main" id="{E8F7522B-3B27-4338-8014-8A4EEE25C15E}"/>
              </a:ext>
            </a:extLst>
          </p:cNvPr>
          <p:cNvSpPr>
            <a:spLocks noGrp="1"/>
          </p:cNvSpPr>
          <p:nvPr/>
        </p:nvSpPr>
        <p:spPr>
          <a:xfrm>
            <a:off x="1453500" y="508635"/>
            <a:ext cx="257175" cy="190500"/>
          </a:xfrm>
          <a:prstGeom prst="rect">
            <a:avLst/>
          </a:prstGeom>
          <a:solidFill>
            <a:srgbClr val="EBF7FC"/>
          </a:solidFill>
          <a:ln w="4286">
            <a:solidFill>
              <a:srgbClr val="A6C5DF"/>
            </a:solidFill>
          </a:ln>
        </p:spPr>
      </p:sp>
      <p:sp>
        <p:nvSpPr>
          <p:cNvPr id="50450" name="F2-bank-channel">
            <a:extLst>
              <a:ext uri="{FF2B5EF4-FFF2-40B4-BE49-F238E27FC236}">
                <a16:creationId xmlns:a16="http://schemas.microsoft.com/office/drawing/2014/main" id="{44CA542A-604D-4AA5-B11D-B6617579A677}"/>
              </a:ext>
            </a:extLst>
          </p:cNvPr>
          <p:cNvSpPr>
            <a:spLocks noGrp="1"/>
          </p:cNvSpPr>
          <p:nvPr/>
        </p:nvSpPr>
        <p:spPr>
          <a:xfrm>
            <a:off x="1445880" y="515303"/>
            <a:ext cx="257175" cy="190500"/>
          </a:xfrm>
          <a:prstGeom prst="rect">
            <a:avLst/>
          </a:prstGeom>
          <a:solidFill>
            <a:srgbClr val="EBF7FC"/>
          </a:solidFill>
          <a:ln w="4286">
            <a:solidFill>
              <a:srgbClr val="A6C5DF"/>
            </a:solidFill>
          </a:ln>
        </p:spPr>
      </p:sp>
      <p:sp>
        <p:nvSpPr>
          <p:cNvPr id="50451" name="F2-bank-channel">
            <a:extLst>
              <a:ext uri="{FF2B5EF4-FFF2-40B4-BE49-F238E27FC236}">
                <a16:creationId xmlns:a16="http://schemas.microsoft.com/office/drawing/2014/main" id="{94C83CC1-C6DF-4DC5-87DF-BCD87221CF3B}"/>
              </a:ext>
            </a:extLst>
          </p:cNvPr>
          <p:cNvSpPr>
            <a:spLocks noGrp="1"/>
          </p:cNvSpPr>
          <p:nvPr/>
        </p:nvSpPr>
        <p:spPr>
          <a:xfrm>
            <a:off x="1438260" y="521970"/>
            <a:ext cx="257175" cy="190500"/>
          </a:xfrm>
          <a:prstGeom prst="rect">
            <a:avLst/>
          </a:prstGeom>
          <a:solidFill>
            <a:srgbClr val="EBF7FC"/>
          </a:solidFill>
          <a:ln w="4286">
            <a:solidFill>
              <a:srgbClr val="A6C5DF"/>
            </a:solidFill>
          </a:ln>
        </p:spPr>
      </p:sp>
      <p:sp>
        <p:nvSpPr>
          <p:cNvPr id="50452" name="F2-bank-channel">
            <a:extLst>
              <a:ext uri="{FF2B5EF4-FFF2-40B4-BE49-F238E27FC236}">
                <a16:creationId xmlns:a16="http://schemas.microsoft.com/office/drawing/2014/main" id="{1ABD8E71-8A8E-4A01-9656-5F57A7EAD863}"/>
              </a:ext>
            </a:extLst>
          </p:cNvPr>
          <p:cNvSpPr>
            <a:spLocks noGrp="1"/>
          </p:cNvSpPr>
          <p:nvPr/>
        </p:nvSpPr>
        <p:spPr>
          <a:xfrm>
            <a:off x="1430640" y="528638"/>
            <a:ext cx="257175" cy="190500"/>
          </a:xfrm>
          <a:prstGeom prst="rect">
            <a:avLst/>
          </a:prstGeom>
          <a:solidFill>
            <a:srgbClr val="EBF7FC"/>
          </a:solidFill>
          <a:ln w="4286">
            <a:solidFill>
              <a:srgbClr val="A6C5DF"/>
            </a:solidFill>
          </a:ln>
        </p:spPr>
      </p:sp>
      <p:sp>
        <p:nvSpPr>
          <p:cNvPr id="50453" name="F2-bank-channel">
            <a:extLst>
              <a:ext uri="{FF2B5EF4-FFF2-40B4-BE49-F238E27FC236}">
                <a16:creationId xmlns:a16="http://schemas.microsoft.com/office/drawing/2014/main" id="{A1E78B7C-AF8B-46CF-BE9A-7739D3A000CC}"/>
              </a:ext>
            </a:extLst>
          </p:cNvPr>
          <p:cNvSpPr>
            <a:spLocks noGrp="1"/>
          </p:cNvSpPr>
          <p:nvPr/>
        </p:nvSpPr>
        <p:spPr>
          <a:xfrm>
            <a:off x="1423020" y="535305"/>
            <a:ext cx="257175" cy="190500"/>
          </a:xfrm>
          <a:prstGeom prst="rect">
            <a:avLst/>
          </a:prstGeom>
          <a:solidFill>
            <a:srgbClr val="EBF7FC"/>
          </a:solidFill>
          <a:ln w="4286">
            <a:solidFill>
              <a:srgbClr val="A6C5DF"/>
            </a:solidFill>
          </a:ln>
        </p:spPr>
      </p:sp>
      <p:sp>
        <p:nvSpPr>
          <p:cNvPr id="50454" name="F2-bank-channel">
            <a:extLst>
              <a:ext uri="{FF2B5EF4-FFF2-40B4-BE49-F238E27FC236}">
                <a16:creationId xmlns:a16="http://schemas.microsoft.com/office/drawing/2014/main" id="{F902D412-512B-42B7-B05D-EDD9258097DC}"/>
              </a:ext>
            </a:extLst>
          </p:cNvPr>
          <p:cNvSpPr>
            <a:spLocks noGrp="1"/>
          </p:cNvSpPr>
          <p:nvPr/>
        </p:nvSpPr>
        <p:spPr>
          <a:xfrm>
            <a:off x="1415400" y="541973"/>
            <a:ext cx="257175" cy="190500"/>
          </a:xfrm>
          <a:prstGeom prst="rect">
            <a:avLst/>
          </a:prstGeom>
          <a:solidFill>
            <a:srgbClr val="EBF7FC"/>
          </a:solidFill>
          <a:ln w="4286">
            <a:solidFill>
              <a:srgbClr val="A6C5DF"/>
            </a:solidFill>
          </a:ln>
        </p:spPr>
      </p:sp>
      <p:sp>
        <p:nvSpPr>
          <p:cNvPr id="50455" name="F2-bank-channel">
            <a:extLst>
              <a:ext uri="{FF2B5EF4-FFF2-40B4-BE49-F238E27FC236}">
                <a16:creationId xmlns:a16="http://schemas.microsoft.com/office/drawing/2014/main" id="{CA6824A1-9C37-4EE2-8CF4-7C88BCE1DBE6}"/>
              </a:ext>
            </a:extLst>
          </p:cNvPr>
          <p:cNvSpPr>
            <a:spLocks noGrp="1"/>
          </p:cNvSpPr>
          <p:nvPr/>
        </p:nvSpPr>
        <p:spPr>
          <a:xfrm>
            <a:off x="1407780" y="548640"/>
            <a:ext cx="257175" cy="190500"/>
          </a:xfrm>
          <a:prstGeom prst="rect">
            <a:avLst/>
          </a:prstGeom>
          <a:solidFill>
            <a:srgbClr val="EBF7FC"/>
          </a:solidFill>
          <a:ln w="4286">
            <a:solidFill>
              <a:srgbClr val="A6C5DF"/>
            </a:solidFill>
          </a:ln>
        </p:spPr>
      </p:sp>
      <p:sp>
        <p:nvSpPr>
          <p:cNvPr id="50456" name="F2-bank-channel">
            <a:extLst>
              <a:ext uri="{FF2B5EF4-FFF2-40B4-BE49-F238E27FC236}">
                <a16:creationId xmlns:a16="http://schemas.microsoft.com/office/drawing/2014/main" id="{2705DA7A-40F9-48D2-946C-8019421C16B7}"/>
              </a:ext>
            </a:extLst>
          </p:cNvPr>
          <p:cNvSpPr>
            <a:spLocks noGrp="1"/>
          </p:cNvSpPr>
          <p:nvPr/>
        </p:nvSpPr>
        <p:spPr>
          <a:xfrm>
            <a:off x="1400160" y="555308"/>
            <a:ext cx="257175" cy="190500"/>
          </a:xfrm>
          <a:prstGeom prst="rect">
            <a:avLst/>
          </a:prstGeom>
          <a:solidFill>
            <a:srgbClr val="EBF7FC"/>
          </a:solidFill>
          <a:ln w="4286">
            <a:solidFill>
              <a:srgbClr val="A6C5DF"/>
            </a:solidFill>
          </a:ln>
        </p:spPr>
      </p:sp>
      <p:sp>
        <p:nvSpPr>
          <p:cNvPr id="50457" name="F2-bank-channel">
            <a:extLst>
              <a:ext uri="{FF2B5EF4-FFF2-40B4-BE49-F238E27FC236}">
                <a16:creationId xmlns:a16="http://schemas.microsoft.com/office/drawing/2014/main" id="{E1B9C475-D32F-4E88-9AAA-6701AFC1AC14}"/>
              </a:ext>
            </a:extLst>
          </p:cNvPr>
          <p:cNvSpPr>
            <a:spLocks noGrp="1"/>
          </p:cNvSpPr>
          <p:nvPr/>
        </p:nvSpPr>
        <p:spPr>
          <a:xfrm>
            <a:off x="1392540" y="561975"/>
            <a:ext cx="257175" cy="190500"/>
          </a:xfrm>
          <a:prstGeom prst="rect">
            <a:avLst/>
          </a:prstGeom>
          <a:solidFill>
            <a:srgbClr val="EBF7FC"/>
          </a:solidFill>
          <a:ln w="4286">
            <a:solidFill>
              <a:srgbClr val="A6C5DF"/>
            </a:solidFill>
          </a:ln>
        </p:spPr>
      </p:sp>
      <p:sp>
        <p:nvSpPr>
          <p:cNvPr id="50458" name="F2-density-voxel">
            <a:extLst>
              <a:ext uri="{FF2B5EF4-FFF2-40B4-BE49-F238E27FC236}">
                <a16:creationId xmlns:a16="http://schemas.microsoft.com/office/drawing/2014/main" id="{A49953DB-68D8-42EB-963F-DD42F453137D}"/>
              </a:ext>
            </a:extLst>
          </p:cNvPr>
          <p:cNvSpPr>
            <a:spLocks noGrp="1"/>
          </p:cNvSpPr>
          <p:nvPr/>
        </p:nvSpPr>
        <p:spPr>
          <a:xfrm>
            <a:off x="1411590" y="571500"/>
            <a:ext cx="52388" cy="42863"/>
          </a:xfrm>
          <a:prstGeom prst="rect">
            <a:avLst/>
          </a:prstGeom>
          <a:solidFill>
            <a:srgbClr val="CCE5EE"/>
          </a:solidFill>
          <a:ln w="0">
            <a:noFill/>
          </a:ln>
        </p:spPr>
      </p:sp>
      <p:sp>
        <p:nvSpPr>
          <p:cNvPr id="50459" name="F2-density-voxel">
            <a:extLst>
              <a:ext uri="{FF2B5EF4-FFF2-40B4-BE49-F238E27FC236}">
                <a16:creationId xmlns:a16="http://schemas.microsoft.com/office/drawing/2014/main" id="{ECECDED8-7BB6-465D-90CE-1566D913C0F0}"/>
              </a:ext>
            </a:extLst>
          </p:cNvPr>
          <p:cNvSpPr>
            <a:spLocks noGrp="1"/>
          </p:cNvSpPr>
          <p:nvPr/>
        </p:nvSpPr>
        <p:spPr>
          <a:xfrm>
            <a:off x="1463978" y="571500"/>
            <a:ext cx="52388" cy="42863"/>
          </a:xfrm>
          <a:prstGeom prst="rect">
            <a:avLst/>
          </a:prstGeom>
          <a:solidFill>
            <a:srgbClr val="86C0D7"/>
          </a:solidFill>
          <a:ln w="0">
            <a:noFill/>
          </a:ln>
        </p:spPr>
      </p:sp>
      <p:sp>
        <p:nvSpPr>
          <p:cNvPr id="50460" name="F2-density-voxel">
            <a:extLst>
              <a:ext uri="{FF2B5EF4-FFF2-40B4-BE49-F238E27FC236}">
                <a16:creationId xmlns:a16="http://schemas.microsoft.com/office/drawing/2014/main" id="{49E89024-8821-43E6-B830-D5D2C6143679}"/>
              </a:ext>
            </a:extLst>
          </p:cNvPr>
          <p:cNvSpPr>
            <a:spLocks noGrp="1"/>
          </p:cNvSpPr>
          <p:nvPr/>
        </p:nvSpPr>
        <p:spPr>
          <a:xfrm>
            <a:off x="1516365" y="571500"/>
            <a:ext cx="52388" cy="42863"/>
          </a:xfrm>
          <a:prstGeom prst="rect">
            <a:avLst/>
          </a:prstGeom>
          <a:solidFill>
            <a:srgbClr val="4D9ABB"/>
          </a:solidFill>
          <a:ln w="0">
            <a:noFill/>
          </a:ln>
        </p:spPr>
      </p:sp>
      <p:sp>
        <p:nvSpPr>
          <p:cNvPr id="50461" name="F2-density-voxel">
            <a:extLst>
              <a:ext uri="{FF2B5EF4-FFF2-40B4-BE49-F238E27FC236}">
                <a16:creationId xmlns:a16="http://schemas.microsoft.com/office/drawing/2014/main" id="{3A635687-B1F5-496B-9A49-461D8BC35087}"/>
              </a:ext>
            </a:extLst>
          </p:cNvPr>
          <p:cNvSpPr>
            <a:spLocks noGrp="1"/>
          </p:cNvSpPr>
          <p:nvPr/>
        </p:nvSpPr>
        <p:spPr>
          <a:xfrm>
            <a:off x="1568753" y="571500"/>
            <a:ext cx="52388" cy="42863"/>
          </a:xfrm>
          <a:prstGeom prst="rect">
            <a:avLst/>
          </a:prstGeom>
          <a:solidFill>
            <a:srgbClr val="B6DDE7"/>
          </a:solidFill>
          <a:ln w="0">
            <a:noFill/>
          </a:ln>
        </p:spPr>
      </p:sp>
      <p:sp>
        <p:nvSpPr>
          <p:cNvPr id="50462" name="F2-density-voxel">
            <a:extLst>
              <a:ext uri="{FF2B5EF4-FFF2-40B4-BE49-F238E27FC236}">
                <a16:creationId xmlns:a16="http://schemas.microsoft.com/office/drawing/2014/main" id="{FEC54E9C-643D-4824-B955-66BA7E401A0E}"/>
              </a:ext>
            </a:extLst>
          </p:cNvPr>
          <p:cNvSpPr>
            <a:spLocks noGrp="1"/>
          </p:cNvSpPr>
          <p:nvPr/>
        </p:nvSpPr>
        <p:spPr>
          <a:xfrm>
            <a:off x="1411590" y="614363"/>
            <a:ext cx="52388" cy="42863"/>
          </a:xfrm>
          <a:prstGeom prst="rect">
            <a:avLst/>
          </a:prstGeom>
          <a:solidFill>
            <a:srgbClr val="86C0D7"/>
          </a:solidFill>
          <a:ln w="0">
            <a:noFill/>
          </a:ln>
        </p:spPr>
      </p:sp>
      <p:sp>
        <p:nvSpPr>
          <p:cNvPr id="50463" name="F2-density-voxel">
            <a:extLst>
              <a:ext uri="{FF2B5EF4-FFF2-40B4-BE49-F238E27FC236}">
                <a16:creationId xmlns:a16="http://schemas.microsoft.com/office/drawing/2014/main" id="{ED2290E5-D29A-42C8-863E-1A0B5A093DAF}"/>
              </a:ext>
            </a:extLst>
          </p:cNvPr>
          <p:cNvSpPr>
            <a:spLocks noGrp="1"/>
          </p:cNvSpPr>
          <p:nvPr/>
        </p:nvSpPr>
        <p:spPr>
          <a:xfrm>
            <a:off x="1463978" y="614363"/>
            <a:ext cx="52388" cy="42863"/>
          </a:xfrm>
          <a:prstGeom prst="rect">
            <a:avLst/>
          </a:prstGeom>
          <a:solidFill>
            <a:srgbClr val="4D9ABB"/>
          </a:solidFill>
          <a:ln w="0">
            <a:noFill/>
          </a:ln>
        </p:spPr>
      </p:sp>
      <p:sp>
        <p:nvSpPr>
          <p:cNvPr id="50464" name="F2-density-voxel">
            <a:extLst>
              <a:ext uri="{FF2B5EF4-FFF2-40B4-BE49-F238E27FC236}">
                <a16:creationId xmlns:a16="http://schemas.microsoft.com/office/drawing/2014/main" id="{C030A993-BA02-4CBF-A526-9AF795928873}"/>
              </a:ext>
            </a:extLst>
          </p:cNvPr>
          <p:cNvSpPr>
            <a:spLocks noGrp="1"/>
          </p:cNvSpPr>
          <p:nvPr/>
        </p:nvSpPr>
        <p:spPr>
          <a:xfrm>
            <a:off x="1516365" y="614363"/>
            <a:ext cx="52388" cy="42863"/>
          </a:xfrm>
          <a:prstGeom prst="rect">
            <a:avLst/>
          </a:prstGeom>
          <a:solidFill>
            <a:srgbClr val="B6DDE7"/>
          </a:solidFill>
          <a:ln w="0">
            <a:noFill/>
          </a:ln>
        </p:spPr>
      </p:sp>
      <p:sp>
        <p:nvSpPr>
          <p:cNvPr id="50465" name="F2-density-voxel">
            <a:extLst>
              <a:ext uri="{FF2B5EF4-FFF2-40B4-BE49-F238E27FC236}">
                <a16:creationId xmlns:a16="http://schemas.microsoft.com/office/drawing/2014/main" id="{EC212EF2-C0F1-41AF-B3CE-D957D17932A0}"/>
              </a:ext>
            </a:extLst>
          </p:cNvPr>
          <p:cNvSpPr>
            <a:spLocks noGrp="1"/>
          </p:cNvSpPr>
          <p:nvPr/>
        </p:nvSpPr>
        <p:spPr>
          <a:xfrm>
            <a:off x="1568753" y="614363"/>
            <a:ext cx="52388" cy="42863"/>
          </a:xfrm>
          <a:prstGeom prst="rect">
            <a:avLst/>
          </a:prstGeom>
          <a:solidFill>
            <a:srgbClr val="CCE5EE"/>
          </a:solidFill>
          <a:ln w="0">
            <a:noFill/>
          </a:ln>
        </p:spPr>
      </p:sp>
      <p:sp>
        <p:nvSpPr>
          <p:cNvPr id="50466" name="F2-density-voxel">
            <a:extLst>
              <a:ext uri="{FF2B5EF4-FFF2-40B4-BE49-F238E27FC236}">
                <a16:creationId xmlns:a16="http://schemas.microsoft.com/office/drawing/2014/main" id="{8E8D1CD2-DC81-4A69-849C-F21783FD798D}"/>
              </a:ext>
            </a:extLst>
          </p:cNvPr>
          <p:cNvSpPr>
            <a:spLocks noGrp="1"/>
          </p:cNvSpPr>
          <p:nvPr/>
        </p:nvSpPr>
        <p:spPr>
          <a:xfrm>
            <a:off x="1411590" y="657225"/>
            <a:ext cx="52388" cy="42863"/>
          </a:xfrm>
          <a:prstGeom prst="rect">
            <a:avLst/>
          </a:prstGeom>
          <a:solidFill>
            <a:srgbClr val="4D9ABB"/>
          </a:solidFill>
          <a:ln w="0">
            <a:noFill/>
          </a:ln>
        </p:spPr>
      </p:sp>
      <p:sp>
        <p:nvSpPr>
          <p:cNvPr id="50467" name="F2-density-voxel">
            <a:extLst>
              <a:ext uri="{FF2B5EF4-FFF2-40B4-BE49-F238E27FC236}">
                <a16:creationId xmlns:a16="http://schemas.microsoft.com/office/drawing/2014/main" id="{CEA7FE12-330D-4160-8BE6-769BF6A26577}"/>
              </a:ext>
            </a:extLst>
          </p:cNvPr>
          <p:cNvSpPr>
            <a:spLocks noGrp="1"/>
          </p:cNvSpPr>
          <p:nvPr/>
        </p:nvSpPr>
        <p:spPr>
          <a:xfrm>
            <a:off x="1463978" y="657225"/>
            <a:ext cx="52388" cy="42863"/>
          </a:xfrm>
          <a:prstGeom prst="rect">
            <a:avLst/>
          </a:prstGeom>
          <a:solidFill>
            <a:srgbClr val="B6DDE7"/>
          </a:solidFill>
          <a:ln w="0">
            <a:noFill/>
          </a:ln>
        </p:spPr>
      </p:sp>
      <p:sp>
        <p:nvSpPr>
          <p:cNvPr id="50468" name="F2-density-voxel">
            <a:extLst>
              <a:ext uri="{FF2B5EF4-FFF2-40B4-BE49-F238E27FC236}">
                <a16:creationId xmlns:a16="http://schemas.microsoft.com/office/drawing/2014/main" id="{BE225EBF-D266-4631-9D7E-1B21643503B4}"/>
              </a:ext>
            </a:extLst>
          </p:cNvPr>
          <p:cNvSpPr>
            <a:spLocks noGrp="1"/>
          </p:cNvSpPr>
          <p:nvPr/>
        </p:nvSpPr>
        <p:spPr>
          <a:xfrm>
            <a:off x="1516365" y="657225"/>
            <a:ext cx="52388" cy="42863"/>
          </a:xfrm>
          <a:prstGeom prst="rect">
            <a:avLst/>
          </a:prstGeom>
          <a:solidFill>
            <a:srgbClr val="CCE5EE"/>
          </a:solidFill>
          <a:ln w="0">
            <a:noFill/>
          </a:ln>
        </p:spPr>
      </p:sp>
      <p:sp>
        <p:nvSpPr>
          <p:cNvPr id="50469" name="F2-density-voxel">
            <a:extLst>
              <a:ext uri="{FF2B5EF4-FFF2-40B4-BE49-F238E27FC236}">
                <a16:creationId xmlns:a16="http://schemas.microsoft.com/office/drawing/2014/main" id="{D56EA4DF-3429-4429-A2AA-6D7C9D33B341}"/>
              </a:ext>
            </a:extLst>
          </p:cNvPr>
          <p:cNvSpPr>
            <a:spLocks noGrp="1"/>
          </p:cNvSpPr>
          <p:nvPr/>
        </p:nvSpPr>
        <p:spPr>
          <a:xfrm>
            <a:off x="1568753" y="657225"/>
            <a:ext cx="52388" cy="42863"/>
          </a:xfrm>
          <a:prstGeom prst="rect">
            <a:avLst/>
          </a:prstGeom>
          <a:solidFill>
            <a:srgbClr val="86C0D7"/>
          </a:solidFill>
          <a:ln w="0">
            <a:noFill/>
          </a:ln>
        </p:spPr>
      </p:sp>
      <p:sp>
        <p:nvSpPr>
          <p:cNvPr id="50470" name="F2-density-voxel">
            <a:extLst>
              <a:ext uri="{FF2B5EF4-FFF2-40B4-BE49-F238E27FC236}">
                <a16:creationId xmlns:a16="http://schemas.microsoft.com/office/drawing/2014/main" id="{F4CB67F8-3427-42E0-B222-3C4C5B421A28}"/>
              </a:ext>
            </a:extLst>
          </p:cNvPr>
          <p:cNvSpPr>
            <a:spLocks noGrp="1"/>
          </p:cNvSpPr>
          <p:nvPr/>
        </p:nvSpPr>
        <p:spPr>
          <a:xfrm>
            <a:off x="1411590" y="700088"/>
            <a:ext cx="52388" cy="42863"/>
          </a:xfrm>
          <a:prstGeom prst="rect">
            <a:avLst/>
          </a:prstGeom>
          <a:solidFill>
            <a:srgbClr val="B6DDE7"/>
          </a:solidFill>
          <a:ln w="0">
            <a:noFill/>
          </a:ln>
        </p:spPr>
      </p:sp>
      <p:sp>
        <p:nvSpPr>
          <p:cNvPr id="50471" name="F2-density-voxel">
            <a:extLst>
              <a:ext uri="{FF2B5EF4-FFF2-40B4-BE49-F238E27FC236}">
                <a16:creationId xmlns:a16="http://schemas.microsoft.com/office/drawing/2014/main" id="{E62F2DC6-612B-4891-B2B7-8020312C0678}"/>
              </a:ext>
            </a:extLst>
          </p:cNvPr>
          <p:cNvSpPr>
            <a:spLocks noGrp="1"/>
          </p:cNvSpPr>
          <p:nvPr/>
        </p:nvSpPr>
        <p:spPr>
          <a:xfrm>
            <a:off x="1463978" y="700088"/>
            <a:ext cx="52388" cy="42863"/>
          </a:xfrm>
          <a:prstGeom prst="rect">
            <a:avLst/>
          </a:prstGeom>
          <a:solidFill>
            <a:srgbClr val="CCE5EE"/>
          </a:solidFill>
          <a:ln w="0">
            <a:noFill/>
          </a:ln>
        </p:spPr>
      </p:sp>
      <p:sp>
        <p:nvSpPr>
          <p:cNvPr id="50472" name="F2-density-voxel">
            <a:extLst>
              <a:ext uri="{FF2B5EF4-FFF2-40B4-BE49-F238E27FC236}">
                <a16:creationId xmlns:a16="http://schemas.microsoft.com/office/drawing/2014/main" id="{3D79F01F-5243-4E3C-8AA7-EE2C8B8C7E29}"/>
              </a:ext>
            </a:extLst>
          </p:cNvPr>
          <p:cNvSpPr>
            <a:spLocks noGrp="1"/>
          </p:cNvSpPr>
          <p:nvPr/>
        </p:nvSpPr>
        <p:spPr>
          <a:xfrm>
            <a:off x="1516365" y="700088"/>
            <a:ext cx="52388" cy="42863"/>
          </a:xfrm>
          <a:prstGeom prst="rect">
            <a:avLst/>
          </a:prstGeom>
          <a:solidFill>
            <a:srgbClr val="86C0D7"/>
          </a:solidFill>
          <a:ln w="0">
            <a:noFill/>
          </a:ln>
        </p:spPr>
      </p:sp>
      <p:sp>
        <p:nvSpPr>
          <p:cNvPr id="50473" name="F2-density-voxel">
            <a:extLst>
              <a:ext uri="{FF2B5EF4-FFF2-40B4-BE49-F238E27FC236}">
                <a16:creationId xmlns:a16="http://schemas.microsoft.com/office/drawing/2014/main" id="{7F5BC88D-76D1-4A24-B998-8BD41F9AADDB}"/>
              </a:ext>
            </a:extLst>
          </p:cNvPr>
          <p:cNvSpPr>
            <a:spLocks noGrp="1"/>
          </p:cNvSpPr>
          <p:nvPr/>
        </p:nvSpPr>
        <p:spPr>
          <a:xfrm>
            <a:off x="1568753" y="700088"/>
            <a:ext cx="52388" cy="42863"/>
          </a:xfrm>
          <a:prstGeom prst="rect">
            <a:avLst/>
          </a:prstGeom>
          <a:solidFill>
            <a:srgbClr val="4D9ABB"/>
          </a:solidFill>
          <a:ln w="0">
            <a:noFill/>
          </a:ln>
        </p:spPr>
      </p:sp>
      <p:sp>
        <p:nvSpPr>
          <p:cNvPr id="50474" name="F2-spatial-transform">
            <a:extLst>
              <a:ext uri="{FF2B5EF4-FFF2-40B4-BE49-F238E27FC236}">
                <a16:creationId xmlns:a16="http://schemas.microsoft.com/office/drawing/2014/main" id="{A85283F8-9FE2-48A1-8429-5356F2D370E2}"/>
              </a:ext>
            </a:extLst>
          </p:cNvPr>
          <p:cNvSpPr>
            <a:spLocks noGrp="1"/>
          </p:cNvSpPr>
          <p:nvPr/>
        </p:nvSpPr>
        <p:spPr>
          <a:xfrm>
            <a:off x="981877" y="549713"/>
            <a:ext cx="376238" cy="180975"/>
          </a:xfrm>
          <a:prstGeom prst="rect">
            <a:avLst/>
          </a:prstGeom>
          <a:noFill/>
          <a:ln w="0">
            <a:noFill/>
          </a:ln>
        </p:spPr>
        <p:txBody>
          <a:bodyPr wrap="none" lIns="0" tIns="0" rIns="0" bIns="0" anchor="ctr">
            <a:noAutofit/>
          </a:bodyPr>
          <a:lstStyle>
            <a:defPPr algn="ctr">
              <a:defRPr sz="540" b="0">
                <a:solidFill>
                  <a:srgbClr val="263442"/>
                </a:solidFill>
                <a:latin typeface="Arial"/>
                <a:ea typeface="Arial"/>
                <a:cs typeface="Arial"/>
              </a:defRPr>
            </a:defPPr>
            <a:lvl1pPr algn="ctr">
              <a:defRPr sz="540" b="0">
                <a:solidFill>
                  <a:srgbClr val="263442"/>
                </a:solidFill>
                <a:latin typeface="Arial"/>
                <a:ea typeface="Arial"/>
                <a:cs typeface="Arial"/>
              </a:defRPr>
            </a:lvl1pPr>
            <a:lvl2pPr algn="ctr">
              <a:defRPr sz="540" b="0">
                <a:solidFill>
                  <a:srgbClr val="263442"/>
                </a:solidFill>
                <a:latin typeface="Arial"/>
                <a:ea typeface="Arial"/>
                <a:cs typeface="Arial"/>
              </a:defRPr>
            </a:lvl2pPr>
            <a:lvl3pPr algn="ctr">
              <a:defRPr sz="540" b="0">
                <a:solidFill>
                  <a:srgbClr val="263442"/>
                </a:solidFill>
                <a:latin typeface="Arial"/>
                <a:ea typeface="Arial"/>
                <a:cs typeface="Arial"/>
              </a:defRPr>
            </a:lvl3pPr>
            <a:lvl4pPr algn="ctr">
              <a:defRPr sz="540" b="0">
                <a:solidFill>
                  <a:srgbClr val="263442"/>
                </a:solidFill>
                <a:latin typeface="Arial"/>
                <a:ea typeface="Arial"/>
                <a:cs typeface="Arial"/>
              </a:defRPr>
            </a:lvl4pPr>
            <a:lvl5pPr algn="ctr">
              <a:defRPr sz="540" b="0">
                <a:solidFill>
                  <a:srgbClr val="263442"/>
                </a:solidFill>
                <a:latin typeface="Arial"/>
                <a:ea typeface="Arial"/>
                <a:cs typeface="Arial"/>
              </a:defRPr>
            </a:lvl5pPr>
            <a:lvl6pPr algn="ctr">
              <a:defRPr sz="540" b="0">
                <a:solidFill>
                  <a:srgbClr val="263442"/>
                </a:solidFill>
                <a:latin typeface="Arial"/>
                <a:ea typeface="Arial"/>
                <a:cs typeface="Arial"/>
              </a:defRPr>
            </a:lvl6pPr>
            <a:lvl7pPr algn="ctr">
              <a:defRPr sz="540" b="0">
                <a:solidFill>
                  <a:srgbClr val="263442"/>
                </a:solidFill>
                <a:latin typeface="Arial"/>
                <a:ea typeface="Arial"/>
                <a:cs typeface="Arial"/>
              </a:defRPr>
            </a:lvl7pPr>
            <a:lvl8pPr algn="ctr">
              <a:defRPr sz="540" b="0">
                <a:solidFill>
                  <a:srgbClr val="263442"/>
                </a:solidFill>
                <a:latin typeface="Arial"/>
                <a:ea typeface="Arial"/>
                <a:cs typeface="Arial"/>
              </a:defRPr>
            </a:lvl8pPr>
            <a:lvl9pPr algn="ctr">
              <a:defRPr sz="540" b="0">
                <a:solidFill>
                  <a:srgbClr val="263442"/>
                </a:solidFill>
                <a:latin typeface="Arial"/>
                <a:ea typeface="Arial"/>
                <a:cs typeface="Arial"/>
              </a:defRPr>
            </a:lvl9pPr>
          </a:lstStyle>
          <a:p>
            <a:pPr algn="ctr">
              <a:defRPr sz="540" b="0">
                <a:solidFill>
                  <a:srgbClr val="263442"/>
                </a:solidFill>
                <a:latin typeface="Arial"/>
                <a:ea typeface="Arial"/>
                <a:cs typeface="Arial"/>
              </a:defRPr>
            </a:pPr>
            <a:r>
              <a:rPr sz="460" b="0" dirty="0">
                <a:solidFill>
                  <a:srgbClr val="263442"/>
                </a:solidFill>
                <a:latin typeface="Arial"/>
                <a:ea typeface="Arial"/>
                <a:cs typeface="Arial"/>
              </a:rPr>
              <a:t>Spatial</a:t>
            </a:r>
          </a:p>
          <a:p>
            <a:pPr algn="ctr">
              <a:defRPr sz="540" b="0">
                <a:solidFill>
                  <a:srgbClr val="263442"/>
                </a:solidFill>
                <a:latin typeface="Arial"/>
                <a:ea typeface="Arial"/>
                <a:cs typeface="Arial"/>
              </a:defRPr>
            </a:pPr>
            <a:r>
              <a:rPr sz="460" b="0" dirty="0">
                <a:solidFill>
                  <a:srgbClr val="263442"/>
                </a:solidFill>
                <a:latin typeface="Arial"/>
                <a:ea typeface="Arial"/>
                <a:cs typeface="Arial"/>
              </a:rPr>
              <a:t>transform</a:t>
            </a:r>
          </a:p>
        </p:txBody>
      </p:sp>
      <p:sp>
        <p:nvSpPr>
          <p:cNvPr id="50475" name="F2-atom-embeddings-input">
            <a:extLst>
              <a:ext uri="{FF2B5EF4-FFF2-40B4-BE49-F238E27FC236}">
                <a16:creationId xmlns:a16="http://schemas.microsoft.com/office/drawing/2014/main" id="{0B4B93C5-B055-4ECE-8D5F-9FD8F9F29D6A}"/>
              </a:ext>
            </a:extLst>
          </p:cNvPr>
          <p:cNvSpPr>
            <a:spLocks noGrp="1"/>
          </p:cNvSpPr>
          <p:nvPr/>
        </p:nvSpPr>
        <p:spPr>
          <a:xfrm>
            <a:off x="1010565" y="1287494"/>
            <a:ext cx="327329" cy="180975"/>
          </a:xfrm>
          <a:prstGeom prst="rect">
            <a:avLst/>
          </a:prstGeom>
          <a:noFill/>
          <a:ln w="0">
            <a:noFill/>
          </a:ln>
        </p:spPr>
        <p:txBody>
          <a:bodyPr wrap="none" lIns="0" tIns="0" rIns="0" bIns="0" anchor="ctr">
            <a:noAutofit/>
          </a:bodyPr>
          <a:lstStyle>
            <a:defPPr algn="ctr">
              <a:defRPr sz="540" b="0">
                <a:solidFill>
                  <a:srgbClr val="263442"/>
                </a:solidFill>
                <a:latin typeface="Arial"/>
                <a:ea typeface="Arial"/>
                <a:cs typeface="Arial"/>
              </a:defRPr>
            </a:defPPr>
            <a:lvl1pPr algn="ctr">
              <a:defRPr sz="540" b="0">
                <a:solidFill>
                  <a:srgbClr val="263442"/>
                </a:solidFill>
                <a:latin typeface="Arial"/>
                <a:ea typeface="Arial"/>
                <a:cs typeface="Arial"/>
              </a:defRPr>
            </a:lvl1pPr>
            <a:lvl2pPr algn="ctr">
              <a:defRPr sz="540" b="0">
                <a:solidFill>
                  <a:srgbClr val="263442"/>
                </a:solidFill>
                <a:latin typeface="Arial"/>
                <a:ea typeface="Arial"/>
                <a:cs typeface="Arial"/>
              </a:defRPr>
            </a:lvl2pPr>
            <a:lvl3pPr algn="ctr">
              <a:defRPr sz="540" b="0">
                <a:solidFill>
                  <a:srgbClr val="263442"/>
                </a:solidFill>
                <a:latin typeface="Arial"/>
                <a:ea typeface="Arial"/>
                <a:cs typeface="Arial"/>
              </a:defRPr>
            </a:lvl3pPr>
            <a:lvl4pPr algn="ctr">
              <a:defRPr sz="540" b="0">
                <a:solidFill>
                  <a:srgbClr val="263442"/>
                </a:solidFill>
                <a:latin typeface="Arial"/>
                <a:ea typeface="Arial"/>
                <a:cs typeface="Arial"/>
              </a:defRPr>
            </a:lvl4pPr>
            <a:lvl5pPr algn="ctr">
              <a:defRPr sz="540" b="0">
                <a:solidFill>
                  <a:srgbClr val="263442"/>
                </a:solidFill>
                <a:latin typeface="Arial"/>
                <a:ea typeface="Arial"/>
                <a:cs typeface="Arial"/>
              </a:defRPr>
            </a:lvl5pPr>
            <a:lvl6pPr algn="ctr">
              <a:defRPr sz="540" b="0">
                <a:solidFill>
                  <a:srgbClr val="263442"/>
                </a:solidFill>
                <a:latin typeface="Arial"/>
                <a:ea typeface="Arial"/>
                <a:cs typeface="Arial"/>
              </a:defRPr>
            </a:lvl6pPr>
            <a:lvl7pPr algn="ctr">
              <a:defRPr sz="540" b="0">
                <a:solidFill>
                  <a:srgbClr val="263442"/>
                </a:solidFill>
                <a:latin typeface="Arial"/>
                <a:ea typeface="Arial"/>
                <a:cs typeface="Arial"/>
              </a:defRPr>
            </a:lvl7pPr>
            <a:lvl8pPr algn="ctr">
              <a:defRPr sz="540" b="0">
                <a:solidFill>
                  <a:srgbClr val="263442"/>
                </a:solidFill>
                <a:latin typeface="Arial"/>
                <a:ea typeface="Arial"/>
                <a:cs typeface="Arial"/>
              </a:defRPr>
            </a:lvl8pPr>
            <a:lvl9pPr algn="ctr">
              <a:defRPr sz="540" b="0">
                <a:solidFill>
                  <a:srgbClr val="263442"/>
                </a:solidFill>
                <a:latin typeface="Arial"/>
                <a:ea typeface="Arial"/>
                <a:cs typeface="Arial"/>
              </a:defRPr>
            </a:lvl9pPr>
          </a:lstStyle>
          <a:p>
            <a:pPr algn="ctr">
              <a:defRPr sz="540" b="0">
                <a:solidFill>
                  <a:srgbClr val="263442"/>
                </a:solidFill>
                <a:latin typeface="Arial"/>
                <a:ea typeface="Arial"/>
                <a:cs typeface="Arial"/>
              </a:defRPr>
            </a:pPr>
            <a:r>
              <a:rPr lang="en-US" sz="460" b="0" dirty="0">
                <a:solidFill>
                  <a:srgbClr val="263442"/>
                </a:solidFill>
                <a:latin typeface="Arial"/>
                <a:ea typeface="Arial"/>
                <a:cs typeface="Arial"/>
              </a:rPr>
              <a:t>E</a:t>
            </a:r>
            <a:r>
              <a:rPr sz="460" b="0" dirty="0">
                <a:solidFill>
                  <a:srgbClr val="263442"/>
                </a:solidFill>
                <a:latin typeface="Arial"/>
                <a:ea typeface="Arial"/>
                <a:cs typeface="Arial"/>
              </a:rPr>
              <a:t>mbedding</a:t>
            </a:r>
            <a:endParaRPr lang="en-US" sz="460" b="0" dirty="0">
              <a:solidFill>
                <a:srgbClr val="263442"/>
              </a:solidFill>
              <a:latin typeface="Arial"/>
              <a:ea typeface="Arial"/>
              <a:cs typeface="Arial"/>
            </a:endParaRPr>
          </a:p>
          <a:p>
            <a:pPr algn="ctr">
              <a:defRPr sz="540" b="0">
                <a:solidFill>
                  <a:srgbClr val="263442"/>
                </a:solidFill>
                <a:latin typeface="Arial"/>
                <a:ea typeface="Arial"/>
                <a:cs typeface="Arial"/>
              </a:defRPr>
            </a:pPr>
            <a:r>
              <a:rPr lang="en-US" altLang="zh-CN" sz="460" b="0" dirty="0">
                <a:solidFill>
                  <a:srgbClr val="263442"/>
                </a:solidFill>
                <a:latin typeface="Arial"/>
                <a:ea typeface="Arial"/>
                <a:cs typeface="Arial"/>
              </a:rPr>
              <a:t>head</a:t>
            </a:r>
            <a:endParaRPr sz="460" b="0" dirty="0">
              <a:solidFill>
                <a:srgbClr val="263442"/>
              </a:solidFill>
              <a:latin typeface="Arial"/>
              <a:ea typeface="Arial"/>
              <a:cs typeface="Arial"/>
            </a:endParaRPr>
          </a:p>
        </p:txBody>
      </p:sp>
      <p:pic>
        <p:nvPicPr>
          <p:cNvPr id="50482" name="图片 50481">
            <a:extLst>
              <a:ext uri="{FF2B5EF4-FFF2-40B4-BE49-F238E27FC236}">
                <a16:creationId xmlns:a16="http://schemas.microsoft.com/office/drawing/2014/main" id="{CC697937-E8CE-4EDF-BB17-1FEA96E39283}"/>
              </a:ext>
            </a:extLst>
          </p:cNvPr>
          <p:cNvPicPr>
            <a:picLocks noChangeAspect="1"/>
          </p:cNvPicPr>
          <p:nvPr/>
        </p:nvPicPr>
        <p:blipFill>
          <a:blip r:embed="rId8"/>
          <a:stretch/>
        </p:blipFill>
        <p:spPr>
          <a:xfrm>
            <a:off x="622201" y="2943948"/>
            <a:ext cx="414760" cy="342900"/>
          </a:xfrm>
          <a:prstGeom prst="rect">
            <a:avLst/>
          </a:prstGeom>
        </p:spPr>
      </p:pic>
      <p:grpSp>
        <p:nvGrpSpPr>
          <p:cNvPr id="50493" name="Find preview 15"/>
          <p:cNvGrpSpPr/>
          <p:nvPr/>
        </p:nvGrpSpPr>
        <p:grpSpPr>
          <a:xfrm>
            <a:off x="582671" y="471488"/>
            <a:ext cx="404812" cy="395288"/>
            <a:chOff x="511635" y="471488"/>
            <a:chExt cx="404812" cy="395288"/>
          </a:xfrm>
        </p:grpSpPr>
        <p:pic>
          <p:nvPicPr>
            <p:cNvPr id="15" name="Find corresponding experimental density" descr="Experimental 9LLG density around chain C1 of the displayed CryoAtom2 receptor, at the original contour level and the identical camera orientation.">
              <a:extLst>
                <a:ext uri="{FF2B5EF4-FFF2-40B4-BE49-F238E27FC236}">
                  <a16:creationId xmlns:a16="http://schemas.microsoft.com/office/drawing/2014/main" id="{8CF1199C-6488-C5B6-B489-1131732B4FBF}"/>
                </a:ext>
              </a:extLst>
            </p:cNvPr>
            <p:cNvPicPr/>
            <p:nvPr/>
          </p:nvPicPr>
          <p:blipFill>
            <a:blip r:embed="rId4"/>
            <a:stretch>
              <a:fillRect/>
            </a:stretch>
          </p:blipFill>
          <p:spPr>
            <a:xfrm>
              <a:off x="511635" y="475859"/>
              <a:ext cx="404812" cy="386544"/>
            </a:xfrm>
            <a:prstGeom prst="rect">
              <a:avLst/>
            </a:prstGeom>
          </p:spPr>
        </p:pic>
        <p:sp>
          <p:nvSpPr>
            <p:cNvPr id="50476" name="crop-cube">
              <a:extLst>
                <a:ext uri="{FF2B5EF4-FFF2-40B4-BE49-F238E27FC236}">
                  <a16:creationId xmlns:a16="http://schemas.microsoft.com/office/drawing/2014/main" id="{25839399-079E-4307-9725-E085483F7FD6}"/>
                </a:ext>
              </a:extLst>
            </p:cNvPr>
            <p:cNvSpPr>
              <a:spLocks noGrp="1"/>
            </p:cNvSpPr>
            <p:nvPr/>
          </p:nvSpPr>
          <p:spPr>
            <a:xfrm>
              <a:off x="700088" y="626745"/>
              <a:ext cx="119063" cy="119063"/>
            </a:xfrm>
            <a:custGeom>
              <a:avLst/>
              <a:gdLst/>
              <a:ahLst/>
              <a:cxnLst/>
              <a:rect l="0" t="0" r="0" b="0"/>
              <a:pathLst>
                <a:path w="119063" h="119063">
                  <a:moveTo>
                    <a:pt x="0" y="30956"/>
                  </a:moveTo>
                  <a:lnTo>
                    <a:pt x="88106" y="30956"/>
                  </a:lnTo>
                  <a:lnTo>
                    <a:pt x="88106" y="119063"/>
                  </a:lnTo>
                  <a:lnTo>
                    <a:pt x="0" y="119063"/>
                  </a:lnTo>
                  <a:lnTo>
                    <a:pt x="0" y="30956"/>
                  </a:lnTo>
                  <a:lnTo>
                    <a:pt x="30956" y="0"/>
                  </a:lnTo>
                  <a:lnTo>
                    <a:pt x="119063" y="0"/>
                  </a:lnTo>
                  <a:lnTo>
                    <a:pt x="119063" y="88106"/>
                  </a:lnTo>
                  <a:lnTo>
                    <a:pt x="88106" y="119063"/>
                  </a:lnTo>
                </a:path>
              </a:pathLst>
            </a:custGeom>
            <a:noFill/>
            <a:ln w="8573">
              <a:solidFill>
                <a:srgbClr val="263442"/>
              </a:solidFill>
            </a:ln>
          </p:spPr>
        </p:sp>
        <p:sp>
          <p:nvSpPr>
            <p:cNvPr id="50477" name="crop-cube">
              <a:extLst>
                <a:ext uri="{FF2B5EF4-FFF2-40B4-BE49-F238E27FC236}">
                  <a16:creationId xmlns:a16="http://schemas.microsoft.com/office/drawing/2014/main" id="{07D86F79-577D-4116-BDEA-F38D19D792BA}"/>
                </a:ext>
              </a:extLst>
            </p:cNvPr>
            <p:cNvSpPr>
              <a:spLocks noGrp="1"/>
            </p:cNvSpPr>
            <p:nvPr/>
          </p:nvSpPr>
          <p:spPr>
            <a:xfrm>
              <a:off x="788194" y="626745"/>
              <a:ext cx="30956" cy="30956"/>
            </a:xfrm>
            <a:custGeom>
              <a:avLst/>
              <a:gdLst/>
              <a:ahLst/>
              <a:cxnLst/>
              <a:rect l="0" t="0" r="0" b="0"/>
              <a:pathLst>
                <a:path w="30956" h="30956">
                  <a:moveTo>
                    <a:pt x="0" y="30956"/>
                  </a:moveTo>
                  <a:lnTo>
                    <a:pt x="30956" y="0"/>
                  </a:lnTo>
                </a:path>
              </a:pathLst>
            </a:custGeom>
            <a:noFill/>
            <a:ln w="8573">
              <a:solidFill>
                <a:srgbClr val="263442"/>
              </a:solidFill>
            </a:ln>
          </p:spPr>
        </p:sp>
        <p:sp>
          <p:nvSpPr>
            <p:cNvPr id="50478" name="F2-density-crop-size">
              <a:extLst>
                <a:ext uri="{FF2B5EF4-FFF2-40B4-BE49-F238E27FC236}">
                  <a16:creationId xmlns:a16="http://schemas.microsoft.com/office/drawing/2014/main" id="{9B6ECDDF-4CA0-44BE-83B1-7FF800ECF209}"/>
                </a:ext>
              </a:extLst>
            </p:cNvPr>
            <p:cNvSpPr>
              <a:spLocks noGrp="1"/>
            </p:cNvSpPr>
            <p:nvPr/>
          </p:nvSpPr>
          <p:spPr>
            <a:xfrm>
              <a:off x="640556" y="766763"/>
              <a:ext cx="238125" cy="95250"/>
            </a:xfrm>
            <a:prstGeom prst="rect">
              <a:avLst/>
            </a:prstGeom>
            <a:noFill/>
            <a:ln w="0">
              <a:noFill/>
            </a:ln>
          </p:spPr>
          <p:txBody>
            <a:bodyPr wrap="none" lIns="0" tIns="0" rIns="0" bIns="0" anchor="ctr">
              <a:noAutofit/>
            </a:bodyPr>
            <a:lstStyle>
              <a:defPPr algn="ctr">
                <a:defRPr sz="600" b="1">
                  <a:solidFill>
                    <a:srgbClr val="263442"/>
                  </a:solidFill>
                  <a:latin typeface="Arial"/>
                  <a:ea typeface="Arial"/>
                  <a:cs typeface="Arial"/>
                </a:defRPr>
              </a:defPPr>
              <a:lvl1pPr algn="ctr">
                <a:defRPr sz="600" b="1">
                  <a:solidFill>
                    <a:srgbClr val="263442"/>
                  </a:solidFill>
                  <a:latin typeface="Arial"/>
                  <a:ea typeface="Arial"/>
                  <a:cs typeface="Arial"/>
                </a:defRPr>
              </a:lvl1pPr>
              <a:lvl2pPr algn="ctr">
                <a:defRPr sz="600" b="1">
                  <a:solidFill>
                    <a:srgbClr val="263442"/>
                  </a:solidFill>
                  <a:latin typeface="Arial"/>
                  <a:ea typeface="Arial"/>
                  <a:cs typeface="Arial"/>
                </a:defRPr>
              </a:lvl2pPr>
              <a:lvl3pPr algn="ctr">
                <a:defRPr sz="600" b="1">
                  <a:solidFill>
                    <a:srgbClr val="263442"/>
                  </a:solidFill>
                  <a:latin typeface="Arial"/>
                  <a:ea typeface="Arial"/>
                  <a:cs typeface="Arial"/>
                </a:defRPr>
              </a:lvl3pPr>
              <a:lvl4pPr algn="ctr">
                <a:defRPr sz="600" b="1">
                  <a:solidFill>
                    <a:srgbClr val="263442"/>
                  </a:solidFill>
                  <a:latin typeface="Arial"/>
                  <a:ea typeface="Arial"/>
                  <a:cs typeface="Arial"/>
                </a:defRPr>
              </a:lvl4pPr>
              <a:lvl5pPr algn="ctr">
                <a:defRPr sz="600" b="1">
                  <a:solidFill>
                    <a:srgbClr val="263442"/>
                  </a:solidFill>
                  <a:latin typeface="Arial"/>
                  <a:ea typeface="Arial"/>
                  <a:cs typeface="Arial"/>
                </a:defRPr>
              </a:lvl5pPr>
              <a:lvl6pPr algn="ctr">
                <a:defRPr sz="600" b="1">
                  <a:solidFill>
                    <a:srgbClr val="263442"/>
                  </a:solidFill>
                  <a:latin typeface="Arial"/>
                  <a:ea typeface="Arial"/>
                  <a:cs typeface="Arial"/>
                </a:defRPr>
              </a:lvl6pPr>
              <a:lvl7pPr algn="ctr">
                <a:defRPr sz="600" b="1">
                  <a:solidFill>
                    <a:srgbClr val="263442"/>
                  </a:solidFill>
                  <a:latin typeface="Arial"/>
                  <a:ea typeface="Arial"/>
                  <a:cs typeface="Arial"/>
                </a:defRPr>
              </a:lvl7pPr>
              <a:lvl8pPr algn="ctr">
                <a:defRPr sz="600" b="1">
                  <a:solidFill>
                    <a:srgbClr val="263442"/>
                  </a:solidFill>
                  <a:latin typeface="Arial"/>
                  <a:ea typeface="Arial"/>
                  <a:cs typeface="Arial"/>
                </a:defRPr>
              </a:lvl8pPr>
              <a:lvl9pPr algn="ctr">
                <a:defRPr sz="600" b="1">
                  <a:solidFill>
                    <a:srgbClr val="263442"/>
                  </a:solidFill>
                  <a:latin typeface="Arial"/>
                  <a:ea typeface="Arial"/>
                  <a:cs typeface="Arial"/>
                </a:defRPr>
              </a:lvl9pPr>
            </a:lstStyle>
            <a:p>
              <a:pPr algn="ctr">
                <a:defRPr sz="600" b="1">
                  <a:solidFill>
                    <a:srgbClr val="263442"/>
                  </a:solidFill>
                  <a:latin typeface="Arial"/>
                  <a:ea typeface="Arial"/>
                  <a:cs typeface="Arial"/>
                </a:defRPr>
              </a:pPr>
              <a:r>
                <a:rPr sz="600" b="1">
                  <a:solidFill>
                    <a:srgbClr val="263442"/>
                  </a:solidFill>
                  <a:latin typeface="Arial"/>
                  <a:ea typeface="Arial"/>
                  <a:cs typeface="Arial"/>
                </a:rPr>
                <a:t>80³</a:t>
              </a:r>
            </a:p>
          </p:txBody>
        </p:sp>
      </p:grpSp>
      <p:grpSp>
        <p:nvGrpSpPr>
          <p:cNvPr id="50494" name="Find preview 1435"/>
          <p:cNvGrpSpPr/>
          <p:nvPr/>
        </p:nvGrpSpPr>
        <p:grpSpPr>
          <a:xfrm>
            <a:off x="582671" y="1252538"/>
            <a:ext cx="404812" cy="395288"/>
            <a:chOff x="511635" y="1252538"/>
            <a:chExt cx="404812" cy="395288"/>
          </a:xfrm>
        </p:grpSpPr>
        <p:pic>
          <p:nvPicPr>
            <p:cNvPr id="1435" name="Find clear receptor" descr="Receptor cartoon rendered from unchanged local coordinates, chain C1 of the 9LLG CA2 model.">
              <a:extLst>
                <a:ext uri="{FF2B5EF4-FFF2-40B4-BE49-F238E27FC236}">
                  <a16:creationId xmlns:a16="http://schemas.microsoft.com/office/drawing/2014/main" id="{24C88AB2-5918-0F4D-EDE6-0D89FC02F100}"/>
                </a:ext>
              </a:extLst>
            </p:cNvPr>
            <p:cNvPicPr/>
            <p:nvPr/>
          </p:nvPicPr>
          <p:blipFill>
            <a:blip r:embed="rId7"/>
            <a:srcRect l="16857" t="30389" r="19786" b="22500"/>
            <a:stretch>
              <a:fillRect/>
            </a:stretch>
          </p:blipFill>
          <p:spPr>
            <a:xfrm>
              <a:off x="511635" y="1256674"/>
              <a:ext cx="404812" cy="387014"/>
            </a:xfrm>
            <a:prstGeom prst="rect">
              <a:avLst/>
            </a:prstGeom>
          </p:spPr>
        </p:pic>
        <p:sp>
          <p:nvSpPr>
            <p:cNvPr id="50479" name="crop-cube">
              <a:extLst>
                <a:ext uri="{FF2B5EF4-FFF2-40B4-BE49-F238E27FC236}">
                  <a16:creationId xmlns:a16="http://schemas.microsoft.com/office/drawing/2014/main" id="{B083B324-58BF-4271-92CE-6A3DCE5DBE53}"/>
                </a:ext>
              </a:extLst>
            </p:cNvPr>
            <p:cNvSpPr>
              <a:spLocks noGrp="1"/>
            </p:cNvSpPr>
            <p:nvPr/>
          </p:nvSpPr>
          <p:spPr>
            <a:xfrm>
              <a:off x="700088" y="1404938"/>
              <a:ext cx="119063" cy="119063"/>
            </a:xfrm>
            <a:custGeom>
              <a:avLst/>
              <a:gdLst/>
              <a:ahLst/>
              <a:cxnLst/>
              <a:rect l="0" t="0" r="0" b="0"/>
              <a:pathLst>
                <a:path w="119063" h="119063">
                  <a:moveTo>
                    <a:pt x="0" y="30956"/>
                  </a:moveTo>
                  <a:lnTo>
                    <a:pt x="88106" y="30956"/>
                  </a:lnTo>
                  <a:lnTo>
                    <a:pt x="88106" y="119063"/>
                  </a:lnTo>
                  <a:lnTo>
                    <a:pt x="0" y="119063"/>
                  </a:lnTo>
                  <a:lnTo>
                    <a:pt x="0" y="30956"/>
                  </a:lnTo>
                  <a:lnTo>
                    <a:pt x="30956" y="0"/>
                  </a:lnTo>
                  <a:lnTo>
                    <a:pt x="119063" y="0"/>
                  </a:lnTo>
                  <a:lnTo>
                    <a:pt x="119063" y="88106"/>
                  </a:lnTo>
                  <a:lnTo>
                    <a:pt x="88106" y="119063"/>
                  </a:lnTo>
                </a:path>
              </a:pathLst>
            </a:custGeom>
            <a:noFill/>
            <a:ln w="8573">
              <a:solidFill>
                <a:srgbClr val="263442"/>
              </a:solidFill>
            </a:ln>
          </p:spPr>
        </p:sp>
        <p:sp>
          <p:nvSpPr>
            <p:cNvPr id="50480" name="crop-cube">
              <a:extLst>
                <a:ext uri="{FF2B5EF4-FFF2-40B4-BE49-F238E27FC236}">
                  <a16:creationId xmlns:a16="http://schemas.microsoft.com/office/drawing/2014/main" id="{0E8C65BE-9745-4184-B8B7-6FD5E9341DBD}"/>
                </a:ext>
              </a:extLst>
            </p:cNvPr>
            <p:cNvSpPr>
              <a:spLocks noGrp="1"/>
            </p:cNvSpPr>
            <p:nvPr/>
          </p:nvSpPr>
          <p:spPr>
            <a:xfrm>
              <a:off x="788194" y="1404938"/>
              <a:ext cx="30956" cy="30956"/>
            </a:xfrm>
            <a:custGeom>
              <a:avLst/>
              <a:gdLst/>
              <a:ahLst/>
              <a:cxnLst/>
              <a:rect l="0" t="0" r="0" b="0"/>
              <a:pathLst>
                <a:path w="30956" h="30956">
                  <a:moveTo>
                    <a:pt x="0" y="30956"/>
                  </a:moveTo>
                  <a:lnTo>
                    <a:pt x="30956" y="0"/>
                  </a:lnTo>
                </a:path>
              </a:pathLst>
            </a:custGeom>
            <a:noFill/>
            <a:ln w="8573">
              <a:solidFill>
                <a:srgbClr val="263442"/>
              </a:solidFill>
            </a:ln>
          </p:spPr>
        </p:sp>
        <p:sp>
          <p:nvSpPr>
            <p:cNvPr id="50481" name="F2-receptor-crop-size">
              <a:extLst>
                <a:ext uri="{FF2B5EF4-FFF2-40B4-BE49-F238E27FC236}">
                  <a16:creationId xmlns:a16="http://schemas.microsoft.com/office/drawing/2014/main" id="{11CB5595-3267-408D-9A25-39E3920D0458}"/>
                </a:ext>
              </a:extLst>
            </p:cNvPr>
            <p:cNvSpPr>
              <a:spLocks noGrp="1"/>
            </p:cNvSpPr>
            <p:nvPr/>
          </p:nvSpPr>
          <p:spPr>
            <a:xfrm>
              <a:off x="640556" y="1544955"/>
              <a:ext cx="238125" cy="95250"/>
            </a:xfrm>
            <a:prstGeom prst="rect">
              <a:avLst/>
            </a:prstGeom>
            <a:noFill/>
            <a:ln w="0">
              <a:noFill/>
            </a:ln>
          </p:spPr>
          <p:txBody>
            <a:bodyPr wrap="none" lIns="0" tIns="0" rIns="0" bIns="0" anchor="ctr">
              <a:noAutofit/>
            </a:bodyPr>
            <a:lstStyle>
              <a:defPPr algn="ctr">
                <a:defRPr sz="600" b="1">
                  <a:solidFill>
                    <a:srgbClr val="263442"/>
                  </a:solidFill>
                  <a:latin typeface="Arial"/>
                  <a:ea typeface="Arial"/>
                  <a:cs typeface="Arial"/>
                </a:defRPr>
              </a:defPPr>
              <a:lvl1pPr algn="ctr">
                <a:defRPr sz="600" b="1">
                  <a:solidFill>
                    <a:srgbClr val="263442"/>
                  </a:solidFill>
                  <a:latin typeface="Arial"/>
                  <a:ea typeface="Arial"/>
                  <a:cs typeface="Arial"/>
                </a:defRPr>
              </a:lvl1pPr>
              <a:lvl2pPr algn="ctr">
                <a:defRPr sz="600" b="1">
                  <a:solidFill>
                    <a:srgbClr val="263442"/>
                  </a:solidFill>
                  <a:latin typeface="Arial"/>
                  <a:ea typeface="Arial"/>
                  <a:cs typeface="Arial"/>
                </a:defRPr>
              </a:lvl2pPr>
              <a:lvl3pPr algn="ctr">
                <a:defRPr sz="600" b="1">
                  <a:solidFill>
                    <a:srgbClr val="263442"/>
                  </a:solidFill>
                  <a:latin typeface="Arial"/>
                  <a:ea typeface="Arial"/>
                  <a:cs typeface="Arial"/>
                </a:defRPr>
              </a:lvl3pPr>
              <a:lvl4pPr algn="ctr">
                <a:defRPr sz="600" b="1">
                  <a:solidFill>
                    <a:srgbClr val="263442"/>
                  </a:solidFill>
                  <a:latin typeface="Arial"/>
                  <a:ea typeface="Arial"/>
                  <a:cs typeface="Arial"/>
                </a:defRPr>
              </a:lvl4pPr>
              <a:lvl5pPr algn="ctr">
                <a:defRPr sz="600" b="1">
                  <a:solidFill>
                    <a:srgbClr val="263442"/>
                  </a:solidFill>
                  <a:latin typeface="Arial"/>
                  <a:ea typeface="Arial"/>
                  <a:cs typeface="Arial"/>
                </a:defRPr>
              </a:lvl5pPr>
              <a:lvl6pPr algn="ctr">
                <a:defRPr sz="600" b="1">
                  <a:solidFill>
                    <a:srgbClr val="263442"/>
                  </a:solidFill>
                  <a:latin typeface="Arial"/>
                  <a:ea typeface="Arial"/>
                  <a:cs typeface="Arial"/>
                </a:defRPr>
              </a:lvl6pPr>
              <a:lvl7pPr algn="ctr">
                <a:defRPr sz="600" b="1">
                  <a:solidFill>
                    <a:srgbClr val="263442"/>
                  </a:solidFill>
                  <a:latin typeface="Arial"/>
                  <a:ea typeface="Arial"/>
                  <a:cs typeface="Arial"/>
                </a:defRPr>
              </a:lvl7pPr>
              <a:lvl8pPr algn="ctr">
                <a:defRPr sz="600" b="1">
                  <a:solidFill>
                    <a:srgbClr val="263442"/>
                  </a:solidFill>
                  <a:latin typeface="Arial"/>
                  <a:ea typeface="Arial"/>
                  <a:cs typeface="Arial"/>
                </a:defRPr>
              </a:lvl8pPr>
              <a:lvl9pPr algn="ctr">
                <a:defRPr sz="600" b="1">
                  <a:solidFill>
                    <a:srgbClr val="263442"/>
                  </a:solidFill>
                  <a:latin typeface="Arial"/>
                  <a:ea typeface="Arial"/>
                  <a:cs typeface="Arial"/>
                </a:defRPr>
              </a:lvl9pPr>
            </a:lstStyle>
            <a:p>
              <a:pPr algn="ctr">
                <a:defRPr sz="600" b="1">
                  <a:solidFill>
                    <a:srgbClr val="263442"/>
                  </a:solidFill>
                  <a:latin typeface="Arial"/>
                  <a:ea typeface="Arial"/>
                  <a:cs typeface="Arial"/>
                </a:defRPr>
              </a:pPr>
              <a:r>
                <a:rPr sz="600" b="1">
                  <a:solidFill>
                    <a:srgbClr val="263442"/>
                  </a:solidFill>
                  <a:latin typeface="Arial"/>
                  <a:ea typeface="Arial"/>
                  <a:cs typeface="Arial"/>
                </a:rPr>
                <a:t>80³</a:t>
              </a:r>
            </a:p>
          </p:txBody>
        </p:sp>
      </p:grpSp>
      <p:grpSp>
        <p:nvGrpSpPr>
          <p:cNvPr id="50495" name="Find preview 25"/>
          <p:cNvGrpSpPr/>
          <p:nvPr/>
        </p:nvGrpSpPr>
        <p:grpSpPr>
          <a:xfrm>
            <a:off x="4319205" y="499672"/>
            <a:ext cx="404812" cy="386544"/>
            <a:chOff x="4349067" y="499672"/>
            <a:chExt cx="404812" cy="386544"/>
          </a:xfrm>
        </p:grpSpPr>
        <p:pic>
          <p:nvPicPr>
            <p:cNvPr id="25" name="Find corresponding experimental density" descr="Experimental 9LLG density around chain C1 of the displayed CryoAtom2 receptor, at the original contour level and the identical camera orientation.">
              <a:extLst>
                <a:ext uri="{FF2B5EF4-FFF2-40B4-BE49-F238E27FC236}">
                  <a16:creationId xmlns:a16="http://schemas.microsoft.com/office/drawing/2014/main" id="{E01FAF0F-7383-AEC3-8192-CE781D4C8B97}"/>
                </a:ext>
              </a:extLst>
            </p:cNvPr>
            <p:cNvPicPr/>
            <p:nvPr/>
          </p:nvPicPr>
          <p:blipFill>
            <a:blip r:embed="rId4"/>
            <a:stretch>
              <a:fillRect/>
            </a:stretch>
          </p:blipFill>
          <p:spPr>
            <a:xfrm>
              <a:off x="4349067" y="499672"/>
              <a:ext cx="404812" cy="386544"/>
            </a:xfrm>
            <a:prstGeom prst="rect">
              <a:avLst/>
            </a:prstGeom>
          </p:spPr>
        </p:pic>
        <p:grpSp>
          <p:nvGrpSpPr>
            <p:cNvPr id="50437" name="Global copy of blob 758">
              <a:extLst>
                <a:ext uri="{FF2B5EF4-FFF2-40B4-BE49-F238E27FC236}">
                  <a16:creationId xmlns:a16="http://schemas.microsoft.com/office/drawing/2014/main" id="{00C0C92B-D4C8-0994-E860-1581EB873D86}"/>
                </a:ext>
              </a:extLst>
            </p:cNvPr>
            <p:cNvGrpSpPr/>
            <p:nvPr/>
          </p:nvGrpSpPr>
          <p:grpSpPr>
            <a:xfrm>
              <a:off x="4445066" y="623158"/>
              <a:ext cx="92055" cy="24054"/>
              <a:chOff x="1980855" y="3559489"/>
              <a:chExt cx="493446" cy="155682"/>
            </a:xfrm>
          </p:grpSpPr>
          <p:sp>
            <p:nvSpPr>
              <p:cNvPr id="50438" name="Candidate blob | editable contour">
                <a:extLst>
                  <a:ext uri="{FF2B5EF4-FFF2-40B4-BE49-F238E27FC236}">
                    <a16:creationId xmlns:a16="http://schemas.microsoft.com/office/drawing/2014/main" id="{A172A8B3-EFA3-33C9-CD2B-307B24D7293D}"/>
                  </a:ext>
                </a:extLst>
              </p:cNvPr>
              <p:cNvSpPr/>
              <p:nvPr/>
            </p:nvSpPr>
            <p:spPr>
              <a:xfrm>
                <a:off x="2246406" y="3559489"/>
                <a:ext cx="227895" cy="155682"/>
              </a:xfrm>
              <a:custGeom>
                <a:avLst/>
                <a:gdLst/>
                <a:ahLst/>
                <a:cxnLst/>
                <a:rect l="0" t="0" r="w" b="h"/>
                <a:pathLst>
                  <a:path w="227897" h="155682" extrusionOk="0">
                    <a:moveTo>
                      <a:pt x="3521" y="100385"/>
                    </a:moveTo>
                    <a:cubicBezTo>
                      <a:pt x="0" y="80701"/>
                      <a:pt x="26006" y="62787"/>
                      <a:pt x="43453" y="54263"/>
                    </a:cubicBezTo>
                    <a:cubicBezTo>
                      <a:pt x="58843" y="43224"/>
                      <a:pt x="83460" y="52781"/>
                      <a:pt x="99588" y="43358"/>
                    </a:cubicBezTo>
                    <a:cubicBezTo>
                      <a:pt x="112436" y="32945"/>
                      <a:pt x="102548" y="9475"/>
                      <a:pt x="114181" y="4123"/>
                    </a:cubicBezTo>
                    <a:cubicBezTo>
                      <a:pt x="125241" y="0"/>
                      <a:pt x="158214" y="2398"/>
                      <a:pt x="179365" y="5837"/>
                    </a:cubicBezTo>
                    <a:cubicBezTo>
                      <a:pt x="197301" y="9996"/>
                      <a:pt x="210134" y="19340"/>
                      <a:pt x="216909" y="31256"/>
                    </a:cubicBezTo>
                    <a:cubicBezTo>
                      <a:pt x="221237" y="45342"/>
                      <a:pt x="227897" y="67151"/>
                      <a:pt x="224378" y="79920"/>
                    </a:cubicBezTo>
                    <a:cubicBezTo>
                      <a:pt x="219253" y="92918"/>
                      <a:pt x="191986" y="104353"/>
                      <a:pt x="170629" y="115250"/>
                    </a:cubicBezTo>
                    <a:cubicBezTo>
                      <a:pt x="155563" y="129736"/>
                      <a:pt x="143418" y="146104"/>
                      <a:pt x="126157" y="151452"/>
                    </a:cubicBezTo>
                    <a:cubicBezTo>
                      <a:pt x="110048" y="155682"/>
                      <a:pt x="82946" y="155682"/>
                      <a:pt x="52808" y="150002"/>
                    </a:cubicBezTo>
                    <a:cubicBezTo>
                      <a:pt x="28847" y="143645"/>
                      <a:pt x="5675" y="118994"/>
                      <a:pt x="3521" y="100385"/>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50439" name="ellipse_2612">
                <a:extLst>
                  <a:ext uri="{FF2B5EF4-FFF2-40B4-BE49-F238E27FC236}">
                    <a16:creationId xmlns:a16="http://schemas.microsoft.com/office/drawing/2014/main" id="{CF37E813-914E-4383-9CE9-1C5F4095124F}"/>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sp>
          <p:nvSpPr>
            <p:cNvPr id="50442" name="ellipse_2612">
              <a:extLst>
                <a:ext uri="{FF2B5EF4-FFF2-40B4-BE49-F238E27FC236}">
                  <a16:creationId xmlns:a16="http://schemas.microsoft.com/office/drawing/2014/main" id="{899D545A-9188-B8A5-5122-F55763321954}"/>
                </a:ext>
              </a:extLst>
            </p:cNvPr>
            <p:cNvSpPr/>
            <p:nvPr/>
          </p:nvSpPr>
          <p:spPr>
            <a:xfrm rot="3197729">
              <a:off x="4608138" y="649456"/>
              <a:ext cx="10571" cy="3071"/>
            </a:xfrm>
            <a:prstGeom prst="ellipse">
              <a:avLst/>
            </a:prstGeom>
            <a:solidFill>
              <a:srgbClr val="FFFFFF">
                <a:alpha val="35000"/>
              </a:srgbClr>
            </a:solidFill>
            <a:ln w="3285" cap="rnd" cmpd="sng" algn="ctr">
              <a:noFill/>
              <a:prstDash val="solid"/>
              <a:round/>
              <a:headEnd type="none" w="med" len="med"/>
              <a:tailEnd type="none" w="med" len="med"/>
            </a:ln>
            <a:effectLst/>
          </p:spPr>
        </p:sp>
        <p:sp>
          <p:nvSpPr>
            <p:cNvPr id="50445" name="ellipse_2612">
              <a:extLst>
                <a:ext uri="{FF2B5EF4-FFF2-40B4-BE49-F238E27FC236}">
                  <a16:creationId xmlns:a16="http://schemas.microsoft.com/office/drawing/2014/main" id="{85D74281-2FE6-E2D2-EFBA-AF54A45686E3}"/>
                </a:ext>
              </a:extLst>
            </p:cNvPr>
            <p:cNvSpPr/>
            <p:nvPr/>
          </p:nvSpPr>
          <p:spPr>
            <a:xfrm>
              <a:off x="4430816" y="761249"/>
              <a:ext cx="9540" cy="2671"/>
            </a:xfrm>
            <a:prstGeom prst="ellipse">
              <a:avLst/>
            </a:prstGeom>
            <a:solidFill>
              <a:srgbClr val="FFFFFF">
                <a:alpha val="35000"/>
              </a:srgbClr>
            </a:solidFill>
            <a:ln w="3285" cap="rnd" cmpd="sng" algn="ctr">
              <a:noFill/>
              <a:prstDash val="solid"/>
              <a:round/>
              <a:headEnd type="none" w="med" len="med"/>
              <a:tailEnd type="none" w="med" len="med"/>
            </a:ln>
            <a:effectLst/>
          </p:spPr>
        </p:sp>
        <p:sp>
          <p:nvSpPr>
            <p:cNvPr id="50448" name="ellipse_2612">
              <a:extLst>
                <a:ext uri="{FF2B5EF4-FFF2-40B4-BE49-F238E27FC236}">
                  <a16:creationId xmlns:a16="http://schemas.microsoft.com/office/drawing/2014/main" id="{901C6437-E94C-AFDE-D242-E688A89ABBDB}"/>
                </a:ext>
              </a:extLst>
            </p:cNvPr>
            <p:cNvSpPr/>
            <p:nvPr/>
          </p:nvSpPr>
          <p:spPr>
            <a:xfrm>
              <a:off x="4542383" y="798587"/>
              <a:ext cx="9428" cy="3307"/>
            </a:xfrm>
            <a:prstGeom prst="ellipse">
              <a:avLst/>
            </a:prstGeom>
            <a:solidFill>
              <a:srgbClr val="FFFFFF">
                <a:alpha val="35000"/>
              </a:srgbClr>
            </a:solidFill>
            <a:ln w="3285" cap="rnd" cmpd="sng" algn="ctr">
              <a:noFill/>
              <a:prstDash val="solid"/>
              <a:round/>
              <a:headEnd type="none" w="med" len="med"/>
              <a:tailEnd type="none" w="med" len="med"/>
            </a:ln>
            <a:effectLst/>
          </p:spPr>
        </p:sp>
      </p:grpSp>
      <p:sp>
        <p:nvSpPr>
          <p:cNvPr id="29" name="V8 density and receptor to voxel">
            <a:extLst>
              <a:ext uri="{FF2B5EF4-FFF2-40B4-BE49-F238E27FC236}">
                <a16:creationId xmlns:a16="http://schemas.microsoft.com/office/drawing/2014/main" id="{6CB6A47B-4EF1-2B06-7255-E23CEE529CCF}"/>
              </a:ext>
            </a:extLst>
          </p:cNvPr>
          <p:cNvSpPr/>
          <p:nvPr/>
        </p:nvSpPr>
        <p:spPr>
          <a:xfrm flipV="1">
            <a:off x="1834335" y="790091"/>
            <a:ext cx="77018" cy="45719"/>
          </a:xfrm>
          <a:custGeom>
            <a:avLst/>
            <a:gdLst/>
            <a:ahLst/>
            <a:cxnLst/>
            <a:rect l="l" t="t" r="r" b="b"/>
            <a:pathLst>
              <a:path w="96730" h="1">
                <a:moveTo>
                  <a:pt x="0" y="0"/>
                </a:moveTo>
                <a:lnTo>
                  <a:pt x="96730" y="0"/>
                </a:lnTo>
              </a:path>
            </a:pathLst>
          </a:custGeom>
          <a:noFill/>
          <a:ln w="8509" cap="rnd">
            <a:solidFill>
              <a:srgbClr val="77828C"/>
            </a:solidFill>
            <a:prstDash val="solid"/>
            <a:round/>
          </a:ln>
        </p:spPr>
      </p:sp>
      <p:sp>
        <p:nvSpPr>
          <p:cNvPr id="31" name="V8 density and receptor to voxel head">
            <a:extLst>
              <a:ext uri="{FF2B5EF4-FFF2-40B4-BE49-F238E27FC236}">
                <a16:creationId xmlns:a16="http://schemas.microsoft.com/office/drawing/2014/main" id="{DF62D5B1-80E9-3975-FF99-0CA56F3741F9}"/>
              </a:ext>
            </a:extLst>
          </p:cNvPr>
          <p:cNvSpPr/>
          <p:nvPr/>
        </p:nvSpPr>
        <p:spPr>
          <a:xfrm>
            <a:off x="1905255" y="822853"/>
            <a:ext cx="28321" cy="24384"/>
          </a:xfrm>
          <a:custGeom>
            <a:avLst/>
            <a:gdLst/>
            <a:ahLst/>
            <a:cxnLst/>
            <a:rect l="l" t="t" r="r" b="b"/>
            <a:pathLst>
              <a:path w="28321" h="24384">
                <a:moveTo>
                  <a:pt x="28321" y="12192"/>
                </a:moveTo>
                <a:lnTo>
                  <a:pt x="0" y="0"/>
                </a:lnTo>
                <a:lnTo>
                  <a:pt x="0" y="24384"/>
                </a:lnTo>
                <a:close/>
              </a:path>
            </a:pathLst>
          </a:custGeom>
          <a:solidFill>
            <a:srgbClr val="77828C"/>
          </a:solidFill>
          <a:ln w="0" cap="rnd">
            <a:noFill/>
          </a:ln>
        </p:spPr>
      </p:sp>
      <p:sp>
        <p:nvSpPr>
          <p:cNvPr id="34" name="文本框 33">
            <a:extLst>
              <a:ext uri="{FF2B5EF4-FFF2-40B4-BE49-F238E27FC236}">
                <a16:creationId xmlns:a16="http://schemas.microsoft.com/office/drawing/2014/main" id="{04021CE7-7079-B8B1-FE1F-2395F0A6A9F4}"/>
              </a:ext>
            </a:extLst>
          </p:cNvPr>
          <p:cNvSpPr txBox="1"/>
          <p:nvPr/>
        </p:nvSpPr>
        <p:spPr>
          <a:xfrm>
            <a:off x="2776387" y="1439947"/>
            <a:ext cx="502061" cy="197618"/>
          </a:xfrm>
          <a:prstGeom prst="rect">
            <a:avLst/>
          </a:prstGeom>
          <a:noFill/>
        </p:spPr>
        <p:txBody>
          <a:bodyPr wrap="none" rtlCol="0">
            <a:spAutoFit/>
          </a:bodyPr>
          <a:lstStyle/>
          <a:p>
            <a:pPr algn="ctr">
              <a:lnSpc>
                <a:spcPct val="105000"/>
              </a:lnSpc>
            </a:pPr>
            <a:r>
              <a:rPr lang="en-US" altLang="zh-CN" sz="650" i="1" dirty="0">
                <a:solidFill>
                  <a:srgbClr val="263442"/>
                </a:solidFill>
                <a:latin typeface="Arial"/>
              </a:rPr>
              <a:t>Recycle</a:t>
            </a:r>
          </a:p>
        </p:txBody>
      </p:sp>
      <p:grpSp>
        <p:nvGrpSpPr>
          <p:cNvPr id="21" name="Find candidate blob 2">
            <a:extLst>
              <a:ext uri="{FF2B5EF4-FFF2-40B4-BE49-F238E27FC236}">
                <a16:creationId xmlns:a16="http://schemas.microsoft.com/office/drawing/2014/main" id="{7CF4B83B-CE40-0943-83BF-857F63F584FC}"/>
              </a:ext>
            </a:extLst>
          </p:cNvPr>
          <p:cNvGrpSpPr/>
          <p:nvPr/>
        </p:nvGrpSpPr>
        <p:grpSpPr>
          <a:xfrm rot="3197729">
            <a:off x="4586768" y="633066"/>
            <a:ext cx="35227" cy="29704"/>
            <a:chOff x="1928706" y="3559489"/>
            <a:chExt cx="227897" cy="155682"/>
          </a:xfrm>
        </p:grpSpPr>
        <p:sp>
          <p:nvSpPr>
            <p:cNvPr id="23" name="Candidate blob | editable contour">
              <a:extLst>
                <a:ext uri="{FF2B5EF4-FFF2-40B4-BE49-F238E27FC236}">
                  <a16:creationId xmlns:a16="http://schemas.microsoft.com/office/drawing/2014/main" id="{0EF5C813-7F44-77DD-67FE-EE476608E03B}"/>
                </a:ext>
              </a:extLst>
            </p:cNvPr>
            <p:cNvSpPr/>
            <p:nvPr/>
          </p:nvSpPr>
          <p:spPr>
            <a:xfrm>
              <a:off x="1928706" y="3559489"/>
              <a:ext cx="227897" cy="155682"/>
            </a:xfrm>
            <a:custGeom>
              <a:avLst/>
              <a:gdLst/>
              <a:ahLst/>
              <a:cxnLst/>
              <a:rect l="0" t="0" r="w" b="h"/>
              <a:pathLst>
                <a:path w="227897" h="155682" extrusionOk="0">
                  <a:moveTo>
                    <a:pt x="3521" y="100385"/>
                  </a:moveTo>
                  <a:cubicBezTo>
                    <a:pt x="0" y="80701"/>
                    <a:pt x="26006" y="62787"/>
                    <a:pt x="43453" y="54263"/>
                  </a:cubicBezTo>
                  <a:cubicBezTo>
                    <a:pt x="58843" y="43224"/>
                    <a:pt x="83460" y="52781"/>
                    <a:pt x="99588" y="43358"/>
                  </a:cubicBezTo>
                  <a:cubicBezTo>
                    <a:pt x="112436" y="32945"/>
                    <a:pt x="102548" y="9475"/>
                    <a:pt x="114181" y="4123"/>
                  </a:cubicBezTo>
                  <a:cubicBezTo>
                    <a:pt x="125241" y="0"/>
                    <a:pt x="158214" y="2398"/>
                    <a:pt x="179365" y="5837"/>
                  </a:cubicBezTo>
                  <a:cubicBezTo>
                    <a:pt x="197301" y="9996"/>
                    <a:pt x="210134" y="19340"/>
                    <a:pt x="216909" y="31256"/>
                  </a:cubicBezTo>
                  <a:cubicBezTo>
                    <a:pt x="221237" y="45342"/>
                    <a:pt x="227897" y="67151"/>
                    <a:pt x="224378" y="79920"/>
                  </a:cubicBezTo>
                  <a:cubicBezTo>
                    <a:pt x="219253" y="92918"/>
                    <a:pt x="191986" y="104353"/>
                    <a:pt x="170629" y="115250"/>
                  </a:cubicBezTo>
                  <a:cubicBezTo>
                    <a:pt x="155563" y="129736"/>
                    <a:pt x="143418" y="146104"/>
                    <a:pt x="126157" y="151452"/>
                  </a:cubicBezTo>
                  <a:cubicBezTo>
                    <a:pt x="110048" y="155682"/>
                    <a:pt x="82946" y="155682"/>
                    <a:pt x="52808" y="150002"/>
                  </a:cubicBezTo>
                  <a:cubicBezTo>
                    <a:pt x="28847" y="143645"/>
                    <a:pt x="5675" y="118994"/>
                    <a:pt x="3521" y="100385"/>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28" name="ellipse_2612">
              <a:extLst>
                <a:ext uri="{FF2B5EF4-FFF2-40B4-BE49-F238E27FC236}">
                  <a16:creationId xmlns:a16="http://schemas.microsoft.com/office/drawing/2014/main" id="{F5FA3B82-7CD0-DDDF-A968-EC80FAC5CC54}"/>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grpSp>
        <p:nvGrpSpPr>
          <p:cNvPr id="30" name="Find candidate blob 3">
            <a:extLst>
              <a:ext uri="{FF2B5EF4-FFF2-40B4-BE49-F238E27FC236}">
                <a16:creationId xmlns:a16="http://schemas.microsoft.com/office/drawing/2014/main" id="{7DFC79E6-A537-A8EE-9E23-73695EEDEA87}"/>
              </a:ext>
            </a:extLst>
          </p:cNvPr>
          <p:cNvGrpSpPr/>
          <p:nvPr/>
        </p:nvGrpSpPr>
        <p:grpSpPr>
          <a:xfrm rot="364243">
            <a:off x="4504977" y="709850"/>
            <a:ext cx="31915" cy="32299"/>
            <a:chOff x="1928706" y="3559489"/>
            <a:chExt cx="227897" cy="155682"/>
          </a:xfrm>
        </p:grpSpPr>
        <p:sp>
          <p:nvSpPr>
            <p:cNvPr id="32" name="Candidate blob | editable contour">
              <a:extLst>
                <a:ext uri="{FF2B5EF4-FFF2-40B4-BE49-F238E27FC236}">
                  <a16:creationId xmlns:a16="http://schemas.microsoft.com/office/drawing/2014/main" id="{EF3C7BE5-312A-39EB-D945-E725D09FC5CF}"/>
                </a:ext>
              </a:extLst>
            </p:cNvPr>
            <p:cNvSpPr/>
            <p:nvPr/>
          </p:nvSpPr>
          <p:spPr>
            <a:xfrm>
              <a:off x="1928706" y="3559489"/>
              <a:ext cx="227897" cy="155682"/>
            </a:xfrm>
            <a:custGeom>
              <a:avLst/>
              <a:gdLst/>
              <a:ahLst/>
              <a:cxnLst/>
              <a:rect l="0" t="0" r="w" b="h"/>
              <a:pathLst>
                <a:path w="227897" h="155682" extrusionOk="0">
                  <a:moveTo>
                    <a:pt x="4633" y="103508"/>
                  </a:moveTo>
                  <a:cubicBezTo>
                    <a:pt x="0" y="80701"/>
                    <a:pt x="17781" y="72087"/>
                    <a:pt x="35225" y="64107"/>
                  </a:cubicBezTo>
                  <a:cubicBezTo>
                    <a:pt x="54476" y="49917"/>
                    <a:pt x="72264" y="52549"/>
                    <a:pt x="92778" y="35736"/>
                  </a:cubicBezTo>
                  <a:cubicBezTo>
                    <a:pt x="110195" y="21040"/>
                    <a:pt x="104326" y="5059"/>
                    <a:pt x="115221" y="1753"/>
                  </a:cubicBezTo>
                  <a:cubicBezTo>
                    <a:pt x="125241" y="0"/>
                    <a:pt x="159037" y="3786"/>
                    <a:pt x="180838" y="12966"/>
                  </a:cubicBezTo>
                  <a:cubicBezTo>
                    <a:pt x="198427" y="23372"/>
                    <a:pt x="209170" y="39484"/>
                    <a:pt x="212983" y="52913"/>
                  </a:cubicBezTo>
                  <a:cubicBezTo>
                    <a:pt x="216818" y="61184"/>
                    <a:pt x="227897" y="67151"/>
                    <a:pt x="223406" y="85389"/>
                  </a:cubicBezTo>
                  <a:cubicBezTo>
                    <a:pt x="220211" y="103077"/>
                    <a:pt x="208185" y="131257"/>
                    <a:pt x="201464" y="141174"/>
                  </a:cubicBezTo>
                  <a:cubicBezTo>
                    <a:pt x="189414" y="144450"/>
                    <a:pt x="161966" y="148455"/>
                    <a:pt x="136762" y="150513"/>
                  </a:cubicBezTo>
                  <a:cubicBezTo>
                    <a:pt x="110048" y="155682"/>
                    <a:pt x="82946" y="155682"/>
                    <a:pt x="72733" y="149421"/>
                  </a:cubicBezTo>
                  <a:cubicBezTo>
                    <a:pt x="54091" y="147525"/>
                    <a:pt x="13199" y="123788"/>
                    <a:pt x="4633" y="103508"/>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33" name="ellipse_2612">
              <a:extLst>
                <a:ext uri="{FF2B5EF4-FFF2-40B4-BE49-F238E27FC236}">
                  <a16:creationId xmlns:a16="http://schemas.microsoft.com/office/drawing/2014/main" id="{0A4821A8-67B8-19F4-30E2-0FE8715E5DA6}"/>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grpSp>
        <p:nvGrpSpPr>
          <p:cNvPr id="38" name="Find candidate blob 1">
            <a:extLst>
              <a:ext uri="{FF2B5EF4-FFF2-40B4-BE49-F238E27FC236}">
                <a16:creationId xmlns:a16="http://schemas.microsoft.com/office/drawing/2014/main" id="{D9521CD7-F7FB-7490-A23A-67B39E4FD95D}"/>
              </a:ext>
            </a:extLst>
          </p:cNvPr>
          <p:cNvGrpSpPr/>
          <p:nvPr/>
        </p:nvGrpSpPr>
        <p:grpSpPr>
          <a:xfrm>
            <a:off x="4398123" y="745957"/>
            <a:ext cx="40973" cy="27988"/>
            <a:chOff x="1928706" y="3559489"/>
            <a:chExt cx="227897" cy="155682"/>
          </a:xfrm>
        </p:grpSpPr>
        <p:sp>
          <p:nvSpPr>
            <p:cNvPr id="39" name="Candidate blob | editable contour">
              <a:extLst>
                <a:ext uri="{FF2B5EF4-FFF2-40B4-BE49-F238E27FC236}">
                  <a16:creationId xmlns:a16="http://schemas.microsoft.com/office/drawing/2014/main" id="{B913F94B-9211-6007-A9F1-AA1E18C1D543}"/>
                </a:ext>
              </a:extLst>
            </p:cNvPr>
            <p:cNvSpPr/>
            <p:nvPr/>
          </p:nvSpPr>
          <p:spPr>
            <a:xfrm>
              <a:off x="1928706" y="3559489"/>
              <a:ext cx="227897" cy="155682"/>
            </a:xfrm>
            <a:custGeom>
              <a:avLst/>
              <a:gdLst/>
              <a:ahLst/>
              <a:cxnLst/>
              <a:rect l="0" t="0" r="w" b="h"/>
              <a:pathLst>
                <a:path w="227897" h="155682" extrusionOk="0">
                  <a:moveTo>
                    <a:pt x="5338" y="97866"/>
                  </a:moveTo>
                  <a:cubicBezTo>
                    <a:pt x="0" y="80701"/>
                    <a:pt x="18889" y="54504"/>
                    <a:pt x="29976" y="43663"/>
                  </a:cubicBezTo>
                  <a:cubicBezTo>
                    <a:pt x="41062" y="32823"/>
                    <a:pt x="58719" y="39447"/>
                    <a:pt x="71859" y="32823"/>
                  </a:cubicBezTo>
                  <a:cubicBezTo>
                    <a:pt x="84999" y="26198"/>
                    <a:pt x="92391" y="7829"/>
                    <a:pt x="108816" y="3915"/>
                  </a:cubicBezTo>
                  <a:cubicBezTo>
                    <a:pt x="125241" y="0"/>
                    <a:pt x="153984" y="3613"/>
                    <a:pt x="170409" y="9335"/>
                  </a:cubicBezTo>
                  <a:cubicBezTo>
                    <a:pt x="186834" y="15056"/>
                    <a:pt x="198332" y="26198"/>
                    <a:pt x="207366" y="38243"/>
                  </a:cubicBezTo>
                  <a:cubicBezTo>
                    <a:pt x="216399" y="50288"/>
                    <a:pt x="227897" y="67151"/>
                    <a:pt x="224612" y="81605"/>
                  </a:cubicBezTo>
                  <a:cubicBezTo>
                    <a:pt x="221327" y="96059"/>
                    <a:pt x="203259" y="113223"/>
                    <a:pt x="187656" y="124967"/>
                  </a:cubicBezTo>
                  <a:cubicBezTo>
                    <a:pt x="172052" y="136711"/>
                    <a:pt x="151931" y="148455"/>
                    <a:pt x="130989" y="152068"/>
                  </a:cubicBezTo>
                  <a:cubicBezTo>
                    <a:pt x="110048" y="155682"/>
                    <a:pt x="82946" y="155682"/>
                    <a:pt x="62004" y="146648"/>
                  </a:cubicBezTo>
                  <a:cubicBezTo>
                    <a:pt x="41062" y="137614"/>
                    <a:pt x="10676" y="115030"/>
                    <a:pt x="5338" y="97866"/>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40" name="ellipse_2612">
              <a:extLst>
                <a:ext uri="{FF2B5EF4-FFF2-40B4-BE49-F238E27FC236}">
                  <a16:creationId xmlns:a16="http://schemas.microsoft.com/office/drawing/2014/main" id="{D504CB61-AEF5-1C11-4CCF-573A1133E2A9}"/>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sp>
        <p:nvSpPr>
          <p:cNvPr id="4" name="Panel | Build background">
            <a:extLst>
              <a:ext uri="{FF2B5EF4-FFF2-40B4-BE49-F238E27FC236}">
                <a16:creationId xmlns:a16="http://schemas.microsoft.com/office/drawing/2014/main" id="{5C8759D8-E820-99EA-F876-5BE7050BEC25}"/>
              </a:ext>
            </a:extLst>
          </p:cNvPr>
          <p:cNvSpPr/>
          <p:nvPr/>
        </p:nvSpPr>
        <p:spPr>
          <a:xfrm>
            <a:off x="4868797" y="84564"/>
            <a:ext cx="1354615" cy="4331875"/>
          </a:xfrm>
          <a:prstGeom prst="roundRect">
            <a:avLst>
              <a:gd name="adj" fmla="val 2000"/>
            </a:avLst>
          </a:prstGeom>
          <a:solidFill>
            <a:srgbClr val="FAF6EE"/>
          </a:solidFill>
          <a:ln w="9720">
            <a:solidFill>
              <a:srgbClr val="E3D9C6"/>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dirty="0"/>
          </a:p>
        </p:txBody>
      </p:sp>
      <p:sp>
        <p:nvSpPr>
          <p:cNvPr id="11" name="TextBox 8">
            <a:extLst>
              <a:ext uri="{FF2B5EF4-FFF2-40B4-BE49-F238E27FC236}">
                <a16:creationId xmlns:a16="http://schemas.microsoft.com/office/drawing/2014/main" id="{53547B06-B145-0227-182F-65B5FC79796D}"/>
              </a:ext>
            </a:extLst>
          </p:cNvPr>
          <p:cNvSpPr txBox="1"/>
          <p:nvPr/>
        </p:nvSpPr>
        <p:spPr>
          <a:xfrm>
            <a:off x="4902380" y="107125"/>
            <a:ext cx="174028" cy="149656"/>
          </a:xfrm>
          <a:prstGeom prst="rect">
            <a:avLst/>
          </a:prstGeom>
          <a:noFill/>
        </p:spPr>
        <p:txBody>
          <a:bodyPr wrap="square" lIns="0" tIns="0" rIns="0" bIns="0" anchor="ctr">
            <a:spAutoFit/>
          </a:bodyPr>
          <a:lstStyle/>
          <a:p>
            <a:pPr algn="l">
              <a:lnSpc>
                <a:spcPct val="105000"/>
              </a:lnSpc>
            </a:pPr>
            <a:r>
              <a:rPr sz="995" b="1" dirty="0">
                <a:solidFill>
                  <a:srgbClr val="263442"/>
                </a:solidFill>
                <a:latin typeface="Arial"/>
              </a:rPr>
              <a:t>c</a:t>
            </a:r>
          </a:p>
        </p:txBody>
      </p:sp>
      <p:sp>
        <p:nvSpPr>
          <p:cNvPr id="12" name="TextBox 9">
            <a:extLst>
              <a:ext uri="{FF2B5EF4-FFF2-40B4-BE49-F238E27FC236}">
                <a16:creationId xmlns:a16="http://schemas.microsoft.com/office/drawing/2014/main" id="{0BAB765B-7297-35AA-9285-AD8752FD1D0B}"/>
              </a:ext>
            </a:extLst>
          </p:cNvPr>
          <p:cNvSpPr txBox="1"/>
          <p:nvPr/>
        </p:nvSpPr>
        <p:spPr>
          <a:xfrm>
            <a:off x="5060587" y="120126"/>
            <a:ext cx="1202377" cy="239809"/>
          </a:xfrm>
          <a:prstGeom prst="rect">
            <a:avLst/>
          </a:prstGeom>
          <a:noFill/>
        </p:spPr>
        <p:txBody>
          <a:bodyPr wrap="square" lIns="0" tIns="0" rIns="0" bIns="0" anchor="ctr">
            <a:spAutoFit/>
          </a:bodyPr>
          <a:lstStyle/>
          <a:p>
            <a:pPr algn="l">
              <a:lnSpc>
                <a:spcPct val="98000"/>
              </a:lnSpc>
            </a:pPr>
            <a:r>
              <a:rPr sz="795" dirty="0">
                <a:solidFill>
                  <a:srgbClr val="263442"/>
                </a:solidFill>
                <a:latin typeface="Arial"/>
              </a:rPr>
              <a:t>Build: downstream</a:t>
            </a:r>
          </a:p>
          <a:p>
            <a:pPr algn="l">
              <a:lnSpc>
                <a:spcPct val="98000"/>
              </a:lnSpc>
            </a:pPr>
            <a:r>
              <a:rPr sz="795" dirty="0">
                <a:solidFill>
                  <a:srgbClr val="263442"/>
                </a:solidFill>
                <a:latin typeface="Arial"/>
              </a:rPr>
              <a:t>pose reconstruction</a:t>
            </a:r>
          </a:p>
        </p:txBody>
      </p:sp>
      <p:sp>
        <p:nvSpPr>
          <p:cNvPr id="18" name="Build four inputs">
            <a:extLst>
              <a:ext uri="{FF2B5EF4-FFF2-40B4-BE49-F238E27FC236}">
                <a16:creationId xmlns:a16="http://schemas.microsoft.com/office/drawing/2014/main" id="{A0329BC3-EB0F-2E56-4811-1B495068839E}"/>
              </a:ext>
            </a:extLst>
          </p:cNvPr>
          <p:cNvSpPr>
            <a:spLocks noGrp="1"/>
          </p:cNvSpPr>
          <p:nvPr/>
        </p:nvSpPr>
        <p:spPr>
          <a:xfrm>
            <a:off x="4963973" y="420252"/>
            <a:ext cx="1158792" cy="1302153"/>
          </a:xfrm>
          <a:prstGeom prst="roundRect">
            <a:avLst>
              <a:gd name="adj" fmla="val 4554"/>
            </a:avLst>
          </a:prstGeom>
          <a:solidFill>
            <a:srgbClr val="FFFFFF"/>
          </a:solidFill>
          <a:ln w="7290">
            <a:solidFill>
              <a:srgbClr val="BEC7CE"/>
            </a:solidFill>
            <a:prstDash val="solid"/>
          </a:ln>
        </p:spPr>
        <p:txBody>
          <a:bodyPr/>
          <a:lstStyle/>
          <a:p>
            <a:endParaRPr lang="zh-CN" altLang="en-US" dirty="0"/>
          </a:p>
        </p:txBody>
      </p:sp>
      <p:sp>
        <p:nvSpPr>
          <p:cNvPr id="19" name="Site label">
            <a:extLst>
              <a:ext uri="{FF2B5EF4-FFF2-40B4-BE49-F238E27FC236}">
                <a16:creationId xmlns:a16="http://schemas.microsoft.com/office/drawing/2014/main" id="{3ABBE2EA-84D4-18F6-08E0-5BA41336F7C6}"/>
              </a:ext>
            </a:extLst>
          </p:cNvPr>
          <p:cNvSpPr>
            <a:spLocks noGrp="1"/>
          </p:cNvSpPr>
          <p:nvPr/>
        </p:nvSpPr>
        <p:spPr>
          <a:xfrm>
            <a:off x="4992638" y="834972"/>
            <a:ext cx="514364" cy="101253"/>
          </a:xfrm>
          <a:prstGeom prst="rect">
            <a:avLst/>
          </a:prstGeom>
          <a:noFill/>
          <a:ln w="6885">
            <a:noFill/>
            <a:prstDash val="solid"/>
          </a:ln>
        </p:spPr>
        <p:txBody>
          <a:bodyPr lIns="0" tIns="0" rIns="0" bIns="0" anchor="ctr"/>
          <a:lstStyle>
            <a:defPPr algn="ctr">
              <a:defRPr sz="695" b="1">
                <a:solidFill>
                  <a:srgbClr val="263442"/>
                </a:solidFill>
                <a:latin typeface="Arial"/>
                <a:ea typeface="Arial"/>
                <a:cs typeface="Arial"/>
              </a:defRPr>
            </a:defPPr>
            <a:lvl1pPr algn="ctr">
              <a:defRPr sz="695" b="1">
                <a:solidFill>
                  <a:srgbClr val="263442"/>
                </a:solidFill>
                <a:latin typeface="Arial"/>
                <a:ea typeface="Arial"/>
                <a:cs typeface="Arial"/>
              </a:defRPr>
            </a:lvl1pPr>
            <a:lvl2pPr algn="ctr">
              <a:defRPr sz="695" b="1">
                <a:solidFill>
                  <a:srgbClr val="263442"/>
                </a:solidFill>
                <a:latin typeface="Arial"/>
                <a:ea typeface="Arial"/>
                <a:cs typeface="Arial"/>
              </a:defRPr>
            </a:lvl2pPr>
            <a:lvl3pPr algn="ctr">
              <a:defRPr sz="695" b="1">
                <a:solidFill>
                  <a:srgbClr val="263442"/>
                </a:solidFill>
                <a:latin typeface="Arial"/>
                <a:ea typeface="Arial"/>
                <a:cs typeface="Arial"/>
              </a:defRPr>
            </a:lvl3pPr>
            <a:lvl4pPr algn="ctr">
              <a:defRPr sz="695" b="1">
                <a:solidFill>
                  <a:srgbClr val="263442"/>
                </a:solidFill>
                <a:latin typeface="Arial"/>
                <a:ea typeface="Arial"/>
                <a:cs typeface="Arial"/>
              </a:defRPr>
            </a:lvl4pPr>
            <a:lvl5pPr algn="ctr">
              <a:defRPr sz="695" b="1">
                <a:solidFill>
                  <a:srgbClr val="263442"/>
                </a:solidFill>
                <a:latin typeface="Arial"/>
                <a:ea typeface="Arial"/>
                <a:cs typeface="Arial"/>
              </a:defRPr>
            </a:lvl5pPr>
            <a:lvl6pPr algn="ctr">
              <a:defRPr sz="695" b="1">
                <a:solidFill>
                  <a:srgbClr val="263442"/>
                </a:solidFill>
                <a:latin typeface="Arial"/>
                <a:ea typeface="Arial"/>
                <a:cs typeface="Arial"/>
              </a:defRPr>
            </a:lvl6pPr>
            <a:lvl7pPr algn="ctr">
              <a:defRPr sz="695" b="1">
                <a:solidFill>
                  <a:srgbClr val="263442"/>
                </a:solidFill>
                <a:latin typeface="Arial"/>
                <a:ea typeface="Arial"/>
                <a:cs typeface="Arial"/>
              </a:defRPr>
            </a:lvl7pPr>
            <a:lvl8pPr algn="ctr">
              <a:defRPr sz="695" b="1">
                <a:solidFill>
                  <a:srgbClr val="263442"/>
                </a:solidFill>
                <a:latin typeface="Arial"/>
                <a:ea typeface="Arial"/>
                <a:cs typeface="Arial"/>
              </a:defRPr>
            </a:lvl8pPr>
            <a:lvl9pPr algn="ctr">
              <a:defRPr sz="695" b="1">
                <a:solidFill>
                  <a:srgbClr val="263442"/>
                </a:solidFill>
                <a:latin typeface="Arial"/>
                <a:ea typeface="Arial"/>
                <a:cs typeface="Arial"/>
              </a:defRPr>
            </a:lvl9pPr>
          </a:lstStyle>
          <a:p>
            <a:pPr algn="ctr">
              <a:defRPr sz="695" b="1">
                <a:solidFill>
                  <a:srgbClr val="263442"/>
                </a:solidFill>
                <a:latin typeface="Arial"/>
                <a:ea typeface="Arial"/>
                <a:cs typeface="Arial"/>
              </a:defRPr>
            </a:pPr>
            <a:r>
              <a:rPr sz="695" b="0" dirty="0">
                <a:solidFill>
                  <a:srgbClr val="263442"/>
                </a:solidFill>
                <a:latin typeface="Arial"/>
                <a:ea typeface="Arial"/>
                <a:cs typeface="Arial"/>
              </a:rPr>
              <a:t>Site</a:t>
            </a:r>
          </a:p>
        </p:txBody>
      </p:sp>
      <p:sp>
        <p:nvSpPr>
          <p:cNvPr id="20" name="Site provenance">
            <a:extLst>
              <a:ext uri="{FF2B5EF4-FFF2-40B4-BE49-F238E27FC236}">
                <a16:creationId xmlns:a16="http://schemas.microsoft.com/office/drawing/2014/main" id="{3A294C0E-9728-CC22-71BC-4F7EC8D82B94}"/>
              </a:ext>
            </a:extLst>
          </p:cNvPr>
          <p:cNvSpPr>
            <a:spLocks noGrp="1"/>
          </p:cNvSpPr>
          <p:nvPr/>
        </p:nvSpPr>
        <p:spPr>
          <a:xfrm>
            <a:off x="4999032" y="921461"/>
            <a:ext cx="514364" cy="85052"/>
          </a:xfrm>
          <a:prstGeom prst="rect">
            <a:avLst/>
          </a:prstGeom>
          <a:noFill/>
          <a:ln w="6885">
            <a:noFill/>
            <a:prstDash val="solid"/>
          </a:ln>
        </p:spPr>
        <p:txBody>
          <a:bodyPr lIns="0" tIns="0" rIns="0" bIns="0" anchor="ctr"/>
          <a:lstStyle>
            <a:defPPr algn="ctr">
              <a:defRPr sz="590" b="0">
                <a:solidFill>
                  <a:srgbClr val="263442"/>
                </a:solidFill>
                <a:latin typeface="Arial"/>
                <a:ea typeface="Arial"/>
                <a:cs typeface="Arial"/>
              </a:defRPr>
            </a:defPPr>
            <a:lvl1pPr algn="ctr">
              <a:defRPr sz="590" b="0">
                <a:solidFill>
                  <a:srgbClr val="263442"/>
                </a:solidFill>
                <a:latin typeface="Arial"/>
                <a:ea typeface="Arial"/>
                <a:cs typeface="Arial"/>
              </a:defRPr>
            </a:lvl1pPr>
            <a:lvl2pPr algn="ctr">
              <a:defRPr sz="590" b="0">
                <a:solidFill>
                  <a:srgbClr val="263442"/>
                </a:solidFill>
                <a:latin typeface="Arial"/>
                <a:ea typeface="Arial"/>
                <a:cs typeface="Arial"/>
              </a:defRPr>
            </a:lvl2pPr>
            <a:lvl3pPr algn="ctr">
              <a:defRPr sz="590" b="0">
                <a:solidFill>
                  <a:srgbClr val="263442"/>
                </a:solidFill>
                <a:latin typeface="Arial"/>
                <a:ea typeface="Arial"/>
                <a:cs typeface="Arial"/>
              </a:defRPr>
            </a:lvl3pPr>
            <a:lvl4pPr algn="ctr">
              <a:defRPr sz="590" b="0">
                <a:solidFill>
                  <a:srgbClr val="263442"/>
                </a:solidFill>
                <a:latin typeface="Arial"/>
                <a:ea typeface="Arial"/>
                <a:cs typeface="Arial"/>
              </a:defRPr>
            </a:lvl4pPr>
            <a:lvl5pPr algn="ctr">
              <a:defRPr sz="590" b="0">
                <a:solidFill>
                  <a:srgbClr val="263442"/>
                </a:solidFill>
                <a:latin typeface="Arial"/>
                <a:ea typeface="Arial"/>
                <a:cs typeface="Arial"/>
              </a:defRPr>
            </a:lvl5pPr>
            <a:lvl6pPr algn="ctr">
              <a:defRPr sz="590" b="0">
                <a:solidFill>
                  <a:srgbClr val="263442"/>
                </a:solidFill>
                <a:latin typeface="Arial"/>
                <a:ea typeface="Arial"/>
                <a:cs typeface="Arial"/>
              </a:defRPr>
            </a:lvl6pPr>
            <a:lvl7pPr algn="ctr">
              <a:defRPr sz="590" b="0">
                <a:solidFill>
                  <a:srgbClr val="263442"/>
                </a:solidFill>
                <a:latin typeface="Arial"/>
                <a:ea typeface="Arial"/>
                <a:cs typeface="Arial"/>
              </a:defRPr>
            </a:lvl7pPr>
            <a:lvl8pPr algn="ctr">
              <a:defRPr sz="590" b="0">
                <a:solidFill>
                  <a:srgbClr val="263442"/>
                </a:solidFill>
                <a:latin typeface="Arial"/>
                <a:ea typeface="Arial"/>
                <a:cs typeface="Arial"/>
              </a:defRPr>
            </a:lvl8pPr>
            <a:lvl9pPr algn="ctr">
              <a:defRPr sz="590" b="0">
                <a:solidFill>
                  <a:srgbClr val="263442"/>
                </a:solidFill>
                <a:latin typeface="Arial"/>
                <a:ea typeface="Arial"/>
                <a:cs typeface="Arial"/>
              </a:defRPr>
            </a:lvl9pPr>
          </a:lstStyle>
          <a:p>
            <a:pPr algn="ctr">
              <a:defRPr sz="590" b="0">
                <a:solidFill>
                  <a:srgbClr val="263442"/>
                </a:solidFill>
                <a:latin typeface="Arial"/>
                <a:ea typeface="Arial"/>
                <a:cs typeface="Arial"/>
              </a:defRPr>
            </a:pPr>
            <a:r>
              <a:rPr sz="550" dirty="0">
                <a:solidFill>
                  <a:srgbClr val="263442"/>
                </a:solidFill>
                <a:latin typeface="Arial"/>
                <a:ea typeface="Arial"/>
                <a:cs typeface="Arial"/>
              </a:rPr>
              <a:t>from Find</a:t>
            </a:r>
          </a:p>
        </p:txBody>
      </p:sp>
      <p:sp>
        <p:nvSpPr>
          <p:cNvPr id="22" name="Pocket label">
            <a:extLst>
              <a:ext uri="{FF2B5EF4-FFF2-40B4-BE49-F238E27FC236}">
                <a16:creationId xmlns:a16="http://schemas.microsoft.com/office/drawing/2014/main" id="{CFFA72D0-77FD-5EC7-A201-C42D9349EA1B}"/>
              </a:ext>
            </a:extLst>
          </p:cNvPr>
          <p:cNvSpPr>
            <a:spLocks noGrp="1"/>
          </p:cNvSpPr>
          <p:nvPr/>
        </p:nvSpPr>
        <p:spPr>
          <a:xfrm>
            <a:off x="5581260" y="854408"/>
            <a:ext cx="514364" cy="101253"/>
          </a:xfrm>
          <a:prstGeom prst="rect">
            <a:avLst/>
          </a:prstGeom>
          <a:noFill/>
          <a:ln w="6885">
            <a:noFill/>
            <a:prstDash val="solid"/>
          </a:ln>
        </p:spPr>
        <p:txBody>
          <a:bodyPr lIns="0" tIns="0" rIns="0" bIns="0" anchor="ctr"/>
          <a:lstStyle>
            <a:defPPr algn="ctr">
              <a:defRPr sz="695" b="1">
                <a:solidFill>
                  <a:srgbClr val="263442"/>
                </a:solidFill>
                <a:latin typeface="Arial"/>
                <a:ea typeface="Arial"/>
                <a:cs typeface="Arial"/>
              </a:defRPr>
            </a:defPPr>
            <a:lvl1pPr algn="ctr">
              <a:defRPr sz="695" b="1">
                <a:solidFill>
                  <a:srgbClr val="263442"/>
                </a:solidFill>
                <a:latin typeface="Arial"/>
                <a:ea typeface="Arial"/>
                <a:cs typeface="Arial"/>
              </a:defRPr>
            </a:lvl1pPr>
            <a:lvl2pPr algn="ctr">
              <a:defRPr sz="695" b="1">
                <a:solidFill>
                  <a:srgbClr val="263442"/>
                </a:solidFill>
                <a:latin typeface="Arial"/>
                <a:ea typeface="Arial"/>
                <a:cs typeface="Arial"/>
              </a:defRPr>
            </a:lvl2pPr>
            <a:lvl3pPr algn="ctr">
              <a:defRPr sz="695" b="1">
                <a:solidFill>
                  <a:srgbClr val="263442"/>
                </a:solidFill>
                <a:latin typeface="Arial"/>
                <a:ea typeface="Arial"/>
                <a:cs typeface="Arial"/>
              </a:defRPr>
            </a:lvl3pPr>
            <a:lvl4pPr algn="ctr">
              <a:defRPr sz="695" b="1">
                <a:solidFill>
                  <a:srgbClr val="263442"/>
                </a:solidFill>
                <a:latin typeface="Arial"/>
                <a:ea typeface="Arial"/>
                <a:cs typeface="Arial"/>
              </a:defRPr>
            </a:lvl4pPr>
            <a:lvl5pPr algn="ctr">
              <a:defRPr sz="695" b="1">
                <a:solidFill>
                  <a:srgbClr val="263442"/>
                </a:solidFill>
                <a:latin typeface="Arial"/>
                <a:ea typeface="Arial"/>
                <a:cs typeface="Arial"/>
              </a:defRPr>
            </a:lvl5pPr>
            <a:lvl6pPr algn="ctr">
              <a:defRPr sz="695" b="1">
                <a:solidFill>
                  <a:srgbClr val="263442"/>
                </a:solidFill>
                <a:latin typeface="Arial"/>
                <a:ea typeface="Arial"/>
                <a:cs typeface="Arial"/>
              </a:defRPr>
            </a:lvl6pPr>
            <a:lvl7pPr algn="ctr">
              <a:defRPr sz="695" b="1">
                <a:solidFill>
                  <a:srgbClr val="263442"/>
                </a:solidFill>
                <a:latin typeface="Arial"/>
                <a:ea typeface="Arial"/>
                <a:cs typeface="Arial"/>
              </a:defRPr>
            </a:lvl7pPr>
            <a:lvl8pPr algn="ctr">
              <a:defRPr sz="695" b="1">
                <a:solidFill>
                  <a:srgbClr val="263442"/>
                </a:solidFill>
                <a:latin typeface="Arial"/>
                <a:ea typeface="Arial"/>
                <a:cs typeface="Arial"/>
              </a:defRPr>
            </a:lvl8pPr>
            <a:lvl9pPr algn="ctr">
              <a:defRPr sz="695" b="1">
                <a:solidFill>
                  <a:srgbClr val="263442"/>
                </a:solidFill>
                <a:latin typeface="Arial"/>
                <a:ea typeface="Arial"/>
                <a:cs typeface="Arial"/>
              </a:defRPr>
            </a:lvl9pPr>
          </a:lstStyle>
          <a:p>
            <a:pPr algn="ctr">
              <a:defRPr sz="695" b="1">
                <a:solidFill>
                  <a:srgbClr val="263442"/>
                </a:solidFill>
                <a:latin typeface="Arial"/>
                <a:ea typeface="Arial"/>
                <a:cs typeface="Arial"/>
              </a:defRPr>
            </a:pPr>
            <a:r>
              <a:rPr sz="695" b="0" dirty="0">
                <a:solidFill>
                  <a:srgbClr val="263442"/>
                </a:solidFill>
                <a:latin typeface="Arial"/>
                <a:ea typeface="Arial"/>
                <a:cs typeface="Arial"/>
              </a:rPr>
              <a:t>Pocket</a:t>
            </a:r>
          </a:p>
        </p:txBody>
      </p:sp>
      <p:sp>
        <p:nvSpPr>
          <p:cNvPr id="24" name="SMILES label">
            <a:extLst>
              <a:ext uri="{FF2B5EF4-FFF2-40B4-BE49-F238E27FC236}">
                <a16:creationId xmlns:a16="http://schemas.microsoft.com/office/drawing/2014/main" id="{45C4D481-AB22-92F5-034E-C9801A68809F}"/>
              </a:ext>
            </a:extLst>
          </p:cNvPr>
          <p:cNvSpPr>
            <a:spLocks noGrp="1"/>
          </p:cNvSpPr>
          <p:nvPr/>
        </p:nvSpPr>
        <p:spPr>
          <a:xfrm>
            <a:off x="4999664" y="1480722"/>
            <a:ext cx="514364" cy="101253"/>
          </a:xfrm>
          <a:prstGeom prst="rect">
            <a:avLst/>
          </a:prstGeom>
          <a:noFill/>
          <a:ln w="6885">
            <a:noFill/>
            <a:prstDash val="solid"/>
          </a:ln>
        </p:spPr>
        <p:txBody>
          <a:bodyPr lIns="0" tIns="0" rIns="0" bIns="0" anchor="ctr"/>
          <a:lstStyle>
            <a:defPPr algn="ctr">
              <a:defRPr sz="695" b="1">
                <a:solidFill>
                  <a:srgbClr val="263442"/>
                </a:solidFill>
                <a:latin typeface="Arial"/>
                <a:ea typeface="Arial"/>
                <a:cs typeface="Arial"/>
              </a:defRPr>
            </a:defPPr>
            <a:lvl1pPr algn="ctr">
              <a:defRPr sz="695" b="1">
                <a:solidFill>
                  <a:srgbClr val="263442"/>
                </a:solidFill>
                <a:latin typeface="Arial"/>
                <a:ea typeface="Arial"/>
                <a:cs typeface="Arial"/>
              </a:defRPr>
            </a:lvl1pPr>
            <a:lvl2pPr algn="ctr">
              <a:defRPr sz="695" b="1">
                <a:solidFill>
                  <a:srgbClr val="263442"/>
                </a:solidFill>
                <a:latin typeface="Arial"/>
                <a:ea typeface="Arial"/>
                <a:cs typeface="Arial"/>
              </a:defRPr>
            </a:lvl2pPr>
            <a:lvl3pPr algn="ctr">
              <a:defRPr sz="695" b="1">
                <a:solidFill>
                  <a:srgbClr val="263442"/>
                </a:solidFill>
                <a:latin typeface="Arial"/>
                <a:ea typeface="Arial"/>
                <a:cs typeface="Arial"/>
              </a:defRPr>
            </a:lvl3pPr>
            <a:lvl4pPr algn="ctr">
              <a:defRPr sz="695" b="1">
                <a:solidFill>
                  <a:srgbClr val="263442"/>
                </a:solidFill>
                <a:latin typeface="Arial"/>
                <a:ea typeface="Arial"/>
                <a:cs typeface="Arial"/>
              </a:defRPr>
            </a:lvl4pPr>
            <a:lvl5pPr algn="ctr">
              <a:defRPr sz="695" b="1">
                <a:solidFill>
                  <a:srgbClr val="263442"/>
                </a:solidFill>
                <a:latin typeface="Arial"/>
                <a:ea typeface="Arial"/>
                <a:cs typeface="Arial"/>
              </a:defRPr>
            </a:lvl5pPr>
            <a:lvl6pPr algn="ctr">
              <a:defRPr sz="695" b="1">
                <a:solidFill>
                  <a:srgbClr val="263442"/>
                </a:solidFill>
                <a:latin typeface="Arial"/>
                <a:ea typeface="Arial"/>
                <a:cs typeface="Arial"/>
              </a:defRPr>
            </a:lvl6pPr>
            <a:lvl7pPr algn="ctr">
              <a:defRPr sz="695" b="1">
                <a:solidFill>
                  <a:srgbClr val="263442"/>
                </a:solidFill>
                <a:latin typeface="Arial"/>
                <a:ea typeface="Arial"/>
                <a:cs typeface="Arial"/>
              </a:defRPr>
            </a:lvl7pPr>
            <a:lvl8pPr algn="ctr">
              <a:defRPr sz="695" b="1">
                <a:solidFill>
                  <a:srgbClr val="263442"/>
                </a:solidFill>
                <a:latin typeface="Arial"/>
                <a:ea typeface="Arial"/>
                <a:cs typeface="Arial"/>
              </a:defRPr>
            </a:lvl8pPr>
            <a:lvl9pPr algn="ctr">
              <a:defRPr sz="695" b="1">
                <a:solidFill>
                  <a:srgbClr val="263442"/>
                </a:solidFill>
                <a:latin typeface="Arial"/>
                <a:ea typeface="Arial"/>
                <a:cs typeface="Arial"/>
              </a:defRPr>
            </a:lvl9pPr>
          </a:lstStyle>
          <a:p>
            <a:pPr algn="ctr">
              <a:defRPr sz="695" b="1">
                <a:solidFill>
                  <a:srgbClr val="263442"/>
                </a:solidFill>
                <a:latin typeface="Arial"/>
                <a:ea typeface="Arial"/>
                <a:cs typeface="Arial"/>
              </a:defRPr>
            </a:pPr>
            <a:r>
              <a:rPr sz="695" b="0" dirty="0">
                <a:solidFill>
                  <a:srgbClr val="263442"/>
                </a:solidFill>
                <a:latin typeface="Arial"/>
                <a:ea typeface="Arial"/>
                <a:cs typeface="Arial"/>
              </a:rPr>
              <a:t>SMILES</a:t>
            </a:r>
          </a:p>
        </p:txBody>
      </p:sp>
      <p:sp>
        <p:nvSpPr>
          <p:cNvPr id="26" name="SMILES provenance">
            <a:extLst>
              <a:ext uri="{FF2B5EF4-FFF2-40B4-BE49-F238E27FC236}">
                <a16:creationId xmlns:a16="http://schemas.microsoft.com/office/drawing/2014/main" id="{03D6AEC3-D4AF-EFB6-D45D-7486E39229BA}"/>
              </a:ext>
            </a:extLst>
          </p:cNvPr>
          <p:cNvSpPr>
            <a:spLocks noGrp="1"/>
          </p:cNvSpPr>
          <p:nvPr/>
        </p:nvSpPr>
        <p:spPr>
          <a:xfrm>
            <a:off x="5005380" y="1568821"/>
            <a:ext cx="514364" cy="85052"/>
          </a:xfrm>
          <a:prstGeom prst="rect">
            <a:avLst/>
          </a:prstGeom>
          <a:noFill/>
          <a:ln w="6885">
            <a:noFill/>
            <a:prstDash val="solid"/>
          </a:ln>
        </p:spPr>
        <p:txBody>
          <a:bodyPr lIns="0" tIns="0" rIns="0" bIns="0" anchor="ctr"/>
          <a:lstStyle>
            <a:defPPr algn="ctr">
              <a:defRPr sz="590" b="0">
                <a:solidFill>
                  <a:srgbClr val="263442"/>
                </a:solidFill>
                <a:latin typeface="Arial"/>
                <a:ea typeface="Arial"/>
                <a:cs typeface="Arial"/>
              </a:defRPr>
            </a:defPPr>
            <a:lvl1pPr algn="ctr">
              <a:defRPr sz="590" b="0">
                <a:solidFill>
                  <a:srgbClr val="263442"/>
                </a:solidFill>
                <a:latin typeface="Arial"/>
                <a:ea typeface="Arial"/>
                <a:cs typeface="Arial"/>
              </a:defRPr>
            </a:lvl1pPr>
            <a:lvl2pPr algn="ctr">
              <a:defRPr sz="590" b="0">
                <a:solidFill>
                  <a:srgbClr val="263442"/>
                </a:solidFill>
                <a:latin typeface="Arial"/>
                <a:ea typeface="Arial"/>
                <a:cs typeface="Arial"/>
              </a:defRPr>
            </a:lvl2pPr>
            <a:lvl3pPr algn="ctr">
              <a:defRPr sz="590" b="0">
                <a:solidFill>
                  <a:srgbClr val="263442"/>
                </a:solidFill>
                <a:latin typeface="Arial"/>
                <a:ea typeface="Arial"/>
                <a:cs typeface="Arial"/>
              </a:defRPr>
            </a:lvl3pPr>
            <a:lvl4pPr algn="ctr">
              <a:defRPr sz="590" b="0">
                <a:solidFill>
                  <a:srgbClr val="263442"/>
                </a:solidFill>
                <a:latin typeface="Arial"/>
                <a:ea typeface="Arial"/>
                <a:cs typeface="Arial"/>
              </a:defRPr>
            </a:lvl4pPr>
            <a:lvl5pPr algn="ctr">
              <a:defRPr sz="590" b="0">
                <a:solidFill>
                  <a:srgbClr val="263442"/>
                </a:solidFill>
                <a:latin typeface="Arial"/>
                <a:ea typeface="Arial"/>
                <a:cs typeface="Arial"/>
              </a:defRPr>
            </a:lvl5pPr>
            <a:lvl6pPr algn="ctr">
              <a:defRPr sz="590" b="0">
                <a:solidFill>
                  <a:srgbClr val="263442"/>
                </a:solidFill>
                <a:latin typeface="Arial"/>
                <a:ea typeface="Arial"/>
                <a:cs typeface="Arial"/>
              </a:defRPr>
            </a:lvl6pPr>
            <a:lvl7pPr algn="ctr">
              <a:defRPr sz="590" b="0">
                <a:solidFill>
                  <a:srgbClr val="263442"/>
                </a:solidFill>
                <a:latin typeface="Arial"/>
                <a:ea typeface="Arial"/>
                <a:cs typeface="Arial"/>
              </a:defRPr>
            </a:lvl7pPr>
            <a:lvl8pPr algn="ctr">
              <a:defRPr sz="590" b="0">
                <a:solidFill>
                  <a:srgbClr val="263442"/>
                </a:solidFill>
                <a:latin typeface="Arial"/>
                <a:ea typeface="Arial"/>
                <a:cs typeface="Arial"/>
              </a:defRPr>
            </a:lvl8pPr>
            <a:lvl9pPr algn="ctr">
              <a:defRPr sz="590" b="0">
                <a:solidFill>
                  <a:srgbClr val="263442"/>
                </a:solidFill>
                <a:latin typeface="Arial"/>
                <a:ea typeface="Arial"/>
                <a:cs typeface="Arial"/>
              </a:defRPr>
            </a:lvl9pPr>
          </a:lstStyle>
          <a:p>
            <a:pPr algn="ctr">
              <a:defRPr sz="590" b="0">
                <a:solidFill>
                  <a:srgbClr val="263442"/>
                </a:solidFill>
                <a:latin typeface="Arial"/>
                <a:ea typeface="Arial"/>
                <a:cs typeface="Arial"/>
              </a:defRPr>
            </a:pPr>
            <a:r>
              <a:rPr sz="550" dirty="0">
                <a:solidFill>
                  <a:srgbClr val="263442"/>
                </a:solidFill>
                <a:latin typeface="Arial"/>
                <a:ea typeface="Arial"/>
                <a:cs typeface="Arial"/>
              </a:rPr>
              <a:t>from Match</a:t>
            </a:r>
          </a:p>
        </p:txBody>
      </p:sp>
      <p:sp>
        <p:nvSpPr>
          <p:cNvPr id="27" name="Density input label">
            <a:extLst>
              <a:ext uri="{FF2B5EF4-FFF2-40B4-BE49-F238E27FC236}">
                <a16:creationId xmlns:a16="http://schemas.microsoft.com/office/drawing/2014/main" id="{F5A5D91D-7C6A-0989-5893-DC034D895FF0}"/>
              </a:ext>
            </a:extLst>
          </p:cNvPr>
          <p:cNvSpPr>
            <a:spLocks noGrp="1"/>
          </p:cNvSpPr>
          <p:nvPr/>
        </p:nvSpPr>
        <p:spPr>
          <a:xfrm>
            <a:off x="5574918" y="1480706"/>
            <a:ext cx="514364" cy="101253"/>
          </a:xfrm>
          <a:prstGeom prst="rect">
            <a:avLst/>
          </a:prstGeom>
          <a:noFill/>
          <a:ln w="6885">
            <a:noFill/>
            <a:prstDash val="solid"/>
          </a:ln>
        </p:spPr>
        <p:txBody>
          <a:bodyPr lIns="0" tIns="0" rIns="0" bIns="0" anchor="ctr"/>
          <a:lstStyle>
            <a:defPPr algn="ctr">
              <a:defRPr sz="695" b="1">
                <a:solidFill>
                  <a:srgbClr val="263442"/>
                </a:solidFill>
                <a:latin typeface="Arial"/>
                <a:ea typeface="Arial"/>
                <a:cs typeface="Arial"/>
              </a:defRPr>
            </a:defPPr>
            <a:lvl1pPr algn="ctr">
              <a:defRPr sz="695" b="1">
                <a:solidFill>
                  <a:srgbClr val="263442"/>
                </a:solidFill>
                <a:latin typeface="Arial"/>
                <a:ea typeface="Arial"/>
                <a:cs typeface="Arial"/>
              </a:defRPr>
            </a:lvl1pPr>
            <a:lvl2pPr algn="ctr">
              <a:defRPr sz="695" b="1">
                <a:solidFill>
                  <a:srgbClr val="263442"/>
                </a:solidFill>
                <a:latin typeface="Arial"/>
                <a:ea typeface="Arial"/>
                <a:cs typeface="Arial"/>
              </a:defRPr>
            </a:lvl2pPr>
            <a:lvl3pPr algn="ctr">
              <a:defRPr sz="695" b="1">
                <a:solidFill>
                  <a:srgbClr val="263442"/>
                </a:solidFill>
                <a:latin typeface="Arial"/>
                <a:ea typeface="Arial"/>
                <a:cs typeface="Arial"/>
              </a:defRPr>
            </a:lvl3pPr>
            <a:lvl4pPr algn="ctr">
              <a:defRPr sz="695" b="1">
                <a:solidFill>
                  <a:srgbClr val="263442"/>
                </a:solidFill>
                <a:latin typeface="Arial"/>
                <a:ea typeface="Arial"/>
                <a:cs typeface="Arial"/>
              </a:defRPr>
            </a:lvl4pPr>
            <a:lvl5pPr algn="ctr">
              <a:defRPr sz="695" b="1">
                <a:solidFill>
                  <a:srgbClr val="263442"/>
                </a:solidFill>
                <a:latin typeface="Arial"/>
                <a:ea typeface="Arial"/>
                <a:cs typeface="Arial"/>
              </a:defRPr>
            </a:lvl5pPr>
            <a:lvl6pPr algn="ctr">
              <a:defRPr sz="695" b="1">
                <a:solidFill>
                  <a:srgbClr val="263442"/>
                </a:solidFill>
                <a:latin typeface="Arial"/>
                <a:ea typeface="Arial"/>
                <a:cs typeface="Arial"/>
              </a:defRPr>
            </a:lvl6pPr>
            <a:lvl7pPr algn="ctr">
              <a:defRPr sz="695" b="1">
                <a:solidFill>
                  <a:srgbClr val="263442"/>
                </a:solidFill>
                <a:latin typeface="Arial"/>
                <a:ea typeface="Arial"/>
                <a:cs typeface="Arial"/>
              </a:defRPr>
            </a:lvl7pPr>
            <a:lvl8pPr algn="ctr">
              <a:defRPr sz="695" b="1">
                <a:solidFill>
                  <a:srgbClr val="263442"/>
                </a:solidFill>
                <a:latin typeface="Arial"/>
                <a:ea typeface="Arial"/>
                <a:cs typeface="Arial"/>
              </a:defRPr>
            </a:lvl8pPr>
            <a:lvl9pPr algn="ctr">
              <a:defRPr sz="695" b="1">
                <a:solidFill>
                  <a:srgbClr val="263442"/>
                </a:solidFill>
                <a:latin typeface="Arial"/>
                <a:ea typeface="Arial"/>
                <a:cs typeface="Arial"/>
              </a:defRPr>
            </a:lvl9pPr>
          </a:lstStyle>
          <a:p>
            <a:pPr algn="ctr">
              <a:defRPr sz="695" b="1">
                <a:solidFill>
                  <a:srgbClr val="263442"/>
                </a:solidFill>
                <a:latin typeface="Arial"/>
                <a:ea typeface="Arial"/>
                <a:cs typeface="Arial"/>
              </a:defRPr>
            </a:pPr>
            <a:r>
              <a:rPr sz="695" b="0" dirty="0">
                <a:solidFill>
                  <a:srgbClr val="263442"/>
                </a:solidFill>
                <a:latin typeface="Arial"/>
                <a:ea typeface="Arial"/>
                <a:cs typeface="Arial"/>
              </a:rPr>
              <a:t>Density</a:t>
            </a:r>
          </a:p>
        </p:txBody>
      </p:sp>
      <p:pic>
        <p:nvPicPr>
          <p:cNvPr id="35" name="Build corresponding experimental density" descr="Experimental 9LLG density around chain C1 of the displayed CryoAtom2 receptor, at the original contour level and the identical camera orientation.">
            <a:extLst>
              <a:ext uri="{FF2B5EF4-FFF2-40B4-BE49-F238E27FC236}">
                <a16:creationId xmlns:a16="http://schemas.microsoft.com/office/drawing/2014/main" id="{C097EAB3-6E6A-A763-EB93-BE3F8BA29676}"/>
              </a:ext>
            </a:extLst>
          </p:cNvPr>
          <p:cNvPicPr/>
          <p:nvPr/>
        </p:nvPicPr>
        <p:blipFill>
          <a:blip r:embed="rId4"/>
          <a:stretch>
            <a:fillRect/>
          </a:stretch>
        </p:blipFill>
        <p:spPr>
          <a:xfrm>
            <a:off x="5657542" y="1104265"/>
            <a:ext cx="361766" cy="345440"/>
          </a:xfrm>
          <a:prstGeom prst="rect">
            <a:avLst/>
          </a:prstGeom>
        </p:spPr>
      </p:pic>
      <p:sp>
        <p:nvSpPr>
          <p:cNvPr id="36" name="V8 Build site and identity frame">
            <a:extLst>
              <a:ext uri="{FF2B5EF4-FFF2-40B4-BE49-F238E27FC236}">
                <a16:creationId xmlns:a16="http://schemas.microsoft.com/office/drawing/2014/main" id="{8DED3B8F-A0F8-59D4-3223-3251BEB746DF}"/>
              </a:ext>
            </a:extLst>
          </p:cNvPr>
          <p:cNvSpPr/>
          <p:nvPr/>
        </p:nvSpPr>
        <p:spPr>
          <a:xfrm>
            <a:off x="4996634" y="457662"/>
            <a:ext cx="519754" cy="1228090"/>
          </a:xfrm>
          <a:prstGeom prst="roundRect">
            <a:avLst>
              <a:gd name="adj" fmla="val 5556"/>
            </a:avLst>
          </a:prstGeom>
          <a:noFill/>
          <a:ln w="6985" cap="rnd">
            <a:solidFill>
              <a:srgbClr val="BEC7CE"/>
            </a:solidFill>
            <a:prstDash val="dash"/>
            <a:round/>
          </a:ln>
        </p:spPr>
      </p:sp>
      <p:sp>
        <p:nvSpPr>
          <p:cNvPr id="37" name="V8 Build pocket and density frame">
            <a:extLst>
              <a:ext uri="{FF2B5EF4-FFF2-40B4-BE49-F238E27FC236}">
                <a16:creationId xmlns:a16="http://schemas.microsoft.com/office/drawing/2014/main" id="{C2E8B226-1B47-ED66-62FA-E9998FBBFBD3}"/>
              </a:ext>
            </a:extLst>
          </p:cNvPr>
          <p:cNvSpPr/>
          <p:nvPr/>
        </p:nvSpPr>
        <p:spPr>
          <a:xfrm>
            <a:off x="5564187" y="456353"/>
            <a:ext cx="527685" cy="1228090"/>
          </a:xfrm>
          <a:prstGeom prst="roundRect">
            <a:avLst>
              <a:gd name="adj" fmla="val 6477"/>
            </a:avLst>
          </a:prstGeom>
          <a:noFill/>
          <a:ln w="6985" cap="rnd">
            <a:solidFill>
              <a:srgbClr val="BEC7CE"/>
            </a:solidFill>
            <a:prstDash val="dash"/>
            <a:round/>
          </a:ln>
        </p:spPr>
      </p:sp>
      <p:grpSp>
        <p:nvGrpSpPr>
          <p:cNvPr id="41" name="Match | Blob contour">
            <a:extLst>
              <a:ext uri="{FF2B5EF4-FFF2-40B4-BE49-F238E27FC236}">
                <a16:creationId xmlns:a16="http://schemas.microsoft.com/office/drawing/2014/main" id="{7F95A5E8-09B4-799A-65C1-8A98617762A5}"/>
              </a:ext>
            </a:extLst>
          </p:cNvPr>
          <p:cNvGrpSpPr/>
          <p:nvPr/>
        </p:nvGrpSpPr>
        <p:grpSpPr>
          <a:xfrm>
            <a:off x="5095498" y="565131"/>
            <a:ext cx="291608" cy="199265"/>
            <a:chOff x="1928706" y="3559489"/>
            <a:chExt cx="227897" cy="155682"/>
          </a:xfrm>
        </p:grpSpPr>
        <p:sp>
          <p:nvSpPr>
            <p:cNvPr id="42" name="Candidate blob | editable contour">
              <a:extLst>
                <a:ext uri="{FF2B5EF4-FFF2-40B4-BE49-F238E27FC236}">
                  <a16:creationId xmlns:a16="http://schemas.microsoft.com/office/drawing/2014/main" id="{2EED5484-EA28-3798-9D34-58B0137332F5}"/>
                </a:ext>
              </a:extLst>
            </p:cNvPr>
            <p:cNvSpPr/>
            <p:nvPr/>
          </p:nvSpPr>
          <p:spPr>
            <a:xfrm>
              <a:off x="1928706" y="3559489"/>
              <a:ext cx="227897" cy="155682"/>
            </a:xfrm>
            <a:custGeom>
              <a:avLst/>
              <a:gdLst/>
              <a:ahLst/>
              <a:cxnLst/>
              <a:rect l="0" t="0" r="w" b="h"/>
              <a:pathLst>
                <a:path w="227897" h="155682" extrusionOk="0">
                  <a:moveTo>
                    <a:pt x="5338" y="97866"/>
                  </a:moveTo>
                  <a:cubicBezTo>
                    <a:pt x="0" y="80701"/>
                    <a:pt x="18889" y="54504"/>
                    <a:pt x="29976" y="43663"/>
                  </a:cubicBezTo>
                  <a:cubicBezTo>
                    <a:pt x="41062" y="32823"/>
                    <a:pt x="58719" y="39447"/>
                    <a:pt x="71859" y="32823"/>
                  </a:cubicBezTo>
                  <a:cubicBezTo>
                    <a:pt x="84999" y="26198"/>
                    <a:pt x="92391" y="7829"/>
                    <a:pt x="108816" y="3915"/>
                  </a:cubicBezTo>
                  <a:cubicBezTo>
                    <a:pt x="125241" y="0"/>
                    <a:pt x="153984" y="3613"/>
                    <a:pt x="170409" y="9335"/>
                  </a:cubicBezTo>
                  <a:cubicBezTo>
                    <a:pt x="186834" y="15056"/>
                    <a:pt x="198332" y="26198"/>
                    <a:pt x="207366" y="38243"/>
                  </a:cubicBezTo>
                  <a:cubicBezTo>
                    <a:pt x="216399" y="50288"/>
                    <a:pt x="227897" y="67151"/>
                    <a:pt x="224612" y="81605"/>
                  </a:cubicBezTo>
                  <a:cubicBezTo>
                    <a:pt x="221327" y="96059"/>
                    <a:pt x="203259" y="113223"/>
                    <a:pt x="187656" y="124967"/>
                  </a:cubicBezTo>
                  <a:cubicBezTo>
                    <a:pt x="172052" y="136711"/>
                    <a:pt x="151931" y="148455"/>
                    <a:pt x="130989" y="152068"/>
                  </a:cubicBezTo>
                  <a:cubicBezTo>
                    <a:pt x="110048" y="155682"/>
                    <a:pt x="82946" y="155682"/>
                    <a:pt x="62004" y="146648"/>
                  </a:cubicBezTo>
                  <a:cubicBezTo>
                    <a:pt x="41062" y="137614"/>
                    <a:pt x="10676" y="115030"/>
                    <a:pt x="5338" y="97866"/>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43" name="ellipse_2612">
              <a:extLst>
                <a:ext uri="{FF2B5EF4-FFF2-40B4-BE49-F238E27FC236}">
                  <a16:creationId xmlns:a16="http://schemas.microsoft.com/office/drawing/2014/main" id="{B3A1C1B6-068E-1D85-6209-1E82D15BA31F}"/>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sp>
        <p:nvSpPr>
          <p:cNvPr id="44" name="Oval 12178">
            <a:extLst>
              <a:ext uri="{FF2B5EF4-FFF2-40B4-BE49-F238E27FC236}">
                <a16:creationId xmlns:a16="http://schemas.microsoft.com/office/drawing/2014/main" id="{8DCA3A59-6967-ABE5-8111-D41268BEF76C}"/>
              </a:ext>
            </a:extLst>
          </p:cNvPr>
          <p:cNvSpPr/>
          <p:nvPr/>
        </p:nvSpPr>
        <p:spPr>
          <a:xfrm>
            <a:off x="5224292" y="648563"/>
            <a:ext cx="34426" cy="34426"/>
          </a:xfrm>
          <a:prstGeom prst="ellipse">
            <a:avLst/>
          </a:prstGeom>
          <a:solidFill>
            <a:srgbClr val="1D4ED8"/>
          </a:solidFill>
          <a:ln w="635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pic>
        <p:nvPicPr>
          <p:cNvPr id="45" name="图片 44">
            <a:extLst>
              <a:ext uri="{FF2B5EF4-FFF2-40B4-BE49-F238E27FC236}">
                <a16:creationId xmlns:a16="http://schemas.microsoft.com/office/drawing/2014/main" id="{9B1B7FED-F57E-764F-6A1B-182658EA5568}"/>
              </a:ext>
            </a:extLst>
          </p:cNvPr>
          <p:cNvPicPr>
            <a:picLocks noChangeAspect="1"/>
          </p:cNvPicPr>
          <p:nvPr/>
        </p:nvPicPr>
        <p:blipFill>
          <a:blip r:embed="rId9"/>
          <a:stretch/>
        </p:blipFill>
        <p:spPr>
          <a:xfrm>
            <a:off x="5631445" y="485775"/>
            <a:ext cx="414760" cy="342900"/>
          </a:xfrm>
          <a:prstGeom prst="rect">
            <a:avLst/>
          </a:prstGeom>
        </p:spPr>
      </p:pic>
      <p:sp>
        <p:nvSpPr>
          <p:cNvPr id="46" name="F2-Build-selected">
            <a:extLst>
              <a:ext uri="{FF2B5EF4-FFF2-40B4-BE49-F238E27FC236}">
                <a16:creationId xmlns:a16="http://schemas.microsoft.com/office/drawing/2014/main" id="{F1DCEE3F-FDEC-E727-C343-32EF3AD6FB9D}"/>
              </a:ext>
            </a:extLst>
          </p:cNvPr>
          <p:cNvSpPr>
            <a:spLocks noGrp="1"/>
          </p:cNvSpPr>
          <p:nvPr/>
        </p:nvSpPr>
        <p:spPr>
          <a:xfrm>
            <a:off x="5054601" y="1283549"/>
            <a:ext cx="390525" cy="81915"/>
          </a:xfrm>
          <a:prstGeom prst="roundRect">
            <a:avLst>
              <a:gd name="adj" fmla="val 50000"/>
            </a:avLst>
          </a:prstGeom>
          <a:solidFill>
            <a:srgbClr val="DCF8EB"/>
          </a:solidFill>
          <a:ln w="7144">
            <a:solidFill>
              <a:srgbClr val="499D86"/>
            </a:solidFill>
          </a:ln>
        </p:spPr>
      </p:sp>
      <p:sp>
        <p:nvSpPr>
          <p:cNvPr id="47" name="F2-Build-SMILES-0">
            <a:extLst>
              <a:ext uri="{FF2B5EF4-FFF2-40B4-BE49-F238E27FC236}">
                <a16:creationId xmlns:a16="http://schemas.microsoft.com/office/drawing/2014/main" id="{0B1247E5-03A4-E4B0-F124-55E275111629}"/>
              </a:ext>
            </a:extLst>
          </p:cNvPr>
          <p:cNvSpPr>
            <a:spLocks noGrp="1"/>
          </p:cNvSpPr>
          <p:nvPr/>
        </p:nvSpPr>
        <p:spPr>
          <a:xfrm>
            <a:off x="5101503" y="1136660"/>
            <a:ext cx="361950" cy="74295"/>
          </a:xfrm>
          <a:prstGeom prst="rect">
            <a:avLst/>
          </a:prstGeom>
          <a:noFill/>
          <a:ln w="0">
            <a:noFill/>
          </a:ln>
        </p:spPr>
        <p:txBody>
          <a:bodyPr wrap="none" lIns="0" tIns="0" rIns="0" bIns="0" anchor="ctr">
            <a:noAutofit/>
          </a:bodyPr>
          <a:lstStyle>
            <a:defPPr algn="l">
              <a:defRPr sz="540" b="0">
                <a:solidFill>
                  <a:srgbClr val="263442"/>
                </a:solidFill>
                <a:latin typeface="Arial"/>
                <a:ea typeface="Arial"/>
                <a:cs typeface="Arial"/>
              </a:defRPr>
            </a:defPPr>
            <a:lvl1pPr algn="l">
              <a:defRPr sz="540" b="0">
                <a:solidFill>
                  <a:srgbClr val="263442"/>
                </a:solidFill>
                <a:latin typeface="Arial"/>
                <a:ea typeface="Arial"/>
                <a:cs typeface="Arial"/>
              </a:defRPr>
            </a:lvl1pPr>
            <a:lvl2pPr algn="l">
              <a:defRPr sz="540" b="0">
                <a:solidFill>
                  <a:srgbClr val="263442"/>
                </a:solidFill>
                <a:latin typeface="Arial"/>
                <a:ea typeface="Arial"/>
                <a:cs typeface="Arial"/>
              </a:defRPr>
            </a:lvl2pPr>
            <a:lvl3pPr algn="l">
              <a:defRPr sz="540" b="0">
                <a:solidFill>
                  <a:srgbClr val="263442"/>
                </a:solidFill>
                <a:latin typeface="Arial"/>
                <a:ea typeface="Arial"/>
                <a:cs typeface="Arial"/>
              </a:defRPr>
            </a:lvl3pPr>
            <a:lvl4pPr algn="l">
              <a:defRPr sz="540" b="0">
                <a:solidFill>
                  <a:srgbClr val="263442"/>
                </a:solidFill>
                <a:latin typeface="Arial"/>
                <a:ea typeface="Arial"/>
                <a:cs typeface="Arial"/>
              </a:defRPr>
            </a:lvl4pPr>
            <a:lvl5pPr algn="l">
              <a:defRPr sz="540" b="0">
                <a:solidFill>
                  <a:srgbClr val="263442"/>
                </a:solidFill>
                <a:latin typeface="Arial"/>
                <a:ea typeface="Arial"/>
                <a:cs typeface="Arial"/>
              </a:defRPr>
            </a:lvl5pPr>
            <a:lvl6pPr algn="l">
              <a:defRPr sz="540" b="0">
                <a:solidFill>
                  <a:srgbClr val="263442"/>
                </a:solidFill>
                <a:latin typeface="Arial"/>
                <a:ea typeface="Arial"/>
                <a:cs typeface="Arial"/>
              </a:defRPr>
            </a:lvl6pPr>
            <a:lvl7pPr algn="l">
              <a:defRPr sz="540" b="0">
                <a:solidFill>
                  <a:srgbClr val="263442"/>
                </a:solidFill>
                <a:latin typeface="Arial"/>
                <a:ea typeface="Arial"/>
                <a:cs typeface="Arial"/>
              </a:defRPr>
            </a:lvl7pPr>
            <a:lvl8pPr algn="l">
              <a:defRPr sz="540" b="0">
                <a:solidFill>
                  <a:srgbClr val="263442"/>
                </a:solidFill>
                <a:latin typeface="Arial"/>
                <a:ea typeface="Arial"/>
                <a:cs typeface="Arial"/>
              </a:defRPr>
            </a:lvl8pPr>
            <a:lvl9pPr algn="l">
              <a:defRPr sz="540" b="0">
                <a:solidFill>
                  <a:srgbClr val="263442"/>
                </a:solidFill>
                <a:latin typeface="Arial"/>
                <a:ea typeface="Arial"/>
                <a:cs typeface="Arial"/>
              </a:defRPr>
            </a:lvl9pPr>
          </a:lstStyle>
          <a:p>
            <a:pPr algn="l">
              <a:defRPr sz="540" b="0">
                <a:solidFill>
                  <a:srgbClr val="263442"/>
                </a:solidFill>
                <a:latin typeface="Arial"/>
                <a:ea typeface="Arial"/>
                <a:cs typeface="Arial"/>
              </a:defRPr>
            </a:pPr>
            <a:r>
              <a:rPr sz="480" b="0" dirty="0">
                <a:solidFill>
                  <a:srgbClr val="263442"/>
                </a:solidFill>
                <a:latin typeface="Arial"/>
                <a:ea typeface="Arial"/>
                <a:cs typeface="Arial"/>
              </a:rPr>
              <a:t>CCO</a:t>
            </a:r>
          </a:p>
        </p:txBody>
      </p:sp>
      <p:sp>
        <p:nvSpPr>
          <p:cNvPr id="48" name="F2-Build-SMILES-7.8">
            <a:extLst>
              <a:ext uri="{FF2B5EF4-FFF2-40B4-BE49-F238E27FC236}">
                <a16:creationId xmlns:a16="http://schemas.microsoft.com/office/drawing/2014/main" id="{2409C299-70AE-AB3A-E3A5-CFCF127FC07E}"/>
              </a:ext>
            </a:extLst>
          </p:cNvPr>
          <p:cNvSpPr>
            <a:spLocks noGrp="1"/>
          </p:cNvSpPr>
          <p:nvPr/>
        </p:nvSpPr>
        <p:spPr>
          <a:xfrm>
            <a:off x="5101503" y="1199841"/>
            <a:ext cx="361950" cy="74295"/>
          </a:xfrm>
          <a:prstGeom prst="rect">
            <a:avLst/>
          </a:prstGeom>
          <a:noFill/>
          <a:ln w="0">
            <a:noFill/>
          </a:ln>
        </p:spPr>
        <p:txBody>
          <a:bodyPr wrap="none" lIns="0" tIns="0" rIns="0" bIns="0" anchor="ctr">
            <a:noAutofit/>
          </a:bodyPr>
          <a:lstStyle>
            <a:defPPr algn="l">
              <a:defRPr sz="540" b="0">
                <a:solidFill>
                  <a:srgbClr val="263442"/>
                </a:solidFill>
                <a:latin typeface="Arial"/>
                <a:ea typeface="Arial"/>
                <a:cs typeface="Arial"/>
              </a:defRPr>
            </a:defPPr>
            <a:lvl1pPr algn="l">
              <a:defRPr sz="540" b="0">
                <a:solidFill>
                  <a:srgbClr val="263442"/>
                </a:solidFill>
                <a:latin typeface="Arial"/>
                <a:ea typeface="Arial"/>
                <a:cs typeface="Arial"/>
              </a:defRPr>
            </a:lvl1pPr>
            <a:lvl2pPr algn="l">
              <a:defRPr sz="540" b="0">
                <a:solidFill>
                  <a:srgbClr val="263442"/>
                </a:solidFill>
                <a:latin typeface="Arial"/>
                <a:ea typeface="Arial"/>
                <a:cs typeface="Arial"/>
              </a:defRPr>
            </a:lvl2pPr>
            <a:lvl3pPr algn="l">
              <a:defRPr sz="540" b="0">
                <a:solidFill>
                  <a:srgbClr val="263442"/>
                </a:solidFill>
                <a:latin typeface="Arial"/>
                <a:ea typeface="Arial"/>
                <a:cs typeface="Arial"/>
              </a:defRPr>
            </a:lvl3pPr>
            <a:lvl4pPr algn="l">
              <a:defRPr sz="540" b="0">
                <a:solidFill>
                  <a:srgbClr val="263442"/>
                </a:solidFill>
                <a:latin typeface="Arial"/>
                <a:ea typeface="Arial"/>
                <a:cs typeface="Arial"/>
              </a:defRPr>
            </a:lvl4pPr>
            <a:lvl5pPr algn="l">
              <a:defRPr sz="540" b="0">
                <a:solidFill>
                  <a:srgbClr val="263442"/>
                </a:solidFill>
                <a:latin typeface="Arial"/>
                <a:ea typeface="Arial"/>
                <a:cs typeface="Arial"/>
              </a:defRPr>
            </a:lvl5pPr>
            <a:lvl6pPr algn="l">
              <a:defRPr sz="540" b="0">
                <a:solidFill>
                  <a:srgbClr val="263442"/>
                </a:solidFill>
                <a:latin typeface="Arial"/>
                <a:ea typeface="Arial"/>
                <a:cs typeface="Arial"/>
              </a:defRPr>
            </a:lvl6pPr>
            <a:lvl7pPr algn="l">
              <a:defRPr sz="540" b="0">
                <a:solidFill>
                  <a:srgbClr val="263442"/>
                </a:solidFill>
                <a:latin typeface="Arial"/>
                <a:ea typeface="Arial"/>
                <a:cs typeface="Arial"/>
              </a:defRPr>
            </a:lvl7pPr>
            <a:lvl8pPr algn="l">
              <a:defRPr sz="540" b="0">
                <a:solidFill>
                  <a:srgbClr val="263442"/>
                </a:solidFill>
                <a:latin typeface="Arial"/>
                <a:ea typeface="Arial"/>
                <a:cs typeface="Arial"/>
              </a:defRPr>
            </a:lvl8pPr>
            <a:lvl9pPr algn="l">
              <a:defRPr sz="540" b="0">
                <a:solidFill>
                  <a:srgbClr val="263442"/>
                </a:solidFill>
                <a:latin typeface="Arial"/>
                <a:ea typeface="Arial"/>
                <a:cs typeface="Arial"/>
              </a:defRPr>
            </a:lvl9pPr>
          </a:lstStyle>
          <a:p>
            <a:pPr>
              <a:defRPr sz="540" b="0">
                <a:solidFill>
                  <a:srgbClr val="263442"/>
                </a:solidFill>
                <a:latin typeface="Arial"/>
                <a:ea typeface="Arial"/>
                <a:cs typeface="Arial"/>
              </a:defRPr>
            </a:pPr>
            <a:r>
              <a:rPr sz="480" dirty="0"/>
              <a:t>CC(=O)O</a:t>
            </a:r>
          </a:p>
        </p:txBody>
      </p:sp>
      <p:sp>
        <p:nvSpPr>
          <p:cNvPr id="49" name="F2-Build-continuation">
            <a:extLst>
              <a:ext uri="{FF2B5EF4-FFF2-40B4-BE49-F238E27FC236}">
                <a16:creationId xmlns:a16="http://schemas.microsoft.com/office/drawing/2014/main" id="{4E2AECBA-B019-0459-1B6F-D407C0BFF269}"/>
              </a:ext>
            </a:extLst>
          </p:cNvPr>
          <p:cNvSpPr>
            <a:spLocks noGrp="1"/>
          </p:cNvSpPr>
          <p:nvPr/>
        </p:nvSpPr>
        <p:spPr>
          <a:xfrm>
            <a:off x="5106267" y="1268735"/>
            <a:ext cx="6668" cy="6668"/>
          </a:xfrm>
          <a:prstGeom prst="ellipse">
            <a:avLst/>
          </a:prstGeom>
          <a:solidFill>
            <a:srgbClr val="687780"/>
          </a:solidFill>
          <a:ln w="0">
            <a:noFill/>
          </a:ln>
        </p:spPr>
      </p:sp>
      <p:sp>
        <p:nvSpPr>
          <p:cNvPr id="50" name="F2-Build-continuation">
            <a:extLst>
              <a:ext uri="{FF2B5EF4-FFF2-40B4-BE49-F238E27FC236}">
                <a16:creationId xmlns:a16="http://schemas.microsoft.com/office/drawing/2014/main" id="{ED1F189A-E6C3-A7A4-C079-2F5DF32603A0}"/>
              </a:ext>
            </a:extLst>
          </p:cNvPr>
          <p:cNvSpPr>
            <a:spLocks noGrp="1"/>
          </p:cNvSpPr>
          <p:nvPr/>
        </p:nvSpPr>
        <p:spPr>
          <a:xfrm>
            <a:off x="5119918" y="1268735"/>
            <a:ext cx="6668" cy="6668"/>
          </a:xfrm>
          <a:prstGeom prst="ellipse">
            <a:avLst/>
          </a:prstGeom>
          <a:solidFill>
            <a:srgbClr val="687780"/>
          </a:solidFill>
          <a:ln w="0">
            <a:noFill/>
          </a:ln>
        </p:spPr>
      </p:sp>
      <p:sp>
        <p:nvSpPr>
          <p:cNvPr id="51" name="F2-Build-continuation">
            <a:extLst>
              <a:ext uri="{FF2B5EF4-FFF2-40B4-BE49-F238E27FC236}">
                <a16:creationId xmlns:a16="http://schemas.microsoft.com/office/drawing/2014/main" id="{858BCA10-870F-E939-79DA-5FD694EA5958}"/>
              </a:ext>
            </a:extLst>
          </p:cNvPr>
          <p:cNvSpPr>
            <a:spLocks noGrp="1"/>
          </p:cNvSpPr>
          <p:nvPr/>
        </p:nvSpPr>
        <p:spPr>
          <a:xfrm>
            <a:off x="5135157" y="1268735"/>
            <a:ext cx="6668" cy="6668"/>
          </a:xfrm>
          <a:prstGeom prst="ellipse">
            <a:avLst/>
          </a:prstGeom>
          <a:solidFill>
            <a:srgbClr val="687780"/>
          </a:solidFill>
          <a:ln w="0">
            <a:noFill/>
          </a:ln>
        </p:spPr>
      </p:sp>
      <p:sp>
        <p:nvSpPr>
          <p:cNvPr id="52" name="F2-Build-SMILES-19.8">
            <a:extLst>
              <a:ext uri="{FF2B5EF4-FFF2-40B4-BE49-F238E27FC236}">
                <a16:creationId xmlns:a16="http://schemas.microsoft.com/office/drawing/2014/main" id="{D9DC38B2-9C29-0201-EA01-E526ADABEBEB}"/>
              </a:ext>
            </a:extLst>
          </p:cNvPr>
          <p:cNvSpPr>
            <a:spLocks noGrp="1"/>
          </p:cNvSpPr>
          <p:nvPr/>
        </p:nvSpPr>
        <p:spPr>
          <a:xfrm>
            <a:off x="5101503" y="1285559"/>
            <a:ext cx="361950" cy="74295"/>
          </a:xfrm>
          <a:prstGeom prst="rect">
            <a:avLst/>
          </a:prstGeom>
          <a:noFill/>
          <a:ln w="0">
            <a:noFill/>
          </a:ln>
        </p:spPr>
        <p:txBody>
          <a:bodyPr wrap="none" lIns="0" tIns="0" rIns="0" bIns="0" anchor="ctr">
            <a:noAutofit/>
          </a:bodyPr>
          <a:lstStyle>
            <a:defPPr algn="l">
              <a:defRPr sz="540" b="0">
                <a:solidFill>
                  <a:srgbClr val="24634E"/>
                </a:solidFill>
                <a:latin typeface="Arial"/>
                <a:ea typeface="Arial"/>
                <a:cs typeface="Arial"/>
              </a:defRPr>
            </a:defPPr>
            <a:lvl1pPr algn="l">
              <a:defRPr sz="540" b="0">
                <a:solidFill>
                  <a:srgbClr val="24634E"/>
                </a:solidFill>
                <a:latin typeface="Arial"/>
                <a:ea typeface="Arial"/>
                <a:cs typeface="Arial"/>
              </a:defRPr>
            </a:lvl1pPr>
            <a:lvl2pPr algn="l">
              <a:defRPr sz="540" b="0">
                <a:solidFill>
                  <a:srgbClr val="24634E"/>
                </a:solidFill>
                <a:latin typeface="Arial"/>
                <a:ea typeface="Arial"/>
                <a:cs typeface="Arial"/>
              </a:defRPr>
            </a:lvl2pPr>
            <a:lvl3pPr algn="l">
              <a:defRPr sz="540" b="0">
                <a:solidFill>
                  <a:srgbClr val="24634E"/>
                </a:solidFill>
                <a:latin typeface="Arial"/>
                <a:ea typeface="Arial"/>
                <a:cs typeface="Arial"/>
              </a:defRPr>
            </a:lvl3pPr>
            <a:lvl4pPr algn="l">
              <a:defRPr sz="540" b="0">
                <a:solidFill>
                  <a:srgbClr val="24634E"/>
                </a:solidFill>
                <a:latin typeface="Arial"/>
                <a:ea typeface="Arial"/>
                <a:cs typeface="Arial"/>
              </a:defRPr>
            </a:lvl4pPr>
            <a:lvl5pPr algn="l">
              <a:defRPr sz="540" b="0">
                <a:solidFill>
                  <a:srgbClr val="24634E"/>
                </a:solidFill>
                <a:latin typeface="Arial"/>
                <a:ea typeface="Arial"/>
                <a:cs typeface="Arial"/>
              </a:defRPr>
            </a:lvl5pPr>
            <a:lvl6pPr algn="l">
              <a:defRPr sz="540" b="0">
                <a:solidFill>
                  <a:srgbClr val="24634E"/>
                </a:solidFill>
                <a:latin typeface="Arial"/>
                <a:ea typeface="Arial"/>
                <a:cs typeface="Arial"/>
              </a:defRPr>
            </a:lvl6pPr>
            <a:lvl7pPr algn="l">
              <a:defRPr sz="540" b="0">
                <a:solidFill>
                  <a:srgbClr val="24634E"/>
                </a:solidFill>
                <a:latin typeface="Arial"/>
                <a:ea typeface="Arial"/>
                <a:cs typeface="Arial"/>
              </a:defRPr>
            </a:lvl7pPr>
            <a:lvl8pPr algn="l">
              <a:defRPr sz="540" b="0">
                <a:solidFill>
                  <a:srgbClr val="24634E"/>
                </a:solidFill>
                <a:latin typeface="Arial"/>
                <a:ea typeface="Arial"/>
                <a:cs typeface="Arial"/>
              </a:defRPr>
            </a:lvl8pPr>
            <a:lvl9pPr algn="l">
              <a:defRPr sz="540" b="0">
                <a:solidFill>
                  <a:srgbClr val="24634E"/>
                </a:solidFill>
                <a:latin typeface="Arial"/>
                <a:ea typeface="Arial"/>
                <a:cs typeface="Arial"/>
              </a:defRPr>
            </a:lvl9pPr>
          </a:lstStyle>
          <a:p>
            <a:pPr>
              <a:defRPr sz="540" b="0">
                <a:solidFill>
                  <a:srgbClr val="263442"/>
                </a:solidFill>
                <a:latin typeface="Arial"/>
                <a:ea typeface="Arial"/>
                <a:cs typeface="Arial"/>
              </a:defRPr>
            </a:pPr>
            <a:r>
              <a:rPr sz="480" dirty="0">
                <a:solidFill>
                  <a:srgbClr val="263442"/>
                </a:solidFill>
              </a:rPr>
              <a:t>Cc1ccccc1</a:t>
            </a:r>
          </a:p>
        </p:txBody>
      </p:sp>
      <p:sp>
        <p:nvSpPr>
          <p:cNvPr id="53" name="F2-Build-SMILES-27.599999999999998">
            <a:extLst>
              <a:ext uri="{FF2B5EF4-FFF2-40B4-BE49-F238E27FC236}">
                <a16:creationId xmlns:a16="http://schemas.microsoft.com/office/drawing/2014/main" id="{9FCDB680-E410-B047-7DA8-9B0A4E3B7441}"/>
              </a:ext>
            </a:extLst>
          </p:cNvPr>
          <p:cNvSpPr>
            <a:spLocks noGrp="1"/>
          </p:cNvSpPr>
          <p:nvPr/>
        </p:nvSpPr>
        <p:spPr>
          <a:xfrm>
            <a:off x="5101503" y="1359854"/>
            <a:ext cx="361950" cy="74295"/>
          </a:xfrm>
          <a:prstGeom prst="rect">
            <a:avLst/>
          </a:prstGeom>
          <a:noFill/>
          <a:ln w="0">
            <a:noFill/>
          </a:ln>
        </p:spPr>
        <p:txBody>
          <a:bodyPr wrap="none" lIns="0" tIns="0" rIns="0" bIns="0" anchor="ctr">
            <a:noAutofit/>
          </a:bodyPr>
          <a:lstStyle>
            <a:defPPr algn="l">
              <a:defRPr sz="540" b="0">
                <a:solidFill>
                  <a:srgbClr val="263442"/>
                </a:solidFill>
                <a:latin typeface="Arial"/>
                <a:ea typeface="Arial"/>
                <a:cs typeface="Arial"/>
              </a:defRPr>
            </a:defPPr>
            <a:lvl1pPr algn="l">
              <a:defRPr sz="540" b="0">
                <a:solidFill>
                  <a:srgbClr val="263442"/>
                </a:solidFill>
                <a:latin typeface="Arial"/>
                <a:ea typeface="Arial"/>
                <a:cs typeface="Arial"/>
              </a:defRPr>
            </a:lvl1pPr>
            <a:lvl2pPr algn="l">
              <a:defRPr sz="540" b="0">
                <a:solidFill>
                  <a:srgbClr val="263442"/>
                </a:solidFill>
                <a:latin typeface="Arial"/>
                <a:ea typeface="Arial"/>
                <a:cs typeface="Arial"/>
              </a:defRPr>
            </a:lvl2pPr>
            <a:lvl3pPr algn="l">
              <a:defRPr sz="540" b="0">
                <a:solidFill>
                  <a:srgbClr val="263442"/>
                </a:solidFill>
                <a:latin typeface="Arial"/>
                <a:ea typeface="Arial"/>
                <a:cs typeface="Arial"/>
              </a:defRPr>
            </a:lvl3pPr>
            <a:lvl4pPr algn="l">
              <a:defRPr sz="540" b="0">
                <a:solidFill>
                  <a:srgbClr val="263442"/>
                </a:solidFill>
                <a:latin typeface="Arial"/>
                <a:ea typeface="Arial"/>
                <a:cs typeface="Arial"/>
              </a:defRPr>
            </a:lvl4pPr>
            <a:lvl5pPr algn="l">
              <a:defRPr sz="540" b="0">
                <a:solidFill>
                  <a:srgbClr val="263442"/>
                </a:solidFill>
                <a:latin typeface="Arial"/>
                <a:ea typeface="Arial"/>
                <a:cs typeface="Arial"/>
              </a:defRPr>
            </a:lvl5pPr>
            <a:lvl6pPr algn="l">
              <a:defRPr sz="540" b="0">
                <a:solidFill>
                  <a:srgbClr val="263442"/>
                </a:solidFill>
                <a:latin typeface="Arial"/>
                <a:ea typeface="Arial"/>
                <a:cs typeface="Arial"/>
              </a:defRPr>
            </a:lvl6pPr>
            <a:lvl7pPr algn="l">
              <a:defRPr sz="540" b="0">
                <a:solidFill>
                  <a:srgbClr val="263442"/>
                </a:solidFill>
                <a:latin typeface="Arial"/>
                <a:ea typeface="Arial"/>
                <a:cs typeface="Arial"/>
              </a:defRPr>
            </a:lvl7pPr>
            <a:lvl8pPr algn="l">
              <a:defRPr sz="540" b="0">
                <a:solidFill>
                  <a:srgbClr val="263442"/>
                </a:solidFill>
                <a:latin typeface="Arial"/>
                <a:ea typeface="Arial"/>
                <a:cs typeface="Arial"/>
              </a:defRPr>
            </a:lvl8pPr>
            <a:lvl9pPr algn="l">
              <a:defRPr sz="540" b="0">
                <a:solidFill>
                  <a:srgbClr val="263442"/>
                </a:solidFill>
                <a:latin typeface="Arial"/>
                <a:ea typeface="Arial"/>
                <a:cs typeface="Arial"/>
              </a:defRPr>
            </a:lvl9pPr>
          </a:lstStyle>
          <a:p>
            <a:pPr>
              <a:defRPr sz="540" b="0">
                <a:solidFill>
                  <a:srgbClr val="263442"/>
                </a:solidFill>
                <a:latin typeface="Arial"/>
                <a:ea typeface="Arial"/>
                <a:cs typeface="Arial"/>
              </a:defRPr>
            </a:pPr>
            <a:r>
              <a:rPr sz="480" dirty="0"/>
              <a:t>CC(N)=O</a:t>
            </a:r>
          </a:p>
        </p:txBody>
      </p:sp>
      <p:sp>
        <p:nvSpPr>
          <p:cNvPr id="54" name="Build | inputs to iterative denoising">
            <a:extLst>
              <a:ext uri="{FF2B5EF4-FFF2-40B4-BE49-F238E27FC236}">
                <a16:creationId xmlns:a16="http://schemas.microsoft.com/office/drawing/2014/main" id="{6677A804-8C87-360F-91A3-9D6CEFA42D3C}"/>
              </a:ext>
            </a:extLst>
          </p:cNvPr>
          <p:cNvSpPr>
            <a:spLocks noGrp="1"/>
          </p:cNvSpPr>
          <p:nvPr/>
        </p:nvSpPr>
        <p:spPr>
          <a:xfrm>
            <a:off x="5547600" y="1774677"/>
            <a:ext cx="95" cy="100800"/>
          </a:xfrm>
          <a:custGeom>
            <a:avLst/>
            <a:gdLst/>
            <a:ahLst/>
            <a:cxnLst/>
            <a:rect l="0" t="0" r="0" b="0"/>
            <a:pathLst>
              <a:path w="95" h="100800">
                <a:moveTo>
                  <a:pt x="0" y="0"/>
                </a:moveTo>
                <a:lnTo>
                  <a:pt x="0" y="100800"/>
                </a:lnTo>
              </a:path>
            </a:pathLst>
          </a:custGeom>
          <a:noFill/>
          <a:ln w="8255">
            <a:solidFill>
              <a:srgbClr val="77828C"/>
            </a:solidFill>
          </a:ln>
        </p:spPr>
      </p:sp>
      <p:sp>
        <p:nvSpPr>
          <p:cNvPr id="55" name="Build | inputs to iterative denoising head">
            <a:extLst>
              <a:ext uri="{FF2B5EF4-FFF2-40B4-BE49-F238E27FC236}">
                <a16:creationId xmlns:a16="http://schemas.microsoft.com/office/drawing/2014/main" id="{807374E5-820C-9D14-835A-FFCA0337F59B}"/>
              </a:ext>
            </a:extLst>
          </p:cNvPr>
          <p:cNvSpPr>
            <a:spLocks noGrp="1"/>
          </p:cNvSpPr>
          <p:nvPr/>
        </p:nvSpPr>
        <p:spPr>
          <a:xfrm>
            <a:off x="5533470" y="1848335"/>
            <a:ext cx="28261" cy="27142"/>
          </a:xfrm>
          <a:custGeom>
            <a:avLst/>
            <a:gdLst/>
            <a:ahLst/>
            <a:cxnLst/>
            <a:rect l="0" t="0" r="0" b="0"/>
            <a:pathLst>
              <a:path w="28261" h="27142">
                <a:moveTo>
                  <a:pt x="0" y="0"/>
                </a:moveTo>
                <a:lnTo>
                  <a:pt x="14130" y="27142"/>
                </a:lnTo>
                <a:lnTo>
                  <a:pt x="28261" y="0"/>
                </a:lnTo>
              </a:path>
            </a:pathLst>
          </a:custGeom>
          <a:noFill/>
          <a:ln w="8255">
            <a:solidFill>
              <a:srgbClr val="77828C"/>
            </a:solidFill>
          </a:ln>
        </p:spPr>
      </p:sp>
      <p:sp>
        <p:nvSpPr>
          <p:cNvPr id="56" name="Build | denoising stage 0">
            <a:extLst>
              <a:ext uri="{FF2B5EF4-FFF2-40B4-BE49-F238E27FC236}">
                <a16:creationId xmlns:a16="http://schemas.microsoft.com/office/drawing/2014/main" id="{4B5AC5E2-D7E1-284B-8B57-5550EFFCBAB1}"/>
              </a:ext>
            </a:extLst>
          </p:cNvPr>
          <p:cNvSpPr>
            <a:spLocks noGrp="1"/>
          </p:cNvSpPr>
          <p:nvPr/>
        </p:nvSpPr>
        <p:spPr>
          <a:xfrm>
            <a:off x="5014346" y="2490900"/>
            <a:ext cx="324000" cy="187200"/>
          </a:xfrm>
          <a:prstGeom prst="rect">
            <a:avLst/>
          </a:prstGeom>
          <a:noFill/>
          <a:ln w="0">
            <a:noFill/>
          </a:ln>
        </p:spPr>
        <p:txBody>
          <a:bodyPr wrap="none" lIns="0" tIns="0" rIns="0" bIns="0" anchor="ctr">
            <a:noAutofit/>
          </a:bodyPr>
          <a:lstStyle>
            <a:defPPr algn="ctr">
              <a:defRPr sz="580" b="0">
                <a:solidFill>
                  <a:srgbClr val="596873"/>
                </a:solidFill>
                <a:latin typeface="Arial"/>
                <a:ea typeface="Arial"/>
                <a:cs typeface="Arial"/>
              </a:defRPr>
            </a:defPPr>
            <a:lvl1pPr algn="ctr">
              <a:defRPr sz="580" b="0">
                <a:solidFill>
                  <a:srgbClr val="596873"/>
                </a:solidFill>
                <a:latin typeface="Arial"/>
                <a:ea typeface="Arial"/>
                <a:cs typeface="Arial"/>
              </a:defRPr>
            </a:lvl1pPr>
            <a:lvl2pPr algn="ctr">
              <a:defRPr sz="580" b="0">
                <a:solidFill>
                  <a:srgbClr val="596873"/>
                </a:solidFill>
                <a:latin typeface="Arial"/>
                <a:ea typeface="Arial"/>
                <a:cs typeface="Arial"/>
              </a:defRPr>
            </a:lvl2pPr>
            <a:lvl3pPr algn="ctr">
              <a:defRPr sz="580" b="0">
                <a:solidFill>
                  <a:srgbClr val="596873"/>
                </a:solidFill>
                <a:latin typeface="Arial"/>
                <a:ea typeface="Arial"/>
                <a:cs typeface="Arial"/>
              </a:defRPr>
            </a:lvl3pPr>
            <a:lvl4pPr algn="ctr">
              <a:defRPr sz="580" b="0">
                <a:solidFill>
                  <a:srgbClr val="596873"/>
                </a:solidFill>
                <a:latin typeface="Arial"/>
                <a:ea typeface="Arial"/>
                <a:cs typeface="Arial"/>
              </a:defRPr>
            </a:lvl4pPr>
            <a:lvl5pPr algn="ctr">
              <a:defRPr sz="580" b="0">
                <a:solidFill>
                  <a:srgbClr val="596873"/>
                </a:solidFill>
                <a:latin typeface="Arial"/>
                <a:ea typeface="Arial"/>
                <a:cs typeface="Arial"/>
              </a:defRPr>
            </a:lvl5pPr>
            <a:lvl6pPr algn="ctr">
              <a:defRPr sz="580" b="0">
                <a:solidFill>
                  <a:srgbClr val="596873"/>
                </a:solidFill>
                <a:latin typeface="Arial"/>
                <a:ea typeface="Arial"/>
                <a:cs typeface="Arial"/>
              </a:defRPr>
            </a:lvl6pPr>
            <a:lvl7pPr algn="ctr">
              <a:defRPr sz="580" b="0">
                <a:solidFill>
                  <a:srgbClr val="596873"/>
                </a:solidFill>
                <a:latin typeface="Arial"/>
                <a:ea typeface="Arial"/>
                <a:cs typeface="Arial"/>
              </a:defRPr>
            </a:lvl7pPr>
            <a:lvl8pPr algn="ctr">
              <a:defRPr sz="580" b="0">
                <a:solidFill>
                  <a:srgbClr val="596873"/>
                </a:solidFill>
                <a:latin typeface="Arial"/>
                <a:ea typeface="Arial"/>
                <a:cs typeface="Arial"/>
              </a:defRPr>
            </a:lvl8pPr>
            <a:lvl9pPr algn="ctr">
              <a:defRPr sz="580" b="0">
                <a:solidFill>
                  <a:srgbClr val="596873"/>
                </a:solidFill>
                <a:latin typeface="Arial"/>
                <a:ea typeface="Arial"/>
                <a:cs typeface="Arial"/>
              </a:defRPr>
            </a:lvl9pPr>
          </a:lstStyle>
          <a:p>
            <a:pPr algn="ctr">
              <a:defRPr sz="580" b="0">
                <a:solidFill>
                  <a:srgbClr val="596873"/>
                </a:solidFill>
                <a:latin typeface="Arial"/>
                <a:ea typeface="Arial"/>
                <a:cs typeface="Arial"/>
              </a:defRPr>
            </a:pPr>
            <a:r>
              <a:rPr sz="580" b="0" dirty="0">
                <a:solidFill>
                  <a:srgbClr val="596873"/>
                </a:solidFill>
                <a:latin typeface="Arial"/>
                <a:ea typeface="Arial"/>
                <a:cs typeface="Arial"/>
              </a:rPr>
              <a:t>Gaussian</a:t>
            </a:r>
          </a:p>
          <a:p>
            <a:pPr algn="ctr">
              <a:defRPr sz="580" b="0">
                <a:solidFill>
                  <a:srgbClr val="596873"/>
                </a:solidFill>
                <a:latin typeface="Arial"/>
                <a:ea typeface="Arial"/>
                <a:cs typeface="Arial"/>
              </a:defRPr>
            </a:pPr>
            <a:r>
              <a:rPr sz="580" b="0" dirty="0">
                <a:solidFill>
                  <a:srgbClr val="596873"/>
                </a:solidFill>
                <a:latin typeface="Arial"/>
                <a:ea typeface="Arial"/>
                <a:cs typeface="Arial"/>
              </a:rPr>
              <a:t>noise</a:t>
            </a:r>
          </a:p>
        </p:txBody>
      </p:sp>
      <p:pic>
        <p:nvPicPr>
          <p:cNvPr id="57" name="图片 56">
            <a:extLst>
              <a:ext uri="{FF2B5EF4-FFF2-40B4-BE49-F238E27FC236}">
                <a16:creationId xmlns:a16="http://schemas.microsoft.com/office/drawing/2014/main" id="{C14BF492-0240-4A6E-7A3A-6B2023B61E74}"/>
              </a:ext>
            </a:extLst>
          </p:cNvPr>
          <p:cNvPicPr>
            <a:picLocks noChangeAspect="1"/>
          </p:cNvPicPr>
          <p:nvPr/>
        </p:nvPicPr>
        <p:blipFill>
          <a:blip r:embed="rId10"/>
          <a:stretch/>
        </p:blipFill>
        <p:spPr>
          <a:xfrm>
            <a:off x="5473551" y="2422737"/>
            <a:ext cx="477349" cy="344752"/>
          </a:xfrm>
          <a:prstGeom prst="rect">
            <a:avLst/>
          </a:prstGeom>
        </p:spPr>
      </p:pic>
      <p:pic>
        <p:nvPicPr>
          <p:cNvPr id="58" name="图片 57">
            <a:extLst>
              <a:ext uri="{FF2B5EF4-FFF2-40B4-BE49-F238E27FC236}">
                <a16:creationId xmlns:a16="http://schemas.microsoft.com/office/drawing/2014/main" id="{56AE0AB2-2320-306D-82ED-EDD8A5CB21B1}"/>
              </a:ext>
            </a:extLst>
          </p:cNvPr>
          <p:cNvPicPr>
            <a:picLocks noChangeAspect="1"/>
          </p:cNvPicPr>
          <p:nvPr/>
        </p:nvPicPr>
        <p:blipFill>
          <a:blip r:embed="rId11"/>
          <a:stretch/>
        </p:blipFill>
        <p:spPr>
          <a:xfrm>
            <a:off x="5483229" y="2791467"/>
            <a:ext cx="478523" cy="345600"/>
          </a:xfrm>
          <a:prstGeom prst="rect">
            <a:avLst/>
          </a:prstGeom>
        </p:spPr>
      </p:pic>
      <p:sp>
        <p:nvSpPr>
          <p:cNvPr id="59" name="Build | denoising stage 2">
            <a:extLst>
              <a:ext uri="{FF2B5EF4-FFF2-40B4-BE49-F238E27FC236}">
                <a16:creationId xmlns:a16="http://schemas.microsoft.com/office/drawing/2014/main" id="{5B49DB5C-828B-4800-F75A-B4BB92B81973}"/>
              </a:ext>
            </a:extLst>
          </p:cNvPr>
          <p:cNvSpPr>
            <a:spLocks noGrp="1"/>
          </p:cNvSpPr>
          <p:nvPr/>
        </p:nvSpPr>
        <p:spPr>
          <a:xfrm>
            <a:off x="5008587" y="2974840"/>
            <a:ext cx="324000" cy="118800"/>
          </a:xfrm>
          <a:prstGeom prst="rect">
            <a:avLst/>
          </a:prstGeom>
          <a:noFill/>
          <a:ln w="0">
            <a:noFill/>
          </a:ln>
        </p:spPr>
        <p:txBody>
          <a:bodyPr wrap="none" lIns="0" tIns="0" rIns="0" bIns="0" anchor="ctr">
            <a:noAutofit/>
          </a:bodyPr>
          <a:lstStyle>
            <a:defPPr algn="ctr">
              <a:defRPr sz="580" b="0">
                <a:solidFill>
                  <a:srgbClr val="596873"/>
                </a:solidFill>
                <a:latin typeface="Arial"/>
                <a:ea typeface="Arial"/>
                <a:cs typeface="Arial"/>
              </a:defRPr>
            </a:defPPr>
            <a:lvl1pPr algn="ctr">
              <a:defRPr sz="580" b="0">
                <a:solidFill>
                  <a:srgbClr val="596873"/>
                </a:solidFill>
                <a:latin typeface="Arial"/>
                <a:ea typeface="Arial"/>
                <a:cs typeface="Arial"/>
              </a:defRPr>
            </a:lvl1pPr>
            <a:lvl2pPr algn="ctr">
              <a:defRPr sz="580" b="0">
                <a:solidFill>
                  <a:srgbClr val="596873"/>
                </a:solidFill>
                <a:latin typeface="Arial"/>
                <a:ea typeface="Arial"/>
                <a:cs typeface="Arial"/>
              </a:defRPr>
            </a:lvl2pPr>
            <a:lvl3pPr algn="ctr">
              <a:defRPr sz="580" b="0">
                <a:solidFill>
                  <a:srgbClr val="596873"/>
                </a:solidFill>
                <a:latin typeface="Arial"/>
                <a:ea typeface="Arial"/>
                <a:cs typeface="Arial"/>
              </a:defRPr>
            </a:lvl3pPr>
            <a:lvl4pPr algn="ctr">
              <a:defRPr sz="580" b="0">
                <a:solidFill>
                  <a:srgbClr val="596873"/>
                </a:solidFill>
                <a:latin typeface="Arial"/>
                <a:ea typeface="Arial"/>
                <a:cs typeface="Arial"/>
              </a:defRPr>
            </a:lvl4pPr>
            <a:lvl5pPr algn="ctr">
              <a:defRPr sz="580" b="0">
                <a:solidFill>
                  <a:srgbClr val="596873"/>
                </a:solidFill>
                <a:latin typeface="Arial"/>
                <a:ea typeface="Arial"/>
                <a:cs typeface="Arial"/>
              </a:defRPr>
            </a:lvl5pPr>
            <a:lvl6pPr algn="ctr">
              <a:defRPr sz="580" b="0">
                <a:solidFill>
                  <a:srgbClr val="596873"/>
                </a:solidFill>
                <a:latin typeface="Arial"/>
                <a:ea typeface="Arial"/>
                <a:cs typeface="Arial"/>
              </a:defRPr>
            </a:lvl6pPr>
            <a:lvl7pPr algn="ctr">
              <a:defRPr sz="580" b="0">
                <a:solidFill>
                  <a:srgbClr val="596873"/>
                </a:solidFill>
                <a:latin typeface="Arial"/>
                <a:ea typeface="Arial"/>
                <a:cs typeface="Arial"/>
              </a:defRPr>
            </a:lvl7pPr>
            <a:lvl8pPr algn="ctr">
              <a:defRPr sz="580" b="0">
                <a:solidFill>
                  <a:srgbClr val="596873"/>
                </a:solidFill>
                <a:latin typeface="Arial"/>
                <a:ea typeface="Arial"/>
                <a:cs typeface="Arial"/>
              </a:defRPr>
            </a:lvl8pPr>
            <a:lvl9pPr algn="ctr">
              <a:defRPr sz="580" b="0">
                <a:solidFill>
                  <a:srgbClr val="596873"/>
                </a:solidFill>
                <a:latin typeface="Arial"/>
                <a:ea typeface="Arial"/>
                <a:cs typeface="Arial"/>
              </a:defRPr>
            </a:lvl9pPr>
          </a:lstStyle>
          <a:p>
            <a:pPr algn="ctr">
              <a:defRPr sz="580" b="0">
                <a:solidFill>
                  <a:srgbClr val="596873"/>
                </a:solidFill>
                <a:latin typeface="Arial"/>
                <a:ea typeface="Arial"/>
                <a:cs typeface="Arial"/>
              </a:defRPr>
            </a:pPr>
            <a:r>
              <a:rPr lang="en-US" sz="580" b="0" dirty="0">
                <a:solidFill>
                  <a:srgbClr val="596873"/>
                </a:solidFill>
                <a:latin typeface="Arial"/>
                <a:ea typeface="Arial"/>
                <a:cs typeface="Arial"/>
              </a:rPr>
              <a:t>D</a:t>
            </a:r>
            <a:r>
              <a:rPr lang="en-US" altLang="zh-CN" sz="580" b="0" dirty="0">
                <a:solidFill>
                  <a:srgbClr val="596873"/>
                </a:solidFill>
                <a:latin typeface="Arial"/>
                <a:ea typeface="Arial"/>
                <a:cs typeface="Arial"/>
              </a:rPr>
              <a:t>enoising</a:t>
            </a:r>
            <a:endParaRPr sz="580" b="0" dirty="0">
              <a:solidFill>
                <a:srgbClr val="596873"/>
              </a:solidFill>
              <a:latin typeface="Arial"/>
              <a:ea typeface="Arial"/>
              <a:cs typeface="Arial"/>
            </a:endParaRPr>
          </a:p>
        </p:txBody>
      </p:sp>
      <p:pic>
        <p:nvPicPr>
          <p:cNvPr id="60" name="图片 59">
            <a:extLst>
              <a:ext uri="{FF2B5EF4-FFF2-40B4-BE49-F238E27FC236}">
                <a16:creationId xmlns:a16="http://schemas.microsoft.com/office/drawing/2014/main" id="{C802D017-9EA3-5378-E3A2-AAF627F84112}"/>
              </a:ext>
            </a:extLst>
          </p:cNvPr>
          <p:cNvPicPr>
            <a:picLocks noChangeAspect="1"/>
          </p:cNvPicPr>
          <p:nvPr/>
        </p:nvPicPr>
        <p:blipFill>
          <a:blip r:embed="rId12"/>
          <a:stretch/>
        </p:blipFill>
        <p:spPr>
          <a:xfrm>
            <a:off x="5472963" y="3164962"/>
            <a:ext cx="478523" cy="345600"/>
          </a:xfrm>
          <a:prstGeom prst="rect">
            <a:avLst/>
          </a:prstGeom>
        </p:spPr>
      </p:pic>
      <p:sp>
        <p:nvSpPr>
          <p:cNvPr id="61" name="Build | local structure viewport">
            <a:extLst>
              <a:ext uri="{FF2B5EF4-FFF2-40B4-BE49-F238E27FC236}">
                <a16:creationId xmlns:a16="http://schemas.microsoft.com/office/drawing/2014/main" id="{75F6158C-0526-1940-C004-13F5EAE57A28}"/>
              </a:ext>
            </a:extLst>
          </p:cNvPr>
          <p:cNvSpPr>
            <a:spLocks noGrp="1"/>
          </p:cNvSpPr>
          <p:nvPr/>
        </p:nvSpPr>
        <p:spPr>
          <a:xfrm>
            <a:off x="5034655" y="3612697"/>
            <a:ext cx="1012331" cy="735989"/>
          </a:xfrm>
          <a:prstGeom prst="roundRect">
            <a:avLst>
              <a:gd name="adj" fmla="val 8894"/>
            </a:avLst>
          </a:prstGeom>
          <a:solidFill>
            <a:srgbClr val="FFFFFF"/>
          </a:solidFill>
          <a:ln w="7620">
            <a:solidFill>
              <a:srgbClr val="C8CFD4"/>
            </a:solidFill>
          </a:ln>
        </p:spPr>
      </p:sp>
      <p:sp>
        <p:nvSpPr>
          <p:cNvPr id="62" name="Build | label">
            <a:extLst>
              <a:ext uri="{FF2B5EF4-FFF2-40B4-BE49-F238E27FC236}">
                <a16:creationId xmlns:a16="http://schemas.microsoft.com/office/drawing/2014/main" id="{8AD06D55-75C3-BF02-8FCA-37DB9F42AE1A}"/>
              </a:ext>
            </a:extLst>
          </p:cNvPr>
          <p:cNvSpPr>
            <a:spLocks noGrp="1"/>
          </p:cNvSpPr>
          <p:nvPr/>
        </p:nvSpPr>
        <p:spPr>
          <a:xfrm>
            <a:off x="5009487" y="4217257"/>
            <a:ext cx="1090800" cy="100800"/>
          </a:xfrm>
          <a:prstGeom prst="rect">
            <a:avLst/>
          </a:prstGeom>
          <a:noFill/>
          <a:ln w="0">
            <a:noFill/>
          </a:ln>
        </p:spPr>
        <p:txBody>
          <a:bodyPr wrap="none" lIns="0" tIns="0" rIns="0" bIns="0" anchor="ctr">
            <a:noAutofit/>
          </a:bodyPr>
          <a:lstStyle>
            <a:defPPr algn="ctr">
              <a:defRPr sz="670" b="0">
                <a:solidFill>
                  <a:srgbClr val="263442"/>
                </a:solidFill>
                <a:latin typeface="Arial"/>
                <a:ea typeface="Arial"/>
                <a:cs typeface="Arial"/>
              </a:defRPr>
            </a:defPPr>
            <a:lvl1pPr algn="ctr">
              <a:defRPr sz="670" b="0">
                <a:solidFill>
                  <a:srgbClr val="263442"/>
                </a:solidFill>
                <a:latin typeface="Arial"/>
                <a:ea typeface="Arial"/>
                <a:cs typeface="Arial"/>
              </a:defRPr>
            </a:lvl1pPr>
            <a:lvl2pPr algn="ctr">
              <a:defRPr sz="670" b="0">
                <a:solidFill>
                  <a:srgbClr val="263442"/>
                </a:solidFill>
                <a:latin typeface="Arial"/>
                <a:ea typeface="Arial"/>
                <a:cs typeface="Arial"/>
              </a:defRPr>
            </a:lvl2pPr>
            <a:lvl3pPr algn="ctr">
              <a:defRPr sz="670" b="0">
                <a:solidFill>
                  <a:srgbClr val="263442"/>
                </a:solidFill>
                <a:latin typeface="Arial"/>
                <a:ea typeface="Arial"/>
                <a:cs typeface="Arial"/>
              </a:defRPr>
            </a:lvl3pPr>
            <a:lvl4pPr algn="ctr">
              <a:defRPr sz="670" b="0">
                <a:solidFill>
                  <a:srgbClr val="263442"/>
                </a:solidFill>
                <a:latin typeface="Arial"/>
                <a:ea typeface="Arial"/>
                <a:cs typeface="Arial"/>
              </a:defRPr>
            </a:lvl4pPr>
            <a:lvl5pPr algn="ctr">
              <a:defRPr sz="670" b="0">
                <a:solidFill>
                  <a:srgbClr val="263442"/>
                </a:solidFill>
                <a:latin typeface="Arial"/>
                <a:ea typeface="Arial"/>
                <a:cs typeface="Arial"/>
              </a:defRPr>
            </a:lvl5pPr>
            <a:lvl6pPr algn="ctr">
              <a:defRPr sz="670" b="0">
                <a:solidFill>
                  <a:srgbClr val="263442"/>
                </a:solidFill>
                <a:latin typeface="Arial"/>
                <a:ea typeface="Arial"/>
                <a:cs typeface="Arial"/>
              </a:defRPr>
            </a:lvl6pPr>
            <a:lvl7pPr algn="ctr">
              <a:defRPr sz="670" b="0">
                <a:solidFill>
                  <a:srgbClr val="263442"/>
                </a:solidFill>
                <a:latin typeface="Arial"/>
                <a:ea typeface="Arial"/>
                <a:cs typeface="Arial"/>
              </a:defRPr>
            </a:lvl7pPr>
            <a:lvl8pPr algn="ctr">
              <a:defRPr sz="670" b="0">
                <a:solidFill>
                  <a:srgbClr val="263442"/>
                </a:solidFill>
                <a:latin typeface="Arial"/>
                <a:ea typeface="Arial"/>
                <a:cs typeface="Arial"/>
              </a:defRPr>
            </a:lvl8pPr>
            <a:lvl9pPr algn="ctr">
              <a:defRPr sz="670" b="0">
                <a:solidFill>
                  <a:srgbClr val="263442"/>
                </a:solidFill>
                <a:latin typeface="Arial"/>
                <a:ea typeface="Arial"/>
                <a:cs typeface="Arial"/>
              </a:defRPr>
            </a:lvl9pPr>
          </a:lstStyle>
          <a:p>
            <a:pPr algn="ctr">
              <a:defRPr sz="670" b="0">
                <a:solidFill>
                  <a:srgbClr val="263442"/>
                </a:solidFill>
                <a:latin typeface="Arial"/>
                <a:ea typeface="Arial"/>
                <a:cs typeface="Arial"/>
              </a:defRPr>
            </a:pPr>
            <a:r>
              <a:rPr sz="670" b="0" dirty="0">
                <a:solidFill>
                  <a:srgbClr val="263442"/>
                </a:solidFill>
                <a:latin typeface="Arial"/>
                <a:ea typeface="Arial"/>
                <a:cs typeface="Arial"/>
              </a:rPr>
              <a:t>All-atom ligand pose</a:t>
            </a:r>
            <a:r>
              <a:rPr lang="en-US" sz="670" b="0" dirty="0">
                <a:solidFill>
                  <a:srgbClr val="263442"/>
                </a:solidFill>
                <a:latin typeface="Arial"/>
                <a:ea typeface="Arial"/>
                <a:cs typeface="Arial"/>
              </a:rPr>
              <a:t>(s)</a:t>
            </a:r>
            <a:endParaRPr sz="670" b="0" dirty="0">
              <a:solidFill>
                <a:srgbClr val="263442"/>
              </a:solidFill>
              <a:latin typeface="Arial"/>
              <a:ea typeface="Arial"/>
              <a:cs typeface="Arial"/>
            </a:endParaRPr>
          </a:p>
        </p:txBody>
      </p:sp>
      <p:sp>
        <p:nvSpPr>
          <p:cNvPr id="63" name="Build | inputs to iterative denoising">
            <a:extLst>
              <a:ext uri="{FF2B5EF4-FFF2-40B4-BE49-F238E27FC236}">
                <a16:creationId xmlns:a16="http://schemas.microsoft.com/office/drawing/2014/main" id="{EC943221-E013-301C-C580-E08CA8605D0A}"/>
              </a:ext>
            </a:extLst>
          </p:cNvPr>
          <p:cNvSpPr>
            <a:spLocks noGrp="1"/>
          </p:cNvSpPr>
          <p:nvPr/>
        </p:nvSpPr>
        <p:spPr>
          <a:xfrm flipH="1">
            <a:off x="5300905" y="2502829"/>
            <a:ext cx="69223" cy="1043423"/>
          </a:xfrm>
          <a:custGeom>
            <a:avLst/>
            <a:gdLst/>
            <a:ahLst/>
            <a:cxnLst/>
            <a:rect l="0" t="0" r="0" b="0"/>
            <a:pathLst>
              <a:path w="95" h="100800">
                <a:moveTo>
                  <a:pt x="0" y="0"/>
                </a:moveTo>
                <a:lnTo>
                  <a:pt x="0" y="100800"/>
                </a:lnTo>
              </a:path>
            </a:pathLst>
          </a:custGeom>
          <a:noFill/>
          <a:ln w="8255">
            <a:solidFill>
              <a:srgbClr val="77828C"/>
            </a:solidFill>
          </a:ln>
        </p:spPr>
      </p:sp>
      <p:sp>
        <p:nvSpPr>
          <p:cNvPr id="192" name="Build | inputs to iterative denoising head">
            <a:extLst>
              <a:ext uri="{FF2B5EF4-FFF2-40B4-BE49-F238E27FC236}">
                <a16:creationId xmlns:a16="http://schemas.microsoft.com/office/drawing/2014/main" id="{7446625F-5998-9B93-C3C8-3F2583855FBA}"/>
              </a:ext>
            </a:extLst>
          </p:cNvPr>
          <p:cNvSpPr>
            <a:spLocks noGrp="1"/>
          </p:cNvSpPr>
          <p:nvPr/>
        </p:nvSpPr>
        <p:spPr>
          <a:xfrm>
            <a:off x="5354208" y="3525770"/>
            <a:ext cx="28261" cy="27142"/>
          </a:xfrm>
          <a:custGeom>
            <a:avLst/>
            <a:gdLst/>
            <a:ahLst/>
            <a:cxnLst/>
            <a:rect l="0" t="0" r="0" b="0"/>
            <a:pathLst>
              <a:path w="28261" h="27142">
                <a:moveTo>
                  <a:pt x="0" y="0"/>
                </a:moveTo>
                <a:lnTo>
                  <a:pt x="14130" y="27142"/>
                </a:lnTo>
                <a:lnTo>
                  <a:pt x="28261" y="0"/>
                </a:lnTo>
              </a:path>
            </a:pathLst>
          </a:custGeom>
          <a:noFill/>
          <a:ln w="8255">
            <a:solidFill>
              <a:srgbClr val="77828C"/>
            </a:solidFill>
          </a:ln>
        </p:spPr>
      </p:sp>
      <p:sp>
        <p:nvSpPr>
          <p:cNvPr id="193" name="Build | Default PocketXMol card">
            <a:extLst>
              <a:ext uri="{FF2B5EF4-FFF2-40B4-BE49-F238E27FC236}">
                <a16:creationId xmlns:a16="http://schemas.microsoft.com/office/drawing/2014/main" id="{2161E4FD-0709-5F35-EE4A-B0AD21FAA258}"/>
              </a:ext>
            </a:extLst>
          </p:cNvPr>
          <p:cNvSpPr/>
          <p:nvPr/>
        </p:nvSpPr>
        <p:spPr>
          <a:xfrm>
            <a:off x="4999032" y="1900178"/>
            <a:ext cx="1106490" cy="456341"/>
          </a:xfrm>
          <a:prstGeom prst="roundRect">
            <a:avLst>
              <a:gd name="adj" fmla="val 8000"/>
            </a:avLst>
          </a:prstGeom>
          <a:solidFill>
            <a:srgbClr val="FAF1DE"/>
          </a:solidFill>
          <a:ln w="7290">
            <a:solidFill>
              <a:srgbClr val="BEC7C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grpSp>
        <p:nvGrpSpPr>
          <p:cNvPr id="194" name="Build | Density cube icon">
            <a:extLst>
              <a:ext uri="{FF2B5EF4-FFF2-40B4-BE49-F238E27FC236}">
                <a16:creationId xmlns:a16="http://schemas.microsoft.com/office/drawing/2014/main" id="{9BEF5273-260F-4467-671D-739AE91778A5}"/>
              </a:ext>
            </a:extLst>
          </p:cNvPr>
          <p:cNvGrpSpPr/>
          <p:nvPr/>
        </p:nvGrpSpPr>
        <p:grpSpPr>
          <a:xfrm>
            <a:off x="5031164" y="1982142"/>
            <a:ext cx="213580" cy="227238"/>
            <a:chOff x="2187720" y="5635440"/>
            <a:chExt cx="154440" cy="131400"/>
          </a:xfrm>
        </p:grpSpPr>
        <p:sp>
          <p:nvSpPr>
            <p:cNvPr id="195" name="asset_3169_0">
              <a:extLst>
                <a:ext uri="{FF2B5EF4-FFF2-40B4-BE49-F238E27FC236}">
                  <a16:creationId xmlns:a16="http://schemas.microsoft.com/office/drawing/2014/main" id="{288811EB-9D5D-C39D-785B-540FB22DBDFF}"/>
                </a:ext>
              </a:extLst>
            </p:cNvPr>
            <p:cNvSpPr>
              <a:spLocks noGrp="1"/>
            </p:cNvSpPr>
            <p:nvPr/>
          </p:nvSpPr>
          <p:spPr>
            <a:xfrm>
              <a:off x="2187720" y="5635440"/>
              <a:ext cx="154440" cy="22338"/>
            </a:xfrm>
            <a:custGeom>
              <a:avLst/>
              <a:gdLst/>
              <a:ahLst/>
              <a:cxnLst/>
              <a:rect l="0" t="0" r="0" b="0"/>
              <a:pathLst>
                <a:path w="154440" h="22338">
                  <a:moveTo>
                    <a:pt x="0" y="22338"/>
                  </a:moveTo>
                  <a:lnTo>
                    <a:pt x="29344" y="0"/>
                  </a:lnTo>
                  <a:lnTo>
                    <a:pt x="154440" y="0"/>
                  </a:lnTo>
                  <a:lnTo>
                    <a:pt x="125096" y="22338"/>
                  </a:lnTo>
                  <a:close/>
                </a:path>
              </a:pathLst>
            </a:custGeom>
            <a:gradFill>
              <a:gsLst>
                <a:gs pos="0">
                  <a:srgbClr val="FAFDFF">
                    <a:alpha val="65000"/>
                  </a:srgbClr>
                </a:gs>
                <a:gs pos="100000">
                  <a:srgbClr val="D9EAFA">
                    <a:alpha val="45000"/>
                  </a:srgbClr>
                </a:gs>
              </a:gsLst>
              <a:lin ang="5400000"/>
            </a:gradFill>
            <a:ln w="2700">
              <a:solidFill>
                <a:srgbClr val="A3C3E2"/>
              </a:solidFill>
            </a:ln>
          </p:spPr>
        </p:sp>
        <p:sp>
          <p:nvSpPr>
            <p:cNvPr id="196" name="asset_3169_1">
              <a:extLst>
                <a:ext uri="{FF2B5EF4-FFF2-40B4-BE49-F238E27FC236}">
                  <a16:creationId xmlns:a16="http://schemas.microsoft.com/office/drawing/2014/main" id="{48FA7813-446A-DCD2-F9B2-EC97BF5B8FB4}"/>
                </a:ext>
              </a:extLst>
            </p:cNvPr>
            <p:cNvSpPr>
              <a:spLocks noGrp="1"/>
            </p:cNvSpPr>
            <p:nvPr/>
          </p:nvSpPr>
          <p:spPr>
            <a:xfrm>
              <a:off x="2312816" y="5635440"/>
              <a:ext cx="29344" cy="131400"/>
            </a:xfrm>
            <a:custGeom>
              <a:avLst/>
              <a:gdLst/>
              <a:ahLst/>
              <a:cxnLst/>
              <a:rect l="0" t="0" r="0" b="0"/>
              <a:pathLst>
                <a:path w="29344" h="131400">
                  <a:moveTo>
                    <a:pt x="0" y="22338"/>
                  </a:moveTo>
                  <a:lnTo>
                    <a:pt x="29344" y="0"/>
                  </a:lnTo>
                  <a:lnTo>
                    <a:pt x="29344" y="109062"/>
                  </a:lnTo>
                  <a:lnTo>
                    <a:pt x="0" y="131400"/>
                  </a:lnTo>
                  <a:close/>
                </a:path>
              </a:pathLst>
            </a:custGeom>
            <a:solidFill>
              <a:srgbClr val="C9DFF3">
                <a:alpha val="22000"/>
              </a:srgbClr>
            </a:solidFill>
            <a:ln w="2700">
              <a:solidFill>
                <a:srgbClr val="A3C3E2"/>
              </a:solidFill>
            </a:ln>
          </p:spPr>
        </p:sp>
        <p:sp>
          <p:nvSpPr>
            <p:cNvPr id="197" name="asset_3169_2">
              <a:extLst>
                <a:ext uri="{FF2B5EF4-FFF2-40B4-BE49-F238E27FC236}">
                  <a16:creationId xmlns:a16="http://schemas.microsoft.com/office/drawing/2014/main" id="{C676EC74-1270-F482-94AE-5F6AE2167691}"/>
                </a:ext>
              </a:extLst>
            </p:cNvPr>
            <p:cNvSpPr>
              <a:spLocks noGrp="1"/>
            </p:cNvSpPr>
            <p:nvPr/>
          </p:nvSpPr>
          <p:spPr>
            <a:xfrm>
              <a:off x="2187720" y="5657778"/>
              <a:ext cx="125096" cy="109062"/>
            </a:xfrm>
            <a:prstGeom prst="rect">
              <a:avLst/>
            </a:prstGeom>
            <a:solidFill>
              <a:srgbClr val="E7F1FC">
                <a:alpha val="20000"/>
              </a:srgbClr>
            </a:solidFill>
            <a:ln w="2700">
              <a:solidFill>
                <a:srgbClr val="ABC9E7"/>
              </a:solidFill>
            </a:ln>
          </p:spPr>
        </p:sp>
        <p:sp>
          <p:nvSpPr>
            <p:cNvPr id="198" name="asset_3169_3">
              <a:extLst>
                <a:ext uri="{FF2B5EF4-FFF2-40B4-BE49-F238E27FC236}">
                  <a16:creationId xmlns:a16="http://schemas.microsoft.com/office/drawing/2014/main" id="{990A4303-40AB-60F9-49B7-A8B5650B6F33}"/>
                </a:ext>
              </a:extLst>
            </p:cNvPr>
            <p:cNvSpPr>
              <a:spLocks noGrp="1"/>
            </p:cNvSpPr>
            <p:nvPr/>
          </p:nvSpPr>
          <p:spPr>
            <a:xfrm>
              <a:off x="2218994" y="5657778"/>
              <a:ext cx="4" cy="109062"/>
            </a:xfrm>
            <a:prstGeom prst="line">
              <a:avLst/>
            </a:prstGeom>
            <a:noFill/>
            <a:ln w="1980">
              <a:solidFill>
                <a:srgbClr val="B8D2EB">
                  <a:alpha val="33000"/>
                </a:srgbClr>
              </a:solidFill>
            </a:ln>
          </p:spPr>
        </p:sp>
        <p:sp>
          <p:nvSpPr>
            <p:cNvPr id="199" name="asset_3169_4">
              <a:extLst>
                <a:ext uri="{FF2B5EF4-FFF2-40B4-BE49-F238E27FC236}">
                  <a16:creationId xmlns:a16="http://schemas.microsoft.com/office/drawing/2014/main" id="{0C8F0F70-6D1A-DD93-E963-AA862EB40374}"/>
                </a:ext>
              </a:extLst>
            </p:cNvPr>
            <p:cNvSpPr>
              <a:spLocks noGrp="1"/>
            </p:cNvSpPr>
            <p:nvPr/>
          </p:nvSpPr>
          <p:spPr>
            <a:xfrm>
              <a:off x="2187720" y="5685044"/>
              <a:ext cx="125096" cy="4"/>
            </a:xfrm>
            <a:prstGeom prst="line">
              <a:avLst/>
            </a:prstGeom>
            <a:noFill/>
            <a:ln w="1980">
              <a:solidFill>
                <a:srgbClr val="B8D2EB">
                  <a:alpha val="33000"/>
                </a:srgbClr>
              </a:solidFill>
            </a:ln>
          </p:spPr>
        </p:sp>
        <p:sp>
          <p:nvSpPr>
            <p:cNvPr id="200" name="asset_3169_5">
              <a:extLst>
                <a:ext uri="{FF2B5EF4-FFF2-40B4-BE49-F238E27FC236}">
                  <a16:creationId xmlns:a16="http://schemas.microsoft.com/office/drawing/2014/main" id="{BCBF2E8E-1541-4CD0-3EB7-5CACA1460625}"/>
                </a:ext>
              </a:extLst>
            </p:cNvPr>
            <p:cNvSpPr>
              <a:spLocks noGrp="1"/>
            </p:cNvSpPr>
            <p:nvPr/>
          </p:nvSpPr>
          <p:spPr>
            <a:xfrm>
              <a:off x="2250268" y="5657778"/>
              <a:ext cx="4" cy="109062"/>
            </a:xfrm>
            <a:prstGeom prst="line">
              <a:avLst/>
            </a:prstGeom>
            <a:noFill/>
            <a:ln w="1980">
              <a:solidFill>
                <a:srgbClr val="B8D2EB">
                  <a:alpha val="33000"/>
                </a:srgbClr>
              </a:solidFill>
            </a:ln>
          </p:spPr>
        </p:sp>
        <p:sp>
          <p:nvSpPr>
            <p:cNvPr id="201" name="asset_3169_6">
              <a:extLst>
                <a:ext uri="{FF2B5EF4-FFF2-40B4-BE49-F238E27FC236}">
                  <a16:creationId xmlns:a16="http://schemas.microsoft.com/office/drawing/2014/main" id="{FDCA1302-D31B-B97E-96CA-CA8E3B80D4B6}"/>
                </a:ext>
              </a:extLst>
            </p:cNvPr>
            <p:cNvSpPr>
              <a:spLocks noGrp="1"/>
            </p:cNvSpPr>
            <p:nvPr/>
          </p:nvSpPr>
          <p:spPr>
            <a:xfrm>
              <a:off x="2187720" y="5712309"/>
              <a:ext cx="125096" cy="4"/>
            </a:xfrm>
            <a:prstGeom prst="line">
              <a:avLst/>
            </a:prstGeom>
            <a:noFill/>
            <a:ln w="1980">
              <a:solidFill>
                <a:srgbClr val="B8D2EB">
                  <a:alpha val="33000"/>
                </a:srgbClr>
              </a:solidFill>
            </a:ln>
          </p:spPr>
        </p:sp>
        <p:sp>
          <p:nvSpPr>
            <p:cNvPr id="202" name="asset_3169_7">
              <a:extLst>
                <a:ext uri="{FF2B5EF4-FFF2-40B4-BE49-F238E27FC236}">
                  <a16:creationId xmlns:a16="http://schemas.microsoft.com/office/drawing/2014/main" id="{7C531DBE-44D5-0DD2-8E76-6129D3F1BC33}"/>
                </a:ext>
              </a:extLst>
            </p:cNvPr>
            <p:cNvSpPr>
              <a:spLocks noGrp="1"/>
            </p:cNvSpPr>
            <p:nvPr/>
          </p:nvSpPr>
          <p:spPr>
            <a:xfrm>
              <a:off x="2281542" y="5657778"/>
              <a:ext cx="4" cy="109062"/>
            </a:xfrm>
            <a:prstGeom prst="line">
              <a:avLst/>
            </a:prstGeom>
            <a:noFill/>
            <a:ln w="1980">
              <a:solidFill>
                <a:srgbClr val="B8D2EB">
                  <a:alpha val="33000"/>
                </a:srgbClr>
              </a:solidFill>
            </a:ln>
          </p:spPr>
        </p:sp>
        <p:sp>
          <p:nvSpPr>
            <p:cNvPr id="203" name="asset_3169_8">
              <a:extLst>
                <a:ext uri="{FF2B5EF4-FFF2-40B4-BE49-F238E27FC236}">
                  <a16:creationId xmlns:a16="http://schemas.microsoft.com/office/drawing/2014/main" id="{85451D2A-DC37-8312-86FA-75A8E16E9DC2}"/>
                </a:ext>
              </a:extLst>
            </p:cNvPr>
            <p:cNvSpPr>
              <a:spLocks noGrp="1"/>
            </p:cNvSpPr>
            <p:nvPr/>
          </p:nvSpPr>
          <p:spPr>
            <a:xfrm>
              <a:off x="2187720" y="5739574"/>
              <a:ext cx="125096" cy="4"/>
            </a:xfrm>
            <a:prstGeom prst="line">
              <a:avLst/>
            </a:prstGeom>
            <a:noFill/>
            <a:ln w="1980">
              <a:solidFill>
                <a:srgbClr val="B8D2EB">
                  <a:alpha val="33000"/>
                </a:srgbClr>
              </a:solidFill>
            </a:ln>
          </p:spPr>
        </p:sp>
        <p:sp>
          <p:nvSpPr>
            <p:cNvPr id="204" name="asset_3169_9">
              <a:extLst>
                <a:ext uri="{FF2B5EF4-FFF2-40B4-BE49-F238E27FC236}">
                  <a16:creationId xmlns:a16="http://schemas.microsoft.com/office/drawing/2014/main" id="{7FF70347-436B-9B0B-141D-3FCBC6FE0DBE}"/>
                </a:ext>
              </a:extLst>
            </p:cNvPr>
            <p:cNvSpPr>
              <a:spLocks noGrp="1"/>
            </p:cNvSpPr>
            <p:nvPr/>
          </p:nvSpPr>
          <p:spPr>
            <a:xfrm>
              <a:off x="2198791" y="5672574"/>
              <a:ext cx="58245" cy="50256"/>
            </a:xfrm>
            <a:prstGeom prst="ellipse">
              <a:avLst/>
            </a:prstGeom>
            <a:gradFill>
              <a:gsLst>
                <a:gs pos="0">
                  <a:srgbClr val="E5F0FF">
                    <a:alpha val="55000"/>
                  </a:srgbClr>
                </a:gs>
                <a:gs pos="48000">
                  <a:srgbClr val="7DA9DB">
                    <a:alpha val="60000"/>
                  </a:srgbClr>
                </a:gs>
                <a:gs pos="100000">
                  <a:srgbClr val="7DA9DB">
                    <a:alpha val="35000"/>
                  </a:srgbClr>
                </a:gs>
              </a:gsLst>
              <a:lin ang="8400000"/>
            </a:gradFill>
            <a:ln w="3600">
              <a:noFill/>
            </a:ln>
            <a:effectLst>
              <a:softEdge rad="4320"/>
            </a:effectLst>
          </p:spPr>
        </p:sp>
        <p:sp>
          <p:nvSpPr>
            <p:cNvPr id="205" name="asset_3169_10">
              <a:extLst>
                <a:ext uri="{FF2B5EF4-FFF2-40B4-BE49-F238E27FC236}">
                  <a16:creationId xmlns:a16="http://schemas.microsoft.com/office/drawing/2014/main" id="{D7E60827-BA89-8814-8CE3-145CBF0A6AB8}"/>
                </a:ext>
              </a:extLst>
            </p:cNvPr>
            <p:cNvSpPr>
              <a:spLocks noGrp="1"/>
            </p:cNvSpPr>
            <p:nvPr/>
          </p:nvSpPr>
          <p:spPr>
            <a:xfrm>
              <a:off x="2225487" y="5687232"/>
              <a:ext cx="63099" cy="54444"/>
            </a:xfrm>
            <a:prstGeom prst="ellipse">
              <a:avLst/>
            </a:prstGeom>
            <a:gradFill>
              <a:gsLst>
                <a:gs pos="0">
                  <a:srgbClr val="E5F0FF">
                    <a:alpha val="55000"/>
                  </a:srgbClr>
                </a:gs>
                <a:gs pos="48000">
                  <a:srgbClr val="7DA9DB">
                    <a:alpha val="60000"/>
                  </a:srgbClr>
                </a:gs>
                <a:gs pos="100000">
                  <a:srgbClr val="7DA9DB">
                    <a:alpha val="35000"/>
                  </a:srgbClr>
                </a:gs>
              </a:gsLst>
              <a:lin ang="8400000"/>
            </a:gradFill>
            <a:ln w="3600">
              <a:noFill/>
            </a:ln>
            <a:effectLst>
              <a:softEdge rad="4320"/>
            </a:effectLst>
          </p:spPr>
        </p:sp>
        <p:sp>
          <p:nvSpPr>
            <p:cNvPr id="206" name="asset_3169_11">
              <a:extLst>
                <a:ext uri="{FF2B5EF4-FFF2-40B4-BE49-F238E27FC236}">
                  <a16:creationId xmlns:a16="http://schemas.microsoft.com/office/drawing/2014/main" id="{6105AEF4-8D48-420A-0461-8075C80AE2C1}"/>
                </a:ext>
              </a:extLst>
            </p:cNvPr>
            <p:cNvSpPr>
              <a:spLocks noGrp="1"/>
            </p:cNvSpPr>
            <p:nvPr/>
          </p:nvSpPr>
          <p:spPr>
            <a:xfrm>
              <a:off x="2248542" y="5660010"/>
              <a:ext cx="55818" cy="48162"/>
            </a:xfrm>
            <a:prstGeom prst="ellipse">
              <a:avLst/>
            </a:prstGeom>
            <a:gradFill>
              <a:gsLst>
                <a:gs pos="0">
                  <a:srgbClr val="E5F0FF">
                    <a:alpha val="55000"/>
                  </a:srgbClr>
                </a:gs>
                <a:gs pos="48000">
                  <a:srgbClr val="7DA9DB">
                    <a:alpha val="60000"/>
                  </a:srgbClr>
                </a:gs>
                <a:gs pos="100000">
                  <a:srgbClr val="7DA9DB">
                    <a:alpha val="35000"/>
                  </a:srgbClr>
                </a:gs>
              </a:gsLst>
              <a:lin ang="8400000"/>
            </a:gradFill>
            <a:ln w="3600">
              <a:noFill/>
            </a:ln>
            <a:effectLst>
              <a:softEdge rad="4320"/>
            </a:effectLst>
          </p:spPr>
        </p:sp>
        <p:sp>
          <p:nvSpPr>
            <p:cNvPr id="207" name="asset_3169_12">
              <a:extLst>
                <a:ext uri="{FF2B5EF4-FFF2-40B4-BE49-F238E27FC236}">
                  <a16:creationId xmlns:a16="http://schemas.microsoft.com/office/drawing/2014/main" id="{8E9D9C11-1123-0C07-A85F-0D5F76613F6B}"/>
                </a:ext>
              </a:extLst>
            </p:cNvPr>
            <p:cNvSpPr>
              <a:spLocks noGrp="1"/>
            </p:cNvSpPr>
            <p:nvPr/>
          </p:nvSpPr>
          <p:spPr>
            <a:xfrm>
              <a:off x="2223060" y="5652681"/>
              <a:ext cx="53391" cy="46068"/>
            </a:xfrm>
            <a:prstGeom prst="ellipse">
              <a:avLst/>
            </a:prstGeom>
            <a:gradFill>
              <a:gsLst>
                <a:gs pos="0">
                  <a:srgbClr val="E5F0FF">
                    <a:alpha val="55000"/>
                  </a:srgbClr>
                </a:gs>
                <a:gs pos="48000">
                  <a:srgbClr val="7DA9DB">
                    <a:alpha val="60000"/>
                  </a:srgbClr>
                </a:gs>
                <a:gs pos="100000">
                  <a:srgbClr val="7DA9DB">
                    <a:alpha val="35000"/>
                  </a:srgbClr>
                </a:gs>
              </a:gsLst>
              <a:lin ang="8400000"/>
            </a:gradFill>
            <a:ln w="3600">
              <a:noFill/>
            </a:ln>
            <a:effectLst>
              <a:softEdge rad="4320"/>
            </a:effectLst>
          </p:spPr>
        </p:sp>
        <p:sp>
          <p:nvSpPr>
            <p:cNvPr id="208" name="asset_3169_13">
              <a:extLst>
                <a:ext uri="{FF2B5EF4-FFF2-40B4-BE49-F238E27FC236}">
                  <a16:creationId xmlns:a16="http://schemas.microsoft.com/office/drawing/2014/main" id="{7F5EF7E3-98FA-C32C-D7C7-8AFB63E4C57F}"/>
                </a:ext>
              </a:extLst>
            </p:cNvPr>
            <p:cNvSpPr>
              <a:spLocks noGrp="1"/>
            </p:cNvSpPr>
            <p:nvPr/>
          </p:nvSpPr>
          <p:spPr>
            <a:xfrm>
              <a:off x="2207281" y="5693871"/>
              <a:ext cx="30911" cy="26671"/>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09" name="asset_3169_14">
              <a:extLst>
                <a:ext uri="{FF2B5EF4-FFF2-40B4-BE49-F238E27FC236}">
                  <a16:creationId xmlns:a16="http://schemas.microsoft.com/office/drawing/2014/main" id="{552C5C2E-2D11-653E-2820-FB4B78731A24}"/>
                </a:ext>
              </a:extLst>
            </p:cNvPr>
            <p:cNvSpPr>
              <a:spLocks noGrp="1"/>
            </p:cNvSpPr>
            <p:nvPr/>
          </p:nvSpPr>
          <p:spPr>
            <a:xfrm>
              <a:off x="2253557" y="5697302"/>
              <a:ext cx="21556" cy="18600"/>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10" name="asset_3169_15">
              <a:extLst>
                <a:ext uri="{FF2B5EF4-FFF2-40B4-BE49-F238E27FC236}">
                  <a16:creationId xmlns:a16="http://schemas.microsoft.com/office/drawing/2014/main" id="{BAE35BEC-1EA3-E046-1632-00CDA5708E9B}"/>
                </a:ext>
              </a:extLst>
            </p:cNvPr>
            <p:cNvSpPr>
              <a:spLocks noGrp="1"/>
            </p:cNvSpPr>
            <p:nvPr/>
          </p:nvSpPr>
          <p:spPr>
            <a:xfrm>
              <a:off x="2278359" y="5672317"/>
              <a:ext cx="20931" cy="18060"/>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11" name="asset_3169_16">
              <a:extLst>
                <a:ext uri="{FF2B5EF4-FFF2-40B4-BE49-F238E27FC236}">
                  <a16:creationId xmlns:a16="http://schemas.microsoft.com/office/drawing/2014/main" id="{6AA601F2-EEE0-D9AF-3EC7-BC2B54822243}"/>
                </a:ext>
              </a:extLst>
            </p:cNvPr>
            <p:cNvSpPr>
              <a:spLocks noGrp="1"/>
            </p:cNvSpPr>
            <p:nvPr/>
          </p:nvSpPr>
          <p:spPr>
            <a:xfrm>
              <a:off x="2235959" y="5649092"/>
              <a:ext cx="26179" cy="22588"/>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12" name="asset_3169_17">
              <a:extLst>
                <a:ext uri="{FF2B5EF4-FFF2-40B4-BE49-F238E27FC236}">
                  <a16:creationId xmlns:a16="http://schemas.microsoft.com/office/drawing/2014/main" id="{878D7667-CEE7-CEF6-70B6-DEB1F544CAAD}"/>
                </a:ext>
              </a:extLst>
            </p:cNvPr>
            <p:cNvSpPr>
              <a:spLocks noGrp="1"/>
            </p:cNvSpPr>
            <p:nvPr/>
          </p:nvSpPr>
          <p:spPr>
            <a:xfrm>
              <a:off x="2230057" y="5690206"/>
              <a:ext cx="17158" cy="14805"/>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13" name="asset_3169_18">
              <a:extLst>
                <a:ext uri="{FF2B5EF4-FFF2-40B4-BE49-F238E27FC236}">
                  <a16:creationId xmlns:a16="http://schemas.microsoft.com/office/drawing/2014/main" id="{351EDB78-8C82-DC1D-664B-F6FF7B84A9F1}"/>
                </a:ext>
              </a:extLst>
            </p:cNvPr>
            <p:cNvSpPr>
              <a:spLocks noGrp="1"/>
            </p:cNvSpPr>
            <p:nvPr/>
          </p:nvSpPr>
          <p:spPr>
            <a:xfrm>
              <a:off x="2228799" y="5700798"/>
              <a:ext cx="17470" cy="15073"/>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14" name="asset_3169_19">
              <a:extLst>
                <a:ext uri="{FF2B5EF4-FFF2-40B4-BE49-F238E27FC236}">
                  <a16:creationId xmlns:a16="http://schemas.microsoft.com/office/drawing/2014/main" id="{E7A52F15-9DF7-4846-E237-BB0AAB9470BA}"/>
                </a:ext>
              </a:extLst>
            </p:cNvPr>
            <p:cNvSpPr>
              <a:spLocks noGrp="1"/>
            </p:cNvSpPr>
            <p:nvPr/>
          </p:nvSpPr>
          <p:spPr>
            <a:xfrm>
              <a:off x="2264745" y="5672793"/>
              <a:ext cx="22335" cy="19272"/>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15" name="asset_3169_20">
              <a:extLst>
                <a:ext uri="{FF2B5EF4-FFF2-40B4-BE49-F238E27FC236}">
                  <a16:creationId xmlns:a16="http://schemas.microsoft.com/office/drawing/2014/main" id="{29912FC0-90AD-CAFF-D77D-A0F42ED861D2}"/>
                </a:ext>
              </a:extLst>
            </p:cNvPr>
            <p:cNvSpPr>
              <a:spLocks noGrp="1"/>
            </p:cNvSpPr>
            <p:nvPr/>
          </p:nvSpPr>
          <p:spPr>
            <a:xfrm>
              <a:off x="2247802" y="5671816"/>
              <a:ext cx="29288" cy="25271"/>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16" name="asset_3169_21">
              <a:extLst>
                <a:ext uri="{FF2B5EF4-FFF2-40B4-BE49-F238E27FC236}">
                  <a16:creationId xmlns:a16="http://schemas.microsoft.com/office/drawing/2014/main" id="{2AD778D1-EC39-656A-E2B1-21324D8D83A8}"/>
                </a:ext>
              </a:extLst>
            </p:cNvPr>
            <p:cNvSpPr>
              <a:spLocks noGrp="1"/>
            </p:cNvSpPr>
            <p:nvPr/>
          </p:nvSpPr>
          <p:spPr>
            <a:xfrm>
              <a:off x="2221472" y="5673188"/>
              <a:ext cx="24803" cy="21401"/>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17" name="asset_3169_22">
              <a:extLst>
                <a:ext uri="{FF2B5EF4-FFF2-40B4-BE49-F238E27FC236}">
                  <a16:creationId xmlns:a16="http://schemas.microsoft.com/office/drawing/2014/main" id="{EBE5E1C6-F951-9938-6A69-5DA408AF93DB}"/>
                </a:ext>
              </a:extLst>
            </p:cNvPr>
            <p:cNvSpPr>
              <a:spLocks noGrp="1"/>
            </p:cNvSpPr>
            <p:nvPr/>
          </p:nvSpPr>
          <p:spPr>
            <a:xfrm>
              <a:off x="2231057" y="5701581"/>
              <a:ext cx="27548" cy="23769"/>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18" name="asset_3169_23">
              <a:extLst>
                <a:ext uri="{FF2B5EF4-FFF2-40B4-BE49-F238E27FC236}">
                  <a16:creationId xmlns:a16="http://schemas.microsoft.com/office/drawing/2014/main" id="{F1153E8C-0F2E-6AB7-C7A0-47D330A7A957}"/>
                </a:ext>
              </a:extLst>
            </p:cNvPr>
            <p:cNvSpPr>
              <a:spLocks noGrp="1"/>
            </p:cNvSpPr>
            <p:nvPr/>
          </p:nvSpPr>
          <p:spPr>
            <a:xfrm>
              <a:off x="2264932" y="5667506"/>
              <a:ext cx="28421" cy="24522"/>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19" name="asset_3169_24">
              <a:extLst>
                <a:ext uri="{FF2B5EF4-FFF2-40B4-BE49-F238E27FC236}">
                  <a16:creationId xmlns:a16="http://schemas.microsoft.com/office/drawing/2014/main" id="{DE23AF56-0F8A-2CD2-02BB-AA067A239EC3}"/>
                </a:ext>
              </a:extLst>
            </p:cNvPr>
            <p:cNvSpPr>
              <a:spLocks noGrp="1"/>
            </p:cNvSpPr>
            <p:nvPr/>
          </p:nvSpPr>
          <p:spPr>
            <a:xfrm>
              <a:off x="2231286" y="5661727"/>
              <a:ext cx="25293" cy="21823"/>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20" name="asset_3169_25">
              <a:extLst>
                <a:ext uri="{FF2B5EF4-FFF2-40B4-BE49-F238E27FC236}">
                  <a16:creationId xmlns:a16="http://schemas.microsoft.com/office/drawing/2014/main" id="{AAABBA1A-88C8-145F-F985-2319B76297E1}"/>
                </a:ext>
              </a:extLst>
            </p:cNvPr>
            <p:cNvSpPr>
              <a:spLocks noGrp="1"/>
            </p:cNvSpPr>
            <p:nvPr/>
          </p:nvSpPr>
          <p:spPr>
            <a:xfrm>
              <a:off x="2203520" y="5678934"/>
              <a:ext cx="26056" cy="22482"/>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21" name="asset_3169_26">
              <a:extLst>
                <a:ext uri="{FF2B5EF4-FFF2-40B4-BE49-F238E27FC236}">
                  <a16:creationId xmlns:a16="http://schemas.microsoft.com/office/drawing/2014/main" id="{47F9C12F-F319-845B-1554-28862F186CF0}"/>
                </a:ext>
              </a:extLst>
            </p:cNvPr>
            <p:cNvSpPr>
              <a:spLocks noGrp="1"/>
            </p:cNvSpPr>
            <p:nvPr/>
          </p:nvSpPr>
          <p:spPr>
            <a:xfrm>
              <a:off x="2258761" y="5717055"/>
              <a:ext cx="20939" cy="18067"/>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22" name="asset_3169_27">
              <a:extLst>
                <a:ext uri="{FF2B5EF4-FFF2-40B4-BE49-F238E27FC236}">
                  <a16:creationId xmlns:a16="http://schemas.microsoft.com/office/drawing/2014/main" id="{2451DFE4-713C-74B2-8A94-7E4665923A18}"/>
                </a:ext>
              </a:extLst>
            </p:cNvPr>
            <p:cNvSpPr>
              <a:spLocks noGrp="1"/>
            </p:cNvSpPr>
            <p:nvPr/>
          </p:nvSpPr>
          <p:spPr>
            <a:xfrm>
              <a:off x="2262469" y="5681666"/>
              <a:ext cx="24125" cy="20816"/>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23" name="asset_3169_28">
              <a:extLst>
                <a:ext uri="{FF2B5EF4-FFF2-40B4-BE49-F238E27FC236}">
                  <a16:creationId xmlns:a16="http://schemas.microsoft.com/office/drawing/2014/main" id="{5F1135E5-B24E-3BC4-C0BD-D36F25D0EA23}"/>
                </a:ext>
              </a:extLst>
            </p:cNvPr>
            <p:cNvSpPr>
              <a:spLocks noGrp="1"/>
            </p:cNvSpPr>
            <p:nvPr/>
          </p:nvSpPr>
          <p:spPr>
            <a:xfrm>
              <a:off x="2238082" y="5671347"/>
              <a:ext cx="27389" cy="23632"/>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24" name="asset_3169_29">
              <a:extLst>
                <a:ext uri="{FF2B5EF4-FFF2-40B4-BE49-F238E27FC236}">
                  <a16:creationId xmlns:a16="http://schemas.microsoft.com/office/drawing/2014/main" id="{06D631A9-AE4C-48C1-DC2B-8A49FE9364CF}"/>
                </a:ext>
              </a:extLst>
            </p:cNvPr>
            <p:cNvSpPr>
              <a:spLocks noGrp="1"/>
            </p:cNvSpPr>
            <p:nvPr/>
          </p:nvSpPr>
          <p:spPr>
            <a:xfrm>
              <a:off x="2220795" y="5698579"/>
              <a:ext cx="25648" cy="22130"/>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25" name="asset_3169_30">
              <a:extLst>
                <a:ext uri="{FF2B5EF4-FFF2-40B4-BE49-F238E27FC236}">
                  <a16:creationId xmlns:a16="http://schemas.microsoft.com/office/drawing/2014/main" id="{86ECD83F-FB9A-3C06-84F3-D3635317311A}"/>
                </a:ext>
              </a:extLst>
            </p:cNvPr>
            <p:cNvSpPr>
              <a:spLocks noGrp="1"/>
            </p:cNvSpPr>
            <p:nvPr/>
          </p:nvSpPr>
          <p:spPr>
            <a:xfrm>
              <a:off x="2243067" y="5723084"/>
              <a:ext cx="17688" cy="15262"/>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26" name="asset_3169_31">
              <a:extLst>
                <a:ext uri="{FF2B5EF4-FFF2-40B4-BE49-F238E27FC236}">
                  <a16:creationId xmlns:a16="http://schemas.microsoft.com/office/drawing/2014/main" id="{6AD9255D-6E0D-4AFC-F871-87A290DB3774}"/>
                </a:ext>
              </a:extLst>
            </p:cNvPr>
            <p:cNvSpPr>
              <a:spLocks noGrp="1"/>
            </p:cNvSpPr>
            <p:nvPr/>
          </p:nvSpPr>
          <p:spPr>
            <a:xfrm>
              <a:off x="2257337" y="5659622"/>
              <a:ext cx="26336" cy="22723"/>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27" name="asset_3169_32">
              <a:extLst>
                <a:ext uri="{FF2B5EF4-FFF2-40B4-BE49-F238E27FC236}">
                  <a16:creationId xmlns:a16="http://schemas.microsoft.com/office/drawing/2014/main" id="{6E5BAC85-7E1A-E29A-0462-428A8064316C}"/>
                </a:ext>
              </a:extLst>
            </p:cNvPr>
            <p:cNvSpPr>
              <a:spLocks noGrp="1"/>
            </p:cNvSpPr>
            <p:nvPr/>
          </p:nvSpPr>
          <p:spPr>
            <a:xfrm>
              <a:off x="2256492" y="5666095"/>
              <a:ext cx="23460" cy="20242"/>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28" name="asset_3169_33">
              <a:extLst>
                <a:ext uri="{FF2B5EF4-FFF2-40B4-BE49-F238E27FC236}">
                  <a16:creationId xmlns:a16="http://schemas.microsoft.com/office/drawing/2014/main" id="{1416829B-D9ED-4FDA-E442-571A0E8B8314}"/>
                </a:ext>
              </a:extLst>
            </p:cNvPr>
            <p:cNvSpPr>
              <a:spLocks noGrp="1"/>
            </p:cNvSpPr>
            <p:nvPr/>
          </p:nvSpPr>
          <p:spPr>
            <a:xfrm>
              <a:off x="2210503" y="5688799"/>
              <a:ext cx="30840" cy="26610"/>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29" name="asset_3169_34">
              <a:extLst>
                <a:ext uri="{FF2B5EF4-FFF2-40B4-BE49-F238E27FC236}">
                  <a16:creationId xmlns:a16="http://schemas.microsoft.com/office/drawing/2014/main" id="{C5085BB9-1EDB-C8C1-138B-13C2173D67AD}"/>
                </a:ext>
              </a:extLst>
            </p:cNvPr>
            <p:cNvSpPr>
              <a:spLocks noGrp="1"/>
            </p:cNvSpPr>
            <p:nvPr/>
          </p:nvSpPr>
          <p:spPr>
            <a:xfrm>
              <a:off x="2236186" y="5705144"/>
              <a:ext cx="22611" cy="19510"/>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30" name="asset_3169_35">
              <a:extLst>
                <a:ext uri="{FF2B5EF4-FFF2-40B4-BE49-F238E27FC236}">
                  <a16:creationId xmlns:a16="http://schemas.microsoft.com/office/drawing/2014/main" id="{EC72223D-7B04-90D2-7770-501C4BD3755C}"/>
                </a:ext>
              </a:extLst>
            </p:cNvPr>
            <p:cNvSpPr>
              <a:spLocks noGrp="1"/>
            </p:cNvSpPr>
            <p:nvPr/>
          </p:nvSpPr>
          <p:spPr>
            <a:xfrm>
              <a:off x="2260671" y="5685042"/>
              <a:ext cx="19267" cy="16624"/>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31" name="asset_3169_36">
              <a:extLst>
                <a:ext uri="{FF2B5EF4-FFF2-40B4-BE49-F238E27FC236}">
                  <a16:creationId xmlns:a16="http://schemas.microsoft.com/office/drawing/2014/main" id="{D4717DE4-BE25-7585-C625-FF4EF9F8BEAC}"/>
                </a:ext>
              </a:extLst>
            </p:cNvPr>
            <p:cNvSpPr>
              <a:spLocks noGrp="1"/>
            </p:cNvSpPr>
            <p:nvPr/>
          </p:nvSpPr>
          <p:spPr>
            <a:xfrm>
              <a:off x="2255827" y="5658297"/>
              <a:ext cx="24486" cy="21128"/>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32" name="asset_3169_37">
              <a:extLst>
                <a:ext uri="{FF2B5EF4-FFF2-40B4-BE49-F238E27FC236}">
                  <a16:creationId xmlns:a16="http://schemas.microsoft.com/office/drawing/2014/main" id="{52EADF64-4A50-E05C-C518-7AA360032DE3}"/>
                </a:ext>
              </a:extLst>
            </p:cNvPr>
            <p:cNvSpPr>
              <a:spLocks noGrp="1"/>
            </p:cNvSpPr>
            <p:nvPr/>
          </p:nvSpPr>
          <p:spPr>
            <a:xfrm>
              <a:off x="2212444" y="5679829"/>
              <a:ext cx="19456" cy="16787"/>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33" name="asset_3169_38">
              <a:extLst>
                <a:ext uri="{FF2B5EF4-FFF2-40B4-BE49-F238E27FC236}">
                  <a16:creationId xmlns:a16="http://schemas.microsoft.com/office/drawing/2014/main" id="{D43E3618-B767-438B-23FB-AEE377839FDF}"/>
                </a:ext>
              </a:extLst>
            </p:cNvPr>
            <p:cNvSpPr>
              <a:spLocks noGrp="1"/>
            </p:cNvSpPr>
            <p:nvPr/>
          </p:nvSpPr>
          <p:spPr>
            <a:xfrm>
              <a:off x="2240936" y="5686210"/>
              <a:ext cx="21405" cy="18469"/>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34" name="asset_3169_39">
              <a:extLst>
                <a:ext uri="{FF2B5EF4-FFF2-40B4-BE49-F238E27FC236}">
                  <a16:creationId xmlns:a16="http://schemas.microsoft.com/office/drawing/2014/main" id="{6ACA3140-B059-414B-CDB2-5FA4025EE637}"/>
                </a:ext>
              </a:extLst>
            </p:cNvPr>
            <p:cNvSpPr>
              <a:spLocks noGrp="1"/>
            </p:cNvSpPr>
            <p:nvPr/>
          </p:nvSpPr>
          <p:spPr>
            <a:xfrm>
              <a:off x="2265093" y="5678881"/>
              <a:ext cx="26532" cy="22893"/>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95" name="asset_3169_40">
              <a:extLst>
                <a:ext uri="{FF2B5EF4-FFF2-40B4-BE49-F238E27FC236}">
                  <a16:creationId xmlns:a16="http://schemas.microsoft.com/office/drawing/2014/main" id="{3122709C-A32E-9EA1-1697-782E49FD6B93}"/>
                </a:ext>
              </a:extLst>
            </p:cNvPr>
            <p:cNvSpPr>
              <a:spLocks noGrp="1"/>
            </p:cNvSpPr>
            <p:nvPr/>
          </p:nvSpPr>
          <p:spPr>
            <a:xfrm>
              <a:off x="2229701" y="5665168"/>
              <a:ext cx="29465" cy="25424"/>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96" name="asset_3169_41">
              <a:extLst>
                <a:ext uri="{FF2B5EF4-FFF2-40B4-BE49-F238E27FC236}">
                  <a16:creationId xmlns:a16="http://schemas.microsoft.com/office/drawing/2014/main" id="{7BF70BA0-2616-4D72-CDB7-AAED157E5141}"/>
                </a:ext>
              </a:extLst>
            </p:cNvPr>
            <p:cNvSpPr>
              <a:spLocks noGrp="1"/>
            </p:cNvSpPr>
            <p:nvPr/>
          </p:nvSpPr>
          <p:spPr>
            <a:xfrm>
              <a:off x="2222658" y="5680582"/>
              <a:ext cx="27660" cy="23866"/>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307" name="asset_3169_42">
              <a:extLst>
                <a:ext uri="{FF2B5EF4-FFF2-40B4-BE49-F238E27FC236}">
                  <a16:creationId xmlns:a16="http://schemas.microsoft.com/office/drawing/2014/main" id="{0B269B31-54C5-39F9-4392-01C163382B36}"/>
                </a:ext>
              </a:extLst>
            </p:cNvPr>
            <p:cNvSpPr>
              <a:spLocks noGrp="1"/>
            </p:cNvSpPr>
            <p:nvPr/>
          </p:nvSpPr>
          <p:spPr>
            <a:xfrm>
              <a:off x="2243804" y="5697201"/>
              <a:ext cx="17846" cy="15398"/>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308" name="asset_3169_43">
              <a:extLst>
                <a:ext uri="{FF2B5EF4-FFF2-40B4-BE49-F238E27FC236}">
                  <a16:creationId xmlns:a16="http://schemas.microsoft.com/office/drawing/2014/main" id="{D13CE637-5BB6-1976-05FD-3A07DF6B2FEC}"/>
                </a:ext>
              </a:extLst>
            </p:cNvPr>
            <p:cNvSpPr>
              <a:spLocks noGrp="1"/>
            </p:cNvSpPr>
            <p:nvPr/>
          </p:nvSpPr>
          <p:spPr>
            <a:xfrm>
              <a:off x="2262800" y="5690235"/>
              <a:ext cx="21180" cy="18275"/>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309" name="asset_3169_44">
              <a:extLst>
                <a:ext uri="{FF2B5EF4-FFF2-40B4-BE49-F238E27FC236}">
                  <a16:creationId xmlns:a16="http://schemas.microsoft.com/office/drawing/2014/main" id="{F5D4082A-7441-AE9D-7324-7D2520D5E458}"/>
                </a:ext>
              </a:extLst>
            </p:cNvPr>
            <p:cNvSpPr>
              <a:spLocks noGrp="1"/>
            </p:cNvSpPr>
            <p:nvPr/>
          </p:nvSpPr>
          <p:spPr>
            <a:xfrm>
              <a:off x="2235058" y="5658630"/>
              <a:ext cx="25840" cy="22296"/>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310" name="asset_3169_45">
              <a:extLst>
                <a:ext uri="{FF2B5EF4-FFF2-40B4-BE49-F238E27FC236}">
                  <a16:creationId xmlns:a16="http://schemas.microsoft.com/office/drawing/2014/main" id="{9459B5E7-5F21-1B86-DB52-9A69C73B1697}"/>
                </a:ext>
              </a:extLst>
            </p:cNvPr>
            <p:cNvSpPr>
              <a:spLocks noGrp="1"/>
            </p:cNvSpPr>
            <p:nvPr/>
          </p:nvSpPr>
          <p:spPr>
            <a:xfrm>
              <a:off x="2211228" y="5681493"/>
              <a:ext cx="31451" cy="27137"/>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311" name="asset_3169_46">
              <a:extLst>
                <a:ext uri="{FF2B5EF4-FFF2-40B4-BE49-F238E27FC236}">
                  <a16:creationId xmlns:a16="http://schemas.microsoft.com/office/drawing/2014/main" id="{35D19D2B-600C-64D9-C055-04AC9C39B2D1}"/>
                </a:ext>
              </a:extLst>
            </p:cNvPr>
            <p:cNvSpPr>
              <a:spLocks noGrp="1"/>
            </p:cNvSpPr>
            <p:nvPr/>
          </p:nvSpPr>
          <p:spPr>
            <a:xfrm>
              <a:off x="2234524" y="5703451"/>
              <a:ext cx="21739" cy="18757"/>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312" name="asset_3169_47">
              <a:extLst>
                <a:ext uri="{FF2B5EF4-FFF2-40B4-BE49-F238E27FC236}">
                  <a16:creationId xmlns:a16="http://schemas.microsoft.com/office/drawing/2014/main" id="{1A1502B6-E289-FFA9-E40F-A57446276EF7}"/>
                </a:ext>
              </a:extLst>
            </p:cNvPr>
            <p:cNvSpPr>
              <a:spLocks noGrp="1"/>
            </p:cNvSpPr>
            <p:nvPr/>
          </p:nvSpPr>
          <p:spPr>
            <a:xfrm>
              <a:off x="2269639" y="5693556"/>
              <a:ext cx="19299" cy="16652"/>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313" name="asset_3169_48">
              <a:extLst>
                <a:ext uri="{FF2B5EF4-FFF2-40B4-BE49-F238E27FC236}">
                  <a16:creationId xmlns:a16="http://schemas.microsoft.com/office/drawing/2014/main" id="{CF0E229E-F944-DF40-2B97-F2397A04059B}"/>
                </a:ext>
              </a:extLst>
            </p:cNvPr>
            <p:cNvSpPr>
              <a:spLocks noGrp="1"/>
            </p:cNvSpPr>
            <p:nvPr/>
          </p:nvSpPr>
          <p:spPr>
            <a:xfrm>
              <a:off x="2221813" y="5667367"/>
              <a:ext cx="17021" cy="14686"/>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314" name="asset_3169_49">
              <a:extLst>
                <a:ext uri="{FF2B5EF4-FFF2-40B4-BE49-F238E27FC236}">
                  <a16:creationId xmlns:a16="http://schemas.microsoft.com/office/drawing/2014/main" id="{F0CFCA78-FEC5-E96A-674B-5A6E6E5A0A48}"/>
                </a:ext>
              </a:extLst>
            </p:cNvPr>
            <p:cNvSpPr>
              <a:spLocks noGrp="1"/>
            </p:cNvSpPr>
            <p:nvPr/>
          </p:nvSpPr>
          <p:spPr>
            <a:xfrm>
              <a:off x="2208530" y="5668919"/>
              <a:ext cx="27524" cy="23749"/>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315" name="asset_3169_50">
              <a:extLst>
                <a:ext uri="{FF2B5EF4-FFF2-40B4-BE49-F238E27FC236}">
                  <a16:creationId xmlns:a16="http://schemas.microsoft.com/office/drawing/2014/main" id="{E544FBDF-DF8C-893E-3CF2-ED3B245011B7}"/>
                </a:ext>
              </a:extLst>
            </p:cNvPr>
            <p:cNvSpPr>
              <a:spLocks noGrp="1"/>
            </p:cNvSpPr>
            <p:nvPr/>
          </p:nvSpPr>
          <p:spPr>
            <a:xfrm>
              <a:off x="2251433" y="5689815"/>
              <a:ext cx="17431" cy="15040"/>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316" name="asset_3169_51">
              <a:extLst>
                <a:ext uri="{FF2B5EF4-FFF2-40B4-BE49-F238E27FC236}">
                  <a16:creationId xmlns:a16="http://schemas.microsoft.com/office/drawing/2014/main" id="{2959F1C7-EB0F-1FB6-915E-CA503586F1D4}"/>
                </a:ext>
              </a:extLst>
            </p:cNvPr>
            <p:cNvSpPr>
              <a:spLocks noGrp="1"/>
            </p:cNvSpPr>
            <p:nvPr/>
          </p:nvSpPr>
          <p:spPr>
            <a:xfrm>
              <a:off x="2187720" y="5657778"/>
              <a:ext cx="125096" cy="109062"/>
            </a:xfrm>
            <a:custGeom>
              <a:avLst/>
              <a:gdLst/>
              <a:ahLst/>
              <a:cxnLst/>
              <a:rect l="0" t="0" r="0" b="0"/>
              <a:pathLst>
                <a:path w="125096" h="109062">
                  <a:moveTo>
                    <a:pt x="0" y="0"/>
                  </a:moveTo>
                  <a:lnTo>
                    <a:pt x="125096" y="0"/>
                  </a:lnTo>
                  <a:lnTo>
                    <a:pt x="125096" y="109062"/>
                  </a:lnTo>
                  <a:lnTo>
                    <a:pt x="0" y="109062"/>
                  </a:lnTo>
                  <a:close/>
                </a:path>
              </a:pathLst>
            </a:custGeom>
            <a:noFill/>
            <a:ln w="3600">
              <a:solidFill>
                <a:srgbClr val="8AB3D9"/>
              </a:solidFill>
            </a:ln>
          </p:spPr>
        </p:sp>
      </p:grpSp>
      <p:sp>
        <p:nvSpPr>
          <p:cNvPr id="317" name="TextBox 12306">
            <a:extLst>
              <a:ext uri="{FF2B5EF4-FFF2-40B4-BE49-F238E27FC236}">
                <a16:creationId xmlns:a16="http://schemas.microsoft.com/office/drawing/2014/main" id="{2667C4DA-283D-1BC0-83EE-9F20ACF0B4A6}"/>
              </a:ext>
            </a:extLst>
          </p:cNvPr>
          <p:cNvSpPr txBox="1"/>
          <p:nvPr/>
        </p:nvSpPr>
        <p:spPr>
          <a:xfrm>
            <a:off x="5276711" y="1960854"/>
            <a:ext cx="819150" cy="93744"/>
          </a:xfrm>
          <a:prstGeom prst="rect">
            <a:avLst/>
          </a:prstGeom>
          <a:noFill/>
        </p:spPr>
        <p:txBody>
          <a:bodyPr wrap="square" lIns="0" tIns="0" rIns="0" bIns="0" anchor="ctr">
            <a:spAutoFit/>
          </a:bodyPr>
          <a:lstStyle/>
          <a:p>
            <a:pPr algn="l">
              <a:lnSpc>
                <a:spcPct val="105000"/>
              </a:lnSpc>
            </a:pPr>
            <a:r>
              <a:rPr sz="623" b="1" dirty="0" err="1">
                <a:solidFill>
                  <a:srgbClr val="263442"/>
                </a:solidFill>
                <a:latin typeface="Arial"/>
              </a:rPr>
              <a:t>DG-PocketXMol</a:t>
            </a:r>
            <a:endParaRPr sz="623" b="1" dirty="0">
              <a:solidFill>
                <a:srgbClr val="263442"/>
              </a:solidFill>
              <a:latin typeface="Arial"/>
            </a:endParaRPr>
          </a:p>
        </p:txBody>
      </p:sp>
      <p:sp>
        <p:nvSpPr>
          <p:cNvPr id="318" name="TextBox 12307">
            <a:extLst>
              <a:ext uri="{FF2B5EF4-FFF2-40B4-BE49-F238E27FC236}">
                <a16:creationId xmlns:a16="http://schemas.microsoft.com/office/drawing/2014/main" id="{92451DD4-5BEE-8AB7-047A-A3D820411DDD}"/>
              </a:ext>
            </a:extLst>
          </p:cNvPr>
          <p:cNvSpPr txBox="1"/>
          <p:nvPr/>
        </p:nvSpPr>
        <p:spPr>
          <a:xfrm>
            <a:off x="5277204" y="2115727"/>
            <a:ext cx="819150" cy="163763"/>
          </a:xfrm>
          <a:prstGeom prst="rect">
            <a:avLst/>
          </a:prstGeom>
          <a:noFill/>
        </p:spPr>
        <p:txBody>
          <a:bodyPr wrap="square" lIns="0" tIns="0" rIns="0" bIns="0" anchor="ctr">
            <a:spAutoFit/>
          </a:bodyPr>
          <a:lstStyle/>
          <a:p>
            <a:pPr algn="l">
              <a:lnSpc>
                <a:spcPct val="96000"/>
              </a:lnSpc>
            </a:pPr>
            <a:r>
              <a:rPr sz="554" dirty="0">
                <a:solidFill>
                  <a:srgbClr val="263442"/>
                </a:solidFill>
                <a:latin typeface="Arial"/>
              </a:rPr>
              <a:t>Density-conditioned</a:t>
            </a:r>
            <a:endParaRPr lang="en-US" sz="554" dirty="0">
              <a:solidFill>
                <a:srgbClr val="263442"/>
              </a:solidFill>
              <a:latin typeface="Arial"/>
            </a:endParaRPr>
          </a:p>
          <a:p>
            <a:pPr algn="l">
              <a:lnSpc>
                <a:spcPct val="96000"/>
              </a:lnSpc>
            </a:pPr>
            <a:r>
              <a:rPr sz="554" dirty="0">
                <a:solidFill>
                  <a:srgbClr val="263442"/>
                </a:solidFill>
                <a:latin typeface="Arial"/>
              </a:rPr>
              <a:t>fine-tuning</a:t>
            </a:r>
          </a:p>
        </p:txBody>
      </p:sp>
      <p:sp>
        <p:nvSpPr>
          <p:cNvPr id="319" name="文本框 318">
            <a:extLst>
              <a:ext uri="{FF2B5EF4-FFF2-40B4-BE49-F238E27FC236}">
                <a16:creationId xmlns:a16="http://schemas.microsoft.com/office/drawing/2014/main" id="{61ED2392-2333-5045-1BA1-E1C226407BB2}"/>
              </a:ext>
            </a:extLst>
          </p:cNvPr>
          <p:cNvSpPr txBox="1"/>
          <p:nvPr/>
        </p:nvSpPr>
        <p:spPr>
          <a:xfrm>
            <a:off x="5519338" y="3396595"/>
            <a:ext cx="369012" cy="246221"/>
          </a:xfrm>
          <a:prstGeom prst="rect">
            <a:avLst/>
          </a:prstGeom>
          <a:noFill/>
        </p:spPr>
        <p:txBody>
          <a:bodyPr wrap="none" rtlCol="0">
            <a:spAutoFit/>
          </a:bodyPr>
          <a:lstStyle/>
          <a:p>
            <a:r>
              <a:rPr lang="en-US" altLang="zh-CN" sz="1000" dirty="0"/>
              <a:t>……</a:t>
            </a:r>
            <a:endParaRPr lang="zh-CN" altLang="en-US" sz="1000" dirty="0"/>
          </a:p>
        </p:txBody>
      </p:sp>
      <p:pic>
        <p:nvPicPr>
          <p:cNvPr id="50432" name="图片 50431">
            <a:extLst>
              <a:ext uri="{FF2B5EF4-FFF2-40B4-BE49-F238E27FC236}">
                <a16:creationId xmlns:a16="http://schemas.microsoft.com/office/drawing/2014/main" id="{2341D726-96DC-F1B5-DA2B-879CA9417BDA}"/>
              </a:ext>
            </a:extLst>
          </p:cNvPr>
          <p:cNvPicPr>
            <a:picLocks noChangeAspect="1"/>
          </p:cNvPicPr>
          <p:nvPr/>
        </p:nvPicPr>
        <p:blipFill>
          <a:blip r:embed="rId13"/>
          <a:stretch/>
        </p:blipFill>
        <p:spPr>
          <a:xfrm>
            <a:off x="5109601" y="3645105"/>
            <a:ext cx="814847" cy="588501"/>
          </a:xfrm>
          <a:prstGeom prst="rect">
            <a:avLst/>
          </a:prstGeom>
        </p:spPr>
      </p:pic>
    </p:spTree>
    <p:extLst>
      <p:ext uri="{BB962C8B-B14F-4D97-AF65-F5344CB8AC3E}">
        <p14:creationId xmlns:p14="http://schemas.microsoft.com/office/powerpoint/2010/main" val="163997024"/>
      </p:ext>
    </p:extLst>
  </p:cSld>
  <p:clrMapOvr>
    <a:masterClrMapping/>
  </p:clrMapOvr>
  <p:extLst>
    <p:ext uri="{6950BFC3-D8DA-4A85-94F7-54DA5524770B}">
      <p188:commentRel xmlns:p188="http://schemas.microsoft.com/office/powerpoint/2018/8/main" r:id="rId3"/>
    </p:ext>
  </p:extLs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3A6E18-01F8-B0BA-F43F-91B3A30C3C3E}"/>
            </a:ext>
          </a:extLst>
        </p:cNvPr>
        <p:cNvGrpSpPr/>
        <p:nvPr/>
      </p:nvGrpSpPr>
      <p:grpSpPr>
        <a:xfrm>
          <a:off x="0" y="0"/>
          <a:ext cx="0" cy="0"/>
          <a:chOff x="0" y="0"/>
          <a:chExt cx="0" cy="0"/>
        </a:xfrm>
      </p:grpSpPr>
      <p:sp>
        <p:nvSpPr>
          <p:cNvPr id="2" name="Panel | Find background">
            <a:extLst>
              <a:ext uri="{FF2B5EF4-FFF2-40B4-BE49-F238E27FC236}">
                <a16:creationId xmlns:a16="http://schemas.microsoft.com/office/drawing/2014/main" id="{A9090686-8929-C0A0-CCD3-B88878102309}"/>
              </a:ext>
            </a:extLst>
          </p:cNvPr>
          <p:cNvSpPr/>
          <p:nvPr/>
        </p:nvSpPr>
        <p:spPr>
          <a:xfrm>
            <a:off x="450985" y="89164"/>
            <a:ext cx="4381930" cy="1756103"/>
          </a:xfrm>
          <a:prstGeom prst="roundRect">
            <a:avLst>
              <a:gd name="adj" fmla="val 2000"/>
            </a:avLst>
          </a:prstGeom>
          <a:solidFill>
            <a:srgbClr val="E9EFF7"/>
          </a:solidFill>
          <a:ln w="9720">
            <a:solidFill>
              <a:srgbClr val="CFDBE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dirty="0"/>
          </a:p>
        </p:txBody>
      </p:sp>
      <p:sp>
        <p:nvSpPr>
          <p:cNvPr id="3" name="Panel | Match background">
            <a:extLst>
              <a:ext uri="{FF2B5EF4-FFF2-40B4-BE49-F238E27FC236}">
                <a16:creationId xmlns:a16="http://schemas.microsoft.com/office/drawing/2014/main" id="{28703D02-0EE9-C5A6-609C-08019DDE7E4E}"/>
              </a:ext>
            </a:extLst>
          </p:cNvPr>
          <p:cNvSpPr/>
          <p:nvPr/>
        </p:nvSpPr>
        <p:spPr>
          <a:xfrm>
            <a:off x="450985" y="1884235"/>
            <a:ext cx="4381930" cy="2532204"/>
          </a:xfrm>
          <a:prstGeom prst="roundRect">
            <a:avLst>
              <a:gd name="adj" fmla="val 2000"/>
            </a:avLst>
          </a:prstGeom>
          <a:solidFill>
            <a:srgbClr val="F2F9F6"/>
          </a:solidFill>
          <a:ln w="9720">
            <a:solidFill>
              <a:srgbClr val="C8E2D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dirty="0"/>
          </a:p>
        </p:txBody>
      </p:sp>
      <p:grpSp>
        <p:nvGrpSpPr>
          <p:cNvPr id="5" name="Input boundary layer">
            <a:extLst>
              <a:ext uri="{FF2B5EF4-FFF2-40B4-BE49-F238E27FC236}">
                <a16:creationId xmlns:a16="http://schemas.microsoft.com/office/drawing/2014/main" id="{DDB8823C-1C5D-EC2B-D97C-140C79222FB0}"/>
              </a:ext>
            </a:extLst>
          </p:cNvPr>
          <p:cNvGrpSpPr/>
          <p:nvPr/>
        </p:nvGrpSpPr>
        <p:grpSpPr>
          <a:xfrm>
            <a:off x="592345" y="2245791"/>
            <a:ext cx="1345044" cy="1068019"/>
            <a:chOff x="1393071" y="5281627"/>
            <a:chExt cx="3163259" cy="2511755"/>
          </a:xfrm>
        </p:grpSpPr>
        <p:sp>
          <p:nvSpPr>
            <p:cNvPr id="1478" name="V8 Match input boundary">
              <a:extLst>
                <a:ext uri="{FF2B5EF4-FFF2-40B4-BE49-F238E27FC236}">
                  <a16:creationId xmlns:a16="http://schemas.microsoft.com/office/drawing/2014/main" id="{7D0554F4-AE1C-63F1-A885-352F5424EDA9}"/>
                </a:ext>
              </a:extLst>
            </p:cNvPr>
            <p:cNvSpPr/>
            <p:nvPr/>
          </p:nvSpPr>
          <p:spPr>
            <a:xfrm>
              <a:off x="1393071" y="5281627"/>
              <a:ext cx="3163259" cy="2511755"/>
            </a:xfrm>
            <a:custGeom>
              <a:avLst/>
              <a:gdLst/>
              <a:ahLst/>
              <a:cxnLst/>
              <a:rect l="l" t="t" r="r" b="b"/>
              <a:pathLst>
                <a:path w="1345044" h="1068019">
                  <a:moveTo>
                    <a:pt x="31750" y="0"/>
                  </a:moveTo>
                  <a:lnTo>
                    <a:pt x="893699" y="0"/>
                  </a:lnTo>
                  <a:cubicBezTo>
                    <a:pt x="911162" y="0"/>
                    <a:pt x="925449" y="14288"/>
                    <a:pt x="925449" y="31750"/>
                  </a:cubicBezTo>
                  <a:lnTo>
                    <a:pt x="925449" y="489521"/>
                  </a:lnTo>
                  <a:cubicBezTo>
                    <a:pt x="925449" y="506984"/>
                    <a:pt x="939736" y="521271"/>
                    <a:pt x="957199" y="521271"/>
                  </a:cubicBezTo>
                  <a:lnTo>
                    <a:pt x="1313294" y="521271"/>
                  </a:lnTo>
                  <a:cubicBezTo>
                    <a:pt x="1330757" y="521271"/>
                    <a:pt x="1345044" y="535559"/>
                    <a:pt x="1345044" y="553021"/>
                  </a:cubicBezTo>
                  <a:lnTo>
                    <a:pt x="1345044" y="1036269"/>
                  </a:lnTo>
                  <a:cubicBezTo>
                    <a:pt x="1345044" y="1053732"/>
                    <a:pt x="1330757" y="1068019"/>
                    <a:pt x="1313294" y="1068019"/>
                  </a:cubicBezTo>
                  <a:lnTo>
                    <a:pt x="31750" y="1068019"/>
                  </a:lnTo>
                  <a:cubicBezTo>
                    <a:pt x="14288" y="1068019"/>
                    <a:pt x="0" y="1053732"/>
                    <a:pt x="0" y="1036269"/>
                  </a:cubicBezTo>
                  <a:lnTo>
                    <a:pt x="0" y="31750"/>
                  </a:lnTo>
                  <a:cubicBezTo>
                    <a:pt x="0" y="14288"/>
                    <a:pt x="14288" y="0"/>
                    <a:pt x="31750" y="0"/>
                  </a:cubicBezTo>
                  <a:close/>
                </a:path>
              </a:pathLst>
            </a:custGeom>
            <a:solidFill>
              <a:schemeClr val="bg1"/>
            </a:solidFill>
            <a:ln w="7290" cap="rnd">
              <a:solidFill>
                <a:srgbClr val="BEC7CE"/>
              </a:solidFill>
              <a:prstDash val="solid"/>
              <a:round/>
            </a:ln>
          </p:spPr>
          <p:txBody>
            <a:bodyPr/>
            <a:lstStyle/>
            <a:p>
              <a:endParaRPr lang="zh-CN" altLang="en-US" dirty="0"/>
            </a:p>
          </p:txBody>
        </p:sp>
      </p:grpSp>
      <p:sp>
        <p:nvSpPr>
          <p:cNvPr id="7" name="TextBox 4">
            <a:extLst>
              <a:ext uri="{FF2B5EF4-FFF2-40B4-BE49-F238E27FC236}">
                <a16:creationId xmlns:a16="http://schemas.microsoft.com/office/drawing/2014/main" id="{ADBC3EDA-5434-B072-0369-64F7979021C5}"/>
              </a:ext>
            </a:extLst>
          </p:cNvPr>
          <p:cNvSpPr txBox="1"/>
          <p:nvPr/>
        </p:nvSpPr>
        <p:spPr>
          <a:xfrm>
            <a:off x="519056" y="107111"/>
            <a:ext cx="174028" cy="149656"/>
          </a:xfrm>
          <a:prstGeom prst="rect">
            <a:avLst/>
          </a:prstGeom>
          <a:noFill/>
        </p:spPr>
        <p:txBody>
          <a:bodyPr wrap="square" lIns="0" tIns="0" rIns="0" bIns="0" anchor="ctr">
            <a:spAutoFit/>
          </a:bodyPr>
          <a:lstStyle/>
          <a:p>
            <a:pPr algn="l">
              <a:lnSpc>
                <a:spcPct val="105000"/>
              </a:lnSpc>
            </a:pPr>
            <a:r>
              <a:rPr sz="995" b="1" dirty="0">
                <a:solidFill>
                  <a:srgbClr val="263442"/>
                </a:solidFill>
                <a:latin typeface="Arial"/>
              </a:rPr>
              <a:t>a</a:t>
            </a:r>
          </a:p>
        </p:txBody>
      </p:sp>
      <p:sp>
        <p:nvSpPr>
          <p:cNvPr id="8" name="TextBox 5">
            <a:extLst>
              <a:ext uri="{FF2B5EF4-FFF2-40B4-BE49-F238E27FC236}">
                <a16:creationId xmlns:a16="http://schemas.microsoft.com/office/drawing/2014/main" id="{BDE65E3A-EB06-F9D8-4F70-55D863BF89FB}"/>
              </a:ext>
            </a:extLst>
          </p:cNvPr>
          <p:cNvSpPr txBox="1"/>
          <p:nvPr/>
        </p:nvSpPr>
        <p:spPr>
          <a:xfrm>
            <a:off x="677263" y="124527"/>
            <a:ext cx="2531320" cy="123624"/>
          </a:xfrm>
          <a:prstGeom prst="rect">
            <a:avLst/>
          </a:prstGeom>
          <a:noFill/>
        </p:spPr>
        <p:txBody>
          <a:bodyPr wrap="square" lIns="0" tIns="0" rIns="0" bIns="0" anchor="ctr">
            <a:spAutoFit/>
          </a:bodyPr>
          <a:lstStyle/>
          <a:p>
            <a:pPr algn="l">
              <a:lnSpc>
                <a:spcPct val="105000"/>
              </a:lnSpc>
            </a:pPr>
            <a:r>
              <a:rPr sz="822">
                <a:solidFill>
                  <a:srgbClr val="263442"/>
                </a:solidFill>
                <a:latin typeface="Arial"/>
              </a:rPr>
              <a:t>Find: locate ligand regions</a:t>
            </a:r>
          </a:p>
        </p:txBody>
      </p:sp>
      <p:sp>
        <p:nvSpPr>
          <p:cNvPr id="9" name="TextBox 6">
            <a:extLst>
              <a:ext uri="{FF2B5EF4-FFF2-40B4-BE49-F238E27FC236}">
                <a16:creationId xmlns:a16="http://schemas.microsoft.com/office/drawing/2014/main" id="{F3FF857A-DE19-FC06-9455-89983F39C003}"/>
              </a:ext>
            </a:extLst>
          </p:cNvPr>
          <p:cNvSpPr txBox="1"/>
          <p:nvPr/>
        </p:nvSpPr>
        <p:spPr>
          <a:xfrm>
            <a:off x="519056" y="1909702"/>
            <a:ext cx="174028" cy="149656"/>
          </a:xfrm>
          <a:prstGeom prst="rect">
            <a:avLst/>
          </a:prstGeom>
          <a:noFill/>
        </p:spPr>
        <p:txBody>
          <a:bodyPr wrap="square" lIns="0" tIns="0" rIns="0" bIns="0" anchor="ctr">
            <a:spAutoFit/>
          </a:bodyPr>
          <a:lstStyle/>
          <a:p>
            <a:pPr>
              <a:lnSpc>
                <a:spcPct val="105000"/>
              </a:lnSpc>
            </a:pPr>
            <a:r>
              <a:rPr sz="995" b="1" dirty="0">
                <a:solidFill>
                  <a:srgbClr val="263442"/>
                </a:solidFill>
                <a:latin typeface="Arial"/>
              </a:rPr>
              <a:t>b</a:t>
            </a:r>
          </a:p>
        </p:txBody>
      </p:sp>
      <p:sp>
        <p:nvSpPr>
          <p:cNvPr id="10" name="TextBox 7">
            <a:extLst>
              <a:ext uri="{FF2B5EF4-FFF2-40B4-BE49-F238E27FC236}">
                <a16:creationId xmlns:a16="http://schemas.microsoft.com/office/drawing/2014/main" id="{70ECA487-21BB-6209-C18F-3026009B4E59}"/>
              </a:ext>
            </a:extLst>
          </p:cNvPr>
          <p:cNvSpPr txBox="1"/>
          <p:nvPr/>
        </p:nvSpPr>
        <p:spPr>
          <a:xfrm>
            <a:off x="677200" y="1931954"/>
            <a:ext cx="2847735" cy="123624"/>
          </a:xfrm>
          <a:prstGeom prst="rect">
            <a:avLst/>
          </a:prstGeom>
          <a:noFill/>
        </p:spPr>
        <p:txBody>
          <a:bodyPr wrap="square" lIns="0" tIns="0" rIns="0" bIns="0" anchor="ctr">
            <a:spAutoFit/>
          </a:bodyPr>
          <a:lstStyle/>
          <a:p>
            <a:pPr algn="l">
              <a:lnSpc>
                <a:spcPct val="105000"/>
              </a:lnSpc>
            </a:pPr>
            <a:r>
              <a:rPr sz="822" dirty="0">
                <a:solidFill>
                  <a:srgbClr val="263442"/>
                </a:solidFill>
                <a:latin typeface="Arial"/>
              </a:rPr>
              <a:t>Match: candidate-to-identity assignment</a:t>
            </a:r>
          </a:p>
        </p:txBody>
      </p:sp>
      <p:sp>
        <p:nvSpPr>
          <p:cNvPr id="13" name="Find | Density card">
            <a:extLst>
              <a:ext uri="{FF2B5EF4-FFF2-40B4-BE49-F238E27FC236}">
                <a16:creationId xmlns:a16="http://schemas.microsoft.com/office/drawing/2014/main" id="{CAB7453E-57E4-6069-E17B-BEBD584DE9C5}"/>
              </a:ext>
            </a:extLst>
          </p:cNvPr>
          <p:cNvSpPr/>
          <p:nvPr/>
        </p:nvSpPr>
        <p:spPr>
          <a:xfrm>
            <a:off x="540853" y="284774"/>
            <a:ext cx="488504" cy="680292"/>
          </a:xfrm>
          <a:prstGeom prst="roundRect">
            <a:avLst>
              <a:gd name="adj" fmla="val 6000"/>
            </a:avLst>
          </a:prstGeom>
          <a:solidFill>
            <a:schemeClr val="bg1"/>
          </a:solidFill>
          <a:ln w="7290">
            <a:solidFill>
              <a:srgbClr val="BEC7C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14" name="TextBox 11">
            <a:extLst>
              <a:ext uri="{FF2B5EF4-FFF2-40B4-BE49-F238E27FC236}">
                <a16:creationId xmlns:a16="http://schemas.microsoft.com/office/drawing/2014/main" id="{E13F9DB9-2915-4D37-1A15-4DD879957FE6}"/>
              </a:ext>
            </a:extLst>
          </p:cNvPr>
          <p:cNvSpPr txBox="1"/>
          <p:nvPr/>
        </p:nvSpPr>
        <p:spPr>
          <a:xfrm>
            <a:off x="460928" y="318294"/>
            <a:ext cx="664471" cy="101503"/>
          </a:xfrm>
          <a:prstGeom prst="rect">
            <a:avLst/>
          </a:prstGeom>
          <a:noFill/>
        </p:spPr>
        <p:txBody>
          <a:bodyPr wrap="square" lIns="0" tIns="0" rIns="0" bIns="0" anchor="ctr">
            <a:spAutoFit/>
          </a:bodyPr>
          <a:lstStyle/>
          <a:p>
            <a:pPr algn="ctr">
              <a:lnSpc>
                <a:spcPct val="105000"/>
              </a:lnSpc>
            </a:pPr>
            <a:r>
              <a:rPr sz="675" dirty="0">
                <a:solidFill>
                  <a:srgbClr val="263442"/>
                </a:solidFill>
                <a:latin typeface="Arial"/>
              </a:rPr>
              <a:t>Density</a:t>
            </a:r>
          </a:p>
        </p:txBody>
      </p:sp>
      <p:sp>
        <p:nvSpPr>
          <p:cNvPr id="235" name="Find | Receptor card">
            <a:extLst>
              <a:ext uri="{FF2B5EF4-FFF2-40B4-BE49-F238E27FC236}">
                <a16:creationId xmlns:a16="http://schemas.microsoft.com/office/drawing/2014/main" id="{C39711EA-1578-1FDC-F7E5-415822DEC84F}"/>
              </a:ext>
            </a:extLst>
          </p:cNvPr>
          <p:cNvSpPr/>
          <p:nvPr/>
        </p:nvSpPr>
        <p:spPr>
          <a:xfrm>
            <a:off x="540852" y="1028349"/>
            <a:ext cx="489611" cy="727754"/>
          </a:xfrm>
          <a:prstGeom prst="roundRect">
            <a:avLst>
              <a:gd name="adj" fmla="val 6000"/>
            </a:avLst>
          </a:prstGeom>
          <a:solidFill>
            <a:schemeClr val="bg1"/>
          </a:solidFill>
          <a:ln w="7290">
            <a:solidFill>
              <a:srgbClr val="BEC7C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236" name="TextBox 6212">
            <a:extLst>
              <a:ext uri="{FF2B5EF4-FFF2-40B4-BE49-F238E27FC236}">
                <a16:creationId xmlns:a16="http://schemas.microsoft.com/office/drawing/2014/main" id="{4566817F-CA11-3CA5-4ED5-534E4B65A1C1}"/>
              </a:ext>
            </a:extLst>
          </p:cNvPr>
          <p:cNvSpPr txBox="1"/>
          <p:nvPr/>
        </p:nvSpPr>
        <p:spPr>
          <a:xfrm>
            <a:off x="434702" y="1053973"/>
            <a:ext cx="664471" cy="101503"/>
          </a:xfrm>
          <a:prstGeom prst="rect">
            <a:avLst/>
          </a:prstGeom>
          <a:noFill/>
        </p:spPr>
        <p:txBody>
          <a:bodyPr wrap="square" lIns="0" tIns="0" rIns="0" bIns="0" anchor="ctr">
            <a:spAutoFit/>
          </a:bodyPr>
          <a:lstStyle/>
          <a:p>
            <a:pPr algn="ctr">
              <a:lnSpc>
                <a:spcPct val="105000"/>
              </a:lnSpc>
            </a:pPr>
            <a:r>
              <a:rPr sz="675" dirty="0">
                <a:solidFill>
                  <a:srgbClr val="263442"/>
                </a:solidFill>
                <a:latin typeface="Arial"/>
              </a:rPr>
              <a:t>Receptor</a:t>
            </a:r>
          </a:p>
        </p:txBody>
      </p:sp>
      <p:sp>
        <p:nvSpPr>
          <p:cNvPr id="237" name="Find | 3D voxel U-Net box">
            <a:extLst>
              <a:ext uri="{FF2B5EF4-FFF2-40B4-BE49-F238E27FC236}">
                <a16:creationId xmlns:a16="http://schemas.microsoft.com/office/drawing/2014/main" id="{84C31B5C-DB46-3102-A094-A625CBC3795B}"/>
              </a:ext>
            </a:extLst>
          </p:cNvPr>
          <p:cNvSpPr/>
          <p:nvPr/>
        </p:nvSpPr>
        <p:spPr>
          <a:xfrm>
            <a:off x="1932849" y="284774"/>
            <a:ext cx="2183263" cy="743575"/>
          </a:xfrm>
          <a:prstGeom prst="roundRect">
            <a:avLst>
              <a:gd name="adj" fmla="val 5000"/>
            </a:avLst>
          </a:prstGeom>
          <a:solidFill>
            <a:srgbClr val="F4F6F7"/>
          </a:solidFill>
          <a:ln w="7290">
            <a:solidFill>
              <a:srgbClr val="BEC7C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238" name="TextBox 6223">
            <a:extLst>
              <a:ext uri="{FF2B5EF4-FFF2-40B4-BE49-F238E27FC236}">
                <a16:creationId xmlns:a16="http://schemas.microsoft.com/office/drawing/2014/main" id="{D0BEE622-6A06-FAEC-A1B9-E12DAFA59B95}"/>
              </a:ext>
            </a:extLst>
          </p:cNvPr>
          <p:cNvSpPr txBox="1"/>
          <p:nvPr/>
        </p:nvSpPr>
        <p:spPr>
          <a:xfrm>
            <a:off x="1932849" y="310561"/>
            <a:ext cx="2183263" cy="106632"/>
          </a:xfrm>
          <a:prstGeom prst="rect">
            <a:avLst/>
          </a:prstGeom>
          <a:noFill/>
        </p:spPr>
        <p:txBody>
          <a:bodyPr wrap="square" lIns="0" tIns="0" rIns="0" bIns="0" anchor="ctr">
            <a:spAutoFit/>
          </a:bodyPr>
          <a:lstStyle/>
          <a:p>
            <a:pPr algn="ctr">
              <a:lnSpc>
                <a:spcPct val="105000"/>
              </a:lnSpc>
            </a:pPr>
            <a:r>
              <a:rPr sz="709">
                <a:solidFill>
                  <a:srgbClr val="263442"/>
                </a:solidFill>
                <a:latin typeface="Arial"/>
              </a:rPr>
              <a:t>3D voxel U-Net</a:t>
            </a:r>
          </a:p>
        </p:txBody>
      </p:sp>
      <p:sp>
        <p:nvSpPr>
          <p:cNvPr id="239" name="TextBox 6224">
            <a:extLst>
              <a:ext uri="{FF2B5EF4-FFF2-40B4-BE49-F238E27FC236}">
                <a16:creationId xmlns:a16="http://schemas.microsoft.com/office/drawing/2014/main" id="{6162AD09-868A-9802-DD3F-493AE18E658B}"/>
              </a:ext>
            </a:extLst>
          </p:cNvPr>
          <p:cNvSpPr txBox="1"/>
          <p:nvPr/>
        </p:nvSpPr>
        <p:spPr>
          <a:xfrm>
            <a:off x="1932704" y="415407"/>
            <a:ext cx="2183414" cy="84510"/>
          </a:xfrm>
          <a:prstGeom prst="rect">
            <a:avLst/>
          </a:prstGeom>
          <a:noFill/>
        </p:spPr>
        <p:txBody>
          <a:bodyPr wrap="square" lIns="0" tIns="0" rIns="0" bIns="0" anchor="ctr">
            <a:spAutoFit/>
          </a:bodyPr>
          <a:lstStyle/>
          <a:p>
            <a:pPr algn="ctr">
              <a:lnSpc>
                <a:spcPct val="105000"/>
              </a:lnSpc>
            </a:pPr>
            <a:r>
              <a:rPr sz="562" i="1" dirty="0">
                <a:solidFill>
                  <a:srgbClr val="263442"/>
                </a:solidFill>
                <a:latin typeface="Arial"/>
              </a:rPr>
              <a:t>Skip connections</a:t>
            </a:r>
          </a:p>
        </p:txBody>
      </p:sp>
      <p:sp>
        <p:nvSpPr>
          <p:cNvPr id="240" name="TextBox 10003">
            <a:extLst>
              <a:ext uri="{FF2B5EF4-FFF2-40B4-BE49-F238E27FC236}">
                <a16:creationId xmlns:a16="http://schemas.microsoft.com/office/drawing/2014/main" id="{09C48FDC-7786-8263-4A08-E75021FC8287}"/>
              </a:ext>
            </a:extLst>
          </p:cNvPr>
          <p:cNvSpPr txBox="1"/>
          <p:nvPr/>
        </p:nvSpPr>
        <p:spPr>
          <a:xfrm>
            <a:off x="2098966" y="905035"/>
            <a:ext cx="553726" cy="88422"/>
          </a:xfrm>
          <a:prstGeom prst="rect">
            <a:avLst/>
          </a:prstGeom>
          <a:noFill/>
        </p:spPr>
        <p:txBody>
          <a:bodyPr wrap="square" lIns="0" tIns="0" rIns="0" bIns="0" anchor="ctr">
            <a:spAutoFit/>
          </a:bodyPr>
          <a:lstStyle/>
          <a:p>
            <a:pPr algn="ctr">
              <a:lnSpc>
                <a:spcPct val="105000"/>
              </a:lnSpc>
            </a:pPr>
            <a:r>
              <a:rPr sz="588">
                <a:solidFill>
                  <a:srgbClr val="263442"/>
                </a:solidFill>
                <a:latin typeface="Arial"/>
              </a:rPr>
              <a:t>Encoder</a:t>
            </a:r>
          </a:p>
        </p:txBody>
      </p:sp>
      <p:sp>
        <p:nvSpPr>
          <p:cNvPr id="241" name="TextBox 10004">
            <a:extLst>
              <a:ext uri="{FF2B5EF4-FFF2-40B4-BE49-F238E27FC236}">
                <a16:creationId xmlns:a16="http://schemas.microsoft.com/office/drawing/2014/main" id="{5D7C6AF6-28C5-C78C-2A6D-53148E9C5409}"/>
              </a:ext>
            </a:extLst>
          </p:cNvPr>
          <p:cNvSpPr txBox="1"/>
          <p:nvPr/>
        </p:nvSpPr>
        <p:spPr>
          <a:xfrm>
            <a:off x="2747617" y="905035"/>
            <a:ext cx="553726" cy="88422"/>
          </a:xfrm>
          <a:prstGeom prst="rect">
            <a:avLst/>
          </a:prstGeom>
          <a:noFill/>
        </p:spPr>
        <p:txBody>
          <a:bodyPr wrap="square" lIns="0" tIns="0" rIns="0" bIns="0" anchor="ctr">
            <a:spAutoFit/>
          </a:bodyPr>
          <a:lstStyle/>
          <a:p>
            <a:pPr algn="ctr">
              <a:lnSpc>
                <a:spcPct val="105000"/>
              </a:lnSpc>
            </a:pPr>
            <a:r>
              <a:rPr sz="588">
                <a:solidFill>
                  <a:srgbClr val="263442"/>
                </a:solidFill>
                <a:latin typeface="Arial"/>
              </a:rPr>
              <a:t>Bottleneck</a:t>
            </a:r>
          </a:p>
        </p:txBody>
      </p:sp>
      <p:sp>
        <p:nvSpPr>
          <p:cNvPr id="242" name="TextBox 10005">
            <a:extLst>
              <a:ext uri="{FF2B5EF4-FFF2-40B4-BE49-F238E27FC236}">
                <a16:creationId xmlns:a16="http://schemas.microsoft.com/office/drawing/2014/main" id="{7CC49EB1-DBD1-A7E7-516D-CECCC1D041F1}"/>
              </a:ext>
            </a:extLst>
          </p:cNvPr>
          <p:cNvSpPr txBox="1"/>
          <p:nvPr/>
        </p:nvSpPr>
        <p:spPr>
          <a:xfrm>
            <a:off x="3396268" y="905035"/>
            <a:ext cx="553726" cy="88422"/>
          </a:xfrm>
          <a:prstGeom prst="rect">
            <a:avLst/>
          </a:prstGeom>
          <a:noFill/>
        </p:spPr>
        <p:txBody>
          <a:bodyPr wrap="square" lIns="0" tIns="0" rIns="0" bIns="0" anchor="ctr">
            <a:spAutoFit/>
          </a:bodyPr>
          <a:lstStyle/>
          <a:p>
            <a:pPr algn="ctr">
              <a:lnSpc>
                <a:spcPct val="105000"/>
              </a:lnSpc>
            </a:pPr>
            <a:r>
              <a:rPr sz="588">
                <a:solidFill>
                  <a:srgbClr val="263442"/>
                </a:solidFill>
                <a:latin typeface="Arial"/>
              </a:rPr>
              <a:t>Decoder</a:t>
            </a:r>
          </a:p>
        </p:txBody>
      </p:sp>
      <p:sp>
        <p:nvSpPr>
          <p:cNvPr id="243" name="Find | Point Transformer V3 box">
            <a:extLst>
              <a:ext uri="{FF2B5EF4-FFF2-40B4-BE49-F238E27FC236}">
                <a16:creationId xmlns:a16="http://schemas.microsoft.com/office/drawing/2014/main" id="{E6BB0EBE-E97F-0460-89AE-378626BAD4D7}"/>
              </a:ext>
            </a:extLst>
          </p:cNvPr>
          <p:cNvSpPr/>
          <p:nvPr/>
        </p:nvSpPr>
        <p:spPr>
          <a:xfrm>
            <a:off x="1932849" y="1170736"/>
            <a:ext cx="2183263" cy="585368"/>
          </a:xfrm>
          <a:prstGeom prst="roundRect">
            <a:avLst>
              <a:gd name="adj" fmla="val 5000"/>
            </a:avLst>
          </a:prstGeom>
          <a:solidFill>
            <a:srgbClr val="F4F6F7"/>
          </a:solidFill>
          <a:ln w="7290">
            <a:solidFill>
              <a:srgbClr val="BEC7C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dirty="0"/>
          </a:p>
        </p:txBody>
      </p:sp>
      <p:grpSp>
        <p:nvGrpSpPr>
          <p:cNvPr id="244" name="Find | PTV3 stage 1 (no pseudo)">
            <a:extLst>
              <a:ext uri="{FF2B5EF4-FFF2-40B4-BE49-F238E27FC236}">
                <a16:creationId xmlns:a16="http://schemas.microsoft.com/office/drawing/2014/main" id="{B4F71929-AC06-8CA3-B3DD-0D60585A9033}"/>
              </a:ext>
            </a:extLst>
          </p:cNvPr>
          <p:cNvGrpSpPr/>
          <p:nvPr/>
        </p:nvGrpSpPr>
        <p:grpSpPr>
          <a:xfrm>
            <a:off x="2023818" y="1222153"/>
            <a:ext cx="276863" cy="197759"/>
            <a:chOff x="1837958" y="1438830"/>
            <a:chExt cx="279225" cy="243090"/>
          </a:xfrm>
        </p:grpSpPr>
        <p:sp>
          <p:nvSpPr>
            <p:cNvPr id="245" name="rect_1844">
              <a:extLst>
                <a:ext uri="{FF2B5EF4-FFF2-40B4-BE49-F238E27FC236}">
                  <a16:creationId xmlns:a16="http://schemas.microsoft.com/office/drawing/2014/main" id="{660AA888-4092-6DA6-78D3-4B888E2B2DA3}"/>
                </a:ext>
              </a:extLst>
            </p:cNvPr>
            <p:cNvSpPr/>
            <p:nvPr/>
          </p:nvSpPr>
          <p:spPr>
            <a:xfrm>
              <a:off x="1837958" y="1438830"/>
              <a:ext cx="279225" cy="243090"/>
            </a:xfrm>
            <a:prstGeom prst="roundRect">
              <a:avLst>
                <a:gd name="adj" fmla="val 6757"/>
              </a:avLst>
            </a:prstGeom>
            <a:solidFill>
              <a:srgbClr val="F8F5FC"/>
            </a:solidFill>
            <a:ln w="2540" cap="rnd" cmpd="sng" algn="ctr">
              <a:solidFill>
                <a:srgbClr val="C3D4E6"/>
              </a:solidFill>
              <a:prstDash val="solid"/>
              <a:round/>
              <a:headEnd type="none" w="med" len="med"/>
              <a:tailEnd type="none" w="med" len="med"/>
            </a:ln>
            <a:effectLst/>
          </p:spPr>
        </p:sp>
        <p:sp>
          <p:nvSpPr>
            <p:cNvPr id="246" name="ellipse_1845">
              <a:extLst>
                <a:ext uri="{FF2B5EF4-FFF2-40B4-BE49-F238E27FC236}">
                  <a16:creationId xmlns:a16="http://schemas.microsoft.com/office/drawing/2014/main" id="{8ED69D04-8A29-A5B5-FEDE-87DBF5A86A21}"/>
                </a:ext>
              </a:extLst>
            </p:cNvPr>
            <p:cNvSpPr/>
            <p:nvPr/>
          </p:nvSpPr>
          <p:spPr>
            <a:xfrm>
              <a:off x="1911179" y="1549889"/>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47" name="ellipse_1846">
              <a:extLst>
                <a:ext uri="{FF2B5EF4-FFF2-40B4-BE49-F238E27FC236}">
                  <a16:creationId xmlns:a16="http://schemas.microsoft.com/office/drawing/2014/main" id="{2F757B70-05BB-1D52-EAD7-99F943EE0786}"/>
                </a:ext>
              </a:extLst>
            </p:cNvPr>
            <p:cNvSpPr/>
            <p:nvPr/>
          </p:nvSpPr>
          <p:spPr>
            <a:xfrm>
              <a:off x="2016057" y="1569177"/>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48" name="ellipse_1847">
              <a:extLst>
                <a:ext uri="{FF2B5EF4-FFF2-40B4-BE49-F238E27FC236}">
                  <a16:creationId xmlns:a16="http://schemas.microsoft.com/office/drawing/2014/main" id="{33900347-5FB5-F6C0-81F6-93C079B537C5}"/>
                </a:ext>
              </a:extLst>
            </p:cNvPr>
            <p:cNvSpPr/>
            <p:nvPr/>
          </p:nvSpPr>
          <p:spPr>
            <a:xfrm>
              <a:off x="1901005" y="1463226"/>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49" name="ellipse_1848">
              <a:extLst>
                <a:ext uri="{FF2B5EF4-FFF2-40B4-BE49-F238E27FC236}">
                  <a16:creationId xmlns:a16="http://schemas.microsoft.com/office/drawing/2014/main" id="{D9E3B372-BB0F-C9A4-3974-A8E7AF7737B7}"/>
                </a:ext>
              </a:extLst>
            </p:cNvPr>
            <p:cNvSpPr/>
            <p:nvPr/>
          </p:nvSpPr>
          <p:spPr>
            <a:xfrm>
              <a:off x="1966917" y="1491223"/>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50" name="ellipse_1849">
              <a:extLst>
                <a:ext uri="{FF2B5EF4-FFF2-40B4-BE49-F238E27FC236}">
                  <a16:creationId xmlns:a16="http://schemas.microsoft.com/office/drawing/2014/main" id="{65731899-DB97-2E91-5665-E8C978110F71}"/>
                </a:ext>
              </a:extLst>
            </p:cNvPr>
            <p:cNvSpPr/>
            <p:nvPr/>
          </p:nvSpPr>
          <p:spPr>
            <a:xfrm>
              <a:off x="1981202" y="1461977"/>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51" name="ellipse_1850">
              <a:extLst>
                <a:ext uri="{FF2B5EF4-FFF2-40B4-BE49-F238E27FC236}">
                  <a16:creationId xmlns:a16="http://schemas.microsoft.com/office/drawing/2014/main" id="{FB870BF7-7DC4-B374-8AD0-46EC506BB29E}"/>
                </a:ext>
              </a:extLst>
            </p:cNvPr>
            <p:cNvSpPr/>
            <p:nvPr/>
          </p:nvSpPr>
          <p:spPr>
            <a:xfrm>
              <a:off x="2025801" y="1522781"/>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52" name="ellipse_1851">
              <a:extLst>
                <a:ext uri="{FF2B5EF4-FFF2-40B4-BE49-F238E27FC236}">
                  <a16:creationId xmlns:a16="http://schemas.microsoft.com/office/drawing/2014/main" id="{FB5210B2-4DAF-5841-3925-445BB6BA8E65}"/>
                </a:ext>
              </a:extLst>
            </p:cNvPr>
            <p:cNvSpPr/>
            <p:nvPr/>
          </p:nvSpPr>
          <p:spPr>
            <a:xfrm>
              <a:off x="1923657" y="1574090"/>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53" name="ellipse_1852">
              <a:extLst>
                <a:ext uri="{FF2B5EF4-FFF2-40B4-BE49-F238E27FC236}">
                  <a16:creationId xmlns:a16="http://schemas.microsoft.com/office/drawing/2014/main" id="{5E297BB0-4B0B-7393-6335-0A8D413997FE}"/>
                </a:ext>
              </a:extLst>
            </p:cNvPr>
            <p:cNvSpPr/>
            <p:nvPr/>
          </p:nvSpPr>
          <p:spPr>
            <a:xfrm>
              <a:off x="2046951" y="1492683"/>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54" name="ellipse_1853">
              <a:extLst>
                <a:ext uri="{FF2B5EF4-FFF2-40B4-BE49-F238E27FC236}">
                  <a16:creationId xmlns:a16="http://schemas.microsoft.com/office/drawing/2014/main" id="{3460EDB7-F270-4A51-230E-76F07C518E5B}"/>
                </a:ext>
              </a:extLst>
            </p:cNvPr>
            <p:cNvSpPr/>
            <p:nvPr/>
          </p:nvSpPr>
          <p:spPr>
            <a:xfrm>
              <a:off x="1971403" y="1621226"/>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55" name="ellipse_1854">
              <a:extLst>
                <a:ext uri="{FF2B5EF4-FFF2-40B4-BE49-F238E27FC236}">
                  <a16:creationId xmlns:a16="http://schemas.microsoft.com/office/drawing/2014/main" id="{D7F22E2B-29AF-AAFC-9390-4763B76AC824}"/>
                </a:ext>
              </a:extLst>
            </p:cNvPr>
            <p:cNvSpPr/>
            <p:nvPr/>
          </p:nvSpPr>
          <p:spPr>
            <a:xfrm>
              <a:off x="1916632" y="1483703"/>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grpSp>
      <p:grpSp>
        <p:nvGrpSpPr>
          <p:cNvPr id="256" name="Find | PTV3 stage 2 (no pseudo)">
            <a:extLst>
              <a:ext uri="{FF2B5EF4-FFF2-40B4-BE49-F238E27FC236}">
                <a16:creationId xmlns:a16="http://schemas.microsoft.com/office/drawing/2014/main" id="{F4A044B8-F6CD-9A28-3075-23E9F1427BD6}"/>
              </a:ext>
            </a:extLst>
          </p:cNvPr>
          <p:cNvGrpSpPr/>
          <p:nvPr/>
        </p:nvGrpSpPr>
        <p:grpSpPr>
          <a:xfrm>
            <a:off x="2454581" y="1218198"/>
            <a:ext cx="269656" cy="205670"/>
            <a:chOff x="2276505" y="1465110"/>
            <a:chExt cx="243090" cy="190530"/>
          </a:xfrm>
        </p:grpSpPr>
        <p:sp>
          <p:nvSpPr>
            <p:cNvPr id="257" name="rect_1860">
              <a:extLst>
                <a:ext uri="{FF2B5EF4-FFF2-40B4-BE49-F238E27FC236}">
                  <a16:creationId xmlns:a16="http://schemas.microsoft.com/office/drawing/2014/main" id="{2A2BC9FE-9931-3C68-E213-012D2334D100}"/>
                </a:ext>
              </a:extLst>
            </p:cNvPr>
            <p:cNvSpPr/>
            <p:nvPr/>
          </p:nvSpPr>
          <p:spPr>
            <a:xfrm>
              <a:off x="2276505" y="1465110"/>
              <a:ext cx="243090" cy="190530"/>
            </a:xfrm>
            <a:prstGeom prst="roundRect">
              <a:avLst>
                <a:gd name="adj" fmla="val 8621"/>
              </a:avLst>
            </a:prstGeom>
            <a:solidFill>
              <a:srgbClr val="F8F5FC"/>
            </a:solidFill>
            <a:ln w="2540" cap="rnd" cmpd="sng" algn="ctr">
              <a:solidFill>
                <a:srgbClr val="C3D4E6"/>
              </a:solidFill>
              <a:prstDash val="solid"/>
              <a:round/>
              <a:headEnd type="none" w="med" len="med"/>
              <a:tailEnd type="none" w="med" len="med"/>
            </a:ln>
            <a:effectLst/>
          </p:spPr>
        </p:sp>
        <p:sp>
          <p:nvSpPr>
            <p:cNvPr id="258" name="ellipse_1861">
              <a:extLst>
                <a:ext uri="{FF2B5EF4-FFF2-40B4-BE49-F238E27FC236}">
                  <a16:creationId xmlns:a16="http://schemas.microsoft.com/office/drawing/2014/main" id="{0D3FC1DA-E4D9-46A0-549F-86D3BA55D6FD}"/>
                </a:ext>
              </a:extLst>
            </p:cNvPr>
            <p:cNvSpPr/>
            <p:nvPr/>
          </p:nvSpPr>
          <p:spPr>
            <a:xfrm>
              <a:off x="2443383" y="1475381"/>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59" name="ellipse_1862">
              <a:extLst>
                <a:ext uri="{FF2B5EF4-FFF2-40B4-BE49-F238E27FC236}">
                  <a16:creationId xmlns:a16="http://schemas.microsoft.com/office/drawing/2014/main" id="{2E76A36E-124A-FF28-5F0C-9D8A556CAB6E}"/>
                </a:ext>
              </a:extLst>
            </p:cNvPr>
            <p:cNvSpPr/>
            <p:nvPr/>
          </p:nvSpPr>
          <p:spPr>
            <a:xfrm>
              <a:off x="2334302" y="1490546"/>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60" name="ellipse_1863">
              <a:extLst>
                <a:ext uri="{FF2B5EF4-FFF2-40B4-BE49-F238E27FC236}">
                  <a16:creationId xmlns:a16="http://schemas.microsoft.com/office/drawing/2014/main" id="{D535EE24-6485-F339-2CB7-F9EF085CB943}"/>
                </a:ext>
              </a:extLst>
            </p:cNvPr>
            <p:cNvSpPr/>
            <p:nvPr/>
          </p:nvSpPr>
          <p:spPr>
            <a:xfrm>
              <a:off x="2421391" y="1518211"/>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61" name="ellipse_1864">
              <a:extLst>
                <a:ext uri="{FF2B5EF4-FFF2-40B4-BE49-F238E27FC236}">
                  <a16:creationId xmlns:a16="http://schemas.microsoft.com/office/drawing/2014/main" id="{3E3B8E8E-0D51-B463-1AC5-8ABBD0D94E5F}"/>
                </a:ext>
              </a:extLst>
            </p:cNvPr>
            <p:cNvSpPr/>
            <p:nvPr/>
          </p:nvSpPr>
          <p:spPr>
            <a:xfrm>
              <a:off x="2395798" y="1481756"/>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62" name="ellipse_1865">
              <a:extLst>
                <a:ext uri="{FF2B5EF4-FFF2-40B4-BE49-F238E27FC236}">
                  <a16:creationId xmlns:a16="http://schemas.microsoft.com/office/drawing/2014/main" id="{A78CC97C-CF00-B4B4-232A-6540F415567F}"/>
                </a:ext>
              </a:extLst>
            </p:cNvPr>
            <p:cNvSpPr/>
            <p:nvPr/>
          </p:nvSpPr>
          <p:spPr>
            <a:xfrm>
              <a:off x="2345071" y="1608888"/>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63" name="ellipse_1866">
              <a:extLst>
                <a:ext uri="{FF2B5EF4-FFF2-40B4-BE49-F238E27FC236}">
                  <a16:creationId xmlns:a16="http://schemas.microsoft.com/office/drawing/2014/main" id="{1C7DD56E-5535-8B2E-615C-21EEB3FC0B60}"/>
                </a:ext>
              </a:extLst>
            </p:cNvPr>
            <p:cNvSpPr/>
            <p:nvPr/>
          </p:nvSpPr>
          <p:spPr>
            <a:xfrm>
              <a:off x="2455927" y="1523542"/>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64" name="ellipse_1867">
              <a:extLst>
                <a:ext uri="{FF2B5EF4-FFF2-40B4-BE49-F238E27FC236}">
                  <a16:creationId xmlns:a16="http://schemas.microsoft.com/office/drawing/2014/main" id="{53E5DFEF-A738-E1E2-6D82-562898867479}"/>
                </a:ext>
              </a:extLst>
            </p:cNvPr>
            <p:cNvSpPr/>
            <p:nvPr/>
          </p:nvSpPr>
          <p:spPr>
            <a:xfrm>
              <a:off x="2415612" y="1538275"/>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65" name="ellipse_1868">
              <a:extLst>
                <a:ext uri="{FF2B5EF4-FFF2-40B4-BE49-F238E27FC236}">
                  <a16:creationId xmlns:a16="http://schemas.microsoft.com/office/drawing/2014/main" id="{9F15DB89-4578-E9D4-B66C-9772D337DE92}"/>
                </a:ext>
              </a:extLst>
            </p:cNvPr>
            <p:cNvSpPr/>
            <p:nvPr/>
          </p:nvSpPr>
          <p:spPr>
            <a:xfrm>
              <a:off x="2384162" y="1553850"/>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grpSp>
      <p:grpSp>
        <p:nvGrpSpPr>
          <p:cNvPr id="266" name="Find | PTV3 stage 3 (no pseudo)">
            <a:extLst>
              <a:ext uri="{FF2B5EF4-FFF2-40B4-BE49-F238E27FC236}">
                <a16:creationId xmlns:a16="http://schemas.microsoft.com/office/drawing/2014/main" id="{8E5AF76E-A5D2-A1C4-1196-A1FB989CBECC}"/>
              </a:ext>
            </a:extLst>
          </p:cNvPr>
          <p:cNvGrpSpPr/>
          <p:nvPr/>
        </p:nvGrpSpPr>
        <p:grpSpPr>
          <a:xfrm>
            <a:off x="2902421" y="1230063"/>
            <a:ext cx="244120" cy="181939"/>
            <a:chOff x="2703555" y="1491390"/>
            <a:chExt cx="190530" cy="137970"/>
          </a:xfrm>
        </p:grpSpPr>
        <p:sp>
          <p:nvSpPr>
            <p:cNvPr id="267" name="rect_1874">
              <a:extLst>
                <a:ext uri="{FF2B5EF4-FFF2-40B4-BE49-F238E27FC236}">
                  <a16:creationId xmlns:a16="http://schemas.microsoft.com/office/drawing/2014/main" id="{75101B77-5988-FEB7-22BD-46F0384ADBC8}"/>
                </a:ext>
              </a:extLst>
            </p:cNvPr>
            <p:cNvSpPr/>
            <p:nvPr/>
          </p:nvSpPr>
          <p:spPr>
            <a:xfrm>
              <a:off x="2703555" y="1491390"/>
              <a:ext cx="190530" cy="137970"/>
            </a:xfrm>
            <a:prstGeom prst="roundRect">
              <a:avLst>
                <a:gd name="adj" fmla="val 11905"/>
              </a:avLst>
            </a:prstGeom>
            <a:solidFill>
              <a:srgbClr val="F8F5FC"/>
            </a:solidFill>
            <a:ln w="2540" cap="rnd" cmpd="sng" algn="ctr">
              <a:solidFill>
                <a:srgbClr val="C3D4E6"/>
              </a:solidFill>
              <a:prstDash val="solid"/>
              <a:round/>
              <a:headEnd type="none" w="med" len="med"/>
              <a:tailEnd type="none" w="med" len="med"/>
            </a:ln>
            <a:effectLst/>
          </p:spPr>
        </p:sp>
        <p:sp>
          <p:nvSpPr>
            <p:cNvPr id="268" name="ellipse_1875">
              <a:extLst>
                <a:ext uri="{FF2B5EF4-FFF2-40B4-BE49-F238E27FC236}">
                  <a16:creationId xmlns:a16="http://schemas.microsoft.com/office/drawing/2014/main" id="{0F3768B9-45DC-D239-6ECE-6B199905A0E6}"/>
                </a:ext>
              </a:extLst>
            </p:cNvPr>
            <p:cNvSpPr/>
            <p:nvPr/>
          </p:nvSpPr>
          <p:spPr>
            <a:xfrm>
              <a:off x="2782342" y="1524860"/>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69" name="ellipse_1876">
              <a:extLst>
                <a:ext uri="{FF2B5EF4-FFF2-40B4-BE49-F238E27FC236}">
                  <a16:creationId xmlns:a16="http://schemas.microsoft.com/office/drawing/2014/main" id="{9AC2E9D9-EA81-CB60-9668-376E55C3B65A}"/>
                </a:ext>
              </a:extLst>
            </p:cNvPr>
            <p:cNvSpPr/>
            <p:nvPr/>
          </p:nvSpPr>
          <p:spPr>
            <a:xfrm>
              <a:off x="2750750" y="1594469"/>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70" name="ellipse_1877">
              <a:extLst>
                <a:ext uri="{FF2B5EF4-FFF2-40B4-BE49-F238E27FC236}">
                  <a16:creationId xmlns:a16="http://schemas.microsoft.com/office/drawing/2014/main" id="{193512C0-B984-BF26-53B2-A4C133832B19}"/>
                </a:ext>
              </a:extLst>
            </p:cNvPr>
            <p:cNvSpPr/>
            <p:nvPr/>
          </p:nvSpPr>
          <p:spPr>
            <a:xfrm>
              <a:off x="2743887" y="1497155"/>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71" name="ellipse_1878">
              <a:extLst>
                <a:ext uri="{FF2B5EF4-FFF2-40B4-BE49-F238E27FC236}">
                  <a16:creationId xmlns:a16="http://schemas.microsoft.com/office/drawing/2014/main" id="{010957FC-182F-1FF9-1554-385555C7E5BB}"/>
                </a:ext>
              </a:extLst>
            </p:cNvPr>
            <p:cNvSpPr/>
            <p:nvPr/>
          </p:nvSpPr>
          <p:spPr>
            <a:xfrm>
              <a:off x="2833390" y="1511327"/>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72" name="ellipse_1879">
              <a:extLst>
                <a:ext uri="{FF2B5EF4-FFF2-40B4-BE49-F238E27FC236}">
                  <a16:creationId xmlns:a16="http://schemas.microsoft.com/office/drawing/2014/main" id="{D3BED3D3-6945-FBFB-0ADC-29AB3D61D264}"/>
                </a:ext>
              </a:extLst>
            </p:cNvPr>
            <p:cNvSpPr/>
            <p:nvPr/>
          </p:nvSpPr>
          <p:spPr>
            <a:xfrm>
              <a:off x="2831792" y="1567728"/>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grpSp>
      <p:grpSp>
        <p:nvGrpSpPr>
          <p:cNvPr id="273" name="Find | PTV3 stage 4 (no pseudo)">
            <a:extLst>
              <a:ext uri="{FF2B5EF4-FFF2-40B4-BE49-F238E27FC236}">
                <a16:creationId xmlns:a16="http://schemas.microsoft.com/office/drawing/2014/main" id="{6152C243-7C11-72B4-655A-F6C20103F058}"/>
              </a:ext>
            </a:extLst>
          </p:cNvPr>
          <p:cNvGrpSpPr/>
          <p:nvPr/>
        </p:nvGrpSpPr>
        <p:grpSpPr>
          <a:xfrm>
            <a:off x="3324724" y="1218198"/>
            <a:ext cx="269656" cy="205670"/>
            <a:chOff x="3097755" y="1465110"/>
            <a:chExt cx="243090" cy="190530"/>
          </a:xfrm>
        </p:grpSpPr>
        <p:sp>
          <p:nvSpPr>
            <p:cNvPr id="274" name="rect_1885">
              <a:extLst>
                <a:ext uri="{FF2B5EF4-FFF2-40B4-BE49-F238E27FC236}">
                  <a16:creationId xmlns:a16="http://schemas.microsoft.com/office/drawing/2014/main" id="{02A84936-E0C4-22EE-AB39-B8147866C1E6}"/>
                </a:ext>
              </a:extLst>
            </p:cNvPr>
            <p:cNvSpPr/>
            <p:nvPr/>
          </p:nvSpPr>
          <p:spPr>
            <a:xfrm>
              <a:off x="3097755" y="1465110"/>
              <a:ext cx="243090" cy="190530"/>
            </a:xfrm>
            <a:prstGeom prst="roundRect">
              <a:avLst>
                <a:gd name="adj" fmla="val 8621"/>
              </a:avLst>
            </a:prstGeom>
            <a:solidFill>
              <a:srgbClr val="F8F5FC"/>
            </a:solidFill>
            <a:ln w="2540" cap="rnd" cmpd="sng" algn="ctr">
              <a:solidFill>
                <a:srgbClr val="C3D4E6"/>
              </a:solidFill>
              <a:prstDash val="solid"/>
              <a:round/>
              <a:headEnd type="none" w="med" len="med"/>
              <a:tailEnd type="none" w="med" len="med"/>
            </a:ln>
            <a:effectLst/>
          </p:spPr>
        </p:sp>
        <p:sp>
          <p:nvSpPr>
            <p:cNvPr id="275" name="ellipse_1886">
              <a:extLst>
                <a:ext uri="{FF2B5EF4-FFF2-40B4-BE49-F238E27FC236}">
                  <a16:creationId xmlns:a16="http://schemas.microsoft.com/office/drawing/2014/main" id="{28C5B77C-D4DA-25CA-7F5E-FFB406D4948B}"/>
                </a:ext>
              </a:extLst>
            </p:cNvPr>
            <p:cNvSpPr/>
            <p:nvPr/>
          </p:nvSpPr>
          <p:spPr>
            <a:xfrm>
              <a:off x="3274804" y="1547857"/>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76" name="ellipse_1887">
              <a:extLst>
                <a:ext uri="{FF2B5EF4-FFF2-40B4-BE49-F238E27FC236}">
                  <a16:creationId xmlns:a16="http://schemas.microsoft.com/office/drawing/2014/main" id="{4B9C2CC8-3618-CEA6-223F-481DE7645A74}"/>
                </a:ext>
              </a:extLst>
            </p:cNvPr>
            <p:cNvSpPr/>
            <p:nvPr/>
          </p:nvSpPr>
          <p:spPr>
            <a:xfrm>
              <a:off x="3235593" y="1568791"/>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77" name="ellipse_1888">
              <a:extLst>
                <a:ext uri="{FF2B5EF4-FFF2-40B4-BE49-F238E27FC236}">
                  <a16:creationId xmlns:a16="http://schemas.microsoft.com/office/drawing/2014/main" id="{116AA07D-1658-6583-2048-22DAA979C713}"/>
                </a:ext>
              </a:extLst>
            </p:cNvPr>
            <p:cNvSpPr/>
            <p:nvPr/>
          </p:nvSpPr>
          <p:spPr>
            <a:xfrm>
              <a:off x="3215524" y="1548395"/>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78" name="ellipse_1889">
              <a:extLst>
                <a:ext uri="{FF2B5EF4-FFF2-40B4-BE49-F238E27FC236}">
                  <a16:creationId xmlns:a16="http://schemas.microsoft.com/office/drawing/2014/main" id="{B9996B1C-4365-A5B2-A0FA-BEEE1AE3580D}"/>
                </a:ext>
              </a:extLst>
            </p:cNvPr>
            <p:cNvSpPr/>
            <p:nvPr/>
          </p:nvSpPr>
          <p:spPr>
            <a:xfrm>
              <a:off x="3114632" y="1579955"/>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79" name="ellipse_1890">
              <a:extLst>
                <a:ext uri="{FF2B5EF4-FFF2-40B4-BE49-F238E27FC236}">
                  <a16:creationId xmlns:a16="http://schemas.microsoft.com/office/drawing/2014/main" id="{B24EA66B-C475-FD74-3653-99240EA2FC7D}"/>
                </a:ext>
              </a:extLst>
            </p:cNvPr>
            <p:cNvSpPr/>
            <p:nvPr/>
          </p:nvSpPr>
          <p:spPr>
            <a:xfrm>
              <a:off x="3288227" y="1584140"/>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80" name="ellipse_1891">
              <a:extLst>
                <a:ext uri="{FF2B5EF4-FFF2-40B4-BE49-F238E27FC236}">
                  <a16:creationId xmlns:a16="http://schemas.microsoft.com/office/drawing/2014/main" id="{7C05A257-A858-E4EC-CE72-2E262BB52B07}"/>
                </a:ext>
              </a:extLst>
            </p:cNvPr>
            <p:cNvSpPr/>
            <p:nvPr/>
          </p:nvSpPr>
          <p:spPr>
            <a:xfrm>
              <a:off x="3206468" y="1610077"/>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81" name="ellipse_1892">
              <a:extLst>
                <a:ext uri="{FF2B5EF4-FFF2-40B4-BE49-F238E27FC236}">
                  <a16:creationId xmlns:a16="http://schemas.microsoft.com/office/drawing/2014/main" id="{5029BF78-C694-94BA-2390-D6FC0A6BFD81}"/>
                </a:ext>
              </a:extLst>
            </p:cNvPr>
            <p:cNvSpPr/>
            <p:nvPr/>
          </p:nvSpPr>
          <p:spPr>
            <a:xfrm>
              <a:off x="3224851" y="1612180"/>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82" name="ellipse_1893">
              <a:extLst>
                <a:ext uri="{FF2B5EF4-FFF2-40B4-BE49-F238E27FC236}">
                  <a16:creationId xmlns:a16="http://schemas.microsoft.com/office/drawing/2014/main" id="{B400169A-5E49-FEE5-1915-FCB9E751F312}"/>
                </a:ext>
              </a:extLst>
            </p:cNvPr>
            <p:cNvSpPr/>
            <p:nvPr/>
          </p:nvSpPr>
          <p:spPr>
            <a:xfrm>
              <a:off x="3255857" y="1477242"/>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grpSp>
      <p:grpSp>
        <p:nvGrpSpPr>
          <p:cNvPr id="283" name="Find | PTV3 stage 5 (no pseudo)">
            <a:extLst>
              <a:ext uri="{FF2B5EF4-FFF2-40B4-BE49-F238E27FC236}">
                <a16:creationId xmlns:a16="http://schemas.microsoft.com/office/drawing/2014/main" id="{FE5D4BB8-AE08-CFDC-14F9-58D62B643799}"/>
              </a:ext>
            </a:extLst>
          </p:cNvPr>
          <p:cNvGrpSpPr/>
          <p:nvPr/>
        </p:nvGrpSpPr>
        <p:grpSpPr>
          <a:xfrm>
            <a:off x="3748279" y="1222153"/>
            <a:ext cx="276863" cy="197759"/>
            <a:chOff x="3473888" y="1438830"/>
            <a:chExt cx="279225" cy="243090"/>
          </a:xfrm>
        </p:grpSpPr>
        <p:sp>
          <p:nvSpPr>
            <p:cNvPr id="284" name="rect_1899">
              <a:extLst>
                <a:ext uri="{FF2B5EF4-FFF2-40B4-BE49-F238E27FC236}">
                  <a16:creationId xmlns:a16="http://schemas.microsoft.com/office/drawing/2014/main" id="{3C966A44-931E-3C61-C3E2-9910BF785D0E}"/>
                </a:ext>
              </a:extLst>
            </p:cNvPr>
            <p:cNvSpPr/>
            <p:nvPr/>
          </p:nvSpPr>
          <p:spPr>
            <a:xfrm>
              <a:off x="3473888" y="1438830"/>
              <a:ext cx="279225" cy="243090"/>
            </a:xfrm>
            <a:prstGeom prst="roundRect">
              <a:avLst>
                <a:gd name="adj" fmla="val 6757"/>
              </a:avLst>
            </a:prstGeom>
            <a:solidFill>
              <a:srgbClr val="F8F5FC"/>
            </a:solidFill>
            <a:ln w="2540" cap="rnd" cmpd="sng" algn="ctr">
              <a:solidFill>
                <a:srgbClr val="C3D4E6"/>
              </a:solidFill>
              <a:prstDash val="solid"/>
              <a:round/>
              <a:headEnd type="none" w="med" len="med"/>
              <a:tailEnd type="none" w="med" len="med"/>
            </a:ln>
            <a:effectLst/>
          </p:spPr>
        </p:sp>
        <p:sp>
          <p:nvSpPr>
            <p:cNvPr id="285" name="ellipse_1900">
              <a:extLst>
                <a:ext uri="{FF2B5EF4-FFF2-40B4-BE49-F238E27FC236}">
                  <a16:creationId xmlns:a16="http://schemas.microsoft.com/office/drawing/2014/main" id="{0734BB70-ADDB-68EE-E4C9-F1E9F19AF6E7}"/>
                </a:ext>
              </a:extLst>
            </p:cNvPr>
            <p:cNvSpPr/>
            <p:nvPr/>
          </p:nvSpPr>
          <p:spPr>
            <a:xfrm>
              <a:off x="3538819" y="1482538"/>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86" name="ellipse_1901">
              <a:extLst>
                <a:ext uri="{FF2B5EF4-FFF2-40B4-BE49-F238E27FC236}">
                  <a16:creationId xmlns:a16="http://schemas.microsoft.com/office/drawing/2014/main" id="{50CDA3FC-9E47-A0FF-54FE-0B291B80C55E}"/>
                </a:ext>
              </a:extLst>
            </p:cNvPr>
            <p:cNvSpPr/>
            <p:nvPr/>
          </p:nvSpPr>
          <p:spPr>
            <a:xfrm>
              <a:off x="3631999" y="1578094"/>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87" name="ellipse_1902">
              <a:extLst>
                <a:ext uri="{FF2B5EF4-FFF2-40B4-BE49-F238E27FC236}">
                  <a16:creationId xmlns:a16="http://schemas.microsoft.com/office/drawing/2014/main" id="{FDEE2D57-7D4E-037C-452C-66A797AB07C9}"/>
                </a:ext>
              </a:extLst>
            </p:cNvPr>
            <p:cNvSpPr/>
            <p:nvPr/>
          </p:nvSpPr>
          <p:spPr>
            <a:xfrm>
              <a:off x="3687564" y="1590175"/>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88" name="ellipse_1903">
              <a:extLst>
                <a:ext uri="{FF2B5EF4-FFF2-40B4-BE49-F238E27FC236}">
                  <a16:creationId xmlns:a16="http://schemas.microsoft.com/office/drawing/2014/main" id="{B2C7060E-B2BB-F02D-5B6F-B7D323B087B4}"/>
                </a:ext>
              </a:extLst>
            </p:cNvPr>
            <p:cNvSpPr/>
            <p:nvPr/>
          </p:nvSpPr>
          <p:spPr>
            <a:xfrm>
              <a:off x="3686262" y="1625396"/>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89" name="ellipse_1904">
              <a:extLst>
                <a:ext uri="{FF2B5EF4-FFF2-40B4-BE49-F238E27FC236}">
                  <a16:creationId xmlns:a16="http://schemas.microsoft.com/office/drawing/2014/main" id="{7DE1C447-AFD4-DD7C-5DE0-0E96E8153D12}"/>
                </a:ext>
              </a:extLst>
            </p:cNvPr>
            <p:cNvSpPr/>
            <p:nvPr/>
          </p:nvSpPr>
          <p:spPr>
            <a:xfrm>
              <a:off x="3673847" y="1457259"/>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90" name="ellipse_1905">
              <a:extLst>
                <a:ext uri="{FF2B5EF4-FFF2-40B4-BE49-F238E27FC236}">
                  <a16:creationId xmlns:a16="http://schemas.microsoft.com/office/drawing/2014/main" id="{536BBD44-5D8E-E642-7EFE-DC301B9D3F7F}"/>
                </a:ext>
              </a:extLst>
            </p:cNvPr>
            <p:cNvSpPr/>
            <p:nvPr/>
          </p:nvSpPr>
          <p:spPr>
            <a:xfrm>
              <a:off x="3580150" y="1603047"/>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91" name="ellipse_1906">
              <a:extLst>
                <a:ext uri="{FF2B5EF4-FFF2-40B4-BE49-F238E27FC236}">
                  <a16:creationId xmlns:a16="http://schemas.microsoft.com/office/drawing/2014/main" id="{2D018CC6-8BB4-0573-830A-62F9771BB455}"/>
                </a:ext>
              </a:extLst>
            </p:cNvPr>
            <p:cNvSpPr/>
            <p:nvPr/>
          </p:nvSpPr>
          <p:spPr>
            <a:xfrm>
              <a:off x="3499431" y="1479999"/>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92" name="ellipse_1907">
              <a:extLst>
                <a:ext uri="{FF2B5EF4-FFF2-40B4-BE49-F238E27FC236}">
                  <a16:creationId xmlns:a16="http://schemas.microsoft.com/office/drawing/2014/main" id="{3D9BABC9-7179-80DF-931B-76C5D153BFA2}"/>
                </a:ext>
              </a:extLst>
            </p:cNvPr>
            <p:cNvSpPr/>
            <p:nvPr/>
          </p:nvSpPr>
          <p:spPr>
            <a:xfrm>
              <a:off x="3698498" y="1633754"/>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93" name="ellipse_1908">
              <a:extLst>
                <a:ext uri="{FF2B5EF4-FFF2-40B4-BE49-F238E27FC236}">
                  <a16:creationId xmlns:a16="http://schemas.microsoft.com/office/drawing/2014/main" id="{BF41BEF8-8F67-637A-F426-1015DD3C37FC}"/>
                </a:ext>
              </a:extLst>
            </p:cNvPr>
            <p:cNvSpPr/>
            <p:nvPr/>
          </p:nvSpPr>
          <p:spPr>
            <a:xfrm>
              <a:off x="3664475" y="1606687"/>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94" name="ellipse_1909">
              <a:extLst>
                <a:ext uri="{FF2B5EF4-FFF2-40B4-BE49-F238E27FC236}">
                  <a16:creationId xmlns:a16="http://schemas.microsoft.com/office/drawing/2014/main" id="{E57407DB-12F2-A10B-73ED-904E74E89684}"/>
                </a:ext>
              </a:extLst>
            </p:cNvPr>
            <p:cNvSpPr/>
            <p:nvPr/>
          </p:nvSpPr>
          <p:spPr>
            <a:xfrm>
              <a:off x="3577670" y="1575000"/>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grpSp>
      <p:sp>
        <p:nvSpPr>
          <p:cNvPr id="297" name="TextBox 12152">
            <a:extLst>
              <a:ext uri="{FF2B5EF4-FFF2-40B4-BE49-F238E27FC236}">
                <a16:creationId xmlns:a16="http://schemas.microsoft.com/office/drawing/2014/main" id="{DA95DC65-9861-CC7E-7EFC-4B9E07722C91}"/>
              </a:ext>
            </a:extLst>
          </p:cNvPr>
          <p:cNvSpPr txBox="1"/>
          <p:nvPr/>
        </p:nvSpPr>
        <p:spPr>
          <a:xfrm>
            <a:off x="1932849" y="1615773"/>
            <a:ext cx="2183263" cy="106632"/>
          </a:xfrm>
          <a:prstGeom prst="rect">
            <a:avLst/>
          </a:prstGeom>
          <a:noFill/>
        </p:spPr>
        <p:txBody>
          <a:bodyPr wrap="square" lIns="0" tIns="0" rIns="0" bIns="0" anchor="ctr">
            <a:spAutoFit/>
          </a:bodyPr>
          <a:lstStyle/>
          <a:p>
            <a:pPr algn="ctr">
              <a:lnSpc>
                <a:spcPct val="105000"/>
              </a:lnSpc>
            </a:pPr>
            <a:r>
              <a:rPr sz="709">
                <a:solidFill>
                  <a:srgbClr val="263442"/>
                </a:solidFill>
                <a:latin typeface="Arial"/>
              </a:rPr>
              <a:t>Point Transformer V3</a:t>
            </a:r>
          </a:p>
        </p:txBody>
      </p:sp>
      <p:sp>
        <p:nvSpPr>
          <p:cNvPr id="298" name="TextBox 12153">
            <a:extLst>
              <a:ext uri="{FF2B5EF4-FFF2-40B4-BE49-F238E27FC236}">
                <a16:creationId xmlns:a16="http://schemas.microsoft.com/office/drawing/2014/main" id="{522E41DD-5F6E-76BD-E92F-5CBA886A651B}"/>
              </a:ext>
            </a:extLst>
          </p:cNvPr>
          <p:cNvSpPr txBox="1"/>
          <p:nvPr/>
        </p:nvSpPr>
        <p:spPr>
          <a:xfrm>
            <a:off x="2779258" y="1058360"/>
            <a:ext cx="767306" cy="88422"/>
          </a:xfrm>
          <a:prstGeom prst="rect">
            <a:avLst/>
          </a:prstGeom>
          <a:noFill/>
        </p:spPr>
        <p:txBody>
          <a:bodyPr wrap="square" lIns="0" tIns="0" rIns="0" bIns="0" anchor="ctr">
            <a:spAutoFit/>
          </a:bodyPr>
          <a:lstStyle/>
          <a:p>
            <a:pPr algn="ctr">
              <a:lnSpc>
                <a:spcPct val="105000"/>
              </a:lnSpc>
            </a:pPr>
            <a:r>
              <a:rPr lang="en-US" sz="588" dirty="0">
                <a:solidFill>
                  <a:srgbClr val="263442"/>
                </a:solidFill>
                <a:latin typeface="Arial"/>
              </a:rPr>
              <a:t>F</a:t>
            </a:r>
            <a:r>
              <a:rPr sz="588" dirty="0">
                <a:solidFill>
                  <a:srgbClr val="263442"/>
                </a:solidFill>
                <a:latin typeface="Arial"/>
              </a:rPr>
              <a:t>usion</a:t>
            </a:r>
          </a:p>
        </p:txBody>
      </p:sp>
      <p:sp>
        <p:nvSpPr>
          <p:cNvPr id="299" name="Find | Blobs output card">
            <a:extLst>
              <a:ext uri="{FF2B5EF4-FFF2-40B4-BE49-F238E27FC236}">
                <a16:creationId xmlns:a16="http://schemas.microsoft.com/office/drawing/2014/main" id="{6A602B9B-DE58-7AA0-FDBA-741F60C78A9B}"/>
              </a:ext>
            </a:extLst>
          </p:cNvPr>
          <p:cNvSpPr/>
          <p:nvPr/>
        </p:nvSpPr>
        <p:spPr>
          <a:xfrm>
            <a:off x="4300068" y="284775"/>
            <a:ext cx="442980" cy="1471328"/>
          </a:xfrm>
          <a:prstGeom prst="roundRect">
            <a:avLst>
              <a:gd name="adj" fmla="val 6000"/>
            </a:avLst>
          </a:prstGeom>
          <a:solidFill>
            <a:schemeClr val="bg1"/>
          </a:solidFill>
          <a:ln w="7290">
            <a:solidFill>
              <a:srgbClr val="BEC7C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300" name="TextBox 12155">
            <a:extLst>
              <a:ext uri="{FF2B5EF4-FFF2-40B4-BE49-F238E27FC236}">
                <a16:creationId xmlns:a16="http://schemas.microsoft.com/office/drawing/2014/main" id="{1F7C0F6F-D082-C8AA-DE11-4286EF42AADB}"/>
              </a:ext>
            </a:extLst>
          </p:cNvPr>
          <p:cNvSpPr txBox="1"/>
          <p:nvPr/>
        </p:nvSpPr>
        <p:spPr>
          <a:xfrm>
            <a:off x="4185689" y="307007"/>
            <a:ext cx="696113" cy="111954"/>
          </a:xfrm>
          <a:prstGeom prst="rect">
            <a:avLst/>
          </a:prstGeom>
          <a:noFill/>
        </p:spPr>
        <p:txBody>
          <a:bodyPr wrap="square" lIns="0" tIns="0" rIns="0" bIns="0" anchor="ctr">
            <a:spAutoFit/>
          </a:bodyPr>
          <a:lstStyle/>
          <a:p>
            <a:pPr algn="ctr">
              <a:lnSpc>
                <a:spcPct val="105000"/>
              </a:lnSpc>
            </a:pPr>
            <a:r>
              <a:rPr sz="744" dirty="0">
                <a:solidFill>
                  <a:srgbClr val="263442"/>
                </a:solidFill>
                <a:latin typeface="Arial"/>
              </a:rPr>
              <a:t>Blobs</a:t>
            </a:r>
          </a:p>
        </p:txBody>
      </p:sp>
      <p:sp>
        <p:nvSpPr>
          <p:cNvPr id="301" name="TextBox 12160">
            <a:extLst>
              <a:ext uri="{FF2B5EF4-FFF2-40B4-BE49-F238E27FC236}">
                <a16:creationId xmlns:a16="http://schemas.microsoft.com/office/drawing/2014/main" id="{EBF2AA16-9B52-B84F-43EE-03BA82B2D4CA}"/>
              </a:ext>
            </a:extLst>
          </p:cNvPr>
          <p:cNvSpPr txBox="1"/>
          <p:nvPr/>
        </p:nvSpPr>
        <p:spPr>
          <a:xfrm>
            <a:off x="616744" y="2090304"/>
            <a:ext cx="1186556" cy="107978"/>
          </a:xfrm>
          <a:prstGeom prst="rect">
            <a:avLst/>
          </a:prstGeom>
          <a:noFill/>
        </p:spPr>
        <p:txBody>
          <a:bodyPr wrap="square" lIns="0" tIns="0" rIns="0" bIns="0" anchor="ctr">
            <a:spAutoFit/>
          </a:bodyPr>
          <a:lstStyle/>
          <a:p>
            <a:pPr algn="l">
              <a:lnSpc>
                <a:spcPct val="105000"/>
              </a:lnSpc>
            </a:pPr>
            <a:r>
              <a:rPr sz="718" dirty="0">
                <a:solidFill>
                  <a:srgbClr val="263442"/>
                </a:solidFill>
                <a:latin typeface="Arial"/>
              </a:rPr>
              <a:t>Candidate encoder</a:t>
            </a:r>
          </a:p>
        </p:txBody>
      </p:sp>
      <p:sp>
        <p:nvSpPr>
          <p:cNvPr id="302" name="TextBox 12161">
            <a:extLst>
              <a:ext uri="{FF2B5EF4-FFF2-40B4-BE49-F238E27FC236}">
                <a16:creationId xmlns:a16="http://schemas.microsoft.com/office/drawing/2014/main" id="{1FD101AA-9130-CD96-6414-B193E6D36851}"/>
              </a:ext>
            </a:extLst>
          </p:cNvPr>
          <p:cNvSpPr txBox="1"/>
          <p:nvPr/>
        </p:nvSpPr>
        <p:spPr>
          <a:xfrm>
            <a:off x="2752186" y="2090304"/>
            <a:ext cx="1186556" cy="107978"/>
          </a:xfrm>
          <a:prstGeom prst="rect">
            <a:avLst/>
          </a:prstGeom>
          <a:noFill/>
        </p:spPr>
        <p:txBody>
          <a:bodyPr wrap="square" lIns="0" tIns="0" rIns="0" bIns="0" anchor="ctr">
            <a:spAutoFit/>
          </a:bodyPr>
          <a:lstStyle/>
          <a:p>
            <a:pPr algn="l">
              <a:lnSpc>
                <a:spcPct val="105000"/>
              </a:lnSpc>
            </a:pPr>
            <a:r>
              <a:rPr sz="718" dirty="0">
                <a:solidFill>
                  <a:srgbClr val="263442"/>
                </a:solidFill>
                <a:latin typeface="Arial"/>
              </a:rPr>
              <a:t>Identity encoder</a:t>
            </a:r>
          </a:p>
        </p:txBody>
      </p:sp>
      <p:sp>
        <p:nvSpPr>
          <p:cNvPr id="303" name="Match | Center divider">
            <a:extLst>
              <a:ext uri="{FF2B5EF4-FFF2-40B4-BE49-F238E27FC236}">
                <a16:creationId xmlns:a16="http://schemas.microsoft.com/office/drawing/2014/main" id="{5A593D05-94F5-C55B-C8C6-B8F9E86B08C6}"/>
              </a:ext>
            </a:extLst>
          </p:cNvPr>
          <p:cNvSpPr/>
          <p:nvPr/>
        </p:nvSpPr>
        <p:spPr>
          <a:xfrm>
            <a:off x="2605556" y="2119981"/>
            <a:ext cx="1" cy="1945952"/>
          </a:xfrm>
          <a:custGeom>
            <a:avLst/>
            <a:gdLst/>
            <a:ahLst/>
            <a:cxnLst/>
            <a:rect l="0" t="0" r="w" b="h"/>
            <a:pathLst>
              <a:path w="1" h="2249424">
                <a:moveTo>
                  <a:pt x="0" y="0"/>
                </a:moveTo>
                <a:lnTo>
                  <a:pt x="0" y="2249424"/>
                </a:lnTo>
              </a:path>
            </a:pathLst>
          </a:custGeom>
          <a:noFill/>
          <a:ln w="9525" cap="rnd" cmpd="sng" algn="ctr">
            <a:solidFill>
              <a:srgbClr val="C8CFD4"/>
            </a:solidFill>
            <a:prstDash val="solid"/>
            <a:round/>
            <a:headEnd type="none" w="med" len="med"/>
            <a:tailEnd type="none" w="med" len="med"/>
          </a:ln>
        </p:spPr>
      </p:sp>
      <p:sp>
        <p:nvSpPr>
          <p:cNvPr id="304" name="TextBox 12164">
            <a:extLst>
              <a:ext uri="{FF2B5EF4-FFF2-40B4-BE49-F238E27FC236}">
                <a16:creationId xmlns:a16="http://schemas.microsoft.com/office/drawing/2014/main" id="{DA6D9C81-D325-B373-1580-DEE13789E3EE}"/>
              </a:ext>
            </a:extLst>
          </p:cNvPr>
          <p:cNvSpPr txBox="1"/>
          <p:nvPr/>
        </p:nvSpPr>
        <p:spPr>
          <a:xfrm>
            <a:off x="608834" y="2270869"/>
            <a:ext cx="442981" cy="93744"/>
          </a:xfrm>
          <a:prstGeom prst="rect">
            <a:avLst/>
          </a:prstGeom>
          <a:noFill/>
        </p:spPr>
        <p:txBody>
          <a:bodyPr wrap="square" lIns="0" tIns="0" rIns="0" bIns="0" anchor="ctr">
            <a:spAutoFit/>
          </a:bodyPr>
          <a:lstStyle/>
          <a:p>
            <a:pPr algn="ctr">
              <a:lnSpc>
                <a:spcPct val="105000"/>
              </a:lnSpc>
            </a:pPr>
            <a:r>
              <a:rPr sz="623">
                <a:solidFill>
                  <a:srgbClr val="263442"/>
                </a:solidFill>
                <a:latin typeface="Arial"/>
              </a:rPr>
              <a:t>Receptor</a:t>
            </a:r>
          </a:p>
        </p:txBody>
      </p:sp>
      <p:sp>
        <p:nvSpPr>
          <p:cNvPr id="305" name="TextBox 12166">
            <a:extLst>
              <a:ext uri="{FF2B5EF4-FFF2-40B4-BE49-F238E27FC236}">
                <a16:creationId xmlns:a16="http://schemas.microsoft.com/office/drawing/2014/main" id="{6E830D7E-FC74-3019-18B2-DDE04B6E60D0}"/>
              </a:ext>
            </a:extLst>
          </p:cNvPr>
          <p:cNvSpPr txBox="1"/>
          <p:nvPr/>
        </p:nvSpPr>
        <p:spPr>
          <a:xfrm>
            <a:off x="1091367" y="2270869"/>
            <a:ext cx="442981" cy="93744"/>
          </a:xfrm>
          <a:prstGeom prst="rect">
            <a:avLst/>
          </a:prstGeom>
          <a:noFill/>
        </p:spPr>
        <p:txBody>
          <a:bodyPr wrap="square" lIns="0" tIns="0" rIns="0" bIns="0" anchor="ctr">
            <a:spAutoFit/>
          </a:bodyPr>
          <a:lstStyle/>
          <a:p>
            <a:pPr algn="ctr">
              <a:lnSpc>
                <a:spcPct val="105000"/>
              </a:lnSpc>
            </a:pPr>
            <a:r>
              <a:rPr sz="623" dirty="0">
                <a:solidFill>
                  <a:srgbClr val="263442"/>
                </a:solidFill>
                <a:latin typeface="Arial"/>
              </a:rPr>
              <a:t>Density</a:t>
            </a:r>
          </a:p>
        </p:txBody>
      </p:sp>
      <p:pic>
        <p:nvPicPr>
          <p:cNvPr id="306" name="Match corresponding experimental density" descr="Experimental 9LLG density around chain C1 of the displayed CryoAtom2 receptor, at the original contour level and the identical camera orientation.">
            <a:extLst>
              <a:ext uri="{FF2B5EF4-FFF2-40B4-BE49-F238E27FC236}">
                <a16:creationId xmlns:a16="http://schemas.microsoft.com/office/drawing/2014/main" id="{7A47CBDC-2732-4D0F-C4FF-972DA2F1AA3E}"/>
              </a:ext>
            </a:extLst>
          </p:cNvPr>
          <p:cNvPicPr/>
          <p:nvPr/>
        </p:nvPicPr>
        <p:blipFill>
          <a:blip r:embed="rId4"/>
          <a:stretch>
            <a:fillRect/>
          </a:stretch>
        </p:blipFill>
        <p:spPr>
          <a:xfrm>
            <a:off x="1138851" y="2380847"/>
            <a:ext cx="347980" cy="332276"/>
          </a:xfrm>
          <a:prstGeom prst="rect">
            <a:avLst/>
          </a:prstGeom>
        </p:spPr>
      </p:pic>
      <p:sp>
        <p:nvSpPr>
          <p:cNvPr id="526" name="TextBox 12168">
            <a:extLst>
              <a:ext uri="{FF2B5EF4-FFF2-40B4-BE49-F238E27FC236}">
                <a16:creationId xmlns:a16="http://schemas.microsoft.com/office/drawing/2014/main" id="{50BD09F1-2D4A-FA0A-7AF2-981DD7585F3A}"/>
              </a:ext>
            </a:extLst>
          </p:cNvPr>
          <p:cNvSpPr txBox="1"/>
          <p:nvPr/>
        </p:nvSpPr>
        <p:spPr>
          <a:xfrm>
            <a:off x="648883" y="2851277"/>
            <a:ext cx="340209" cy="97203"/>
          </a:xfrm>
          <a:prstGeom prst="rect">
            <a:avLst/>
          </a:prstGeom>
          <a:noFill/>
        </p:spPr>
        <p:txBody>
          <a:bodyPr wrap="square" lIns="0" tIns="0" rIns="0" bIns="0" anchor="ctr">
            <a:spAutoFit/>
          </a:bodyPr>
          <a:lstStyle/>
          <a:p>
            <a:pPr algn="ctr">
              <a:lnSpc>
                <a:spcPct val="105000"/>
              </a:lnSpc>
            </a:pPr>
            <a:r>
              <a:rPr sz="623">
                <a:solidFill>
                  <a:srgbClr val="263442"/>
                </a:solidFill>
                <a:latin typeface="Arial"/>
              </a:rPr>
              <a:t>Pocket</a:t>
            </a:r>
          </a:p>
        </p:txBody>
      </p:sp>
      <p:sp>
        <p:nvSpPr>
          <p:cNvPr id="613" name="TextBox 12177">
            <a:extLst>
              <a:ext uri="{FF2B5EF4-FFF2-40B4-BE49-F238E27FC236}">
                <a16:creationId xmlns:a16="http://schemas.microsoft.com/office/drawing/2014/main" id="{086F717F-C0B1-CD04-AFB8-166092CD717F}"/>
              </a:ext>
            </a:extLst>
          </p:cNvPr>
          <p:cNvSpPr txBox="1"/>
          <p:nvPr/>
        </p:nvSpPr>
        <p:spPr>
          <a:xfrm>
            <a:off x="1098445" y="2851277"/>
            <a:ext cx="340209" cy="97203"/>
          </a:xfrm>
          <a:prstGeom prst="rect">
            <a:avLst/>
          </a:prstGeom>
          <a:noFill/>
        </p:spPr>
        <p:txBody>
          <a:bodyPr wrap="square" lIns="0" tIns="0" rIns="0" bIns="0" anchor="ctr">
            <a:spAutoFit/>
          </a:bodyPr>
          <a:lstStyle/>
          <a:p>
            <a:pPr algn="ctr">
              <a:lnSpc>
                <a:spcPct val="105000"/>
              </a:lnSpc>
            </a:pPr>
            <a:r>
              <a:rPr sz="623">
                <a:solidFill>
                  <a:srgbClr val="263442"/>
                </a:solidFill>
                <a:latin typeface="Arial"/>
              </a:rPr>
              <a:t>Blob</a:t>
            </a:r>
          </a:p>
        </p:txBody>
      </p:sp>
      <p:grpSp>
        <p:nvGrpSpPr>
          <p:cNvPr id="614" name="Match | Blob contour">
            <a:extLst>
              <a:ext uri="{FF2B5EF4-FFF2-40B4-BE49-F238E27FC236}">
                <a16:creationId xmlns:a16="http://schemas.microsoft.com/office/drawing/2014/main" id="{ECF83E2A-3199-B09F-F90E-31DC9848C382}"/>
              </a:ext>
            </a:extLst>
          </p:cNvPr>
          <p:cNvGrpSpPr/>
          <p:nvPr/>
        </p:nvGrpSpPr>
        <p:grpSpPr>
          <a:xfrm>
            <a:off x="1122154" y="3036990"/>
            <a:ext cx="291608" cy="199265"/>
            <a:chOff x="1928706" y="3559489"/>
            <a:chExt cx="227897" cy="155682"/>
          </a:xfrm>
        </p:grpSpPr>
        <p:sp>
          <p:nvSpPr>
            <p:cNvPr id="615" name="Candidate blob | editable contour">
              <a:extLst>
                <a:ext uri="{FF2B5EF4-FFF2-40B4-BE49-F238E27FC236}">
                  <a16:creationId xmlns:a16="http://schemas.microsoft.com/office/drawing/2014/main" id="{513F782E-E1DE-1B64-68A9-FB54BE71715F}"/>
                </a:ext>
              </a:extLst>
            </p:cNvPr>
            <p:cNvSpPr/>
            <p:nvPr/>
          </p:nvSpPr>
          <p:spPr>
            <a:xfrm>
              <a:off x="1928706" y="3559489"/>
              <a:ext cx="227897" cy="155682"/>
            </a:xfrm>
            <a:custGeom>
              <a:avLst/>
              <a:gdLst/>
              <a:ahLst/>
              <a:cxnLst/>
              <a:rect l="0" t="0" r="w" b="h"/>
              <a:pathLst>
                <a:path w="227897" h="155682" extrusionOk="0">
                  <a:moveTo>
                    <a:pt x="5338" y="97866"/>
                  </a:moveTo>
                  <a:cubicBezTo>
                    <a:pt x="0" y="80701"/>
                    <a:pt x="18889" y="54504"/>
                    <a:pt x="29976" y="43663"/>
                  </a:cubicBezTo>
                  <a:cubicBezTo>
                    <a:pt x="41062" y="32823"/>
                    <a:pt x="58719" y="39447"/>
                    <a:pt x="71859" y="32823"/>
                  </a:cubicBezTo>
                  <a:cubicBezTo>
                    <a:pt x="84999" y="26198"/>
                    <a:pt x="92391" y="7829"/>
                    <a:pt x="108816" y="3915"/>
                  </a:cubicBezTo>
                  <a:cubicBezTo>
                    <a:pt x="125241" y="0"/>
                    <a:pt x="153984" y="3613"/>
                    <a:pt x="170409" y="9335"/>
                  </a:cubicBezTo>
                  <a:cubicBezTo>
                    <a:pt x="186834" y="15056"/>
                    <a:pt x="198332" y="26198"/>
                    <a:pt x="207366" y="38243"/>
                  </a:cubicBezTo>
                  <a:cubicBezTo>
                    <a:pt x="216399" y="50288"/>
                    <a:pt x="227897" y="67151"/>
                    <a:pt x="224612" y="81605"/>
                  </a:cubicBezTo>
                  <a:cubicBezTo>
                    <a:pt x="221327" y="96059"/>
                    <a:pt x="203259" y="113223"/>
                    <a:pt x="187656" y="124967"/>
                  </a:cubicBezTo>
                  <a:cubicBezTo>
                    <a:pt x="172052" y="136711"/>
                    <a:pt x="151931" y="148455"/>
                    <a:pt x="130989" y="152068"/>
                  </a:cubicBezTo>
                  <a:cubicBezTo>
                    <a:pt x="110048" y="155682"/>
                    <a:pt x="82946" y="155682"/>
                    <a:pt x="62004" y="146648"/>
                  </a:cubicBezTo>
                  <a:cubicBezTo>
                    <a:pt x="41062" y="137614"/>
                    <a:pt x="10676" y="115030"/>
                    <a:pt x="5338" y="97866"/>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616" name="ellipse_2612">
              <a:extLst>
                <a:ext uri="{FF2B5EF4-FFF2-40B4-BE49-F238E27FC236}">
                  <a16:creationId xmlns:a16="http://schemas.microsoft.com/office/drawing/2014/main" id="{12A4650A-7359-9456-1843-A3C9E08B2497}"/>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sp>
        <p:nvSpPr>
          <p:cNvPr id="618" name="TextBox 12186">
            <a:extLst>
              <a:ext uri="{FF2B5EF4-FFF2-40B4-BE49-F238E27FC236}">
                <a16:creationId xmlns:a16="http://schemas.microsoft.com/office/drawing/2014/main" id="{88505915-A113-7FAA-6C15-3F2B10F6D7CB}"/>
              </a:ext>
            </a:extLst>
          </p:cNvPr>
          <p:cNvSpPr txBox="1"/>
          <p:nvPr/>
        </p:nvSpPr>
        <p:spPr>
          <a:xfrm>
            <a:off x="1640255" y="2259965"/>
            <a:ext cx="286938" cy="92333"/>
          </a:xfrm>
          <a:prstGeom prst="rect">
            <a:avLst/>
          </a:prstGeom>
          <a:noFill/>
        </p:spPr>
        <p:txBody>
          <a:bodyPr wrap="none" lIns="0" tIns="0" rIns="0" bIns="0" anchor="ctr">
            <a:spAutoFit/>
          </a:bodyPr>
          <a:lstStyle/>
          <a:p>
            <a:pPr algn="ctr">
              <a:lnSpc>
                <a:spcPct val="105000"/>
              </a:lnSpc>
            </a:pPr>
            <a:r>
              <a:rPr sz="614">
                <a:solidFill>
                  <a:srgbClr val="263442"/>
                </a:solidFill>
                <a:latin typeface="Arial"/>
              </a:rPr>
              <a:t>48³ crop</a:t>
            </a:r>
          </a:p>
        </p:txBody>
      </p:sp>
      <p:grpSp>
        <p:nvGrpSpPr>
          <p:cNvPr id="619" name="48^3 crop 3D cube">
            <a:extLst>
              <a:ext uri="{FF2B5EF4-FFF2-40B4-BE49-F238E27FC236}">
                <a16:creationId xmlns:a16="http://schemas.microsoft.com/office/drawing/2014/main" id="{50441A72-5112-E010-1BBD-72FFF87A8B6E}"/>
              </a:ext>
            </a:extLst>
          </p:cNvPr>
          <p:cNvGrpSpPr/>
          <p:nvPr/>
        </p:nvGrpSpPr>
        <p:grpSpPr>
          <a:xfrm>
            <a:off x="1657361" y="2353114"/>
            <a:ext cx="251107" cy="197645"/>
            <a:chOff x="4043880" y="489960"/>
            <a:chExt cx="571680" cy="450000"/>
          </a:xfrm>
        </p:grpSpPr>
        <p:sp>
          <p:nvSpPr>
            <p:cNvPr id="620" name="asset_2027_0">
              <a:extLst>
                <a:ext uri="{FF2B5EF4-FFF2-40B4-BE49-F238E27FC236}">
                  <a16:creationId xmlns:a16="http://schemas.microsoft.com/office/drawing/2014/main" id="{2C26482F-D7D7-E3F6-FBCD-22AC82315E62}"/>
                </a:ext>
              </a:extLst>
            </p:cNvPr>
            <p:cNvSpPr>
              <a:spLocks noGrp="1"/>
            </p:cNvSpPr>
            <p:nvPr/>
          </p:nvSpPr>
          <p:spPr>
            <a:xfrm>
              <a:off x="4043880" y="489960"/>
              <a:ext cx="571680" cy="76500"/>
            </a:xfrm>
            <a:custGeom>
              <a:avLst/>
              <a:gdLst/>
              <a:ahLst/>
              <a:cxnLst/>
              <a:rect l="0" t="0" r="0" b="0"/>
              <a:pathLst>
                <a:path w="571680" h="76500">
                  <a:moveTo>
                    <a:pt x="0" y="76500"/>
                  </a:moveTo>
                  <a:lnTo>
                    <a:pt x="108619" y="0"/>
                  </a:lnTo>
                  <a:lnTo>
                    <a:pt x="571680" y="0"/>
                  </a:lnTo>
                  <a:lnTo>
                    <a:pt x="463061" y="76500"/>
                  </a:lnTo>
                  <a:close/>
                </a:path>
              </a:pathLst>
            </a:custGeom>
            <a:gradFill>
              <a:gsLst>
                <a:gs pos="0">
                  <a:srgbClr val="FAFDFF">
                    <a:alpha val="65000"/>
                  </a:srgbClr>
                </a:gs>
                <a:gs pos="100000">
                  <a:srgbClr val="D9EAFA">
                    <a:alpha val="45000"/>
                  </a:srgbClr>
                </a:gs>
              </a:gsLst>
              <a:lin ang="5400000"/>
            </a:gradFill>
            <a:ln w="2700">
              <a:solidFill>
                <a:srgbClr val="A3C3E2"/>
              </a:solidFill>
            </a:ln>
          </p:spPr>
        </p:sp>
        <p:sp>
          <p:nvSpPr>
            <p:cNvPr id="621" name="asset_2027_1">
              <a:extLst>
                <a:ext uri="{FF2B5EF4-FFF2-40B4-BE49-F238E27FC236}">
                  <a16:creationId xmlns:a16="http://schemas.microsoft.com/office/drawing/2014/main" id="{F28AFBA7-0A71-99DE-9FF9-EBD0ADC1144C}"/>
                </a:ext>
              </a:extLst>
            </p:cNvPr>
            <p:cNvSpPr>
              <a:spLocks noGrp="1"/>
            </p:cNvSpPr>
            <p:nvPr/>
          </p:nvSpPr>
          <p:spPr>
            <a:xfrm>
              <a:off x="4506941" y="489960"/>
              <a:ext cx="108619" cy="450000"/>
            </a:xfrm>
            <a:custGeom>
              <a:avLst/>
              <a:gdLst/>
              <a:ahLst/>
              <a:cxnLst/>
              <a:rect l="0" t="0" r="0" b="0"/>
              <a:pathLst>
                <a:path w="108619" h="450000">
                  <a:moveTo>
                    <a:pt x="0" y="76500"/>
                  </a:moveTo>
                  <a:lnTo>
                    <a:pt x="108619" y="0"/>
                  </a:lnTo>
                  <a:lnTo>
                    <a:pt x="108619" y="373500"/>
                  </a:lnTo>
                  <a:lnTo>
                    <a:pt x="0" y="450000"/>
                  </a:lnTo>
                  <a:close/>
                </a:path>
              </a:pathLst>
            </a:custGeom>
            <a:solidFill>
              <a:srgbClr val="C9DFF3">
                <a:alpha val="22000"/>
              </a:srgbClr>
            </a:solidFill>
            <a:ln w="2700">
              <a:solidFill>
                <a:srgbClr val="A3C3E2"/>
              </a:solidFill>
            </a:ln>
          </p:spPr>
        </p:sp>
        <p:sp>
          <p:nvSpPr>
            <p:cNvPr id="622" name="asset_2027_2">
              <a:extLst>
                <a:ext uri="{FF2B5EF4-FFF2-40B4-BE49-F238E27FC236}">
                  <a16:creationId xmlns:a16="http://schemas.microsoft.com/office/drawing/2014/main" id="{97E064B3-0050-239C-C963-C5E4E31B84D2}"/>
                </a:ext>
              </a:extLst>
            </p:cNvPr>
            <p:cNvSpPr>
              <a:spLocks noGrp="1"/>
            </p:cNvSpPr>
            <p:nvPr/>
          </p:nvSpPr>
          <p:spPr>
            <a:xfrm>
              <a:off x="4043880" y="566460"/>
              <a:ext cx="463061" cy="373500"/>
            </a:xfrm>
            <a:prstGeom prst="rect">
              <a:avLst/>
            </a:prstGeom>
            <a:solidFill>
              <a:srgbClr val="E7F1FC">
                <a:alpha val="20000"/>
              </a:srgbClr>
            </a:solidFill>
            <a:ln w="2700">
              <a:solidFill>
                <a:srgbClr val="ABC9E7"/>
              </a:solidFill>
            </a:ln>
          </p:spPr>
        </p:sp>
        <p:sp>
          <p:nvSpPr>
            <p:cNvPr id="623" name="asset_2027_3">
              <a:extLst>
                <a:ext uri="{FF2B5EF4-FFF2-40B4-BE49-F238E27FC236}">
                  <a16:creationId xmlns:a16="http://schemas.microsoft.com/office/drawing/2014/main" id="{A2C54284-938E-B40D-7CE6-20A987BE1447}"/>
                </a:ext>
              </a:extLst>
            </p:cNvPr>
            <p:cNvSpPr>
              <a:spLocks noGrp="1"/>
            </p:cNvSpPr>
            <p:nvPr/>
          </p:nvSpPr>
          <p:spPr>
            <a:xfrm>
              <a:off x="4159645" y="566460"/>
              <a:ext cx="4" cy="373500"/>
            </a:xfrm>
            <a:prstGeom prst="line">
              <a:avLst/>
            </a:prstGeom>
            <a:noFill/>
            <a:ln w="1980">
              <a:solidFill>
                <a:srgbClr val="B8D2EB">
                  <a:alpha val="33000"/>
                </a:srgbClr>
              </a:solidFill>
            </a:ln>
          </p:spPr>
        </p:sp>
        <p:sp>
          <p:nvSpPr>
            <p:cNvPr id="624" name="asset_2027_4">
              <a:extLst>
                <a:ext uri="{FF2B5EF4-FFF2-40B4-BE49-F238E27FC236}">
                  <a16:creationId xmlns:a16="http://schemas.microsoft.com/office/drawing/2014/main" id="{0F8960CE-A059-8D07-91FB-C97F3078BCD9}"/>
                </a:ext>
              </a:extLst>
            </p:cNvPr>
            <p:cNvSpPr>
              <a:spLocks noGrp="1"/>
            </p:cNvSpPr>
            <p:nvPr/>
          </p:nvSpPr>
          <p:spPr>
            <a:xfrm>
              <a:off x="4043880" y="659835"/>
              <a:ext cx="463061" cy="4"/>
            </a:xfrm>
            <a:prstGeom prst="line">
              <a:avLst/>
            </a:prstGeom>
            <a:noFill/>
            <a:ln w="1980">
              <a:solidFill>
                <a:srgbClr val="B8D2EB">
                  <a:alpha val="33000"/>
                </a:srgbClr>
              </a:solidFill>
            </a:ln>
          </p:spPr>
        </p:sp>
        <p:sp>
          <p:nvSpPr>
            <p:cNvPr id="625" name="asset_2027_5">
              <a:extLst>
                <a:ext uri="{FF2B5EF4-FFF2-40B4-BE49-F238E27FC236}">
                  <a16:creationId xmlns:a16="http://schemas.microsoft.com/office/drawing/2014/main" id="{A5646F3B-E3B0-7C1C-2E27-F9E967647A65}"/>
                </a:ext>
              </a:extLst>
            </p:cNvPr>
            <p:cNvSpPr>
              <a:spLocks noGrp="1"/>
            </p:cNvSpPr>
            <p:nvPr/>
          </p:nvSpPr>
          <p:spPr>
            <a:xfrm>
              <a:off x="4275410" y="566460"/>
              <a:ext cx="4" cy="373500"/>
            </a:xfrm>
            <a:prstGeom prst="line">
              <a:avLst/>
            </a:prstGeom>
            <a:noFill/>
            <a:ln w="1980">
              <a:solidFill>
                <a:srgbClr val="B8D2EB">
                  <a:alpha val="33000"/>
                </a:srgbClr>
              </a:solidFill>
            </a:ln>
          </p:spPr>
        </p:sp>
        <p:sp>
          <p:nvSpPr>
            <p:cNvPr id="626" name="asset_2027_6">
              <a:extLst>
                <a:ext uri="{FF2B5EF4-FFF2-40B4-BE49-F238E27FC236}">
                  <a16:creationId xmlns:a16="http://schemas.microsoft.com/office/drawing/2014/main" id="{49CF1756-587C-D73A-CFD0-CE93821E4BC5}"/>
                </a:ext>
              </a:extLst>
            </p:cNvPr>
            <p:cNvSpPr>
              <a:spLocks noGrp="1"/>
            </p:cNvSpPr>
            <p:nvPr/>
          </p:nvSpPr>
          <p:spPr>
            <a:xfrm>
              <a:off x="4043880" y="753210"/>
              <a:ext cx="463061" cy="4"/>
            </a:xfrm>
            <a:prstGeom prst="line">
              <a:avLst/>
            </a:prstGeom>
            <a:noFill/>
            <a:ln w="1980">
              <a:solidFill>
                <a:srgbClr val="B8D2EB">
                  <a:alpha val="33000"/>
                </a:srgbClr>
              </a:solidFill>
            </a:ln>
          </p:spPr>
        </p:sp>
        <p:sp>
          <p:nvSpPr>
            <p:cNvPr id="627" name="asset_2027_7">
              <a:extLst>
                <a:ext uri="{FF2B5EF4-FFF2-40B4-BE49-F238E27FC236}">
                  <a16:creationId xmlns:a16="http://schemas.microsoft.com/office/drawing/2014/main" id="{617A40D8-F985-CF5E-C184-9CEE010688B0}"/>
                </a:ext>
              </a:extLst>
            </p:cNvPr>
            <p:cNvSpPr>
              <a:spLocks noGrp="1"/>
            </p:cNvSpPr>
            <p:nvPr/>
          </p:nvSpPr>
          <p:spPr>
            <a:xfrm>
              <a:off x="4391176" y="566460"/>
              <a:ext cx="4" cy="373500"/>
            </a:xfrm>
            <a:prstGeom prst="line">
              <a:avLst/>
            </a:prstGeom>
            <a:noFill/>
            <a:ln w="1980">
              <a:solidFill>
                <a:srgbClr val="B8D2EB">
                  <a:alpha val="33000"/>
                </a:srgbClr>
              </a:solidFill>
            </a:ln>
          </p:spPr>
        </p:sp>
        <p:sp>
          <p:nvSpPr>
            <p:cNvPr id="628" name="asset_2027_8">
              <a:extLst>
                <a:ext uri="{FF2B5EF4-FFF2-40B4-BE49-F238E27FC236}">
                  <a16:creationId xmlns:a16="http://schemas.microsoft.com/office/drawing/2014/main" id="{D74C2F96-9830-4E45-47CF-280DBDF3BBA6}"/>
                </a:ext>
              </a:extLst>
            </p:cNvPr>
            <p:cNvSpPr>
              <a:spLocks noGrp="1"/>
            </p:cNvSpPr>
            <p:nvPr/>
          </p:nvSpPr>
          <p:spPr>
            <a:xfrm>
              <a:off x="4043880" y="846585"/>
              <a:ext cx="463061" cy="4"/>
            </a:xfrm>
            <a:prstGeom prst="line">
              <a:avLst/>
            </a:prstGeom>
            <a:noFill/>
            <a:ln w="1980">
              <a:solidFill>
                <a:srgbClr val="B8D2EB">
                  <a:alpha val="33000"/>
                </a:srgbClr>
              </a:solidFill>
            </a:ln>
          </p:spPr>
        </p:sp>
        <p:sp>
          <p:nvSpPr>
            <p:cNvPr id="629" name="asset_2027_53">
              <a:extLst>
                <a:ext uri="{FF2B5EF4-FFF2-40B4-BE49-F238E27FC236}">
                  <a16:creationId xmlns:a16="http://schemas.microsoft.com/office/drawing/2014/main" id="{B57D82E4-2BD4-33AA-2164-941D5F47EC2E}"/>
                </a:ext>
              </a:extLst>
            </p:cNvPr>
            <p:cNvSpPr>
              <a:spLocks noGrp="1"/>
            </p:cNvSpPr>
            <p:nvPr/>
          </p:nvSpPr>
          <p:spPr>
            <a:xfrm>
              <a:off x="4043880" y="566460"/>
              <a:ext cx="463061" cy="373500"/>
            </a:xfrm>
            <a:custGeom>
              <a:avLst/>
              <a:gdLst/>
              <a:ahLst/>
              <a:cxnLst/>
              <a:rect l="0" t="0" r="0" b="0"/>
              <a:pathLst>
                <a:path w="463061" h="373500">
                  <a:moveTo>
                    <a:pt x="0" y="0"/>
                  </a:moveTo>
                  <a:lnTo>
                    <a:pt x="463061" y="0"/>
                  </a:lnTo>
                  <a:lnTo>
                    <a:pt x="463061" y="373500"/>
                  </a:lnTo>
                  <a:lnTo>
                    <a:pt x="0" y="373500"/>
                  </a:lnTo>
                  <a:close/>
                </a:path>
              </a:pathLst>
            </a:custGeom>
            <a:noFill/>
            <a:ln w="3600">
              <a:solidFill>
                <a:srgbClr val="8AB3D9"/>
              </a:solidFill>
            </a:ln>
          </p:spPr>
        </p:sp>
      </p:grpSp>
      <p:grpSp>
        <p:nvGrpSpPr>
          <p:cNvPr id="630" name="48^3 crop centered blob">
            <a:extLst>
              <a:ext uri="{FF2B5EF4-FFF2-40B4-BE49-F238E27FC236}">
                <a16:creationId xmlns:a16="http://schemas.microsoft.com/office/drawing/2014/main" id="{05F07842-8C1D-D758-5B6A-3324A46B243F}"/>
              </a:ext>
            </a:extLst>
          </p:cNvPr>
          <p:cNvGrpSpPr/>
          <p:nvPr/>
        </p:nvGrpSpPr>
        <p:grpSpPr>
          <a:xfrm>
            <a:off x="1720137" y="2424395"/>
            <a:ext cx="110568" cy="75332"/>
            <a:chOff x="1928706" y="3559489"/>
            <a:chExt cx="227897" cy="155682"/>
          </a:xfrm>
        </p:grpSpPr>
        <p:sp>
          <p:nvSpPr>
            <p:cNvPr id="631" name="Candidate blob | editable contour">
              <a:extLst>
                <a:ext uri="{FF2B5EF4-FFF2-40B4-BE49-F238E27FC236}">
                  <a16:creationId xmlns:a16="http://schemas.microsoft.com/office/drawing/2014/main" id="{9098312C-2F0E-B28B-B660-F9C51272B948}"/>
                </a:ext>
              </a:extLst>
            </p:cNvPr>
            <p:cNvSpPr/>
            <p:nvPr/>
          </p:nvSpPr>
          <p:spPr>
            <a:xfrm>
              <a:off x="1928706" y="3559489"/>
              <a:ext cx="227897" cy="155682"/>
            </a:xfrm>
            <a:custGeom>
              <a:avLst/>
              <a:gdLst/>
              <a:ahLst/>
              <a:cxnLst/>
              <a:rect l="0" t="0" r="w" b="h"/>
              <a:pathLst>
                <a:path w="227897" h="155682" extrusionOk="0">
                  <a:moveTo>
                    <a:pt x="5338" y="97866"/>
                  </a:moveTo>
                  <a:cubicBezTo>
                    <a:pt x="0" y="80701"/>
                    <a:pt x="18889" y="54504"/>
                    <a:pt x="29976" y="43663"/>
                  </a:cubicBezTo>
                  <a:cubicBezTo>
                    <a:pt x="41062" y="32823"/>
                    <a:pt x="58719" y="39447"/>
                    <a:pt x="71859" y="32823"/>
                  </a:cubicBezTo>
                  <a:cubicBezTo>
                    <a:pt x="84999" y="26198"/>
                    <a:pt x="92391" y="7829"/>
                    <a:pt x="108816" y="3915"/>
                  </a:cubicBezTo>
                  <a:cubicBezTo>
                    <a:pt x="125241" y="0"/>
                    <a:pt x="153984" y="3613"/>
                    <a:pt x="170409" y="9335"/>
                  </a:cubicBezTo>
                  <a:cubicBezTo>
                    <a:pt x="186834" y="15056"/>
                    <a:pt x="198332" y="26198"/>
                    <a:pt x="207366" y="38243"/>
                  </a:cubicBezTo>
                  <a:cubicBezTo>
                    <a:pt x="216399" y="50288"/>
                    <a:pt x="227897" y="67151"/>
                    <a:pt x="224612" y="81605"/>
                  </a:cubicBezTo>
                  <a:cubicBezTo>
                    <a:pt x="221327" y="96059"/>
                    <a:pt x="203259" y="113223"/>
                    <a:pt x="187656" y="124967"/>
                  </a:cubicBezTo>
                  <a:cubicBezTo>
                    <a:pt x="172052" y="136711"/>
                    <a:pt x="151931" y="148455"/>
                    <a:pt x="130989" y="152068"/>
                  </a:cubicBezTo>
                  <a:cubicBezTo>
                    <a:pt x="110048" y="155682"/>
                    <a:pt x="82946" y="155682"/>
                    <a:pt x="62004" y="146648"/>
                  </a:cubicBezTo>
                  <a:cubicBezTo>
                    <a:pt x="41062" y="137614"/>
                    <a:pt x="10676" y="115030"/>
                    <a:pt x="5338" y="97866"/>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632" name="ellipse_2612">
              <a:extLst>
                <a:ext uri="{FF2B5EF4-FFF2-40B4-BE49-F238E27FC236}">
                  <a16:creationId xmlns:a16="http://schemas.microsoft.com/office/drawing/2014/main" id="{ACF53CE3-1C37-025F-02A8-70EEA8DCFD7B}"/>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sp>
        <p:nvSpPr>
          <p:cNvPr id="633" name="Blob centroid marker">
            <a:extLst>
              <a:ext uri="{FF2B5EF4-FFF2-40B4-BE49-F238E27FC236}">
                <a16:creationId xmlns:a16="http://schemas.microsoft.com/office/drawing/2014/main" id="{EDD959CF-D4D3-5624-F7B2-BF9345634585}"/>
              </a:ext>
            </a:extLst>
          </p:cNvPr>
          <p:cNvSpPr/>
          <p:nvPr/>
        </p:nvSpPr>
        <p:spPr>
          <a:xfrm>
            <a:off x="1763068" y="2450316"/>
            <a:ext cx="24301" cy="24301"/>
          </a:xfrm>
          <a:prstGeom prst="ellipse">
            <a:avLst/>
          </a:prstGeom>
          <a:solidFill>
            <a:srgbClr val="1D4ED8"/>
          </a:solidFill>
          <a:ln w="762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34" name="TextBox 12188">
            <a:extLst>
              <a:ext uri="{FF2B5EF4-FFF2-40B4-BE49-F238E27FC236}">
                <a16:creationId xmlns:a16="http://schemas.microsoft.com/office/drawing/2014/main" id="{2C0C5B7E-EB59-C12C-034A-66725ABF262F}"/>
              </a:ext>
            </a:extLst>
          </p:cNvPr>
          <p:cNvSpPr txBox="1"/>
          <p:nvPr/>
        </p:nvSpPr>
        <p:spPr>
          <a:xfrm>
            <a:off x="1598897" y="2614551"/>
            <a:ext cx="328616" cy="92333"/>
          </a:xfrm>
          <a:prstGeom prst="rect">
            <a:avLst/>
          </a:prstGeom>
          <a:noFill/>
        </p:spPr>
        <p:txBody>
          <a:bodyPr wrap="none" lIns="0" tIns="0" rIns="0" bIns="0" anchor="ctr">
            <a:spAutoFit/>
          </a:bodyPr>
          <a:lstStyle/>
          <a:p>
            <a:pPr algn="ctr">
              <a:lnSpc>
                <a:spcPct val="105000"/>
              </a:lnSpc>
            </a:pPr>
            <a:r>
              <a:rPr sz="614" dirty="0">
                <a:solidFill>
                  <a:srgbClr val="263442"/>
                </a:solidFill>
                <a:latin typeface="Arial"/>
              </a:rPr>
              <a:t>3D U-Net</a:t>
            </a:r>
          </a:p>
        </p:txBody>
      </p:sp>
      <p:sp>
        <p:nvSpPr>
          <p:cNvPr id="635" name="TextBox 12189">
            <a:extLst>
              <a:ext uri="{FF2B5EF4-FFF2-40B4-BE49-F238E27FC236}">
                <a16:creationId xmlns:a16="http://schemas.microsoft.com/office/drawing/2014/main" id="{8153BF98-6A0C-0786-710E-3D0EE8987AAA}"/>
              </a:ext>
            </a:extLst>
          </p:cNvPr>
          <p:cNvSpPr txBox="1"/>
          <p:nvPr/>
        </p:nvSpPr>
        <p:spPr>
          <a:xfrm>
            <a:off x="2016116" y="2623546"/>
            <a:ext cx="514564" cy="90218"/>
          </a:xfrm>
          <a:prstGeom prst="rect">
            <a:avLst/>
          </a:prstGeom>
          <a:noFill/>
        </p:spPr>
        <p:txBody>
          <a:bodyPr wrap="none" lIns="0" tIns="0" rIns="0" bIns="0" anchor="ctr">
            <a:spAutoFit/>
          </a:bodyPr>
          <a:lstStyle/>
          <a:p>
            <a:pPr algn="ctr">
              <a:lnSpc>
                <a:spcPct val="105000"/>
              </a:lnSpc>
            </a:pPr>
            <a:r>
              <a:rPr lang="en-US" sz="600" dirty="0">
                <a:solidFill>
                  <a:srgbClr val="263442"/>
                </a:solidFill>
                <a:latin typeface="Arial"/>
              </a:rPr>
              <a:t>B</a:t>
            </a:r>
            <a:r>
              <a:rPr lang="en-US" altLang="zh-CN" sz="600" dirty="0">
                <a:solidFill>
                  <a:srgbClr val="263442"/>
                </a:solidFill>
                <a:latin typeface="Arial"/>
              </a:rPr>
              <a:t>ase s</a:t>
            </a:r>
            <a:r>
              <a:rPr sz="600" dirty="0">
                <a:solidFill>
                  <a:srgbClr val="263442"/>
                </a:solidFill>
                <a:latin typeface="Arial"/>
              </a:rPr>
              <a:t>ummary</a:t>
            </a:r>
          </a:p>
        </p:txBody>
      </p:sp>
      <p:sp>
        <p:nvSpPr>
          <p:cNvPr id="636" name="Math | h_j^vox">
            <a:extLst>
              <a:ext uri="{FF2B5EF4-FFF2-40B4-BE49-F238E27FC236}">
                <a16:creationId xmlns:a16="http://schemas.microsoft.com/office/drawing/2014/main" id="{93EC2205-1821-C3E9-E08B-23B27F07452E}"/>
              </a:ext>
            </a:extLst>
          </p:cNvPr>
          <p:cNvSpPr txBox="1"/>
          <p:nvPr/>
        </p:nvSpPr>
        <p:spPr>
          <a:xfrm>
            <a:off x="2191874" y="2371206"/>
            <a:ext cx="169918" cy="126509"/>
          </a:xfrm>
          <a:prstGeom prst="rect">
            <a:avLst/>
          </a:prstGeom>
          <a:noFill/>
        </p:spPr>
        <p:txBody>
          <a:bodyPr wrap="none" lIns="0" tIns="0" rIns="0" bIns="0" anchor="ctr">
            <a:spAutoFit/>
          </a:bodyPr>
          <a:lstStyle/>
          <a:p>
            <a:pPr algn="ctr"/>
            <a:r>
              <a:rPr sz="855" i="1">
                <a:solidFill>
                  <a:srgbClr val="263442"/>
                </a:solidFill>
                <a:latin typeface="Times New Roman"/>
              </a:rPr>
              <a:t>h</a:t>
            </a:r>
            <a:r>
              <a:rPr sz="780" i="1" baseline="-28000">
                <a:solidFill>
                  <a:srgbClr val="263442"/>
                </a:solidFill>
                <a:latin typeface="Times New Roman"/>
              </a:rPr>
              <a:t>j</a:t>
            </a:r>
            <a:r>
              <a:rPr sz="780" baseline="32000">
                <a:solidFill>
                  <a:srgbClr val="263442"/>
                </a:solidFill>
                <a:latin typeface="Arial"/>
              </a:rPr>
              <a:t>vox</a:t>
            </a:r>
          </a:p>
        </p:txBody>
      </p:sp>
      <p:sp>
        <p:nvSpPr>
          <p:cNvPr id="637" name="Base summary bar_1">
            <a:extLst>
              <a:ext uri="{FF2B5EF4-FFF2-40B4-BE49-F238E27FC236}">
                <a16:creationId xmlns:a16="http://schemas.microsoft.com/office/drawing/2014/main" id="{99E9D3C4-A8BD-9C93-615E-C771AE07C8E3}"/>
              </a:ext>
            </a:extLst>
          </p:cNvPr>
          <p:cNvSpPr/>
          <p:nvPr/>
        </p:nvSpPr>
        <p:spPr>
          <a:xfrm>
            <a:off x="2095404" y="2549118"/>
            <a:ext cx="44072" cy="59328"/>
          </a:xfrm>
          <a:prstGeom prst="rect">
            <a:avLst/>
          </a:prstGeom>
          <a:solidFill>
            <a:srgbClr val="367FB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38" name="Base summary bar_2">
            <a:extLst>
              <a:ext uri="{FF2B5EF4-FFF2-40B4-BE49-F238E27FC236}">
                <a16:creationId xmlns:a16="http://schemas.microsoft.com/office/drawing/2014/main" id="{6BC787CE-AF83-7509-7C88-9AB58DB6F66F}"/>
              </a:ext>
            </a:extLst>
          </p:cNvPr>
          <p:cNvSpPr/>
          <p:nvPr/>
        </p:nvSpPr>
        <p:spPr>
          <a:xfrm>
            <a:off x="2143431" y="2549118"/>
            <a:ext cx="44072" cy="59328"/>
          </a:xfrm>
          <a:prstGeom prst="rect">
            <a:avLst/>
          </a:prstGeom>
          <a:solidFill>
            <a:srgbClr val="7EAED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39" name="Base summary bar_3">
            <a:extLst>
              <a:ext uri="{FF2B5EF4-FFF2-40B4-BE49-F238E27FC236}">
                <a16:creationId xmlns:a16="http://schemas.microsoft.com/office/drawing/2014/main" id="{269240CC-07F6-8569-D6D0-2E898FDFE671}"/>
              </a:ext>
            </a:extLst>
          </p:cNvPr>
          <p:cNvSpPr/>
          <p:nvPr/>
        </p:nvSpPr>
        <p:spPr>
          <a:xfrm>
            <a:off x="2191458" y="2549118"/>
            <a:ext cx="44072" cy="59328"/>
          </a:xfrm>
          <a:prstGeom prst="rect">
            <a:avLst/>
          </a:prstGeom>
          <a:solidFill>
            <a:srgbClr val="BCD8E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40" name="Base summary bar_4">
            <a:extLst>
              <a:ext uri="{FF2B5EF4-FFF2-40B4-BE49-F238E27FC236}">
                <a16:creationId xmlns:a16="http://schemas.microsoft.com/office/drawing/2014/main" id="{D027E165-A9E7-E339-F192-6FC69D94CA5E}"/>
              </a:ext>
            </a:extLst>
          </p:cNvPr>
          <p:cNvSpPr/>
          <p:nvPr/>
        </p:nvSpPr>
        <p:spPr>
          <a:xfrm>
            <a:off x="2239486" y="2549118"/>
            <a:ext cx="44072" cy="59328"/>
          </a:xfrm>
          <a:prstGeom prst="rect">
            <a:avLst/>
          </a:prstGeom>
          <a:solidFill>
            <a:srgbClr val="88C3B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41" name="Base summary bar_5">
            <a:extLst>
              <a:ext uri="{FF2B5EF4-FFF2-40B4-BE49-F238E27FC236}">
                <a16:creationId xmlns:a16="http://schemas.microsoft.com/office/drawing/2014/main" id="{AF544338-D23E-CE3C-A6B8-4FA37DCAD82E}"/>
              </a:ext>
            </a:extLst>
          </p:cNvPr>
          <p:cNvSpPr/>
          <p:nvPr/>
        </p:nvSpPr>
        <p:spPr>
          <a:xfrm>
            <a:off x="2287514" y="2549118"/>
            <a:ext cx="44072" cy="59328"/>
          </a:xfrm>
          <a:prstGeom prst="rect">
            <a:avLst/>
          </a:prstGeom>
          <a:solidFill>
            <a:srgbClr val="23877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42" name="Base summary bar_6">
            <a:extLst>
              <a:ext uri="{FF2B5EF4-FFF2-40B4-BE49-F238E27FC236}">
                <a16:creationId xmlns:a16="http://schemas.microsoft.com/office/drawing/2014/main" id="{9F80EB35-B4A7-2FA2-7A0C-B02A9915E4EB}"/>
              </a:ext>
            </a:extLst>
          </p:cNvPr>
          <p:cNvSpPr/>
          <p:nvPr/>
        </p:nvSpPr>
        <p:spPr>
          <a:xfrm>
            <a:off x="2335541" y="2549118"/>
            <a:ext cx="44072" cy="59328"/>
          </a:xfrm>
          <a:prstGeom prst="rect">
            <a:avLst/>
          </a:prstGeom>
          <a:solidFill>
            <a:srgbClr val="B1A4C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43" name="Base summary bar_7">
            <a:extLst>
              <a:ext uri="{FF2B5EF4-FFF2-40B4-BE49-F238E27FC236}">
                <a16:creationId xmlns:a16="http://schemas.microsoft.com/office/drawing/2014/main" id="{763E1301-00D0-44E1-3425-288C0321EC85}"/>
              </a:ext>
            </a:extLst>
          </p:cNvPr>
          <p:cNvSpPr/>
          <p:nvPr/>
        </p:nvSpPr>
        <p:spPr>
          <a:xfrm>
            <a:off x="2383568" y="2549118"/>
            <a:ext cx="44072" cy="59328"/>
          </a:xfrm>
          <a:prstGeom prst="rect">
            <a:avLst/>
          </a:prstGeom>
          <a:solidFill>
            <a:srgbClr val="D4CBE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44" name="Op | Mean/max pool">
            <a:extLst>
              <a:ext uri="{FF2B5EF4-FFF2-40B4-BE49-F238E27FC236}">
                <a16:creationId xmlns:a16="http://schemas.microsoft.com/office/drawing/2014/main" id="{C4850A78-C957-EF45-0669-F1FA2501E311}"/>
              </a:ext>
            </a:extLst>
          </p:cNvPr>
          <p:cNvSpPr/>
          <p:nvPr/>
        </p:nvSpPr>
        <p:spPr>
          <a:xfrm>
            <a:off x="608834" y="3452879"/>
            <a:ext cx="617009" cy="150297"/>
          </a:xfrm>
          <a:prstGeom prst="roundRect">
            <a:avLst>
              <a:gd name="adj" fmla="val 18000"/>
            </a:avLst>
          </a:prstGeom>
          <a:solidFill>
            <a:srgbClr val="F4F6F7"/>
          </a:solidFill>
          <a:ln w="7290">
            <a:solidFill>
              <a:srgbClr val="BEC7C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Mean/max pool</a:t>
            </a:r>
          </a:p>
        </p:txBody>
      </p:sp>
      <p:sp>
        <p:nvSpPr>
          <p:cNvPr id="645" name="Op | Cross-attention">
            <a:extLst>
              <a:ext uri="{FF2B5EF4-FFF2-40B4-BE49-F238E27FC236}">
                <a16:creationId xmlns:a16="http://schemas.microsoft.com/office/drawing/2014/main" id="{11FEE5AE-99F9-B083-0D93-CFC8DBD07D63}"/>
              </a:ext>
            </a:extLst>
          </p:cNvPr>
          <p:cNvSpPr/>
          <p:nvPr/>
        </p:nvSpPr>
        <p:spPr>
          <a:xfrm>
            <a:off x="1304947" y="3452879"/>
            <a:ext cx="648651" cy="150297"/>
          </a:xfrm>
          <a:prstGeom prst="roundRect">
            <a:avLst>
              <a:gd name="adj" fmla="val 18000"/>
            </a:avLst>
          </a:prstGeom>
          <a:solidFill>
            <a:srgbClr val="F4F6F7"/>
          </a:solidFill>
          <a:ln w="7290">
            <a:solidFill>
              <a:srgbClr val="BEC7C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Cross-attention</a:t>
            </a:r>
          </a:p>
        </p:txBody>
      </p:sp>
      <p:sp>
        <p:nvSpPr>
          <p:cNvPr id="646" name="TextBox 12200">
            <a:extLst>
              <a:ext uri="{FF2B5EF4-FFF2-40B4-BE49-F238E27FC236}">
                <a16:creationId xmlns:a16="http://schemas.microsoft.com/office/drawing/2014/main" id="{884D8F93-171F-A6AB-A603-7E1006874447}"/>
              </a:ext>
            </a:extLst>
          </p:cNvPr>
          <p:cNvSpPr txBox="1"/>
          <p:nvPr/>
        </p:nvSpPr>
        <p:spPr>
          <a:xfrm>
            <a:off x="1674244" y="3370950"/>
            <a:ext cx="134652" cy="80599"/>
          </a:xfrm>
          <a:prstGeom prst="rect">
            <a:avLst/>
          </a:prstGeom>
          <a:noFill/>
        </p:spPr>
        <p:txBody>
          <a:bodyPr wrap="none" lIns="0" tIns="0" rIns="0" bIns="0" anchor="ctr">
            <a:spAutoFit/>
          </a:bodyPr>
          <a:lstStyle/>
          <a:p>
            <a:pPr algn="l">
              <a:lnSpc>
                <a:spcPct val="105000"/>
              </a:lnSpc>
            </a:pPr>
            <a:r>
              <a:rPr sz="536" dirty="0">
                <a:solidFill>
                  <a:srgbClr val="263442"/>
                </a:solidFill>
                <a:latin typeface="Arial"/>
              </a:rPr>
              <a:t>K, V</a:t>
            </a:r>
          </a:p>
        </p:txBody>
      </p:sp>
      <p:sp>
        <p:nvSpPr>
          <p:cNvPr id="647" name="Op | FiLM">
            <a:extLst>
              <a:ext uri="{FF2B5EF4-FFF2-40B4-BE49-F238E27FC236}">
                <a16:creationId xmlns:a16="http://schemas.microsoft.com/office/drawing/2014/main" id="{59F3449A-984C-C7E7-FC02-0C47B43E0DFD}"/>
              </a:ext>
            </a:extLst>
          </p:cNvPr>
          <p:cNvSpPr/>
          <p:nvPr/>
        </p:nvSpPr>
        <p:spPr>
          <a:xfrm>
            <a:off x="2095987" y="3738251"/>
            <a:ext cx="300518" cy="150259"/>
          </a:xfrm>
          <a:prstGeom prst="roundRect">
            <a:avLst>
              <a:gd name="adj" fmla="val 25000"/>
            </a:avLst>
          </a:prstGeom>
          <a:solidFill>
            <a:srgbClr val="F4F6F7"/>
          </a:solidFill>
          <a:ln w="7290">
            <a:solidFill>
              <a:srgbClr val="BEC7C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623">
                <a:solidFill>
                  <a:srgbClr val="263442"/>
                </a:solidFill>
                <a:latin typeface="Arial"/>
              </a:rPr>
              <a:t>FiLM</a:t>
            </a:r>
          </a:p>
        </p:txBody>
      </p:sp>
      <p:sp>
        <p:nvSpPr>
          <p:cNvPr id="648" name="TextBox 12202">
            <a:extLst>
              <a:ext uri="{FF2B5EF4-FFF2-40B4-BE49-F238E27FC236}">
                <a16:creationId xmlns:a16="http://schemas.microsoft.com/office/drawing/2014/main" id="{6F9F40E0-7819-CEA2-6131-C4ABBC19B945}"/>
              </a:ext>
            </a:extLst>
          </p:cNvPr>
          <p:cNvSpPr txBox="1"/>
          <p:nvPr/>
        </p:nvSpPr>
        <p:spPr>
          <a:xfrm>
            <a:off x="2029743" y="3431411"/>
            <a:ext cx="126566" cy="84510"/>
          </a:xfrm>
          <a:prstGeom prst="rect">
            <a:avLst/>
          </a:prstGeom>
          <a:noFill/>
        </p:spPr>
        <p:txBody>
          <a:bodyPr wrap="square" lIns="0" tIns="0" rIns="0" bIns="0" anchor="ctr">
            <a:spAutoFit/>
          </a:bodyPr>
          <a:lstStyle/>
          <a:p>
            <a:pPr algn="ctr">
              <a:lnSpc>
                <a:spcPct val="105000"/>
              </a:lnSpc>
            </a:pPr>
            <a:r>
              <a:rPr sz="562" dirty="0">
                <a:solidFill>
                  <a:srgbClr val="263442"/>
                </a:solidFill>
                <a:latin typeface="Arial"/>
              </a:rPr>
              <a:t>Q</a:t>
            </a:r>
          </a:p>
        </p:txBody>
      </p:sp>
      <p:sp>
        <p:nvSpPr>
          <p:cNvPr id="649" name="Op | MLP">
            <a:extLst>
              <a:ext uri="{FF2B5EF4-FFF2-40B4-BE49-F238E27FC236}">
                <a16:creationId xmlns:a16="http://schemas.microsoft.com/office/drawing/2014/main" id="{554F5441-96D3-CFD3-6A6E-CA8C906F4B29}"/>
              </a:ext>
            </a:extLst>
          </p:cNvPr>
          <p:cNvSpPr/>
          <p:nvPr/>
        </p:nvSpPr>
        <p:spPr>
          <a:xfrm>
            <a:off x="1099255" y="3738251"/>
            <a:ext cx="347904" cy="150259"/>
          </a:xfrm>
          <a:prstGeom prst="roundRect">
            <a:avLst>
              <a:gd name="adj" fmla="val 18000"/>
            </a:avLst>
          </a:prstGeom>
          <a:solidFill>
            <a:srgbClr val="F4F6F7"/>
          </a:solidFill>
          <a:ln w="7290">
            <a:solidFill>
              <a:srgbClr val="BEC7C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MLP</a:t>
            </a:r>
          </a:p>
        </p:txBody>
      </p:sp>
      <p:sp>
        <p:nvSpPr>
          <p:cNvPr id="650" name="h_j bar_1">
            <a:extLst>
              <a:ext uri="{FF2B5EF4-FFF2-40B4-BE49-F238E27FC236}">
                <a16:creationId xmlns:a16="http://schemas.microsoft.com/office/drawing/2014/main" id="{99BF7016-0AEC-5CA1-43D0-0CC405933ADD}"/>
              </a:ext>
            </a:extLst>
          </p:cNvPr>
          <p:cNvSpPr/>
          <p:nvPr/>
        </p:nvSpPr>
        <p:spPr>
          <a:xfrm>
            <a:off x="2080164" y="3989994"/>
            <a:ext cx="44072" cy="56955"/>
          </a:xfrm>
          <a:prstGeom prst="rect">
            <a:avLst/>
          </a:prstGeom>
          <a:solidFill>
            <a:srgbClr val="367FB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51" name="h_j bar_2">
            <a:extLst>
              <a:ext uri="{FF2B5EF4-FFF2-40B4-BE49-F238E27FC236}">
                <a16:creationId xmlns:a16="http://schemas.microsoft.com/office/drawing/2014/main" id="{71708831-906F-DB31-D516-DA6520DB6B6E}"/>
              </a:ext>
            </a:extLst>
          </p:cNvPr>
          <p:cNvSpPr/>
          <p:nvPr/>
        </p:nvSpPr>
        <p:spPr>
          <a:xfrm>
            <a:off x="2128191" y="3989994"/>
            <a:ext cx="44072" cy="56955"/>
          </a:xfrm>
          <a:prstGeom prst="rect">
            <a:avLst/>
          </a:prstGeom>
          <a:solidFill>
            <a:srgbClr val="7EAED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52" name="h_j bar_3">
            <a:extLst>
              <a:ext uri="{FF2B5EF4-FFF2-40B4-BE49-F238E27FC236}">
                <a16:creationId xmlns:a16="http://schemas.microsoft.com/office/drawing/2014/main" id="{E1CF9CE6-644D-2199-D558-FB2748AF4CA8}"/>
              </a:ext>
            </a:extLst>
          </p:cNvPr>
          <p:cNvSpPr/>
          <p:nvPr/>
        </p:nvSpPr>
        <p:spPr>
          <a:xfrm>
            <a:off x="2176218" y="3989994"/>
            <a:ext cx="44072" cy="56955"/>
          </a:xfrm>
          <a:prstGeom prst="rect">
            <a:avLst/>
          </a:prstGeom>
          <a:solidFill>
            <a:srgbClr val="BCD8E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53" name="h_j bar_4">
            <a:extLst>
              <a:ext uri="{FF2B5EF4-FFF2-40B4-BE49-F238E27FC236}">
                <a16:creationId xmlns:a16="http://schemas.microsoft.com/office/drawing/2014/main" id="{0B1E11C4-B6B0-8410-69CA-ECA06B016C11}"/>
              </a:ext>
            </a:extLst>
          </p:cNvPr>
          <p:cNvSpPr/>
          <p:nvPr/>
        </p:nvSpPr>
        <p:spPr>
          <a:xfrm>
            <a:off x="2224246" y="3989994"/>
            <a:ext cx="44072" cy="56955"/>
          </a:xfrm>
          <a:prstGeom prst="rect">
            <a:avLst/>
          </a:prstGeom>
          <a:solidFill>
            <a:srgbClr val="88C3B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54" name="h_j bar_5">
            <a:extLst>
              <a:ext uri="{FF2B5EF4-FFF2-40B4-BE49-F238E27FC236}">
                <a16:creationId xmlns:a16="http://schemas.microsoft.com/office/drawing/2014/main" id="{2A27D763-25D4-1A48-A9AB-8AE10B5867F3}"/>
              </a:ext>
            </a:extLst>
          </p:cNvPr>
          <p:cNvSpPr/>
          <p:nvPr/>
        </p:nvSpPr>
        <p:spPr>
          <a:xfrm>
            <a:off x="2272274" y="3989994"/>
            <a:ext cx="44072" cy="56955"/>
          </a:xfrm>
          <a:prstGeom prst="rect">
            <a:avLst/>
          </a:prstGeom>
          <a:solidFill>
            <a:srgbClr val="23877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55" name="h_j bar_6">
            <a:extLst>
              <a:ext uri="{FF2B5EF4-FFF2-40B4-BE49-F238E27FC236}">
                <a16:creationId xmlns:a16="http://schemas.microsoft.com/office/drawing/2014/main" id="{CC2DBA64-D0DF-1160-5FEF-C265BF4EAB35}"/>
              </a:ext>
            </a:extLst>
          </p:cNvPr>
          <p:cNvSpPr/>
          <p:nvPr/>
        </p:nvSpPr>
        <p:spPr>
          <a:xfrm>
            <a:off x="2320301" y="3989994"/>
            <a:ext cx="44072" cy="56955"/>
          </a:xfrm>
          <a:prstGeom prst="rect">
            <a:avLst/>
          </a:prstGeom>
          <a:solidFill>
            <a:srgbClr val="B1A4C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56" name="h_j bar_7">
            <a:extLst>
              <a:ext uri="{FF2B5EF4-FFF2-40B4-BE49-F238E27FC236}">
                <a16:creationId xmlns:a16="http://schemas.microsoft.com/office/drawing/2014/main" id="{3E031F7D-E2D9-9D11-0526-4D352C453584}"/>
              </a:ext>
            </a:extLst>
          </p:cNvPr>
          <p:cNvSpPr/>
          <p:nvPr/>
        </p:nvSpPr>
        <p:spPr>
          <a:xfrm>
            <a:off x="2368328" y="3989994"/>
            <a:ext cx="44072" cy="56955"/>
          </a:xfrm>
          <a:prstGeom prst="rect">
            <a:avLst/>
          </a:prstGeom>
          <a:solidFill>
            <a:srgbClr val="D4CBE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57" name="Math | h_j^">
            <a:extLst>
              <a:ext uri="{FF2B5EF4-FFF2-40B4-BE49-F238E27FC236}">
                <a16:creationId xmlns:a16="http://schemas.microsoft.com/office/drawing/2014/main" id="{9AC920D3-16D2-273E-04D3-53357E82FB0E}"/>
              </a:ext>
            </a:extLst>
          </p:cNvPr>
          <p:cNvSpPr txBox="1"/>
          <p:nvPr/>
        </p:nvSpPr>
        <p:spPr>
          <a:xfrm>
            <a:off x="1986964" y="3936721"/>
            <a:ext cx="70532" cy="126509"/>
          </a:xfrm>
          <a:prstGeom prst="rect">
            <a:avLst/>
          </a:prstGeom>
          <a:noFill/>
        </p:spPr>
        <p:txBody>
          <a:bodyPr wrap="none" lIns="0" tIns="0" rIns="0" bIns="0" anchor="ctr">
            <a:spAutoFit/>
          </a:bodyPr>
          <a:lstStyle/>
          <a:p>
            <a:pPr algn="ctr"/>
            <a:r>
              <a:rPr sz="855" i="1" dirty="0" err="1">
                <a:solidFill>
                  <a:srgbClr val="263442"/>
                </a:solidFill>
                <a:latin typeface="Times New Roman"/>
              </a:rPr>
              <a:t>h</a:t>
            </a:r>
            <a:r>
              <a:rPr sz="780" i="1" baseline="-28000" dirty="0" err="1">
                <a:solidFill>
                  <a:srgbClr val="263442"/>
                </a:solidFill>
                <a:latin typeface="Times New Roman"/>
              </a:rPr>
              <a:t>j</a:t>
            </a:r>
            <a:endParaRPr sz="780" i="1" baseline="-28000" dirty="0">
              <a:solidFill>
                <a:srgbClr val="263442"/>
              </a:solidFill>
              <a:latin typeface="Times New Roman"/>
            </a:endParaRPr>
          </a:p>
        </p:txBody>
      </p:sp>
      <p:sp>
        <p:nvSpPr>
          <p:cNvPr id="658" name="Op | Foreground head">
            <a:extLst>
              <a:ext uri="{FF2B5EF4-FFF2-40B4-BE49-F238E27FC236}">
                <a16:creationId xmlns:a16="http://schemas.microsoft.com/office/drawing/2014/main" id="{772C4BD8-070D-6A2C-3C5B-CCE55BD09041}"/>
              </a:ext>
            </a:extLst>
          </p:cNvPr>
          <p:cNvSpPr/>
          <p:nvPr/>
        </p:nvSpPr>
        <p:spPr>
          <a:xfrm>
            <a:off x="695848" y="4181937"/>
            <a:ext cx="696113" cy="150297"/>
          </a:xfrm>
          <a:prstGeom prst="roundRect">
            <a:avLst>
              <a:gd name="adj" fmla="val 18000"/>
            </a:avLst>
          </a:prstGeom>
          <a:solidFill>
            <a:srgbClr val="F4F6F7"/>
          </a:solidFill>
          <a:ln w="7290">
            <a:solidFill>
              <a:srgbClr val="BEC7C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Foreground head</a:t>
            </a:r>
          </a:p>
        </p:txBody>
      </p:sp>
      <p:sp>
        <p:nvSpPr>
          <p:cNvPr id="659" name="Math | p_j^fg">
            <a:extLst>
              <a:ext uri="{FF2B5EF4-FFF2-40B4-BE49-F238E27FC236}">
                <a16:creationId xmlns:a16="http://schemas.microsoft.com/office/drawing/2014/main" id="{04752E8A-9FFA-1739-18D7-365FF5D9A529}"/>
              </a:ext>
            </a:extLst>
          </p:cNvPr>
          <p:cNvSpPr txBox="1"/>
          <p:nvPr/>
        </p:nvSpPr>
        <p:spPr>
          <a:xfrm>
            <a:off x="1697293" y="4176444"/>
            <a:ext cx="121828" cy="122341"/>
          </a:xfrm>
          <a:prstGeom prst="rect">
            <a:avLst/>
          </a:prstGeom>
          <a:noFill/>
        </p:spPr>
        <p:txBody>
          <a:bodyPr wrap="none" lIns="0" tIns="0" rIns="0" bIns="0" anchor="ctr">
            <a:spAutoFit/>
          </a:bodyPr>
          <a:lstStyle/>
          <a:p>
            <a:pPr algn="ctr"/>
            <a:r>
              <a:rPr sz="827" i="1" dirty="0" err="1">
                <a:solidFill>
                  <a:srgbClr val="263442"/>
                </a:solidFill>
                <a:latin typeface="Times New Roman"/>
              </a:rPr>
              <a:t>p</a:t>
            </a:r>
            <a:r>
              <a:rPr sz="780" i="1" baseline="-28000" dirty="0" err="1">
                <a:solidFill>
                  <a:srgbClr val="263442"/>
                </a:solidFill>
                <a:latin typeface="Times New Roman"/>
              </a:rPr>
              <a:t>j</a:t>
            </a:r>
            <a:r>
              <a:rPr sz="780" baseline="32000" dirty="0" err="1">
                <a:solidFill>
                  <a:srgbClr val="263442"/>
                </a:solidFill>
                <a:latin typeface="Arial"/>
              </a:rPr>
              <a:t>fg</a:t>
            </a:r>
            <a:endParaRPr sz="780" baseline="32000" dirty="0">
              <a:solidFill>
                <a:srgbClr val="263442"/>
              </a:solidFill>
              <a:latin typeface="Arial"/>
            </a:endParaRPr>
          </a:p>
        </p:txBody>
      </p:sp>
      <p:sp>
        <p:nvSpPr>
          <p:cNvPr id="660" name="TextBox 12215">
            <a:extLst>
              <a:ext uri="{FF2B5EF4-FFF2-40B4-BE49-F238E27FC236}">
                <a16:creationId xmlns:a16="http://schemas.microsoft.com/office/drawing/2014/main" id="{C45D4B31-EE62-7047-2BD0-7D7B985DADC4}"/>
              </a:ext>
            </a:extLst>
          </p:cNvPr>
          <p:cNvSpPr txBox="1"/>
          <p:nvPr/>
        </p:nvSpPr>
        <p:spPr>
          <a:xfrm>
            <a:off x="1428555" y="4310121"/>
            <a:ext cx="666849" cy="79445"/>
          </a:xfrm>
          <a:prstGeom prst="rect">
            <a:avLst/>
          </a:prstGeom>
          <a:noFill/>
        </p:spPr>
        <p:txBody>
          <a:bodyPr wrap="none" lIns="0" tIns="0" rIns="0" bIns="0" anchor="ctr">
            <a:spAutoFit/>
          </a:bodyPr>
          <a:lstStyle/>
          <a:p>
            <a:pPr algn="l">
              <a:lnSpc>
                <a:spcPct val="105000"/>
              </a:lnSpc>
            </a:pPr>
            <a:r>
              <a:rPr sz="528" dirty="0">
                <a:solidFill>
                  <a:srgbClr val="263442"/>
                </a:solidFill>
                <a:latin typeface="Arial"/>
              </a:rPr>
              <a:t>Foreground probability</a:t>
            </a:r>
          </a:p>
        </p:txBody>
      </p:sp>
      <p:sp>
        <p:nvSpPr>
          <p:cNvPr id="661" name="TextBox 12216">
            <a:extLst>
              <a:ext uri="{FF2B5EF4-FFF2-40B4-BE49-F238E27FC236}">
                <a16:creationId xmlns:a16="http://schemas.microsoft.com/office/drawing/2014/main" id="{978E7CF5-ACF2-460D-26F2-9B198BAAC63B}"/>
              </a:ext>
            </a:extLst>
          </p:cNvPr>
          <p:cNvSpPr txBox="1"/>
          <p:nvPr/>
        </p:nvSpPr>
        <p:spPr>
          <a:xfrm>
            <a:off x="3071869" y="2206291"/>
            <a:ext cx="1195840" cy="88422"/>
          </a:xfrm>
          <a:prstGeom prst="rect">
            <a:avLst/>
          </a:prstGeom>
          <a:noFill/>
        </p:spPr>
        <p:txBody>
          <a:bodyPr wrap="none" lIns="0" tIns="0" rIns="0" bIns="0" anchor="ctr">
            <a:spAutoFit/>
          </a:bodyPr>
          <a:lstStyle/>
          <a:p>
            <a:pPr algn="ctr">
              <a:lnSpc>
                <a:spcPct val="105000"/>
              </a:lnSpc>
            </a:pPr>
            <a:r>
              <a:rPr sz="588">
                <a:solidFill>
                  <a:srgbClr val="263442"/>
                </a:solidFill>
                <a:latin typeface="Arial"/>
              </a:rPr>
              <a:t>User-provided SMILES · same PDB</a:t>
            </a:r>
          </a:p>
        </p:txBody>
      </p:sp>
      <p:sp>
        <p:nvSpPr>
          <p:cNvPr id="662" name="Identity | SMILES list card">
            <a:extLst>
              <a:ext uri="{FF2B5EF4-FFF2-40B4-BE49-F238E27FC236}">
                <a16:creationId xmlns:a16="http://schemas.microsoft.com/office/drawing/2014/main" id="{7DA7890B-AB79-9717-CAA6-1EEE08F32188}"/>
              </a:ext>
            </a:extLst>
          </p:cNvPr>
          <p:cNvSpPr/>
          <p:nvPr/>
        </p:nvSpPr>
        <p:spPr>
          <a:xfrm>
            <a:off x="3250539" y="2309830"/>
            <a:ext cx="838500" cy="512745"/>
          </a:xfrm>
          <a:prstGeom prst="roundRect">
            <a:avLst>
              <a:gd name="adj" fmla="val 6000"/>
            </a:avLst>
          </a:prstGeom>
          <a:solidFill>
            <a:srgbClr val="F4F6F7"/>
          </a:solidFill>
          <a:ln w="7290">
            <a:solidFill>
              <a:srgbClr val="BEC7C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63" name="TextBox 12218">
            <a:extLst>
              <a:ext uri="{FF2B5EF4-FFF2-40B4-BE49-F238E27FC236}">
                <a16:creationId xmlns:a16="http://schemas.microsoft.com/office/drawing/2014/main" id="{86BB59AD-D134-C7C6-AEC0-14F6157A5F0B}"/>
              </a:ext>
            </a:extLst>
          </p:cNvPr>
          <p:cNvSpPr txBox="1"/>
          <p:nvPr/>
        </p:nvSpPr>
        <p:spPr>
          <a:xfrm>
            <a:off x="3305912" y="2338063"/>
            <a:ext cx="727754" cy="85921"/>
          </a:xfrm>
          <a:prstGeom prst="rect">
            <a:avLst/>
          </a:prstGeom>
          <a:noFill/>
        </p:spPr>
        <p:txBody>
          <a:bodyPr wrap="square" lIns="0" tIns="0" rIns="0" bIns="0" anchor="ctr">
            <a:spAutoFit/>
          </a:bodyPr>
          <a:lstStyle/>
          <a:p>
            <a:pPr algn="l">
              <a:lnSpc>
                <a:spcPct val="105000"/>
              </a:lnSpc>
            </a:pPr>
            <a:r>
              <a:rPr sz="571" dirty="0">
                <a:solidFill>
                  <a:srgbClr val="263442"/>
                </a:solidFill>
                <a:latin typeface="Arial"/>
              </a:rPr>
              <a:t>1   CCO</a:t>
            </a:r>
          </a:p>
        </p:txBody>
      </p:sp>
      <p:sp>
        <p:nvSpPr>
          <p:cNvPr id="664" name="TextBox 12219">
            <a:extLst>
              <a:ext uri="{FF2B5EF4-FFF2-40B4-BE49-F238E27FC236}">
                <a16:creationId xmlns:a16="http://schemas.microsoft.com/office/drawing/2014/main" id="{D5CEF1E2-0003-83A9-6C8B-869DF460C92C}"/>
              </a:ext>
            </a:extLst>
          </p:cNvPr>
          <p:cNvSpPr txBox="1"/>
          <p:nvPr/>
        </p:nvSpPr>
        <p:spPr>
          <a:xfrm>
            <a:off x="3305912" y="2440897"/>
            <a:ext cx="727754" cy="85921"/>
          </a:xfrm>
          <a:prstGeom prst="rect">
            <a:avLst/>
          </a:prstGeom>
          <a:noFill/>
        </p:spPr>
        <p:txBody>
          <a:bodyPr wrap="square" lIns="0" tIns="0" rIns="0" bIns="0" anchor="ctr">
            <a:spAutoFit/>
          </a:bodyPr>
          <a:lstStyle/>
          <a:p>
            <a:pPr algn="l">
              <a:lnSpc>
                <a:spcPct val="105000"/>
              </a:lnSpc>
            </a:pPr>
            <a:r>
              <a:rPr sz="571" dirty="0">
                <a:solidFill>
                  <a:srgbClr val="263442"/>
                </a:solidFill>
                <a:latin typeface="Arial"/>
              </a:rPr>
              <a:t>2   CC(=O)O</a:t>
            </a:r>
          </a:p>
        </p:txBody>
      </p:sp>
      <p:sp>
        <p:nvSpPr>
          <p:cNvPr id="665" name="Identity | Selected k pill">
            <a:extLst>
              <a:ext uri="{FF2B5EF4-FFF2-40B4-BE49-F238E27FC236}">
                <a16:creationId xmlns:a16="http://schemas.microsoft.com/office/drawing/2014/main" id="{484884C0-9180-67EB-D183-0D32CB2F3899}"/>
              </a:ext>
            </a:extLst>
          </p:cNvPr>
          <p:cNvSpPr/>
          <p:nvPr/>
        </p:nvSpPr>
        <p:spPr>
          <a:xfrm>
            <a:off x="3282181" y="2562853"/>
            <a:ext cx="775217" cy="118656"/>
          </a:xfrm>
          <a:prstGeom prst="roundRect">
            <a:avLst>
              <a:gd name="adj" fmla="val 18000"/>
            </a:avLst>
          </a:prstGeom>
          <a:solidFill>
            <a:srgbClr val="DCFCE7"/>
          </a:solidFill>
          <a:ln w="8890">
            <a:solidFill>
              <a:srgbClr val="3E997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66" name="TextBox 12222">
            <a:extLst>
              <a:ext uri="{FF2B5EF4-FFF2-40B4-BE49-F238E27FC236}">
                <a16:creationId xmlns:a16="http://schemas.microsoft.com/office/drawing/2014/main" id="{AF18D027-6125-FBDF-9BCD-9060B5C5E099}"/>
              </a:ext>
            </a:extLst>
          </p:cNvPr>
          <p:cNvSpPr txBox="1"/>
          <p:nvPr/>
        </p:nvSpPr>
        <p:spPr>
          <a:xfrm>
            <a:off x="3313822" y="2585570"/>
            <a:ext cx="711934" cy="85921"/>
          </a:xfrm>
          <a:prstGeom prst="rect">
            <a:avLst/>
          </a:prstGeom>
          <a:noFill/>
        </p:spPr>
        <p:txBody>
          <a:bodyPr wrap="square" lIns="0" tIns="0" rIns="0" bIns="0" anchor="ctr">
            <a:spAutoFit/>
          </a:bodyPr>
          <a:lstStyle/>
          <a:p>
            <a:pPr algn="l">
              <a:lnSpc>
                <a:spcPct val="105000"/>
              </a:lnSpc>
            </a:pPr>
            <a:r>
              <a:rPr sz="571" dirty="0">
                <a:solidFill>
                  <a:srgbClr val="263442"/>
                </a:solidFill>
                <a:latin typeface="Arial"/>
              </a:rPr>
              <a:t>k   Cc1ccccc1</a:t>
            </a:r>
          </a:p>
        </p:txBody>
      </p:sp>
      <p:sp>
        <p:nvSpPr>
          <p:cNvPr id="667" name="TextBox 12224">
            <a:extLst>
              <a:ext uri="{FF2B5EF4-FFF2-40B4-BE49-F238E27FC236}">
                <a16:creationId xmlns:a16="http://schemas.microsoft.com/office/drawing/2014/main" id="{4F02AD2D-3369-26A3-6D2F-44659C880CB7}"/>
              </a:ext>
            </a:extLst>
          </p:cNvPr>
          <p:cNvSpPr txBox="1"/>
          <p:nvPr/>
        </p:nvSpPr>
        <p:spPr>
          <a:xfrm>
            <a:off x="3305912" y="2714369"/>
            <a:ext cx="727754" cy="85921"/>
          </a:xfrm>
          <a:prstGeom prst="rect">
            <a:avLst/>
          </a:prstGeom>
          <a:noFill/>
        </p:spPr>
        <p:txBody>
          <a:bodyPr wrap="square" lIns="0" tIns="0" rIns="0" bIns="0" anchor="ctr">
            <a:spAutoFit/>
          </a:bodyPr>
          <a:lstStyle/>
          <a:p>
            <a:pPr algn="l">
              <a:lnSpc>
                <a:spcPct val="105000"/>
              </a:lnSpc>
            </a:pPr>
            <a:r>
              <a:rPr sz="571" dirty="0">
                <a:solidFill>
                  <a:srgbClr val="263442"/>
                </a:solidFill>
                <a:latin typeface="Arial"/>
              </a:rPr>
              <a:t>K   CC(N)=O</a:t>
            </a:r>
          </a:p>
        </p:txBody>
      </p:sp>
      <p:sp>
        <p:nvSpPr>
          <p:cNvPr id="668" name="TextBox 12225">
            <a:extLst>
              <a:ext uri="{FF2B5EF4-FFF2-40B4-BE49-F238E27FC236}">
                <a16:creationId xmlns:a16="http://schemas.microsoft.com/office/drawing/2014/main" id="{3E613D72-90CB-62FD-E861-8FE6E2F065B8}"/>
              </a:ext>
            </a:extLst>
          </p:cNvPr>
          <p:cNvSpPr txBox="1"/>
          <p:nvPr/>
        </p:nvSpPr>
        <p:spPr>
          <a:xfrm>
            <a:off x="2786686" y="2643822"/>
            <a:ext cx="181140" cy="80599"/>
          </a:xfrm>
          <a:prstGeom prst="rect">
            <a:avLst/>
          </a:prstGeom>
          <a:noFill/>
        </p:spPr>
        <p:txBody>
          <a:bodyPr wrap="none" lIns="0" tIns="0" rIns="0" bIns="0" anchor="ctr">
            <a:spAutoFit/>
          </a:bodyPr>
          <a:lstStyle/>
          <a:p>
            <a:pPr algn="l">
              <a:lnSpc>
                <a:spcPct val="105000"/>
              </a:lnSpc>
            </a:pPr>
            <a:r>
              <a:rPr sz="536" dirty="0" err="1">
                <a:solidFill>
                  <a:srgbClr val="263442"/>
                </a:solidFill>
                <a:latin typeface="Arial"/>
              </a:rPr>
              <a:t>RDKit</a:t>
            </a:r>
            <a:endParaRPr sz="536" dirty="0">
              <a:solidFill>
                <a:srgbClr val="263442"/>
              </a:solidFill>
              <a:latin typeface="Arial"/>
            </a:endParaRPr>
          </a:p>
        </p:txBody>
      </p:sp>
      <p:grpSp>
        <p:nvGrpSpPr>
          <p:cNvPr id="669" name="Identity | Own molecular graph">
            <a:extLst>
              <a:ext uri="{FF2B5EF4-FFF2-40B4-BE49-F238E27FC236}">
                <a16:creationId xmlns:a16="http://schemas.microsoft.com/office/drawing/2014/main" id="{683652C7-CC94-2A9C-935C-36CF7B7EB5E8}"/>
              </a:ext>
            </a:extLst>
          </p:cNvPr>
          <p:cNvGrpSpPr/>
          <p:nvPr/>
        </p:nvGrpSpPr>
        <p:grpSpPr>
          <a:xfrm>
            <a:off x="2862931" y="2888431"/>
            <a:ext cx="284773" cy="171742"/>
            <a:chOff x="3366271" y="3721905"/>
            <a:chExt cx="311024" cy="187573"/>
          </a:xfrm>
        </p:grpSpPr>
        <p:cxnSp>
          <p:nvCxnSpPr>
            <p:cNvPr id="670" name="path_2698">
              <a:extLst>
                <a:ext uri="{FF2B5EF4-FFF2-40B4-BE49-F238E27FC236}">
                  <a16:creationId xmlns:a16="http://schemas.microsoft.com/office/drawing/2014/main" id="{08C9C74A-0B12-2E3C-023F-C3DCDEFB7AF1}"/>
                </a:ext>
              </a:extLst>
            </p:cNvPr>
            <p:cNvCxnSpPr/>
            <p:nvPr/>
          </p:nvCxnSpPr>
          <p:spPr>
            <a:xfrm flipV="1">
              <a:off x="3381053" y="3736688"/>
              <a:ext cx="63663" cy="70463"/>
            </a:xfrm>
            <a:prstGeom prst="line">
              <a:avLst/>
            </a:prstGeom>
            <a:noFill/>
            <a:ln w="5256" cap="rnd" cmpd="sng" algn="ctr">
              <a:solidFill>
                <a:srgbClr val="238777"/>
              </a:solidFill>
              <a:prstDash val="solid"/>
              <a:round/>
              <a:headEnd type="none" w="med" len="med"/>
              <a:tailEnd type="none" w="med" len="med"/>
            </a:ln>
            <a:effectLst/>
          </p:spPr>
        </p:cxnSp>
        <p:cxnSp>
          <p:nvCxnSpPr>
            <p:cNvPr id="671" name="path_2699">
              <a:extLst>
                <a:ext uri="{FF2B5EF4-FFF2-40B4-BE49-F238E27FC236}">
                  <a16:creationId xmlns:a16="http://schemas.microsoft.com/office/drawing/2014/main" id="{1CF65ECB-9AC9-C310-5460-0B86FF6B2BC5}"/>
                </a:ext>
              </a:extLst>
            </p:cNvPr>
            <p:cNvCxnSpPr/>
            <p:nvPr/>
          </p:nvCxnSpPr>
          <p:spPr>
            <a:xfrm>
              <a:off x="3444717" y="3736688"/>
              <a:ext cx="113924" cy="14947"/>
            </a:xfrm>
            <a:prstGeom prst="line">
              <a:avLst/>
            </a:prstGeom>
            <a:noFill/>
            <a:ln w="5256" cap="rnd" cmpd="sng" algn="ctr">
              <a:solidFill>
                <a:srgbClr val="238777"/>
              </a:solidFill>
              <a:prstDash val="solid"/>
              <a:round/>
              <a:headEnd type="none" w="med" len="med"/>
              <a:tailEnd type="none" w="med" len="med"/>
            </a:ln>
            <a:effectLst/>
          </p:spPr>
        </p:cxnSp>
        <p:cxnSp>
          <p:nvCxnSpPr>
            <p:cNvPr id="672" name="path_2700">
              <a:extLst>
                <a:ext uri="{FF2B5EF4-FFF2-40B4-BE49-F238E27FC236}">
                  <a16:creationId xmlns:a16="http://schemas.microsoft.com/office/drawing/2014/main" id="{47F0AAAA-D782-D4D4-41E7-7304CCE8D568}"/>
                </a:ext>
              </a:extLst>
            </p:cNvPr>
            <p:cNvCxnSpPr/>
            <p:nvPr/>
          </p:nvCxnSpPr>
          <p:spPr>
            <a:xfrm>
              <a:off x="3558640" y="3751634"/>
              <a:ext cx="73715" cy="64058"/>
            </a:xfrm>
            <a:prstGeom prst="line">
              <a:avLst/>
            </a:prstGeom>
            <a:noFill/>
            <a:ln w="5256" cap="rnd" cmpd="sng" algn="ctr">
              <a:solidFill>
                <a:srgbClr val="238777"/>
              </a:solidFill>
              <a:prstDash val="solid"/>
              <a:round/>
              <a:headEnd type="none" w="med" len="med"/>
              <a:tailEnd type="none" w="med" len="med"/>
            </a:ln>
            <a:effectLst/>
          </p:spPr>
        </p:cxnSp>
        <p:cxnSp>
          <p:nvCxnSpPr>
            <p:cNvPr id="673" name="path_2701">
              <a:extLst>
                <a:ext uri="{FF2B5EF4-FFF2-40B4-BE49-F238E27FC236}">
                  <a16:creationId xmlns:a16="http://schemas.microsoft.com/office/drawing/2014/main" id="{672DEF92-FEF6-A8B8-A079-671D6D70071E}"/>
                </a:ext>
              </a:extLst>
            </p:cNvPr>
            <p:cNvCxnSpPr/>
            <p:nvPr/>
          </p:nvCxnSpPr>
          <p:spPr>
            <a:xfrm flipH="1">
              <a:off x="3561991" y="3815692"/>
              <a:ext cx="70365" cy="79004"/>
            </a:xfrm>
            <a:prstGeom prst="line">
              <a:avLst/>
            </a:prstGeom>
            <a:noFill/>
            <a:ln w="5256" cap="rnd" cmpd="sng" algn="ctr">
              <a:solidFill>
                <a:srgbClr val="238777"/>
              </a:solidFill>
              <a:prstDash val="solid"/>
              <a:round/>
              <a:headEnd type="none" w="med" len="med"/>
              <a:tailEnd type="none" w="med" len="med"/>
            </a:ln>
            <a:effectLst/>
          </p:spPr>
        </p:cxnSp>
        <p:cxnSp>
          <p:nvCxnSpPr>
            <p:cNvPr id="674" name="path_2702">
              <a:extLst>
                <a:ext uri="{FF2B5EF4-FFF2-40B4-BE49-F238E27FC236}">
                  <a16:creationId xmlns:a16="http://schemas.microsoft.com/office/drawing/2014/main" id="{B02A38E3-8AB1-C1CA-A784-7A02E63B2D09}"/>
                </a:ext>
              </a:extLst>
            </p:cNvPr>
            <p:cNvCxnSpPr/>
            <p:nvPr/>
          </p:nvCxnSpPr>
          <p:spPr>
            <a:xfrm flipH="1" flipV="1">
              <a:off x="3444717" y="3875479"/>
              <a:ext cx="117275" cy="19217"/>
            </a:xfrm>
            <a:prstGeom prst="line">
              <a:avLst/>
            </a:prstGeom>
            <a:noFill/>
            <a:ln w="5256" cap="rnd" cmpd="sng" algn="ctr">
              <a:solidFill>
                <a:srgbClr val="238777"/>
              </a:solidFill>
              <a:prstDash val="solid"/>
              <a:round/>
              <a:headEnd type="none" w="med" len="med"/>
              <a:tailEnd type="none" w="med" len="med"/>
            </a:ln>
            <a:effectLst/>
          </p:spPr>
        </p:cxnSp>
        <p:cxnSp>
          <p:nvCxnSpPr>
            <p:cNvPr id="675" name="path_2703">
              <a:extLst>
                <a:ext uri="{FF2B5EF4-FFF2-40B4-BE49-F238E27FC236}">
                  <a16:creationId xmlns:a16="http://schemas.microsoft.com/office/drawing/2014/main" id="{5EB27651-D3BE-22CD-39D8-D428781F5F97}"/>
                </a:ext>
              </a:extLst>
            </p:cNvPr>
            <p:cNvCxnSpPr/>
            <p:nvPr/>
          </p:nvCxnSpPr>
          <p:spPr>
            <a:xfrm flipH="1" flipV="1">
              <a:off x="3381053" y="3807151"/>
              <a:ext cx="63663" cy="68328"/>
            </a:xfrm>
            <a:prstGeom prst="line">
              <a:avLst/>
            </a:prstGeom>
            <a:noFill/>
            <a:ln w="5256" cap="rnd" cmpd="sng" algn="ctr">
              <a:solidFill>
                <a:srgbClr val="238777"/>
              </a:solidFill>
              <a:prstDash val="solid"/>
              <a:round/>
              <a:headEnd type="none" w="med" len="med"/>
              <a:tailEnd type="none" w="med" len="med"/>
            </a:ln>
            <a:effectLst/>
          </p:spPr>
        </p:cxnSp>
        <p:cxnSp>
          <p:nvCxnSpPr>
            <p:cNvPr id="676" name="path_2704">
              <a:extLst>
                <a:ext uri="{FF2B5EF4-FFF2-40B4-BE49-F238E27FC236}">
                  <a16:creationId xmlns:a16="http://schemas.microsoft.com/office/drawing/2014/main" id="{A3592B63-1411-3F57-5878-96E17C30AD75}"/>
                </a:ext>
              </a:extLst>
            </p:cNvPr>
            <p:cNvCxnSpPr/>
            <p:nvPr/>
          </p:nvCxnSpPr>
          <p:spPr>
            <a:xfrm flipV="1">
              <a:off x="3558640" y="3745228"/>
              <a:ext cx="103872" cy="6406"/>
            </a:xfrm>
            <a:prstGeom prst="line">
              <a:avLst/>
            </a:prstGeom>
            <a:noFill/>
            <a:ln w="5256" cap="rnd" cmpd="sng" algn="ctr">
              <a:solidFill>
                <a:srgbClr val="238777"/>
              </a:solidFill>
              <a:prstDash val="solid"/>
              <a:round/>
              <a:headEnd type="none" w="med" len="med"/>
              <a:tailEnd type="none" w="med" len="med"/>
            </a:ln>
            <a:effectLst/>
          </p:spPr>
        </p:cxnSp>
        <p:sp>
          <p:nvSpPr>
            <p:cNvPr id="677" name="ellipse_2705">
              <a:extLst>
                <a:ext uri="{FF2B5EF4-FFF2-40B4-BE49-F238E27FC236}">
                  <a16:creationId xmlns:a16="http://schemas.microsoft.com/office/drawing/2014/main" id="{C3D36D22-8CEB-B663-A605-02E9CFFED0C1}"/>
                </a:ext>
              </a:extLst>
            </p:cNvPr>
            <p:cNvSpPr/>
            <p:nvPr/>
          </p:nvSpPr>
          <p:spPr>
            <a:xfrm>
              <a:off x="3366271" y="3792368"/>
              <a:ext cx="29565" cy="29565"/>
            </a:xfrm>
            <a:prstGeom prst="ellipse">
              <a:avLst/>
            </a:prstGeom>
            <a:gradFill flip="none" rotWithShape="1">
              <a:gsLst>
                <a:gs pos="0">
                  <a:srgbClr val="DEEDEB"/>
                </a:gs>
                <a:gs pos="43000">
                  <a:srgbClr val="61A99D"/>
                </a:gs>
                <a:gs pos="100000">
                  <a:srgbClr val="267D72"/>
                </a:gs>
              </a:gsLst>
              <a:lin ang="2700000" scaled="1"/>
              <a:tileRect/>
            </a:gradFill>
            <a:ln w="1807" cap="rnd" cmpd="sng" algn="ctr">
              <a:noFill/>
              <a:prstDash val="solid"/>
              <a:round/>
              <a:headEnd type="none" w="med" len="med"/>
              <a:tailEnd type="none" w="med" len="med"/>
            </a:ln>
            <a:effectLst/>
          </p:spPr>
        </p:sp>
        <p:sp>
          <p:nvSpPr>
            <p:cNvPr id="678" name="ellipse_2706">
              <a:extLst>
                <a:ext uri="{FF2B5EF4-FFF2-40B4-BE49-F238E27FC236}">
                  <a16:creationId xmlns:a16="http://schemas.microsoft.com/office/drawing/2014/main" id="{1F86BCBC-B96E-6EC5-AC9B-22A20629DF0F}"/>
                </a:ext>
              </a:extLst>
            </p:cNvPr>
            <p:cNvSpPr/>
            <p:nvPr/>
          </p:nvSpPr>
          <p:spPr>
            <a:xfrm>
              <a:off x="3429934" y="3721905"/>
              <a:ext cx="29565" cy="29565"/>
            </a:xfrm>
            <a:prstGeom prst="ellipse">
              <a:avLst/>
            </a:prstGeom>
            <a:gradFill flip="none" rotWithShape="1">
              <a:gsLst>
                <a:gs pos="0">
                  <a:srgbClr val="DEEDEB"/>
                </a:gs>
                <a:gs pos="43000">
                  <a:srgbClr val="61A99D"/>
                </a:gs>
                <a:gs pos="100000">
                  <a:srgbClr val="267D72"/>
                </a:gs>
              </a:gsLst>
              <a:lin ang="2700000" scaled="1"/>
              <a:tileRect/>
            </a:gradFill>
            <a:ln w="1807" cap="rnd" cmpd="sng" algn="ctr">
              <a:noFill/>
              <a:prstDash val="solid"/>
              <a:round/>
              <a:headEnd type="none" w="med" len="med"/>
              <a:tailEnd type="none" w="med" len="med"/>
            </a:ln>
            <a:effectLst/>
          </p:spPr>
        </p:sp>
        <p:sp>
          <p:nvSpPr>
            <p:cNvPr id="679" name="ellipse_2707">
              <a:extLst>
                <a:ext uri="{FF2B5EF4-FFF2-40B4-BE49-F238E27FC236}">
                  <a16:creationId xmlns:a16="http://schemas.microsoft.com/office/drawing/2014/main" id="{0D7ED534-2755-74EA-6149-4A7E3A7E8992}"/>
                </a:ext>
              </a:extLst>
            </p:cNvPr>
            <p:cNvSpPr/>
            <p:nvPr/>
          </p:nvSpPr>
          <p:spPr>
            <a:xfrm>
              <a:off x="3543858" y="3736852"/>
              <a:ext cx="29565" cy="29565"/>
            </a:xfrm>
            <a:prstGeom prst="ellipse">
              <a:avLst/>
            </a:prstGeom>
            <a:gradFill flip="none" rotWithShape="1">
              <a:gsLst>
                <a:gs pos="0">
                  <a:srgbClr val="DEEDEB"/>
                </a:gs>
                <a:gs pos="43000">
                  <a:srgbClr val="61A99D"/>
                </a:gs>
                <a:gs pos="100000">
                  <a:srgbClr val="267D72"/>
                </a:gs>
              </a:gsLst>
              <a:lin ang="2700000" scaled="1"/>
              <a:tileRect/>
            </a:gradFill>
            <a:ln w="1807" cap="rnd" cmpd="sng" algn="ctr">
              <a:noFill/>
              <a:prstDash val="solid"/>
              <a:round/>
              <a:headEnd type="none" w="med" len="med"/>
              <a:tailEnd type="none" w="med" len="med"/>
            </a:ln>
            <a:effectLst/>
          </p:spPr>
        </p:sp>
        <p:sp>
          <p:nvSpPr>
            <p:cNvPr id="680" name="ellipse_2708">
              <a:extLst>
                <a:ext uri="{FF2B5EF4-FFF2-40B4-BE49-F238E27FC236}">
                  <a16:creationId xmlns:a16="http://schemas.microsoft.com/office/drawing/2014/main" id="{01CC7294-C7B5-D1A4-A138-902105284B89}"/>
                </a:ext>
              </a:extLst>
            </p:cNvPr>
            <p:cNvSpPr/>
            <p:nvPr/>
          </p:nvSpPr>
          <p:spPr>
            <a:xfrm>
              <a:off x="3617573" y="3800909"/>
              <a:ext cx="29565" cy="29565"/>
            </a:xfrm>
            <a:prstGeom prst="ellipse">
              <a:avLst/>
            </a:prstGeom>
            <a:gradFill flip="none" rotWithShape="1">
              <a:gsLst>
                <a:gs pos="0">
                  <a:srgbClr val="DEEDEB"/>
                </a:gs>
                <a:gs pos="43000">
                  <a:srgbClr val="61A99D"/>
                </a:gs>
                <a:gs pos="100000">
                  <a:srgbClr val="267D72"/>
                </a:gs>
              </a:gsLst>
              <a:lin ang="2700000" scaled="1"/>
              <a:tileRect/>
            </a:gradFill>
            <a:ln w="1807" cap="rnd" cmpd="sng" algn="ctr">
              <a:noFill/>
              <a:prstDash val="solid"/>
              <a:round/>
              <a:headEnd type="none" w="med" len="med"/>
              <a:tailEnd type="none" w="med" len="med"/>
            </a:ln>
            <a:effectLst/>
          </p:spPr>
        </p:sp>
        <p:sp>
          <p:nvSpPr>
            <p:cNvPr id="681" name="ellipse_2709">
              <a:extLst>
                <a:ext uri="{FF2B5EF4-FFF2-40B4-BE49-F238E27FC236}">
                  <a16:creationId xmlns:a16="http://schemas.microsoft.com/office/drawing/2014/main" id="{80734E48-9DE8-B4FD-D0D4-D53693BBEADF}"/>
                </a:ext>
              </a:extLst>
            </p:cNvPr>
            <p:cNvSpPr/>
            <p:nvPr/>
          </p:nvSpPr>
          <p:spPr>
            <a:xfrm>
              <a:off x="3547209" y="3879913"/>
              <a:ext cx="29565" cy="29565"/>
            </a:xfrm>
            <a:prstGeom prst="ellipse">
              <a:avLst/>
            </a:prstGeom>
            <a:gradFill flip="none" rotWithShape="1">
              <a:gsLst>
                <a:gs pos="0">
                  <a:srgbClr val="DEEDEB"/>
                </a:gs>
                <a:gs pos="43000">
                  <a:srgbClr val="61A99D"/>
                </a:gs>
                <a:gs pos="100000">
                  <a:srgbClr val="267D72"/>
                </a:gs>
              </a:gsLst>
              <a:lin ang="2700000" scaled="1"/>
              <a:tileRect/>
            </a:gradFill>
            <a:ln w="1807" cap="rnd" cmpd="sng" algn="ctr">
              <a:noFill/>
              <a:prstDash val="solid"/>
              <a:round/>
              <a:headEnd type="none" w="med" len="med"/>
              <a:tailEnd type="none" w="med" len="med"/>
            </a:ln>
            <a:effectLst/>
          </p:spPr>
        </p:sp>
        <p:sp>
          <p:nvSpPr>
            <p:cNvPr id="682" name="ellipse_2710">
              <a:extLst>
                <a:ext uri="{FF2B5EF4-FFF2-40B4-BE49-F238E27FC236}">
                  <a16:creationId xmlns:a16="http://schemas.microsoft.com/office/drawing/2014/main" id="{3DB6F677-E1A0-2C7D-CADD-FB389865F633}"/>
                </a:ext>
              </a:extLst>
            </p:cNvPr>
            <p:cNvSpPr/>
            <p:nvPr/>
          </p:nvSpPr>
          <p:spPr>
            <a:xfrm>
              <a:off x="3429934" y="3860696"/>
              <a:ext cx="29565" cy="29565"/>
            </a:xfrm>
            <a:prstGeom prst="ellipse">
              <a:avLst/>
            </a:prstGeom>
            <a:gradFill flip="none" rotWithShape="1">
              <a:gsLst>
                <a:gs pos="0">
                  <a:srgbClr val="DEEDEB"/>
                </a:gs>
                <a:gs pos="43000">
                  <a:srgbClr val="61A99D"/>
                </a:gs>
                <a:gs pos="100000">
                  <a:srgbClr val="267D72"/>
                </a:gs>
              </a:gsLst>
              <a:lin ang="2700000" scaled="1"/>
              <a:tileRect/>
            </a:gradFill>
            <a:ln w="1807" cap="rnd" cmpd="sng" algn="ctr">
              <a:noFill/>
              <a:prstDash val="solid"/>
              <a:round/>
              <a:headEnd type="none" w="med" len="med"/>
              <a:tailEnd type="none" w="med" len="med"/>
            </a:ln>
            <a:effectLst/>
          </p:spPr>
        </p:sp>
        <p:sp>
          <p:nvSpPr>
            <p:cNvPr id="683" name="ellipse_2711">
              <a:extLst>
                <a:ext uri="{FF2B5EF4-FFF2-40B4-BE49-F238E27FC236}">
                  <a16:creationId xmlns:a16="http://schemas.microsoft.com/office/drawing/2014/main" id="{D105DBC9-3C6D-0576-1E95-E04BFA9EB1EF}"/>
                </a:ext>
              </a:extLst>
            </p:cNvPr>
            <p:cNvSpPr/>
            <p:nvPr/>
          </p:nvSpPr>
          <p:spPr>
            <a:xfrm>
              <a:off x="3647730" y="3730446"/>
              <a:ext cx="29565" cy="29565"/>
            </a:xfrm>
            <a:prstGeom prst="ellipse">
              <a:avLst/>
            </a:prstGeom>
            <a:gradFill flip="none" rotWithShape="1">
              <a:gsLst>
                <a:gs pos="0">
                  <a:srgbClr val="DEEDEB"/>
                </a:gs>
                <a:gs pos="43000">
                  <a:srgbClr val="61A99D"/>
                </a:gs>
                <a:gs pos="100000">
                  <a:srgbClr val="267D72"/>
                </a:gs>
              </a:gsLst>
              <a:lin ang="2700000" scaled="1"/>
              <a:tileRect/>
            </a:gradFill>
            <a:ln w="1807" cap="rnd" cmpd="sng" algn="ctr">
              <a:noFill/>
              <a:prstDash val="solid"/>
              <a:round/>
              <a:headEnd type="none" w="med" len="med"/>
              <a:tailEnd type="none" w="med" len="med"/>
            </a:ln>
            <a:effectLst/>
          </p:spPr>
        </p:sp>
      </p:grpSp>
      <p:sp>
        <p:nvSpPr>
          <p:cNvPr id="684" name="TextBox 12226">
            <a:extLst>
              <a:ext uri="{FF2B5EF4-FFF2-40B4-BE49-F238E27FC236}">
                <a16:creationId xmlns:a16="http://schemas.microsoft.com/office/drawing/2014/main" id="{43DBD103-E22F-DA52-F0ED-122A5CA41D61}"/>
              </a:ext>
            </a:extLst>
          </p:cNvPr>
          <p:cNvSpPr txBox="1"/>
          <p:nvPr/>
        </p:nvSpPr>
        <p:spPr>
          <a:xfrm>
            <a:off x="2837002" y="3080344"/>
            <a:ext cx="336631" cy="80599"/>
          </a:xfrm>
          <a:prstGeom prst="rect">
            <a:avLst/>
          </a:prstGeom>
          <a:noFill/>
        </p:spPr>
        <p:txBody>
          <a:bodyPr wrap="none" lIns="0" tIns="0" rIns="0" bIns="0" anchor="ctr">
            <a:spAutoFit/>
          </a:bodyPr>
          <a:lstStyle/>
          <a:p>
            <a:pPr algn="ctr">
              <a:lnSpc>
                <a:spcPct val="105000"/>
              </a:lnSpc>
            </a:pPr>
            <a:r>
              <a:rPr sz="536">
                <a:solidFill>
                  <a:srgbClr val="263442"/>
                </a:solidFill>
                <a:latin typeface="Arial"/>
              </a:rPr>
              <a:t>Own graph</a:t>
            </a:r>
          </a:p>
        </p:txBody>
      </p:sp>
      <p:sp>
        <p:nvSpPr>
          <p:cNvPr id="685" name="Op | GNN">
            <a:extLst>
              <a:ext uri="{FF2B5EF4-FFF2-40B4-BE49-F238E27FC236}">
                <a16:creationId xmlns:a16="http://schemas.microsoft.com/office/drawing/2014/main" id="{98330FF3-2E5A-32C3-D33C-D78225E1943D}"/>
              </a:ext>
            </a:extLst>
          </p:cNvPr>
          <p:cNvSpPr/>
          <p:nvPr/>
        </p:nvSpPr>
        <p:spPr>
          <a:xfrm>
            <a:off x="2823379" y="3239299"/>
            <a:ext cx="363877" cy="134476"/>
          </a:xfrm>
          <a:prstGeom prst="roundRect">
            <a:avLst>
              <a:gd name="adj" fmla="val 18000"/>
            </a:avLst>
          </a:prstGeom>
          <a:solidFill>
            <a:srgbClr val="F4F6F7"/>
          </a:solidFill>
          <a:ln w="7290">
            <a:solidFill>
              <a:srgbClr val="BEC7C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GNN</a:t>
            </a:r>
          </a:p>
        </p:txBody>
      </p:sp>
      <p:sp>
        <p:nvSpPr>
          <p:cNvPr id="686" name="TextBox 12228">
            <a:extLst>
              <a:ext uri="{FF2B5EF4-FFF2-40B4-BE49-F238E27FC236}">
                <a16:creationId xmlns:a16="http://schemas.microsoft.com/office/drawing/2014/main" id="{26538413-3AE9-9872-D0A6-0AEA9E6FF809}"/>
              </a:ext>
            </a:extLst>
          </p:cNvPr>
          <p:cNvSpPr txBox="1"/>
          <p:nvPr/>
        </p:nvSpPr>
        <p:spPr>
          <a:xfrm>
            <a:off x="3036959" y="3388848"/>
            <a:ext cx="134652" cy="80599"/>
          </a:xfrm>
          <a:prstGeom prst="rect">
            <a:avLst/>
          </a:prstGeom>
          <a:noFill/>
        </p:spPr>
        <p:txBody>
          <a:bodyPr wrap="none" lIns="0" tIns="0" rIns="0" bIns="0" anchor="ctr">
            <a:spAutoFit/>
          </a:bodyPr>
          <a:lstStyle/>
          <a:p>
            <a:pPr algn="l">
              <a:lnSpc>
                <a:spcPct val="105000"/>
              </a:lnSpc>
            </a:pPr>
            <a:r>
              <a:rPr sz="536" dirty="0">
                <a:solidFill>
                  <a:srgbClr val="263442"/>
                </a:solidFill>
                <a:latin typeface="Arial"/>
              </a:rPr>
              <a:t>K, V</a:t>
            </a:r>
          </a:p>
        </p:txBody>
      </p:sp>
      <p:sp>
        <p:nvSpPr>
          <p:cNvPr id="687" name="Op | Graph attention">
            <a:extLst>
              <a:ext uri="{FF2B5EF4-FFF2-40B4-BE49-F238E27FC236}">
                <a16:creationId xmlns:a16="http://schemas.microsoft.com/office/drawing/2014/main" id="{5F3701CD-DCA3-D9CA-7FA3-D737E8718A60}"/>
              </a:ext>
            </a:extLst>
          </p:cNvPr>
          <p:cNvSpPr/>
          <p:nvPr/>
        </p:nvSpPr>
        <p:spPr>
          <a:xfrm>
            <a:off x="2696813" y="3500341"/>
            <a:ext cx="617009" cy="150297"/>
          </a:xfrm>
          <a:prstGeom prst="roundRect">
            <a:avLst>
              <a:gd name="adj" fmla="val 18000"/>
            </a:avLst>
          </a:prstGeom>
          <a:solidFill>
            <a:srgbClr val="F4F6F7"/>
          </a:solidFill>
          <a:ln w="7290">
            <a:solidFill>
              <a:srgbClr val="BEC7C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Graph</a:t>
            </a:r>
            <a:r>
              <a:rPr sz="580" dirty="0">
                <a:solidFill>
                  <a:srgbClr val="263442"/>
                </a:solidFill>
                <a:latin typeface="Arial"/>
              </a:rPr>
              <a:t> </a:t>
            </a:r>
            <a:r>
              <a:rPr sz="588" dirty="0">
                <a:solidFill>
                  <a:srgbClr val="263442"/>
                </a:solidFill>
                <a:latin typeface="Arial"/>
              </a:rPr>
              <a:t>attention</a:t>
            </a:r>
          </a:p>
        </p:txBody>
      </p:sp>
      <p:sp>
        <p:nvSpPr>
          <p:cNvPr id="688" name="Op | SMI-TED">
            <a:extLst>
              <a:ext uri="{FF2B5EF4-FFF2-40B4-BE49-F238E27FC236}">
                <a16:creationId xmlns:a16="http://schemas.microsoft.com/office/drawing/2014/main" id="{9F250B16-9768-CC2C-86AF-59769C8EEC4C}"/>
              </a:ext>
            </a:extLst>
          </p:cNvPr>
          <p:cNvSpPr/>
          <p:nvPr/>
        </p:nvSpPr>
        <p:spPr>
          <a:xfrm>
            <a:off x="3459362" y="2971538"/>
            <a:ext cx="427160" cy="134476"/>
          </a:xfrm>
          <a:prstGeom prst="roundRect">
            <a:avLst>
              <a:gd name="adj" fmla="val 18000"/>
            </a:avLst>
          </a:prstGeom>
          <a:solidFill>
            <a:srgbClr val="F4F6F7"/>
          </a:solidFill>
          <a:ln w="7290">
            <a:solidFill>
              <a:srgbClr val="BEC7C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SMI-TED</a:t>
            </a:r>
          </a:p>
        </p:txBody>
      </p:sp>
      <p:sp>
        <p:nvSpPr>
          <p:cNvPr id="689" name="Language vector v_k_1">
            <a:extLst>
              <a:ext uri="{FF2B5EF4-FFF2-40B4-BE49-F238E27FC236}">
                <a16:creationId xmlns:a16="http://schemas.microsoft.com/office/drawing/2014/main" id="{E695888D-D925-5392-2451-D7757F2B6BC7}"/>
              </a:ext>
            </a:extLst>
          </p:cNvPr>
          <p:cNvSpPr/>
          <p:nvPr/>
        </p:nvSpPr>
        <p:spPr>
          <a:xfrm>
            <a:off x="3527403" y="3547013"/>
            <a:ext cx="37291" cy="56955"/>
          </a:xfrm>
          <a:prstGeom prst="rect">
            <a:avLst/>
          </a:prstGeom>
          <a:solidFill>
            <a:srgbClr val="3C9B8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90" name="Language vector v_k_2">
            <a:extLst>
              <a:ext uri="{FF2B5EF4-FFF2-40B4-BE49-F238E27FC236}">
                <a16:creationId xmlns:a16="http://schemas.microsoft.com/office/drawing/2014/main" id="{914284BD-BAB8-4AEA-A1F1-E7FC853BC87F}"/>
              </a:ext>
            </a:extLst>
          </p:cNvPr>
          <p:cNvSpPr/>
          <p:nvPr/>
        </p:nvSpPr>
        <p:spPr>
          <a:xfrm>
            <a:off x="3568650" y="3547013"/>
            <a:ext cx="37291" cy="56955"/>
          </a:xfrm>
          <a:prstGeom prst="rect">
            <a:avLst/>
          </a:prstGeom>
          <a:solidFill>
            <a:srgbClr val="6FB9A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91" name="Language vector v_k_3">
            <a:extLst>
              <a:ext uri="{FF2B5EF4-FFF2-40B4-BE49-F238E27FC236}">
                <a16:creationId xmlns:a16="http://schemas.microsoft.com/office/drawing/2014/main" id="{A224CED9-3025-4474-CF80-E118B0ACA7AB}"/>
              </a:ext>
            </a:extLst>
          </p:cNvPr>
          <p:cNvSpPr/>
          <p:nvPr/>
        </p:nvSpPr>
        <p:spPr>
          <a:xfrm>
            <a:off x="3609897" y="3547013"/>
            <a:ext cx="37291" cy="56955"/>
          </a:xfrm>
          <a:prstGeom prst="rect">
            <a:avLst/>
          </a:prstGeom>
          <a:solidFill>
            <a:srgbClr val="ADD8C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92" name="Language vector v_k_4">
            <a:extLst>
              <a:ext uri="{FF2B5EF4-FFF2-40B4-BE49-F238E27FC236}">
                <a16:creationId xmlns:a16="http://schemas.microsoft.com/office/drawing/2014/main" id="{3641CBF3-C5A5-2DC2-88CA-B3F2C816508D}"/>
              </a:ext>
            </a:extLst>
          </p:cNvPr>
          <p:cNvSpPr/>
          <p:nvPr/>
        </p:nvSpPr>
        <p:spPr>
          <a:xfrm>
            <a:off x="3651144" y="3547013"/>
            <a:ext cx="37291" cy="56955"/>
          </a:xfrm>
          <a:prstGeom prst="rect">
            <a:avLst/>
          </a:prstGeom>
          <a:solidFill>
            <a:srgbClr val="CBE7D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93" name="Language vector v_k_5">
            <a:extLst>
              <a:ext uri="{FF2B5EF4-FFF2-40B4-BE49-F238E27FC236}">
                <a16:creationId xmlns:a16="http://schemas.microsoft.com/office/drawing/2014/main" id="{B6BA4357-39F7-598C-72FA-2FC00B25A10F}"/>
              </a:ext>
            </a:extLst>
          </p:cNvPr>
          <p:cNvSpPr/>
          <p:nvPr/>
        </p:nvSpPr>
        <p:spPr>
          <a:xfrm>
            <a:off x="3692391" y="3547013"/>
            <a:ext cx="37291" cy="56955"/>
          </a:xfrm>
          <a:prstGeom prst="rect">
            <a:avLst/>
          </a:prstGeom>
          <a:solidFill>
            <a:srgbClr val="3C9B8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94" name="Language vector v_k_6">
            <a:extLst>
              <a:ext uri="{FF2B5EF4-FFF2-40B4-BE49-F238E27FC236}">
                <a16:creationId xmlns:a16="http://schemas.microsoft.com/office/drawing/2014/main" id="{14F9C08B-08C8-5CC8-21F6-EC42430BFA81}"/>
              </a:ext>
            </a:extLst>
          </p:cNvPr>
          <p:cNvSpPr/>
          <p:nvPr/>
        </p:nvSpPr>
        <p:spPr>
          <a:xfrm>
            <a:off x="3733638" y="3547013"/>
            <a:ext cx="37291" cy="56955"/>
          </a:xfrm>
          <a:prstGeom prst="rect">
            <a:avLst/>
          </a:prstGeom>
          <a:solidFill>
            <a:srgbClr val="6FB9A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95" name="Language vector v_k_7">
            <a:extLst>
              <a:ext uri="{FF2B5EF4-FFF2-40B4-BE49-F238E27FC236}">
                <a16:creationId xmlns:a16="http://schemas.microsoft.com/office/drawing/2014/main" id="{52E0E1B7-31F4-244C-BA32-494F415D5F2F}"/>
              </a:ext>
            </a:extLst>
          </p:cNvPr>
          <p:cNvSpPr/>
          <p:nvPr/>
        </p:nvSpPr>
        <p:spPr>
          <a:xfrm>
            <a:off x="3774885" y="3547013"/>
            <a:ext cx="37291" cy="56955"/>
          </a:xfrm>
          <a:prstGeom prst="rect">
            <a:avLst/>
          </a:prstGeom>
          <a:solidFill>
            <a:srgbClr val="ADD8C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96" name="TextBox 12239">
            <a:extLst>
              <a:ext uri="{FF2B5EF4-FFF2-40B4-BE49-F238E27FC236}">
                <a16:creationId xmlns:a16="http://schemas.microsoft.com/office/drawing/2014/main" id="{DE6BD61F-48C0-C267-E36F-0AC7BC24100D}"/>
              </a:ext>
            </a:extLst>
          </p:cNvPr>
          <p:cNvSpPr txBox="1"/>
          <p:nvPr/>
        </p:nvSpPr>
        <p:spPr>
          <a:xfrm>
            <a:off x="3353374" y="3475189"/>
            <a:ext cx="126566" cy="81946"/>
          </a:xfrm>
          <a:prstGeom prst="rect">
            <a:avLst/>
          </a:prstGeom>
          <a:noFill/>
        </p:spPr>
        <p:txBody>
          <a:bodyPr wrap="square" lIns="0" tIns="0" rIns="0" bIns="0" anchor="ctr">
            <a:spAutoFit/>
          </a:bodyPr>
          <a:lstStyle/>
          <a:p>
            <a:pPr algn="ctr">
              <a:lnSpc>
                <a:spcPct val="105000"/>
              </a:lnSpc>
            </a:pPr>
            <a:r>
              <a:rPr sz="545" dirty="0">
                <a:solidFill>
                  <a:srgbClr val="263442"/>
                </a:solidFill>
                <a:latin typeface="Arial"/>
              </a:rPr>
              <a:t>Q</a:t>
            </a:r>
          </a:p>
        </p:txBody>
      </p:sp>
      <p:sp>
        <p:nvSpPr>
          <p:cNvPr id="697" name="TextBox 12240">
            <a:extLst>
              <a:ext uri="{FF2B5EF4-FFF2-40B4-BE49-F238E27FC236}">
                <a16:creationId xmlns:a16="http://schemas.microsoft.com/office/drawing/2014/main" id="{2ACBC05C-C556-BA36-3DA9-0D37D9382C06}"/>
              </a:ext>
            </a:extLst>
          </p:cNvPr>
          <p:cNvSpPr txBox="1"/>
          <p:nvPr/>
        </p:nvSpPr>
        <p:spPr>
          <a:xfrm>
            <a:off x="3859638" y="3475189"/>
            <a:ext cx="126566" cy="81946"/>
          </a:xfrm>
          <a:prstGeom prst="rect">
            <a:avLst/>
          </a:prstGeom>
          <a:noFill/>
        </p:spPr>
        <p:txBody>
          <a:bodyPr wrap="square" lIns="0" tIns="0" rIns="0" bIns="0" anchor="ctr">
            <a:spAutoFit/>
          </a:bodyPr>
          <a:lstStyle/>
          <a:p>
            <a:pPr algn="ctr">
              <a:lnSpc>
                <a:spcPct val="105000"/>
              </a:lnSpc>
            </a:pPr>
            <a:r>
              <a:rPr sz="545">
                <a:solidFill>
                  <a:srgbClr val="263442"/>
                </a:solidFill>
                <a:latin typeface="Arial"/>
              </a:rPr>
              <a:t>Q</a:t>
            </a:r>
          </a:p>
        </p:txBody>
      </p:sp>
      <p:sp>
        <p:nvSpPr>
          <p:cNvPr id="698" name="TextBox 12241">
            <a:extLst>
              <a:ext uri="{FF2B5EF4-FFF2-40B4-BE49-F238E27FC236}">
                <a16:creationId xmlns:a16="http://schemas.microsoft.com/office/drawing/2014/main" id="{0B3A68EF-7CF9-A2EB-24B2-085C5BF1F71F}"/>
              </a:ext>
            </a:extLst>
          </p:cNvPr>
          <p:cNvSpPr txBox="1"/>
          <p:nvPr/>
        </p:nvSpPr>
        <p:spPr>
          <a:xfrm>
            <a:off x="4373812" y="2542416"/>
            <a:ext cx="379698" cy="151836"/>
          </a:xfrm>
          <a:prstGeom prst="rect">
            <a:avLst/>
          </a:prstGeom>
          <a:noFill/>
        </p:spPr>
        <p:txBody>
          <a:bodyPr wrap="square" lIns="0" tIns="0" rIns="0" bIns="0" anchor="ctr">
            <a:spAutoFit/>
          </a:bodyPr>
          <a:lstStyle/>
          <a:p>
            <a:pPr algn="l">
              <a:lnSpc>
                <a:spcPct val="95000"/>
              </a:lnSpc>
            </a:pPr>
            <a:r>
              <a:rPr lang="en-US" sz="519" dirty="0">
                <a:solidFill>
                  <a:srgbClr val="263442"/>
                </a:solidFill>
                <a:latin typeface="Arial"/>
              </a:rPr>
              <a:t>  </a:t>
            </a:r>
            <a:r>
              <a:rPr sz="519" dirty="0">
                <a:solidFill>
                  <a:srgbClr val="263442"/>
                </a:solidFill>
                <a:latin typeface="Arial"/>
              </a:rPr>
              <a:t>Other</a:t>
            </a:r>
          </a:p>
          <a:p>
            <a:pPr algn="l">
              <a:lnSpc>
                <a:spcPct val="95000"/>
              </a:lnSpc>
            </a:pPr>
            <a:r>
              <a:rPr sz="519" dirty="0">
                <a:solidFill>
                  <a:srgbClr val="263442"/>
                </a:solidFill>
                <a:latin typeface="Arial"/>
              </a:rPr>
              <a:t>identities</a:t>
            </a:r>
          </a:p>
        </p:txBody>
      </p:sp>
      <p:sp>
        <p:nvSpPr>
          <p:cNvPr id="699" name="Op | SMI-TED">
            <a:extLst>
              <a:ext uri="{FF2B5EF4-FFF2-40B4-BE49-F238E27FC236}">
                <a16:creationId xmlns:a16="http://schemas.microsoft.com/office/drawing/2014/main" id="{6691CF15-5DAD-F305-5973-B1ACEFFF5CBF}"/>
              </a:ext>
            </a:extLst>
          </p:cNvPr>
          <p:cNvSpPr/>
          <p:nvPr/>
        </p:nvSpPr>
        <p:spPr>
          <a:xfrm>
            <a:off x="4140927" y="2967199"/>
            <a:ext cx="427160" cy="134476"/>
          </a:xfrm>
          <a:prstGeom prst="roundRect">
            <a:avLst>
              <a:gd name="adj" fmla="val 18000"/>
            </a:avLst>
          </a:prstGeom>
          <a:solidFill>
            <a:srgbClr val="F4F6F7"/>
          </a:solidFill>
          <a:ln w="7290">
            <a:solidFill>
              <a:srgbClr val="BEC7C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SMI-TED</a:t>
            </a:r>
          </a:p>
        </p:txBody>
      </p:sp>
      <p:sp>
        <p:nvSpPr>
          <p:cNvPr id="700" name="TextBox 12244">
            <a:extLst>
              <a:ext uri="{FF2B5EF4-FFF2-40B4-BE49-F238E27FC236}">
                <a16:creationId xmlns:a16="http://schemas.microsoft.com/office/drawing/2014/main" id="{13C55E5C-99C8-F46D-3353-FED4827206EC}"/>
              </a:ext>
            </a:extLst>
          </p:cNvPr>
          <p:cNvSpPr txBox="1"/>
          <p:nvPr/>
        </p:nvSpPr>
        <p:spPr>
          <a:xfrm>
            <a:off x="4128591" y="3197919"/>
            <a:ext cx="79104" cy="67711"/>
          </a:xfrm>
          <a:prstGeom prst="rect">
            <a:avLst/>
          </a:prstGeom>
          <a:noFill/>
        </p:spPr>
        <p:txBody>
          <a:bodyPr wrap="square" lIns="0" tIns="0" rIns="0" bIns="0" anchor="ctr">
            <a:spAutoFit/>
          </a:bodyPr>
          <a:lstStyle/>
          <a:p>
            <a:pPr algn="ctr">
              <a:lnSpc>
                <a:spcPct val="105000"/>
              </a:lnSpc>
            </a:pPr>
            <a:r>
              <a:rPr sz="522" dirty="0">
                <a:solidFill>
                  <a:srgbClr val="263442"/>
                </a:solidFill>
                <a:latin typeface="Arial"/>
              </a:rPr>
              <a:t>1</a:t>
            </a:r>
          </a:p>
        </p:txBody>
      </p:sp>
      <p:sp>
        <p:nvSpPr>
          <p:cNvPr id="701" name="Context bar 1_1">
            <a:extLst>
              <a:ext uri="{FF2B5EF4-FFF2-40B4-BE49-F238E27FC236}">
                <a16:creationId xmlns:a16="http://schemas.microsoft.com/office/drawing/2014/main" id="{F675EB2C-E3F4-CF25-F2F9-B217A0C64998}"/>
              </a:ext>
            </a:extLst>
          </p:cNvPr>
          <p:cNvSpPr/>
          <p:nvPr/>
        </p:nvSpPr>
        <p:spPr>
          <a:xfrm>
            <a:off x="4223515" y="3223887"/>
            <a:ext cx="44166" cy="34806"/>
          </a:xfrm>
          <a:prstGeom prst="rect">
            <a:avLst/>
          </a:prstGeom>
          <a:solidFill>
            <a:srgbClr val="5A82B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02" name="Context bar 1_2">
            <a:extLst>
              <a:ext uri="{FF2B5EF4-FFF2-40B4-BE49-F238E27FC236}">
                <a16:creationId xmlns:a16="http://schemas.microsoft.com/office/drawing/2014/main" id="{7015B7C2-EE7A-8CD3-BF9A-C8F6C295F2D3}"/>
              </a:ext>
            </a:extLst>
          </p:cNvPr>
          <p:cNvSpPr/>
          <p:nvPr/>
        </p:nvSpPr>
        <p:spPr>
          <a:xfrm>
            <a:off x="4271637" y="3223887"/>
            <a:ext cx="44166" cy="34806"/>
          </a:xfrm>
          <a:prstGeom prst="rect">
            <a:avLst/>
          </a:prstGeom>
          <a:solidFill>
            <a:srgbClr val="8BAAD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03" name="Context bar 1_3">
            <a:extLst>
              <a:ext uri="{FF2B5EF4-FFF2-40B4-BE49-F238E27FC236}">
                <a16:creationId xmlns:a16="http://schemas.microsoft.com/office/drawing/2014/main" id="{0283D963-CC89-9552-BBFA-44417F9A5810}"/>
              </a:ext>
            </a:extLst>
          </p:cNvPr>
          <p:cNvSpPr/>
          <p:nvPr/>
        </p:nvSpPr>
        <p:spPr>
          <a:xfrm>
            <a:off x="4319758" y="3223887"/>
            <a:ext cx="44166" cy="34806"/>
          </a:xfrm>
          <a:prstGeom prst="rect">
            <a:avLst/>
          </a:prstGeom>
          <a:solidFill>
            <a:srgbClr val="BFD2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04" name="Context bar 1_4">
            <a:extLst>
              <a:ext uri="{FF2B5EF4-FFF2-40B4-BE49-F238E27FC236}">
                <a16:creationId xmlns:a16="http://schemas.microsoft.com/office/drawing/2014/main" id="{DFE762FA-D62F-609E-23C6-B16577CF789A}"/>
              </a:ext>
            </a:extLst>
          </p:cNvPr>
          <p:cNvSpPr/>
          <p:nvPr/>
        </p:nvSpPr>
        <p:spPr>
          <a:xfrm>
            <a:off x="4367880" y="3223887"/>
            <a:ext cx="44166" cy="34806"/>
          </a:xfrm>
          <a:prstGeom prst="rect">
            <a:avLst/>
          </a:prstGeom>
          <a:solidFill>
            <a:srgbClr val="7397C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05" name="Context bar 1_5">
            <a:extLst>
              <a:ext uri="{FF2B5EF4-FFF2-40B4-BE49-F238E27FC236}">
                <a16:creationId xmlns:a16="http://schemas.microsoft.com/office/drawing/2014/main" id="{8A2B1ECE-222F-713D-5115-87805A38C6E9}"/>
              </a:ext>
            </a:extLst>
          </p:cNvPr>
          <p:cNvSpPr/>
          <p:nvPr/>
        </p:nvSpPr>
        <p:spPr>
          <a:xfrm>
            <a:off x="4416001" y="3223887"/>
            <a:ext cx="44166" cy="34806"/>
          </a:xfrm>
          <a:prstGeom prst="rect">
            <a:avLst/>
          </a:prstGeom>
          <a:solidFill>
            <a:srgbClr val="5A82B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06" name="Context bar 1_6">
            <a:extLst>
              <a:ext uri="{FF2B5EF4-FFF2-40B4-BE49-F238E27FC236}">
                <a16:creationId xmlns:a16="http://schemas.microsoft.com/office/drawing/2014/main" id="{F9202696-646F-1763-9139-E44B52B50C5F}"/>
              </a:ext>
            </a:extLst>
          </p:cNvPr>
          <p:cNvSpPr/>
          <p:nvPr/>
        </p:nvSpPr>
        <p:spPr>
          <a:xfrm>
            <a:off x="4464123" y="3223887"/>
            <a:ext cx="44166" cy="34806"/>
          </a:xfrm>
          <a:prstGeom prst="rect">
            <a:avLst/>
          </a:prstGeom>
          <a:solidFill>
            <a:srgbClr val="8BAAD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07" name="TextBox 12251">
            <a:extLst>
              <a:ext uri="{FF2B5EF4-FFF2-40B4-BE49-F238E27FC236}">
                <a16:creationId xmlns:a16="http://schemas.microsoft.com/office/drawing/2014/main" id="{7BC06DFD-B767-BA41-2B05-2B0A38358B92}"/>
              </a:ext>
            </a:extLst>
          </p:cNvPr>
          <p:cNvSpPr txBox="1"/>
          <p:nvPr/>
        </p:nvSpPr>
        <p:spPr>
          <a:xfrm>
            <a:off x="4128591" y="3270220"/>
            <a:ext cx="79104" cy="67711"/>
          </a:xfrm>
          <a:prstGeom prst="rect">
            <a:avLst/>
          </a:prstGeom>
          <a:noFill/>
        </p:spPr>
        <p:txBody>
          <a:bodyPr wrap="square" lIns="0" tIns="0" rIns="0" bIns="0" anchor="ctr">
            <a:spAutoFit/>
          </a:bodyPr>
          <a:lstStyle/>
          <a:p>
            <a:pPr algn="ctr">
              <a:lnSpc>
                <a:spcPct val="105000"/>
              </a:lnSpc>
            </a:pPr>
            <a:r>
              <a:rPr sz="522" dirty="0">
                <a:solidFill>
                  <a:srgbClr val="263442"/>
                </a:solidFill>
                <a:latin typeface="Arial"/>
              </a:rPr>
              <a:t>2</a:t>
            </a:r>
          </a:p>
        </p:txBody>
      </p:sp>
      <p:sp>
        <p:nvSpPr>
          <p:cNvPr id="708" name="Context bar 2_1">
            <a:extLst>
              <a:ext uri="{FF2B5EF4-FFF2-40B4-BE49-F238E27FC236}">
                <a16:creationId xmlns:a16="http://schemas.microsoft.com/office/drawing/2014/main" id="{520858ED-2877-9676-9DDD-53EAA8E37558}"/>
              </a:ext>
            </a:extLst>
          </p:cNvPr>
          <p:cNvSpPr/>
          <p:nvPr/>
        </p:nvSpPr>
        <p:spPr>
          <a:xfrm>
            <a:off x="4223515" y="3286664"/>
            <a:ext cx="44166" cy="34806"/>
          </a:xfrm>
          <a:prstGeom prst="rect">
            <a:avLst/>
          </a:prstGeom>
          <a:solidFill>
            <a:srgbClr val="A67C4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09" name="Context bar 2_2">
            <a:extLst>
              <a:ext uri="{FF2B5EF4-FFF2-40B4-BE49-F238E27FC236}">
                <a16:creationId xmlns:a16="http://schemas.microsoft.com/office/drawing/2014/main" id="{50A3D4F9-D9FE-CC8B-21E7-D32E326D8875}"/>
              </a:ext>
            </a:extLst>
          </p:cNvPr>
          <p:cNvSpPr/>
          <p:nvPr/>
        </p:nvSpPr>
        <p:spPr>
          <a:xfrm>
            <a:off x="4271637" y="3286664"/>
            <a:ext cx="44166" cy="34806"/>
          </a:xfrm>
          <a:prstGeom prst="rect">
            <a:avLst/>
          </a:prstGeom>
          <a:solidFill>
            <a:srgbClr val="C6A37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10" name="Context bar 2_3">
            <a:extLst>
              <a:ext uri="{FF2B5EF4-FFF2-40B4-BE49-F238E27FC236}">
                <a16:creationId xmlns:a16="http://schemas.microsoft.com/office/drawing/2014/main" id="{4471AA3C-5A9C-CEE5-0418-953EC2227441}"/>
              </a:ext>
            </a:extLst>
          </p:cNvPr>
          <p:cNvSpPr/>
          <p:nvPr/>
        </p:nvSpPr>
        <p:spPr>
          <a:xfrm>
            <a:off x="4319758" y="3286664"/>
            <a:ext cx="44166" cy="34806"/>
          </a:xfrm>
          <a:prstGeom prst="rect">
            <a:avLst/>
          </a:prstGeom>
          <a:solidFill>
            <a:srgbClr val="E0CCB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11" name="Context bar 2_4">
            <a:extLst>
              <a:ext uri="{FF2B5EF4-FFF2-40B4-BE49-F238E27FC236}">
                <a16:creationId xmlns:a16="http://schemas.microsoft.com/office/drawing/2014/main" id="{B321BB44-18FA-E7F3-2924-BC94493FEA4A}"/>
              </a:ext>
            </a:extLst>
          </p:cNvPr>
          <p:cNvSpPr/>
          <p:nvPr/>
        </p:nvSpPr>
        <p:spPr>
          <a:xfrm>
            <a:off x="4367880" y="3286664"/>
            <a:ext cx="44166" cy="34806"/>
          </a:xfrm>
          <a:prstGeom prst="rect">
            <a:avLst/>
          </a:prstGeom>
          <a:solidFill>
            <a:srgbClr val="B58E5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12" name="Context bar 2_5">
            <a:extLst>
              <a:ext uri="{FF2B5EF4-FFF2-40B4-BE49-F238E27FC236}">
                <a16:creationId xmlns:a16="http://schemas.microsoft.com/office/drawing/2014/main" id="{BF58521A-8C41-BE24-9704-AEAF70385316}"/>
              </a:ext>
            </a:extLst>
          </p:cNvPr>
          <p:cNvSpPr/>
          <p:nvPr/>
        </p:nvSpPr>
        <p:spPr>
          <a:xfrm>
            <a:off x="4416001" y="3286664"/>
            <a:ext cx="44166" cy="34806"/>
          </a:xfrm>
          <a:prstGeom prst="rect">
            <a:avLst/>
          </a:prstGeom>
          <a:solidFill>
            <a:srgbClr val="A67C4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13" name="Context bar 2_6">
            <a:extLst>
              <a:ext uri="{FF2B5EF4-FFF2-40B4-BE49-F238E27FC236}">
                <a16:creationId xmlns:a16="http://schemas.microsoft.com/office/drawing/2014/main" id="{4283B810-9FFF-25F8-1960-4F272603052B}"/>
              </a:ext>
            </a:extLst>
          </p:cNvPr>
          <p:cNvSpPr/>
          <p:nvPr/>
        </p:nvSpPr>
        <p:spPr>
          <a:xfrm>
            <a:off x="4464123" y="3286664"/>
            <a:ext cx="44166" cy="34806"/>
          </a:xfrm>
          <a:prstGeom prst="rect">
            <a:avLst/>
          </a:prstGeom>
          <a:solidFill>
            <a:srgbClr val="C6A37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14" name="TextBox 12258">
            <a:extLst>
              <a:ext uri="{FF2B5EF4-FFF2-40B4-BE49-F238E27FC236}">
                <a16:creationId xmlns:a16="http://schemas.microsoft.com/office/drawing/2014/main" id="{D4C78125-5C89-7F13-017C-2E1C11AE7FDD}"/>
              </a:ext>
            </a:extLst>
          </p:cNvPr>
          <p:cNvSpPr txBox="1"/>
          <p:nvPr/>
        </p:nvSpPr>
        <p:spPr>
          <a:xfrm>
            <a:off x="4128591" y="3342522"/>
            <a:ext cx="79104" cy="67711"/>
          </a:xfrm>
          <a:prstGeom prst="rect">
            <a:avLst/>
          </a:prstGeom>
          <a:noFill/>
        </p:spPr>
        <p:txBody>
          <a:bodyPr wrap="square" lIns="0" tIns="0" rIns="0" bIns="0" anchor="ctr">
            <a:spAutoFit/>
          </a:bodyPr>
          <a:lstStyle/>
          <a:p>
            <a:pPr algn="ctr">
              <a:lnSpc>
                <a:spcPct val="105000"/>
              </a:lnSpc>
            </a:pPr>
            <a:r>
              <a:rPr sz="522" dirty="0">
                <a:solidFill>
                  <a:srgbClr val="263442"/>
                </a:solidFill>
                <a:latin typeface="Arial"/>
              </a:rPr>
              <a:t>K</a:t>
            </a:r>
          </a:p>
        </p:txBody>
      </p:sp>
      <p:sp>
        <p:nvSpPr>
          <p:cNvPr id="715" name="Context bar K_1">
            <a:extLst>
              <a:ext uri="{FF2B5EF4-FFF2-40B4-BE49-F238E27FC236}">
                <a16:creationId xmlns:a16="http://schemas.microsoft.com/office/drawing/2014/main" id="{6C63634F-2307-320B-8E95-2B6ADA84F565}"/>
              </a:ext>
            </a:extLst>
          </p:cNvPr>
          <p:cNvSpPr/>
          <p:nvPr/>
        </p:nvSpPr>
        <p:spPr>
          <a:xfrm>
            <a:off x="4223515" y="3349440"/>
            <a:ext cx="44166" cy="34806"/>
          </a:xfrm>
          <a:prstGeom prst="rect">
            <a:avLst/>
          </a:prstGeom>
          <a:solidFill>
            <a:srgbClr val="7A68A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16" name="Context bar K_2">
            <a:extLst>
              <a:ext uri="{FF2B5EF4-FFF2-40B4-BE49-F238E27FC236}">
                <a16:creationId xmlns:a16="http://schemas.microsoft.com/office/drawing/2014/main" id="{582A4CF2-1B99-BCF5-A8D3-EE93D5F5B81F}"/>
              </a:ext>
            </a:extLst>
          </p:cNvPr>
          <p:cNvSpPr/>
          <p:nvPr/>
        </p:nvSpPr>
        <p:spPr>
          <a:xfrm>
            <a:off x="4271637" y="3349440"/>
            <a:ext cx="44166" cy="34806"/>
          </a:xfrm>
          <a:prstGeom prst="rect">
            <a:avLst/>
          </a:prstGeom>
          <a:solidFill>
            <a:srgbClr val="A193C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17" name="Context bar K_3">
            <a:extLst>
              <a:ext uri="{FF2B5EF4-FFF2-40B4-BE49-F238E27FC236}">
                <a16:creationId xmlns:a16="http://schemas.microsoft.com/office/drawing/2014/main" id="{607B41B1-A111-8D93-E207-5DF6221B54D2}"/>
              </a:ext>
            </a:extLst>
          </p:cNvPr>
          <p:cNvSpPr/>
          <p:nvPr/>
        </p:nvSpPr>
        <p:spPr>
          <a:xfrm>
            <a:off x="4319758" y="3349440"/>
            <a:ext cx="44166" cy="34806"/>
          </a:xfrm>
          <a:prstGeom prst="rect">
            <a:avLst/>
          </a:prstGeom>
          <a:solidFill>
            <a:srgbClr val="CBC2E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18" name="Context bar K_4">
            <a:extLst>
              <a:ext uri="{FF2B5EF4-FFF2-40B4-BE49-F238E27FC236}">
                <a16:creationId xmlns:a16="http://schemas.microsoft.com/office/drawing/2014/main" id="{9539C2E7-004F-E86E-852E-98E80C399402}"/>
              </a:ext>
            </a:extLst>
          </p:cNvPr>
          <p:cNvSpPr/>
          <p:nvPr/>
        </p:nvSpPr>
        <p:spPr>
          <a:xfrm>
            <a:off x="4367880" y="3349440"/>
            <a:ext cx="44166" cy="34806"/>
          </a:xfrm>
          <a:prstGeom prst="rect">
            <a:avLst/>
          </a:prstGeom>
          <a:solidFill>
            <a:srgbClr val="8E7DB5"/>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19" name="Context bar K_5">
            <a:extLst>
              <a:ext uri="{FF2B5EF4-FFF2-40B4-BE49-F238E27FC236}">
                <a16:creationId xmlns:a16="http://schemas.microsoft.com/office/drawing/2014/main" id="{2DE0B959-537B-893B-9987-81BBF3647FFD}"/>
              </a:ext>
            </a:extLst>
          </p:cNvPr>
          <p:cNvSpPr/>
          <p:nvPr/>
        </p:nvSpPr>
        <p:spPr>
          <a:xfrm>
            <a:off x="4416001" y="3349440"/>
            <a:ext cx="44166" cy="34806"/>
          </a:xfrm>
          <a:prstGeom prst="rect">
            <a:avLst/>
          </a:prstGeom>
          <a:solidFill>
            <a:srgbClr val="7A68A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20" name="Context bar K_6">
            <a:extLst>
              <a:ext uri="{FF2B5EF4-FFF2-40B4-BE49-F238E27FC236}">
                <a16:creationId xmlns:a16="http://schemas.microsoft.com/office/drawing/2014/main" id="{147CE38B-269C-4BBA-77C6-2810C1D11F1C}"/>
              </a:ext>
            </a:extLst>
          </p:cNvPr>
          <p:cNvSpPr/>
          <p:nvPr/>
        </p:nvSpPr>
        <p:spPr>
          <a:xfrm>
            <a:off x="4464123" y="3349440"/>
            <a:ext cx="44166" cy="34806"/>
          </a:xfrm>
          <a:prstGeom prst="rect">
            <a:avLst/>
          </a:prstGeom>
          <a:solidFill>
            <a:srgbClr val="A193C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21" name="TextBox 12265">
            <a:extLst>
              <a:ext uri="{FF2B5EF4-FFF2-40B4-BE49-F238E27FC236}">
                <a16:creationId xmlns:a16="http://schemas.microsoft.com/office/drawing/2014/main" id="{979CEBC9-AC70-1276-123A-637171F58084}"/>
              </a:ext>
            </a:extLst>
          </p:cNvPr>
          <p:cNvSpPr txBox="1"/>
          <p:nvPr/>
        </p:nvSpPr>
        <p:spPr>
          <a:xfrm>
            <a:off x="4381723" y="3400472"/>
            <a:ext cx="134652" cy="80599"/>
          </a:xfrm>
          <a:prstGeom prst="rect">
            <a:avLst/>
          </a:prstGeom>
          <a:noFill/>
        </p:spPr>
        <p:txBody>
          <a:bodyPr wrap="none" lIns="0" tIns="0" rIns="0" bIns="0" anchor="ctr">
            <a:spAutoFit/>
          </a:bodyPr>
          <a:lstStyle/>
          <a:p>
            <a:pPr algn="l">
              <a:lnSpc>
                <a:spcPct val="105000"/>
              </a:lnSpc>
            </a:pPr>
            <a:r>
              <a:rPr sz="536" dirty="0">
                <a:solidFill>
                  <a:srgbClr val="263442"/>
                </a:solidFill>
                <a:latin typeface="Arial"/>
              </a:rPr>
              <a:t>K, V</a:t>
            </a:r>
          </a:p>
        </p:txBody>
      </p:sp>
      <p:sp>
        <p:nvSpPr>
          <p:cNvPr id="722" name="Op | Context attention">
            <a:extLst>
              <a:ext uri="{FF2B5EF4-FFF2-40B4-BE49-F238E27FC236}">
                <a16:creationId xmlns:a16="http://schemas.microsoft.com/office/drawing/2014/main" id="{640CE564-549E-0D15-B50A-E392C9DB6304}"/>
              </a:ext>
            </a:extLst>
          </p:cNvPr>
          <p:cNvSpPr/>
          <p:nvPr/>
        </p:nvSpPr>
        <p:spPr>
          <a:xfrm>
            <a:off x="4025756" y="3500341"/>
            <a:ext cx="648651" cy="150297"/>
          </a:xfrm>
          <a:prstGeom prst="roundRect">
            <a:avLst>
              <a:gd name="adj" fmla="val 18000"/>
            </a:avLst>
          </a:prstGeom>
          <a:solidFill>
            <a:srgbClr val="F4F6F7"/>
          </a:solidFill>
          <a:ln w="7290">
            <a:solidFill>
              <a:srgbClr val="BEC7C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Context</a:t>
            </a:r>
            <a:r>
              <a:rPr sz="580" dirty="0">
                <a:solidFill>
                  <a:srgbClr val="263442"/>
                </a:solidFill>
                <a:latin typeface="Arial"/>
              </a:rPr>
              <a:t> attention</a:t>
            </a:r>
          </a:p>
        </p:txBody>
      </p:sp>
      <p:sp>
        <p:nvSpPr>
          <p:cNvPr id="723" name="Op | Fusion">
            <a:extLst>
              <a:ext uri="{FF2B5EF4-FFF2-40B4-BE49-F238E27FC236}">
                <a16:creationId xmlns:a16="http://schemas.microsoft.com/office/drawing/2014/main" id="{FF74A918-BF09-C9F6-6A9B-D421CF97BC33}"/>
              </a:ext>
            </a:extLst>
          </p:cNvPr>
          <p:cNvSpPr/>
          <p:nvPr/>
        </p:nvSpPr>
        <p:spPr>
          <a:xfrm>
            <a:off x="3479940" y="3733697"/>
            <a:ext cx="379698" cy="142387"/>
          </a:xfrm>
          <a:prstGeom prst="roundRect">
            <a:avLst>
              <a:gd name="adj" fmla="val 18000"/>
            </a:avLst>
          </a:prstGeom>
          <a:solidFill>
            <a:srgbClr val="F4F6F7"/>
          </a:solidFill>
          <a:ln w="7290">
            <a:solidFill>
              <a:srgbClr val="BEC7C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Fusion</a:t>
            </a:r>
          </a:p>
        </p:txBody>
      </p:sp>
      <p:sp>
        <p:nvSpPr>
          <p:cNvPr id="724" name="g_k bar_1">
            <a:extLst>
              <a:ext uri="{FF2B5EF4-FFF2-40B4-BE49-F238E27FC236}">
                <a16:creationId xmlns:a16="http://schemas.microsoft.com/office/drawing/2014/main" id="{CB9A6A2F-14EE-2004-CB53-FCE391ACED69}"/>
              </a:ext>
            </a:extLst>
          </p:cNvPr>
          <p:cNvSpPr/>
          <p:nvPr/>
        </p:nvSpPr>
        <p:spPr>
          <a:xfrm>
            <a:off x="3503672" y="3989994"/>
            <a:ext cx="44072" cy="56955"/>
          </a:xfrm>
          <a:prstGeom prst="rect">
            <a:avLst/>
          </a:prstGeom>
          <a:solidFill>
            <a:srgbClr val="3E997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25" name="g_k bar_2">
            <a:extLst>
              <a:ext uri="{FF2B5EF4-FFF2-40B4-BE49-F238E27FC236}">
                <a16:creationId xmlns:a16="http://schemas.microsoft.com/office/drawing/2014/main" id="{E39FC69E-11ED-3FA2-32B9-5945059F2213}"/>
              </a:ext>
            </a:extLst>
          </p:cNvPr>
          <p:cNvSpPr/>
          <p:nvPr/>
        </p:nvSpPr>
        <p:spPr>
          <a:xfrm>
            <a:off x="3551699" y="3989994"/>
            <a:ext cx="44072" cy="56955"/>
          </a:xfrm>
          <a:prstGeom prst="rect">
            <a:avLst/>
          </a:prstGeom>
          <a:solidFill>
            <a:srgbClr val="83C2A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26" name="g_k bar_3">
            <a:extLst>
              <a:ext uri="{FF2B5EF4-FFF2-40B4-BE49-F238E27FC236}">
                <a16:creationId xmlns:a16="http://schemas.microsoft.com/office/drawing/2014/main" id="{543C1079-397B-91D4-0D56-9824953F1A51}"/>
              </a:ext>
            </a:extLst>
          </p:cNvPr>
          <p:cNvSpPr/>
          <p:nvPr/>
        </p:nvSpPr>
        <p:spPr>
          <a:xfrm>
            <a:off x="3599726" y="3989994"/>
            <a:ext cx="44072" cy="56955"/>
          </a:xfrm>
          <a:prstGeom prst="rect">
            <a:avLst/>
          </a:prstGeom>
          <a:solidFill>
            <a:srgbClr val="BCDDC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27" name="g_k bar_4">
            <a:extLst>
              <a:ext uri="{FF2B5EF4-FFF2-40B4-BE49-F238E27FC236}">
                <a16:creationId xmlns:a16="http://schemas.microsoft.com/office/drawing/2014/main" id="{72768CF4-9EFB-DF24-7C89-6D351C730BA5}"/>
              </a:ext>
            </a:extLst>
          </p:cNvPr>
          <p:cNvSpPr/>
          <p:nvPr/>
        </p:nvSpPr>
        <p:spPr>
          <a:xfrm>
            <a:off x="3647753" y="3989994"/>
            <a:ext cx="44072" cy="56955"/>
          </a:xfrm>
          <a:prstGeom prst="rect">
            <a:avLst/>
          </a:prstGeom>
          <a:solidFill>
            <a:srgbClr val="68AB9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28" name="g_k bar_5">
            <a:extLst>
              <a:ext uri="{FF2B5EF4-FFF2-40B4-BE49-F238E27FC236}">
                <a16:creationId xmlns:a16="http://schemas.microsoft.com/office/drawing/2014/main" id="{4025AE17-AFDD-1F7D-9368-8E976FBC9D73}"/>
              </a:ext>
            </a:extLst>
          </p:cNvPr>
          <p:cNvSpPr/>
          <p:nvPr/>
        </p:nvSpPr>
        <p:spPr>
          <a:xfrm>
            <a:off x="3695781" y="3989994"/>
            <a:ext cx="44072" cy="56955"/>
          </a:xfrm>
          <a:prstGeom prst="rect">
            <a:avLst/>
          </a:prstGeom>
          <a:solidFill>
            <a:srgbClr val="3E997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29" name="g_k bar_6">
            <a:extLst>
              <a:ext uri="{FF2B5EF4-FFF2-40B4-BE49-F238E27FC236}">
                <a16:creationId xmlns:a16="http://schemas.microsoft.com/office/drawing/2014/main" id="{894C2CFF-A654-8C7B-2480-AC98400CE487}"/>
              </a:ext>
            </a:extLst>
          </p:cNvPr>
          <p:cNvSpPr/>
          <p:nvPr/>
        </p:nvSpPr>
        <p:spPr>
          <a:xfrm>
            <a:off x="3743808" y="3989994"/>
            <a:ext cx="44072" cy="56955"/>
          </a:xfrm>
          <a:prstGeom prst="rect">
            <a:avLst/>
          </a:prstGeom>
          <a:solidFill>
            <a:srgbClr val="83C2A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30" name="g_k bar_7">
            <a:extLst>
              <a:ext uri="{FF2B5EF4-FFF2-40B4-BE49-F238E27FC236}">
                <a16:creationId xmlns:a16="http://schemas.microsoft.com/office/drawing/2014/main" id="{DC10EA75-05BB-E415-682D-FAFCD65B7377}"/>
              </a:ext>
            </a:extLst>
          </p:cNvPr>
          <p:cNvSpPr/>
          <p:nvPr/>
        </p:nvSpPr>
        <p:spPr>
          <a:xfrm>
            <a:off x="3791835" y="3989994"/>
            <a:ext cx="44072" cy="56955"/>
          </a:xfrm>
          <a:prstGeom prst="rect">
            <a:avLst/>
          </a:prstGeom>
          <a:solidFill>
            <a:srgbClr val="BCDDC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31" name="Math | g_k^">
            <a:extLst>
              <a:ext uri="{FF2B5EF4-FFF2-40B4-BE49-F238E27FC236}">
                <a16:creationId xmlns:a16="http://schemas.microsoft.com/office/drawing/2014/main" id="{45321F2B-F3FA-58E1-92FE-B69A1AB20949}"/>
              </a:ext>
            </a:extLst>
          </p:cNvPr>
          <p:cNvSpPr txBox="1"/>
          <p:nvPr/>
        </p:nvSpPr>
        <p:spPr>
          <a:xfrm>
            <a:off x="3872532" y="3947306"/>
            <a:ext cx="84960" cy="126509"/>
          </a:xfrm>
          <a:prstGeom prst="rect">
            <a:avLst/>
          </a:prstGeom>
          <a:noFill/>
        </p:spPr>
        <p:txBody>
          <a:bodyPr wrap="none" lIns="0" tIns="0" rIns="0" bIns="0" anchor="ctr">
            <a:spAutoFit/>
          </a:bodyPr>
          <a:lstStyle/>
          <a:p>
            <a:pPr algn="ctr"/>
            <a:r>
              <a:rPr sz="855" i="1">
                <a:solidFill>
                  <a:srgbClr val="263442"/>
                </a:solidFill>
                <a:latin typeface="Times New Roman"/>
              </a:rPr>
              <a:t>g</a:t>
            </a:r>
            <a:r>
              <a:rPr sz="780" i="1" baseline="-28000">
                <a:solidFill>
                  <a:srgbClr val="263442"/>
                </a:solidFill>
                <a:latin typeface="Times New Roman"/>
              </a:rPr>
              <a:t>k</a:t>
            </a:r>
          </a:p>
        </p:txBody>
      </p:sp>
      <p:sp>
        <p:nvSpPr>
          <p:cNvPr id="732" name="Op | Cosine score">
            <a:extLst>
              <a:ext uri="{FF2B5EF4-FFF2-40B4-BE49-F238E27FC236}">
                <a16:creationId xmlns:a16="http://schemas.microsoft.com/office/drawing/2014/main" id="{9B88858F-88C1-DA3F-1992-E9C76D0D80AF}"/>
              </a:ext>
            </a:extLst>
          </p:cNvPr>
          <p:cNvSpPr/>
          <p:nvPr/>
        </p:nvSpPr>
        <p:spPr>
          <a:xfrm>
            <a:off x="3279920" y="4162465"/>
            <a:ext cx="569547" cy="150297"/>
          </a:xfrm>
          <a:prstGeom prst="roundRect">
            <a:avLst>
              <a:gd name="adj" fmla="val 18000"/>
            </a:avLst>
          </a:prstGeom>
          <a:solidFill>
            <a:srgbClr val="F4F6F7"/>
          </a:solidFill>
          <a:ln w="7290">
            <a:solidFill>
              <a:srgbClr val="BEC7C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Cosine score</a:t>
            </a:r>
          </a:p>
        </p:txBody>
      </p:sp>
      <p:sp>
        <p:nvSpPr>
          <p:cNvPr id="733" name="TextBox 12277">
            <a:extLst>
              <a:ext uri="{FF2B5EF4-FFF2-40B4-BE49-F238E27FC236}">
                <a16:creationId xmlns:a16="http://schemas.microsoft.com/office/drawing/2014/main" id="{7D6970C3-E7E9-652B-644D-A057CB503545}"/>
              </a:ext>
            </a:extLst>
          </p:cNvPr>
          <p:cNvSpPr txBox="1"/>
          <p:nvPr/>
        </p:nvSpPr>
        <p:spPr>
          <a:xfrm>
            <a:off x="3275392" y="4326634"/>
            <a:ext cx="585097" cy="79445"/>
          </a:xfrm>
          <a:prstGeom prst="rect">
            <a:avLst/>
          </a:prstGeom>
          <a:noFill/>
        </p:spPr>
        <p:txBody>
          <a:bodyPr wrap="none" lIns="0" tIns="0" rIns="0" bIns="0" anchor="ctr">
            <a:spAutoFit/>
          </a:bodyPr>
          <a:lstStyle/>
          <a:p>
            <a:pPr algn="ctr">
              <a:lnSpc>
                <a:spcPct val="105000"/>
              </a:lnSpc>
            </a:pPr>
            <a:r>
              <a:rPr sz="528" dirty="0">
                <a:solidFill>
                  <a:srgbClr val="263442"/>
                </a:solidFill>
                <a:latin typeface="Arial"/>
              </a:rPr>
              <a:t>Learned projections</a:t>
            </a:r>
          </a:p>
        </p:txBody>
      </p:sp>
      <p:sp>
        <p:nvSpPr>
          <p:cNvPr id="734" name="Math | s_j,k^">
            <a:extLst>
              <a:ext uri="{FF2B5EF4-FFF2-40B4-BE49-F238E27FC236}">
                <a16:creationId xmlns:a16="http://schemas.microsoft.com/office/drawing/2014/main" id="{BD0A37AE-0CF6-77DD-8048-3FF0945F4158}"/>
              </a:ext>
            </a:extLst>
          </p:cNvPr>
          <p:cNvSpPr txBox="1"/>
          <p:nvPr/>
        </p:nvSpPr>
        <p:spPr>
          <a:xfrm>
            <a:off x="3930163" y="4086560"/>
            <a:ext cx="104196" cy="117083"/>
          </a:xfrm>
          <a:prstGeom prst="rect">
            <a:avLst/>
          </a:prstGeom>
          <a:noFill/>
        </p:spPr>
        <p:txBody>
          <a:bodyPr wrap="none" lIns="0" tIns="0" rIns="0" bIns="0" anchor="ctr">
            <a:spAutoFit/>
          </a:bodyPr>
          <a:lstStyle/>
          <a:p>
            <a:pPr algn="ctr"/>
            <a:r>
              <a:rPr sz="791" i="1" dirty="0" err="1">
                <a:solidFill>
                  <a:srgbClr val="263442"/>
                </a:solidFill>
                <a:latin typeface="Times New Roman"/>
              </a:rPr>
              <a:t>s</a:t>
            </a:r>
            <a:r>
              <a:rPr sz="780" i="1" baseline="-28000" dirty="0" err="1">
                <a:solidFill>
                  <a:srgbClr val="263442"/>
                </a:solidFill>
                <a:latin typeface="Times New Roman"/>
              </a:rPr>
              <a:t>j,k</a:t>
            </a:r>
            <a:endParaRPr sz="780" i="1" baseline="-28000" dirty="0">
              <a:solidFill>
                <a:srgbClr val="263442"/>
              </a:solidFill>
              <a:latin typeface="Times New Roman"/>
            </a:endParaRPr>
          </a:p>
        </p:txBody>
      </p:sp>
      <p:sp>
        <p:nvSpPr>
          <p:cNvPr id="735" name="TextBox 12279">
            <a:extLst>
              <a:ext uri="{FF2B5EF4-FFF2-40B4-BE49-F238E27FC236}">
                <a16:creationId xmlns:a16="http://schemas.microsoft.com/office/drawing/2014/main" id="{C56E8311-ADDA-7C63-9110-2C3006BDD08E}"/>
              </a:ext>
            </a:extLst>
          </p:cNvPr>
          <p:cNvSpPr txBox="1"/>
          <p:nvPr/>
        </p:nvSpPr>
        <p:spPr>
          <a:xfrm>
            <a:off x="4189537" y="3931330"/>
            <a:ext cx="479297" cy="87268"/>
          </a:xfrm>
          <a:prstGeom prst="rect">
            <a:avLst/>
          </a:prstGeom>
          <a:noFill/>
        </p:spPr>
        <p:txBody>
          <a:bodyPr wrap="none" lIns="0" tIns="0" rIns="0" bIns="0" anchor="ctr">
            <a:spAutoFit/>
          </a:bodyPr>
          <a:lstStyle/>
          <a:p>
            <a:pPr algn="ctr">
              <a:lnSpc>
                <a:spcPct val="105000"/>
              </a:lnSpc>
            </a:pPr>
            <a:r>
              <a:rPr sz="580">
                <a:solidFill>
                  <a:srgbClr val="263442"/>
                </a:solidFill>
                <a:latin typeface="Arial"/>
              </a:rPr>
              <a:t>Identity scores</a:t>
            </a:r>
          </a:p>
        </p:txBody>
      </p:sp>
      <p:sp>
        <p:nvSpPr>
          <p:cNvPr id="736" name="TextBox 12280">
            <a:extLst>
              <a:ext uri="{FF2B5EF4-FFF2-40B4-BE49-F238E27FC236}">
                <a16:creationId xmlns:a16="http://schemas.microsoft.com/office/drawing/2014/main" id="{C640A1D5-D4D1-3FBF-0F27-45AD836A7FCE}"/>
              </a:ext>
            </a:extLst>
          </p:cNvPr>
          <p:cNvSpPr txBox="1"/>
          <p:nvPr/>
        </p:nvSpPr>
        <p:spPr>
          <a:xfrm>
            <a:off x="4428041" y="4018471"/>
            <a:ext cx="102835" cy="85921"/>
          </a:xfrm>
          <a:prstGeom prst="rect">
            <a:avLst/>
          </a:prstGeom>
          <a:noFill/>
        </p:spPr>
        <p:txBody>
          <a:bodyPr wrap="square" lIns="0" tIns="0" rIns="0" bIns="0" anchor="ctr">
            <a:spAutoFit/>
          </a:bodyPr>
          <a:lstStyle/>
          <a:p>
            <a:pPr algn="ctr">
              <a:lnSpc>
                <a:spcPct val="105000"/>
              </a:lnSpc>
            </a:pPr>
            <a:r>
              <a:rPr sz="571" dirty="0">
                <a:solidFill>
                  <a:srgbClr val="263442"/>
                </a:solidFill>
                <a:latin typeface="Arial"/>
              </a:rPr>
              <a:t>k</a:t>
            </a:r>
          </a:p>
        </p:txBody>
      </p:sp>
      <p:sp>
        <p:nvSpPr>
          <p:cNvPr id="737" name="TextBox 12281">
            <a:extLst>
              <a:ext uri="{FF2B5EF4-FFF2-40B4-BE49-F238E27FC236}">
                <a16:creationId xmlns:a16="http://schemas.microsoft.com/office/drawing/2014/main" id="{F472392A-4724-5EDA-C6D8-557EF063B52F}"/>
              </a:ext>
            </a:extLst>
          </p:cNvPr>
          <p:cNvSpPr txBox="1"/>
          <p:nvPr/>
        </p:nvSpPr>
        <p:spPr>
          <a:xfrm>
            <a:off x="4128591" y="4169314"/>
            <a:ext cx="87014" cy="85921"/>
          </a:xfrm>
          <a:prstGeom prst="rect">
            <a:avLst/>
          </a:prstGeom>
          <a:noFill/>
        </p:spPr>
        <p:txBody>
          <a:bodyPr wrap="square" lIns="0" tIns="0" rIns="0" bIns="0" anchor="ctr">
            <a:spAutoFit/>
          </a:bodyPr>
          <a:lstStyle/>
          <a:p>
            <a:pPr algn="ctr">
              <a:lnSpc>
                <a:spcPct val="105000"/>
              </a:lnSpc>
            </a:pPr>
            <a:r>
              <a:rPr sz="571">
                <a:solidFill>
                  <a:srgbClr val="263442"/>
                </a:solidFill>
                <a:latin typeface="Arial"/>
              </a:rPr>
              <a:t>j</a:t>
            </a:r>
          </a:p>
        </p:txBody>
      </p:sp>
      <p:sp>
        <p:nvSpPr>
          <p:cNvPr id="738" name="Matrix cell (0,0)">
            <a:extLst>
              <a:ext uri="{FF2B5EF4-FFF2-40B4-BE49-F238E27FC236}">
                <a16:creationId xmlns:a16="http://schemas.microsoft.com/office/drawing/2014/main" id="{1FAFF817-C1CE-5F45-E950-98E19AE452CF}"/>
              </a:ext>
            </a:extLst>
          </p:cNvPr>
          <p:cNvSpPr/>
          <p:nvPr/>
        </p:nvSpPr>
        <p:spPr>
          <a:xfrm>
            <a:off x="4223515" y="4105485"/>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39" name="Matrix cell (0,1)">
            <a:extLst>
              <a:ext uri="{FF2B5EF4-FFF2-40B4-BE49-F238E27FC236}">
                <a16:creationId xmlns:a16="http://schemas.microsoft.com/office/drawing/2014/main" id="{ED9FACB8-4D6A-044F-997F-E09503AC15AA}"/>
              </a:ext>
            </a:extLst>
          </p:cNvPr>
          <p:cNvSpPr/>
          <p:nvPr/>
        </p:nvSpPr>
        <p:spPr>
          <a:xfrm>
            <a:off x="4326350" y="4105485"/>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0" name="Matrix cell (0,2)">
            <a:extLst>
              <a:ext uri="{FF2B5EF4-FFF2-40B4-BE49-F238E27FC236}">
                <a16:creationId xmlns:a16="http://schemas.microsoft.com/office/drawing/2014/main" id="{DE25E670-FAB3-667C-5777-C71ED9075845}"/>
              </a:ext>
            </a:extLst>
          </p:cNvPr>
          <p:cNvSpPr/>
          <p:nvPr/>
        </p:nvSpPr>
        <p:spPr>
          <a:xfrm>
            <a:off x="4429185" y="4105485"/>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1" name="Matrix cell (0,3)">
            <a:extLst>
              <a:ext uri="{FF2B5EF4-FFF2-40B4-BE49-F238E27FC236}">
                <a16:creationId xmlns:a16="http://schemas.microsoft.com/office/drawing/2014/main" id="{D15A0AB1-9BF7-4E76-6CED-C525DFBAA5F7}"/>
              </a:ext>
            </a:extLst>
          </p:cNvPr>
          <p:cNvSpPr/>
          <p:nvPr/>
        </p:nvSpPr>
        <p:spPr>
          <a:xfrm>
            <a:off x="4532020" y="4105485"/>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2" name="Matrix cell (1,0)">
            <a:extLst>
              <a:ext uri="{FF2B5EF4-FFF2-40B4-BE49-F238E27FC236}">
                <a16:creationId xmlns:a16="http://schemas.microsoft.com/office/drawing/2014/main" id="{5C20FC23-8B30-D896-36CC-91D73273996F}"/>
              </a:ext>
            </a:extLst>
          </p:cNvPr>
          <p:cNvSpPr/>
          <p:nvPr/>
        </p:nvSpPr>
        <p:spPr>
          <a:xfrm>
            <a:off x="4223515" y="4176678"/>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3" name="Matrix cell (1,1)">
            <a:extLst>
              <a:ext uri="{FF2B5EF4-FFF2-40B4-BE49-F238E27FC236}">
                <a16:creationId xmlns:a16="http://schemas.microsoft.com/office/drawing/2014/main" id="{023C0380-7EA8-B629-5738-AD00698F49B6}"/>
              </a:ext>
            </a:extLst>
          </p:cNvPr>
          <p:cNvSpPr/>
          <p:nvPr/>
        </p:nvSpPr>
        <p:spPr>
          <a:xfrm>
            <a:off x="4326350" y="4176678"/>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4" name="Matrix cell (1,2)">
            <a:extLst>
              <a:ext uri="{FF2B5EF4-FFF2-40B4-BE49-F238E27FC236}">
                <a16:creationId xmlns:a16="http://schemas.microsoft.com/office/drawing/2014/main" id="{12FBEABC-63F9-0304-4A97-80811BFE2B66}"/>
              </a:ext>
            </a:extLst>
          </p:cNvPr>
          <p:cNvSpPr/>
          <p:nvPr/>
        </p:nvSpPr>
        <p:spPr>
          <a:xfrm>
            <a:off x="4429185" y="4176678"/>
            <a:ext cx="102835" cy="71193"/>
          </a:xfrm>
          <a:prstGeom prst="rect">
            <a:avLst/>
          </a:prstGeom>
          <a:solidFill>
            <a:srgbClr val="3C9486"/>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5" name="Matrix cell (1,3)">
            <a:extLst>
              <a:ext uri="{FF2B5EF4-FFF2-40B4-BE49-F238E27FC236}">
                <a16:creationId xmlns:a16="http://schemas.microsoft.com/office/drawing/2014/main" id="{90D1E1D0-D1D8-F490-5B4D-27F3093D1ECE}"/>
              </a:ext>
            </a:extLst>
          </p:cNvPr>
          <p:cNvSpPr/>
          <p:nvPr/>
        </p:nvSpPr>
        <p:spPr>
          <a:xfrm>
            <a:off x="4532020" y="4176678"/>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6" name="Matrix cell (2,0)">
            <a:extLst>
              <a:ext uri="{FF2B5EF4-FFF2-40B4-BE49-F238E27FC236}">
                <a16:creationId xmlns:a16="http://schemas.microsoft.com/office/drawing/2014/main" id="{158A66BE-E7B7-0506-657E-0BF13A0E4F5E}"/>
              </a:ext>
            </a:extLst>
          </p:cNvPr>
          <p:cNvSpPr/>
          <p:nvPr/>
        </p:nvSpPr>
        <p:spPr>
          <a:xfrm>
            <a:off x="4223515" y="4247872"/>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7" name="Matrix cell (2,1)">
            <a:extLst>
              <a:ext uri="{FF2B5EF4-FFF2-40B4-BE49-F238E27FC236}">
                <a16:creationId xmlns:a16="http://schemas.microsoft.com/office/drawing/2014/main" id="{3B18D166-F88A-573E-0225-1ACB99CB2512}"/>
              </a:ext>
            </a:extLst>
          </p:cNvPr>
          <p:cNvSpPr/>
          <p:nvPr/>
        </p:nvSpPr>
        <p:spPr>
          <a:xfrm>
            <a:off x="4326350" y="4247872"/>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8" name="Matrix cell (2,2)">
            <a:extLst>
              <a:ext uri="{FF2B5EF4-FFF2-40B4-BE49-F238E27FC236}">
                <a16:creationId xmlns:a16="http://schemas.microsoft.com/office/drawing/2014/main" id="{FC858539-3EA9-E4FE-E803-0C8FFAD3870F}"/>
              </a:ext>
            </a:extLst>
          </p:cNvPr>
          <p:cNvSpPr/>
          <p:nvPr/>
        </p:nvSpPr>
        <p:spPr>
          <a:xfrm>
            <a:off x="4429185" y="4247872"/>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9" name="Matrix cell (2,3)">
            <a:extLst>
              <a:ext uri="{FF2B5EF4-FFF2-40B4-BE49-F238E27FC236}">
                <a16:creationId xmlns:a16="http://schemas.microsoft.com/office/drawing/2014/main" id="{3713326C-75C4-31D8-12F4-1CA18BF652D7}"/>
              </a:ext>
            </a:extLst>
          </p:cNvPr>
          <p:cNvSpPr/>
          <p:nvPr/>
        </p:nvSpPr>
        <p:spPr>
          <a:xfrm>
            <a:off x="4532020" y="4247872"/>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50" name="TextBox 12294">
            <a:extLst>
              <a:ext uri="{FF2B5EF4-FFF2-40B4-BE49-F238E27FC236}">
                <a16:creationId xmlns:a16="http://schemas.microsoft.com/office/drawing/2014/main" id="{E992C05A-634A-6CF2-2936-1480C4EA17F1}"/>
              </a:ext>
            </a:extLst>
          </p:cNvPr>
          <p:cNvSpPr txBox="1"/>
          <p:nvPr/>
        </p:nvSpPr>
        <p:spPr>
          <a:xfrm>
            <a:off x="4223516" y="4312989"/>
            <a:ext cx="411339" cy="82587"/>
          </a:xfrm>
          <a:prstGeom prst="rect">
            <a:avLst/>
          </a:prstGeom>
          <a:noFill/>
        </p:spPr>
        <p:txBody>
          <a:bodyPr wrap="square" lIns="0" tIns="0" rIns="0" bIns="0" anchor="ctr">
            <a:spAutoFit/>
          </a:bodyPr>
          <a:lstStyle/>
          <a:p>
            <a:pPr algn="ctr">
              <a:lnSpc>
                <a:spcPct val="105000"/>
              </a:lnSpc>
            </a:pPr>
            <a:r>
              <a:rPr sz="536">
                <a:solidFill>
                  <a:srgbClr val="263442"/>
                </a:solidFill>
                <a:latin typeface="Arial"/>
              </a:rPr>
              <a:t>J × K</a:t>
            </a:r>
          </a:p>
        </p:txBody>
      </p:sp>
      <p:grpSp>
        <p:nvGrpSpPr>
          <p:cNvPr id="751" name="组合 13795">
            <a:extLst>
              <a:ext uri="{FF2B5EF4-FFF2-40B4-BE49-F238E27FC236}">
                <a16:creationId xmlns:a16="http://schemas.microsoft.com/office/drawing/2014/main" id="{7EA912CF-516A-2745-A5D0-8704116A4D72}"/>
              </a:ext>
            </a:extLst>
          </p:cNvPr>
          <p:cNvGrpSpPr/>
          <p:nvPr/>
        </p:nvGrpSpPr>
        <p:grpSpPr>
          <a:xfrm>
            <a:off x="2038007" y="554865"/>
            <a:ext cx="1978883" cy="340209"/>
            <a:chOff x="6312668" y="2448732"/>
            <a:chExt cx="1215499" cy="343631"/>
          </a:xfrm>
        </p:grpSpPr>
        <p:pic>
          <p:nvPicPr>
            <p:cNvPr id="752" name="图片 12">
              <a:extLst>
                <a:ext uri="{FF2B5EF4-FFF2-40B4-BE49-F238E27FC236}">
                  <a16:creationId xmlns:a16="http://schemas.microsoft.com/office/drawing/2014/main" id="{521CB8EA-9697-F11D-7107-B4A42B988070}"/>
                </a:ext>
              </a:extLst>
            </p:cNvPr>
            <p:cNvPicPr>
              <a:picLocks/>
            </p:cNvPicPr>
            <p:nvPr/>
          </p:nvPicPr>
          <p:blipFill>
            <a:blip r:embed="rId5"/>
            <a:srcRect l="70243" t="-18171" b="-1"/>
            <a:stretch>
              <a:fillRect/>
            </a:stretch>
          </p:blipFill>
          <p:spPr>
            <a:xfrm>
              <a:off x="7112075" y="2448732"/>
              <a:ext cx="416092" cy="323855"/>
            </a:xfrm>
            <a:prstGeom prst="rect">
              <a:avLst/>
            </a:prstGeom>
          </p:spPr>
        </p:pic>
        <p:pic>
          <p:nvPicPr>
            <p:cNvPr id="753" name="图片 12">
              <a:extLst>
                <a:ext uri="{FF2B5EF4-FFF2-40B4-BE49-F238E27FC236}">
                  <a16:creationId xmlns:a16="http://schemas.microsoft.com/office/drawing/2014/main" id="{546466D8-C7C6-7C8A-3307-95F68FB4F610}"/>
                </a:ext>
              </a:extLst>
            </p:cNvPr>
            <p:cNvPicPr>
              <a:picLocks/>
            </p:cNvPicPr>
            <p:nvPr/>
          </p:nvPicPr>
          <p:blipFill>
            <a:blip r:embed="rId5"/>
            <a:srcRect r="70534" b="-8235"/>
            <a:stretch>
              <a:fillRect/>
            </a:stretch>
          </p:blipFill>
          <p:spPr>
            <a:xfrm>
              <a:off x="6312668" y="2495741"/>
              <a:ext cx="412024" cy="296622"/>
            </a:xfrm>
            <a:prstGeom prst="rect">
              <a:avLst/>
            </a:prstGeom>
          </p:spPr>
        </p:pic>
        <p:pic>
          <p:nvPicPr>
            <p:cNvPr id="754" name="Picture 10000" descr="unet_block_18.png">
              <a:extLst>
                <a:ext uri="{FF2B5EF4-FFF2-40B4-BE49-F238E27FC236}">
                  <a16:creationId xmlns:a16="http://schemas.microsoft.com/office/drawing/2014/main" id="{75A7694C-DEA5-AFE8-E284-0A0D89F845C1}"/>
                </a:ext>
              </a:extLst>
            </p:cNvPr>
            <p:cNvPicPr>
              <a:picLocks noChangeAspect="1"/>
            </p:cNvPicPr>
            <p:nvPr/>
          </p:nvPicPr>
          <p:blipFill>
            <a:blip r:embed="rId6"/>
            <a:stretch>
              <a:fillRect/>
            </a:stretch>
          </p:blipFill>
          <p:spPr>
            <a:xfrm>
              <a:off x="6776851" y="2645026"/>
              <a:ext cx="276863" cy="126566"/>
            </a:xfrm>
            <a:prstGeom prst="rect">
              <a:avLst/>
            </a:prstGeom>
          </p:spPr>
        </p:pic>
      </p:grpSp>
      <p:grpSp>
        <p:nvGrpSpPr>
          <p:cNvPr id="755" name="Find candidate blob 1">
            <a:extLst>
              <a:ext uri="{FF2B5EF4-FFF2-40B4-BE49-F238E27FC236}">
                <a16:creationId xmlns:a16="http://schemas.microsoft.com/office/drawing/2014/main" id="{3B821B97-56A6-DCED-E85F-DBF945F3EA13}"/>
              </a:ext>
            </a:extLst>
          </p:cNvPr>
          <p:cNvGrpSpPr/>
          <p:nvPr/>
        </p:nvGrpSpPr>
        <p:grpSpPr>
          <a:xfrm>
            <a:off x="4357668" y="1039644"/>
            <a:ext cx="163890" cy="111953"/>
            <a:chOff x="1928706" y="3559489"/>
            <a:chExt cx="227897" cy="155682"/>
          </a:xfrm>
        </p:grpSpPr>
        <p:sp>
          <p:nvSpPr>
            <p:cNvPr id="756" name="Candidate blob | editable contour">
              <a:extLst>
                <a:ext uri="{FF2B5EF4-FFF2-40B4-BE49-F238E27FC236}">
                  <a16:creationId xmlns:a16="http://schemas.microsoft.com/office/drawing/2014/main" id="{B3B117DA-D182-38E6-AD16-B4776AD2C7B7}"/>
                </a:ext>
              </a:extLst>
            </p:cNvPr>
            <p:cNvSpPr/>
            <p:nvPr/>
          </p:nvSpPr>
          <p:spPr>
            <a:xfrm>
              <a:off x="1928706" y="3559489"/>
              <a:ext cx="227897" cy="155682"/>
            </a:xfrm>
            <a:custGeom>
              <a:avLst/>
              <a:gdLst/>
              <a:ahLst/>
              <a:cxnLst/>
              <a:rect l="0" t="0" r="w" b="h"/>
              <a:pathLst>
                <a:path w="227897" h="155682" extrusionOk="0">
                  <a:moveTo>
                    <a:pt x="5338" y="97866"/>
                  </a:moveTo>
                  <a:cubicBezTo>
                    <a:pt x="0" y="80701"/>
                    <a:pt x="18889" y="54504"/>
                    <a:pt x="29976" y="43663"/>
                  </a:cubicBezTo>
                  <a:cubicBezTo>
                    <a:pt x="41062" y="32823"/>
                    <a:pt x="58719" y="39447"/>
                    <a:pt x="71859" y="32823"/>
                  </a:cubicBezTo>
                  <a:cubicBezTo>
                    <a:pt x="84999" y="26198"/>
                    <a:pt x="92391" y="7829"/>
                    <a:pt x="108816" y="3915"/>
                  </a:cubicBezTo>
                  <a:cubicBezTo>
                    <a:pt x="125241" y="0"/>
                    <a:pt x="153984" y="3613"/>
                    <a:pt x="170409" y="9335"/>
                  </a:cubicBezTo>
                  <a:cubicBezTo>
                    <a:pt x="186834" y="15056"/>
                    <a:pt x="198332" y="26198"/>
                    <a:pt x="207366" y="38243"/>
                  </a:cubicBezTo>
                  <a:cubicBezTo>
                    <a:pt x="216399" y="50288"/>
                    <a:pt x="227897" y="67151"/>
                    <a:pt x="224612" y="81605"/>
                  </a:cubicBezTo>
                  <a:cubicBezTo>
                    <a:pt x="221327" y="96059"/>
                    <a:pt x="203259" y="113223"/>
                    <a:pt x="187656" y="124967"/>
                  </a:cubicBezTo>
                  <a:cubicBezTo>
                    <a:pt x="172052" y="136711"/>
                    <a:pt x="151931" y="148455"/>
                    <a:pt x="130989" y="152068"/>
                  </a:cubicBezTo>
                  <a:cubicBezTo>
                    <a:pt x="110048" y="155682"/>
                    <a:pt x="82946" y="155682"/>
                    <a:pt x="62004" y="146648"/>
                  </a:cubicBezTo>
                  <a:cubicBezTo>
                    <a:pt x="41062" y="137614"/>
                    <a:pt x="10676" y="115030"/>
                    <a:pt x="5338" y="97866"/>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757" name="ellipse_2612">
              <a:extLst>
                <a:ext uri="{FF2B5EF4-FFF2-40B4-BE49-F238E27FC236}">
                  <a16:creationId xmlns:a16="http://schemas.microsoft.com/office/drawing/2014/main" id="{901C6437-E94C-AFDE-D242-E688A89ABBDB}"/>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grpSp>
        <p:nvGrpSpPr>
          <p:cNvPr id="758" name="Find candidate blob 2">
            <a:extLst>
              <a:ext uri="{FF2B5EF4-FFF2-40B4-BE49-F238E27FC236}">
                <a16:creationId xmlns:a16="http://schemas.microsoft.com/office/drawing/2014/main" id="{00C0C92B-D4C8-0994-E860-1581EB873D86}"/>
              </a:ext>
            </a:extLst>
          </p:cNvPr>
          <p:cNvGrpSpPr/>
          <p:nvPr/>
        </p:nvGrpSpPr>
        <p:grpSpPr>
          <a:xfrm>
            <a:off x="4352956" y="917369"/>
            <a:ext cx="168602" cy="95394"/>
            <a:chOff x="1928706" y="3559489"/>
            <a:chExt cx="227897" cy="155682"/>
          </a:xfrm>
        </p:grpSpPr>
        <p:sp>
          <p:nvSpPr>
            <p:cNvPr id="759" name="Candidate blob | editable contour">
              <a:extLst>
                <a:ext uri="{FF2B5EF4-FFF2-40B4-BE49-F238E27FC236}">
                  <a16:creationId xmlns:a16="http://schemas.microsoft.com/office/drawing/2014/main" id="{A172A8B3-EFA3-33C9-CD2B-307B24D7293D}"/>
                </a:ext>
              </a:extLst>
            </p:cNvPr>
            <p:cNvSpPr/>
            <p:nvPr/>
          </p:nvSpPr>
          <p:spPr>
            <a:xfrm>
              <a:off x="1928706" y="3559489"/>
              <a:ext cx="227897" cy="155682"/>
            </a:xfrm>
            <a:custGeom>
              <a:avLst/>
              <a:gdLst/>
              <a:ahLst/>
              <a:cxnLst/>
              <a:rect l="0" t="0" r="w" b="h"/>
              <a:pathLst>
                <a:path w="227897" h="155682" extrusionOk="0">
                  <a:moveTo>
                    <a:pt x="3521" y="100385"/>
                  </a:moveTo>
                  <a:cubicBezTo>
                    <a:pt x="0" y="80701"/>
                    <a:pt x="26006" y="62787"/>
                    <a:pt x="43453" y="54263"/>
                  </a:cubicBezTo>
                  <a:cubicBezTo>
                    <a:pt x="58843" y="43224"/>
                    <a:pt x="83460" y="52781"/>
                    <a:pt x="99588" y="43358"/>
                  </a:cubicBezTo>
                  <a:cubicBezTo>
                    <a:pt x="112436" y="32945"/>
                    <a:pt x="102548" y="9475"/>
                    <a:pt x="114181" y="4123"/>
                  </a:cubicBezTo>
                  <a:cubicBezTo>
                    <a:pt x="125241" y="0"/>
                    <a:pt x="158214" y="2398"/>
                    <a:pt x="179365" y="5837"/>
                  </a:cubicBezTo>
                  <a:cubicBezTo>
                    <a:pt x="197301" y="9996"/>
                    <a:pt x="210134" y="19340"/>
                    <a:pt x="216909" y="31256"/>
                  </a:cubicBezTo>
                  <a:cubicBezTo>
                    <a:pt x="221237" y="45342"/>
                    <a:pt x="227897" y="67151"/>
                    <a:pt x="224378" y="79920"/>
                  </a:cubicBezTo>
                  <a:cubicBezTo>
                    <a:pt x="219253" y="92918"/>
                    <a:pt x="191986" y="104353"/>
                    <a:pt x="170629" y="115250"/>
                  </a:cubicBezTo>
                  <a:cubicBezTo>
                    <a:pt x="155563" y="129736"/>
                    <a:pt x="143418" y="146104"/>
                    <a:pt x="126157" y="151452"/>
                  </a:cubicBezTo>
                  <a:cubicBezTo>
                    <a:pt x="110048" y="155682"/>
                    <a:pt x="82946" y="155682"/>
                    <a:pt x="52808" y="150002"/>
                  </a:cubicBezTo>
                  <a:cubicBezTo>
                    <a:pt x="28847" y="143645"/>
                    <a:pt x="5675" y="118994"/>
                    <a:pt x="3521" y="100385"/>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760" name="ellipse_2612">
              <a:extLst>
                <a:ext uri="{FF2B5EF4-FFF2-40B4-BE49-F238E27FC236}">
                  <a16:creationId xmlns:a16="http://schemas.microsoft.com/office/drawing/2014/main" id="{CF37E813-914E-4383-9CE9-1C5F4095124F}"/>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grpSp>
        <p:nvGrpSpPr>
          <p:cNvPr id="761" name="Find candidate blob 3">
            <a:extLst>
              <a:ext uri="{FF2B5EF4-FFF2-40B4-BE49-F238E27FC236}">
                <a16:creationId xmlns:a16="http://schemas.microsoft.com/office/drawing/2014/main" id="{D7299A48-8BF0-7050-EF56-14DA3F495CB7}"/>
              </a:ext>
            </a:extLst>
          </p:cNvPr>
          <p:cNvGrpSpPr/>
          <p:nvPr/>
        </p:nvGrpSpPr>
        <p:grpSpPr>
          <a:xfrm rot="364243">
            <a:off x="4559731" y="1028968"/>
            <a:ext cx="127658" cy="129194"/>
            <a:chOff x="1928706" y="3559489"/>
            <a:chExt cx="227897" cy="155682"/>
          </a:xfrm>
        </p:grpSpPr>
        <p:sp>
          <p:nvSpPr>
            <p:cNvPr id="762" name="Candidate blob | editable contour">
              <a:extLst>
                <a:ext uri="{FF2B5EF4-FFF2-40B4-BE49-F238E27FC236}">
                  <a16:creationId xmlns:a16="http://schemas.microsoft.com/office/drawing/2014/main" id="{8902F596-0D84-3C56-EB93-D63FC7E9041E}"/>
                </a:ext>
              </a:extLst>
            </p:cNvPr>
            <p:cNvSpPr/>
            <p:nvPr/>
          </p:nvSpPr>
          <p:spPr>
            <a:xfrm>
              <a:off x="1928706" y="3559489"/>
              <a:ext cx="227897" cy="155682"/>
            </a:xfrm>
            <a:custGeom>
              <a:avLst/>
              <a:gdLst/>
              <a:ahLst/>
              <a:cxnLst/>
              <a:rect l="0" t="0" r="w" b="h"/>
              <a:pathLst>
                <a:path w="227897" h="155682" extrusionOk="0">
                  <a:moveTo>
                    <a:pt x="4633" y="103508"/>
                  </a:moveTo>
                  <a:cubicBezTo>
                    <a:pt x="0" y="80701"/>
                    <a:pt x="17781" y="72087"/>
                    <a:pt x="35225" y="64107"/>
                  </a:cubicBezTo>
                  <a:cubicBezTo>
                    <a:pt x="54476" y="49917"/>
                    <a:pt x="72264" y="52549"/>
                    <a:pt x="92778" y="35736"/>
                  </a:cubicBezTo>
                  <a:cubicBezTo>
                    <a:pt x="110195" y="21040"/>
                    <a:pt x="104326" y="5059"/>
                    <a:pt x="115221" y="1753"/>
                  </a:cubicBezTo>
                  <a:cubicBezTo>
                    <a:pt x="125241" y="0"/>
                    <a:pt x="159037" y="3786"/>
                    <a:pt x="180838" y="12966"/>
                  </a:cubicBezTo>
                  <a:cubicBezTo>
                    <a:pt x="198427" y="23372"/>
                    <a:pt x="209170" y="39484"/>
                    <a:pt x="212983" y="52913"/>
                  </a:cubicBezTo>
                  <a:cubicBezTo>
                    <a:pt x="216818" y="61184"/>
                    <a:pt x="227897" y="67151"/>
                    <a:pt x="223406" y="85389"/>
                  </a:cubicBezTo>
                  <a:cubicBezTo>
                    <a:pt x="220211" y="103077"/>
                    <a:pt x="208185" y="131257"/>
                    <a:pt x="201464" y="141174"/>
                  </a:cubicBezTo>
                  <a:cubicBezTo>
                    <a:pt x="189414" y="144450"/>
                    <a:pt x="161966" y="148455"/>
                    <a:pt x="136762" y="150513"/>
                  </a:cubicBezTo>
                  <a:cubicBezTo>
                    <a:pt x="110048" y="155682"/>
                    <a:pt x="82946" y="155682"/>
                    <a:pt x="72733" y="149421"/>
                  </a:cubicBezTo>
                  <a:cubicBezTo>
                    <a:pt x="54091" y="147525"/>
                    <a:pt x="13199" y="123788"/>
                    <a:pt x="4633" y="103508"/>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763" name="ellipse_2612">
              <a:extLst>
                <a:ext uri="{FF2B5EF4-FFF2-40B4-BE49-F238E27FC236}">
                  <a16:creationId xmlns:a16="http://schemas.microsoft.com/office/drawing/2014/main" id="{85D74281-2FE6-E2D2-EFBA-AF54A45686E3}"/>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sp>
        <p:nvSpPr>
          <p:cNvPr id="765" name="Find auxiliary label">
            <a:extLst>
              <a:ext uri="{FF2B5EF4-FFF2-40B4-BE49-F238E27FC236}">
                <a16:creationId xmlns:a16="http://schemas.microsoft.com/office/drawing/2014/main" id="{CAD88599-B783-720B-B6BD-9F787FCB6CF4}"/>
              </a:ext>
            </a:extLst>
          </p:cNvPr>
          <p:cNvSpPr>
            <a:spLocks noGrp="1"/>
          </p:cNvSpPr>
          <p:nvPr/>
        </p:nvSpPr>
        <p:spPr>
          <a:xfrm>
            <a:off x="4315962" y="1518303"/>
            <a:ext cx="433362" cy="157954"/>
          </a:xfrm>
          <a:prstGeom prst="rect">
            <a:avLst/>
          </a:prstGeom>
          <a:noFill/>
          <a:ln w="6885">
            <a:noFill/>
            <a:prstDash val="solid"/>
          </a:ln>
        </p:spPr>
        <p:txBody>
          <a:bodyPr lIns="0" tIns="0" rIns="0" bIns="0" anchor="ctr"/>
          <a:lstStyle>
            <a:defPPr algn="ctr">
              <a:defRPr sz="590" b="0">
                <a:solidFill>
                  <a:srgbClr val="263442"/>
                </a:solidFill>
                <a:latin typeface="Arial"/>
                <a:ea typeface="Arial"/>
                <a:cs typeface="Arial"/>
              </a:defRPr>
            </a:defPPr>
            <a:lvl1pPr algn="ctr">
              <a:defRPr sz="590" b="0">
                <a:solidFill>
                  <a:srgbClr val="263442"/>
                </a:solidFill>
                <a:latin typeface="Arial"/>
                <a:ea typeface="Arial"/>
                <a:cs typeface="Arial"/>
              </a:defRPr>
            </a:lvl1pPr>
            <a:lvl2pPr algn="ctr">
              <a:defRPr sz="590" b="0">
                <a:solidFill>
                  <a:srgbClr val="263442"/>
                </a:solidFill>
                <a:latin typeface="Arial"/>
                <a:ea typeface="Arial"/>
                <a:cs typeface="Arial"/>
              </a:defRPr>
            </a:lvl2pPr>
            <a:lvl3pPr algn="ctr">
              <a:defRPr sz="590" b="0">
                <a:solidFill>
                  <a:srgbClr val="263442"/>
                </a:solidFill>
                <a:latin typeface="Arial"/>
                <a:ea typeface="Arial"/>
                <a:cs typeface="Arial"/>
              </a:defRPr>
            </a:lvl3pPr>
            <a:lvl4pPr algn="ctr">
              <a:defRPr sz="590" b="0">
                <a:solidFill>
                  <a:srgbClr val="263442"/>
                </a:solidFill>
                <a:latin typeface="Arial"/>
                <a:ea typeface="Arial"/>
                <a:cs typeface="Arial"/>
              </a:defRPr>
            </a:lvl4pPr>
            <a:lvl5pPr algn="ctr">
              <a:defRPr sz="590" b="0">
                <a:solidFill>
                  <a:srgbClr val="263442"/>
                </a:solidFill>
                <a:latin typeface="Arial"/>
                <a:ea typeface="Arial"/>
                <a:cs typeface="Arial"/>
              </a:defRPr>
            </a:lvl5pPr>
            <a:lvl6pPr algn="ctr">
              <a:defRPr sz="590" b="0">
                <a:solidFill>
                  <a:srgbClr val="263442"/>
                </a:solidFill>
                <a:latin typeface="Arial"/>
                <a:ea typeface="Arial"/>
                <a:cs typeface="Arial"/>
              </a:defRPr>
            </a:lvl6pPr>
            <a:lvl7pPr algn="ctr">
              <a:defRPr sz="590" b="0">
                <a:solidFill>
                  <a:srgbClr val="263442"/>
                </a:solidFill>
                <a:latin typeface="Arial"/>
                <a:ea typeface="Arial"/>
                <a:cs typeface="Arial"/>
              </a:defRPr>
            </a:lvl7pPr>
            <a:lvl8pPr algn="ctr">
              <a:defRPr sz="590" b="0">
                <a:solidFill>
                  <a:srgbClr val="263442"/>
                </a:solidFill>
                <a:latin typeface="Arial"/>
                <a:ea typeface="Arial"/>
                <a:cs typeface="Arial"/>
              </a:defRPr>
            </a:lvl8pPr>
            <a:lvl9pPr algn="ctr">
              <a:defRPr sz="590" b="0">
                <a:solidFill>
                  <a:srgbClr val="263442"/>
                </a:solidFill>
                <a:latin typeface="Arial"/>
                <a:ea typeface="Arial"/>
                <a:cs typeface="Arial"/>
              </a:defRPr>
            </a:lvl9pPr>
          </a:lstStyle>
          <a:p>
            <a:pPr algn="ctr">
              <a:defRPr sz="590" b="0">
                <a:solidFill>
                  <a:srgbClr val="263442"/>
                </a:solidFill>
                <a:latin typeface="Arial"/>
                <a:ea typeface="Arial"/>
                <a:cs typeface="Arial"/>
              </a:defRPr>
            </a:pPr>
            <a:r>
              <a:rPr sz="590" dirty="0">
                <a:solidFill>
                  <a:srgbClr val="263442"/>
                </a:solidFill>
                <a:latin typeface="Arial"/>
                <a:ea typeface="Arial"/>
                <a:cs typeface="Arial"/>
              </a:rPr>
              <a:t>Auxiliary</a:t>
            </a:r>
          </a:p>
          <a:p>
            <a:pPr algn="ctr">
              <a:defRPr sz="590" b="0">
                <a:solidFill>
                  <a:srgbClr val="263442"/>
                </a:solidFill>
                <a:latin typeface="Arial"/>
                <a:ea typeface="Arial"/>
                <a:cs typeface="Arial"/>
              </a:defRPr>
            </a:pPr>
            <a:r>
              <a:rPr sz="590" dirty="0">
                <a:solidFill>
                  <a:srgbClr val="263442"/>
                </a:solidFill>
                <a:latin typeface="Arial"/>
                <a:ea typeface="Arial"/>
                <a:cs typeface="Arial"/>
              </a:rPr>
              <a:t>features</a:t>
            </a:r>
          </a:p>
        </p:txBody>
      </p:sp>
      <p:sp>
        <p:nvSpPr>
          <p:cNvPr id="766" name="Match auxiliary label">
            <a:extLst>
              <a:ext uri="{FF2B5EF4-FFF2-40B4-BE49-F238E27FC236}">
                <a16:creationId xmlns:a16="http://schemas.microsoft.com/office/drawing/2014/main" id="{C154BF4F-4214-59BC-DCE1-F9C23194AC63}"/>
              </a:ext>
            </a:extLst>
          </p:cNvPr>
          <p:cNvSpPr>
            <a:spLocks noGrp="1"/>
          </p:cNvSpPr>
          <p:nvPr/>
        </p:nvSpPr>
        <p:spPr>
          <a:xfrm>
            <a:off x="1539032" y="2843177"/>
            <a:ext cx="405011" cy="174155"/>
          </a:xfrm>
          <a:prstGeom prst="rect">
            <a:avLst/>
          </a:prstGeom>
          <a:noFill/>
          <a:ln w="6885">
            <a:noFill/>
            <a:prstDash val="solid"/>
          </a:ln>
        </p:spPr>
        <p:txBody>
          <a:bodyPr lIns="0" tIns="0" rIns="0" bIns="0" anchor="ctr"/>
          <a:lstStyle>
            <a:defPPr algn="ctr">
              <a:defRPr sz="590" b="1">
                <a:solidFill>
                  <a:srgbClr val="263442"/>
                </a:solidFill>
                <a:latin typeface="Arial"/>
                <a:ea typeface="Arial"/>
                <a:cs typeface="Arial"/>
              </a:defRPr>
            </a:defPPr>
            <a:lvl1pPr algn="ctr">
              <a:defRPr sz="590" b="1">
                <a:solidFill>
                  <a:srgbClr val="263442"/>
                </a:solidFill>
                <a:latin typeface="Arial"/>
                <a:ea typeface="Arial"/>
                <a:cs typeface="Arial"/>
              </a:defRPr>
            </a:lvl1pPr>
            <a:lvl2pPr algn="ctr">
              <a:defRPr sz="590" b="1">
                <a:solidFill>
                  <a:srgbClr val="263442"/>
                </a:solidFill>
                <a:latin typeface="Arial"/>
                <a:ea typeface="Arial"/>
                <a:cs typeface="Arial"/>
              </a:defRPr>
            </a:lvl2pPr>
            <a:lvl3pPr algn="ctr">
              <a:defRPr sz="590" b="1">
                <a:solidFill>
                  <a:srgbClr val="263442"/>
                </a:solidFill>
                <a:latin typeface="Arial"/>
                <a:ea typeface="Arial"/>
                <a:cs typeface="Arial"/>
              </a:defRPr>
            </a:lvl3pPr>
            <a:lvl4pPr algn="ctr">
              <a:defRPr sz="590" b="1">
                <a:solidFill>
                  <a:srgbClr val="263442"/>
                </a:solidFill>
                <a:latin typeface="Arial"/>
                <a:ea typeface="Arial"/>
                <a:cs typeface="Arial"/>
              </a:defRPr>
            </a:lvl4pPr>
            <a:lvl5pPr algn="ctr">
              <a:defRPr sz="590" b="1">
                <a:solidFill>
                  <a:srgbClr val="263442"/>
                </a:solidFill>
                <a:latin typeface="Arial"/>
                <a:ea typeface="Arial"/>
                <a:cs typeface="Arial"/>
              </a:defRPr>
            </a:lvl5pPr>
            <a:lvl6pPr algn="ctr">
              <a:defRPr sz="590" b="1">
                <a:solidFill>
                  <a:srgbClr val="263442"/>
                </a:solidFill>
                <a:latin typeface="Arial"/>
                <a:ea typeface="Arial"/>
                <a:cs typeface="Arial"/>
              </a:defRPr>
            </a:lvl6pPr>
            <a:lvl7pPr algn="ctr">
              <a:defRPr sz="590" b="1">
                <a:solidFill>
                  <a:srgbClr val="263442"/>
                </a:solidFill>
                <a:latin typeface="Arial"/>
                <a:ea typeface="Arial"/>
                <a:cs typeface="Arial"/>
              </a:defRPr>
            </a:lvl7pPr>
            <a:lvl8pPr algn="ctr">
              <a:defRPr sz="590" b="1">
                <a:solidFill>
                  <a:srgbClr val="263442"/>
                </a:solidFill>
                <a:latin typeface="Arial"/>
                <a:ea typeface="Arial"/>
                <a:cs typeface="Arial"/>
              </a:defRPr>
            </a:lvl8pPr>
            <a:lvl9pPr algn="ctr">
              <a:defRPr sz="590" b="1">
                <a:solidFill>
                  <a:srgbClr val="263442"/>
                </a:solidFill>
                <a:latin typeface="Arial"/>
                <a:ea typeface="Arial"/>
                <a:cs typeface="Arial"/>
              </a:defRPr>
            </a:lvl9pPr>
          </a:lstStyle>
          <a:p>
            <a:pPr algn="ctr">
              <a:defRPr sz="590" b="1">
                <a:solidFill>
                  <a:srgbClr val="263442"/>
                </a:solidFill>
                <a:latin typeface="Arial"/>
                <a:ea typeface="Arial"/>
                <a:cs typeface="Arial"/>
              </a:defRPr>
            </a:pPr>
            <a:r>
              <a:rPr sz="590" b="0" dirty="0">
                <a:solidFill>
                  <a:srgbClr val="263442"/>
                </a:solidFill>
                <a:latin typeface="Arial"/>
                <a:ea typeface="Arial"/>
                <a:cs typeface="Arial"/>
              </a:rPr>
              <a:t>Auxiliary</a:t>
            </a:r>
          </a:p>
          <a:p>
            <a:pPr algn="ctr">
              <a:defRPr sz="590" b="1">
                <a:solidFill>
                  <a:srgbClr val="263442"/>
                </a:solidFill>
                <a:latin typeface="Arial"/>
                <a:ea typeface="Arial"/>
                <a:cs typeface="Arial"/>
              </a:defRPr>
            </a:pPr>
            <a:r>
              <a:rPr sz="590" b="0" dirty="0">
                <a:solidFill>
                  <a:srgbClr val="263442"/>
                </a:solidFill>
                <a:latin typeface="Arial"/>
                <a:ea typeface="Arial"/>
                <a:cs typeface="Arial"/>
              </a:rPr>
              <a:t>features</a:t>
            </a:r>
          </a:p>
        </p:txBody>
      </p:sp>
      <p:sp>
        <p:nvSpPr>
          <p:cNvPr id="767" name="Concat label">
            <a:extLst>
              <a:ext uri="{FF2B5EF4-FFF2-40B4-BE49-F238E27FC236}">
                <a16:creationId xmlns:a16="http://schemas.microsoft.com/office/drawing/2014/main" id="{9D20C35C-694E-CDD5-F90A-040BE36EEE21}"/>
              </a:ext>
            </a:extLst>
          </p:cNvPr>
          <p:cNvSpPr>
            <a:spLocks noGrp="1"/>
          </p:cNvSpPr>
          <p:nvPr/>
        </p:nvSpPr>
        <p:spPr>
          <a:xfrm>
            <a:off x="1141938" y="3608830"/>
            <a:ext cx="259207" cy="81002"/>
          </a:xfrm>
          <a:prstGeom prst="rect">
            <a:avLst/>
          </a:prstGeom>
          <a:noFill/>
          <a:ln w="6885">
            <a:noFill/>
            <a:prstDash val="solid"/>
          </a:ln>
        </p:spPr>
        <p:txBody>
          <a:bodyPr lIns="0" tIns="0" rIns="0" bIns="0" anchor="ctr"/>
          <a:lstStyle>
            <a:defPPr algn="ctr">
              <a:defRPr sz="568" b="0">
                <a:solidFill>
                  <a:srgbClr val="263442"/>
                </a:solidFill>
                <a:latin typeface="Arial"/>
                <a:ea typeface="Arial"/>
                <a:cs typeface="Arial"/>
              </a:defRPr>
            </a:defPPr>
            <a:lvl1pPr algn="ctr">
              <a:defRPr sz="568" b="0">
                <a:solidFill>
                  <a:srgbClr val="263442"/>
                </a:solidFill>
                <a:latin typeface="Arial"/>
                <a:ea typeface="Arial"/>
                <a:cs typeface="Arial"/>
              </a:defRPr>
            </a:lvl1pPr>
            <a:lvl2pPr algn="ctr">
              <a:defRPr sz="568" b="0">
                <a:solidFill>
                  <a:srgbClr val="263442"/>
                </a:solidFill>
                <a:latin typeface="Arial"/>
                <a:ea typeface="Arial"/>
                <a:cs typeface="Arial"/>
              </a:defRPr>
            </a:lvl2pPr>
            <a:lvl3pPr algn="ctr">
              <a:defRPr sz="568" b="0">
                <a:solidFill>
                  <a:srgbClr val="263442"/>
                </a:solidFill>
                <a:latin typeface="Arial"/>
                <a:ea typeface="Arial"/>
                <a:cs typeface="Arial"/>
              </a:defRPr>
            </a:lvl3pPr>
            <a:lvl4pPr algn="ctr">
              <a:defRPr sz="568" b="0">
                <a:solidFill>
                  <a:srgbClr val="263442"/>
                </a:solidFill>
                <a:latin typeface="Arial"/>
                <a:ea typeface="Arial"/>
                <a:cs typeface="Arial"/>
              </a:defRPr>
            </a:lvl4pPr>
            <a:lvl5pPr algn="ctr">
              <a:defRPr sz="568" b="0">
                <a:solidFill>
                  <a:srgbClr val="263442"/>
                </a:solidFill>
                <a:latin typeface="Arial"/>
                <a:ea typeface="Arial"/>
                <a:cs typeface="Arial"/>
              </a:defRPr>
            </a:lvl5pPr>
            <a:lvl6pPr algn="ctr">
              <a:defRPr sz="568" b="0">
                <a:solidFill>
                  <a:srgbClr val="263442"/>
                </a:solidFill>
                <a:latin typeface="Arial"/>
                <a:ea typeface="Arial"/>
                <a:cs typeface="Arial"/>
              </a:defRPr>
            </a:lvl6pPr>
            <a:lvl7pPr algn="ctr">
              <a:defRPr sz="568" b="0">
                <a:solidFill>
                  <a:srgbClr val="263442"/>
                </a:solidFill>
                <a:latin typeface="Arial"/>
                <a:ea typeface="Arial"/>
                <a:cs typeface="Arial"/>
              </a:defRPr>
            </a:lvl7pPr>
            <a:lvl8pPr algn="ctr">
              <a:defRPr sz="568" b="0">
                <a:solidFill>
                  <a:srgbClr val="263442"/>
                </a:solidFill>
                <a:latin typeface="Arial"/>
                <a:ea typeface="Arial"/>
                <a:cs typeface="Arial"/>
              </a:defRPr>
            </a:lvl8pPr>
            <a:lvl9pPr algn="ctr">
              <a:defRPr sz="568" b="0">
                <a:solidFill>
                  <a:srgbClr val="263442"/>
                </a:solidFill>
                <a:latin typeface="Arial"/>
                <a:ea typeface="Arial"/>
                <a:cs typeface="Arial"/>
              </a:defRPr>
            </a:lvl9pPr>
          </a:lstStyle>
          <a:p>
            <a:pPr algn="ctr">
              <a:defRPr sz="568" b="0">
                <a:solidFill>
                  <a:srgbClr val="263442"/>
                </a:solidFill>
                <a:latin typeface="Arial"/>
                <a:ea typeface="Arial"/>
                <a:cs typeface="Arial"/>
              </a:defRPr>
            </a:pPr>
            <a:r>
              <a:rPr sz="568" dirty="0" err="1">
                <a:solidFill>
                  <a:srgbClr val="263442"/>
                </a:solidFill>
                <a:latin typeface="Arial"/>
                <a:ea typeface="Arial"/>
                <a:cs typeface="Arial"/>
              </a:rPr>
              <a:t>Concat</a:t>
            </a:r>
            <a:endParaRPr sz="568" dirty="0">
              <a:solidFill>
                <a:srgbClr val="263442"/>
              </a:solidFill>
              <a:latin typeface="Arial"/>
              <a:ea typeface="Arial"/>
              <a:cs typeface="Arial"/>
            </a:endParaRPr>
          </a:p>
        </p:txBody>
      </p:sp>
      <p:grpSp>
        <p:nvGrpSpPr>
          <p:cNvPr id="1248" name="Unified flow and feature elements">
            <a:extLst>
              <a:ext uri="{FF2B5EF4-FFF2-40B4-BE49-F238E27FC236}">
                <a16:creationId xmlns:a16="http://schemas.microsoft.com/office/drawing/2014/main" id="{DA74696D-FF4F-021F-A459-9CD0851351CF}"/>
              </a:ext>
            </a:extLst>
          </p:cNvPr>
          <p:cNvGrpSpPr/>
          <p:nvPr/>
        </p:nvGrpSpPr>
        <p:grpSpPr>
          <a:xfrm>
            <a:off x="906174" y="284723"/>
            <a:ext cx="3778711" cy="3984382"/>
            <a:chOff x="2131133" y="669608"/>
            <a:chExt cx="8886725" cy="9370426"/>
          </a:xfrm>
        </p:grpSpPr>
        <p:sp>
          <p:nvSpPr>
            <p:cNvPr id="1249" name="Preprocessing refined">
              <a:extLst>
                <a:ext uri="{FF2B5EF4-FFF2-40B4-BE49-F238E27FC236}">
                  <a16:creationId xmlns:a16="http://schemas.microsoft.com/office/drawing/2014/main" id="{A3A31885-181B-CF24-BE30-3ED8DAACE460}"/>
                </a:ext>
              </a:extLst>
            </p:cNvPr>
            <p:cNvSpPr>
              <a:spLocks noGrp="1"/>
            </p:cNvSpPr>
            <p:nvPr/>
          </p:nvSpPr>
          <p:spPr>
            <a:xfrm>
              <a:off x="3122581" y="669608"/>
              <a:ext cx="1028701" cy="3460433"/>
            </a:xfrm>
            <a:prstGeom prst="roundRect">
              <a:avLst>
                <a:gd name="adj" fmla="val 6481"/>
              </a:avLst>
            </a:prstGeom>
            <a:solidFill>
              <a:srgbClr val="F4F6F7"/>
            </a:solidFill>
            <a:ln w="7290">
              <a:solidFill>
                <a:srgbClr val="BEC7CE"/>
              </a:solidFill>
            </a:ln>
          </p:spPr>
        </p:sp>
        <p:sp>
          <p:nvSpPr>
            <p:cNvPr id="1250" name="Preprocessing divider refined">
              <a:extLst>
                <a:ext uri="{FF2B5EF4-FFF2-40B4-BE49-F238E27FC236}">
                  <a16:creationId xmlns:a16="http://schemas.microsoft.com/office/drawing/2014/main" id="{E21BD2F9-92DD-96F0-3AAF-0957638A49FB}"/>
                </a:ext>
              </a:extLst>
            </p:cNvPr>
            <p:cNvSpPr>
              <a:spLocks noGrp="1"/>
            </p:cNvSpPr>
            <p:nvPr/>
          </p:nvSpPr>
          <p:spPr>
            <a:xfrm>
              <a:off x="3199219" y="2418363"/>
              <a:ext cx="800100" cy="190"/>
            </a:xfrm>
            <a:custGeom>
              <a:avLst/>
              <a:gdLst/>
              <a:ahLst/>
              <a:cxnLst/>
              <a:rect l="0" t="0" r="0" b="0"/>
              <a:pathLst>
                <a:path w="800100" h="191">
                  <a:moveTo>
                    <a:pt x="0" y="0"/>
                  </a:moveTo>
                  <a:lnTo>
                    <a:pt x="800100" y="0"/>
                  </a:lnTo>
                </a:path>
              </a:pathLst>
            </a:custGeom>
            <a:noFill/>
            <a:ln w="6075">
              <a:solidFill>
                <a:srgbClr val="C8CFD4"/>
              </a:solidFill>
              <a:prstDash val="solid"/>
            </a:ln>
          </p:spPr>
        </p:sp>
        <p:sp>
          <p:nvSpPr>
            <p:cNvPr id="1251" name="Density bank refined">
              <a:extLst>
                <a:ext uri="{FF2B5EF4-FFF2-40B4-BE49-F238E27FC236}">
                  <a16:creationId xmlns:a16="http://schemas.microsoft.com/office/drawing/2014/main" id="{1E51E71A-A2BC-0776-E4CA-D30FBB1BE241}"/>
                </a:ext>
              </a:extLst>
            </p:cNvPr>
            <p:cNvSpPr>
              <a:spLocks noGrp="1"/>
            </p:cNvSpPr>
            <p:nvPr/>
          </p:nvSpPr>
          <p:spPr>
            <a:xfrm>
              <a:off x="3160769" y="695478"/>
              <a:ext cx="990599" cy="457199"/>
            </a:xfrm>
            <a:prstGeom prst="rect">
              <a:avLst/>
            </a:prstGeom>
            <a:noFill/>
            <a:ln w="7290">
              <a:noFill/>
            </a:ln>
          </p:spPr>
          <p:txBody>
            <a:bodyPr lIns="0" tIns="0" rIns="0" bIns="0" anchor="ctr"/>
            <a:lstStyle>
              <a:defPPr algn="ctr">
                <a:defRPr sz="612">
                  <a:solidFill>
                    <a:srgbClr val="263442"/>
                  </a:solidFill>
                  <a:latin typeface="Arial"/>
                  <a:ea typeface="Arial"/>
                  <a:cs typeface="Arial"/>
                </a:defRPr>
              </a:defPPr>
              <a:lvl1pPr algn="ctr">
                <a:defRPr sz="612">
                  <a:solidFill>
                    <a:srgbClr val="263442"/>
                  </a:solidFill>
                  <a:latin typeface="Arial"/>
                  <a:ea typeface="Arial"/>
                  <a:cs typeface="Arial"/>
                </a:defRPr>
              </a:lvl1pPr>
              <a:lvl2pPr algn="ctr">
                <a:defRPr sz="612">
                  <a:solidFill>
                    <a:srgbClr val="263442"/>
                  </a:solidFill>
                  <a:latin typeface="Arial"/>
                  <a:ea typeface="Arial"/>
                  <a:cs typeface="Arial"/>
                </a:defRPr>
              </a:lvl2pPr>
              <a:lvl3pPr algn="ctr">
                <a:defRPr sz="612">
                  <a:solidFill>
                    <a:srgbClr val="263442"/>
                  </a:solidFill>
                  <a:latin typeface="Arial"/>
                  <a:ea typeface="Arial"/>
                  <a:cs typeface="Arial"/>
                </a:defRPr>
              </a:lvl3pPr>
              <a:lvl4pPr algn="ctr">
                <a:defRPr sz="612">
                  <a:solidFill>
                    <a:srgbClr val="263442"/>
                  </a:solidFill>
                  <a:latin typeface="Arial"/>
                  <a:ea typeface="Arial"/>
                  <a:cs typeface="Arial"/>
                </a:defRPr>
              </a:lvl4pPr>
              <a:lvl5pPr algn="ctr">
                <a:defRPr sz="612">
                  <a:solidFill>
                    <a:srgbClr val="263442"/>
                  </a:solidFill>
                  <a:latin typeface="Arial"/>
                  <a:ea typeface="Arial"/>
                  <a:cs typeface="Arial"/>
                </a:defRPr>
              </a:lvl5pPr>
              <a:lvl6pPr algn="ctr">
                <a:defRPr sz="612">
                  <a:solidFill>
                    <a:srgbClr val="263442"/>
                  </a:solidFill>
                  <a:latin typeface="Arial"/>
                  <a:ea typeface="Arial"/>
                  <a:cs typeface="Arial"/>
                </a:defRPr>
              </a:lvl6pPr>
              <a:lvl7pPr algn="ctr">
                <a:defRPr sz="612">
                  <a:solidFill>
                    <a:srgbClr val="263442"/>
                  </a:solidFill>
                  <a:latin typeface="Arial"/>
                  <a:ea typeface="Arial"/>
                  <a:cs typeface="Arial"/>
                </a:defRPr>
              </a:lvl7pPr>
              <a:lvl8pPr algn="ctr">
                <a:defRPr sz="612">
                  <a:solidFill>
                    <a:srgbClr val="263442"/>
                  </a:solidFill>
                  <a:latin typeface="Arial"/>
                  <a:ea typeface="Arial"/>
                  <a:cs typeface="Arial"/>
                </a:defRPr>
              </a:lvl8pPr>
              <a:lvl9pPr algn="ctr">
                <a:defRPr sz="612">
                  <a:solidFill>
                    <a:srgbClr val="263442"/>
                  </a:solidFill>
                  <a:latin typeface="Arial"/>
                  <a:ea typeface="Arial"/>
                  <a:cs typeface="Arial"/>
                </a:defRPr>
              </a:lvl9pPr>
            </a:lstStyle>
            <a:p>
              <a:pPr algn="ctr">
                <a:defRPr sz="612">
                  <a:solidFill>
                    <a:srgbClr val="263442"/>
                  </a:solidFill>
                  <a:latin typeface="Arial"/>
                  <a:ea typeface="Arial"/>
                  <a:cs typeface="Arial"/>
                </a:defRPr>
              </a:pPr>
              <a:r>
                <a:rPr sz="550" dirty="0">
                  <a:solidFill>
                    <a:srgbClr val="263442"/>
                  </a:solidFill>
                  <a:latin typeface="Arial"/>
                  <a:ea typeface="Arial"/>
                  <a:cs typeface="Arial"/>
                </a:rPr>
                <a:t>Density</a:t>
              </a:r>
            </a:p>
            <a:p>
              <a:pPr algn="ctr">
                <a:defRPr sz="612">
                  <a:solidFill>
                    <a:srgbClr val="263442"/>
                  </a:solidFill>
                  <a:latin typeface="Arial"/>
                  <a:ea typeface="Arial"/>
                  <a:cs typeface="Arial"/>
                </a:defRPr>
              </a:pPr>
              <a:r>
                <a:rPr lang="en-US" sz="550" dirty="0">
                  <a:solidFill>
                    <a:srgbClr val="263442"/>
                  </a:solidFill>
                  <a:latin typeface="Arial"/>
                  <a:ea typeface="Arial"/>
                  <a:cs typeface="Arial"/>
                </a:rPr>
                <a:t>B</a:t>
              </a:r>
              <a:r>
                <a:rPr sz="550" dirty="0">
                  <a:solidFill>
                    <a:srgbClr val="263442"/>
                  </a:solidFill>
                  <a:latin typeface="Arial"/>
                  <a:ea typeface="Arial"/>
                  <a:cs typeface="Arial"/>
                </a:rPr>
                <a:t>ank</a:t>
              </a:r>
            </a:p>
          </p:txBody>
        </p:sp>
        <p:sp>
          <p:nvSpPr>
            <p:cNvPr id="1252" name="Embedding head refined">
              <a:extLst>
                <a:ext uri="{FF2B5EF4-FFF2-40B4-BE49-F238E27FC236}">
                  <a16:creationId xmlns:a16="http://schemas.microsoft.com/office/drawing/2014/main" id="{58C61B38-F8DB-1F98-DEE4-C9D7130E2730}"/>
                </a:ext>
              </a:extLst>
            </p:cNvPr>
            <p:cNvSpPr>
              <a:spLocks noGrp="1"/>
            </p:cNvSpPr>
            <p:nvPr/>
          </p:nvSpPr>
          <p:spPr>
            <a:xfrm>
              <a:off x="3122433" y="2542570"/>
              <a:ext cx="990599" cy="457199"/>
            </a:xfrm>
            <a:prstGeom prst="rect">
              <a:avLst/>
            </a:prstGeom>
            <a:noFill/>
            <a:ln w="7290">
              <a:noFill/>
            </a:ln>
          </p:spPr>
          <p:txBody>
            <a:bodyPr lIns="0" tIns="0" rIns="0" bIns="0" anchor="ctr"/>
            <a:lstStyle>
              <a:defPPr algn="ctr">
                <a:defRPr sz="612">
                  <a:solidFill>
                    <a:srgbClr val="263442"/>
                  </a:solidFill>
                  <a:latin typeface="Arial"/>
                  <a:ea typeface="Arial"/>
                  <a:cs typeface="Arial"/>
                </a:defRPr>
              </a:defPPr>
              <a:lvl1pPr algn="ctr">
                <a:defRPr sz="612">
                  <a:solidFill>
                    <a:srgbClr val="263442"/>
                  </a:solidFill>
                  <a:latin typeface="Arial"/>
                  <a:ea typeface="Arial"/>
                  <a:cs typeface="Arial"/>
                </a:defRPr>
              </a:lvl1pPr>
              <a:lvl2pPr algn="ctr">
                <a:defRPr sz="612">
                  <a:solidFill>
                    <a:srgbClr val="263442"/>
                  </a:solidFill>
                  <a:latin typeface="Arial"/>
                  <a:ea typeface="Arial"/>
                  <a:cs typeface="Arial"/>
                </a:defRPr>
              </a:lvl2pPr>
              <a:lvl3pPr algn="ctr">
                <a:defRPr sz="612">
                  <a:solidFill>
                    <a:srgbClr val="263442"/>
                  </a:solidFill>
                  <a:latin typeface="Arial"/>
                  <a:ea typeface="Arial"/>
                  <a:cs typeface="Arial"/>
                </a:defRPr>
              </a:lvl3pPr>
              <a:lvl4pPr algn="ctr">
                <a:defRPr sz="612">
                  <a:solidFill>
                    <a:srgbClr val="263442"/>
                  </a:solidFill>
                  <a:latin typeface="Arial"/>
                  <a:ea typeface="Arial"/>
                  <a:cs typeface="Arial"/>
                </a:defRPr>
              </a:lvl4pPr>
              <a:lvl5pPr algn="ctr">
                <a:defRPr sz="612">
                  <a:solidFill>
                    <a:srgbClr val="263442"/>
                  </a:solidFill>
                  <a:latin typeface="Arial"/>
                  <a:ea typeface="Arial"/>
                  <a:cs typeface="Arial"/>
                </a:defRPr>
              </a:lvl5pPr>
              <a:lvl6pPr algn="ctr">
                <a:defRPr sz="612">
                  <a:solidFill>
                    <a:srgbClr val="263442"/>
                  </a:solidFill>
                  <a:latin typeface="Arial"/>
                  <a:ea typeface="Arial"/>
                  <a:cs typeface="Arial"/>
                </a:defRPr>
              </a:lvl6pPr>
              <a:lvl7pPr algn="ctr">
                <a:defRPr sz="612">
                  <a:solidFill>
                    <a:srgbClr val="263442"/>
                  </a:solidFill>
                  <a:latin typeface="Arial"/>
                  <a:ea typeface="Arial"/>
                  <a:cs typeface="Arial"/>
                </a:defRPr>
              </a:lvl7pPr>
              <a:lvl8pPr algn="ctr">
                <a:defRPr sz="612">
                  <a:solidFill>
                    <a:srgbClr val="263442"/>
                  </a:solidFill>
                  <a:latin typeface="Arial"/>
                  <a:ea typeface="Arial"/>
                  <a:cs typeface="Arial"/>
                </a:defRPr>
              </a:lvl8pPr>
              <a:lvl9pPr algn="ctr">
                <a:defRPr sz="612">
                  <a:solidFill>
                    <a:srgbClr val="263442"/>
                  </a:solidFill>
                  <a:latin typeface="Arial"/>
                  <a:ea typeface="Arial"/>
                  <a:cs typeface="Arial"/>
                </a:defRPr>
              </a:lvl9pPr>
            </a:lstStyle>
            <a:p>
              <a:pPr algn="ctr">
                <a:defRPr sz="612">
                  <a:solidFill>
                    <a:srgbClr val="263442"/>
                  </a:solidFill>
                  <a:latin typeface="Arial"/>
                  <a:ea typeface="Arial"/>
                  <a:cs typeface="Arial"/>
                </a:defRPr>
              </a:pPr>
              <a:r>
                <a:rPr lang="en-US" sz="550" dirty="0">
                  <a:solidFill>
                    <a:srgbClr val="263442"/>
                  </a:solidFill>
                  <a:latin typeface="Arial"/>
                  <a:ea typeface="Arial"/>
                  <a:cs typeface="Arial"/>
                </a:rPr>
                <a:t>Atom embeddings</a:t>
              </a:r>
              <a:endParaRPr sz="550" dirty="0">
                <a:solidFill>
                  <a:srgbClr val="263442"/>
                </a:solidFill>
                <a:latin typeface="Arial"/>
                <a:ea typeface="Arial"/>
                <a:cs typeface="Arial"/>
              </a:endParaRPr>
            </a:p>
          </p:txBody>
        </p:sp>
        <p:sp>
          <p:nvSpPr>
            <p:cNvPr id="1253" name="Find matrix 0-0">
              <a:extLst>
                <a:ext uri="{FF2B5EF4-FFF2-40B4-BE49-F238E27FC236}">
                  <a16:creationId xmlns:a16="http://schemas.microsoft.com/office/drawing/2014/main" id="{BBF0C328-3AF9-A068-FA92-FBF890856A66}"/>
                </a:ext>
              </a:extLst>
            </p:cNvPr>
            <p:cNvSpPr>
              <a:spLocks noGrp="1"/>
            </p:cNvSpPr>
            <p:nvPr/>
          </p:nvSpPr>
          <p:spPr>
            <a:xfrm>
              <a:off x="10255382" y="3200400"/>
              <a:ext cx="91559" cy="70009"/>
            </a:xfrm>
            <a:prstGeom prst="rect">
              <a:avLst/>
            </a:prstGeom>
            <a:solidFill>
              <a:srgbClr val="3E8F9A"/>
            </a:solidFill>
            <a:ln w="7290">
              <a:noFill/>
            </a:ln>
          </p:spPr>
        </p:sp>
        <p:sp>
          <p:nvSpPr>
            <p:cNvPr id="1254" name="Find matrix 0-1">
              <a:extLst>
                <a:ext uri="{FF2B5EF4-FFF2-40B4-BE49-F238E27FC236}">
                  <a16:creationId xmlns:a16="http://schemas.microsoft.com/office/drawing/2014/main" id="{3474DD36-B24E-DC42-848D-72CE3DEC2274}"/>
                </a:ext>
              </a:extLst>
            </p:cNvPr>
            <p:cNvSpPr>
              <a:spLocks noGrp="1"/>
            </p:cNvSpPr>
            <p:nvPr/>
          </p:nvSpPr>
          <p:spPr>
            <a:xfrm>
              <a:off x="10351227" y="3200400"/>
              <a:ext cx="91559" cy="70009"/>
            </a:xfrm>
            <a:prstGeom prst="rect">
              <a:avLst/>
            </a:prstGeom>
            <a:solidFill>
              <a:srgbClr val="5B9FB6"/>
            </a:solidFill>
            <a:ln w="7290">
              <a:noFill/>
            </a:ln>
          </p:spPr>
        </p:sp>
        <p:sp>
          <p:nvSpPr>
            <p:cNvPr id="1255" name="Find matrix 0-2">
              <a:extLst>
                <a:ext uri="{FF2B5EF4-FFF2-40B4-BE49-F238E27FC236}">
                  <a16:creationId xmlns:a16="http://schemas.microsoft.com/office/drawing/2014/main" id="{F807BDD1-EE13-F00C-2E77-C8910F6ACC73}"/>
                </a:ext>
              </a:extLst>
            </p:cNvPr>
            <p:cNvSpPr>
              <a:spLocks noGrp="1"/>
            </p:cNvSpPr>
            <p:nvPr/>
          </p:nvSpPr>
          <p:spPr>
            <a:xfrm>
              <a:off x="10447072" y="3200400"/>
              <a:ext cx="91559" cy="70009"/>
            </a:xfrm>
            <a:prstGeom prst="rect">
              <a:avLst/>
            </a:prstGeom>
            <a:solidFill>
              <a:srgbClr val="A3CDDA"/>
            </a:solidFill>
            <a:ln w="7290">
              <a:noFill/>
            </a:ln>
          </p:spPr>
        </p:sp>
        <p:sp>
          <p:nvSpPr>
            <p:cNvPr id="1256" name="Find matrix 0-3">
              <a:extLst>
                <a:ext uri="{FF2B5EF4-FFF2-40B4-BE49-F238E27FC236}">
                  <a16:creationId xmlns:a16="http://schemas.microsoft.com/office/drawing/2014/main" id="{DB1A890F-778A-35C9-7AE1-C0AE618D52CF}"/>
                </a:ext>
              </a:extLst>
            </p:cNvPr>
            <p:cNvSpPr>
              <a:spLocks noGrp="1"/>
            </p:cNvSpPr>
            <p:nvPr/>
          </p:nvSpPr>
          <p:spPr>
            <a:xfrm>
              <a:off x="10542917" y="3200400"/>
              <a:ext cx="91559" cy="70009"/>
            </a:xfrm>
            <a:prstGeom prst="rect">
              <a:avLst/>
            </a:prstGeom>
            <a:solidFill>
              <a:srgbClr val="88BEC3"/>
            </a:solidFill>
            <a:ln w="7290">
              <a:noFill/>
            </a:ln>
          </p:spPr>
        </p:sp>
        <p:sp>
          <p:nvSpPr>
            <p:cNvPr id="1257" name="Find matrix 0-4">
              <a:extLst>
                <a:ext uri="{FF2B5EF4-FFF2-40B4-BE49-F238E27FC236}">
                  <a16:creationId xmlns:a16="http://schemas.microsoft.com/office/drawing/2014/main" id="{B445D6B3-6FC7-4615-5975-85730846D82F}"/>
                </a:ext>
              </a:extLst>
            </p:cNvPr>
            <p:cNvSpPr>
              <a:spLocks noGrp="1"/>
            </p:cNvSpPr>
            <p:nvPr/>
          </p:nvSpPr>
          <p:spPr>
            <a:xfrm>
              <a:off x="10638763" y="3200400"/>
              <a:ext cx="91559" cy="70009"/>
            </a:xfrm>
            <a:prstGeom prst="rect">
              <a:avLst/>
            </a:prstGeom>
            <a:solidFill>
              <a:srgbClr val="67AD9F"/>
            </a:solidFill>
            <a:ln w="7290">
              <a:noFill/>
            </a:ln>
          </p:spPr>
        </p:sp>
        <p:sp>
          <p:nvSpPr>
            <p:cNvPr id="1258" name="Find matrix 0-5">
              <a:extLst>
                <a:ext uri="{FF2B5EF4-FFF2-40B4-BE49-F238E27FC236}">
                  <a16:creationId xmlns:a16="http://schemas.microsoft.com/office/drawing/2014/main" id="{EDF77049-6933-CA1B-21BD-2D261FB460F5}"/>
                </a:ext>
              </a:extLst>
            </p:cNvPr>
            <p:cNvSpPr>
              <a:spLocks noGrp="1"/>
            </p:cNvSpPr>
            <p:nvPr/>
          </p:nvSpPr>
          <p:spPr>
            <a:xfrm>
              <a:off x="10734608" y="3200400"/>
              <a:ext cx="91559" cy="70009"/>
            </a:xfrm>
            <a:prstGeom prst="rect">
              <a:avLst/>
            </a:prstGeom>
            <a:solidFill>
              <a:srgbClr val="C4DDE0"/>
            </a:solidFill>
            <a:ln w="7290">
              <a:noFill/>
            </a:ln>
          </p:spPr>
        </p:sp>
        <p:sp>
          <p:nvSpPr>
            <p:cNvPr id="1259" name="Find matrix 0-6">
              <a:extLst>
                <a:ext uri="{FF2B5EF4-FFF2-40B4-BE49-F238E27FC236}">
                  <a16:creationId xmlns:a16="http://schemas.microsoft.com/office/drawing/2014/main" id="{F24780FB-09E3-AE39-557B-018C817CABA7}"/>
                </a:ext>
              </a:extLst>
            </p:cNvPr>
            <p:cNvSpPr>
              <a:spLocks noGrp="1"/>
            </p:cNvSpPr>
            <p:nvPr/>
          </p:nvSpPr>
          <p:spPr>
            <a:xfrm>
              <a:off x="10830453" y="3200400"/>
              <a:ext cx="91559" cy="70009"/>
            </a:xfrm>
            <a:prstGeom prst="rect">
              <a:avLst/>
            </a:prstGeom>
            <a:solidFill>
              <a:srgbClr val="B6D8CC"/>
            </a:solidFill>
            <a:ln w="7290">
              <a:noFill/>
            </a:ln>
          </p:spPr>
        </p:sp>
        <p:sp>
          <p:nvSpPr>
            <p:cNvPr id="1260" name="Find matrix 0-7">
              <a:extLst>
                <a:ext uri="{FF2B5EF4-FFF2-40B4-BE49-F238E27FC236}">
                  <a16:creationId xmlns:a16="http://schemas.microsoft.com/office/drawing/2014/main" id="{69791062-44B8-8426-AAD4-DD68B1FF31BA}"/>
                </a:ext>
              </a:extLst>
            </p:cNvPr>
            <p:cNvSpPr>
              <a:spLocks noGrp="1"/>
            </p:cNvSpPr>
            <p:nvPr/>
          </p:nvSpPr>
          <p:spPr>
            <a:xfrm>
              <a:off x="10926299" y="3200400"/>
              <a:ext cx="91559" cy="70009"/>
            </a:xfrm>
            <a:prstGeom prst="rect">
              <a:avLst/>
            </a:prstGeom>
            <a:solidFill>
              <a:srgbClr val="D6E5ED"/>
            </a:solidFill>
            <a:ln w="7290">
              <a:noFill/>
            </a:ln>
          </p:spPr>
        </p:sp>
        <p:sp>
          <p:nvSpPr>
            <p:cNvPr id="1261" name="Find matrix 1-0">
              <a:extLst>
                <a:ext uri="{FF2B5EF4-FFF2-40B4-BE49-F238E27FC236}">
                  <a16:creationId xmlns:a16="http://schemas.microsoft.com/office/drawing/2014/main" id="{DAD773D5-9108-C0B7-81D5-AC1CF98B49B0}"/>
                </a:ext>
              </a:extLst>
            </p:cNvPr>
            <p:cNvSpPr>
              <a:spLocks noGrp="1"/>
            </p:cNvSpPr>
            <p:nvPr/>
          </p:nvSpPr>
          <p:spPr>
            <a:xfrm>
              <a:off x="10255382" y="3274695"/>
              <a:ext cx="91559" cy="70009"/>
            </a:xfrm>
            <a:prstGeom prst="rect">
              <a:avLst/>
            </a:prstGeom>
            <a:solidFill>
              <a:srgbClr val="A3CDDA"/>
            </a:solidFill>
            <a:ln w="7290">
              <a:noFill/>
            </a:ln>
          </p:spPr>
        </p:sp>
        <p:sp>
          <p:nvSpPr>
            <p:cNvPr id="1262" name="Find matrix 1-1">
              <a:extLst>
                <a:ext uri="{FF2B5EF4-FFF2-40B4-BE49-F238E27FC236}">
                  <a16:creationId xmlns:a16="http://schemas.microsoft.com/office/drawing/2014/main" id="{FD6D65E0-3CD4-81C9-A7EC-EE4D1EA03DA1}"/>
                </a:ext>
              </a:extLst>
            </p:cNvPr>
            <p:cNvSpPr>
              <a:spLocks noGrp="1"/>
            </p:cNvSpPr>
            <p:nvPr/>
          </p:nvSpPr>
          <p:spPr>
            <a:xfrm>
              <a:off x="10351227" y="3274695"/>
              <a:ext cx="91559" cy="70009"/>
            </a:xfrm>
            <a:prstGeom prst="rect">
              <a:avLst/>
            </a:prstGeom>
            <a:solidFill>
              <a:srgbClr val="B6D8CC"/>
            </a:solidFill>
            <a:ln w="7290">
              <a:noFill/>
            </a:ln>
          </p:spPr>
        </p:sp>
        <p:sp>
          <p:nvSpPr>
            <p:cNvPr id="1263" name="Find matrix 1-2">
              <a:extLst>
                <a:ext uri="{FF2B5EF4-FFF2-40B4-BE49-F238E27FC236}">
                  <a16:creationId xmlns:a16="http://schemas.microsoft.com/office/drawing/2014/main" id="{C06E5EF8-D1B9-1DB5-4010-25CDECE16DF3}"/>
                </a:ext>
              </a:extLst>
            </p:cNvPr>
            <p:cNvSpPr>
              <a:spLocks noGrp="1"/>
            </p:cNvSpPr>
            <p:nvPr/>
          </p:nvSpPr>
          <p:spPr>
            <a:xfrm>
              <a:off x="10447072" y="3274695"/>
              <a:ext cx="91559" cy="70009"/>
            </a:xfrm>
            <a:prstGeom prst="rect">
              <a:avLst/>
            </a:prstGeom>
            <a:solidFill>
              <a:srgbClr val="88BEC3"/>
            </a:solidFill>
            <a:ln w="7290">
              <a:noFill/>
            </a:ln>
          </p:spPr>
        </p:sp>
        <p:sp>
          <p:nvSpPr>
            <p:cNvPr id="1264" name="Find matrix 1-3">
              <a:extLst>
                <a:ext uri="{FF2B5EF4-FFF2-40B4-BE49-F238E27FC236}">
                  <a16:creationId xmlns:a16="http://schemas.microsoft.com/office/drawing/2014/main" id="{9AD5706A-D366-481E-242D-C3727EE68292}"/>
                </a:ext>
              </a:extLst>
            </p:cNvPr>
            <p:cNvSpPr>
              <a:spLocks noGrp="1"/>
            </p:cNvSpPr>
            <p:nvPr/>
          </p:nvSpPr>
          <p:spPr>
            <a:xfrm>
              <a:off x="10542917" y="3274695"/>
              <a:ext cx="91559" cy="70009"/>
            </a:xfrm>
            <a:prstGeom prst="rect">
              <a:avLst/>
            </a:prstGeom>
            <a:solidFill>
              <a:srgbClr val="D6E5ED"/>
            </a:solidFill>
            <a:ln w="7290">
              <a:noFill/>
            </a:ln>
          </p:spPr>
        </p:sp>
        <p:sp>
          <p:nvSpPr>
            <p:cNvPr id="1265" name="Find matrix 1-4">
              <a:extLst>
                <a:ext uri="{FF2B5EF4-FFF2-40B4-BE49-F238E27FC236}">
                  <a16:creationId xmlns:a16="http://schemas.microsoft.com/office/drawing/2014/main" id="{6454B603-2435-1F3E-EFE1-9F3ED69FE183}"/>
                </a:ext>
              </a:extLst>
            </p:cNvPr>
            <p:cNvSpPr>
              <a:spLocks noGrp="1"/>
            </p:cNvSpPr>
            <p:nvPr/>
          </p:nvSpPr>
          <p:spPr>
            <a:xfrm>
              <a:off x="10638763" y="3274695"/>
              <a:ext cx="91559" cy="70009"/>
            </a:xfrm>
            <a:prstGeom prst="rect">
              <a:avLst/>
            </a:prstGeom>
            <a:solidFill>
              <a:srgbClr val="5B9FB6"/>
            </a:solidFill>
            <a:ln w="7290">
              <a:noFill/>
            </a:ln>
          </p:spPr>
        </p:sp>
        <p:sp>
          <p:nvSpPr>
            <p:cNvPr id="1266" name="Find matrix 1-5">
              <a:extLst>
                <a:ext uri="{FF2B5EF4-FFF2-40B4-BE49-F238E27FC236}">
                  <a16:creationId xmlns:a16="http://schemas.microsoft.com/office/drawing/2014/main" id="{BDC3058F-5BB6-EF0A-C0E4-8FFF478A86C2}"/>
                </a:ext>
              </a:extLst>
            </p:cNvPr>
            <p:cNvSpPr>
              <a:spLocks noGrp="1"/>
            </p:cNvSpPr>
            <p:nvPr/>
          </p:nvSpPr>
          <p:spPr>
            <a:xfrm>
              <a:off x="10734608" y="3274695"/>
              <a:ext cx="91559" cy="70009"/>
            </a:xfrm>
            <a:prstGeom prst="rect">
              <a:avLst/>
            </a:prstGeom>
            <a:solidFill>
              <a:srgbClr val="3E8F9A"/>
            </a:solidFill>
            <a:ln w="7290">
              <a:noFill/>
            </a:ln>
          </p:spPr>
        </p:sp>
        <p:sp>
          <p:nvSpPr>
            <p:cNvPr id="1267" name="Find matrix 1-6">
              <a:extLst>
                <a:ext uri="{FF2B5EF4-FFF2-40B4-BE49-F238E27FC236}">
                  <a16:creationId xmlns:a16="http://schemas.microsoft.com/office/drawing/2014/main" id="{7A6FD57F-2D4A-E860-6015-70841E18A307}"/>
                </a:ext>
              </a:extLst>
            </p:cNvPr>
            <p:cNvSpPr>
              <a:spLocks noGrp="1"/>
            </p:cNvSpPr>
            <p:nvPr/>
          </p:nvSpPr>
          <p:spPr>
            <a:xfrm>
              <a:off x="10830453" y="3274695"/>
              <a:ext cx="91559" cy="70009"/>
            </a:xfrm>
            <a:prstGeom prst="rect">
              <a:avLst/>
            </a:prstGeom>
            <a:solidFill>
              <a:srgbClr val="C4DDE0"/>
            </a:solidFill>
            <a:ln w="7290">
              <a:noFill/>
            </a:ln>
          </p:spPr>
        </p:sp>
        <p:sp>
          <p:nvSpPr>
            <p:cNvPr id="1268" name="Find matrix 1-7">
              <a:extLst>
                <a:ext uri="{FF2B5EF4-FFF2-40B4-BE49-F238E27FC236}">
                  <a16:creationId xmlns:a16="http://schemas.microsoft.com/office/drawing/2014/main" id="{289EF4F7-DDB6-5545-39F7-5D1B3F86D2D3}"/>
                </a:ext>
              </a:extLst>
            </p:cNvPr>
            <p:cNvSpPr>
              <a:spLocks noGrp="1"/>
            </p:cNvSpPr>
            <p:nvPr/>
          </p:nvSpPr>
          <p:spPr>
            <a:xfrm>
              <a:off x="10926299" y="3274695"/>
              <a:ext cx="91559" cy="70009"/>
            </a:xfrm>
            <a:prstGeom prst="rect">
              <a:avLst/>
            </a:prstGeom>
            <a:solidFill>
              <a:srgbClr val="67AD9F"/>
            </a:solidFill>
            <a:ln w="7290">
              <a:noFill/>
            </a:ln>
          </p:spPr>
        </p:sp>
        <p:sp>
          <p:nvSpPr>
            <p:cNvPr id="1269" name="Find matrix 2-0">
              <a:extLst>
                <a:ext uri="{FF2B5EF4-FFF2-40B4-BE49-F238E27FC236}">
                  <a16:creationId xmlns:a16="http://schemas.microsoft.com/office/drawing/2014/main" id="{B1282592-D5D6-9C68-2D42-3D2A0FA6458C}"/>
                </a:ext>
              </a:extLst>
            </p:cNvPr>
            <p:cNvSpPr>
              <a:spLocks noGrp="1"/>
            </p:cNvSpPr>
            <p:nvPr/>
          </p:nvSpPr>
          <p:spPr>
            <a:xfrm>
              <a:off x="10255382" y="3348990"/>
              <a:ext cx="91559" cy="70009"/>
            </a:xfrm>
            <a:prstGeom prst="rect">
              <a:avLst/>
            </a:prstGeom>
            <a:solidFill>
              <a:srgbClr val="67AD9F"/>
            </a:solidFill>
            <a:ln w="7290">
              <a:noFill/>
            </a:ln>
          </p:spPr>
        </p:sp>
        <p:sp>
          <p:nvSpPr>
            <p:cNvPr id="1270" name="Find matrix 2-1">
              <a:extLst>
                <a:ext uri="{FF2B5EF4-FFF2-40B4-BE49-F238E27FC236}">
                  <a16:creationId xmlns:a16="http://schemas.microsoft.com/office/drawing/2014/main" id="{390A8337-4744-F454-87FF-4E9BDE799C1D}"/>
                </a:ext>
              </a:extLst>
            </p:cNvPr>
            <p:cNvSpPr>
              <a:spLocks noGrp="1"/>
            </p:cNvSpPr>
            <p:nvPr/>
          </p:nvSpPr>
          <p:spPr>
            <a:xfrm>
              <a:off x="10351227" y="3348990"/>
              <a:ext cx="91559" cy="70009"/>
            </a:xfrm>
            <a:prstGeom prst="rect">
              <a:avLst/>
            </a:prstGeom>
            <a:solidFill>
              <a:srgbClr val="C4DDE0"/>
            </a:solidFill>
            <a:ln w="7290">
              <a:noFill/>
            </a:ln>
          </p:spPr>
        </p:sp>
        <p:sp>
          <p:nvSpPr>
            <p:cNvPr id="1271" name="Find matrix 2-2">
              <a:extLst>
                <a:ext uri="{FF2B5EF4-FFF2-40B4-BE49-F238E27FC236}">
                  <a16:creationId xmlns:a16="http://schemas.microsoft.com/office/drawing/2014/main" id="{F2F7291B-E14D-7E55-CC39-0366DDE36AB6}"/>
                </a:ext>
              </a:extLst>
            </p:cNvPr>
            <p:cNvSpPr>
              <a:spLocks noGrp="1"/>
            </p:cNvSpPr>
            <p:nvPr/>
          </p:nvSpPr>
          <p:spPr>
            <a:xfrm>
              <a:off x="10447072" y="3348990"/>
              <a:ext cx="91559" cy="70009"/>
            </a:xfrm>
            <a:prstGeom prst="rect">
              <a:avLst/>
            </a:prstGeom>
            <a:solidFill>
              <a:srgbClr val="5B9FB6"/>
            </a:solidFill>
            <a:ln w="7290">
              <a:noFill/>
            </a:ln>
          </p:spPr>
        </p:sp>
        <p:sp>
          <p:nvSpPr>
            <p:cNvPr id="1272" name="Find matrix 2-3">
              <a:extLst>
                <a:ext uri="{FF2B5EF4-FFF2-40B4-BE49-F238E27FC236}">
                  <a16:creationId xmlns:a16="http://schemas.microsoft.com/office/drawing/2014/main" id="{7DDB5DDB-AA90-B36F-ECCA-B3D87BDEF49C}"/>
                </a:ext>
              </a:extLst>
            </p:cNvPr>
            <p:cNvSpPr>
              <a:spLocks noGrp="1"/>
            </p:cNvSpPr>
            <p:nvPr/>
          </p:nvSpPr>
          <p:spPr>
            <a:xfrm>
              <a:off x="10542917" y="3348990"/>
              <a:ext cx="91559" cy="70009"/>
            </a:xfrm>
            <a:prstGeom prst="rect">
              <a:avLst/>
            </a:prstGeom>
            <a:solidFill>
              <a:srgbClr val="B6D8CC"/>
            </a:solidFill>
            <a:ln w="7290">
              <a:noFill/>
            </a:ln>
          </p:spPr>
        </p:sp>
        <p:sp>
          <p:nvSpPr>
            <p:cNvPr id="1273" name="Find matrix 2-4">
              <a:extLst>
                <a:ext uri="{FF2B5EF4-FFF2-40B4-BE49-F238E27FC236}">
                  <a16:creationId xmlns:a16="http://schemas.microsoft.com/office/drawing/2014/main" id="{FBF483EB-0895-E2F9-E946-2CE7B0273010}"/>
                </a:ext>
              </a:extLst>
            </p:cNvPr>
            <p:cNvSpPr>
              <a:spLocks noGrp="1"/>
            </p:cNvSpPr>
            <p:nvPr/>
          </p:nvSpPr>
          <p:spPr>
            <a:xfrm>
              <a:off x="10638763" y="3348990"/>
              <a:ext cx="91559" cy="70009"/>
            </a:xfrm>
            <a:prstGeom prst="rect">
              <a:avLst/>
            </a:prstGeom>
            <a:solidFill>
              <a:srgbClr val="3E8F9A"/>
            </a:solidFill>
            <a:ln w="7290">
              <a:noFill/>
            </a:ln>
          </p:spPr>
        </p:sp>
        <p:sp>
          <p:nvSpPr>
            <p:cNvPr id="1274" name="Find matrix 2-5">
              <a:extLst>
                <a:ext uri="{FF2B5EF4-FFF2-40B4-BE49-F238E27FC236}">
                  <a16:creationId xmlns:a16="http://schemas.microsoft.com/office/drawing/2014/main" id="{235264C0-29EF-D9B8-F0D1-9BEBBAD9D6E8}"/>
                </a:ext>
              </a:extLst>
            </p:cNvPr>
            <p:cNvSpPr>
              <a:spLocks noGrp="1"/>
            </p:cNvSpPr>
            <p:nvPr/>
          </p:nvSpPr>
          <p:spPr>
            <a:xfrm>
              <a:off x="10734608" y="3348990"/>
              <a:ext cx="91559" cy="70009"/>
            </a:xfrm>
            <a:prstGeom prst="rect">
              <a:avLst/>
            </a:prstGeom>
            <a:solidFill>
              <a:srgbClr val="D6E5ED"/>
            </a:solidFill>
            <a:ln w="7290">
              <a:noFill/>
            </a:ln>
          </p:spPr>
        </p:sp>
        <p:sp>
          <p:nvSpPr>
            <p:cNvPr id="1275" name="Find matrix 2-6">
              <a:extLst>
                <a:ext uri="{FF2B5EF4-FFF2-40B4-BE49-F238E27FC236}">
                  <a16:creationId xmlns:a16="http://schemas.microsoft.com/office/drawing/2014/main" id="{89BB4142-622C-474C-899B-E7C760EA5054}"/>
                </a:ext>
              </a:extLst>
            </p:cNvPr>
            <p:cNvSpPr>
              <a:spLocks noGrp="1"/>
            </p:cNvSpPr>
            <p:nvPr/>
          </p:nvSpPr>
          <p:spPr>
            <a:xfrm>
              <a:off x="10830453" y="3348990"/>
              <a:ext cx="91559" cy="70009"/>
            </a:xfrm>
            <a:prstGeom prst="rect">
              <a:avLst/>
            </a:prstGeom>
            <a:solidFill>
              <a:srgbClr val="88BEC3"/>
            </a:solidFill>
            <a:ln w="7290">
              <a:noFill/>
            </a:ln>
          </p:spPr>
        </p:sp>
        <p:sp>
          <p:nvSpPr>
            <p:cNvPr id="1276" name="Find matrix 2-7">
              <a:extLst>
                <a:ext uri="{FF2B5EF4-FFF2-40B4-BE49-F238E27FC236}">
                  <a16:creationId xmlns:a16="http://schemas.microsoft.com/office/drawing/2014/main" id="{6D2284D9-4AE6-02DD-AA99-C88ED825A8F4}"/>
                </a:ext>
              </a:extLst>
            </p:cNvPr>
            <p:cNvSpPr>
              <a:spLocks noGrp="1"/>
            </p:cNvSpPr>
            <p:nvPr/>
          </p:nvSpPr>
          <p:spPr>
            <a:xfrm>
              <a:off x="10926299" y="3348990"/>
              <a:ext cx="91559" cy="70009"/>
            </a:xfrm>
            <a:prstGeom prst="rect">
              <a:avLst/>
            </a:prstGeom>
            <a:solidFill>
              <a:srgbClr val="A3CDDA"/>
            </a:solidFill>
            <a:ln w="7290">
              <a:noFill/>
            </a:ln>
          </p:spPr>
        </p:sp>
        <p:sp>
          <p:nvSpPr>
            <p:cNvPr id="1277" name="Find matrix 3-0">
              <a:extLst>
                <a:ext uri="{FF2B5EF4-FFF2-40B4-BE49-F238E27FC236}">
                  <a16:creationId xmlns:a16="http://schemas.microsoft.com/office/drawing/2014/main" id="{A354350A-00E7-4344-FF84-5BBF2165CEDA}"/>
                </a:ext>
              </a:extLst>
            </p:cNvPr>
            <p:cNvSpPr>
              <a:spLocks noGrp="1"/>
            </p:cNvSpPr>
            <p:nvPr/>
          </p:nvSpPr>
          <p:spPr>
            <a:xfrm>
              <a:off x="10255382" y="3423285"/>
              <a:ext cx="91559" cy="70009"/>
            </a:xfrm>
            <a:prstGeom prst="rect">
              <a:avLst/>
            </a:prstGeom>
            <a:solidFill>
              <a:srgbClr val="88BEC3"/>
            </a:solidFill>
            <a:ln w="7290">
              <a:noFill/>
            </a:ln>
          </p:spPr>
        </p:sp>
        <p:sp>
          <p:nvSpPr>
            <p:cNvPr id="1278" name="Find matrix 3-1">
              <a:extLst>
                <a:ext uri="{FF2B5EF4-FFF2-40B4-BE49-F238E27FC236}">
                  <a16:creationId xmlns:a16="http://schemas.microsoft.com/office/drawing/2014/main" id="{E2EDFAC2-C5CD-2DF8-165C-4DBC9D98B449}"/>
                </a:ext>
              </a:extLst>
            </p:cNvPr>
            <p:cNvSpPr>
              <a:spLocks noGrp="1"/>
            </p:cNvSpPr>
            <p:nvPr/>
          </p:nvSpPr>
          <p:spPr>
            <a:xfrm>
              <a:off x="10351227" y="3423285"/>
              <a:ext cx="91559" cy="70009"/>
            </a:xfrm>
            <a:prstGeom prst="rect">
              <a:avLst/>
            </a:prstGeom>
            <a:solidFill>
              <a:srgbClr val="D6E5ED"/>
            </a:solidFill>
            <a:ln w="7290">
              <a:noFill/>
            </a:ln>
          </p:spPr>
        </p:sp>
        <p:sp>
          <p:nvSpPr>
            <p:cNvPr id="1279" name="Find matrix 3-2">
              <a:extLst>
                <a:ext uri="{FF2B5EF4-FFF2-40B4-BE49-F238E27FC236}">
                  <a16:creationId xmlns:a16="http://schemas.microsoft.com/office/drawing/2014/main" id="{4D088869-EB59-E1B3-59B4-C3C92C8170BA}"/>
                </a:ext>
              </a:extLst>
            </p:cNvPr>
            <p:cNvSpPr>
              <a:spLocks noGrp="1"/>
            </p:cNvSpPr>
            <p:nvPr/>
          </p:nvSpPr>
          <p:spPr>
            <a:xfrm>
              <a:off x="10447072" y="3423285"/>
              <a:ext cx="91559" cy="70009"/>
            </a:xfrm>
            <a:prstGeom prst="rect">
              <a:avLst/>
            </a:prstGeom>
            <a:solidFill>
              <a:srgbClr val="67AD9F"/>
            </a:solidFill>
            <a:ln w="7290">
              <a:noFill/>
            </a:ln>
          </p:spPr>
        </p:sp>
        <p:sp>
          <p:nvSpPr>
            <p:cNvPr id="1280" name="Find matrix 3-3">
              <a:extLst>
                <a:ext uri="{FF2B5EF4-FFF2-40B4-BE49-F238E27FC236}">
                  <a16:creationId xmlns:a16="http://schemas.microsoft.com/office/drawing/2014/main" id="{119CBCB9-6860-7DCC-AF73-C422647EEF23}"/>
                </a:ext>
              </a:extLst>
            </p:cNvPr>
            <p:cNvSpPr>
              <a:spLocks noGrp="1"/>
            </p:cNvSpPr>
            <p:nvPr/>
          </p:nvSpPr>
          <p:spPr>
            <a:xfrm>
              <a:off x="10542917" y="3423285"/>
              <a:ext cx="91559" cy="70009"/>
            </a:xfrm>
            <a:prstGeom prst="rect">
              <a:avLst/>
            </a:prstGeom>
            <a:solidFill>
              <a:srgbClr val="3E8F9A"/>
            </a:solidFill>
            <a:ln w="7290">
              <a:noFill/>
            </a:ln>
          </p:spPr>
        </p:sp>
        <p:sp>
          <p:nvSpPr>
            <p:cNvPr id="1281" name="Find matrix 3-4">
              <a:extLst>
                <a:ext uri="{FF2B5EF4-FFF2-40B4-BE49-F238E27FC236}">
                  <a16:creationId xmlns:a16="http://schemas.microsoft.com/office/drawing/2014/main" id="{F0ED964A-EDEB-7D43-69F8-BEFE576D1277}"/>
                </a:ext>
              </a:extLst>
            </p:cNvPr>
            <p:cNvSpPr>
              <a:spLocks noGrp="1"/>
            </p:cNvSpPr>
            <p:nvPr/>
          </p:nvSpPr>
          <p:spPr>
            <a:xfrm>
              <a:off x="10638763" y="3423285"/>
              <a:ext cx="91559" cy="70009"/>
            </a:xfrm>
            <a:prstGeom prst="rect">
              <a:avLst/>
            </a:prstGeom>
            <a:solidFill>
              <a:srgbClr val="C4DDE0"/>
            </a:solidFill>
            <a:ln w="7290">
              <a:noFill/>
            </a:ln>
          </p:spPr>
        </p:sp>
        <p:sp>
          <p:nvSpPr>
            <p:cNvPr id="1282" name="Find matrix 3-5">
              <a:extLst>
                <a:ext uri="{FF2B5EF4-FFF2-40B4-BE49-F238E27FC236}">
                  <a16:creationId xmlns:a16="http://schemas.microsoft.com/office/drawing/2014/main" id="{A0A2A64A-E67D-3395-0409-F2703179F7EC}"/>
                </a:ext>
              </a:extLst>
            </p:cNvPr>
            <p:cNvSpPr>
              <a:spLocks noGrp="1"/>
            </p:cNvSpPr>
            <p:nvPr/>
          </p:nvSpPr>
          <p:spPr>
            <a:xfrm>
              <a:off x="10734608" y="3423285"/>
              <a:ext cx="91559" cy="70009"/>
            </a:xfrm>
            <a:prstGeom prst="rect">
              <a:avLst/>
            </a:prstGeom>
            <a:solidFill>
              <a:srgbClr val="A3CDDA"/>
            </a:solidFill>
            <a:ln w="7290">
              <a:noFill/>
            </a:ln>
          </p:spPr>
        </p:sp>
        <p:sp>
          <p:nvSpPr>
            <p:cNvPr id="1283" name="Find matrix 3-6">
              <a:extLst>
                <a:ext uri="{FF2B5EF4-FFF2-40B4-BE49-F238E27FC236}">
                  <a16:creationId xmlns:a16="http://schemas.microsoft.com/office/drawing/2014/main" id="{EA7CE8E7-C1AC-E261-A970-8EC80886D558}"/>
                </a:ext>
              </a:extLst>
            </p:cNvPr>
            <p:cNvSpPr>
              <a:spLocks noGrp="1"/>
            </p:cNvSpPr>
            <p:nvPr/>
          </p:nvSpPr>
          <p:spPr>
            <a:xfrm>
              <a:off x="10830453" y="3423285"/>
              <a:ext cx="91559" cy="70009"/>
            </a:xfrm>
            <a:prstGeom prst="rect">
              <a:avLst/>
            </a:prstGeom>
            <a:solidFill>
              <a:srgbClr val="B6D8CC"/>
            </a:solidFill>
            <a:ln w="7290">
              <a:noFill/>
            </a:ln>
          </p:spPr>
        </p:sp>
        <p:sp>
          <p:nvSpPr>
            <p:cNvPr id="1284" name="Find matrix 3-7">
              <a:extLst>
                <a:ext uri="{FF2B5EF4-FFF2-40B4-BE49-F238E27FC236}">
                  <a16:creationId xmlns:a16="http://schemas.microsoft.com/office/drawing/2014/main" id="{3CC5802F-96A8-F327-8DCD-5C642BB94DCE}"/>
                </a:ext>
              </a:extLst>
            </p:cNvPr>
            <p:cNvSpPr>
              <a:spLocks noGrp="1"/>
            </p:cNvSpPr>
            <p:nvPr/>
          </p:nvSpPr>
          <p:spPr>
            <a:xfrm>
              <a:off x="10926299" y="3423285"/>
              <a:ext cx="91559" cy="70009"/>
            </a:xfrm>
            <a:prstGeom prst="rect">
              <a:avLst/>
            </a:prstGeom>
            <a:solidFill>
              <a:srgbClr val="5B9FB6"/>
            </a:solidFill>
            <a:ln w="7290">
              <a:noFill/>
            </a:ln>
          </p:spPr>
        </p:sp>
        <p:sp>
          <p:nvSpPr>
            <p:cNvPr id="1285" name="Match matrix 0-0">
              <a:extLst>
                <a:ext uri="{FF2B5EF4-FFF2-40B4-BE49-F238E27FC236}">
                  <a16:creationId xmlns:a16="http://schemas.microsoft.com/office/drawing/2014/main" id="{1E148E3C-F1D3-F47F-36C6-42E1C579FB78}"/>
                </a:ext>
              </a:extLst>
            </p:cNvPr>
            <p:cNvSpPr>
              <a:spLocks noGrp="1"/>
            </p:cNvSpPr>
            <p:nvPr/>
          </p:nvSpPr>
          <p:spPr>
            <a:xfrm>
              <a:off x="3633156" y="7252039"/>
              <a:ext cx="88583" cy="70009"/>
            </a:xfrm>
            <a:prstGeom prst="rect">
              <a:avLst/>
            </a:prstGeom>
            <a:solidFill>
              <a:srgbClr val="3E8F9A"/>
            </a:solidFill>
            <a:ln w="7290">
              <a:noFill/>
            </a:ln>
          </p:spPr>
        </p:sp>
        <p:sp>
          <p:nvSpPr>
            <p:cNvPr id="1286" name="Match matrix 0-1">
              <a:extLst>
                <a:ext uri="{FF2B5EF4-FFF2-40B4-BE49-F238E27FC236}">
                  <a16:creationId xmlns:a16="http://schemas.microsoft.com/office/drawing/2014/main" id="{6CE95E95-35B4-AAA3-E629-B7804854BFD1}"/>
                </a:ext>
              </a:extLst>
            </p:cNvPr>
            <p:cNvSpPr>
              <a:spLocks noGrp="1"/>
            </p:cNvSpPr>
            <p:nvPr/>
          </p:nvSpPr>
          <p:spPr>
            <a:xfrm>
              <a:off x="3726025" y="7252039"/>
              <a:ext cx="88583" cy="70009"/>
            </a:xfrm>
            <a:prstGeom prst="rect">
              <a:avLst/>
            </a:prstGeom>
            <a:solidFill>
              <a:srgbClr val="5B9FB6"/>
            </a:solidFill>
            <a:ln w="7290">
              <a:noFill/>
            </a:ln>
          </p:spPr>
        </p:sp>
        <p:sp>
          <p:nvSpPr>
            <p:cNvPr id="1287" name="Match matrix 0-2">
              <a:extLst>
                <a:ext uri="{FF2B5EF4-FFF2-40B4-BE49-F238E27FC236}">
                  <a16:creationId xmlns:a16="http://schemas.microsoft.com/office/drawing/2014/main" id="{7AA444A0-2B6A-4C23-EFFA-BB0D0814FEA4}"/>
                </a:ext>
              </a:extLst>
            </p:cNvPr>
            <p:cNvSpPr>
              <a:spLocks noGrp="1"/>
            </p:cNvSpPr>
            <p:nvPr/>
          </p:nvSpPr>
          <p:spPr>
            <a:xfrm>
              <a:off x="3818894" y="7252039"/>
              <a:ext cx="88583" cy="70009"/>
            </a:xfrm>
            <a:prstGeom prst="rect">
              <a:avLst/>
            </a:prstGeom>
            <a:solidFill>
              <a:srgbClr val="A3CDDA"/>
            </a:solidFill>
            <a:ln w="7290">
              <a:noFill/>
            </a:ln>
          </p:spPr>
        </p:sp>
        <p:sp>
          <p:nvSpPr>
            <p:cNvPr id="1288" name="Match matrix 0-3">
              <a:extLst>
                <a:ext uri="{FF2B5EF4-FFF2-40B4-BE49-F238E27FC236}">
                  <a16:creationId xmlns:a16="http://schemas.microsoft.com/office/drawing/2014/main" id="{FA614244-906C-CFFC-1294-6D233D01CB35}"/>
                </a:ext>
              </a:extLst>
            </p:cNvPr>
            <p:cNvSpPr>
              <a:spLocks noGrp="1"/>
            </p:cNvSpPr>
            <p:nvPr/>
          </p:nvSpPr>
          <p:spPr>
            <a:xfrm>
              <a:off x="3911762" y="7252039"/>
              <a:ext cx="88583" cy="70009"/>
            </a:xfrm>
            <a:prstGeom prst="rect">
              <a:avLst/>
            </a:prstGeom>
            <a:solidFill>
              <a:srgbClr val="88BEC3"/>
            </a:solidFill>
            <a:ln w="7290">
              <a:noFill/>
            </a:ln>
          </p:spPr>
        </p:sp>
        <p:sp>
          <p:nvSpPr>
            <p:cNvPr id="1289" name="Match matrix 0-4">
              <a:extLst>
                <a:ext uri="{FF2B5EF4-FFF2-40B4-BE49-F238E27FC236}">
                  <a16:creationId xmlns:a16="http://schemas.microsoft.com/office/drawing/2014/main" id="{EE4A1296-1DD3-454F-610D-2BDEB1D0EFA9}"/>
                </a:ext>
              </a:extLst>
            </p:cNvPr>
            <p:cNvSpPr>
              <a:spLocks noGrp="1"/>
            </p:cNvSpPr>
            <p:nvPr/>
          </p:nvSpPr>
          <p:spPr>
            <a:xfrm>
              <a:off x="4004631" y="7252039"/>
              <a:ext cx="88583" cy="70009"/>
            </a:xfrm>
            <a:prstGeom prst="rect">
              <a:avLst/>
            </a:prstGeom>
            <a:solidFill>
              <a:srgbClr val="67AD9F"/>
            </a:solidFill>
            <a:ln w="7290">
              <a:noFill/>
            </a:ln>
          </p:spPr>
        </p:sp>
        <p:sp>
          <p:nvSpPr>
            <p:cNvPr id="1290" name="Match matrix 0-5">
              <a:extLst>
                <a:ext uri="{FF2B5EF4-FFF2-40B4-BE49-F238E27FC236}">
                  <a16:creationId xmlns:a16="http://schemas.microsoft.com/office/drawing/2014/main" id="{A27DCA6A-D9A0-89D2-300F-145A0353541B}"/>
                </a:ext>
              </a:extLst>
            </p:cNvPr>
            <p:cNvSpPr>
              <a:spLocks noGrp="1"/>
            </p:cNvSpPr>
            <p:nvPr/>
          </p:nvSpPr>
          <p:spPr>
            <a:xfrm>
              <a:off x="4097500" y="7252039"/>
              <a:ext cx="88583" cy="70009"/>
            </a:xfrm>
            <a:prstGeom prst="rect">
              <a:avLst/>
            </a:prstGeom>
            <a:solidFill>
              <a:srgbClr val="C4DDE0"/>
            </a:solidFill>
            <a:ln w="7290">
              <a:noFill/>
            </a:ln>
          </p:spPr>
        </p:sp>
        <p:sp>
          <p:nvSpPr>
            <p:cNvPr id="1291" name="Match matrix 0-6">
              <a:extLst>
                <a:ext uri="{FF2B5EF4-FFF2-40B4-BE49-F238E27FC236}">
                  <a16:creationId xmlns:a16="http://schemas.microsoft.com/office/drawing/2014/main" id="{110481AC-0BB3-A98A-15F4-6DA00B6462E6}"/>
                </a:ext>
              </a:extLst>
            </p:cNvPr>
            <p:cNvSpPr>
              <a:spLocks noGrp="1"/>
            </p:cNvSpPr>
            <p:nvPr/>
          </p:nvSpPr>
          <p:spPr>
            <a:xfrm>
              <a:off x="4190369" y="7252039"/>
              <a:ext cx="88583" cy="70009"/>
            </a:xfrm>
            <a:prstGeom prst="rect">
              <a:avLst/>
            </a:prstGeom>
            <a:solidFill>
              <a:srgbClr val="B6D8CC"/>
            </a:solidFill>
            <a:ln w="7290">
              <a:noFill/>
            </a:ln>
          </p:spPr>
        </p:sp>
        <p:sp>
          <p:nvSpPr>
            <p:cNvPr id="1292" name="Match matrix 0-7">
              <a:extLst>
                <a:ext uri="{FF2B5EF4-FFF2-40B4-BE49-F238E27FC236}">
                  <a16:creationId xmlns:a16="http://schemas.microsoft.com/office/drawing/2014/main" id="{CA0FE5FF-20F8-A515-1575-D2B579C6A384}"/>
                </a:ext>
              </a:extLst>
            </p:cNvPr>
            <p:cNvSpPr>
              <a:spLocks noGrp="1"/>
            </p:cNvSpPr>
            <p:nvPr/>
          </p:nvSpPr>
          <p:spPr>
            <a:xfrm>
              <a:off x="4283237" y="7252039"/>
              <a:ext cx="88583" cy="70009"/>
            </a:xfrm>
            <a:prstGeom prst="rect">
              <a:avLst/>
            </a:prstGeom>
            <a:solidFill>
              <a:srgbClr val="D6E5ED"/>
            </a:solidFill>
            <a:ln w="7290">
              <a:noFill/>
            </a:ln>
          </p:spPr>
        </p:sp>
        <p:sp>
          <p:nvSpPr>
            <p:cNvPr id="1293" name="Match matrix 1-0">
              <a:extLst>
                <a:ext uri="{FF2B5EF4-FFF2-40B4-BE49-F238E27FC236}">
                  <a16:creationId xmlns:a16="http://schemas.microsoft.com/office/drawing/2014/main" id="{62DD97DC-E1EF-3AC8-77C6-31E750CF1688}"/>
                </a:ext>
              </a:extLst>
            </p:cNvPr>
            <p:cNvSpPr>
              <a:spLocks noGrp="1"/>
            </p:cNvSpPr>
            <p:nvPr/>
          </p:nvSpPr>
          <p:spPr>
            <a:xfrm>
              <a:off x="3633156" y="7326334"/>
              <a:ext cx="88583" cy="70009"/>
            </a:xfrm>
            <a:prstGeom prst="rect">
              <a:avLst/>
            </a:prstGeom>
            <a:solidFill>
              <a:srgbClr val="A3CDDA"/>
            </a:solidFill>
            <a:ln w="7290">
              <a:noFill/>
            </a:ln>
          </p:spPr>
        </p:sp>
        <p:sp>
          <p:nvSpPr>
            <p:cNvPr id="1294" name="Match matrix 1-1">
              <a:extLst>
                <a:ext uri="{FF2B5EF4-FFF2-40B4-BE49-F238E27FC236}">
                  <a16:creationId xmlns:a16="http://schemas.microsoft.com/office/drawing/2014/main" id="{B545DCC8-F9BD-6322-3BD3-A195D0A92FFB}"/>
                </a:ext>
              </a:extLst>
            </p:cNvPr>
            <p:cNvSpPr>
              <a:spLocks noGrp="1"/>
            </p:cNvSpPr>
            <p:nvPr/>
          </p:nvSpPr>
          <p:spPr>
            <a:xfrm>
              <a:off x="3726025" y="7326334"/>
              <a:ext cx="88583" cy="70009"/>
            </a:xfrm>
            <a:prstGeom prst="rect">
              <a:avLst/>
            </a:prstGeom>
            <a:solidFill>
              <a:srgbClr val="B6D8CC"/>
            </a:solidFill>
            <a:ln w="7290">
              <a:noFill/>
            </a:ln>
          </p:spPr>
        </p:sp>
        <p:sp>
          <p:nvSpPr>
            <p:cNvPr id="1295" name="Match matrix 1-2">
              <a:extLst>
                <a:ext uri="{FF2B5EF4-FFF2-40B4-BE49-F238E27FC236}">
                  <a16:creationId xmlns:a16="http://schemas.microsoft.com/office/drawing/2014/main" id="{CA362456-65E1-995A-0618-99CCC4184C18}"/>
                </a:ext>
              </a:extLst>
            </p:cNvPr>
            <p:cNvSpPr>
              <a:spLocks noGrp="1"/>
            </p:cNvSpPr>
            <p:nvPr/>
          </p:nvSpPr>
          <p:spPr>
            <a:xfrm>
              <a:off x="3818894" y="7326334"/>
              <a:ext cx="88583" cy="70009"/>
            </a:xfrm>
            <a:prstGeom prst="rect">
              <a:avLst/>
            </a:prstGeom>
            <a:solidFill>
              <a:srgbClr val="88BEC3"/>
            </a:solidFill>
            <a:ln w="7290">
              <a:noFill/>
            </a:ln>
          </p:spPr>
        </p:sp>
        <p:sp>
          <p:nvSpPr>
            <p:cNvPr id="1296" name="Match matrix 1-3">
              <a:extLst>
                <a:ext uri="{FF2B5EF4-FFF2-40B4-BE49-F238E27FC236}">
                  <a16:creationId xmlns:a16="http://schemas.microsoft.com/office/drawing/2014/main" id="{A2C35F9E-7361-3F63-4B0D-A98BA11C6FD6}"/>
                </a:ext>
              </a:extLst>
            </p:cNvPr>
            <p:cNvSpPr>
              <a:spLocks noGrp="1"/>
            </p:cNvSpPr>
            <p:nvPr/>
          </p:nvSpPr>
          <p:spPr>
            <a:xfrm>
              <a:off x="3911762" y="7326334"/>
              <a:ext cx="88583" cy="70009"/>
            </a:xfrm>
            <a:prstGeom prst="rect">
              <a:avLst/>
            </a:prstGeom>
            <a:solidFill>
              <a:srgbClr val="D6E5ED"/>
            </a:solidFill>
            <a:ln w="7290">
              <a:noFill/>
            </a:ln>
          </p:spPr>
        </p:sp>
        <p:sp>
          <p:nvSpPr>
            <p:cNvPr id="1297" name="Match matrix 1-4">
              <a:extLst>
                <a:ext uri="{FF2B5EF4-FFF2-40B4-BE49-F238E27FC236}">
                  <a16:creationId xmlns:a16="http://schemas.microsoft.com/office/drawing/2014/main" id="{FAAA67D0-1522-17CF-8376-8D76753F582D}"/>
                </a:ext>
              </a:extLst>
            </p:cNvPr>
            <p:cNvSpPr>
              <a:spLocks noGrp="1"/>
            </p:cNvSpPr>
            <p:nvPr/>
          </p:nvSpPr>
          <p:spPr>
            <a:xfrm>
              <a:off x="4004631" y="7326334"/>
              <a:ext cx="88583" cy="70009"/>
            </a:xfrm>
            <a:prstGeom prst="rect">
              <a:avLst/>
            </a:prstGeom>
            <a:solidFill>
              <a:srgbClr val="5B9FB6"/>
            </a:solidFill>
            <a:ln w="7290">
              <a:noFill/>
            </a:ln>
          </p:spPr>
        </p:sp>
        <p:sp>
          <p:nvSpPr>
            <p:cNvPr id="1298" name="Match matrix 1-5">
              <a:extLst>
                <a:ext uri="{FF2B5EF4-FFF2-40B4-BE49-F238E27FC236}">
                  <a16:creationId xmlns:a16="http://schemas.microsoft.com/office/drawing/2014/main" id="{8EFA4585-A006-C810-377D-DBA6C87576CE}"/>
                </a:ext>
              </a:extLst>
            </p:cNvPr>
            <p:cNvSpPr>
              <a:spLocks noGrp="1"/>
            </p:cNvSpPr>
            <p:nvPr/>
          </p:nvSpPr>
          <p:spPr>
            <a:xfrm>
              <a:off x="4097500" y="7326334"/>
              <a:ext cx="88583" cy="70009"/>
            </a:xfrm>
            <a:prstGeom prst="rect">
              <a:avLst/>
            </a:prstGeom>
            <a:solidFill>
              <a:srgbClr val="3E8F9A"/>
            </a:solidFill>
            <a:ln w="7290">
              <a:noFill/>
            </a:ln>
          </p:spPr>
        </p:sp>
        <p:sp>
          <p:nvSpPr>
            <p:cNvPr id="1299" name="Match matrix 1-6">
              <a:extLst>
                <a:ext uri="{FF2B5EF4-FFF2-40B4-BE49-F238E27FC236}">
                  <a16:creationId xmlns:a16="http://schemas.microsoft.com/office/drawing/2014/main" id="{64D11889-0CF0-CA9A-1917-2BF4C8C70236}"/>
                </a:ext>
              </a:extLst>
            </p:cNvPr>
            <p:cNvSpPr>
              <a:spLocks noGrp="1"/>
            </p:cNvSpPr>
            <p:nvPr/>
          </p:nvSpPr>
          <p:spPr>
            <a:xfrm>
              <a:off x="4190369" y="7326334"/>
              <a:ext cx="88583" cy="70009"/>
            </a:xfrm>
            <a:prstGeom prst="rect">
              <a:avLst/>
            </a:prstGeom>
            <a:solidFill>
              <a:srgbClr val="C4DDE0"/>
            </a:solidFill>
            <a:ln w="7290">
              <a:noFill/>
            </a:ln>
          </p:spPr>
        </p:sp>
        <p:sp>
          <p:nvSpPr>
            <p:cNvPr id="1300" name="Match matrix 1-7">
              <a:extLst>
                <a:ext uri="{FF2B5EF4-FFF2-40B4-BE49-F238E27FC236}">
                  <a16:creationId xmlns:a16="http://schemas.microsoft.com/office/drawing/2014/main" id="{188B5773-F5C9-7D4C-8152-FA7D9B627789}"/>
                </a:ext>
              </a:extLst>
            </p:cNvPr>
            <p:cNvSpPr>
              <a:spLocks noGrp="1"/>
            </p:cNvSpPr>
            <p:nvPr/>
          </p:nvSpPr>
          <p:spPr>
            <a:xfrm>
              <a:off x="4283237" y="7326334"/>
              <a:ext cx="88583" cy="70009"/>
            </a:xfrm>
            <a:prstGeom prst="rect">
              <a:avLst/>
            </a:prstGeom>
            <a:solidFill>
              <a:srgbClr val="67AD9F"/>
            </a:solidFill>
            <a:ln w="7290">
              <a:noFill/>
            </a:ln>
          </p:spPr>
        </p:sp>
        <p:sp>
          <p:nvSpPr>
            <p:cNvPr id="1301" name="Match matrix 2-0">
              <a:extLst>
                <a:ext uri="{FF2B5EF4-FFF2-40B4-BE49-F238E27FC236}">
                  <a16:creationId xmlns:a16="http://schemas.microsoft.com/office/drawing/2014/main" id="{BBF02AFB-8489-0057-17C0-1186E4D7244F}"/>
                </a:ext>
              </a:extLst>
            </p:cNvPr>
            <p:cNvSpPr>
              <a:spLocks noGrp="1"/>
            </p:cNvSpPr>
            <p:nvPr/>
          </p:nvSpPr>
          <p:spPr>
            <a:xfrm>
              <a:off x="3633156" y="7400629"/>
              <a:ext cx="88583" cy="70009"/>
            </a:xfrm>
            <a:prstGeom prst="rect">
              <a:avLst/>
            </a:prstGeom>
            <a:solidFill>
              <a:srgbClr val="67AD9F"/>
            </a:solidFill>
            <a:ln w="7290">
              <a:noFill/>
            </a:ln>
          </p:spPr>
        </p:sp>
        <p:sp>
          <p:nvSpPr>
            <p:cNvPr id="1302" name="Match matrix 2-1">
              <a:extLst>
                <a:ext uri="{FF2B5EF4-FFF2-40B4-BE49-F238E27FC236}">
                  <a16:creationId xmlns:a16="http://schemas.microsoft.com/office/drawing/2014/main" id="{4D1F1E41-46E5-997B-A9A2-D4A7E86A821C}"/>
                </a:ext>
              </a:extLst>
            </p:cNvPr>
            <p:cNvSpPr>
              <a:spLocks noGrp="1"/>
            </p:cNvSpPr>
            <p:nvPr/>
          </p:nvSpPr>
          <p:spPr>
            <a:xfrm>
              <a:off x="3726025" y="7400629"/>
              <a:ext cx="88583" cy="70009"/>
            </a:xfrm>
            <a:prstGeom prst="rect">
              <a:avLst/>
            </a:prstGeom>
            <a:solidFill>
              <a:srgbClr val="C4DDE0"/>
            </a:solidFill>
            <a:ln w="7290">
              <a:noFill/>
            </a:ln>
          </p:spPr>
        </p:sp>
        <p:sp>
          <p:nvSpPr>
            <p:cNvPr id="1303" name="Match matrix 2-2">
              <a:extLst>
                <a:ext uri="{FF2B5EF4-FFF2-40B4-BE49-F238E27FC236}">
                  <a16:creationId xmlns:a16="http://schemas.microsoft.com/office/drawing/2014/main" id="{BDC0B5DB-1FDB-9192-A8A8-9F9E9FC2CF48}"/>
                </a:ext>
              </a:extLst>
            </p:cNvPr>
            <p:cNvSpPr>
              <a:spLocks noGrp="1"/>
            </p:cNvSpPr>
            <p:nvPr/>
          </p:nvSpPr>
          <p:spPr>
            <a:xfrm>
              <a:off x="3818894" y="7400629"/>
              <a:ext cx="88583" cy="70009"/>
            </a:xfrm>
            <a:prstGeom prst="rect">
              <a:avLst/>
            </a:prstGeom>
            <a:solidFill>
              <a:srgbClr val="5B9FB6"/>
            </a:solidFill>
            <a:ln w="7290">
              <a:noFill/>
            </a:ln>
          </p:spPr>
        </p:sp>
        <p:sp>
          <p:nvSpPr>
            <p:cNvPr id="1304" name="Match matrix 2-3">
              <a:extLst>
                <a:ext uri="{FF2B5EF4-FFF2-40B4-BE49-F238E27FC236}">
                  <a16:creationId xmlns:a16="http://schemas.microsoft.com/office/drawing/2014/main" id="{9C663294-FCA2-F8DE-2AEC-EEF54C48921A}"/>
                </a:ext>
              </a:extLst>
            </p:cNvPr>
            <p:cNvSpPr>
              <a:spLocks noGrp="1"/>
            </p:cNvSpPr>
            <p:nvPr/>
          </p:nvSpPr>
          <p:spPr>
            <a:xfrm>
              <a:off x="3911762" y="7400629"/>
              <a:ext cx="88583" cy="70009"/>
            </a:xfrm>
            <a:prstGeom prst="rect">
              <a:avLst/>
            </a:prstGeom>
            <a:solidFill>
              <a:srgbClr val="B6D8CC"/>
            </a:solidFill>
            <a:ln w="7290">
              <a:noFill/>
            </a:ln>
          </p:spPr>
        </p:sp>
        <p:sp>
          <p:nvSpPr>
            <p:cNvPr id="1305" name="Match matrix 2-4">
              <a:extLst>
                <a:ext uri="{FF2B5EF4-FFF2-40B4-BE49-F238E27FC236}">
                  <a16:creationId xmlns:a16="http://schemas.microsoft.com/office/drawing/2014/main" id="{28E76182-0A60-4A72-9586-C12459BE0B58}"/>
                </a:ext>
              </a:extLst>
            </p:cNvPr>
            <p:cNvSpPr>
              <a:spLocks noGrp="1"/>
            </p:cNvSpPr>
            <p:nvPr/>
          </p:nvSpPr>
          <p:spPr>
            <a:xfrm>
              <a:off x="4004631" y="7400629"/>
              <a:ext cx="88583" cy="70009"/>
            </a:xfrm>
            <a:prstGeom prst="rect">
              <a:avLst/>
            </a:prstGeom>
            <a:solidFill>
              <a:srgbClr val="3E8F9A"/>
            </a:solidFill>
            <a:ln w="7290">
              <a:noFill/>
            </a:ln>
          </p:spPr>
        </p:sp>
        <p:sp>
          <p:nvSpPr>
            <p:cNvPr id="1306" name="Match matrix 2-5">
              <a:extLst>
                <a:ext uri="{FF2B5EF4-FFF2-40B4-BE49-F238E27FC236}">
                  <a16:creationId xmlns:a16="http://schemas.microsoft.com/office/drawing/2014/main" id="{29FC68A5-EB54-9596-85EC-EDC1175B056F}"/>
                </a:ext>
              </a:extLst>
            </p:cNvPr>
            <p:cNvSpPr>
              <a:spLocks noGrp="1"/>
            </p:cNvSpPr>
            <p:nvPr/>
          </p:nvSpPr>
          <p:spPr>
            <a:xfrm>
              <a:off x="4097500" y="7400629"/>
              <a:ext cx="88583" cy="70009"/>
            </a:xfrm>
            <a:prstGeom prst="rect">
              <a:avLst/>
            </a:prstGeom>
            <a:solidFill>
              <a:srgbClr val="D6E5ED"/>
            </a:solidFill>
            <a:ln w="7290">
              <a:noFill/>
            </a:ln>
          </p:spPr>
        </p:sp>
        <p:sp>
          <p:nvSpPr>
            <p:cNvPr id="1307" name="Match matrix 2-6">
              <a:extLst>
                <a:ext uri="{FF2B5EF4-FFF2-40B4-BE49-F238E27FC236}">
                  <a16:creationId xmlns:a16="http://schemas.microsoft.com/office/drawing/2014/main" id="{59C9C8C5-D90A-7A02-93D3-957FE3AE7DC3}"/>
                </a:ext>
              </a:extLst>
            </p:cNvPr>
            <p:cNvSpPr>
              <a:spLocks noGrp="1"/>
            </p:cNvSpPr>
            <p:nvPr/>
          </p:nvSpPr>
          <p:spPr>
            <a:xfrm>
              <a:off x="4190369" y="7400629"/>
              <a:ext cx="88583" cy="70009"/>
            </a:xfrm>
            <a:prstGeom prst="rect">
              <a:avLst/>
            </a:prstGeom>
            <a:solidFill>
              <a:srgbClr val="88BEC3"/>
            </a:solidFill>
            <a:ln w="7290">
              <a:noFill/>
            </a:ln>
          </p:spPr>
        </p:sp>
        <p:sp>
          <p:nvSpPr>
            <p:cNvPr id="1308" name="Match matrix 2-7">
              <a:extLst>
                <a:ext uri="{FF2B5EF4-FFF2-40B4-BE49-F238E27FC236}">
                  <a16:creationId xmlns:a16="http://schemas.microsoft.com/office/drawing/2014/main" id="{83DFB888-0521-0863-270C-DBAF169C149A}"/>
                </a:ext>
              </a:extLst>
            </p:cNvPr>
            <p:cNvSpPr>
              <a:spLocks noGrp="1"/>
            </p:cNvSpPr>
            <p:nvPr/>
          </p:nvSpPr>
          <p:spPr>
            <a:xfrm>
              <a:off x="4283237" y="7400629"/>
              <a:ext cx="88583" cy="70009"/>
            </a:xfrm>
            <a:prstGeom prst="rect">
              <a:avLst/>
            </a:prstGeom>
            <a:solidFill>
              <a:srgbClr val="A3CDDA"/>
            </a:solidFill>
            <a:ln w="7290">
              <a:noFill/>
            </a:ln>
          </p:spPr>
        </p:sp>
        <p:sp>
          <p:nvSpPr>
            <p:cNvPr id="1309" name="Match matrix 3-0">
              <a:extLst>
                <a:ext uri="{FF2B5EF4-FFF2-40B4-BE49-F238E27FC236}">
                  <a16:creationId xmlns:a16="http://schemas.microsoft.com/office/drawing/2014/main" id="{CDAE8F1E-742C-7BA1-EB00-87CA9B9E40A2}"/>
                </a:ext>
              </a:extLst>
            </p:cNvPr>
            <p:cNvSpPr>
              <a:spLocks noGrp="1"/>
            </p:cNvSpPr>
            <p:nvPr/>
          </p:nvSpPr>
          <p:spPr>
            <a:xfrm>
              <a:off x="3633156" y="7474924"/>
              <a:ext cx="88583" cy="70009"/>
            </a:xfrm>
            <a:prstGeom prst="rect">
              <a:avLst/>
            </a:prstGeom>
            <a:solidFill>
              <a:srgbClr val="88BEC3"/>
            </a:solidFill>
            <a:ln w="7290">
              <a:noFill/>
            </a:ln>
          </p:spPr>
        </p:sp>
        <p:sp>
          <p:nvSpPr>
            <p:cNvPr id="1310" name="Match matrix 3-1">
              <a:extLst>
                <a:ext uri="{FF2B5EF4-FFF2-40B4-BE49-F238E27FC236}">
                  <a16:creationId xmlns:a16="http://schemas.microsoft.com/office/drawing/2014/main" id="{74117986-6240-D77F-909C-522F6146D289}"/>
                </a:ext>
              </a:extLst>
            </p:cNvPr>
            <p:cNvSpPr>
              <a:spLocks noGrp="1"/>
            </p:cNvSpPr>
            <p:nvPr/>
          </p:nvSpPr>
          <p:spPr>
            <a:xfrm>
              <a:off x="3726025" y="7474924"/>
              <a:ext cx="88583" cy="70009"/>
            </a:xfrm>
            <a:prstGeom prst="rect">
              <a:avLst/>
            </a:prstGeom>
            <a:solidFill>
              <a:srgbClr val="D6E5ED"/>
            </a:solidFill>
            <a:ln w="7290">
              <a:noFill/>
            </a:ln>
          </p:spPr>
        </p:sp>
        <p:sp>
          <p:nvSpPr>
            <p:cNvPr id="1311" name="Match matrix 3-2">
              <a:extLst>
                <a:ext uri="{FF2B5EF4-FFF2-40B4-BE49-F238E27FC236}">
                  <a16:creationId xmlns:a16="http://schemas.microsoft.com/office/drawing/2014/main" id="{68BD8A38-75EC-BA37-589D-F9C3EBE804E8}"/>
                </a:ext>
              </a:extLst>
            </p:cNvPr>
            <p:cNvSpPr>
              <a:spLocks noGrp="1"/>
            </p:cNvSpPr>
            <p:nvPr/>
          </p:nvSpPr>
          <p:spPr>
            <a:xfrm>
              <a:off x="3818894" y="7474924"/>
              <a:ext cx="88583" cy="70009"/>
            </a:xfrm>
            <a:prstGeom prst="rect">
              <a:avLst/>
            </a:prstGeom>
            <a:solidFill>
              <a:srgbClr val="67AD9F"/>
            </a:solidFill>
            <a:ln w="7290">
              <a:noFill/>
            </a:ln>
          </p:spPr>
        </p:sp>
        <p:sp>
          <p:nvSpPr>
            <p:cNvPr id="1312" name="Match matrix 3-3">
              <a:extLst>
                <a:ext uri="{FF2B5EF4-FFF2-40B4-BE49-F238E27FC236}">
                  <a16:creationId xmlns:a16="http://schemas.microsoft.com/office/drawing/2014/main" id="{BA2E6B5A-7074-DCD3-8646-836425ECA4E6}"/>
                </a:ext>
              </a:extLst>
            </p:cNvPr>
            <p:cNvSpPr>
              <a:spLocks noGrp="1"/>
            </p:cNvSpPr>
            <p:nvPr/>
          </p:nvSpPr>
          <p:spPr>
            <a:xfrm>
              <a:off x="3911762" y="7474924"/>
              <a:ext cx="88583" cy="70009"/>
            </a:xfrm>
            <a:prstGeom prst="rect">
              <a:avLst/>
            </a:prstGeom>
            <a:solidFill>
              <a:srgbClr val="3E8F9A"/>
            </a:solidFill>
            <a:ln w="7290">
              <a:noFill/>
            </a:ln>
          </p:spPr>
        </p:sp>
        <p:sp>
          <p:nvSpPr>
            <p:cNvPr id="1313" name="Match matrix 3-4">
              <a:extLst>
                <a:ext uri="{FF2B5EF4-FFF2-40B4-BE49-F238E27FC236}">
                  <a16:creationId xmlns:a16="http://schemas.microsoft.com/office/drawing/2014/main" id="{E2B9FFDB-87E6-991D-6FE1-3A8ED7934F53}"/>
                </a:ext>
              </a:extLst>
            </p:cNvPr>
            <p:cNvSpPr>
              <a:spLocks noGrp="1"/>
            </p:cNvSpPr>
            <p:nvPr/>
          </p:nvSpPr>
          <p:spPr>
            <a:xfrm>
              <a:off x="4004631" y="7474924"/>
              <a:ext cx="88583" cy="70009"/>
            </a:xfrm>
            <a:prstGeom prst="rect">
              <a:avLst/>
            </a:prstGeom>
            <a:solidFill>
              <a:srgbClr val="C4DDE0"/>
            </a:solidFill>
            <a:ln w="7290">
              <a:noFill/>
            </a:ln>
          </p:spPr>
        </p:sp>
        <p:sp>
          <p:nvSpPr>
            <p:cNvPr id="1314" name="Match matrix 3-5">
              <a:extLst>
                <a:ext uri="{FF2B5EF4-FFF2-40B4-BE49-F238E27FC236}">
                  <a16:creationId xmlns:a16="http://schemas.microsoft.com/office/drawing/2014/main" id="{93BBAAA9-24B8-1E29-A6DC-8B4D096073B5}"/>
                </a:ext>
              </a:extLst>
            </p:cNvPr>
            <p:cNvSpPr>
              <a:spLocks noGrp="1"/>
            </p:cNvSpPr>
            <p:nvPr/>
          </p:nvSpPr>
          <p:spPr>
            <a:xfrm>
              <a:off x="4097500" y="7474924"/>
              <a:ext cx="88583" cy="70009"/>
            </a:xfrm>
            <a:prstGeom prst="rect">
              <a:avLst/>
            </a:prstGeom>
            <a:solidFill>
              <a:srgbClr val="A3CDDA"/>
            </a:solidFill>
            <a:ln w="7290">
              <a:noFill/>
            </a:ln>
          </p:spPr>
        </p:sp>
        <p:sp>
          <p:nvSpPr>
            <p:cNvPr id="1315" name="Match matrix 3-6">
              <a:extLst>
                <a:ext uri="{FF2B5EF4-FFF2-40B4-BE49-F238E27FC236}">
                  <a16:creationId xmlns:a16="http://schemas.microsoft.com/office/drawing/2014/main" id="{68A528E6-65EA-9C73-7412-55AD6CD16CE8}"/>
                </a:ext>
              </a:extLst>
            </p:cNvPr>
            <p:cNvSpPr>
              <a:spLocks noGrp="1"/>
            </p:cNvSpPr>
            <p:nvPr/>
          </p:nvSpPr>
          <p:spPr>
            <a:xfrm>
              <a:off x="4190369" y="7474924"/>
              <a:ext cx="88583" cy="70009"/>
            </a:xfrm>
            <a:prstGeom prst="rect">
              <a:avLst/>
            </a:prstGeom>
            <a:solidFill>
              <a:srgbClr val="B6D8CC"/>
            </a:solidFill>
            <a:ln w="7290">
              <a:noFill/>
            </a:ln>
          </p:spPr>
        </p:sp>
        <p:sp>
          <p:nvSpPr>
            <p:cNvPr id="1316" name="Match matrix 3-7">
              <a:extLst>
                <a:ext uri="{FF2B5EF4-FFF2-40B4-BE49-F238E27FC236}">
                  <a16:creationId xmlns:a16="http://schemas.microsoft.com/office/drawing/2014/main" id="{2EEE91B3-D81D-6257-AECC-400C8A929123}"/>
                </a:ext>
              </a:extLst>
            </p:cNvPr>
            <p:cNvSpPr>
              <a:spLocks noGrp="1"/>
            </p:cNvSpPr>
            <p:nvPr/>
          </p:nvSpPr>
          <p:spPr>
            <a:xfrm>
              <a:off x="4283237" y="7474924"/>
              <a:ext cx="88583" cy="70009"/>
            </a:xfrm>
            <a:prstGeom prst="rect">
              <a:avLst/>
            </a:prstGeom>
            <a:solidFill>
              <a:srgbClr val="5B9FB6"/>
            </a:solidFill>
            <a:ln w="7290">
              <a:noFill/>
            </a:ln>
          </p:spPr>
        </p:sp>
        <p:sp>
          <p:nvSpPr>
            <p:cNvPr id="1318" name="SMILES continuation 806-628.2">
              <a:extLst>
                <a:ext uri="{FF2B5EF4-FFF2-40B4-BE49-F238E27FC236}">
                  <a16:creationId xmlns:a16="http://schemas.microsoft.com/office/drawing/2014/main" id="{F23A2C65-E88A-BB4F-DB2B-F6BDFE0A90A0}"/>
                </a:ext>
              </a:extLst>
            </p:cNvPr>
            <p:cNvSpPr>
              <a:spLocks noGrp="1"/>
            </p:cNvSpPr>
            <p:nvPr/>
          </p:nvSpPr>
          <p:spPr>
            <a:xfrm>
              <a:off x="8110676" y="5974080"/>
              <a:ext cx="19050" cy="19050"/>
            </a:xfrm>
            <a:prstGeom prst="ellipse">
              <a:avLst/>
            </a:prstGeom>
            <a:solidFill>
              <a:srgbClr val="71808C"/>
            </a:solidFill>
            <a:ln w="0">
              <a:noFill/>
            </a:ln>
          </p:spPr>
        </p:sp>
        <p:sp>
          <p:nvSpPr>
            <p:cNvPr id="1319" name="SMILES continuation 812-628.2">
              <a:extLst>
                <a:ext uri="{FF2B5EF4-FFF2-40B4-BE49-F238E27FC236}">
                  <a16:creationId xmlns:a16="http://schemas.microsoft.com/office/drawing/2014/main" id="{3B989565-3BAD-D4AD-9254-F92A9CA55F5F}"/>
                </a:ext>
              </a:extLst>
            </p:cNvPr>
            <p:cNvSpPr>
              <a:spLocks noGrp="1"/>
            </p:cNvSpPr>
            <p:nvPr/>
          </p:nvSpPr>
          <p:spPr>
            <a:xfrm>
              <a:off x="8167826" y="5974080"/>
              <a:ext cx="19050" cy="19050"/>
            </a:xfrm>
            <a:prstGeom prst="ellipse">
              <a:avLst/>
            </a:prstGeom>
            <a:solidFill>
              <a:srgbClr val="71808C"/>
            </a:solidFill>
            <a:ln w="0">
              <a:noFill/>
            </a:ln>
          </p:spPr>
        </p:sp>
        <p:sp>
          <p:nvSpPr>
            <p:cNvPr id="1320" name="SMILES continuation 818-628.2">
              <a:extLst>
                <a:ext uri="{FF2B5EF4-FFF2-40B4-BE49-F238E27FC236}">
                  <a16:creationId xmlns:a16="http://schemas.microsoft.com/office/drawing/2014/main" id="{42B8B6C2-B43E-383F-14DE-C418D4494332}"/>
                </a:ext>
              </a:extLst>
            </p:cNvPr>
            <p:cNvSpPr>
              <a:spLocks noGrp="1"/>
            </p:cNvSpPr>
            <p:nvPr/>
          </p:nvSpPr>
          <p:spPr>
            <a:xfrm>
              <a:off x="8224976" y="5974080"/>
              <a:ext cx="19050" cy="19050"/>
            </a:xfrm>
            <a:prstGeom prst="ellipse">
              <a:avLst/>
            </a:prstGeom>
            <a:solidFill>
              <a:srgbClr val="71808C"/>
            </a:solidFill>
            <a:ln w="0">
              <a:noFill/>
            </a:ln>
          </p:spPr>
        </p:sp>
        <p:sp>
          <p:nvSpPr>
            <p:cNvPr id="1321" name="SMILES continuation 806-667">
              <a:extLst>
                <a:ext uri="{FF2B5EF4-FFF2-40B4-BE49-F238E27FC236}">
                  <a16:creationId xmlns:a16="http://schemas.microsoft.com/office/drawing/2014/main" id="{39894408-4EFC-1123-4D43-5E7226F5F0C0}"/>
                </a:ext>
              </a:extLst>
            </p:cNvPr>
            <p:cNvSpPr>
              <a:spLocks noGrp="1"/>
            </p:cNvSpPr>
            <p:nvPr/>
          </p:nvSpPr>
          <p:spPr>
            <a:xfrm>
              <a:off x="8110676" y="6343650"/>
              <a:ext cx="19050" cy="19050"/>
            </a:xfrm>
            <a:prstGeom prst="ellipse">
              <a:avLst/>
            </a:prstGeom>
            <a:solidFill>
              <a:srgbClr val="71808C"/>
            </a:solidFill>
            <a:ln w="0">
              <a:noFill/>
            </a:ln>
          </p:spPr>
        </p:sp>
        <p:sp>
          <p:nvSpPr>
            <p:cNvPr id="1322" name="SMILES continuation 812-667">
              <a:extLst>
                <a:ext uri="{FF2B5EF4-FFF2-40B4-BE49-F238E27FC236}">
                  <a16:creationId xmlns:a16="http://schemas.microsoft.com/office/drawing/2014/main" id="{B15788D5-8154-0220-0ADD-B84E221B0B6F}"/>
                </a:ext>
              </a:extLst>
            </p:cNvPr>
            <p:cNvSpPr>
              <a:spLocks noGrp="1"/>
            </p:cNvSpPr>
            <p:nvPr/>
          </p:nvSpPr>
          <p:spPr>
            <a:xfrm>
              <a:off x="8167826" y="6343650"/>
              <a:ext cx="19050" cy="19050"/>
            </a:xfrm>
            <a:prstGeom prst="ellipse">
              <a:avLst/>
            </a:prstGeom>
            <a:solidFill>
              <a:srgbClr val="71808C"/>
            </a:solidFill>
            <a:ln w="0">
              <a:noFill/>
            </a:ln>
          </p:spPr>
        </p:sp>
        <p:sp>
          <p:nvSpPr>
            <p:cNvPr id="1323" name="SMILES continuation 818-667">
              <a:extLst>
                <a:ext uri="{FF2B5EF4-FFF2-40B4-BE49-F238E27FC236}">
                  <a16:creationId xmlns:a16="http://schemas.microsoft.com/office/drawing/2014/main" id="{06FB727B-1C36-BDAC-BF90-119F79F57919}"/>
                </a:ext>
              </a:extLst>
            </p:cNvPr>
            <p:cNvSpPr>
              <a:spLocks noGrp="1"/>
            </p:cNvSpPr>
            <p:nvPr/>
          </p:nvSpPr>
          <p:spPr>
            <a:xfrm>
              <a:off x="8224976" y="6343650"/>
              <a:ext cx="19050" cy="19050"/>
            </a:xfrm>
            <a:prstGeom prst="ellipse">
              <a:avLst/>
            </a:prstGeom>
            <a:solidFill>
              <a:srgbClr val="71808C"/>
            </a:solidFill>
            <a:ln w="0">
              <a:noFill/>
            </a:ln>
          </p:spPr>
        </p:sp>
        <p:sp>
          <p:nvSpPr>
            <p:cNvPr id="1324" name="Find density input">
              <a:extLst>
                <a:ext uri="{FF2B5EF4-FFF2-40B4-BE49-F238E27FC236}">
                  <a16:creationId xmlns:a16="http://schemas.microsoft.com/office/drawing/2014/main" id="{3BB3F16C-BBC6-CEA5-1D5F-BADEC13D0E07}"/>
                </a:ext>
              </a:extLst>
            </p:cNvPr>
            <p:cNvSpPr>
              <a:spLocks noGrp="1"/>
            </p:cNvSpPr>
            <p:nvPr/>
          </p:nvSpPr>
          <p:spPr>
            <a:xfrm flipV="1">
              <a:off x="2405391" y="1410958"/>
              <a:ext cx="692378" cy="107521"/>
            </a:xfrm>
            <a:custGeom>
              <a:avLst/>
              <a:gdLst/>
              <a:ahLst/>
              <a:cxnLst/>
              <a:rect l="0" t="0" r="0" b="0"/>
              <a:pathLst>
                <a:path w="125540" h="191">
                  <a:moveTo>
                    <a:pt x="0" y="0"/>
                  </a:moveTo>
                  <a:lnTo>
                    <a:pt x="125540" y="0"/>
                  </a:lnTo>
                </a:path>
              </a:pathLst>
            </a:custGeom>
            <a:noFill/>
            <a:ln w="8505">
              <a:solidFill>
                <a:srgbClr val="77828C"/>
              </a:solidFill>
              <a:prstDash val="solid"/>
            </a:ln>
          </p:spPr>
        </p:sp>
        <p:sp>
          <p:nvSpPr>
            <p:cNvPr id="1325" name="Find density input head">
              <a:extLst>
                <a:ext uri="{FF2B5EF4-FFF2-40B4-BE49-F238E27FC236}">
                  <a16:creationId xmlns:a16="http://schemas.microsoft.com/office/drawing/2014/main" id="{DD01582E-D72F-DC2A-ED51-209065AB4BE2}"/>
                </a:ext>
              </a:extLst>
            </p:cNvPr>
            <p:cNvSpPr>
              <a:spLocks noGrp="1"/>
            </p:cNvSpPr>
            <p:nvPr/>
          </p:nvSpPr>
          <p:spPr>
            <a:xfrm>
              <a:off x="3052858" y="1489808"/>
              <a:ext cx="66676" cy="57339"/>
            </a:xfrm>
            <a:custGeom>
              <a:avLst/>
              <a:gdLst/>
              <a:ahLst/>
              <a:cxnLst/>
              <a:rect l="0" t="0" r="0" b="0"/>
              <a:pathLst>
                <a:path w="66675" h="57340">
                  <a:moveTo>
                    <a:pt x="66675" y="28670"/>
                  </a:moveTo>
                  <a:lnTo>
                    <a:pt x="0" y="0"/>
                  </a:lnTo>
                  <a:lnTo>
                    <a:pt x="0" y="57340"/>
                  </a:lnTo>
                  <a:close/>
                </a:path>
              </a:pathLst>
            </a:custGeom>
            <a:solidFill>
              <a:srgbClr val="77828C"/>
            </a:solidFill>
            <a:ln w="0">
              <a:noFill/>
              <a:prstDash val="solid"/>
            </a:ln>
          </p:spPr>
        </p:sp>
        <p:sp>
          <p:nvSpPr>
            <p:cNvPr id="1328" name="Find receptor input">
              <a:extLst>
                <a:ext uri="{FF2B5EF4-FFF2-40B4-BE49-F238E27FC236}">
                  <a16:creationId xmlns:a16="http://schemas.microsoft.com/office/drawing/2014/main" id="{8835B13D-A150-D32A-EA5F-DF6B94803636}"/>
                </a:ext>
              </a:extLst>
            </p:cNvPr>
            <p:cNvSpPr>
              <a:spLocks noGrp="1"/>
            </p:cNvSpPr>
            <p:nvPr/>
          </p:nvSpPr>
          <p:spPr>
            <a:xfrm>
              <a:off x="2405391" y="3260557"/>
              <a:ext cx="692378" cy="107521"/>
            </a:xfrm>
            <a:custGeom>
              <a:avLst/>
              <a:gdLst/>
              <a:ahLst/>
              <a:cxnLst/>
              <a:rect l="0" t="0" r="0" b="0"/>
              <a:pathLst>
                <a:path w="125540" h="191">
                  <a:moveTo>
                    <a:pt x="0" y="0"/>
                  </a:moveTo>
                  <a:lnTo>
                    <a:pt x="125540" y="0"/>
                  </a:lnTo>
                </a:path>
              </a:pathLst>
            </a:custGeom>
            <a:solidFill>
              <a:srgbClr val="77828C"/>
            </a:solidFill>
            <a:ln w="8505">
              <a:solidFill>
                <a:srgbClr val="77828C"/>
              </a:solidFill>
              <a:prstDash val="solid"/>
            </a:ln>
          </p:spPr>
        </p:sp>
        <p:sp>
          <p:nvSpPr>
            <p:cNvPr id="1329" name="Find receptor input head">
              <a:extLst>
                <a:ext uri="{FF2B5EF4-FFF2-40B4-BE49-F238E27FC236}">
                  <a16:creationId xmlns:a16="http://schemas.microsoft.com/office/drawing/2014/main" id="{A5463DF5-F357-C133-4537-3687854104BD}"/>
                </a:ext>
              </a:extLst>
            </p:cNvPr>
            <p:cNvSpPr>
              <a:spLocks noGrp="1"/>
            </p:cNvSpPr>
            <p:nvPr/>
          </p:nvSpPr>
          <p:spPr>
            <a:xfrm>
              <a:off x="3052858" y="3231886"/>
              <a:ext cx="66676" cy="57339"/>
            </a:xfrm>
            <a:custGeom>
              <a:avLst/>
              <a:gdLst/>
              <a:ahLst/>
              <a:cxnLst/>
              <a:rect l="0" t="0" r="0" b="0"/>
              <a:pathLst>
                <a:path w="66675" h="57340">
                  <a:moveTo>
                    <a:pt x="66675" y="28670"/>
                  </a:moveTo>
                  <a:lnTo>
                    <a:pt x="0" y="0"/>
                  </a:lnTo>
                  <a:lnTo>
                    <a:pt x="0" y="57340"/>
                  </a:lnTo>
                  <a:close/>
                </a:path>
              </a:pathLst>
            </a:custGeom>
            <a:solidFill>
              <a:srgbClr val="77828C"/>
            </a:solidFill>
            <a:ln w="0">
              <a:noFill/>
              <a:prstDash val="solid"/>
            </a:ln>
          </p:spPr>
        </p:sp>
        <p:sp>
          <p:nvSpPr>
            <p:cNvPr id="1332" name="Find voxel output">
              <a:extLst>
                <a:ext uri="{FF2B5EF4-FFF2-40B4-BE49-F238E27FC236}">
                  <a16:creationId xmlns:a16="http://schemas.microsoft.com/office/drawing/2014/main" id="{A7A050F5-4BBD-83D0-3E56-868138C02A2E}"/>
                </a:ext>
              </a:extLst>
            </p:cNvPr>
            <p:cNvSpPr>
              <a:spLocks noGrp="1"/>
            </p:cNvSpPr>
            <p:nvPr/>
          </p:nvSpPr>
          <p:spPr>
            <a:xfrm>
              <a:off x="9680238" y="1544003"/>
              <a:ext cx="409314" cy="191"/>
            </a:xfrm>
            <a:custGeom>
              <a:avLst/>
              <a:gdLst/>
              <a:ahLst/>
              <a:cxnLst/>
              <a:rect l="0" t="0" r="0" b="0"/>
              <a:pathLst>
                <a:path w="252508" h="191">
                  <a:moveTo>
                    <a:pt x="0" y="0"/>
                  </a:moveTo>
                  <a:lnTo>
                    <a:pt x="252508" y="0"/>
                  </a:lnTo>
                </a:path>
              </a:pathLst>
            </a:custGeom>
            <a:noFill/>
            <a:ln w="8505">
              <a:solidFill>
                <a:srgbClr val="77828C"/>
              </a:solidFill>
              <a:prstDash val="solid"/>
            </a:ln>
          </p:spPr>
        </p:sp>
        <p:sp>
          <p:nvSpPr>
            <p:cNvPr id="1333" name="Find voxel output head">
              <a:extLst>
                <a:ext uri="{FF2B5EF4-FFF2-40B4-BE49-F238E27FC236}">
                  <a16:creationId xmlns:a16="http://schemas.microsoft.com/office/drawing/2014/main" id="{375132D2-B1BA-3819-E6E4-408E45D3577A}"/>
                </a:ext>
              </a:extLst>
            </p:cNvPr>
            <p:cNvSpPr>
              <a:spLocks noGrp="1"/>
            </p:cNvSpPr>
            <p:nvPr/>
          </p:nvSpPr>
          <p:spPr>
            <a:xfrm>
              <a:off x="10046213" y="1515332"/>
              <a:ext cx="66675" cy="57340"/>
            </a:xfrm>
            <a:custGeom>
              <a:avLst/>
              <a:gdLst/>
              <a:ahLst/>
              <a:cxnLst/>
              <a:rect l="0" t="0" r="0" b="0"/>
              <a:pathLst>
                <a:path w="66675" h="57340">
                  <a:moveTo>
                    <a:pt x="66675" y="28670"/>
                  </a:moveTo>
                  <a:lnTo>
                    <a:pt x="0" y="0"/>
                  </a:lnTo>
                  <a:lnTo>
                    <a:pt x="0" y="57340"/>
                  </a:lnTo>
                  <a:close/>
                </a:path>
              </a:pathLst>
            </a:custGeom>
            <a:solidFill>
              <a:srgbClr val="77828C"/>
            </a:solidFill>
            <a:ln w="0">
              <a:noFill/>
              <a:prstDash val="solid"/>
            </a:ln>
          </p:spPr>
        </p:sp>
        <p:sp>
          <p:nvSpPr>
            <p:cNvPr id="1334" name="Find point output">
              <a:extLst>
                <a:ext uri="{FF2B5EF4-FFF2-40B4-BE49-F238E27FC236}">
                  <a16:creationId xmlns:a16="http://schemas.microsoft.com/office/drawing/2014/main" id="{E2AB92F8-FB1A-DF4D-C056-6A909BEA2DE1}"/>
                </a:ext>
              </a:extLst>
            </p:cNvPr>
            <p:cNvSpPr>
              <a:spLocks noGrp="1"/>
            </p:cNvSpPr>
            <p:nvPr/>
          </p:nvSpPr>
          <p:spPr>
            <a:xfrm>
              <a:off x="9680238" y="3107055"/>
              <a:ext cx="409314" cy="191"/>
            </a:xfrm>
            <a:custGeom>
              <a:avLst/>
              <a:gdLst/>
              <a:ahLst/>
              <a:cxnLst/>
              <a:rect l="0" t="0" r="0" b="0"/>
              <a:pathLst>
                <a:path w="252508" h="191">
                  <a:moveTo>
                    <a:pt x="0" y="0"/>
                  </a:moveTo>
                  <a:lnTo>
                    <a:pt x="252508" y="0"/>
                  </a:lnTo>
                </a:path>
              </a:pathLst>
            </a:custGeom>
            <a:noFill/>
            <a:ln w="8505">
              <a:solidFill>
                <a:srgbClr val="77828C"/>
              </a:solidFill>
              <a:prstDash val="solid"/>
            </a:ln>
          </p:spPr>
        </p:sp>
        <p:sp>
          <p:nvSpPr>
            <p:cNvPr id="1335" name="Find point output head">
              <a:extLst>
                <a:ext uri="{FF2B5EF4-FFF2-40B4-BE49-F238E27FC236}">
                  <a16:creationId xmlns:a16="http://schemas.microsoft.com/office/drawing/2014/main" id="{28B06725-C3FB-3373-8A56-A66D9CE3ECA7}"/>
                </a:ext>
              </a:extLst>
            </p:cNvPr>
            <p:cNvSpPr>
              <a:spLocks noGrp="1"/>
            </p:cNvSpPr>
            <p:nvPr/>
          </p:nvSpPr>
          <p:spPr>
            <a:xfrm>
              <a:off x="10046213" y="3078385"/>
              <a:ext cx="66675" cy="57340"/>
            </a:xfrm>
            <a:custGeom>
              <a:avLst/>
              <a:gdLst/>
              <a:ahLst/>
              <a:cxnLst/>
              <a:rect l="0" t="0" r="0" b="0"/>
              <a:pathLst>
                <a:path w="66675" h="57340">
                  <a:moveTo>
                    <a:pt x="66675" y="28670"/>
                  </a:moveTo>
                  <a:lnTo>
                    <a:pt x="0" y="0"/>
                  </a:lnTo>
                  <a:lnTo>
                    <a:pt x="0" y="57340"/>
                  </a:lnTo>
                  <a:close/>
                </a:path>
              </a:pathLst>
            </a:custGeom>
            <a:solidFill>
              <a:srgbClr val="77828C"/>
            </a:solidFill>
            <a:ln w="0">
              <a:noFill/>
              <a:prstDash val="solid"/>
            </a:ln>
          </p:spPr>
        </p:sp>
        <p:sp>
          <p:nvSpPr>
            <p:cNvPr id="1336" name="U-Net flow refined 1">
              <a:extLst>
                <a:ext uri="{FF2B5EF4-FFF2-40B4-BE49-F238E27FC236}">
                  <a16:creationId xmlns:a16="http://schemas.microsoft.com/office/drawing/2014/main" id="{5BDE2ECB-1CBA-ACB1-3426-F3E9F144A8A7}"/>
                </a:ext>
              </a:extLst>
            </p:cNvPr>
            <p:cNvSpPr>
              <a:spLocks noGrp="1"/>
            </p:cNvSpPr>
            <p:nvPr/>
          </p:nvSpPr>
          <p:spPr>
            <a:xfrm>
              <a:off x="5329408" y="1943100"/>
              <a:ext cx="71390" cy="191"/>
            </a:xfrm>
            <a:custGeom>
              <a:avLst/>
              <a:gdLst/>
              <a:ahLst/>
              <a:cxnLst/>
              <a:rect l="0" t="0" r="0" b="0"/>
              <a:pathLst>
                <a:path w="71390" h="191">
                  <a:moveTo>
                    <a:pt x="0" y="0"/>
                  </a:moveTo>
                  <a:lnTo>
                    <a:pt x="71390" y="0"/>
                  </a:lnTo>
                </a:path>
              </a:pathLst>
            </a:custGeom>
            <a:noFill/>
            <a:ln w="6480">
              <a:solidFill>
                <a:srgbClr val="77828C"/>
              </a:solidFill>
              <a:prstDash val="solid"/>
            </a:ln>
          </p:spPr>
        </p:sp>
        <p:sp>
          <p:nvSpPr>
            <p:cNvPr id="1337" name="U-Net flow refined 1 head">
              <a:extLst>
                <a:ext uri="{FF2B5EF4-FFF2-40B4-BE49-F238E27FC236}">
                  <a16:creationId xmlns:a16="http://schemas.microsoft.com/office/drawing/2014/main" id="{94C963B0-6292-D96E-8000-E5176CACF1B1}"/>
                </a:ext>
              </a:extLst>
            </p:cNvPr>
            <p:cNvSpPr>
              <a:spLocks noGrp="1"/>
            </p:cNvSpPr>
            <p:nvPr/>
          </p:nvSpPr>
          <p:spPr>
            <a:xfrm>
              <a:off x="5374176" y="1925488"/>
              <a:ext cx="40957" cy="35223"/>
            </a:xfrm>
            <a:custGeom>
              <a:avLst/>
              <a:gdLst/>
              <a:ahLst/>
              <a:cxnLst/>
              <a:rect l="0" t="0" r="0" b="0"/>
              <a:pathLst>
                <a:path w="40957" h="35223">
                  <a:moveTo>
                    <a:pt x="40957" y="17612"/>
                  </a:moveTo>
                  <a:lnTo>
                    <a:pt x="0" y="0"/>
                  </a:lnTo>
                  <a:lnTo>
                    <a:pt x="0" y="35223"/>
                  </a:lnTo>
                  <a:close/>
                </a:path>
              </a:pathLst>
            </a:custGeom>
            <a:solidFill>
              <a:srgbClr val="77828C"/>
            </a:solidFill>
            <a:ln w="0">
              <a:noFill/>
              <a:prstDash val="solid"/>
            </a:ln>
          </p:spPr>
        </p:sp>
        <p:sp>
          <p:nvSpPr>
            <p:cNvPr id="1338" name="U-Net flow refined 2">
              <a:extLst>
                <a:ext uri="{FF2B5EF4-FFF2-40B4-BE49-F238E27FC236}">
                  <a16:creationId xmlns:a16="http://schemas.microsoft.com/office/drawing/2014/main" id="{6EDFECDB-834F-45E8-C447-187E68499D36}"/>
                </a:ext>
              </a:extLst>
            </p:cNvPr>
            <p:cNvSpPr>
              <a:spLocks noGrp="1"/>
            </p:cNvSpPr>
            <p:nvPr/>
          </p:nvSpPr>
          <p:spPr>
            <a:xfrm>
              <a:off x="5786608" y="1943100"/>
              <a:ext cx="61865" cy="191"/>
            </a:xfrm>
            <a:custGeom>
              <a:avLst/>
              <a:gdLst/>
              <a:ahLst/>
              <a:cxnLst/>
              <a:rect l="0" t="0" r="0" b="0"/>
              <a:pathLst>
                <a:path w="61865" h="191">
                  <a:moveTo>
                    <a:pt x="0" y="0"/>
                  </a:moveTo>
                  <a:lnTo>
                    <a:pt x="61865" y="0"/>
                  </a:lnTo>
                </a:path>
              </a:pathLst>
            </a:custGeom>
            <a:noFill/>
            <a:ln w="6480">
              <a:solidFill>
                <a:srgbClr val="77828C"/>
              </a:solidFill>
              <a:prstDash val="solid"/>
            </a:ln>
          </p:spPr>
        </p:sp>
        <p:sp>
          <p:nvSpPr>
            <p:cNvPr id="1339" name="U-Net flow refined 2 head">
              <a:extLst>
                <a:ext uri="{FF2B5EF4-FFF2-40B4-BE49-F238E27FC236}">
                  <a16:creationId xmlns:a16="http://schemas.microsoft.com/office/drawing/2014/main" id="{147D1FA6-05BE-3A5D-C1FE-78DB516DA9EB}"/>
                </a:ext>
              </a:extLst>
            </p:cNvPr>
            <p:cNvSpPr>
              <a:spLocks noGrp="1"/>
            </p:cNvSpPr>
            <p:nvPr/>
          </p:nvSpPr>
          <p:spPr>
            <a:xfrm>
              <a:off x="5821851" y="1925488"/>
              <a:ext cx="40957" cy="35223"/>
            </a:xfrm>
            <a:custGeom>
              <a:avLst/>
              <a:gdLst/>
              <a:ahLst/>
              <a:cxnLst/>
              <a:rect l="0" t="0" r="0" b="0"/>
              <a:pathLst>
                <a:path w="40957" h="35223">
                  <a:moveTo>
                    <a:pt x="40957" y="17612"/>
                  </a:moveTo>
                  <a:lnTo>
                    <a:pt x="0" y="0"/>
                  </a:lnTo>
                  <a:lnTo>
                    <a:pt x="0" y="35223"/>
                  </a:lnTo>
                  <a:close/>
                </a:path>
              </a:pathLst>
            </a:custGeom>
            <a:solidFill>
              <a:srgbClr val="77828C"/>
            </a:solidFill>
            <a:ln w="0">
              <a:noFill/>
              <a:prstDash val="solid"/>
            </a:ln>
          </p:spPr>
        </p:sp>
        <p:sp>
          <p:nvSpPr>
            <p:cNvPr id="1340" name="U-Net flow refined 3">
              <a:extLst>
                <a:ext uri="{FF2B5EF4-FFF2-40B4-BE49-F238E27FC236}">
                  <a16:creationId xmlns:a16="http://schemas.microsoft.com/office/drawing/2014/main" id="{7AF7CF23-54DF-A29D-2F07-D36A3F45EDD2}"/>
                </a:ext>
              </a:extLst>
            </p:cNvPr>
            <p:cNvSpPr>
              <a:spLocks noGrp="1"/>
            </p:cNvSpPr>
            <p:nvPr/>
          </p:nvSpPr>
          <p:spPr>
            <a:xfrm>
              <a:off x="6358108" y="1943100"/>
              <a:ext cx="185690" cy="191"/>
            </a:xfrm>
            <a:custGeom>
              <a:avLst/>
              <a:gdLst/>
              <a:ahLst/>
              <a:cxnLst/>
              <a:rect l="0" t="0" r="0" b="0"/>
              <a:pathLst>
                <a:path w="185690" h="191">
                  <a:moveTo>
                    <a:pt x="0" y="0"/>
                  </a:moveTo>
                  <a:lnTo>
                    <a:pt x="185690" y="0"/>
                  </a:lnTo>
                </a:path>
              </a:pathLst>
            </a:custGeom>
            <a:noFill/>
            <a:ln w="6480">
              <a:solidFill>
                <a:srgbClr val="77828C"/>
              </a:solidFill>
              <a:prstDash val="solid"/>
            </a:ln>
          </p:spPr>
        </p:sp>
        <p:sp>
          <p:nvSpPr>
            <p:cNvPr id="1341" name="U-Net flow refined 3 head">
              <a:extLst>
                <a:ext uri="{FF2B5EF4-FFF2-40B4-BE49-F238E27FC236}">
                  <a16:creationId xmlns:a16="http://schemas.microsoft.com/office/drawing/2014/main" id="{99F4C0B1-883D-15E1-DE1D-B9D0B602A47D}"/>
                </a:ext>
              </a:extLst>
            </p:cNvPr>
            <p:cNvSpPr>
              <a:spLocks noGrp="1"/>
            </p:cNvSpPr>
            <p:nvPr/>
          </p:nvSpPr>
          <p:spPr>
            <a:xfrm>
              <a:off x="6517176" y="1925488"/>
              <a:ext cx="40957" cy="35223"/>
            </a:xfrm>
            <a:custGeom>
              <a:avLst/>
              <a:gdLst/>
              <a:ahLst/>
              <a:cxnLst/>
              <a:rect l="0" t="0" r="0" b="0"/>
              <a:pathLst>
                <a:path w="40957" h="35223">
                  <a:moveTo>
                    <a:pt x="40957" y="17612"/>
                  </a:moveTo>
                  <a:lnTo>
                    <a:pt x="0" y="0"/>
                  </a:lnTo>
                  <a:lnTo>
                    <a:pt x="0" y="35223"/>
                  </a:lnTo>
                  <a:close/>
                </a:path>
              </a:pathLst>
            </a:custGeom>
            <a:solidFill>
              <a:srgbClr val="77828C"/>
            </a:solidFill>
            <a:ln w="0">
              <a:noFill/>
              <a:prstDash val="solid"/>
            </a:ln>
          </p:spPr>
        </p:sp>
        <p:sp>
          <p:nvSpPr>
            <p:cNvPr id="1342" name="U-Net flow refined 4">
              <a:extLst>
                <a:ext uri="{FF2B5EF4-FFF2-40B4-BE49-F238E27FC236}">
                  <a16:creationId xmlns:a16="http://schemas.microsoft.com/office/drawing/2014/main" id="{1AB9AC41-CF99-6B25-72AE-CA5759E07BBC}"/>
                </a:ext>
              </a:extLst>
            </p:cNvPr>
            <p:cNvSpPr>
              <a:spLocks noGrp="1"/>
            </p:cNvSpPr>
            <p:nvPr/>
          </p:nvSpPr>
          <p:spPr>
            <a:xfrm>
              <a:off x="7634458" y="1943100"/>
              <a:ext cx="204740" cy="191"/>
            </a:xfrm>
            <a:custGeom>
              <a:avLst/>
              <a:gdLst/>
              <a:ahLst/>
              <a:cxnLst/>
              <a:rect l="0" t="0" r="0" b="0"/>
              <a:pathLst>
                <a:path w="204740" h="191">
                  <a:moveTo>
                    <a:pt x="0" y="0"/>
                  </a:moveTo>
                  <a:lnTo>
                    <a:pt x="204740" y="0"/>
                  </a:lnTo>
                </a:path>
              </a:pathLst>
            </a:custGeom>
            <a:noFill/>
            <a:ln w="6480">
              <a:solidFill>
                <a:srgbClr val="77828C"/>
              </a:solidFill>
              <a:prstDash val="solid"/>
            </a:ln>
          </p:spPr>
        </p:sp>
        <p:sp>
          <p:nvSpPr>
            <p:cNvPr id="1343" name="U-Net flow refined 4 head">
              <a:extLst>
                <a:ext uri="{FF2B5EF4-FFF2-40B4-BE49-F238E27FC236}">
                  <a16:creationId xmlns:a16="http://schemas.microsoft.com/office/drawing/2014/main" id="{8B74AF9E-166C-456E-8C30-81819473FD65}"/>
                </a:ext>
              </a:extLst>
            </p:cNvPr>
            <p:cNvSpPr>
              <a:spLocks noGrp="1"/>
            </p:cNvSpPr>
            <p:nvPr/>
          </p:nvSpPr>
          <p:spPr>
            <a:xfrm>
              <a:off x="7812576" y="1925488"/>
              <a:ext cx="40957" cy="35223"/>
            </a:xfrm>
            <a:custGeom>
              <a:avLst/>
              <a:gdLst/>
              <a:ahLst/>
              <a:cxnLst/>
              <a:rect l="0" t="0" r="0" b="0"/>
              <a:pathLst>
                <a:path w="40957" h="35223">
                  <a:moveTo>
                    <a:pt x="40957" y="17612"/>
                  </a:moveTo>
                  <a:lnTo>
                    <a:pt x="0" y="0"/>
                  </a:lnTo>
                  <a:lnTo>
                    <a:pt x="0" y="35223"/>
                  </a:lnTo>
                  <a:close/>
                </a:path>
              </a:pathLst>
            </a:custGeom>
            <a:solidFill>
              <a:srgbClr val="77828C"/>
            </a:solidFill>
            <a:ln w="0">
              <a:noFill/>
              <a:prstDash val="solid"/>
            </a:ln>
          </p:spPr>
        </p:sp>
        <p:sp>
          <p:nvSpPr>
            <p:cNvPr id="1344" name="U-Net flow refined 5">
              <a:extLst>
                <a:ext uri="{FF2B5EF4-FFF2-40B4-BE49-F238E27FC236}">
                  <a16:creationId xmlns:a16="http://schemas.microsoft.com/office/drawing/2014/main" id="{1DF9FEC8-127A-C6BF-A242-5459B8B47514}"/>
                </a:ext>
              </a:extLst>
            </p:cNvPr>
            <p:cNvSpPr>
              <a:spLocks noGrp="1"/>
            </p:cNvSpPr>
            <p:nvPr/>
          </p:nvSpPr>
          <p:spPr>
            <a:xfrm>
              <a:off x="8358358" y="1943100"/>
              <a:ext cx="71390" cy="191"/>
            </a:xfrm>
            <a:custGeom>
              <a:avLst/>
              <a:gdLst/>
              <a:ahLst/>
              <a:cxnLst/>
              <a:rect l="0" t="0" r="0" b="0"/>
              <a:pathLst>
                <a:path w="71390" h="191">
                  <a:moveTo>
                    <a:pt x="0" y="0"/>
                  </a:moveTo>
                  <a:lnTo>
                    <a:pt x="71390" y="0"/>
                  </a:lnTo>
                </a:path>
              </a:pathLst>
            </a:custGeom>
            <a:noFill/>
            <a:ln w="6480">
              <a:solidFill>
                <a:srgbClr val="77828C"/>
              </a:solidFill>
              <a:prstDash val="solid"/>
            </a:ln>
          </p:spPr>
        </p:sp>
        <p:sp>
          <p:nvSpPr>
            <p:cNvPr id="1345" name="U-Net flow refined 5 head">
              <a:extLst>
                <a:ext uri="{FF2B5EF4-FFF2-40B4-BE49-F238E27FC236}">
                  <a16:creationId xmlns:a16="http://schemas.microsoft.com/office/drawing/2014/main" id="{235A2EBC-75E8-8D72-4A9D-B691D888DD1B}"/>
                </a:ext>
              </a:extLst>
            </p:cNvPr>
            <p:cNvSpPr>
              <a:spLocks noGrp="1"/>
            </p:cNvSpPr>
            <p:nvPr/>
          </p:nvSpPr>
          <p:spPr>
            <a:xfrm>
              <a:off x="8403126" y="1925488"/>
              <a:ext cx="40957" cy="35223"/>
            </a:xfrm>
            <a:custGeom>
              <a:avLst/>
              <a:gdLst/>
              <a:ahLst/>
              <a:cxnLst/>
              <a:rect l="0" t="0" r="0" b="0"/>
              <a:pathLst>
                <a:path w="40957" h="35223">
                  <a:moveTo>
                    <a:pt x="40957" y="17612"/>
                  </a:moveTo>
                  <a:lnTo>
                    <a:pt x="0" y="0"/>
                  </a:lnTo>
                  <a:lnTo>
                    <a:pt x="0" y="35223"/>
                  </a:lnTo>
                  <a:close/>
                </a:path>
              </a:pathLst>
            </a:custGeom>
            <a:solidFill>
              <a:srgbClr val="77828C"/>
            </a:solidFill>
            <a:ln w="0">
              <a:noFill/>
              <a:prstDash val="solid"/>
            </a:ln>
          </p:spPr>
        </p:sp>
        <p:sp>
          <p:nvSpPr>
            <p:cNvPr id="1346" name="U-Net flow refined 6">
              <a:extLst>
                <a:ext uri="{FF2B5EF4-FFF2-40B4-BE49-F238E27FC236}">
                  <a16:creationId xmlns:a16="http://schemas.microsoft.com/office/drawing/2014/main" id="{E16F5364-FA67-8E77-55DD-31048ACFB369}"/>
                </a:ext>
              </a:extLst>
            </p:cNvPr>
            <p:cNvSpPr>
              <a:spLocks noGrp="1"/>
            </p:cNvSpPr>
            <p:nvPr/>
          </p:nvSpPr>
          <p:spPr>
            <a:xfrm>
              <a:off x="8796508" y="1943100"/>
              <a:ext cx="90440" cy="191"/>
            </a:xfrm>
            <a:custGeom>
              <a:avLst/>
              <a:gdLst/>
              <a:ahLst/>
              <a:cxnLst/>
              <a:rect l="0" t="0" r="0" b="0"/>
              <a:pathLst>
                <a:path w="90440" h="191">
                  <a:moveTo>
                    <a:pt x="0" y="0"/>
                  </a:moveTo>
                  <a:lnTo>
                    <a:pt x="90440" y="0"/>
                  </a:lnTo>
                </a:path>
              </a:pathLst>
            </a:custGeom>
            <a:noFill/>
            <a:ln w="6480">
              <a:solidFill>
                <a:srgbClr val="77828C"/>
              </a:solidFill>
              <a:prstDash val="solid"/>
            </a:ln>
          </p:spPr>
        </p:sp>
        <p:sp>
          <p:nvSpPr>
            <p:cNvPr id="1347" name="U-Net flow refined 6 head">
              <a:extLst>
                <a:ext uri="{FF2B5EF4-FFF2-40B4-BE49-F238E27FC236}">
                  <a16:creationId xmlns:a16="http://schemas.microsoft.com/office/drawing/2014/main" id="{CAB8405E-639F-441D-4076-97C5C8079141}"/>
                </a:ext>
              </a:extLst>
            </p:cNvPr>
            <p:cNvSpPr>
              <a:spLocks noGrp="1"/>
            </p:cNvSpPr>
            <p:nvPr/>
          </p:nvSpPr>
          <p:spPr>
            <a:xfrm>
              <a:off x="8860326" y="1925488"/>
              <a:ext cx="40957" cy="35223"/>
            </a:xfrm>
            <a:custGeom>
              <a:avLst/>
              <a:gdLst/>
              <a:ahLst/>
              <a:cxnLst/>
              <a:rect l="0" t="0" r="0" b="0"/>
              <a:pathLst>
                <a:path w="40957" h="35223">
                  <a:moveTo>
                    <a:pt x="40957" y="17612"/>
                  </a:moveTo>
                  <a:lnTo>
                    <a:pt x="0" y="0"/>
                  </a:lnTo>
                  <a:lnTo>
                    <a:pt x="0" y="35223"/>
                  </a:lnTo>
                  <a:close/>
                </a:path>
              </a:pathLst>
            </a:custGeom>
            <a:solidFill>
              <a:srgbClr val="77828C"/>
            </a:solidFill>
            <a:ln w="0">
              <a:noFill/>
              <a:prstDash val="solid"/>
            </a:ln>
          </p:spPr>
        </p:sp>
        <p:sp>
          <p:nvSpPr>
            <p:cNvPr id="1348" name="Skip outer refined">
              <a:extLst>
                <a:ext uri="{FF2B5EF4-FFF2-40B4-BE49-F238E27FC236}">
                  <a16:creationId xmlns:a16="http://schemas.microsoft.com/office/drawing/2014/main" id="{FCEC7BC5-9C91-5A2D-286F-54CED1B58658}"/>
                </a:ext>
              </a:extLst>
            </p:cNvPr>
            <p:cNvSpPr>
              <a:spLocks noGrp="1"/>
            </p:cNvSpPr>
            <p:nvPr/>
          </p:nvSpPr>
          <p:spPr>
            <a:xfrm>
              <a:off x="4919833" y="1209675"/>
              <a:ext cx="4333875" cy="219075"/>
            </a:xfrm>
            <a:custGeom>
              <a:avLst/>
              <a:gdLst/>
              <a:ahLst/>
              <a:cxnLst/>
              <a:rect l="0" t="0" r="0" b="0"/>
              <a:pathLst>
                <a:path w="4333875" h="219075">
                  <a:moveTo>
                    <a:pt x="0" y="219075"/>
                  </a:moveTo>
                  <a:lnTo>
                    <a:pt x="0" y="0"/>
                  </a:lnTo>
                  <a:lnTo>
                    <a:pt x="4333875" y="0"/>
                  </a:lnTo>
                  <a:lnTo>
                    <a:pt x="4333875" y="204073"/>
                  </a:lnTo>
                </a:path>
              </a:pathLst>
            </a:custGeom>
            <a:noFill/>
            <a:ln w="5468">
              <a:solidFill>
                <a:srgbClr val="A3ACB4"/>
              </a:solidFill>
              <a:prstDash val="dash"/>
            </a:ln>
          </p:spPr>
        </p:sp>
        <p:sp>
          <p:nvSpPr>
            <p:cNvPr id="1349" name="Skip outer refined head">
              <a:extLst>
                <a:ext uri="{FF2B5EF4-FFF2-40B4-BE49-F238E27FC236}">
                  <a16:creationId xmlns:a16="http://schemas.microsoft.com/office/drawing/2014/main" id="{D6AAD354-1253-F73A-1F09-0D42951F0AD2}"/>
                </a:ext>
              </a:extLst>
            </p:cNvPr>
            <p:cNvSpPr>
              <a:spLocks noGrp="1"/>
            </p:cNvSpPr>
            <p:nvPr/>
          </p:nvSpPr>
          <p:spPr>
            <a:xfrm>
              <a:off x="9235277" y="1385888"/>
              <a:ext cx="36862" cy="42863"/>
            </a:xfrm>
            <a:custGeom>
              <a:avLst/>
              <a:gdLst/>
              <a:ahLst/>
              <a:cxnLst/>
              <a:rect l="0" t="0" r="0" b="0"/>
              <a:pathLst>
                <a:path w="36862" h="42863">
                  <a:moveTo>
                    <a:pt x="18431" y="42863"/>
                  </a:moveTo>
                  <a:lnTo>
                    <a:pt x="36862" y="0"/>
                  </a:lnTo>
                  <a:lnTo>
                    <a:pt x="0" y="0"/>
                  </a:lnTo>
                  <a:close/>
                </a:path>
              </a:pathLst>
            </a:custGeom>
            <a:solidFill>
              <a:srgbClr val="A3ACB4"/>
            </a:solidFill>
            <a:ln w="0">
              <a:noFill/>
              <a:prstDash val="solid"/>
            </a:ln>
          </p:spPr>
        </p:sp>
        <p:sp>
          <p:nvSpPr>
            <p:cNvPr id="1350" name="Skip middle refined">
              <a:extLst>
                <a:ext uri="{FF2B5EF4-FFF2-40B4-BE49-F238E27FC236}">
                  <a16:creationId xmlns:a16="http://schemas.microsoft.com/office/drawing/2014/main" id="{E944DD48-0E77-62B4-4E66-FC482D648DB0}"/>
                </a:ext>
              </a:extLst>
            </p:cNvPr>
            <p:cNvSpPr>
              <a:spLocks noGrp="1"/>
            </p:cNvSpPr>
            <p:nvPr/>
          </p:nvSpPr>
          <p:spPr>
            <a:xfrm>
              <a:off x="5558008" y="1295400"/>
              <a:ext cx="3067050" cy="266700"/>
            </a:xfrm>
            <a:custGeom>
              <a:avLst/>
              <a:gdLst/>
              <a:ahLst/>
              <a:cxnLst/>
              <a:rect l="0" t="0" r="0" b="0"/>
              <a:pathLst>
                <a:path w="3067050" h="266700">
                  <a:moveTo>
                    <a:pt x="0" y="266700"/>
                  </a:moveTo>
                  <a:lnTo>
                    <a:pt x="0" y="0"/>
                  </a:lnTo>
                  <a:lnTo>
                    <a:pt x="3067050" y="0"/>
                  </a:lnTo>
                  <a:lnTo>
                    <a:pt x="3067050" y="251698"/>
                  </a:lnTo>
                </a:path>
              </a:pathLst>
            </a:custGeom>
            <a:noFill/>
            <a:ln w="5468">
              <a:solidFill>
                <a:srgbClr val="A3ACB4"/>
              </a:solidFill>
              <a:prstDash val="dash"/>
            </a:ln>
          </p:spPr>
        </p:sp>
        <p:sp>
          <p:nvSpPr>
            <p:cNvPr id="1351" name="Skip middle refined head">
              <a:extLst>
                <a:ext uri="{FF2B5EF4-FFF2-40B4-BE49-F238E27FC236}">
                  <a16:creationId xmlns:a16="http://schemas.microsoft.com/office/drawing/2014/main" id="{5D984C66-44F4-6C0C-29FA-C26BCC014DA5}"/>
                </a:ext>
              </a:extLst>
            </p:cNvPr>
            <p:cNvSpPr>
              <a:spLocks noGrp="1"/>
            </p:cNvSpPr>
            <p:nvPr/>
          </p:nvSpPr>
          <p:spPr>
            <a:xfrm>
              <a:off x="8606627" y="1519238"/>
              <a:ext cx="36862" cy="42863"/>
            </a:xfrm>
            <a:custGeom>
              <a:avLst/>
              <a:gdLst/>
              <a:ahLst/>
              <a:cxnLst/>
              <a:rect l="0" t="0" r="0" b="0"/>
              <a:pathLst>
                <a:path w="36862" h="42863">
                  <a:moveTo>
                    <a:pt x="18431" y="42863"/>
                  </a:moveTo>
                  <a:lnTo>
                    <a:pt x="36862" y="0"/>
                  </a:lnTo>
                  <a:lnTo>
                    <a:pt x="0" y="0"/>
                  </a:lnTo>
                  <a:close/>
                </a:path>
              </a:pathLst>
            </a:custGeom>
            <a:solidFill>
              <a:srgbClr val="A3ACB4"/>
            </a:solidFill>
            <a:ln w="0">
              <a:noFill/>
              <a:prstDash val="solid"/>
            </a:ln>
          </p:spPr>
        </p:sp>
        <p:sp>
          <p:nvSpPr>
            <p:cNvPr id="1352" name="Skip inner refined">
              <a:extLst>
                <a:ext uri="{FF2B5EF4-FFF2-40B4-BE49-F238E27FC236}">
                  <a16:creationId xmlns:a16="http://schemas.microsoft.com/office/drawing/2014/main" id="{796339B7-CA5C-9A6F-F626-7D7B76227D0E}"/>
                </a:ext>
              </a:extLst>
            </p:cNvPr>
            <p:cNvSpPr>
              <a:spLocks noGrp="1"/>
            </p:cNvSpPr>
            <p:nvPr/>
          </p:nvSpPr>
          <p:spPr>
            <a:xfrm>
              <a:off x="6081883" y="1381125"/>
              <a:ext cx="2000250" cy="323850"/>
            </a:xfrm>
            <a:custGeom>
              <a:avLst/>
              <a:gdLst/>
              <a:ahLst/>
              <a:cxnLst/>
              <a:rect l="0" t="0" r="0" b="0"/>
              <a:pathLst>
                <a:path w="2000250" h="323850">
                  <a:moveTo>
                    <a:pt x="0" y="323850"/>
                  </a:moveTo>
                  <a:lnTo>
                    <a:pt x="0" y="0"/>
                  </a:lnTo>
                  <a:lnTo>
                    <a:pt x="2000250" y="0"/>
                  </a:lnTo>
                  <a:lnTo>
                    <a:pt x="2000250" y="308848"/>
                  </a:lnTo>
                </a:path>
              </a:pathLst>
            </a:custGeom>
            <a:noFill/>
            <a:ln w="5468">
              <a:solidFill>
                <a:srgbClr val="A3ACB4"/>
              </a:solidFill>
              <a:prstDash val="dash"/>
            </a:ln>
          </p:spPr>
        </p:sp>
        <p:sp>
          <p:nvSpPr>
            <p:cNvPr id="1353" name="Skip inner refined head">
              <a:extLst>
                <a:ext uri="{FF2B5EF4-FFF2-40B4-BE49-F238E27FC236}">
                  <a16:creationId xmlns:a16="http://schemas.microsoft.com/office/drawing/2014/main" id="{5389494F-4196-1B0C-C069-F40391B0419B}"/>
                </a:ext>
              </a:extLst>
            </p:cNvPr>
            <p:cNvSpPr>
              <a:spLocks noGrp="1"/>
            </p:cNvSpPr>
            <p:nvPr/>
          </p:nvSpPr>
          <p:spPr>
            <a:xfrm>
              <a:off x="8063702" y="1662113"/>
              <a:ext cx="36862" cy="42863"/>
            </a:xfrm>
            <a:custGeom>
              <a:avLst/>
              <a:gdLst/>
              <a:ahLst/>
              <a:cxnLst/>
              <a:rect l="0" t="0" r="0" b="0"/>
              <a:pathLst>
                <a:path w="36862" h="42863">
                  <a:moveTo>
                    <a:pt x="18431" y="42863"/>
                  </a:moveTo>
                  <a:lnTo>
                    <a:pt x="36862" y="0"/>
                  </a:lnTo>
                  <a:lnTo>
                    <a:pt x="0" y="0"/>
                  </a:lnTo>
                  <a:close/>
                </a:path>
              </a:pathLst>
            </a:custGeom>
            <a:solidFill>
              <a:srgbClr val="A3ACB4"/>
            </a:solidFill>
            <a:ln w="0">
              <a:noFill/>
              <a:prstDash val="solid"/>
            </a:ln>
          </p:spPr>
        </p:sp>
        <p:sp>
          <p:nvSpPr>
            <p:cNvPr id="1354" name="PTV3 forward refined 1">
              <a:extLst>
                <a:ext uri="{FF2B5EF4-FFF2-40B4-BE49-F238E27FC236}">
                  <a16:creationId xmlns:a16="http://schemas.microsoft.com/office/drawing/2014/main" id="{B0492619-D665-D0F6-7061-EDCBCE3DDA3A}"/>
                </a:ext>
              </a:extLst>
            </p:cNvPr>
            <p:cNvSpPr>
              <a:spLocks noGrp="1"/>
            </p:cNvSpPr>
            <p:nvPr/>
          </p:nvSpPr>
          <p:spPr>
            <a:xfrm>
              <a:off x="5447899" y="3106769"/>
              <a:ext cx="255746" cy="191"/>
            </a:xfrm>
            <a:custGeom>
              <a:avLst/>
              <a:gdLst/>
              <a:ahLst/>
              <a:cxnLst/>
              <a:rect l="0" t="0" r="0" b="0"/>
              <a:pathLst>
                <a:path w="255746" h="191">
                  <a:moveTo>
                    <a:pt x="0" y="0"/>
                  </a:moveTo>
                  <a:lnTo>
                    <a:pt x="255746" y="0"/>
                  </a:lnTo>
                </a:path>
              </a:pathLst>
            </a:custGeom>
            <a:noFill/>
            <a:ln w="8505">
              <a:solidFill>
                <a:srgbClr val="77828C"/>
              </a:solidFill>
              <a:prstDash val="solid"/>
            </a:ln>
          </p:spPr>
        </p:sp>
        <p:sp>
          <p:nvSpPr>
            <p:cNvPr id="1355" name="PTV3 forward refined 1 head">
              <a:extLst>
                <a:ext uri="{FF2B5EF4-FFF2-40B4-BE49-F238E27FC236}">
                  <a16:creationId xmlns:a16="http://schemas.microsoft.com/office/drawing/2014/main" id="{B7BCE76F-C831-1ABC-ADA2-90D7588CB987}"/>
                </a:ext>
              </a:extLst>
            </p:cNvPr>
            <p:cNvSpPr>
              <a:spLocks noGrp="1"/>
            </p:cNvSpPr>
            <p:nvPr/>
          </p:nvSpPr>
          <p:spPr>
            <a:xfrm>
              <a:off x="5660307" y="3078099"/>
              <a:ext cx="66675" cy="57340"/>
            </a:xfrm>
            <a:custGeom>
              <a:avLst/>
              <a:gdLst/>
              <a:ahLst/>
              <a:cxnLst/>
              <a:rect l="0" t="0" r="0" b="0"/>
              <a:pathLst>
                <a:path w="66675" h="57340">
                  <a:moveTo>
                    <a:pt x="66675" y="28670"/>
                  </a:moveTo>
                  <a:lnTo>
                    <a:pt x="0" y="0"/>
                  </a:lnTo>
                  <a:lnTo>
                    <a:pt x="0" y="57340"/>
                  </a:lnTo>
                  <a:close/>
                </a:path>
              </a:pathLst>
            </a:custGeom>
            <a:solidFill>
              <a:srgbClr val="77828C"/>
            </a:solidFill>
            <a:ln w="0">
              <a:solidFill>
                <a:srgbClr val="77828C"/>
              </a:solidFill>
              <a:prstDash val="solid"/>
            </a:ln>
          </p:spPr>
        </p:sp>
        <p:sp>
          <p:nvSpPr>
            <p:cNvPr id="1356" name="PTV3 forward refined 2">
              <a:extLst>
                <a:ext uri="{FF2B5EF4-FFF2-40B4-BE49-F238E27FC236}">
                  <a16:creationId xmlns:a16="http://schemas.microsoft.com/office/drawing/2014/main" id="{24AE15E3-3B2D-CC4A-618E-E9BB13DA2E16}"/>
                </a:ext>
              </a:extLst>
            </p:cNvPr>
            <p:cNvSpPr>
              <a:spLocks noGrp="1"/>
            </p:cNvSpPr>
            <p:nvPr/>
          </p:nvSpPr>
          <p:spPr>
            <a:xfrm>
              <a:off x="6452501" y="3106769"/>
              <a:ext cx="311563" cy="191"/>
            </a:xfrm>
            <a:custGeom>
              <a:avLst/>
              <a:gdLst/>
              <a:ahLst/>
              <a:cxnLst/>
              <a:rect l="0" t="0" r="0" b="0"/>
              <a:pathLst>
                <a:path w="311563" h="191">
                  <a:moveTo>
                    <a:pt x="0" y="0"/>
                  </a:moveTo>
                  <a:lnTo>
                    <a:pt x="311563" y="0"/>
                  </a:lnTo>
                </a:path>
              </a:pathLst>
            </a:custGeom>
            <a:noFill/>
            <a:ln w="8505">
              <a:solidFill>
                <a:srgbClr val="77828C"/>
              </a:solidFill>
              <a:prstDash val="solid"/>
            </a:ln>
          </p:spPr>
        </p:sp>
        <p:sp>
          <p:nvSpPr>
            <p:cNvPr id="1357" name="PTV3 forward refined 2 head">
              <a:extLst>
                <a:ext uri="{FF2B5EF4-FFF2-40B4-BE49-F238E27FC236}">
                  <a16:creationId xmlns:a16="http://schemas.microsoft.com/office/drawing/2014/main" id="{8007E90B-E49B-BC36-45F6-E1B46BA41A6C}"/>
                </a:ext>
              </a:extLst>
            </p:cNvPr>
            <p:cNvSpPr>
              <a:spLocks noGrp="1"/>
            </p:cNvSpPr>
            <p:nvPr/>
          </p:nvSpPr>
          <p:spPr>
            <a:xfrm>
              <a:off x="6720725" y="3078099"/>
              <a:ext cx="66675" cy="57340"/>
            </a:xfrm>
            <a:custGeom>
              <a:avLst/>
              <a:gdLst/>
              <a:ahLst/>
              <a:cxnLst/>
              <a:rect l="0" t="0" r="0" b="0"/>
              <a:pathLst>
                <a:path w="66675" h="57340">
                  <a:moveTo>
                    <a:pt x="66675" y="28670"/>
                  </a:moveTo>
                  <a:lnTo>
                    <a:pt x="0" y="0"/>
                  </a:lnTo>
                  <a:lnTo>
                    <a:pt x="0" y="57340"/>
                  </a:lnTo>
                  <a:close/>
                </a:path>
              </a:pathLst>
            </a:custGeom>
            <a:solidFill>
              <a:srgbClr val="77828C"/>
            </a:solidFill>
            <a:ln w="0">
              <a:noFill/>
              <a:prstDash val="solid"/>
            </a:ln>
          </p:spPr>
        </p:sp>
        <p:sp>
          <p:nvSpPr>
            <p:cNvPr id="1358" name="PTV3 forward refined 3">
              <a:extLst>
                <a:ext uri="{FF2B5EF4-FFF2-40B4-BE49-F238E27FC236}">
                  <a16:creationId xmlns:a16="http://schemas.microsoft.com/office/drawing/2014/main" id="{2D087525-2ABD-3A01-10DA-7F65FB2DD09A}"/>
                </a:ext>
              </a:extLst>
            </p:cNvPr>
            <p:cNvSpPr>
              <a:spLocks noGrp="1"/>
            </p:cNvSpPr>
            <p:nvPr/>
          </p:nvSpPr>
          <p:spPr>
            <a:xfrm>
              <a:off x="7438529" y="3106769"/>
              <a:ext cx="311563" cy="191"/>
            </a:xfrm>
            <a:custGeom>
              <a:avLst/>
              <a:gdLst/>
              <a:ahLst/>
              <a:cxnLst/>
              <a:rect l="0" t="0" r="0" b="0"/>
              <a:pathLst>
                <a:path w="311563" h="191">
                  <a:moveTo>
                    <a:pt x="0" y="0"/>
                  </a:moveTo>
                  <a:lnTo>
                    <a:pt x="311563" y="0"/>
                  </a:lnTo>
                </a:path>
              </a:pathLst>
            </a:custGeom>
            <a:noFill/>
            <a:ln w="8505">
              <a:solidFill>
                <a:srgbClr val="77828C"/>
              </a:solidFill>
              <a:prstDash val="solid"/>
            </a:ln>
          </p:spPr>
        </p:sp>
        <p:sp>
          <p:nvSpPr>
            <p:cNvPr id="1359" name="PTV3 forward refined 3 head">
              <a:extLst>
                <a:ext uri="{FF2B5EF4-FFF2-40B4-BE49-F238E27FC236}">
                  <a16:creationId xmlns:a16="http://schemas.microsoft.com/office/drawing/2014/main" id="{417DAC3E-DE7D-4EBD-83BF-06F7FB2A8085}"/>
                </a:ext>
              </a:extLst>
            </p:cNvPr>
            <p:cNvSpPr>
              <a:spLocks noGrp="1"/>
            </p:cNvSpPr>
            <p:nvPr/>
          </p:nvSpPr>
          <p:spPr>
            <a:xfrm>
              <a:off x="7706753" y="3078099"/>
              <a:ext cx="66675" cy="57340"/>
            </a:xfrm>
            <a:custGeom>
              <a:avLst/>
              <a:gdLst/>
              <a:ahLst/>
              <a:cxnLst/>
              <a:rect l="0" t="0" r="0" b="0"/>
              <a:pathLst>
                <a:path w="66675" h="57340">
                  <a:moveTo>
                    <a:pt x="66675" y="28670"/>
                  </a:moveTo>
                  <a:lnTo>
                    <a:pt x="0" y="0"/>
                  </a:lnTo>
                  <a:lnTo>
                    <a:pt x="0" y="57340"/>
                  </a:lnTo>
                  <a:close/>
                </a:path>
              </a:pathLst>
            </a:custGeom>
            <a:solidFill>
              <a:srgbClr val="77828C"/>
            </a:solidFill>
            <a:ln w="0">
              <a:solidFill>
                <a:srgbClr val="77828C"/>
              </a:solidFill>
              <a:prstDash val="solid"/>
            </a:ln>
          </p:spPr>
        </p:sp>
        <p:sp>
          <p:nvSpPr>
            <p:cNvPr id="1360" name="PTV3 forward refined 4">
              <a:extLst>
                <a:ext uri="{FF2B5EF4-FFF2-40B4-BE49-F238E27FC236}">
                  <a16:creationId xmlns:a16="http://schemas.microsoft.com/office/drawing/2014/main" id="{3F66A9B7-F35C-EB4C-B102-3F29A4296978}"/>
                </a:ext>
              </a:extLst>
            </p:cNvPr>
            <p:cNvSpPr>
              <a:spLocks noGrp="1"/>
            </p:cNvSpPr>
            <p:nvPr/>
          </p:nvSpPr>
          <p:spPr>
            <a:xfrm>
              <a:off x="8498852" y="3106769"/>
              <a:ext cx="255746" cy="191"/>
            </a:xfrm>
            <a:custGeom>
              <a:avLst/>
              <a:gdLst/>
              <a:ahLst/>
              <a:cxnLst/>
              <a:rect l="0" t="0" r="0" b="0"/>
              <a:pathLst>
                <a:path w="255746" h="191">
                  <a:moveTo>
                    <a:pt x="0" y="0"/>
                  </a:moveTo>
                  <a:lnTo>
                    <a:pt x="255746" y="0"/>
                  </a:lnTo>
                </a:path>
              </a:pathLst>
            </a:custGeom>
            <a:noFill/>
            <a:ln w="8505">
              <a:solidFill>
                <a:srgbClr val="77828C"/>
              </a:solidFill>
              <a:prstDash val="solid"/>
            </a:ln>
          </p:spPr>
        </p:sp>
        <p:sp>
          <p:nvSpPr>
            <p:cNvPr id="1361" name="PTV3 forward refined 4 head">
              <a:extLst>
                <a:ext uri="{FF2B5EF4-FFF2-40B4-BE49-F238E27FC236}">
                  <a16:creationId xmlns:a16="http://schemas.microsoft.com/office/drawing/2014/main" id="{4634E7DB-F8E3-B989-4F8D-785672F195B4}"/>
                </a:ext>
              </a:extLst>
            </p:cNvPr>
            <p:cNvSpPr>
              <a:spLocks noGrp="1"/>
            </p:cNvSpPr>
            <p:nvPr/>
          </p:nvSpPr>
          <p:spPr>
            <a:xfrm>
              <a:off x="8711259" y="3078099"/>
              <a:ext cx="66675" cy="57340"/>
            </a:xfrm>
            <a:custGeom>
              <a:avLst/>
              <a:gdLst/>
              <a:ahLst/>
              <a:cxnLst/>
              <a:rect l="0" t="0" r="0" b="0"/>
              <a:pathLst>
                <a:path w="66675" h="57340">
                  <a:moveTo>
                    <a:pt x="66675" y="28670"/>
                  </a:moveTo>
                  <a:lnTo>
                    <a:pt x="0" y="0"/>
                  </a:lnTo>
                  <a:lnTo>
                    <a:pt x="0" y="57340"/>
                  </a:lnTo>
                  <a:close/>
                </a:path>
              </a:pathLst>
            </a:custGeom>
            <a:solidFill>
              <a:srgbClr val="77828C"/>
            </a:solidFill>
            <a:ln w="0">
              <a:noFill/>
              <a:prstDash val="solid"/>
            </a:ln>
          </p:spPr>
        </p:sp>
        <p:sp>
          <p:nvSpPr>
            <p:cNvPr id="1362" name="Fusion refined 487.16">
              <a:extLst>
                <a:ext uri="{FF2B5EF4-FFF2-40B4-BE49-F238E27FC236}">
                  <a16:creationId xmlns:a16="http://schemas.microsoft.com/office/drawing/2014/main" id="{0FF19FA3-F74F-0EF3-2637-6AA25406EF88}"/>
                </a:ext>
              </a:extLst>
            </p:cNvPr>
            <p:cNvSpPr>
              <a:spLocks noGrp="1"/>
            </p:cNvSpPr>
            <p:nvPr/>
          </p:nvSpPr>
          <p:spPr>
            <a:xfrm>
              <a:off x="5085187" y="2418493"/>
              <a:ext cx="191" cy="404527"/>
            </a:xfrm>
            <a:custGeom>
              <a:avLst/>
              <a:gdLst/>
              <a:ahLst/>
              <a:cxnLst/>
              <a:rect l="0" t="0" r="0" b="0"/>
              <a:pathLst>
                <a:path w="191" h="404527">
                  <a:moveTo>
                    <a:pt x="0" y="0"/>
                  </a:moveTo>
                  <a:lnTo>
                    <a:pt x="0" y="404527"/>
                  </a:lnTo>
                </a:path>
              </a:pathLst>
            </a:custGeom>
            <a:noFill/>
            <a:ln w="8505">
              <a:solidFill>
                <a:srgbClr val="77828C"/>
              </a:solidFill>
              <a:prstDash val="solid"/>
            </a:ln>
          </p:spPr>
        </p:sp>
        <p:sp>
          <p:nvSpPr>
            <p:cNvPr id="1363" name="Fusion refined 487.16 head">
              <a:extLst>
                <a:ext uri="{FF2B5EF4-FFF2-40B4-BE49-F238E27FC236}">
                  <a16:creationId xmlns:a16="http://schemas.microsoft.com/office/drawing/2014/main" id="{3D13397A-1EED-4CCF-C88D-62A5EFCF622C}"/>
                </a:ext>
              </a:extLst>
            </p:cNvPr>
            <p:cNvSpPr>
              <a:spLocks noGrp="1"/>
            </p:cNvSpPr>
            <p:nvPr/>
          </p:nvSpPr>
          <p:spPr>
            <a:xfrm>
              <a:off x="5056517" y="2779681"/>
              <a:ext cx="57340" cy="66675"/>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364" name="Fusion refined 700.05">
              <a:extLst>
                <a:ext uri="{FF2B5EF4-FFF2-40B4-BE49-F238E27FC236}">
                  <a16:creationId xmlns:a16="http://schemas.microsoft.com/office/drawing/2014/main" id="{F3328C85-8D10-5BAE-F06A-A042F88B4457}"/>
                </a:ext>
              </a:extLst>
            </p:cNvPr>
            <p:cNvSpPr>
              <a:spLocks noGrp="1"/>
            </p:cNvSpPr>
            <p:nvPr/>
          </p:nvSpPr>
          <p:spPr>
            <a:xfrm>
              <a:off x="7112964" y="2418493"/>
              <a:ext cx="191" cy="404527"/>
            </a:xfrm>
            <a:custGeom>
              <a:avLst/>
              <a:gdLst/>
              <a:ahLst/>
              <a:cxnLst/>
              <a:rect l="0" t="0" r="0" b="0"/>
              <a:pathLst>
                <a:path w="191" h="404527">
                  <a:moveTo>
                    <a:pt x="0" y="0"/>
                  </a:moveTo>
                  <a:lnTo>
                    <a:pt x="0" y="404527"/>
                  </a:lnTo>
                </a:path>
              </a:pathLst>
            </a:custGeom>
            <a:noFill/>
            <a:ln w="8505">
              <a:solidFill>
                <a:srgbClr val="77828C"/>
              </a:solidFill>
              <a:prstDash val="solid"/>
            </a:ln>
          </p:spPr>
        </p:sp>
        <p:sp>
          <p:nvSpPr>
            <p:cNvPr id="1365" name="Fusion refined 700.05 head">
              <a:extLst>
                <a:ext uri="{FF2B5EF4-FFF2-40B4-BE49-F238E27FC236}">
                  <a16:creationId xmlns:a16="http://schemas.microsoft.com/office/drawing/2014/main" id="{615DF42F-7A96-D005-2B04-2E5B83AF189A}"/>
                </a:ext>
              </a:extLst>
            </p:cNvPr>
            <p:cNvSpPr>
              <a:spLocks noGrp="1"/>
            </p:cNvSpPr>
            <p:nvPr/>
          </p:nvSpPr>
          <p:spPr>
            <a:xfrm>
              <a:off x="7084294" y="2779681"/>
              <a:ext cx="57340" cy="66675"/>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366" name="Fusion refined 912.94">
              <a:extLst>
                <a:ext uri="{FF2B5EF4-FFF2-40B4-BE49-F238E27FC236}">
                  <a16:creationId xmlns:a16="http://schemas.microsoft.com/office/drawing/2014/main" id="{8F954EB4-FAB9-9DC0-DCA1-6E84B625ECD7}"/>
                </a:ext>
              </a:extLst>
            </p:cNvPr>
            <p:cNvSpPr>
              <a:spLocks noGrp="1"/>
            </p:cNvSpPr>
            <p:nvPr/>
          </p:nvSpPr>
          <p:spPr>
            <a:xfrm>
              <a:off x="9140742" y="2418493"/>
              <a:ext cx="191" cy="404527"/>
            </a:xfrm>
            <a:custGeom>
              <a:avLst/>
              <a:gdLst/>
              <a:ahLst/>
              <a:cxnLst/>
              <a:rect l="0" t="0" r="0" b="0"/>
              <a:pathLst>
                <a:path w="191" h="404527">
                  <a:moveTo>
                    <a:pt x="0" y="0"/>
                  </a:moveTo>
                  <a:lnTo>
                    <a:pt x="0" y="404527"/>
                  </a:lnTo>
                </a:path>
              </a:pathLst>
            </a:custGeom>
            <a:noFill/>
            <a:ln w="8505">
              <a:solidFill>
                <a:srgbClr val="77828C"/>
              </a:solidFill>
              <a:prstDash val="solid"/>
            </a:ln>
          </p:spPr>
        </p:sp>
        <p:sp>
          <p:nvSpPr>
            <p:cNvPr id="1367" name="Fusion refined 912.94 head">
              <a:extLst>
                <a:ext uri="{FF2B5EF4-FFF2-40B4-BE49-F238E27FC236}">
                  <a16:creationId xmlns:a16="http://schemas.microsoft.com/office/drawing/2014/main" id="{DDC6F6E8-2600-F9F0-8C4C-DF220F079064}"/>
                </a:ext>
              </a:extLst>
            </p:cNvPr>
            <p:cNvSpPr>
              <a:spLocks noGrp="1"/>
            </p:cNvSpPr>
            <p:nvPr/>
          </p:nvSpPr>
          <p:spPr>
            <a:xfrm>
              <a:off x="9112071" y="2779681"/>
              <a:ext cx="57340" cy="66675"/>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368" name="Recycle right refined">
              <a:extLst>
                <a:ext uri="{FF2B5EF4-FFF2-40B4-BE49-F238E27FC236}">
                  <a16:creationId xmlns:a16="http://schemas.microsoft.com/office/drawing/2014/main" id="{D9AFE2A4-7629-8D55-72A2-74513ED16554}"/>
                </a:ext>
              </a:extLst>
            </p:cNvPr>
            <p:cNvSpPr>
              <a:spLocks noGrp="1"/>
            </p:cNvSpPr>
            <p:nvPr/>
          </p:nvSpPr>
          <p:spPr>
            <a:xfrm>
              <a:off x="7596644" y="3385852"/>
              <a:ext cx="1544098" cy="241840"/>
            </a:xfrm>
            <a:custGeom>
              <a:avLst/>
              <a:gdLst/>
              <a:ahLst/>
              <a:cxnLst/>
              <a:rect l="0" t="0" r="0" b="0"/>
              <a:pathLst>
                <a:path w="1544098" h="241840">
                  <a:moveTo>
                    <a:pt x="1544098" y="0"/>
                  </a:moveTo>
                  <a:lnTo>
                    <a:pt x="1544098" y="241840"/>
                  </a:lnTo>
                  <a:lnTo>
                    <a:pt x="0" y="241840"/>
                  </a:lnTo>
                </a:path>
              </a:pathLst>
            </a:custGeom>
            <a:noFill/>
            <a:ln w="8505">
              <a:solidFill>
                <a:srgbClr val="77828C"/>
              </a:solidFill>
              <a:prstDash val="solid"/>
            </a:ln>
          </p:spPr>
        </p:sp>
        <p:sp>
          <p:nvSpPr>
            <p:cNvPr id="1369" name="Recycle left refined">
              <a:extLst>
                <a:ext uri="{FF2B5EF4-FFF2-40B4-BE49-F238E27FC236}">
                  <a16:creationId xmlns:a16="http://schemas.microsoft.com/office/drawing/2014/main" id="{9E9F6AF5-6C88-4D6A-4EB6-AE11098D540D}"/>
                </a:ext>
              </a:extLst>
            </p:cNvPr>
            <p:cNvSpPr>
              <a:spLocks noGrp="1"/>
            </p:cNvSpPr>
            <p:nvPr/>
          </p:nvSpPr>
          <p:spPr>
            <a:xfrm>
              <a:off x="5085187" y="3409188"/>
              <a:ext cx="1544098" cy="218503"/>
            </a:xfrm>
            <a:custGeom>
              <a:avLst/>
              <a:gdLst/>
              <a:ahLst/>
              <a:cxnLst/>
              <a:rect l="0" t="0" r="0" b="0"/>
              <a:pathLst>
                <a:path w="1544098" h="218503">
                  <a:moveTo>
                    <a:pt x="1544098" y="218503"/>
                  </a:moveTo>
                  <a:lnTo>
                    <a:pt x="0" y="218503"/>
                  </a:lnTo>
                  <a:lnTo>
                    <a:pt x="0" y="0"/>
                  </a:lnTo>
                </a:path>
              </a:pathLst>
            </a:custGeom>
            <a:noFill/>
            <a:ln w="8505">
              <a:solidFill>
                <a:srgbClr val="77828C"/>
              </a:solidFill>
              <a:prstDash val="solid"/>
            </a:ln>
          </p:spPr>
        </p:sp>
        <p:sp>
          <p:nvSpPr>
            <p:cNvPr id="1370" name="Recycle left refined head">
              <a:extLst>
                <a:ext uri="{FF2B5EF4-FFF2-40B4-BE49-F238E27FC236}">
                  <a16:creationId xmlns:a16="http://schemas.microsoft.com/office/drawing/2014/main" id="{FC70626C-9297-3774-289D-8C74BAB81591}"/>
                </a:ext>
              </a:extLst>
            </p:cNvPr>
            <p:cNvSpPr>
              <a:spLocks noGrp="1"/>
            </p:cNvSpPr>
            <p:nvPr/>
          </p:nvSpPr>
          <p:spPr>
            <a:xfrm>
              <a:off x="5056517" y="3385852"/>
              <a:ext cx="57340" cy="66675"/>
            </a:xfrm>
            <a:custGeom>
              <a:avLst/>
              <a:gdLst/>
              <a:ahLst/>
              <a:cxnLst/>
              <a:rect l="0" t="0" r="0" b="0"/>
              <a:pathLst>
                <a:path w="57340" h="66675">
                  <a:moveTo>
                    <a:pt x="28670" y="0"/>
                  </a:moveTo>
                  <a:lnTo>
                    <a:pt x="0" y="66675"/>
                  </a:lnTo>
                  <a:lnTo>
                    <a:pt x="57340" y="66675"/>
                  </a:lnTo>
                  <a:close/>
                </a:path>
              </a:pathLst>
            </a:custGeom>
            <a:solidFill>
              <a:srgbClr val="77828C"/>
            </a:solidFill>
            <a:ln w="0">
              <a:noFill/>
              <a:prstDash val="solid"/>
            </a:ln>
          </p:spPr>
        </p:sp>
        <p:sp>
          <p:nvSpPr>
            <p:cNvPr id="1371" name="Crop to summary refined">
              <a:extLst>
                <a:ext uri="{FF2B5EF4-FFF2-40B4-BE49-F238E27FC236}">
                  <a16:creationId xmlns:a16="http://schemas.microsoft.com/office/drawing/2014/main" id="{23964A60-5300-B32A-CC8C-9F9A10909522}"/>
                </a:ext>
              </a:extLst>
            </p:cNvPr>
            <p:cNvSpPr>
              <a:spLocks noGrp="1"/>
            </p:cNvSpPr>
            <p:nvPr/>
          </p:nvSpPr>
          <p:spPr>
            <a:xfrm flipV="1">
              <a:off x="3571124" y="5920900"/>
              <a:ext cx="1306769" cy="143591"/>
            </a:xfrm>
            <a:custGeom>
              <a:avLst/>
              <a:gdLst/>
              <a:ahLst/>
              <a:cxnLst/>
              <a:rect l="0" t="0" r="0" b="0"/>
              <a:pathLst>
                <a:path w="1148715" h="191">
                  <a:moveTo>
                    <a:pt x="0" y="0"/>
                  </a:moveTo>
                  <a:lnTo>
                    <a:pt x="1148715" y="0"/>
                  </a:lnTo>
                </a:path>
              </a:pathLst>
            </a:custGeom>
            <a:noFill/>
            <a:ln w="8505">
              <a:solidFill>
                <a:srgbClr val="77828C"/>
              </a:solidFill>
              <a:prstDash val="solid"/>
            </a:ln>
          </p:spPr>
        </p:sp>
        <p:sp>
          <p:nvSpPr>
            <p:cNvPr id="1372" name="Crop to summary refined head">
              <a:extLst>
                <a:ext uri="{FF2B5EF4-FFF2-40B4-BE49-F238E27FC236}">
                  <a16:creationId xmlns:a16="http://schemas.microsoft.com/office/drawing/2014/main" id="{864E15CB-81EF-2FAC-14F2-E25D89F29346}"/>
                </a:ext>
              </a:extLst>
            </p:cNvPr>
            <p:cNvSpPr>
              <a:spLocks noGrp="1"/>
            </p:cNvSpPr>
            <p:nvPr/>
          </p:nvSpPr>
          <p:spPr>
            <a:xfrm>
              <a:off x="4832301" y="6036088"/>
              <a:ext cx="66676" cy="57339"/>
            </a:xfrm>
            <a:custGeom>
              <a:avLst/>
              <a:gdLst/>
              <a:ahLst/>
              <a:cxnLst/>
              <a:rect l="0" t="0" r="0" b="0"/>
              <a:pathLst>
                <a:path w="66675" h="57340">
                  <a:moveTo>
                    <a:pt x="66675" y="28670"/>
                  </a:moveTo>
                  <a:lnTo>
                    <a:pt x="0" y="0"/>
                  </a:lnTo>
                  <a:lnTo>
                    <a:pt x="0" y="57340"/>
                  </a:lnTo>
                  <a:close/>
                </a:path>
              </a:pathLst>
            </a:custGeom>
            <a:solidFill>
              <a:srgbClr val="77828C"/>
            </a:solidFill>
            <a:ln w="0">
              <a:noFill/>
              <a:prstDash val="solid"/>
            </a:ln>
          </p:spPr>
        </p:sp>
        <p:sp>
          <p:nvSpPr>
            <p:cNvPr id="1373" name="Input split refined">
              <a:extLst>
                <a:ext uri="{FF2B5EF4-FFF2-40B4-BE49-F238E27FC236}">
                  <a16:creationId xmlns:a16="http://schemas.microsoft.com/office/drawing/2014/main" id="{B4BBBDF4-6774-1D2C-95B2-F3B88AB1C869}"/>
                </a:ext>
              </a:extLst>
            </p:cNvPr>
            <p:cNvSpPr>
              <a:spLocks noGrp="1"/>
            </p:cNvSpPr>
            <p:nvPr/>
          </p:nvSpPr>
          <p:spPr>
            <a:xfrm>
              <a:off x="2152323" y="7793354"/>
              <a:ext cx="846770" cy="160020"/>
            </a:xfrm>
            <a:custGeom>
              <a:avLst/>
              <a:gdLst/>
              <a:ahLst/>
              <a:cxnLst/>
              <a:rect l="0" t="0" r="0" b="0"/>
              <a:pathLst>
                <a:path w="846772" h="160020">
                  <a:moveTo>
                    <a:pt x="846772" y="0"/>
                  </a:moveTo>
                  <a:lnTo>
                    <a:pt x="846772" y="160020"/>
                  </a:lnTo>
                  <a:lnTo>
                    <a:pt x="0" y="160020"/>
                  </a:lnTo>
                </a:path>
              </a:pathLst>
            </a:custGeom>
            <a:noFill/>
            <a:ln w="8505">
              <a:solidFill>
                <a:srgbClr val="77828C"/>
              </a:solidFill>
              <a:prstDash val="solid"/>
            </a:ln>
          </p:spPr>
        </p:sp>
        <p:sp>
          <p:nvSpPr>
            <p:cNvPr id="1374" name="Input split right refined">
              <a:extLst>
                <a:ext uri="{FF2B5EF4-FFF2-40B4-BE49-F238E27FC236}">
                  <a16:creationId xmlns:a16="http://schemas.microsoft.com/office/drawing/2014/main" id="{950F0CCA-2F88-9AFF-22D8-DAA7ACB6176C}"/>
                </a:ext>
              </a:extLst>
            </p:cNvPr>
            <p:cNvSpPr>
              <a:spLocks noGrp="1"/>
            </p:cNvSpPr>
            <p:nvPr/>
          </p:nvSpPr>
          <p:spPr>
            <a:xfrm>
              <a:off x="2999100" y="7953375"/>
              <a:ext cx="827723" cy="190"/>
            </a:xfrm>
            <a:custGeom>
              <a:avLst/>
              <a:gdLst/>
              <a:ahLst/>
              <a:cxnLst/>
              <a:rect l="0" t="0" r="0" b="0"/>
              <a:pathLst>
                <a:path w="827723" h="191">
                  <a:moveTo>
                    <a:pt x="0" y="0"/>
                  </a:moveTo>
                  <a:lnTo>
                    <a:pt x="827723" y="0"/>
                  </a:lnTo>
                </a:path>
              </a:pathLst>
            </a:custGeom>
            <a:noFill/>
            <a:ln w="8505">
              <a:solidFill>
                <a:srgbClr val="77828C"/>
              </a:solidFill>
              <a:prstDash val="solid"/>
            </a:ln>
          </p:spPr>
        </p:sp>
        <p:sp>
          <p:nvSpPr>
            <p:cNvPr id="1375" name="Inputs to pool refined">
              <a:extLst>
                <a:ext uri="{FF2B5EF4-FFF2-40B4-BE49-F238E27FC236}">
                  <a16:creationId xmlns:a16="http://schemas.microsoft.com/office/drawing/2014/main" id="{B22E0EF3-FD19-0826-1822-07182CC69FC5}"/>
                </a:ext>
              </a:extLst>
            </p:cNvPr>
            <p:cNvSpPr>
              <a:spLocks noGrp="1"/>
            </p:cNvSpPr>
            <p:nvPr/>
          </p:nvSpPr>
          <p:spPr>
            <a:xfrm>
              <a:off x="2159804" y="7953375"/>
              <a:ext cx="190" cy="143732"/>
            </a:xfrm>
            <a:custGeom>
              <a:avLst/>
              <a:gdLst/>
              <a:ahLst/>
              <a:cxnLst/>
              <a:rect l="0" t="0" r="0" b="0"/>
              <a:pathLst>
                <a:path w="191" h="143732">
                  <a:moveTo>
                    <a:pt x="0" y="0"/>
                  </a:moveTo>
                  <a:lnTo>
                    <a:pt x="0" y="143732"/>
                  </a:lnTo>
                </a:path>
              </a:pathLst>
            </a:custGeom>
            <a:noFill/>
            <a:ln w="8505">
              <a:solidFill>
                <a:srgbClr val="77828C"/>
              </a:solidFill>
              <a:prstDash val="solid"/>
            </a:ln>
          </p:spPr>
        </p:sp>
        <p:sp>
          <p:nvSpPr>
            <p:cNvPr id="1376" name="Inputs to pool refined head">
              <a:extLst>
                <a:ext uri="{FF2B5EF4-FFF2-40B4-BE49-F238E27FC236}">
                  <a16:creationId xmlns:a16="http://schemas.microsoft.com/office/drawing/2014/main" id="{CA70B1F6-4A00-BABC-2972-012866989961}"/>
                </a:ext>
              </a:extLst>
            </p:cNvPr>
            <p:cNvSpPr>
              <a:spLocks noGrp="1"/>
            </p:cNvSpPr>
            <p:nvPr/>
          </p:nvSpPr>
          <p:spPr>
            <a:xfrm>
              <a:off x="2131133" y="8053769"/>
              <a:ext cx="57339" cy="66676"/>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377" name="Inputs to attention refined">
              <a:extLst>
                <a:ext uri="{FF2B5EF4-FFF2-40B4-BE49-F238E27FC236}">
                  <a16:creationId xmlns:a16="http://schemas.microsoft.com/office/drawing/2014/main" id="{08F1A61E-3B0E-8BF6-7F27-5CCE4D22C59A}"/>
                </a:ext>
              </a:extLst>
            </p:cNvPr>
            <p:cNvSpPr>
              <a:spLocks noGrp="1"/>
            </p:cNvSpPr>
            <p:nvPr/>
          </p:nvSpPr>
          <p:spPr>
            <a:xfrm>
              <a:off x="3825152" y="7950242"/>
              <a:ext cx="190" cy="143732"/>
            </a:xfrm>
            <a:custGeom>
              <a:avLst/>
              <a:gdLst/>
              <a:ahLst/>
              <a:cxnLst/>
              <a:rect l="0" t="0" r="0" b="0"/>
              <a:pathLst>
                <a:path w="191" h="143732">
                  <a:moveTo>
                    <a:pt x="0" y="0"/>
                  </a:moveTo>
                  <a:lnTo>
                    <a:pt x="0" y="143732"/>
                  </a:lnTo>
                </a:path>
              </a:pathLst>
            </a:custGeom>
            <a:noFill/>
            <a:ln w="8505">
              <a:solidFill>
                <a:srgbClr val="77828C"/>
              </a:solidFill>
              <a:prstDash val="solid"/>
            </a:ln>
          </p:spPr>
        </p:sp>
        <p:sp>
          <p:nvSpPr>
            <p:cNvPr id="1378" name="Inputs to attention refined head">
              <a:extLst>
                <a:ext uri="{FF2B5EF4-FFF2-40B4-BE49-F238E27FC236}">
                  <a16:creationId xmlns:a16="http://schemas.microsoft.com/office/drawing/2014/main" id="{4A8E2717-7DBF-7A20-898F-8A4B8D99C916}"/>
                </a:ext>
              </a:extLst>
            </p:cNvPr>
            <p:cNvSpPr>
              <a:spLocks noGrp="1"/>
            </p:cNvSpPr>
            <p:nvPr/>
          </p:nvSpPr>
          <p:spPr>
            <a:xfrm>
              <a:off x="3793990" y="8050639"/>
              <a:ext cx="57339" cy="66676"/>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383" name="MLP to FiLM refined">
              <a:extLst>
                <a:ext uri="{FF2B5EF4-FFF2-40B4-BE49-F238E27FC236}">
                  <a16:creationId xmlns:a16="http://schemas.microsoft.com/office/drawing/2014/main" id="{2C7C678A-F3D0-E51D-2CD6-B41E5CBA7774}"/>
                </a:ext>
              </a:extLst>
            </p:cNvPr>
            <p:cNvSpPr>
              <a:spLocks noGrp="1"/>
            </p:cNvSpPr>
            <p:nvPr/>
          </p:nvSpPr>
          <p:spPr>
            <a:xfrm>
              <a:off x="3409393" y="8968263"/>
              <a:ext cx="1502569" cy="190"/>
            </a:xfrm>
            <a:custGeom>
              <a:avLst/>
              <a:gdLst/>
              <a:ahLst/>
              <a:cxnLst/>
              <a:rect l="0" t="0" r="0" b="0"/>
              <a:pathLst>
                <a:path w="1502569" h="191">
                  <a:moveTo>
                    <a:pt x="0" y="0"/>
                  </a:moveTo>
                  <a:lnTo>
                    <a:pt x="1502569" y="0"/>
                  </a:lnTo>
                </a:path>
              </a:pathLst>
            </a:custGeom>
            <a:noFill/>
            <a:ln w="8505">
              <a:solidFill>
                <a:srgbClr val="77828C"/>
              </a:solidFill>
              <a:prstDash val="solid"/>
            </a:ln>
          </p:spPr>
        </p:sp>
        <p:sp>
          <p:nvSpPr>
            <p:cNvPr id="1384" name="MLP to FiLM refined head">
              <a:extLst>
                <a:ext uri="{FF2B5EF4-FFF2-40B4-BE49-F238E27FC236}">
                  <a16:creationId xmlns:a16="http://schemas.microsoft.com/office/drawing/2014/main" id="{E62BF4CB-2DFB-E34F-0A43-259454CA6416}"/>
                </a:ext>
              </a:extLst>
            </p:cNvPr>
            <p:cNvSpPr>
              <a:spLocks noGrp="1"/>
            </p:cNvSpPr>
            <p:nvPr/>
          </p:nvSpPr>
          <p:spPr>
            <a:xfrm>
              <a:off x="4868623" y="8939595"/>
              <a:ext cx="66676" cy="57339"/>
            </a:xfrm>
            <a:custGeom>
              <a:avLst/>
              <a:gdLst/>
              <a:ahLst/>
              <a:cxnLst/>
              <a:rect l="0" t="0" r="0" b="0"/>
              <a:pathLst>
                <a:path w="66675" h="57340">
                  <a:moveTo>
                    <a:pt x="66675" y="28670"/>
                  </a:moveTo>
                  <a:lnTo>
                    <a:pt x="0" y="0"/>
                  </a:lnTo>
                  <a:lnTo>
                    <a:pt x="0" y="57340"/>
                  </a:lnTo>
                  <a:close/>
                </a:path>
              </a:pathLst>
            </a:custGeom>
            <a:solidFill>
              <a:srgbClr val="77828C"/>
            </a:solidFill>
            <a:ln w="0">
              <a:noFill/>
              <a:prstDash val="solid"/>
            </a:ln>
          </p:spPr>
        </p:sp>
        <p:sp>
          <p:nvSpPr>
            <p:cNvPr id="1385" name="Summary to FiLM refined">
              <a:extLst>
                <a:ext uri="{FF2B5EF4-FFF2-40B4-BE49-F238E27FC236}">
                  <a16:creationId xmlns:a16="http://schemas.microsoft.com/office/drawing/2014/main" id="{4AD6C56A-E9C3-F934-64AC-D936F1D8505E}"/>
                </a:ext>
              </a:extLst>
            </p:cNvPr>
            <p:cNvSpPr>
              <a:spLocks noGrp="1"/>
            </p:cNvSpPr>
            <p:nvPr/>
          </p:nvSpPr>
          <p:spPr>
            <a:xfrm>
              <a:off x="5261889" y="6405028"/>
              <a:ext cx="190" cy="2367440"/>
            </a:xfrm>
            <a:custGeom>
              <a:avLst/>
              <a:gdLst/>
              <a:ahLst/>
              <a:cxnLst/>
              <a:rect l="0" t="0" r="0" b="0"/>
              <a:pathLst>
                <a:path w="191" h="2367439">
                  <a:moveTo>
                    <a:pt x="0" y="0"/>
                  </a:moveTo>
                  <a:lnTo>
                    <a:pt x="0" y="2367439"/>
                  </a:lnTo>
                </a:path>
              </a:pathLst>
            </a:custGeom>
            <a:noFill/>
            <a:ln w="8505">
              <a:solidFill>
                <a:srgbClr val="77828C"/>
              </a:solidFill>
              <a:prstDash val="solid"/>
            </a:ln>
          </p:spPr>
        </p:sp>
        <p:sp>
          <p:nvSpPr>
            <p:cNvPr id="1386" name="Summary to FiLM refined head">
              <a:extLst>
                <a:ext uri="{FF2B5EF4-FFF2-40B4-BE49-F238E27FC236}">
                  <a16:creationId xmlns:a16="http://schemas.microsoft.com/office/drawing/2014/main" id="{EEAEF4BF-5039-6C23-B675-9771749FE17A}"/>
                </a:ext>
              </a:extLst>
            </p:cNvPr>
            <p:cNvSpPr>
              <a:spLocks noGrp="1"/>
            </p:cNvSpPr>
            <p:nvPr/>
          </p:nvSpPr>
          <p:spPr>
            <a:xfrm>
              <a:off x="5234867" y="8724900"/>
              <a:ext cx="57339" cy="66676"/>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387" name="Summary to cross attention refined">
              <a:extLst>
                <a:ext uri="{FF2B5EF4-FFF2-40B4-BE49-F238E27FC236}">
                  <a16:creationId xmlns:a16="http://schemas.microsoft.com/office/drawing/2014/main" id="{EFD90DBF-A222-410E-15F3-D541CA16A8AE}"/>
                </a:ext>
              </a:extLst>
            </p:cNvPr>
            <p:cNvSpPr>
              <a:spLocks noGrp="1"/>
            </p:cNvSpPr>
            <p:nvPr/>
          </p:nvSpPr>
          <p:spPr>
            <a:xfrm>
              <a:off x="4659180" y="8299325"/>
              <a:ext cx="604619" cy="107521"/>
            </a:xfrm>
            <a:custGeom>
              <a:avLst/>
              <a:gdLst/>
              <a:ahLst/>
              <a:cxnLst/>
              <a:rect l="0" t="0" r="0" b="0"/>
              <a:pathLst>
                <a:path w="664845" h="191">
                  <a:moveTo>
                    <a:pt x="664845" y="0"/>
                  </a:moveTo>
                  <a:lnTo>
                    <a:pt x="0" y="0"/>
                  </a:lnTo>
                </a:path>
              </a:pathLst>
            </a:custGeom>
            <a:noFill/>
            <a:ln w="8505">
              <a:solidFill>
                <a:srgbClr val="77828C"/>
              </a:solidFill>
              <a:prstDash val="solid"/>
            </a:ln>
          </p:spPr>
        </p:sp>
        <p:sp>
          <p:nvSpPr>
            <p:cNvPr id="1388" name="Summary to cross attention refined head">
              <a:extLst>
                <a:ext uri="{FF2B5EF4-FFF2-40B4-BE49-F238E27FC236}">
                  <a16:creationId xmlns:a16="http://schemas.microsoft.com/office/drawing/2014/main" id="{91B08F31-0339-9716-3395-2B3F8970BA82}"/>
                </a:ext>
              </a:extLst>
            </p:cNvPr>
            <p:cNvSpPr>
              <a:spLocks noGrp="1"/>
            </p:cNvSpPr>
            <p:nvPr/>
          </p:nvSpPr>
          <p:spPr>
            <a:xfrm>
              <a:off x="4592349" y="8268463"/>
              <a:ext cx="66676" cy="57339"/>
            </a:xfrm>
            <a:custGeom>
              <a:avLst/>
              <a:gdLst/>
              <a:ahLst/>
              <a:cxnLst/>
              <a:rect l="0" t="0" r="0" b="0"/>
              <a:pathLst>
                <a:path w="66675" h="57340">
                  <a:moveTo>
                    <a:pt x="0" y="28670"/>
                  </a:moveTo>
                  <a:lnTo>
                    <a:pt x="66675" y="57340"/>
                  </a:lnTo>
                  <a:lnTo>
                    <a:pt x="66675" y="0"/>
                  </a:lnTo>
                  <a:close/>
                </a:path>
              </a:pathLst>
            </a:custGeom>
            <a:solidFill>
              <a:srgbClr val="77828C"/>
            </a:solidFill>
            <a:ln w="0">
              <a:noFill/>
              <a:prstDash val="solid"/>
            </a:ln>
          </p:spPr>
        </p:sp>
        <p:sp>
          <p:nvSpPr>
            <p:cNvPr id="1389" name="FiLM to candidate refined">
              <a:extLst>
                <a:ext uri="{FF2B5EF4-FFF2-40B4-BE49-F238E27FC236}">
                  <a16:creationId xmlns:a16="http://schemas.microsoft.com/office/drawing/2014/main" id="{25FC3F76-C3DD-1537-7837-64B9361AE243}"/>
                </a:ext>
              </a:extLst>
            </p:cNvPr>
            <p:cNvSpPr>
              <a:spLocks noGrp="1"/>
            </p:cNvSpPr>
            <p:nvPr/>
          </p:nvSpPr>
          <p:spPr>
            <a:xfrm>
              <a:off x="5260059" y="9144953"/>
              <a:ext cx="190" cy="215360"/>
            </a:xfrm>
            <a:custGeom>
              <a:avLst/>
              <a:gdLst/>
              <a:ahLst/>
              <a:cxnLst/>
              <a:rect l="0" t="0" r="0" b="0"/>
              <a:pathLst>
                <a:path w="191" h="215360">
                  <a:moveTo>
                    <a:pt x="0" y="0"/>
                  </a:moveTo>
                  <a:lnTo>
                    <a:pt x="0" y="215360"/>
                  </a:lnTo>
                </a:path>
              </a:pathLst>
            </a:custGeom>
            <a:noFill/>
            <a:ln w="8505">
              <a:solidFill>
                <a:srgbClr val="77828C"/>
              </a:solidFill>
              <a:prstDash val="solid"/>
            </a:ln>
          </p:spPr>
        </p:sp>
        <p:sp>
          <p:nvSpPr>
            <p:cNvPr id="1390" name="FiLM to candidate refined head">
              <a:extLst>
                <a:ext uri="{FF2B5EF4-FFF2-40B4-BE49-F238E27FC236}">
                  <a16:creationId xmlns:a16="http://schemas.microsoft.com/office/drawing/2014/main" id="{7A05C2E3-B0E7-7DA8-4847-EC91C004D35D}"/>
                </a:ext>
              </a:extLst>
            </p:cNvPr>
            <p:cNvSpPr>
              <a:spLocks noGrp="1"/>
            </p:cNvSpPr>
            <p:nvPr/>
          </p:nvSpPr>
          <p:spPr>
            <a:xfrm>
              <a:off x="5227656" y="9316975"/>
              <a:ext cx="57339" cy="66676"/>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391" name="Candidate to foreground refined">
              <a:extLst>
                <a:ext uri="{FF2B5EF4-FFF2-40B4-BE49-F238E27FC236}">
                  <a16:creationId xmlns:a16="http://schemas.microsoft.com/office/drawing/2014/main" id="{FE203BD6-3778-87C2-8526-E332B5B380C4}"/>
                </a:ext>
              </a:extLst>
            </p:cNvPr>
            <p:cNvSpPr>
              <a:spLocks noGrp="1"/>
            </p:cNvSpPr>
            <p:nvPr/>
          </p:nvSpPr>
          <p:spPr>
            <a:xfrm>
              <a:off x="2390046" y="9532751"/>
              <a:ext cx="2867433" cy="278948"/>
            </a:xfrm>
            <a:custGeom>
              <a:avLst/>
              <a:gdLst/>
              <a:ahLst/>
              <a:cxnLst/>
              <a:rect l="0" t="0" r="0" b="0"/>
              <a:pathLst>
                <a:path w="2809018" h="286702">
                  <a:moveTo>
                    <a:pt x="2809018" y="0"/>
                  </a:moveTo>
                  <a:lnTo>
                    <a:pt x="2809018" y="95250"/>
                  </a:lnTo>
                  <a:lnTo>
                    <a:pt x="0" y="95250"/>
                  </a:lnTo>
                  <a:lnTo>
                    <a:pt x="0" y="286702"/>
                  </a:lnTo>
                </a:path>
              </a:pathLst>
            </a:custGeom>
            <a:noFill/>
            <a:ln w="8505">
              <a:solidFill>
                <a:srgbClr val="77828C"/>
              </a:solidFill>
              <a:prstDash val="solid"/>
            </a:ln>
          </p:spPr>
        </p:sp>
        <p:sp>
          <p:nvSpPr>
            <p:cNvPr id="1392" name="Candidate to foreground refined head">
              <a:extLst>
                <a:ext uri="{FF2B5EF4-FFF2-40B4-BE49-F238E27FC236}">
                  <a16:creationId xmlns:a16="http://schemas.microsoft.com/office/drawing/2014/main" id="{D2B7433A-243E-C206-1CB1-3F191E6AD029}"/>
                </a:ext>
              </a:extLst>
            </p:cNvPr>
            <p:cNvSpPr>
              <a:spLocks noGrp="1"/>
            </p:cNvSpPr>
            <p:nvPr/>
          </p:nvSpPr>
          <p:spPr>
            <a:xfrm>
              <a:off x="2361378" y="9768364"/>
              <a:ext cx="57340" cy="66675"/>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393" name="Foreground to probability refined">
              <a:extLst>
                <a:ext uri="{FF2B5EF4-FFF2-40B4-BE49-F238E27FC236}">
                  <a16:creationId xmlns:a16="http://schemas.microsoft.com/office/drawing/2014/main" id="{D5A6B998-ADFA-E982-8C35-E6D90114C21C}"/>
                </a:ext>
              </a:extLst>
            </p:cNvPr>
            <p:cNvSpPr>
              <a:spLocks noGrp="1"/>
            </p:cNvSpPr>
            <p:nvPr/>
          </p:nvSpPr>
          <p:spPr>
            <a:xfrm flipV="1">
              <a:off x="3273601" y="9904498"/>
              <a:ext cx="621737" cy="107521"/>
            </a:xfrm>
            <a:custGeom>
              <a:avLst/>
              <a:gdLst/>
              <a:ahLst/>
              <a:cxnLst/>
              <a:rect l="0" t="0" r="0" b="0"/>
              <a:pathLst>
                <a:path w="600742" h="191">
                  <a:moveTo>
                    <a:pt x="0" y="0"/>
                  </a:moveTo>
                  <a:lnTo>
                    <a:pt x="600742" y="0"/>
                  </a:lnTo>
                </a:path>
              </a:pathLst>
            </a:custGeom>
            <a:noFill/>
            <a:ln w="8505">
              <a:solidFill>
                <a:srgbClr val="77828C"/>
              </a:solidFill>
              <a:prstDash val="solid"/>
            </a:ln>
          </p:spPr>
        </p:sp>
        <p:sp>
          <p:nvSpPr>
            <p:cNvPr id="1394" name="Foreground to probability refined head">
              <a:extLst>
                <a:ext uri="{FF2B5EF4-FFF2-40B4-BE49-F238E27FC236}">
                  <a16:creationId xmlns:a16="http://schemas.microsoft.com/office/drawing/2014/main" id="{660BE4D6-2608-6E09-7FF4-AD7C50994699}"/>
                </a:ext>
              </a:extLst>
            </p:cNvPr>
            <p:cNvSpPr>
              <a:spLocks noGrp="1"/>
            </p:cNvSpPr>
            <p:nvPr/>
          </p:nvSpPr>
          <p:spPr>
            <a:xfrm>
              <a:off x="3856976" y="9982695"/>
              <a:ext cx="66676" cy="57339"/>
            </a:xfrm>
            <a:custGeom>
              <a:avLst/>
              <a:gdLst/>
              <a:ahLst/>
              <a:cxnLst/>
              <a:rect l="0" t="0" r="0" b="0"/>
              <a:pathLst>
                <a:path w="66675" h="57340">
                  <a:moveTo>
                    <a:pt x="66675" y="28670"/>
                  </a:moveTo>
                  <a:lnTo>
                    <a:pt x="0" y="0"/>
                  </a:lnTo>
                  <a:lnTo>
                    <a:pt x="0" y="57340"/>
                  </a:lnTo>
                  <a:close/>
                </a:path>
              </a:pathLst>
            </a:custGeom>
            <a:solidFill>
              <a:srgbClr val="77828C"/>
            </a:solidFill>
            <a:ln w="0">
              <a:noFill/>
              <a:prstDash val="solid"/>
            </a:ln>
          </p:spPr>
        </p:sp>
        <p:sp>
          <p:nvSpPr>
            <p:cNvPr id="1395" name="Candidate to cosine refined">
              <a:extLst>
                <a:ext uri="{FF2B5EF4-FFF2-40B4-BE49-F238E27FC236}">
                  <a16:creationId xmlns:a16="http://schemas.microsoft.com/office/drawing/2014/main" id="{22A5040B-9402-AB7D-9094-F4BF5F10ADD2}"/>
                </a:ext>
              </a:extLst>
            </p:cNvPr>
            <p:cNvSpPr>
              <a:spLocks noGrp="1"/>
            </p:cNvSpPr>
            <p:nvPr/>
          </p:nvSpPr>
          <p:spPr>
            <a:xfrm>
              <a:off x="5257496" y="9528367"/>
              <a:ext cx="2419601" cy="443164"/>
            </a:xfrm>
            <a:custGeom>
              <a:avLst/>
              <a:gdLst/>
              <a:ahLst/>
              <a:cxnLst/>
              <a:rect l="0" t="0" r="0" b="0"/>
              <a:pathLst>
                <a:path w="2143887" h="446532">
                  <a:moveTo>
                    <a:pt x="0" y="0"/>
                  </a:moveTo>
                  <a:lnTo>
                    <a:pt x="0" y="446532"/>
                  </a:lnTo>
                  <a:lnTo>
                    <a:pt x="2143887" y="446532"/>
                  </a:lnTo>
                </a:path>
              </a:pathLst>
            </a:custGeom>
            <a:noFill/>
            <a:ln w="8505">
              <a:solidFill>
                <a:srgbClr val="77828C"/>
              </a:solidFill>
              <a:prstDash val="solid"/>
            </a:ln>
          </p:spPr>
        </p:sp>
        <p:sp>
          <p:nvSpPr>
            <p:cNvPr id="1396" name="Candidate to cosine refined head">
              <a:extLst>
                <a:ext uri="{FF2B5EF4-FFF2-40B4-BE49-F238E27FC236}">
                  <a16:creationId xmlns:a16="http://schemas.microsoft.com/office/drawing/2014/main" id="{D0F3AAE9-EBC0-FC07-AF0A-FBDAD938D93E}"/>
                </a:ext>
              </a:extLst>
            </p:cNvPr>
            <p:cNvSpPr>
              <a:spLocks noGrp="1"/>
            </p:cNvSpPr>
            <p:nvPr/>
          </p:nvSpPr>
          <p:spPr>
            <a:xfrm>
              <a:off x="7633759" y="9942862"/>
              <a:ext cx="66675" cy="57340"/>
            </a:xfrm>
            <a:custGeom>
              <a:avLst/>
              <a:gdLst/>
              <a:ahLst/>
              <a:cxnLst/>
              <a:rect l="0" t="0" r="0" b="0"/>
              <a:pathLst>
                <a:path w="66675" h="57340">
                  <a:moveTo>
                    <a:pt x="66675" y="28670"/>
                  </a:moveTo>
                  <a:lnTo>
                    <a:pt x="0" y="0"/>
                  </a:lnTo>
                  <a:lnTo>
                    <a:pt x="0" y="57340"/>
                  </a:lnTo>
                  <a:close/>
                </a:path>
              </a:pathLst>
            </a:custGeom>
            <a:solidFill>
              <a:srgbClr val="77828C"/>
            </a:solidFill>
            <a:ln w="0">
              <a:noFill/>
              <a:prstDash val="solid"/>
            </a:ln>
          </p:spPr>
        </p:sp>
        <p:sp>
          <p:nvSpPr>
            <p:cNvPr id="1397" name="Selected identity to graph refined">
              <a:extLst>
                <a:ext uri="{FF2B5EF4-FFF2-40B4-BE49-F238E27FC236}">
                  <a16:creationId xmlns:a16="http://schemas.microsoft.com/office/drawing/2014/main" id="{2545D43E-9B8D-BA3E-80CD-880BD63B35AE}"/>
                </a:ext>
              </a:extLst>
            </p:cNvPr>
            <p:cNvSpPr>
              <a:spLocks noGrp="1"/>
            </p:cNvSpPr>
            <p:nvPr/>
          </p:nvSpPr>
          <p:spPr>
            <a:xfrm>
              <a:off x="7067879" y="6134481"/>
              <a:ext cx="651129" cy="595217"/>
            </a:xfrm>
            <a:custGeom>
              <a:avLst/>
              <a:gdLst/>
              <a:ahLst/>
              <a:cxnLst/>
              <a:rect l="0" t="0" r="0" b="0"/>
              <a:pathLst>
                <a:path w="651129" h="595217">
                  <a:moveTo>
                    <a:pt x="651129" y="0"/>
                  </a:moveTo>
                  <a:lnTo>
                    <a:pt x="0" y="0"/>
                  </a:lnTo>
                  <a:lnTo>
                    <a:pt x="0" y="595217"/>
                  </a:lnTo>
                </a:path>
              </a:pathLst>
            </a:custGeom>
            <a:noFill/>
            <a:ln w="8505">
              <a:solidFill>
                <a:srgbClr val="77828C"/>
              </a:solidFill>
              <a:prstDash val="solid"/>
            </a:ln>
          </p:spPr>
        </p:sp>
        <p:sp>
          <p:nvSpPr>
            <p:cNvPr id="1398" name="Selected identity to graph refined head">
              <a:extLst>
                <a:ext uri="{FF2B5EF4-FFF2-40B4-BE49-F238E27FC236}">
                  <a16:creationId xmlns:a16="http://schemas.microsoft.com/office/drawing/2014/main" id="{2F033F6F-AC85-37DE-479C-D063C3DB8E25}"/>
                </a:ext>
              </a:extLst>
            </p:cNvPr>
            <p:cNvSpPr>
              <a:spLocks noGrp="1"/>
            </p:cNvSpPr>
            <p:nvPr/>
          </p:nvSpPr>
          <p:spPr>
            <a:xfrm>
              <a:off x="7039209" y="6686360"/>
              <a:ext cx="57340" cy="66675"/>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399" name="Graph to GNN refined">
              <a:extLst>
                <a:ext uri="{FF2B5EF4-FFF2-40B4-BE49-F238E27FC236}">
                  <a16:creationId xmlns:a16="http://schemas.microsoft.com/office/drawing/2014/main" id="{7EF864D3-D6E3-5180-82C2-0A0AE886C150}"/>
                </a:ext>
              </a:extLst>
            </p:cNvPr>
            <p:cNvSpPr>
              <a:spLocks noGrp="1"/>
            </p:cNvSpPr>
            <p:nvPr/>
          </p:nvSpPr>
          <p:spPr>
            <a:xfrm>
              <a:off x="7067879" y="7441406"/>
              <a:ext cx="191" cy="153448"/>
            </a:xfrm>
            <a:custGeom>
              <a:avLst/>
              <a:gdLst/>
              <a:ahLst/>
              <a:cxnLst/>
              <a:rect l="0" t="0" r="0" b="0"/>
              <a:pathLst>
                <a:path w="191" h="153448">
                  <a:moveTo>
                    <a:pt x="0" y="0"/>
                  </a:moveTo>
                  <a:lnTo>
                    <a:pt x="0" y="153448"/>
                  </a:lnTo>
                </a:path>
              </a:pathLst>
            </a:custGeom>
            <a:noFill/>
            <a:ln w="8505">
              <a:solidFill>
                <a:srgbClr val="77828C"/>
              </a:solidFill>
              <a:prstDash val="solid"/>
            </a:ln>
          </p:spPr>
        </p:sp>
        <p:sp>
          <p:nvSpPr>
            <p:cNvPr id="1400" name="Graph to GNN refined head">
              <a:extLst>
                <a:ext uri="{FF2B5EF4-FFF2-40B4-BE49-F238E27FC236}">
                  <a16:creationId xmlns:a16="http://schemas.microsoft.com/office/drawing/2014/main" id="{B23BD653-4893-2671-9B86-7F888A6E5617}"/>
                </a:ext>
              </a:extLst>
            </p:cNvPr>
            <p:cNvSpPr>
              <a:spLocks noGrp="1"/>
            </p:cNvSpPr>
            <p:nvPr/>
          </p:nvSpPr>
          <p:spPr>
            <a:xfrm>
              <a:off x="7039209" y="7551515"/>
              <a:ext cx="57340" cy="66675"/>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401" name="GNN to graph attention refined">
              <a:extLst>
                <a:ext uri="{FF2B5EF4-FFF2-40B4-BE49-F238E27FC236}">
                  <a16:creationId xmlns:a16="http://schemas.microsoft.com/office/drawing/2014/main" id="{B0DCC1B2-7C1A-332C-0127-08382278DBC6}"/>
                </a:ext>
              </a:extLst>
            </p:cNvPr>
            <p:cNvSpPr>
              <a:spLocks noGrp="1"/>
            </p:cNvSpPr>
            <p:nvPr/>
          </p:nvSpPr>
          <p:spPr>
            <a:xfrm>
              <a:off x="7067879" y="7934420"/>
              <a:ext cx="191" cy="274320"/>
            </a:xfrm>
            <a:custGeom>
              <a:avLst/>
              <a:gdLst/>
              <a:ahLst/>
              <a:cxnLst/>
              <a:rect l="0" t="0" r="0" b="0"/>
              <a:pathLst>
                <a:path w="191" h="274320">
                  <a:moveTo>
                    <a:pt x="0" y="0"/>
                  </a:moveTo>
                  <a:lnTo>
                    <a:pt x="0" y="274320"/>
                  </a:lnTo>
                </a:path>
              </a:pathLst>
            </a:custGeom>
            <a:noFill/>
            <a:ln w="8505">
              <a:solidFill>
                <a:srgbClr val="77828C"/>
              </a:solidFill>
              <a:prstDash val="solid"/>
            </a:ln>
          </p:spPr>
        </p:sp>
        <p:sp>
          <p:nvSpPr>
            <p:cNvPr id="1402" name="GNN to graph attention refined head">
              <a:extLst>
                <a:ext uri="{FF2B5EF4-FFF2-40B4-BE49-F238E27FC236}">
                  <a16:creationId xmlns:a16="http://schemas.microsoft.com/office/drawing/2014/main" id="{F5D1A0D2-1869-EB89-61A3-D3ABFE580C35}"/>
                </a:ext>
              </a:extLst>
            </p:cNvPr>
            <p:cNvSpPr>
              <a:spLocks noGrp="1"/>
            </p:cNvSpPr>
            <p:nvPr/>
          </p:nvSpPr>
          <p:spPr>
            <a:xfrm>
              <a:off x="7039209" y="8165402"/>
              <a:ext cx="57340" cy="66675"/>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403" name="Identity to SMI-TED refined">
              <a:extLst>
                <a:ext uri="{FF2B5EF4-FFF2-40B4-BE49-F238E27FC236}">
                  <a16:creationId xmlns:a16="http://schemas.microsoft.com/office/drawing/2014/main" id="{416B661C-118E-CA99-59DC-DA4857A74E2E}"/>
                </a:ext>
              </a:extLst>
            </p:cNvPr>
            <p:cNvSpPr>
              <a:spLocks noGrp="1"/>
            </p:cNvSpPr>
            <p:nvPr/>
          </p:nvSpPr>
          <p:spPr>
            <a:xfrm>
              <a:off x="8637980" y="6638068"/>
              <a:ext cx="191" cy="326993"/>
            </a:xfrm>
            <a:custGeom>
              <a:avLst/>
              <a:gdLst/>
              <a:ahLst/>
              <a:cxnLst/>
              <a:rect l="0" t="0" r="0" b="0"/>
              <a:pathLst>
                <a:path w="191" h="326993">
                  <a:moveTo>
                    <a:pt x="0" y="0"/>
                  </a:moveTo>
                  <a:lnTo>
                    <a:pt x="0" y="326993"/>
                  </a:lnTo>
                </a:path>
              </a:pathLst>
            </a:custGeom>
            <a:noFill/>
            <a:ln w="8505">
              <a:solidFill>
                <a:srgbClr val="77828C"/>
              </a:solidFill>
              <a:prstDash val="solid"/>
            </a:ln>
          </p:spPr>
        </p:sp>
        <p:sp>
          <p:nvSpPr>
            <p:cNvPr id="1404" name="Identity to SMI-TED refined head">
              <a:extLst>
                <a:ext uri="{FF2B5EF4-FFF2-40B4-BE49-F238E27FC236}">
                  <a16:creationId xmlns:a16="http://schemas.microsoft.com/office/drawing/2014/main" id="{0BA2F96A-2AFB-7C00-99C8-78C9DC78B848}"/>
                </a:ext>
              </a:extLst>
            </p:cNvPr>
            <p:cNvSpPr>
              <a:spLocks noGrp="1"/>
            </p:cNvSpPr>
            <p:nvPr/>
          </p:nvSpPr>
          <p:spPr>
            <a:xfrm>
              <a:off x="8609310" y="6921722"/>
              <a:ext cx="57340" cy="66675"/>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405" name="SMI-TED to language refined">
              <a:extLst>
                <a:ext uri="{FF2B5EF4-FFF2-40B4-BE49-F238E27FC236}">
                  <a16:creationId xmlns:a16="http://schemas.microsoft.com/office/drawing/2014/main" id="{688B9630-847C-74A2-04EF-D75E08D7E423}"/>
                </a:ext>
              </a:extLst>
            </p:cNvPr>
            <p:cNvSpPr>
              <a:spLocks noGrp="1"/>
            </p:cNvSpPr>
            <p:nvPr/>
          </p:nvSpPr>
          <p:spPr>
            <a:xfrm>
              <a:off x="8637980" y="7304627"/>
              <a:ext cx="191" cy="1013841"/>
            </a:xfrm>
            <a:custGeom>
              <a:avLst/>
              <a:gdLst/>
              <a:ahLst/>
              <a:cxnLst/>
              <a:rect l="0" t="0" r="0" b="0"/>
              <a:pathLst>
                <a:path w="191" h="1013841">
                  <a:moveTo>
                    <a:pt x="0" y="0"/>
                  </a:moveTo>
                  <a:lnTo>
                    <a:pt x="0" y="1013841"/>
                  </a:lnTo>
                </a:path>
              </a:pathLst>
            </a:custGeom>
            <a:noFill/>
            <a:ln w="8505">
              <a:solidFill>
                <a:srgbClr val="77828C"/>
              </a:solidFill>
              <a:prstDash val="solid"/>
            </a:ln>
          </p:spPr>
        </p:sp>
        <p:sp>
          <p:nvSpPr>
            <p:cNvPr id="1406" name="SMI-TED to language refined head">
              <a:extLst>
                <a:ext uri="{FF2B5EF4-FFF2-40B4-BE49-F238E27FC236}">
                  <a16:creationId xmlns:a16="http://schemas.microsoft.com/office/drawing/2014/main" id="{7251A2B8-D12B-A433-6B0D-10AA76953AAB}"/>
                </a:ext>
              </a:extLst>
            </p:cNvPr>
            <p:cNvSpPr>
              <a:spLocks noGrp="1"/>
            </p:cNvSpPr>
            <p:nvPr/>
          </p:nvSpPr>
          <p:spPr>
            <a:xfrm>
              <a:off x="8609310" y="8275130"/>
              <a:ext cx="57340" cy="66675"/>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407" name="Other identities refined">
              <a:extLst>
                <a:ext uri="{FF2B5EF4-FFF2-40B4-BE49-F238E27FC236}">
                  <a16:creationId xmlns:a16="http://schemas.microsoft.com/office/drawing/2014/main" id="{A4787BA6-E950-16B8-B01A-9B4C92E13C7A}"/>
                </a:ext>
              </a:extLst>
            </p:cNvPr>
            <p:cNvSpPr>
              <a:spLocks noGrp="1"/>
            </p:cNvSpPr>
            <p:nvPr/>
          </p:nvSpPr>
          <p:spPr>
            <a:xfrm>
              <a:off x="9616579" y="5581174"/>
              <a:ext cx="613886" cy="1373695"/>
            </a:xfrm>
            <a:custGeom>
              <a:avLst/>
              <a:gdLst/>
              <a:ahLst/>
              <a:cxnLst/>
              <a:rect l="0" t="0" r="0" b="0"/>
              <a:pathLst>
                <a:path w="613886" h="1373695">
                  <a:moveTo>
                    <a:pt x="0" y="0"/>
                  </a:moveTo>
                  <a:lnTo>
                    <a:pt x="613886" y="0"/>
                  </a:lnTo>
                  <a:lnTo>
                    <a:pt x="613886" y="1373695"/>
                  </a:lnTo>
                </a:path>
              </a:pathLst>
            </a:custGeom>
            <a:noFill/>
            <a:ln w="8505">
              <a:solidFill>
                <a:srgbClr val="77828C"/>
              </a:solidFill>
              <a:prstDash val="solid"/>
            </a:ln>
          </p:spPr>
        </p:sp>
        <p:sp>
          <p:nvSpPr>
            <p:cNvPr id="1408" name="Other identities refined head">
              <a:extLst>
                <a:ext uri="{FF2B5EF4-FFF2-40B4-BE49-F238E27FC236}">
                  <a16:creationId xmlns:a16="http://schemas.microsoft.com/office/drawing/2014/main" id="{9D094DDB-3471-ECAC-BCA5-E9612E620328}"/>
                </a:ext>
              </a:extLst>
            </p:cNvPr>
            <p:cNvSpPr>
              <a:spLocks noGrp="1"/>
            </p:cNvSpPr>
            <p:nvPr/>
          </p:nvSpPr>
          <p:spPr>
            <a:xfrm>
              <a:off x="10201795" y="6911531"/>
              <a:ext cx="57340" cy="66675"/>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409" name="Other identities middle refined">
              <a:extLst>
                <a:ext uri="{FF2B5EF4-FFF2-40B4-BE49-F238E27FC236}">
                  <a16:creationId xmlns:a16="http://schemas.microsoft.com/office/drawing/2014/main" id="{43A875F1-64CC-3AE0-16D0-832B017C6CB3}"/>
                </a:ext>
              </a:extLst>
            </p:cNvPr>
            <p:cNvSpPr>
              <a:spLocks noGrp="1"/>
            </p:cNvSpPr>
            <p:nvPr/>
          </p:nvSpPr>
          <p:spPr>
            <a:xfrm>
              <a:off x="9616579" y="5851112"/>
              <a:ext cx="613886" cy="191"/>
            </a:xfrm>
            <a:custGeom>
              <a:avLst/>
              <a:gdLst/>
              <a:ahLst/>
              <a:cxnLst/>
              <a:rect l="0" t="0" r="0" b="0"/>
              <a:pathLst>
                <a:path w="613886" h="191">
                  <a:moveTo>
                    <a:pt x="0" y="0"/>
                  </a:moveTo>
                  <a:lnTo>
                    <a:pt x="613886" y="0"/>
                  </a:lnTo>
                </a:path>
              </a:pathLst>
            </a:custGeom>
            <a:noFill/>
            <a:ln w="8505">
              <a:solidFill>
                <a:srgbClr val="77828C"/>
              </a:solidFill>
              <a:prstDash val="solid"/>
            </a:ln>
          </p:spPr>
        </p:sp>
        <p:sp>
          <p:nvSpPr>
            <p:cNvPr id="1410" name="Other identities lower refined">
              <a:extLst>
                <a:ext uri="{FF2B5EF4-FFF2-40B4-BE49-F238E27FC236}">
                  <a16:creationId xmlns:a16="http://schemas.microsoft.com/office/drawing/2014/main" id="{D83A070A-E1D1-4067-2310-74DC30F9F921}"/>
                </a:ext>
              </a:extLst>
            </p:cNvPr>
            <p:cNvSpPr>
              <a:spLocks noGrp="1"/>
            </p:cNvSpPr>
            <p:nvPr/>
          </p:nvSpPr>
          <p:spPr>
            <a:xfrm>
              <a:off x="9616579" y="6533293"/>
              <a:ext cx="613886" cy="191"/>
            </a:xfrm>
            <a:custGeom>
              <a:avLst/>
              <a:gdLst/>
              <a:ahLst/>
              <a:cxnLst/>
              <a:rect l="0" t="0" r="0" b="0"/>
              <a:pathLst>
                <a:path w="613886" h="191">
                  <a:moveTo>
                    <a:pt x="0" y="0"/>
                  </a:moveTo>
                  <a:lnTo>
                    <a:pt x="613886" y="0"/>
                  </a:lnTo>
                </a:path>
              </a:pathLst>
            </a:custGeom>
            <a:noFill/>
            <a:ln w="8505">
              <a:solidFill>
                <a:srgbClr val="77828C"/>
              </a:solidFill>
              <a:prstDash val="solid"/>
            </a:ln>
          </p:spPr>
        </p:sp>
        <p:sp>
          <p:nvSpPr>
            <p:cNvPr id="1411" name="Context SMI-TED to matrix refined">
              <a:extLst>
                <a:ext uri="{FF2B5EF4-FFF2-40B4-BE49-F238E27FC236}">
                  <a16:creationId xmlns:a16="http://schemas.microsoft.com/office/drawing/2014/main" id="{3BA39657-BA55-8B03-4B42-2E8CA0F2402A}"/>
                </a:ext>
              </a:extLst>
            </p:cNvPr>
            <p:cNvSpPr>
              <a:spLocks noGrp="1"/>
            </p:cNvSpPr>
            <p:nvPr/>
          </p:nvSpPr>
          <p:spPr>
            <a:xfrm>
              <a:off x="10240942" y="7294436"/>
              <a:ext cx="191" cy="264128"/>
            </a:xfrm>
            <a:custGeom>
              <a:avLst/>
              <a:gdLst/>
              <a:ahLst/>
              <a:cxnLst/>
              <a:rect l="0" t="0" r="0" b="0"/>
              <a:pathLst>
                <a:path w="191" h="264128">
                  <a:moveTo>
                    <a:pt x="0" y="0"/>
                  </a:moveTo>
                  <a:lnTo>
                    <a:pt x="0" y="264128"/>
                  </a:lnTo>
                </a:path>
              </a:pathLst>
            </a:custGeom>
            <a:noFill/>
            <a:ln w="8505">
              <a:solidFill>
                <a:srgbClr val="77828C"/>
              </a:solidFill>
              <a:prstDash val="solid"/>
            </a:ln>
          </p:spPr>
        </p:sp>
        <p:sp>
          <p:nvSpPr>
            <p:cNvPr id="1412" name="Context SMI-TED to matrix refined head">
              <a:extLst>
                <a:ext uri="{FF2B5EF4-FFF2-40B4-BE49-F238E27FC236}">
                  <a16:creationId xmlns:a16="http://schemas.microsoft.com/office/drawing/2014/main" id="{46BBCF7E-77B7-430B-5E68-8D5D4D07C9BA}"/>
                </a:ext>
              </a:extLst>
            </p:cNvPr>
            <p:cNvSpPr>
              <a:spLocks noGrp="1"/>
            </p:cNvSpPr>
            <p:nvPr/>
          </p:nvSpPr>
          <p:spPr>
            <a:xfrm>
              <a:off x="10212272" y="7515226"/>
              <a:ext cx="57339" cy="66676"/>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413" name="Context matrix to attention refined">
              <a:extLst>
                <a:ext uri="{FF2B5EF4-FFF2-40B4-BE49-F238E27FC236}">
                  <a16:creationId xmlns:a16="http://schemas.microsoft.com/office/drawing/2014/main" id="{19123C2B-08C0-5942-5974-56E3DB290164}"/>
                </a:ext>
              </a:extLst>
            </p:cNvPr>
            <p:cNvSpPr>
              <a:spLocks noGrp="1"/>
            </p:cNvSpPr>
            <p:nvPr/>
          </p:nvSpPr>
          <p:spPr>
            <a:xfrm>
              <a:off x="10230465" y="7958995"/>
              <a:ext cx="191" cy="249745"/>
            </a:xfrm>
            <a:custGeom>
              <a:avLst/>
              <a:gdLst/>
              <a:ahLst/>
              <a:cxnLst/>
              <a:rect l="0" t="0" r="0" b="0"/>
              <a:pathLst>
                <a:path w="191" h="249745">
                  <a:moveTo>
                    <a:pt x="0" y="0"/>
                  </a:moveTo>
                  <a:lnTo>
                    <a:pt x="0" y="249745"/>
                  </a:lnTo>
                </a:path>
              </a:pathLst>
            </a:custGeom>
            <a:noFill/>
            <a:ln w="8505">
              <a:solidFill>
                <a:srgbClr val="77828C"/>
              </a:solidFill>
              <a:prstDash val="solid"/>
            </a:ln>
          </p:spPr>
        </p:sp>
        <p:sp>
          <p:nvSpPr>
            <p:cNvPr id="1414" name="Context matrix to attention refined head">
              <a:extLst>
                <a:ext uri="{FF2B5EF4-FFF2-40B4-BE49-F238E27FC236}">
                  <a16:creationId xmlns:a16="http://schemas.microsoft.com/office/drawing/2014/main" id="{F6D726DD-707A-38A3-9C89-49061435E2BF}"/>
                </a:ext>
              </a:extLst>
            </p:cNvPr>
            <p:cNvSpPr>
              <a:spLocks noGrp="1"/>
            </p:cNvSpPr>
            <p:nvPr/>
          </p:nvSpPr>
          <p:spPr>
            <a:xfrm>
              <a:off x="10201795" y="8165402"/>
              <a:ext cx="57340" cy="66675"/>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415" name="Language query left refined">
              <a:extLst>
                <a:ext uri="{FF2B5EF4-FFF2-40B4-BE49-F238E27FC236}">
                  <a16:creationId xmlns:a16="http://schemas.microsoft.com/office/drawing/2014/main" id="{739AFAAD-E669-E2AC-687E-E59FC6E7FAD2}"/>
                </a:ext>
              </a:extLst>
            </p:cNvPr>
            <p:cNvSpPr>
              <a:spLocks noGrp="1"/>
            </p:cNvSpPr>
            <p:nvPr/>
          </p:nvSpPr>
          <p:spPr>
            <a:xfrm>
              <a:off x="7816735" y="8408765"/>
              <a:ext cx="479012" cy="191"/>
            </a:xfrm>
            <a:custGeom>
              <a:avLst/>
              <a:gdLst/>
              <a:ahLst/>
              <a:cxnLst/>
              <a:rect l="0" t="0" r="0" b="0"/>
              <a:pathLst>
                <a:path w="479012" h="191">
                  <a:moveTo>
                    <a:pt x="479012" y="0"/>
                  </a:moveTo>
                  <a:lnTo>
                    <a:pt x="0" y="0"/>
                  </a:lnTo>
                </a:path>
              </a:pathLst>
            </a:custGeom>
            <a:noFill/>
            <a:ln w="8505">
              <a:solidFill>
                <a:srgbClr val="77828C"/>
              </a:solidFill>
              <a:prstDash val="solid"/>
            </a:ln>
          </p:spPr>
        </p:sp>
        <p:sp>
          <p:nvSpPr>
            <p:cNvPr id="1416" name="Language query left refined head">
              <a:extLst>
                <a:ext uri="{FF2B5EF4-FFF2-40B4-BE49-F238E27FC236}">
                  <a16:creationId xmlns:a16="http://schemas.microsoft.com/office/drawing/2014/main" id="{98D92A42-D662-B44C-CD57-583BDD75174C}"/>
                </a:ext>
              </a:extLst>
            </p:cNvPr>
            <p:cNvSpPr>
              <a:spLocks noGrp="1"/>
            </p:cNvSpPr>
            <p:nvPr/>
          </p:nvSpPr>
          <p:spPr>
            <a:xfrm>
              <a:off x="7793398" y="8380095"/>
              <a:ext cx="66675" cy="57340"/>
            </a:xfrm>
            <a:custGeom>
              <a:avLst/>
              <a:gdLst/>
              <a:ahLst/>
              <a:cxnLst/>
              <a:rect l="0" t="0" r="0" b="0"/>
              <a:pathLst>
                <a:path w="66675" h="57340">
                  <a:moveTo>
                    <a:pt x="0" y="28670"/>
                  </a:moveTo>
                  <a:lnTo>
                    <a:pt x="66675" y="57340"/>
                  </a:lnTo>
                  <a:lnTo>
                    <a:pt x="66675" y="0"/>
                  </a:lnTo>
                  <a:close/>
                </a:path>
              </a:pathLst>
            </a:custGeom>
            <a:solidFill>
              <a:srgbClr val="77828C"/>
            </a:solidFill>
            <a:ln w="0">
              <a:noFill/>
              <a:prstDash val="solid"/>
            </a:ln>
          </p:spPr>
        </p:sp>
        <p:sp>
          <p:nvSpPr>
            <p:cNvPr id="1417" name="Language query right refined">
              <a:extLst>
                <a:ext uri="{FF2B5EF4-FFF2-40B4-BE49-F238E27FC236}">
                  <a16:creationId xmlns:a16="http://schemas.microsoft.com/office/drawing/2014/main" id="{97C332FD-B4F7-4A69-7F24-BE35ED3CC233}"/>
                </a:ext>
              </a:extLst>
            </p:cNvPr>
            <p:cNvSpPr>
              <a:spLocks noGrp="1"/>
            </p:cNvSpPr>
            <p:nvPr/>
          </p:nvSpPr>
          <p:spPr>
            <a:xfrm>
              <a:off x="8965450" y="8408765"/>
              <a:ext cx="478917" cy="191"/>
            </a:xfrm>
            <a:custGeom>
              <a:avLst/>
              <a:gdLst/>
              <a:ahLst/>
              <a:cxnLst/>
              <a:rect l="0" t="0" r="0" b="0"/>
              <a:pathLst>
                <a:path w="478917" h="191">
                  <a:moveTo>
                    <a:pt x="0" y="0"/>
                  </a:moveTo>
                  <a:lnTo>
                    <a:pt x="478917" y="0"/>
                  </a:lnTo>
                </a:path>
              </a:pathLst>
            </a:custGeom>
            <a:noFill/>
            <a:ln w="8505">
              <a:solidFill>
                <a:srgbClr val="77828C"/>
              </a:solidFill>
              <a:prstDash val="solid"/>
            </a:ln>
          </p:spPr>
        </p:sp>
        <p:sp>
          <p:nvSpPr>
            <p:cNvPr id="1418" name="Language query right refined head">
              <a:extLst>
                <a:ext uri="{FF2B5EF4-FFF2-40B4-BE49-F238E27FC236}">
                  <a16:creationId xmlns:a16="http://schemas.microsoft.com/office/drawing/2014/main" id="{4B6A3B32-B3D1-5F9B-FDB9-6517BE3635C2}"/>
                </a:ext>
              </a:extLst>
            </p:cNvPr>
            <p:cNvSpPr>
              <a:spLocks noGrp="1"/>
            </p:cNvSpPr>
            <p:nvPr/>
          </p:nvSpPr>
          <p:spPr>
            <a:xfrm>
              <a:off x="9401028" y="8380095"/>
              <a:ext cx="66675" cy="57340"/>
            </a:xfrm>
            <a:custGeom>
              <a:avLst/>
              <a:gdLst/>
              <a:ahLst/>
              <a:cxnLst/>
              <a:rect l="0" t="0" r="0" b="0"/>
              <a:pathLst>
                <a:path w="66675" h="57340">
                  <a:moveTo>
                    <a:pt x="66675" y="28670"/>
                  </a:moveTo>
                  <a:lnTo>
                    <a:pt x="0" y="0"/>
                  </a:lnTo>
                  <a:lnTo>
                    <a:pt x="0" y="57340"/>
                  </a:lnTo>
                  <a:close/>
                </a:path>
              </a:pathLst>
            </a:custGeom>
            <a:solidFill>
              <a:srgbClr val="77828C"/>
            </a:solidFill>
            <a:ln w="0">
              <a:noFill/>
              <a:prstDash val="solid"/>
            </a:ln>
          </p:spPr>
        </p:sp>
        <p:sp>
          <p:nvSpPr>
            <p:cNvPr id="1419" name="Language to fusion refined">
              <a:extLst>
                <a:ext uri="{FF2B5EF4-FFF2-40B4-BE49-F238E27FC236}">
                  <a16:creationId xmlns:a16="http://schemas.microsoft.com/office/drawing/2014/main" id="{CC1BD470-88ED-E459-BC64-3926AF1B81FC}"/>
                </a:ext>
              </a:extLst>
            </p:cNvPr>
            <p:cNvSpPr>
              <a:spLocks noGrp="1"/>
            </p:cNvSpPr>
            <p:nvPr/>
          </p:nvSpPr>
          <p:spPr>
            <a:xfrm>
              <a:off x="8630551" y="8475726"/>
              <a:ext cx="191" cy="281845"/>
            </a:xfrm>
            <a:custGeom>
              <a:avLst/>
              <a:gdLst/>
              <a:ahLst/>
              <a:cxnLst/>
              <a:rect l="0" t="0" r="0" b="0"/>
              <a:pathLst>
                <a:path w="191" h="281845">
                  <a:moveTo>
                    <a:pt x="0" y="0"/>
                  </a:moveTo>
                  <a:lnTo>
                    <a:pt x="0" y="281845"/>
                  </a:lnTo>
                </a:path>
              </a:pathLst>
            </a:custGeom>
            <a:noFill/>
            <a:ln w="8505">
              <a:solidFill>
                <a:srgbClr val="77828C"/>
              </a:solidFill>
              <a:prstDash val="solid"/>
            </a:ln>
          </p:spPr>
        </p:sp>
        <p:sp>
          <p:nvSpPr>
            <p:cNvPr id="1420" name="Language to fusion refined head">
              <a:extLst>
                <a:ext uri="{FF2B5EF4-FFF2-40B4-BE49-F238E27FC236}">
                  <a16:creationId xmlns:a16="http://schemas.microsoft.com/office/drawing/2014/main" id="{7DE28A53-D82C-C158-A00E-484E630E57C6}"/>
                </a:ext>
              </a:extLst>
            </p:cNvPr>
            <p:cNvSpPr>
              <a:spLocks noGrp="1"/>
            </p:cNvSpPr>
            <p:nvPr/>
          </p:nvSpPr>
          <p:spPr>
            <a:xfrm>
              <a:off x="8601880" y="8714232"/>
              <a:ext cx="57340" cy="66675"/>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421" name="Graph attention to fusion refined">
              <a:extLst>
                <a:ext uri="{FF2B5EF4-FFF2-40B4-BE49-F238E27FC236}">
                  <a16:creationId xmlns:a16="http://schemas.microsoft.com/office/drawing/2014/main" id="{9DE07E88-6455-6397-3B15-5E2794D66EC1}"/>
                </a:ext>
              </a:extLst>
            </p:cNvPr>
            <p:cNvSpPr>
              <a:spLocks noGrp="1"/>
            </p:cNvSpPr>
            <p:nvPr/>
          </p:nvSpPr>
          <p:spPr>
            <a:xfrm>
              <a:off x="7067879" y="8585549"/>
              <a:ext cx="1092899" cy="362807"/>
            </a:xfrm>
            <a:custGeom>
              <a:avLst/>
              <a:gdLst/>
              <a:ahLst/>
              <a:cxnLst/>
              <a:rect l="0" t="0" r="0" b="0"/>
              <a:pathLst>
                <a:path w="1092899" h="362807">
                  <a:moveTo>
                    <a:pt x="0" y="0"/>
                  </a:moveTo>
                  <a:lnTo>
                    <a:pt x="0" y="362807"/>
                  </a:lnTo>
                  <a:lnTo>
                    <a:pt x="1092899" y="362807"/>
                  </a:lnTo>
                </a:path>
              </a:pathLst>
            </a:custGeom>
            <a:noFill/>
            <a:ln w="8505">
              <a:solidFill>
                <a:srgbClr val="77828C"/>
              </a:solidFill>
              <a:prstDash val="solid"/>
            </a:ln>
          </p:spPr>
        </p:sp>
        <p:sp>
          <p:nvSpPr>
            <p:cNvPr id="1422" name="Graph attention to fusion refined head">
              <a:extLst>
                <a:ext uri="{FF2B5EF4-FFF2-40B4-BE49-F238E27FC236}">
                  <a16:creationId xmlns:a16="http://schemas.microsoft.com/office/drawing/2014/main" id="{80249588-4991-7EA9-C183-E31DFF970425}"/>
                </a:ext>
              </a:extLst>
            </p:cNvPr>
            <p:cNvSpPr>
              <a:spLocks noGrp="1"/>
            </p:cNvSpPr>
            <p:nvPr/>
          </p:nvSpPr>
          <p:spPr>
            <a:xfrm>
              <a:off x="8117439" y="8919686"/>
              <a:ext cx="66675" cy="57340"/>
            </a:xfrm>
            <a:custGeom>
              <a:avLst/>
              <a:gdLst/>
              <a:ahLst/>
              <a:cxnLst/>
              <a:rect l="0" t="0" r="0" b="0"/>
              <a:pathLst>
                <a:path w="66675" h="57340">
                  <a:moveTo>
                    <a:pt x="66675" y="28670"/>
                  </a:moveTo>
                  <a:lnTo>
                    <a:pt x="0" y="0"/>
                  </a:lnTo>
                  <a:lnTo>
                    <a:pt x="0" y="57340"/>
                  </a:lnTo>
                  <a:close/>
                </a:path>
              </a:pathLst>
            </a:custGeom>
            <a:solidFill>
              <a:srgbClr val="77828C"/>
            </a:solidFill>
            <a:ln w="0">
              <a:noFill/>
              <a:prstDash val="solid"/>
            </a:ln>
          </p:spPr>
        </p:sp>
        <p:sp>
          <p:nvSpPr>
            <p:cNvPr id="1423" name="Context attention to fusion refined">
              <a:extLst>
                <a:ext uri="{FF2B5EF4-FFF2-40B4-BE49-F238E27FC236}">
                  <a16:creationId xmlns:a16="http://schemas.microsoft.com/office/drawing/2014/main" id="{EB1CDE84-2AAC-05C7-2AC2-7F0CD69C4010}"/>
                </a:ext>
              </a:extLst>
            </p:cNvPr>
            <p:cNvSpPr>
              <a:spLocks noGrp="1"/>
            </p:cNvSpPr>
            <p:nvPr/>
          </p:nvSpPr>
          <p:spPr>
            <a:xfrm>
              <a:off x="9100419" y="8585549"/>
              <a:ext cx="1130046" cy="362807"/>
            </a:xfrm>
            <a:custGeom>
              <a:avLst/>
              <a:gdLst/>
              <a:ahLst/>
              <a:cxnLst/>
              <a:rect l="0" t="0" r="0" b="0"/>
              <a:pathLst>
                <a:path w="1130046" h="362807">
                  <a:moveTo>
                    <a:pt x="1130046" y="0"/>
                  </a:moveTo>
                  <a:lnTo>
                    <a:pt x="1130046" y="362807"/>
                  </a:lnTo>
                  <a:lnTo>
                    <a:pt x="0" y="362807"/>
                  </a:lnTo>
                </a:path>
              </a:pathLst>
            </a:custGeom>
            <a:noFill/>
            <a:ln w="8505">
              <a:solidFill>
                <a:srgbClr val="77828C"/>
              </a:solidFill>
              <a:prstDash val="solid"/>
            </a:ln>
          </p:spPr>
        </p:sp>
        <p:sp>
          <p:nvSpPr>
            <p:cNvPr id="1424" name="Context attention to fusion refined head">
              <a:extLst>
                <a:ext uri="{FF2B5EF4-FFF2-40B4-BE49-F238E27FC236}">
                  <a16:creationId xmlns:a16="http://schemas.microsoft.com/office/drawing/2014/main" id="{2AAA0335-3D51-EA88-2522-F717A483BF32}"/>
                </a:ext>
              </a:extLst>
            </p:cNvPr>
            <p:cNvSpPr>
              <a:spLocks noGrp="1"/>
            </p:cNvSpPr>
            <p:nvPr/>
          </p:nvSpPr>
          <p:spPr>
            <a:xfrm>
              <a:off x="9077083" y="8919686"/>
              <a:ext cx="66675" cy="57340"/>
            </a:xfrm>
            <a:custGeom>
              <a:avLst/>
              <a:gdLst/>
              <a:ahLst/>
              <a:cxnLst/>
              <a:rect l="0" t="0" r="0" b="0"/>
              <a:pathLst>
                <a:path w="66675" h="57340">
                  <a:moveTo>
                    <a:pt x="0" y="28670"/>
                  </a:moveTo>
                  <a:lnTo>
                    <a:pt x="66675" y="57340"/>
                  </a:lnTo>
                  <a:lnTo>
                    <a:pt x="66675" y="0"/>
                  </a:lnTo>
                  <a:close/>
                </a:path>
              </a:pathLst>
            </a:custGeom>
            <a:solidFill>
              <a:srgbClr val="77828C"/>
            </a:solidFill>
            <a:ln w="0">
              <a:noFill/>
              <a:prstDash val="solid"/>
            </a:ln>
          </p:spPr>
        </p:sp>
        <p:sp>
          <p:nvSpPr>
            <p:cNvPr id="1425" name="Fusion to identity vector refined">
              <a:extLst>
                <a:ext uri="{FF2B5EF4-FFF2-40B4-BE49-F238E27FC236}">
                  <a16:creationId xmlns:a16="http://schemas.microsoft.com/office/drawing/2014/main" id="{67958AAC-3FC5-4E94-249E-68F363396C6E}"/>
                </a:ext>
              </a:extLst>
            </p:cNvPr>
            <p:cNvSpPr>
              <a:spLocks noGrp="1"/>
            </p:cNvSpPr>
            <p:nvPr/>
          </p:nvSpPr>
          <p:spPr>
            <a:xfrm>
              <a:off x="8630551" y="9115806"/>
              <a:ext cx="191" cy="244507"/>
            </a:xfrm>
            <a:custGeom>
              <a:avLst/>
              <a:gdLst/>
              <a:ahLst/>
              <a:cxnLst/>
              <a:rect l="0" t="0" r="0" b="0"/>
              <a:pathLst>
                <a:path w="191" h="244507">
                  <a:moveTo>
                    <a:pt x="0" y="0"/>
                  </a:moveTo>
                  <a:lnTo>
                    <a:pt x="0" y="244507"/>
                  </a:lnTo>
                </a:path>
              </a:pathLst>
            </a:custGeom>
            <a:noFill/>
            <a:ln w="8505">
              <a:solidFill>
                <a:srgbClr val="77828C"/>
              </a:solidFill>
              <a:prstDash val="solid"/>
            </a:ln>
          </p:spPr>
        </p:sp>
        <p:sp>
          <p:nvSpPr>
            <p:cNvPr id="1426" name="Fusion to identity vector refined head">
              <a:extLst>
                <a:ext uri="{FF2B5EF4-FFF2-40B4-BE49-F238E27FC236}">
                  <a16:creationId xmlns:a16="http://schemas.microsoft.com/office/drawing/2014/main" id="{5B85A195-1A68-48DC-E553-B1E99915D03B}"/>
                </a:ext>
              </a:extLst>
            </p:cNvPr>
            <p:cNvSpPr>
              <a:spLocks noGrp="1"/>
            </p:cNvSpPr>
            <p:nvPr/>
          </p:nvSpPr>
          <p:spPr>
            <a:xfrm>
              <a:off x="8601880" y="9316974"/>
              <a:ext cx="57340" cy="66675"/>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427" name="Identity vector to cosine refined">
              <a:extLst>
                <a:ext uri="{FF2B5EF4-FFF2-40B4-BE49-F238E27FC236}">
                  <a16:creationId xmlns:a16="http://schemas.microsoft.com/office/drawing/2014/main" id="{DDE80B97-A909-A736-F258-523B74319AC3}"/>
                </a:ext>
              </a:extLst>
            </p:cNvPr>
            <p:cNvSpPr>
              <a:spLocks noGrp="1"/>
            </p:cNvSpPr>
            <p:nvPr/>
          </p:nvSpPr>
          <p:spPr>
            <a:xfrm>
              <a:off x="8630551" y="9517571"/>
              <a:ext cx="191" cy="253841"/>
            </a:xfrm>
            <a:custGeom>
              <a:avLst/>
              <a:gdLst/>
              <a:ahLst/>
              <a:cxnLst/>
              <a:rect l="0" t="0" r="0" b="0"/>
              <a:pathLst>
                <a:path w="191" h="253841">
                  <a:moveTo>
                    <a:pt x="0" y="0"/>
                  </a:moveTo>
                  <a:lnTo>
                    <a:pt x="0" y="253841"/>
                  </a:lnTo>
                </a:path>
              </a:pathLst>
            </a:custGeom>
            <a:noFill/>
            <a:ln w="8505">
              <a:solidFill>
                <a:srgbClr val="77828C"/>
              </a:solidFill>
              <a:prstDash val="solid"/>
            </a:ln>
          </p:spPr>
        </p:sp>
        <p:sp>
          <p:nvSpPr>
            <p:cNvPr id="1428" name="Identity vector to cosine refined head">
              <a:extLst>
                <a:ext uri="{FF2B5EF4-FFF2-40B4-BE49-F238E27FC236}">
                  <a16:creationId xmlns:a16="http://schemas.microsoft.com/office/drawing/2014/main" id="{E490B029-346A-A57E-7B15-889C23CE6281}"/>
                </a:ext>
              </a:extLst>
            </p:cNvPr>
            <p:cNvSpPr>
              <a:spLocks noGrp="1"/>
            </p:cNvSpPr>
            <p:nvPr/>
          </p:nvSpPr>
          <p:spPr>
            <a:xfrm>
              <a:off x="8601880" y="9728073"/>
              <a:ext cx="57340" cy="66675"/>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429" name="Cosine to score matrix refined">
              <a:extLst>
                <a:ext uri="{FF2B5EF4-FFF2-40B4-BE49-F238E27FC236}">
                  <a16:creationId xmlns:a16="http://schemas.microsoft.com/office/drawing/2014/main" id="{B53F289C-77E1-6513-62C8-F939A23BF1B2}"/>
                </a:ext>
              </a:extLst>
            </p:cNvPr>
            <p:cNvSpPr>
              <a:spLocks noGrp="1"/>
            </p:cNvSpPr>
            <p:nvPr/>
          </p:nvSpPr>
          <p:spPr>
            <a:xfrm>
              <a:off x="9044913" y="9971531"/>
              <a:ext cx="619030" cy="190"/>
            </a:xfrm>
            <a:custGeom>
              <a:avLst/>
              <a:gdLst/>
              <a:ahLst/>
              <a:cxnLst/>
              <a:rect l="0" t="0" r="0" b="0"/>
              <a:pathLst>
                <a:path w="619030" h="191">
                  <a:moveTo>
                    <a:pt x="0" y="0"/>
                  </a:moveTo>
                  <a:lnTo>
                    <a:pt x="619030" y="0"/>
                  </a:lnTo>
                </a:path>
              </a:pathLst>
            </a:custGeom>
            <a:noFill/>
            <a:ln w="8505">
              <a:solidFill>
                <a:srgbClr val="77828C"/>
              </a:solidFill>
              <a:prstDash val="solid"/>
            </a:ln>
          </p:spPr>
        </p:sp>
        <p:sp>
          <p:nvSpPr>
            <p:cNvPr id="1430" name="Cosine to score matrix refined head">
              <a:extLst>
                <a:ext uri="{FF2B5EF4-FFF2-40B4-BE49-F238E27FC236}">
                  <a16:creationId xmlns:a16="http://schemas.microsoft.com/office/drawing/2014/main" id="{7D1ABF5A-29C9-76A4-1903-E132A41C0C6D}"/>
                </a:ext>
              </a:extLst>
            </p:cNvPr>
            <p:cNvSpPr>
              <a:spLocks noGrp="1"/>
            </p:cNvSpPr>
            <p:nvPr/>
          </p:nvSpPr>
          <p:spPr>
            <a:xfrm>
              <a:off x="9615626" y="9942862"/>
              <a:ext cx="66675" cy="57340"/>
            </a:xfrm>
            <a:custGeom>
              <a:avLst/>
              <a:gdLst/>
              <a:ahLst/>
              <a:cxnLst/>
              <a:rect l="0" t="0" r="0" b="0"/>
              <a:pathLst>
                <a:path w="66675" h="57340">
                  <a:moveTo>
                    <a:pt x="66675" y="28670"/>
                  </a:moveTo>
                  <a:lnTo>
                    <a:pt x="0" y="0"/>
                  </a:lnTo>
                  <a:lnTo>
                    <a:pt x="0" y="57340"/>
                  </a:lnTo>
                  <a:close/>
                </a:path>
              </a:pathLst>
            </a:custGeom>
            <a:solidFill>
              <a:srgbClr val="77828C"/>
            </a:solidFill>
            <a:ln w="0">
              <a:noFill/>
              <a:prstDash val="solid"/>
            </a:ln>
          </p:spPr>
        </p:sp>
      </p:grpSp>
      <p:pic>
        <p:nvPicPr>
          <p:cNvPr id="1436" name="Match clear receptor" descr="Receptor cartoon rendered from unchanged local coordinates, chain C1 of the 9LLG CA2 model.">
            <a:extLst>
              <a:ext uri="{FF2B5EF4-FFF2-40B4-BE49-F238E27FC236}">
                <a16:creationId xmlns:a16="http://schemas.microsoft.com/office/drawing/2014/main" id="{515E1CE9-4EFA-F96B-A08A-C6C2EC64DC6F}"/>
              </a:ext>
            </a:extLst>
          </p:cNvPr>
          <p:cNvPicPr/>
          <p:nvPr/>
        </p:nvPicPr>
        <p:blipFill>
          <a:blip r:embed="rId7"/>
          <a:srcRect l="16857" t="30389" r="19786" b="22500"/>
          <a:stretch>
            <a:fillRect/>
          </a:stretch>
        </p:blipFill>
        <p:spPr>
          <a:xfrm>
            <a:off x="664274" y="2388765"/>
            <a:ext cx="332109" cy="317507"/>
          </a:xfrm>
          <a:prstGeom prst="rect">
            <a:avLst/>
          </a:prstGeom>
        </p:spPr>
      </p:pic>
      <p:sp>
        <p:nvSpPr>
          <p:cNvPr id="1442" name="文本框 1441">
            <a:extLst>
              <a:ext uri="{FF2B5EF4-FFF2-40B4-BE49-F238E27FC236}">
                <a16:creationId xmlns:a16="http://schemas.microsoft.com/office/drawing/2014/main" id="{814431DA-F1EE-CFB8-E7E0-CF4D130ECF44}"/>
              </a:ext>
            </a:extLst>
          </p:cNvPr>
          <p:cNvSpPr txBox="1"/>
          <p:nvPr/>
        </p:nvSpPr>
        <p:spPr>
          <a:xfrm>
            <a:off x="1260165" y="775016"/>
            <a:ext cx="559769" cy="176972"/>
          </a:xfrm>
          <a:prstGeom prst="rect">
            <a:avLst/>
          </a:prstGeom>
          <a:noFill/>
        </p:spPr>
        <p:txBody>
          <a:bodyPr wrap="none" rtlCol="0">
            <a:spAutoFit/>
          </a:bodyPr>
          <a:lstStyle/>
          <a:p>
            <a:r>
              <a:rPr lang="en-US" altLang="zh-CN" sz="550" dirty="0">
                <a:solidFill>
                  <a:srgbClr val="263442"/>
                </a:solidFill>
                <a:latin typeface="Arial"/>
                <a:cs typeface="Arial"/>
              </a:rPr>
              <a:t>56 channels</a:t>
            </a:r>
            <a:endParaRPr lang="zh-CN" altLang="en-US" sz="550" dirty="0">
              <a:solidFill>
                <a:srgbClr val="263442"/>
              </a:solidFill>
              <a:latin typeface="Arial"/>
              <a:cs typeface="Arial"/>
            </a:endParaRPr>
          </a:p>
        </p:txBody>
      </p:sp>
      <p:sp>
        <p:nvSpPr>
          <p:cNvPr id="1443" name="V8 embedding computation frame">
            <a:extLst>
              <a:ext uri="{FF2B5EF4-FFF2-40B4-BE49-F238E27FC236}">
                <a16:creationId xmlns:a16="http://schemas.microsoft.com/office/drawing/2014/main" id="{FB41A424-8C9A-2DA8-76B2-57C0C54ECB10}"/>
              </a:ext>
            </a:extLst>
          </p:cNvPr>
          <p:cNvSpPr/>
          <p:nvPr/>
        </p:nvSpPr>
        <p:spPr>
          <a:xfrm>
            <a:off x="1351898" y="1318283"/>
            <a:ext cx="386080" cy="417830"/>
          </a:xfrm>
          <a:prstGeom prst="roundRect">
            <a:avLst>
              <a:gd name="adj" fmla="val 6579"/>
            </a:avLst>
          </a:prstGeom>
          <a:solidFill>
            <a:srgbClr val="F4F6F7"/>
          </a:solidFill>
          <a:ln w="6096" cap="rnd">
            <a:solidFill>
              <a:srgbClr val="BEC7CE"/>
            </a:solidFill>
            <a:prstDash val="solid"/>
            <a:round/>
          </a:ln>
        </p:spPr>
      </p:sp>
      <p:sp>
        <p:nvSpPr>
          <p:cNvPr id="1444" name="V8 embedding neighbor 1 to center">
            <a:extLst>
              <a:ext uri="{FF2B5EF4-FFF2-40B4-BE49-F238E27FC236}">
                <a16:creationId xmlns:a16="http://schemas.microsoft.com/office/drawing/2014/main" id="{3355B015-AF42-20CF-CA69-CEE14894D5E1}"/>
              </a:ext>
            </a:extLst>
          </p:cNvPr>
          <p:cNvSpPr/>
          <p:nvPr/>
        </p:nvSpPr>
        <p:spPr>
          <a:xfrm>
            <a:off x="1408080" y="1388677"/>
            <a:ext cx="84338" cy="113635"/>
          </a:xfrm>
          <a:custGeom>
            <a:avLst/>
            <a:gdLst/>
            <a:ahLst/>
            <a:cxnLst/>
            <a:rect l="l" t="t" r="r" b="b"/>
            <a:pathLst>
              <a:path w="84338" h="113635">
                <a:moveTo>
                  <a:pt x="0" y="0"/>
                </a:moveTo>
                <a:lnTo>
                  <a:pt x="84338" y="113635"/>
                </a:lnTo>
              </a:path>
            </a:pathLst>
          </a:custGeom>
          <a:noFill/>
          <a:ln w="5842" cap="rnd">
            <a:solidFill>
              <a:srgbClr val="4083B4"/>
            </a:solidFill>
            <a:prstDash val="solid"/>
            <a:round/>
          </a:ln>
        </p:spPr>
      </p:sp>
      <p:sp>
        <p:nvSpPr>
          <p:cNvPr id="1445" name="V8 embedding neighbor 1 to center head">
            <a:extLst>
              <a:ext uri="{FF2B5EF4-FFF2-40B4-BE49-F238E27FC236}">
                <a16:creationId xmlns:a16="http://schemas.microsoft.com/office/drawing/2014/main" id="{27615381-2E0E-2FB6-4DD6-10A8B1F481AB}"/>
              </a:ext>
            </a:extLst>
          </p:cNvPr>
          <p:cNvSpPr/>
          <p:nvPr/>
        </p:nvSpPr>
        <p:spPr>
          <a:xfrm>
            <a:off x="1478827" y="1488319"/>
            <a:ext cx="18870" cy="21105"/>
          </a:xfrm>
          <a:custGeom>
            <a:avLst/>
            <a:gdLst/>
            <a:ahLst/>
            <a:cxnLst/>
            <a:rect l="l" t="t" r="r" b="b"/>
            <a:pathLst>
              <a:path w="18870" h="21105">
                <a:moveTo>
                  <a:pt x="18870" y="21105"/>
                </a:moveTo>
                <a:lnTo>
                  <a:pt x="14277" y="0"/>
                </a:lnTo>
                <a:lnTo>
                  <a:pt x="0" y="10596"/>
                </a:lnTo>
                <a:close/>
              </a:path>
            </a:pathLst>
          </a:custGeom>
          <a:solidFill>
            <a:srgbClr val="4083B4"/>
          </a:solidFill>
          <a:ln w="0" cap="rnd">
            <a:noFill/>
          </a:ln>
        </p:spPr>
      </p:sp>
      <p:sp>
        <p:nvSpPr>
          <p:cNvPr id="1446" name="V8 embedding neighbor 1">
            <a:extLst>
              <a:ext uri="{FF2B5EF4-FFF2-40B4-BE49-F238E27FC236}">
                <a16:creationId xmlns:a16="http://schemas.microsoft.com/office/drawing/2014/main" id="{B5E8A971-284C-84D2-C0DB-7EB12E4B5902}"/>
              </a:ext>
            </a:extLst>
          </p:cNvPr>
          <p:cNvSpPr/>
          <p:nvPr/>
        </p:nvSpPr>
        <p:spPr>
          <a:xfrm>
            <a:off x="1382060" y="1358582"/>
            <a:ext cx="28575" cy="28575"/>
          </a:xfrm>
          <a:prstGeom prst="ellipse">
            <a:avLst/>
          </a:prstGeom>
          <a:noFill/>
          <a:ln w="7112" cap="rnd">
            <a:solidFill>
              <a:srgbClr val="4083B4"/>
            </a:solidFill>
            <a:prstDash val="solid"/>
            <a:round/>
          </a:ln>
        </p:spPr>
      </p:sp>
      <p:sp>
        <p:nvSpPr>
          <p:cNvPr id="1447" name="V8 embedding neighbor 2 to center">
            <a:extLst>
              <a:ext uri="{FF2B5EF4-FFF2-40B4-BE49-F238E27FC236}">
                <a16:creationId xmlns:a16="http://schemas.microsoft.com/office/drawing/2014/main" id="{410E19AF-558D-0BA4-4F56-8A43CC949018}"/>
              </a:ext>
            </a:extLst>
          </p:cNvPr>
          <p:cNvSpPr/>
          <p:nvPr/>
        </p:nvSpPr>
        <p:spPr>
          <a:xfrm>
            <a:off x="1537980" y="1384737"/>
            <a:ext cx="68064" cy="115185"/>
          </a:xfrm>
          <a:custGeom>
            <a:avLst/>
            <a:gdLst/>
            <a:ahLst/>
            <a:cxnLst/>
            <a:rect l="l" t="t" r="r" b="b"/>
            <a:pathLst>
              <a:path w="68064" h="115185">
                <a:moveTo>
                  <a:pt x="68064" y="0"/>
                </a:moveTo>
                <a:lnTo>
                  <a:pt x="0" y="115185"/>
                </a:lnTo>
              </a:path>
            </a:pathLst>
          </a:custGeom>
          <a:noFill/>
          <a:ln w="5842" cap="rnd">
            <a:solidFill>
              <a:srgbClr val="4083B4"/>
            </a:solidFill>
            <a:prstDash val="solid"/>
            <a:round/>
          </a:ln>
        </p:spPr>
      </p:sp>
      <p:sp>
        <p:nvSpPr>
          <p:cNvPr id="1448" name="V8 embedding neighbor 2 to center head">
            <a:extLst>
              <a:ext uri="{FF2B5EF4-FFF2-40B4-BE49-F238E27FC236}">
                <a16:creationId xmlns:a16="http://schemas.microsoft.com/office/drawing/2014/main" id="{50A61875-DCE0-421C-1735-CFE0432F2E90}"/>
              </a:ext>
            </a:extLst>
          </p:cNvPr>
          <p:cNvSpPr/>
          <p:nvPr/>
        </p:nvSpPr>
        <p:spPr>
          <a:xfrm>
            <a:off x="1533473" y="1486079"/>
            <a:ext cx="17668" cy="21470"/>
          </a:xfrm>
          <a:custGeom>
            <a:avLst/>
            <a:gdLst/>
            <a:ahLst/>
            <a:cxnLst/>
            <a:rect l="l" t="t" r="r" b="b"/>
            <a:pathLst>
              <a:path w="17668" h="21470">
                <a:moveTo>
                  <a:pt x="0" y="21470"/>
                </a:moveTo>
                <a:lnTo>
                  <a:pt x="17668" y="9045"/>
                </a:lnTo>
                <a:lnTo>
                  <a:pt x="2361" y="0"/>
                </a:lnTo>
                <a:close/>
              </a:path>
            </a:pathLst>
          </a:custGeom>
          <a:solidFill>
            <a:srgbClr val="4083B4"/>
          </a:solidFill>
          <a:ln w="0" cap="rnd">
            <a:noFill/>
          </a:ln>
        </p:spPr>
      </p:sp>
      <p:sp>
        <p:nvSpPr>
          <p:cNvPr id="1449" name="V8 embedding neighbor 2">
            <a:extLst>
              <a:ext uri="{FF2B5EF4-FFF2-40B4-BE49-F238E27FC236}">
                <a16:creationId xmlns:a16="http://schemas.microsoft.com/office/drawing/2014/main" id="{7AEBAFCB-8ED1-BA01-F100-82AD32FAB4F6}"/>
              </a:ext>
            </a:extLst>
          </p:cNvPr>
          <p:cNvSpPr/>
          <p:nvPr/>
        </p:nvSpPr>
        <p:spPr>
          <a:xfrm>
            <a:off x="1600500" y="1352232"/>
            <a:ext cx="31115" cy="31115"/>
          </a:xfrm>
          <a:prstGeom prst="ellipse">
            <a:avLst/>
          </a:prstGeom>
          <a:noFill/>
          <a:ln w="7112" cap="rnd">
            <a:solidFill>
              <a:srgbClr val="4083B4"/>
            </a:solidFill>
            <a:prstDash val="solid"/>
            <a:round/>
          </a:ln>
        </p:spPr>
      </p:sp>
      <p:sp>
        <p:nvSpPr>
          <p:cNvPr id="1450" name="V8 embedding upper curved aggregation">
            <a:extLst>
              <a:ext uri="{FF2B5EF4-FFF2-40B4-BE49-F238E27FC236}">
                <a16:creationId xmlns:a16="http://schemas.microsoft.com/office/drawing/2014/main" id="{1726AB57-DCD6-4DAB-768F-79635F178651}"/>
              </a:ext>
            </a:extLst>
          </p:cNvPr>
          <p:cNvSpPr/>
          <p:nvPr/>
        </p:nvSpPr>
        <p:spPr>
          <a:xfrm>
            <a:off x="1551288" y="1449794"/>
            <a:ext cx="120650" cy="48806"/>
          </a:xfrm>
          <a:custGeom>
            <a:avLst/>
            <a:gdLst/>
            <a:ahLst/>
            <a:cxnLst/>
            <a:rect l="l" t="t" r="r" b="b"/>
            <a:pathLst>
              <a:path w="120650" h="48806">
                <a:moveTo>
                  <a:pt x="118713" y="0"/>
                </a:moveTo>
                <a:cubicBezTo>
                  <a:pt x="120650" y="36106"/>
                  <a:pt x="44450" y="29756"/>
                  <a:pt x="0" y="48806"/>
                </a:cubicBezTo>
              </a:path>
            </a:pathLst>
          </a:custGeom>
          <a:noFill/>
          <a:ln w="5842" cap="rnd">
            <a:solidFill>
              <a:srgbClr val="4083B4"/>
            </a:solidFill>
            <a:prstDash val="solid"/>
            <a:round/>
          </a:ln>
        </p:spPr>
      </p:sp>
      <p:sp>
        <p:nvSpPr>
          <p:cNvPr id="1451" name="V8 embedding upper curved aggregation tip">
            <a:extLst>
              <a:ext uri="{FF2B5EF4-FFF2-40B4-BE49-F238E27FC236}">
                <a16:creationId xmlns:a16="http://schemas.microsoft.com/office/drawing/2014/main" id="{2B3CEBDA-0E2D-671A-9B26-76F746F7D64B}"/>
              </a:ext>
            </a:extLst>
          </p:cNvPr>
          <p:cNvSpPr/>
          <p:nvPr/>
        </p:nvSpPr>
        <p:spPr>
          <a:xfrm>
            <a:off x="1542577" y="1498600"/>
            <a:ext cx="8711" cy="4690"/>
          </a:xfrm>
          <a:custGeom>
            <a:avLst/>
            <a:gdLst/>
            <a:ahLst/>
            <a:cxnLst/>
            <a:rect l="l" t="t" r="r" b="b"/>
            <a:pathLst>
              <a:path w="8711" h="4690">
                <a:moveTo>
                  <a:pt x="8711" y="0"/>
                </a:moveTo>
                <a:lnTo>
                  <a:pt x="0" y="4690"/>
                </a:lnTo>
              </a:path>
            </a:pathLst>
          </a:custGeom>
          <a:noFill/>
          <a:ln w="5842" cap="rnd">
            <a:solidFill>
              <a:srgbClr val="9481B1"/>
            </a:solidFill>
            <a:prstDash val="solid"/>
            <a:round/>
          </a:ln>
        </p:spPr>
      </p:sp>
      <p:sp>
        <p:nvSpPr>
          <p:cNvPr id="1452" name="V8 embedding upper curved aggregation tip head">
            <a:extLst>
              <a:ext uri="{FF2B5EF4-FFF2-40B4-BE49-F238E27FC236}">
                <a16:creationId xmlns:a16="http://schemas.microsoft.com/office/drawing/2014/main" id="{EA8590B6-001E-E7FA-C91E-6684CAB2CE42}"/>
              </a:ext>
            </a:extLst>
          </p:cNvPr>
          <p:cNvSpPr/>
          <p:nvPr/>
        </p:nvSpPr>
        <p:spPr>
          <a:xfrm>
            <a:off x="1534778" y="1490330"/>
            <a:ext cx="21547" cy="17160"/>
          </a:xfrm>
          <a:custGeom>
            <a:avLst/>
            <a:gdLst/>
            <a:ahLst/>
            <a:cxnLst/>
            <a:rect l="l" t="t" r="r" b="b"/>
            <a:pathLst>
              <a:path w="21547" h="17160">
                <a:moveTo>
                  <a:pt x="0" y="17160"/>
                </a:moveTo>
                <a:lnTo>
                  <a:pt x="21547" y="15655"/>
                </a:lnTo>
                <a:lnTo>
                  <a:pt x="13117" y="0"/>
                </a:lnTo>
                <a:close/>
              </a:path>
            </a:pathLst>
          </a:custGeom>
          <a:solidFill>
            <a:srgbClr val="4083B4"/>
          </a:solidFill>
          <a:ln w="0" cap="rnd">
            <a:noFill/>
          </a:ln>
        </p:spPr>
      </p:sp>
      <p:sp>
        <p:nvSpPr>
          <p:cNvPr id="1453" name="V8 embedding neighbor 3">
            <a:extLst>
              <a:ext uri="{FF2B5EF4-FFF2-40B4-BE49-F238E27FC236}">
                <a16:creationId xmlns:a16="http://schemas.microsoft.com/office/drawing/2014/main" id="{122DFBAE-E742-85F4-F8BE-661BC7410AFC}"/>
              </a:ext>
            </a:extLst>
          </p:cNvPr>
          <p:cNvSpPr/>
          <p:nvPr/>
        </p:nvSpPr>
        <p:spPr>
          <a:xfrm>
            <a:off x="1673208" y="1426210"/>
            <a:ext cx="27940" cy="27940"/>
          </a:xfrm>
          <a:prstGeom prst="ellipse">
            <a:avLst/>
          </a:prstGeom>
          <a:noFill/>
          <a:ln w="7112" cap="rnd">
            <a:solidFill>
              <a:srgbClr val="4083B4"/>
            </a:solidFill>
            <a:prstDash val="solid"/>
            <a:round/>
          </a:ln>
        </p:spPr>
      </p:sp>
      <p:sp>
        <p:nvSpPr>
          <p:cNvPr id="1454" name="V8 embedding curved aggregation">
            <a:extLst>
              <a:ext uri="{FF2B5EF4-FFF2-40B4-BE49-F238E27FC236}">
                <a16:creationId xmlns:a16="http://schemas.microsoft.com/office/drawing/2014/main" id="{90CEAB6E-EBCA-9F13-36DE-C928BA671D5A}"/>
              </a:ext>
            </a:extLst>
          </p:cNvPr>
          <p:cNvSpPr/>
          <p:nvPr/>
        </p:nvSpPr>
        <p:spPr>
          <a:xfrm>
            <a:off x="1392538" y="1503680"/>
            <a:ext cx="77470" cy="107970"/>
          </a:xfrm>
          <a:custGeom>
            <a:avLst/>
            <a:gdLst/>
            <a:ahLst/>
            <a:cxnLst/>
            <a:rect l="l" t="t" r="r" b="b"/>
            <a:pathLst>
              <a:path w="77470" h="107970">
                <a:moveTo>
                  <a:pt x="17311" y="107970"/>
                </a:moveTo>
                <a:cubicBezTo>
                  <a:pt x="0" y="29210"/>
                  <a:pt x="35560" y="0"/>
                  <a:pt x="77470" y="12700"/>
                </a:cubicBezTo>
              </a:path>
            </a:pathLst>
          </a:custGeom>
          <a:noFill/>
          <a:ln w="8890" cap="rnd">
            <a:solidFill>
              <a:srgbClr val="4083B4"/>
            </a:solidFill>
            <a:prstDash val="solid"/>
            <a:round/>
          </a:ln>
        </p:spPr>
      </p:sp>
      <p:sp>
        <p:nvSpPr>
          <p:cNvPr id="1455" name="V8 embedding curved aggregation tip">
            <a:extLst>
              <a:ext uri="{FF2B5EF4-FFF2-40B4-BE49-F238E27FC236}">
                <a16:creationId xmlns:a16="http://schemas.microsoft.com/office/drawing/2014/main" id="{4871021E-0B37-6092-4FB6-FB482931253B}"/>
              </a:ext>
            </a:extLst>
          </p:cNvPr>
          <p:cNvSpPr/>
          <p:nvPr/>
        </p:nvSpPr>
        <p:spPr>
          <a:xfrm>
            <a:off x="1470008" y="1516380"/>
            <a:ext cx="6039" cy="3020"/>
          </a:xfrm>
          <a:custGeom>
            <a:avLst/>
            <a:gdLst/>
            <a:ahLst/>
            <a:cxnLst/>
            <a:rect l="l" t="t" r="r" b="b"/>
            <a:pathLst>
              <a:path w="6039" h="3020">
                <a:moveTo>
                  <a:pt x="0" y="0"/>
                </a:moveTo>
                <a:lnTo>
                  <a:pt x="6039" y="3020"/>
                </a:lnTo>
              </a:path>
            </a:pathLst>
          </a:custGeom>
          <a:noFill/>
          <a:ln w="8890" cap="rnd">
            <a:solidFill>
              <a:srgbClr val="9481B1"/>
            </a:solidFill>
            <a:prstDash val="solid"/>
            <a:round/>
          </a:ln>
        </p:spPr>
      </p:sp>
      <p:sp>
        <p:nvSpPr>
          <p:cNvPr id="1456" name="V8 embedding curved aggregation tip head">
            <a:extLst>
              <a:ext uri="{FF2B5EF4-FFF2-40B4-BE49-F238E27FC236}">
                <a16:creationId xmlns:a16="http://schemas.microsoft.com/office/drawing/2014/main" id="{86BC3798-BFD4-0C2D-6F96-1C5CADB6D7BE}"/>
              </a:ext>
            </a:extLst>
          </p:cNvPr>
          <p:cNvSpPr/>
          <p:nvPr/>
        </p:nvSpPr>
        <p:spPr>
          <a:xfrm>
            <a:off x="1460116" y="1504405"/>
            <a:ext cx="25132" cy="19595"/>
          </a:xfrm>
          <a:custGeom>
            <a:avLst/>
            <a:gdLst/>
            <a:ahLst/>
            <a:cxnLst/>
            <a:rect l="l" t="t" r="r" b="b"/>
            <a:pathLst>
              <a:path w="25132" h="19595">
                <a:moveTo>
                  <a:pt x="25132" y="19595"/>
                </a:moveTo>
                <a:lnTo>
                  <a:pt x="9371" y="0"/>
                </a:lnTo>
                <a:lnTo>
                  <a:pt x="0" y="18743"/>
                </a:lnTo>
                <a:close/>
              </a:path>
            </a:pathLst>
          </a:custGeom>
          <a:solidFill>
            <a:srgbClr val="4083B4"/>
          </a:solidFill>
          <a:ln w="0" cap="rnd">
            <a:solidFill>
              <a:srgbClr val="4083B4"/>
            </a:solidFill>
          </a:ln>
        </p:spPr>
      </p:sp>
      <p:sp>
        <p:nvSpPr>
          <p:cNvPr id="1457" name="V8 embedding neighbor 4">
            <a:extLst>
              <a:ext uri="{FF2B5EF4-FFF2-40B4-BE49-F238E27FC236}">
                <a16:creationId xmlns:a16="http://schemas.microsoft.com/office/drawing/2014/main" id="{AEADE014-9292-2360-C2CE-F8C845E8BCFD}"/>
              </a:ext>
            </a:extLst>
          </p:cNvPr>
          <p:cNvSpPr/>
          <p:nvPr/>
        </p:nvSpPr>
        <p:spPr>
          <a:xfrm>
            <a:off x="1377933" y="1607185"/>
            <a:ext cx="31750" cy="31750"/>
          </a:xfrm>
          <a:prstGeom prst="ellipse">
            <a:avLst/>
          </a:prstGeom>
          <a:noFill/>
          <a:ln w="7112" cap="rnd">
            <a:solidFill>
              <a:srgbClr val="4083B4"/>
            </a:solidFill>
            <a:prstDash val="solid"/>
            <a:round/>
          </a:ln>
        </p:spPr>
      </p:sp>
      <p:sp>
        <p:nvSpPr>
          <p:cNvPr id="1458" name="V8 embedding neighbor 5 to center">
            <a:extLst>
              <a:ext uri="{FF2B5EF4-FFF2-40B4-BE49-F238E27FC236}">
                <a16:creationId xmlns:a16="http://schemas.microsoft.com/office/drawing/2014/main" id="{88F2ECE0-BE4E-6B10-0F14-901F5AD31AE6}"/>
              </a:ext>
            </a:extLst>
          </p:cNvPr>
          <p:cNvSpPr/>
          <p:nvPr/>
        </p:nvSpPr>
        <p:spPr>
          <a:xfrm>
            <a:off x="1508228" y="1576570"/>
            <a:ext cx="5857" cy="82734"/>
          </a:xfrm>
          <a:custGeom>
            <a:avLst/>
            <a:gdLst/>
            <a:ahLst/>
            <a:cxnLst/>
            <a:rect l="l" t="t" r="r" b="b"/>
            <a:pathLst>
              <a:path w="5857" h="82734">
                <a:moveTo>
                  <a:pt x="0" y="82734"/>
                </a:moveTo>
                <a:lnTo>
                  <a:pt x="5857" y="0"/>
                </a:lnTo>
              </a:path>
            </a:pathLst>
          </a:custGeom>
          <a:noFill/>
          <a:ln w="5842" cap="rnd">
            <a:solidFill>
              <a:srgbClr val="4083B4"/>
            </a:solidFill>
            <a:prstDash val="solid"/>
            <a:round/>
          </a:ln>
        </p:spPr>
      </p:sp>
      <p:sp>
        <p:nvSpPr>
          <p:cNvPr id="1459" name="V8 embedding neighbor 5 to center head">
            <a:extLst>
              <a:ext uri="{FF2B5EF4-FFF2-40B4-BE49-F238E27FC236}">
                <a16:creationId xmlns:a16="http://schemas.microsoft.com/office/drawing/2014/main" id="{4E579011-FEC4-00D3-7546-C5CB388C9A0A}"/>
              </a:ext>
            </a:extLst>
          </p:cNvPr>
          <p:cNvSpPr/>
          <p:nvPr/>
        </p:nvSpPr>
        <p:spPr>
          <a:xfrm>
            <a:off x="1504453" y="1567734"/>
            <a:ext cx="17736" cy="20264"/>
          </a:xfrm>
          <a:custGeom>
            <a:avLst/>
            <a:gdLst/>
            <a:ahLst/>
            <a:cxnLst/>
            <a:rect l="l" t="t" r="r" b="b"/>
            <a:pathLst>
              <a:path w="17736" h="20264">
                <a:moveTo>
                  <a:pt x="10258" y="0"/>
                </a:moveTo>
                <a:lnTo>
                  <a:pt x="0" y="19008"/>
                </a:lnTo>
                <a:lnTo>
                  <a:pt x="17736" y="20264"/>
                </a:lnTo>
                <a:close/>
              </a:path>
            </a:pathLst>
          </a:custGeom>
          <a:solidFill>
            <a:srgbClr val="4083B4"/>
          </a:solidFill>
          <a:ln w="0" cap="rnd">
            <a:solidFill>
              <a:srgbClr val="4083B4"/>
            </a:solidFill>
          </a:ln>
        </p:spPr>
      </p:sp>
      <p:sp>
        <p:nvSpPr>
          <p:cNvPr id="1460" name="V8 embedding neighbor 5">
            <a:extLst>
              <a:ext uri="{FF2B5EF4-FFF2-40B4-BE49-F238E27FC236}">
                <a16:creationId xmlns:a16="http://schemas.microsoft.com/office/drawing/2014/main" id="{80A6CA00-4D1C-000D-C0AF-7F59BA21FF45}"/>
              </a:ext>
            </a:extLst>
          </p:cNvPr>
          <p:cNvSpPr/>
          <p:nvPr/>
        </p:nvSpPr>
        <p:spPr>
          <a:xfrm>
            <a:off x="1492233" y="1664335"/>
            <a:ext cx="29210" cy="29210"/>
          </a:xfrm>
          <a:prstGeom prst="ellipse">
            <a:avLst/>
          </a:prstGeom>
          <a:noFill/>
          <a:ln w="7112" cap="rnd">
            <a:solidFill>
              <a:srgbClr val="4083B4"/>
            </a:solidFill>
            <a:prstDash val="solid"/>
            <a:round/>
          </a:ln>
        </p:spPr>
      </p:sp>
      <p:sp>
        <p:nvSpPr>
          <p:cNvPr id="1461" name="V8 embedding center">
            <a:extLst>
              <a:ext uri="{FF2B5EF4-FFF2-40B4-BE49-F238E27FC236}">
                <a16:creationId xmlns:a16="http://schemas.microsoft.com/office/drawing/2014/main" id="{0973F1A0-63C8-796C-8269-8DC9810E39E1}"/>
              </a:ext>
            </a:extLst>
          </p:cNvPr>
          <p:cNvSpPr/>
          <p:nvPr/>
        </p:nvSpPr>
        <p:spPr>
          <a:xfrm>
            <a:off x="1494773" y="1513205"/>
            <a:ext cx="44450" cy="44450"/>
          </a:xfrm>
          <a:prstGeom prst="ellipse">
            <a:avLst/>
          </a:prstGeom>
          <a:noFill/>
          <a:ln w="9906" cap="rnd">
            <a:solidFill>
              <a:srgbClr val="3B8C80"/>
            </a:solidFill>
            <a:prstDash val="solid"/>
            <a:round/>
          </a:ln>
        </p:spPr>
      </p:sp>
      <p:sp>
        <p:nvSpPr>
          <p:cNvPr id="1462" name="V8 embedding feature 1">
            <a:extLst>
              <a:ext uri="{FF2B5EF4-FFF2-40B4-BE49-F238E27FC236}">
                <a16:creationId xmlns:a16="http://schemas.microsoft.com/office/drawing/2014/main" id="{FE0417EE-6828-F09F-AACE-DE1F76BE3EB6}"/>
              </a:ext>
            </a:extLst>
          </p:cNvPr>
          <p:cNvSpPr/>
          <p:nvPr/>
        </p:nvSpPr>
        <p:spPr>
          <a:xfrm>
            <a:off x="1548748" y="1518285"/>
            <a:ext cx="18415" cy="34290"/>
          </a:xfrm>
          <a:prstGeom prst="rect">
            <a:avLst/>
          </a:prstGeom>
          <a:solidFill>
            <a:srgbClr val="3E8F9A"/>
          </a:solidFill>
          <a:ln w="0" cap="rnd">
            <a:noFill/>
          </a:ln>
        </p:spPr>
      </p:sp>
      <p:sp>
        <p:nvSpPr>
          <p:cNvPr id="1463" name="V8 embedding feature 2">
            <a:extLst>
              <a:ext uri="{FF2B5EF4-FFF2-40B4-BE49-F238E27FC236}">
                <a16:creationId xmlns:a16="http://schemas.microsoft.com/office/drawing/2014/main" id="{28DF18A8-B7D6-40CC-F8D0-1CE005F88971}"/>
              </a:ext>
            </a:extLst>
          </p:cNvPr>
          <p:cNvSpPr/>
          <p:nvPr/>
        </p:nvSpPr>
        <p:spPr>
          <a:xfrm>
            <a:off x="1568433" y="1518285"/>
            <a:ext cx="18415" cy="34290"/>
          </a:xfrm>
          <a:prstGeom prst="rect">
            <a:avLst/>
          </a:prstGeom>
          <a:solidFill>
            <a:srgbClr val="88BEC3"/>
          </a:solidFill>
          <a:ln w="0" cap="rnd">
            <a:noFill/>
          </a:ln>
        </p:spPr>
      </p:sp>
      <p:sp>
        <p:nvSpPr>
          <p:cNvPr id="1464" name="V8 embedding feature 3">
            <a:extLst>
              <a:ext uri="{FF2B5EF4-FFF2-40B4-BE49-F238E27FC236}">
                <a16:creationId xmlns:a16="http://schemas.microsoft.com/office/drawing/2014/main" id="{D8B2548F-FDCB-962F-D116-8194E608D854}"/>
              </a:ext>
            </a:extLst>
          </p:cNvPr>
          <p:cNvSpPr/>
          <p:nvPr/>
        </p:nvSpPr>
        <p:spPr>
          <a:xfrm>
            <a:off x="1588118" y="1518285"/>
            <a:ext cx="18415" cy="34290"/>
          </a:xfrm>
          <a:prstGeom prst="rect">
            <a:avLst/>
          </a:prstGeom>
          <a:solidFill>
            <a:srgbClr val="67AD9F"/>
          </a:solidFill>
          <a:ln w="0" cap="rnd">
            <a:noFill/>
          </a:ln>
        </p:spPr>
      </p:sp>
      <p:sp>
        <p:nvSpPr>
          <p:cNvPr id="1465" name="V8 embedding feature 4">
            <a:extLst>
              <a:ext uri="{FF2B5EF4-FFF2-40B4-BE49-F238E27FC236}">
                <a16:creationId xmlns:a16="http://schemas.microsoft.com/office/drawing/2014/main" id="{4DB56FF7-AE6A-29C2-0D4E-A50B4A01B329}"/>
              </a:ext>
            </a:extLst>
          </p:cNvPr>
          <p:cNvSpPr/>
          <p:nvPr/>
        </p:nvSpPr>
        <p:spPr>
          <a:xfrm>
            <a:off x="1607803" y="1518285"/>
            <a:ext cx="18415" cy="34290"/>
          </a:xfrm>
          <a:prstGeom prst="rect">
            <a:avLst/>
          </a:prstGeom>
          <a:solidFill>
            <a:srgbClr val="B6D8CC"/>
          </a:solidFill>
          <a:ln w="0" cap="rnd">
            <a:noFill/>
          </a:ln>
        </p:spPr>
      </p:sp>
      <p:sp>
        <p:nvSpPr>
          <p:cNvPr id="1466" name="V8 embedding feature 5">
            <a:extLst>
              <a:ext uri="{FF2B5EF4-FFF2-40B4-BE49-F238E27FC236}">
                <a16:creationId xmlns:a16="http://schemas.microsoft.com/office/drawing/2014/main" id="{0834D08B-BC25-2ADC-AF12-5492513577F8}"/>
              </a:ext>
            </a:extLst>
          </p:cNvPr>
          <p:cNvSpPr/>
          <p:nvPr/>
        </p:nvSpPr>
        <p:spPr>
          <a:xfrm>
            <a:off x="1627488" y="1518285"/>
            <a:ext cx="18415" cy="34290"/>
          </a:xfrm>
          <a:prstGeom prst="rect">
            <a:avLst/>
          </a:prstGeom>
          <a:solidFill>
            <a:srgbClr val="3B8C80"/>
          </a:solidFill>
          <a:ln w="0" cap="rnd">
            <a:noFill/>
          </a:ln>
        </p:spPr>
      </p:sp>
      <p:sp>
        <p:nvSpPr>
          <p:cNvPr id="1467" name="V8 embedding feature 6">
            <a:extLst>
              <a:ext uri="{FF2B5EF4-FFF2-40B4-BE49-F238E27FC236}">
                <a16:creationId xmlns:a16="http://schemas.microsoft.com/office/drawing/2014/main" id="{7EDE9E92-6EF0-3023-2F22-6E7EFD9706C6}"/>
              </a:ext>
            </a:extLst>
          </p:cNvPr>
          <p:cNvSpPr/>
          <p:nvPr/>
        </p:nvSpPr>
        <p:spPr>
          <a:xfrm>
            <a:off x="1647173" y="1518285"/>
            <a:ext cx="18415" cy="34290"/>
          </a:xfrm>
          <a:prstGeom prst="rect">
            <a:avLst/>
          </a:prstGeom>
          <a:solidFill>
            <a:srgbClr val="A3CDDA"/>
          </a:solidFill>
          <a:ln w="0" cap="rnd">
            <a:noFill/>
          </a:ln>
        </p:spPr>
      </p:sp>
      <p:sp>
        <p:nvSpPr>
          <p:cNvPr id="1468" name="V8 embedding feature 7">
            <a:extLst>
              <a:ext uri="{FF2B5EF4-FFF2-40B4-BE49-F238E27FC236}">
                <a16:creationId xmlns:a16="http://schemas.microsoft.com/office/drawing/2014/main" id="{3791BD29-2650-00D8-2639-94010AF8036F}"/>
              </a:ext>
            </a:extLst>
          </p:cNvPr>
          <p:cNvSpPr/>
          <p:nvPr/>
        </p:nvSpPr>
        <p:spPr>
          <a:xfrm>
            <a:off x="1666858" y="1518285"/>
            <a:ext cx="18415" cy="34290"/>
          </a:xfrm>
          <a:prstGeom prst="rect">
            <a:avLst/>
          </a:prstGeom>
          <a:solidFill>
            <a:srgbClr val="6CAFA4"/>
          </a:solidFill>
          <a:ln w="0" cap="rnd">
            <a:noFill/>
          </a:ln>
        </p:spPr>
      </p:sp>
      <p:sp>
        <p:nvSpPr>
          <p:cNvPr id="1469" name="V8 embedding feature 8">
            <a:extLst>
              <a:ext uri="{FF2B5EF4-FFF2-40B4-BE49-F238E27FC236}">
                <a16:creationId xmlns:a16="http://schemas.microsoft.com/office/drawing/2014/main" id="{78D40256-09DE-A393-64FC-199BB5DEB767}"/>
              </a:ext>
            </a:extLst>
          </p:cNvPr>
          <p:cNvSpPr/>
          <p:nvPr/>
        </p:nvSpPr>
        <p:spPr>
          <a:xfrm>
            <a:off x="1686543" y="1518285"/>
            <a:ext cx="18415" cy="34290"/>
          </a:xfrm>
          <a:prstGeom prst="rect">
            <a:avLst/>
          </a:prstGeom>
          <a:solidFill>
            <a:srgbClr val="C4DDE0"/>
          </a:solidFill>
          <a:ln w="0" cap="rnd">
            <a:noFill/>
          </a:ln>
        </p:spPr>
      </p:sp>
      <p:sp>
        <p:nvSpPr>
          <p:cNvPr id="1471" name="V8 embedding to point branch">
            <a:extLst>
              <a:ext uri="{FF2B5EF4-FFF2-40B4-BE49-F238E27FC236}">
                <a16:creationId xmlns:a16="http://schemas.microsoft.com/office/drawing/2014/main" id="{CD0EF799-B1E4-C26B-BB25-441BB97890BE}"/>
              </a:ext>
            </a:extLst>
          </p:cNvPr>
          <p:cNvSpPr/>
          <p:nvPr/>
        </p:nvSpPr>
        <p:spPr>
          <a:xfrm flipV="1">
            <a:off x="1767191" y="1469001"/>
            <a:ext cx="157162" cy="66614"/>
          </a:xfrm>
          <a:custGeom>
            <a:avLst/>
            <a:gdLst/>
            <a:ahLst/>
            <a:cxnLst/>
            <a:rect l="l" t="t" r="r" b="b"/>
            <a:pathLst>
              <a:path w="63379" h="1">
                <a:moveTo>
                  <a:pt x="0" y="0"/>
                </a:moveTo>
                <a:lnTo>
                  <a:pt x="63379" y="0"/>
                </a:lnTo>
              </a:path>
            </a:pathLst>
          </a:custGeom>
          <a:noFill/>
          <a:ln w="8509" cap="rnd">
            <a:solidFill>
              <a:srgbClr val="77828C"/>
            </a:solidFill>
            <a:prstDash val="solid"/>
            <a:round/>
          </a:ln>
        </p:spPr>
      </p:sp>
      <p:sp>
        <p:nvSpPr>
          <p:cNvPr id="1472" name="V8 embedding to point branch head">
            <a:extLst>
              <a:ext uri="{FF2B5EF4-FFF2-40B4-BE49-F238E27FC236}">
                <a16:creationId xmlns:a16="http://schemas.microsoft.com/office/drawing/2014/main" id="{EE5B1593-BB31-DCD1-99C7-141C7B857AF7}"/>
              </a:ext>
            </a:extLst>
          </p:cNvPr>
          <p:cNvSpPr/>
          <p:nvPr/>
        </p:nvSpPr>
        <p:spPr>
          <a:xfrm>
            <a:off x="1909057" y="1523745"/>
            <a:ext cx="28321" cy="24384"/>
          </a:xfrm>
          <a:custGeom>
            <a:avLst/>
            <a:gdLst/>
            <a:ahLst/>
            <a:cxnLst/>
            <a:rect l="l" t="t" r="r" b="b"/>
            <a:pathLst>
              <a:path w="28321" h="24384">
                <a:moveTo>
                  <a:pt x="28321" y="12192"/>
                </a:moveTo>
                <a:lnTo>
                  <a:pt x="0" y="0"/>
                </a:lnTo>
                <a:lnTo>
                  <a:pt x="0" y="24384"/>
                </a:lnTo>
                <a:close/>
              </a:path>
            </a:pathLst>
          </a:custGeom>
          <a:solidFill>
            <a:srgbClr val="77828C"/>
          </a:solidFill>
          <a:ln w="0" cap="rnd">
            <a:solidFill>
              <a:srgbClr val="77828C"/>
            </a:solidFill>
          </a:ln>
        </p:spPr>
      </p:sp>
      <p:sp>
        <p:nvSpPr>
          <p:cNvPr id="1473" name="V8 embedding to voxel branch">
            <a:extLst>
              <a:ext uri="{FF2B5EF4-FFF2-40B4-BE49-F238E27FC236}">
                <a16:creationId xmlns:a16="http://schemas.microsoft.com/office/drawing/2014/main" id="{A9E148F4-6BCA-77FF-AE43-549D2AE883D5}"/>
              </a:ext>
            </a:extLst>
          </p:cNvPr>
          <p:cNvSpPr/>
          <p:nvPr/>
        </p:nvSpPr>
        <p:spPr>
          <a:xfrm flipH="1">
            <a:off x="1787927" y="835707"/>
            <a:ext cx="45719" cy="699723"/>
          </a:xfrm>
          <a:custGeom>
            <a:avLst/>
            <a:gdLst/>
            <a:ahLst/>
            <a:cxnLst/>
            <a:rect l="l" t="t" r="r" b="b"/>
            <a:pathLst>
              <a:path w="1" h="866159">
                <a:moveTo>
                  <a:pt x="0" y="866159"/>
                </a:moveTo>
                <a:lnTo>
                  <a:pt x="0" y="0"/>
                </a:lnTo>
              </a:path>
            </a:pathLst>
          </a:custGeom>
          <a:noFill/>
          <a:ln w="8509" cap="rnd">
            <a:solidFill>
              <a:srgbClr val="77828C"/>
            </a:solidFill>
            <a:prstDash val="solid"/>
            <a:round/>
          </a:ln>
        </p:spPr>
      </p:sp>
      <p:sp>
        <p:nvSpPr>
          <p:cNvPr id="1475" name="V8 density and receptor to voxel">
            <a:extLst>
              <a:ext uri="{FF2B5EF4-FFF2-40B4-BE49-F238E27FC236}">
                <a16:creationId xmlns:a16="http://schemas.microsoft.com/office/drawing/2014/main" id="{61ECA984-FF9D-A5D0-F819-33661D001ABE}"/>
              </a:ext>
            </a:extLst>
          </p:cNvPr>
          <p:cNvSpPr/>
          <p:nvPr/>
        </p:nvSpPr>
        <p:spPr>
          <a:xfrm flipV="1">
            <a:off x="1767284" y="610807"/>
            <a:ext cx="148072" cy="45719"/>
          </a:xfrm>
          <a:custGeom>
            <a:avLst/>
            <a:gdLst/>
            <a:ahLst/>
            <a:cxnLst/>
            <a:rect l="l" t="t" r="r" b="b"/>
            <a:pathLst>
              <a:path w="96730" h="1">
                <a:moveTo>
                  <a:pt x="0" y="0"/>
                </a:moveTo>
                <a:lnTo>
                  <a:pt x="96730" y="0"/>
                </a:lnTo>
              </a:path>
            </a:pathLst>
          </a:custGeom>
          <a:noFill/>
          <a:ln w="8509" cap="rnd">
            <a:solidFill>
              <a:srgbClr val="77828C"/>
            </a:solidFill>
            <a:prstDash val="solid"/>
            <a:round/>
          </a:ln>
        </p:spPr>
      </p:sp>
      <p:sp>
        <p:nvSpPr>
          <p:cNvPr id="1476" name="V8 density and receptor to voxel head">
            <a:extLst>
              <a:ext uri="{FF2B5EF4-FFF2-40B4-BE49-F238E27FC236}">
                <a16:creationId xmlns:a16="http://schemas.microsoft.com/office/drawing/2014/main" id="{D6CAD338-44F5-8993-3618-9A1839CB2DBC}"/>
              </a:ext>
            </a:extLst>
          </p:cNvPr>
          <p:cNvSpPr/>
          <p:nvPr/>
        </p:nvSpPr>
        <p:spPr>
          <a:xfrm>
            <a:off x="1904526" y="644334"/>
            <a:ext cx="28321" cy="24384"/>
          </a:xfrm>
          <a:custGeom>
            <a:avLst/>
            <a:gdLst/>
            <a:ahLst/>
            <a:cxnLst/>
            <a:rect l="l" t="t" r="r" b="b"/>
            <a:pathLst>
              <a:path w="28321" h="24384">
                <a:moveTo>
                  <a:pt x="28321" y="12192"/>
                </a:moveTo>
                <a:lnTo>
                  <a:pt x="0" y="0"/>
                </a:lnTo>
                <a:lnTo>
                  <a:pt x="0" y="24384"/>
                </a:lnTo>
                <a:close/>
              </a:path>
            </a:pathLst>
          </a:custGeom>
          <a:solidFill>
            <a:srgbClr val="77828C"/>
          </a:solidFill>
          <a:ln w="0" cap="rnd">
            <a:noFill/>
          </a:ln>
        </p:spPr>
      </p:sp>
      <p:sp>
        <p:nvSpPr>
          <p:cNvPr id="1479" name="V8 Match input divider">
            <a:extLst>
              <a:ext uri="{FF2B5EF4-FFF2-40B4-BE49-F238E27FC236}">
                <a16:creationId xmlns:a16="http://schemas.microsoft.com/office/drawing/2014/main" id="{2EDC4EC7-D903-3262-650D-444D37299D28}"/>
              </a:ext>
            </a:extLst>
          </p:cNvPr>
          <p:cNvSpPr/>
          <p:nvPr/>
        </p:nvSpPr>
        <p:spPr>
          <a:xfrm>
            <a:off x="596155" y="2767063"/>
            <a:ext cx="957199" cy="1"/>
          </a:xfrm>
          <a:custGeom>
            <a:avLst/>
            <a:gdLst/>
            <a:ahLst/>
            <a:cxnLst/>
            <a:rect l="l" t="t" r="r" b="b"/>
            <a:pathLst>
              <a:path w="957199" h="1">
                <a:moveTo>
                  <a:pt x="0" y="0"/>
                </a:moveTo>
                <a:lnTo>
                  <a:pt x="957199" y="0"/>
                </a:lnTo>
              </a:path>
            </a:pathLst>
          </a:custGeom>
          <a:noFill/>
          <a:ln w="7290" cap="rnd">
            <a:solidFill>
              <a:srgbClr val="C8CFD4"/>
            </a:solidFill>
            <a:prstDash val="solid"/>
            <a:round/>
          </a:ln>
        </p:spPr>
      </p:sp>
      <p:sp>
        <p:nvSpPr>
          <p:cNvPr id="1480" name="V8 pool to concat">
            <a:extLst>
              <a:ext uri="{FF2B5EF4-FFF2-40B4-BE49-F238E27FC236}">
                <a16:creationId xmlns:a16="http://schemas.microsoft.com/office/drawing/2014/main" id="{3702663D-F294-9B06-B213-0076F82464A6}"/>
              </a:ext>
            </a:extLst>
          </p:cNvPr>
          <p:cNvSpPr/>
          <p:nvPr/>
        </p:nvSpPr>
        <p:spPr>
          <a:xfrm>
            <a:off x="917331" y="3603168"/>
            <a:ext cx="355873" cy="100152"/>
          </a:xfrm>
          <a:custGeom>
            <a:avLst/>
            <a:gdLst/>
            <a:ahLst/>
            <a:cxnLst/>
            <a:rect l="l" t="t" r="r" b="b"/>
            <a:pathLst>
              <a:path w="355873" h="100152">
                <a:moveTo>
                  <a:pt x="0" y="0"/>
                </a:moveTo>
                <a:lnTo>
                  <a:pt x="0" y="100152"/>
                </a:lnTo>
                <a:lnTo>
                  <a:pt x="355873" y="100152"/>
                </a:lnTo>
              </a:path>
            </a:pathLst>
          </a:custGeom>
          <a:noFill/>
          <a:ln w="8509" cap="rnd">
            <a:solidFill>
              <a:srgbClr val="77828C"/>
            </a:solidFill>
            <a:prstDash val="solid"/>
            <a:round/>
          </a:ln>
        </p:spPr>
      </p:sp>
      <p:sp>
        <p:nvSpPr>
          <p:cNvPr id="1481" name="V8 attention to concat">
            <a:extLst>
              <a:ext uri="{FF2B5EF4-FFF2-40B4-BE49-F238E27FC236}">
                <a16:creationId xmlns:a16="http://schemas.microsoft.com/office/drawing/2014/main" id="{45C4FCB5-3380-E3A8-B0B1-54A427F52361}"/>
              </a:ext>
            </a:extLst>
          </p:cNvPr>
          <p:cNvSpPr/>
          <p:nvPr/>
        </p:nvSpPr>
        <p:spPr>
          <a:xfrm>
            <a:off x="1273204" y="3603168"/>
            <a:ext cx="356064" cy="100152"/>
          </a:xfrm>
          <a:custGeom>
            <a:avLst/>
            <a:gdLst/>
            <a:ahLst/>
            <a:cxnLst/>
            <a:rect l="l" t="t" r="r" b="b"/>
            <a:pathLst>
              <a:path w="356064" h="100152">
                <a:moveTo>
                  <a:pt x="356064" y="0"/>
                </a:moveTo>
                <a:lnTo>
                  <a:pt x="356064" y="100152"/>
                </a:lnTo>
                <a:lnTo>
                  <a:pt x="0" y="100152"/>
                </a:lnTo>
              </a:path>
            </a:pathLst>
          </a:custGeom>
          <a:noFill/>
          <a:ln w="8509" cap="rnd">
            <a:solidFill>
              <a:srgbClr val="77828C"/>
            </a:solidFill>
            <a:prstDash val="solid"/>
            <a:round/>
          </a:ln>
        </p:spPr>
      </p:sp>
      <p:sp>
        <p:nvSpPr>
          <p:cNvPr id="1482" name="V8 concat to MLP">
            <a:extLst>
              <a:ext uri="{FF2B5EF4-FFF2-40B4-BE49-F238E27FC236}">
                <a16:creationId xmlns:a16="http://schemas.microsoft.com/office/drawing/2014/main" id="{366946BB-F669-FC2F-4DBA-809EA592E5E1}"/>
              </a:ext>
            </a:extLst>
          </p:cNvPr>
          <p:cNvSpPr/>
          <p:nvPr/>
        </p:nvSpPr>
        <p:spPr>
          <a:xfrm>
            <a:off x="1273204" y="3703320"/>
            <a:ext cx="1" cy="22181"/>
          </a:xfrm>
          <a:custGeom>
            <a:avLst/>
            <a:gdLst/>
            <a:ahLst/>
            <a:cxnLst/>
            <a:rect l="l" t="t" r="r" b="b"/>
            <a:pathLst>
              <a:path w="1" h="22181">
                <a:moveTo>
                  <a:pt x="0" y="0"/>
                </a:moveTo>
                <a:lnTo>
                  <a:pt x="0" y="22181"/>
                </a:lnTo>
              </a:path>
            </a:pathLst>
          </a:custGeom>
          <a:noFill/>
          <a:ln w="8509" cap="rnd">
            <a:solidFill>
              <a:srgbClr val="77828C"/>
            </a:solidFill>
            <a:prstDash val="solid"/>
            <a:round/>
          </a:ln>
        </p:spPr>
      </p:sp>
      <p:sp>
        <p:nvSpPr>
          <p:cNvPr id="1483" name="V8 concat to MLP head">
            <a:extLst>
              <a:ext uri="{FF2B5EF4-FFF2-40B4-BE49-F238E27FC236}">
                <a16:creationId xmlns:a16="http://schemas.microsoft.com/office/drawing/2014/main" id="{234835D4-EF31-832C-586B-712FBD8CEB61}"/>
              </a:ext>
            </a:extLst>
          </p:cNvPr>
          <p:cNvSpPr/>
          <p:nvPr/>
        </p:nvSpPr>
        <p:spPr>
          <a:xfrm>
            <a:off x="1261012" y="3709924"/>
            <a:ext cx="24384" cy="28321"/>
          </a:xfrm>
          <a:custGeom>
            <a:avLst/>
            <a:gdLst/>
            <a:ahLst/>
            <a:cxnLst/>
            <a:rect l="l" t="t" r="r" b="b"/>
            <a:pathLst>
              <a:path w="24384" h="28321">
                <a:moveTo>
                  <a:pt x="12192" y="28321"/>
                </a:moveTo>
                <a:lnTo>
                  <a:pt x="24384" y="0"/>
                </a:lnTo>
                <a:lnTo>
                  <a:pt x="0" y="0"/>
                </a:lnTo>
                <a:close/>
              </a:path>
            </a:pathLst>
          </a:custGeom>
          <a:solidFill>
            <a:srgbClr val="77828C"/>
          </a:solidFill>
          <a:ln w="0" cap="rnd">
            <a:noFill/>
          </a:ln>
        </p:spPr>
      </p:sp>
      <p:grpSp>
        <p:nvGrpSpPr>
          <p:cNvPr id="6" name="Find candidate blob 2">
            <a:extLst>
              <a:ext uri="{FF2B5EF4-FFF2-40B4-BE49-F238E27FC236}">
                <a16:creationId xmlns:a16="http://schemas.microsoft.com/office/drawing/2014/main" id="{52582F41-8562-EDCF-D547-FEE06D78B091}"/>
              </a:ext>
            </a:extLst>
          </p:cNvPr>
          <p:cNvGrpSpPr/>
          <p:nvPr/>
        </p:nvGrpSpPr>
        <p:grpSpPr>
          <a:xfrm rot="3197729">
            <a:off x="4553030" y="901286"/>
            <a:ext cx="140909" cy="118817"/>
            <a:chOff x="1928706" y="3559489"/>
            <a:chExt cx="227897" cy="155682"/>
          </a:xfrm>
        </p:grpSpPr>
        <p:sp>
          <p:nvSpPr>
            <p:cNvPr id="16" name="Candidate blob | editable contour">
              <a:extLst>
                <a:ext uri="{FF2B5EF4-FFF2-40B4-BE49-F238E27FC236}">
                  <a16:creationId xmlns:a16="http://schemas.microsoft.com/office/drawing/2014/main" id="{AC599FE5-B7C8-2310-361D-307EF409B159}"/>
                </a:ext>
              </a:extLst>
            </p:cNvPr>
            <p:cNvSpPr/>
            <p:nvPr/>
          </p:nvSpPr>
          <p:spPr>
            <a:xfrm>
              <a:off x="1928706" y="3559489"/>
              <a:ext cx="227897" cy="155682"/>
            </a:xfrm>
            <a:custGeom>
              <a:avLst/>
              <a:gdLst/>
              <a:ahLst/>
              <a:cxnLst/>
              <a:rect l="0" t="0" r="w" b="h"/>
              <a:pathLst>
                <a:path w="227897" h="155682" extrusionOk="0">
                  <a:moveTo>
                    <a:pt x="3521" y="100385"/>
                  </a:moveTo>
                  <a:cubicBezTo>
                    <a:pt x="0" y="80701"/>
                    <a:pt x="26006" y="62787"/>
                    <a:pt x="43453" y="54263"/>
                  </a:cubicBezTo>
                  <a:cubicBezTo>
                    <a:pt x="58843" y="43224"/>
                    <a:pt x="83460" y="52781"/>
                    <a:pt x="99588" y="43358"/>
                  </a:cubicBezTo>
                  <a:cubicBezTo>
                    <a:pt x="112436" y="32945"/>
                    <a:pt x="102548" y="9475"/>
                    <a:pt x="114181" y="4123"/>
                  </a:cubicBezTo>
                  <a:cubicBezTo>
                    <a:pt x="125241" y="0"/>
                    <a:pt x="158214" y="2398"/>
                    <a:pt x="179365" y="5837"/>
                  </a:cubicBezTo>
                  <a:cubicBezTo>
                    <a:pt x="197301" y="9996"/>
                    <a:pt x="210134" y="19340"/>
                    <a:pt x="216909" y="31256"/>
                  </a:cubicBezTo>
                  <a:cubicBezTo>
                    <a:pt x="221237" y="45342"/>
                    <a:pt x="227897" y="67151"/>
                    <a:pt x="224378" y="79920"/>
                  </a:cubicBezTo>
                  <a:cubicBezTo>
                    <a:pt x="219253" y="92918"/>
                    <a:pt x="191986" y="104353"/>
                    <a:pt x="170629" y="115250"/>
                  </a:cubicBezTo>
                  <a:cubicBezTo>
                    <a:pt x="155563" y="129736"/>
                    <a:pt x="143418" y="146104"/>
                    <a:pt x="126157" y="151452"/>
                  </a:cubicBezTo>
                  <a:cubicBezTo>
                    <a:pt x="110048" y="155682"/>
                    <a:pt x="82946" y="155682"/>
                    <a:pt x="52808" y="150002"/>
                  </a:cubicBezTo>
                  <a:cubicBezTo>
                    <a:pt x="28847" y="143645"/>
                    <a:pt x="5675" y="118994"/>
                    <a:pt x="3521" y="100385"/>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17" name="ellipse_2612">
              <a:extLst>
                <a:ext uri="{FF2B5EF4-FFF2-40B4-BE49-F238E27FC236}">
                  <a16:creationId xmlns:a16="http://schemas.microsoft.com/office/drawing/2014/main" id="{899D545A-9188-B8A5-5122-F55763321954}"/>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sp>
        <p:nvSpPr>
          <p:cNvPr id="50449" name="F2-bank-channel">
            <a:extLst>
              <a:ext uri="{FF2B5EF4-FFF2-40B4-BE49-F238E27FC236}">
                <a16:creationId xmlns:a16="http://schemas.microsoft.com/office/drawing/2014/main" id="{E8F7522B-3B27-4338-8014-8A4EEE25C15E}"/>
              </a:ext>
            </a:extLst>
          </p:cNvPr>
          <p:cNvSpPr>
            <a:spLocks noGrp="1"/>
          </p:cNvSpPr>
          <p:nvPr/>
        </p:nvSpPr>
        <p:spPr>
          <a:xfrm>
            <a:off x="1453500" y="508635"/>
            <a:ext cx="257175" cy="190500"/>
          </a:xfrm>
          <a:prstGeom prst="rect">
            <a:avLst/>
          </a:prstGeom>
          <a:solidFill>
            <a:srgbClr val="EBF7FC"/>
          </a:solidFill>
          <a:ln w="4286">
            <a:solidFill>
              <a:srgbClr val="A6C5DF"/>
            </a:solidFill>
          </a:ln>
        </p:spPr>
      </p:sp>
      <p:sp>
        <p:nvSpPr>
          <p:cNvPr id="50450" name="F2-bank-channel">
            <a:extLst>
              <a:ext uri="{FF2B5EF4-FFF2-40B4-BE49-F238E27FC236}">
                <a16:creationId xmlns:a16="http://schemas.microsoft.com/office/drawing/2014/main" id="{44CA542A-604D-4AA5-B11D-B6617579A677}"/>
              </a:ext>
            </a:extLst>
          </p:cNvPr>
          <p:cNvSpPr>
            <a:spLocks noGrp="1"/>
          </p:cNvSpPr>
          <p:nvPr/>
        </p:nvSpPr>
        <p:spPr>
          <a:xfrm>
            <a:off x="1445880" y="515303"/>
            <a:ext cx="257175" cy="190500"/>
          </a:xfrm>
          <a:prstGeom prst="rect">
            <a:avLst/>
          </a:prstGeom>
          <a:solidFill>
            <a:srgbClr val="EBF7FC"/>
          </a:solidFill>
          <a:ln w="4286">
            <a:solidFill>
              <a:srgbClr val="A6C5DF"/>
            </a:solidFill>
          </a:ln>
        </p:spPr>
      </p:sp>
      <p:sp>
        <p:nvSpPr>
          <p:cNvPr id="50451" name="F2-bank-channel">
            <a:extLst>
              <a:ext uri="{FF2B5EF4-FFF2-40B4-BE49-F238E27FC236}">
                <a16:creationId xmlns:a16="http://schemas.microsoft.com/office/drawing/2014/main" id="{94C83CC1-C6DF-4DC5-87DF-BCD87221CF3B}"/>
              </a:ext>
            </a:extLst>
          </p:cNvPr>
          <p:cNvSpPr>
            <a:spLocks noGrp="1"/>
          </p:cNvSpPr>
          <p:nvPr/>
        </p:nvSpPr>
        <p:spPr>
          <a:xfrm>
            <a:off x="1438260" y="521970"/>
            <a:ext cx="257175" cy="190500"/>
          </a:xfrm>
          <a:prstGeom prst="rect">
            <a:avLst/>
          </a:prstGeom>
          <a:solidFill>
            <a:srgbClr val="EBF7FC"/>
          </a:solidFill>
          <a:ln w="4286">
            <a:solidFill>
              <a:srgbClr val="A6C5DF"/>
            </a:solidFill>
          </a:ln>
        </p:spPr>
      </p:sp>
      <p:sp>
        <p:nvSpPr>
          <p:cNvPr id="50452" name="F2-bank-channel">
            <a:extLst>
              <a:ext uri="{FF2B5EF4-FFF2-40B4-BE49-F238E27FC236}">
                <a16:creationId xmlns:a16="http://schemas.microsoft.com/office/drawing/2014/main" id="{1ABD8E71-8A8E-4A01-9656-5F57A7EAD863}"/>
              </a:ext>
            </a:extLst>
          </p:cNvPr>
          <p:cNvSpPr>
            <a:spLocks noGrp="1"/>
          </p:cNvSpPr>
          <p:nvPr/>
        </p:nvSpPr>
        <p:spPr>
          <a:xfrm>
            <a:off x="1430640" y="528638"/>
            <a:ext cx="257175" cy="190500"/>
          </a:xfrm>
          <a:prstGeom prst="rect">
            <a:avLst/>
          </a:prstGeom>
          <a:solidFill>
            <a:srgbClr val="EBF7FC"/>
          </a:solidFill>
          <a:ln w="4286">
            <a:solidFill>
              <a:srgbClr val="A6C5DF"/>
            </a:solidFill>
          </a:ln>
        </p:spPr>
      </p:sp>
      <p:sp>
        <p:nvSpPr>
          <p:cNvPr id="50453" name="F2-bank-channel">
            <a:extLst>
              <a:ext uri="{FF2B5EF4-FFF2-40B4-BE49-F238E27FC236}">
                <a16:creationId xmlns:a16="http://schemas.microsoft.com/office/drawing/2014/main" id="{A1E78B7C-AF8B-46CF-BE9A-7739D3A000CC}"/>
              </a:ext>
            </a:extLst>
          </p:cNvPr>
          <p:cNvSpPr>
            <a:spLocks noGrp="1"/>
          </p:cNvSpPr>
          <p:nvPr/>
        </p:nvSpPr>
        <p:spPr>
          <a:xfrm>
            <a:off x="1423020" y="535305"/>
            <a:ext cx="257175" cy="190500"/>
          </a:xfrm>
          <a:prstGeom prst="rect">
            <a:avLst/>
          </a:prstGeom>
          <a:solidFill>
            <a:srgbClr val="EBF7FC"/>
          </a:solidFill>
          <a:ln w="4286">
            <a:solidFill>
              <a:srgbClr val="A6C5DF"/>
            </a:solidFill>
          </a:ln>
        </p:spPr>
      </p:sp>
      <p:sp>
        <p:nvSpPr>
          <p:cNvPr id="50454" name="F2-bank-channel">
            <a:extLst>
              <a:ext uri="{FF2B5EF4-FFF2-40B4-BE49-F238E27FC236}">
                <a16:creationId xmlns:a16="http://schemas.microsoft.com/office/drawing/2014/main" id="{F902D412-512B-42B7-B05D-EDD9258097DC}"/>
              </a:ext>
            </a:extLst>
          </p:cNvPr>
          <p:cNvSpPr>
            <a:spLocks noGrp="1"/>
          </p:cNvSpPr>
          <p:nvPr/>
        </p:nvSpPr>
        <p:spPr>
          <a:xfrm>
            <a:off x="1415400" y="541973"/>
            <a:ext cx="257175" cy="190500"/>
          </a:xfrm>
          <a:prstGeom prst="rect">
            <a:avLst/>
          </a:prstGeom>
          <a:solidFill>
            <a:srgbClr val="EBF7FC"/>
          </a:solidFill>
          <a:ln w="4286">
            <a:solidFill>
              <a:srgbClr val="A6C5DF"/>
            </a:solidFill>
          </a:ln>
        </p:spPr>
      </p:sp>
      <p:sp>
        <p:nvSpPr>
          <p:cNvPr id="50455" name="F2-bank-channel">
            <a:extLst>
              <a:ext uri="{FF2B5EF4-FFF2-40B4-BE49-F238E27FC236}">
                <a16:creationId xmlns:a16="http://schemas.microsoft.com/office/drawing/2014/main" id="{CA6824A1-9C37-4EE2-8CF4-7C88BCE1DBE6}"/>
              </a:ext>
            </a:extLst>
          </p:cNvPr>
          <p:cNvSpPr>
            <a:spLocks noGrp="1"/>
          </p:cNvSpPr>
          <p:nvPr/>
        </p:nvSpPr>
        <p:spPr>
          <a:xfrm>
            <a:off x="1407780" y="548640"/>
            <a:ext cx="257175" cy="190500"/>
          </a:xfrm>
          <a:prstGeom prst="rect">
            <a:avLst/>
          </a:prstGeom>
          <a:solidFill>
            <a:srgbClr val="EBF7FC"/>
          </a:solidFill>
          <a:ln w="4286">
            <a:solidFill>
              <a:srgbClr val="A6C5DF"/>
            </a:solidFill>
          </a:ln>
        </p:spPr>
      </p:sp>
      <p:sp>
        <p:nvSpPr>
          <p:cNvPr id="50456" name="F2-bank-channel">
            <a:extLst>
              <a:ext uri="{FF2B5EF4-FFF2-40B4-BE49-F238E27FC236}">
                <a16:creationId xmlns:a16="http://schemas.microsoft.com/office/drawing/2014/main" id="{2705DA7A-40F9-48D2-946C-8019421C16B7}"/>
              </a:ext>
            </a:extLst>
          </p:cNvPr>
          <p:cNvSpPr>
            <a:spLocks noGrp="1"/>
          </p:cNvSpPr>
          <p:nvPr/>
        </p:nvSpPr>
        <p:spPr>
          <a:xfrm>
            <a:off x="1400160" y="555308"/>
            <a:ext cx="257175" cy="190500"/>
          </a:xfrm>
          <a:prstGeom prst="rect">
            <a:avLst/>
          </a:prstGeom>
          <a:solidFill>
            <a:srgbClr val="EBF7FC"/>
          </a:solidFill>
          <a:ln w="4286">
            <a:solidFill>
              <a:srgbClr val="A6C5DF"/>
            </a:solidFill>
          </a:ln>
        </p:spPr>
      </p:sp>
      <p:sp>
        <p:nvSpPr>
          <p:cNvPr id="50457" name="F2-bank-channel">
            <a:extLst>
              <a:ext uri="{FF2B5EF4-FFF2-40B4-BE49-F238E27FC236}">
                <a16:creationId xmlns:a16="http://schemas.microsoft.com/office/drawing/2014/main" id="{E1B9C475-D32F-4E88-9AAA-6701AFC1AC14}"/>
              </a:ext>
            </a:extLst>
          </p:cNvPr>
          <p:cNvSpPr>
            <a:spLocks noGrp="1"/>
          </p:cNvSpPr>
          <p:nvPr/>
        </p:nvSpPr>
        <p:spPr>
          <a:xfrm>
            <a:off x="1392540" y="561975"/>
            <a:ext cx="257175" cy="190500"/>
          </a:xfrm>
          <a:prstGeom prst="rect">
            <a:avLst/>
          </a:prstGeom>
          <a:solidFill>
            <a:srgbClr val="EBF7FC"/>
          </a:solidFill>
          <a:ln w="4286">
            <a:solidFill>
              <a:srgbClr val="A6C5DF"/>
            </a:solidFill>
          </a:ln>
        </p:spPr>
      </p:sp>
      <p:sp>
        <p:nvSpPr>
          <p:cNvPr id="50458" name="F2-density-voxel">
            <a:extLst>
              <a:ext uri="{FF2B5EF4-FFF2-40B4-BE49-F238E27FC236}">
                <a16:creationId xmlns:a16="http://schemas.microsoft.com/office/drawing/2014/main" id="{A49953DB-68D8-42EB-963F-DD42F453137D}"/>
              </a:ext>
            </a:extLst>
          </p:cNvPr>
          <p:cNvSpPr>
            <a:spLocks noGrp="1"/>
          </p:cNvSpPr>
          <p:nvPr/>
        </p:nvSpPr>
        <p:spPr>
          <a:xfrm>
            <a:off x="1411590" y="571500"/>
            <a:ext cx="52388" cy="42863"/>
          </a:xfrm>
          <a:prstGeom prst="rect">
            <a:avLst/>
          </a:prstGeom>
          <a:solidFill>
            <a:srgbClr val="CCE5EE"/>
          </a:solidFill>
          <a:ln w="0">
            <a:noFill/>
          </a:ln>
        </p:spPr>
      </p:sp>
      <p:sp>
        <p:nvSpPr>
          <p:cNvPr id="50459" name="F2-density-voxel">
            <a:extLst>
              <a:ext uri="{FF2B5EF4-FFF2-40B4-BE49-F238E27FC236}">
                <a16:creationId xmlns:a16="http://schemas.microsoft.com/office/drawing/2014/main" id="{ECECDED8-7BB6-465D-90CE-1566D913C0F0}"/>
              </a:ext>
            </a:extLst>
          </p:cNvPr>
          <p:cNvSpPr>
            <a:spLocks noGrp="1"/>
          </p:cNvSpPr>
          <p:nvPr/>
        </p:nvSpPr>
        <p:spPr>
          <a:xfrm>
            <a:off x="1463978" y="571500"/>
            <a:ext cx="52388" cy="42863"/>
          </a:xfrm>
          <a:prstGeom prst="rect">
            <a:avLst/>
          </a:prstGeom>
          <a:solidFill>
            <a:srgbClr val="86C0D7"/>
          </a:solidFill>
          <a:ln w="0">
            <a:noFill/>
          </a:ln>
        </p:spPr>
      </p:sp>
      <p:sp>
        <p:nvSpPr>
          <p:cNvPr id="50460" name="F2-density-voxel">
            <a:extLst>
              <a:ext uri="{FF2B5EF4-FFF2-40B4-BE49-F238E27FC236}">
                <a16:creationId xmlns:a16="http://schemas.microsoft.com/office/drawing/2014/main" id="{49E89024-8821-43E6-B830-D5D2C6143679}"/>
              </a:ext>
            </a:extLst>
          </p:cNvPr>
          <p:cNvSpPr>
            <a:spLocks noGrp="1"/>
          </p:cNvSpPr>
          <p:nvPr/>
        </p:nvSpPr>
        <p:spPr>
          <a:xfrm>
            <a:off x="1516365" y="571500"/>
            <a:ext cx="52388" cy="42863"/>
          </a:xfrm>
          <a:prstGeom prst="rect">
            <a:avLst/>
          </a:prstGeom>
          <a:solidFill>
            <a:srgbClr val="4D9ABB"/>
          </a:solidFill>
          <a:ln w="0">
            <a:noFill/>
          </a:ln>
        </p:spPr>
      </p:sp>
      <p:sp>
        <p:nvSpPr>
          <p:cNvPr id="50461" name="F2-density-voxel">
            <a:extLst>
              <a:ext uri="{FF2B5EF4-FFF2-40B4-BE49-F238E27FC236}">
                <a16:creationId xmlns:a16="http://schemas.microsoft.com/office/drawing/2014/main" id="{3A635687-B1F5-496B-9A49-461D8BC35087}"/>
              </a:ext>
            </a:extLst>
          </p:cNvPr>
          <p:cNvSpPr>
            <a:spLocks noGrp="1"/>
          </p:cNvSpPr>
          <p:nvPr/>
        </p:nvSpPr>
        <p:spPr>
          <a:xfrm>
            <a:off x="1568753" y="571500"/>
            <a:ext cx="52388" cy="42863"/>
          </a:xfrm>
          <a:prstGeom prst="rect">
            <a:avLst/>
          </a:prstGeom>
          <a:solidFill>
            <a:srgbClr val="B6DDE7"/>
          </a:solidFill>
          <a:ln w="0">
            <a:noFill/>
          </a:ln>
        </p:spPr>
      </p:sp>
      <p:sp>
        <p:nvSpPr>
          <p:cNvPr id="50462" name="F2-density-voxel">
            <a:extLst>
              <a:ext uri="{FF2B5EF4-FFF2-40B4-BE49-F238E27FC236}">
                <a16:creationId xmlns:a16="http://schemas.microsoft.com/office/drawing/2014/main" id="{FEC54E9C-643D-4824-B955-66BA7E401A0E}"/>
              </a:ext>
            </a:extLst>
          </p:cNvPr>
          <p:cNvSpPr>
            <a:spLocks noGrp="1"/>
          </p:cNvSpPr>
          <p:nvPr/>
        </p:nvSpPr>
        <p:spPr>
          <a:xfrm>
            <a:off x="1411590" y="614363"/>
            <a:ext cx="52388" cy="42863"/>
          </a:xfrm>
          <a:prstGeom prst="rect">
            <a:avLst/>
          </a:prstGeom>
          <a:solidFill>
            <a:srgbClr val="86C0D7"/>
          </a:solidFill>
          <a:ln w="0">
            <a:noFill/>
          </a:ln>
        </p:spPr>
      </p:sp>
      <p:sp>
        <p:nvSpPr>
          <p:cNvPr id="50463" name="F2-density-voxel">
            <a:extLst>
              <a:ext uri="{FF2B5EF4-FFF2-40B4-BE49-F238E27FC236}">
                <a16:creationId xmlns:a16="http://schemas.microsoft.com/office/drawing/2014/main" id="{ED2290E5-D29A-42C8-863E-1A0B5A093DAF}"/>
              </a:ext>
            </a:extLst>
          </p:cNvPr>
          <p:cNvSpPr>
            <a:spLocks noGrp="1"/>
          </p:cNvSpPr>
          <p:nvPr/>
        </p:nvSpPr>
        <p:spPr>
          <a:xfrm>
            <a:off x="1463978" y="614363"/>
            <a:ext cx="52388" cy="42863"/>
          </a:xfrm>
          <a:prstGeom prst="rect">
            <a:avLst/>
          </a:prstGeom>
          <a:solidFill>
            <a:srgbClr val="4D9ABB"/>
          </a:solidFill>
          <a:ln w="0">
            <a:noFill/>
          </a:ln>
        </p:spPr>
      </p:sp>
      <p:sp>
        <p:nvSpPr>
          <p:cNvPr id="50464" name="F2-density-voxel">
            <a:extLst>
              <a:ext uri="{FF2B5EF4-FFF2-40B4-BE49-F238E27FC236}">
                <a16:creationId xmlns:a16="http://schemas.microsoft.com/office/drawing/2014/main" id="{C030A993-BA02-4CBF-A526-9AF795928873}"/>
              </a:ext>
            </a:extLst>
          </p:cNvPr>
          <p:cNvSpPr>
            <a:spLocks noGrp="1"/>
          </p:cNvSpPr>
          <p:nvPr/>
        </p:nvSpPr>
        <p:spPr>
          <a:xfrm>
            <a:off x="1516365" y="614363"/>
            <a:ext cx="52388" cy="42863"/>
          </a:xfrm>
          <a:prstGeom prst="rect">
            <a:avLst/>
          </a:prstGeom>
          <a:solidFill>
            <a:srgbClr val="B6DDE7"/>
          </a:solidFill>
          <a:ln w="0">
            <a:noFill/>
          </a:ln>
        </p:spPr>
      </p:sp>
      <p:sp>
        <p:nvSpPr>
          <p:cNvPr id="50465" name="F2-density-voxel">
            <a:extLst>
              <a:ext uri="{FF2B5EF4-FFF2-40B4-BE49-F238E27FC236}">
                <a16:creationId xmlns:a16="http://schemas.microsoft.com/office/drawing/2014/main" id="{EC212EF2-C0F1-41AF-B3CE-D957D17932A0}"/>
              </a:ext>
            </a:extLst>
          </p:cNvPr>
          <p:cNvSpPr>
            <a:spLocks noGrp="1"/>
          </p:cNvSpPr>
          <p:nvPr/>
        </p:nvSpPr>
        <p:spPr>
          <a:xfrm>
            <a:off x="1568753" y="614363"/>
            <a:ext cx="52388" cy="42863"/>
          </a:xfrm>
          <a:prstGeom prst="rect">
            <a:avLst/>
          </a:prstGeom>
          <a:solidFill>
            <a:srgbClr val="CCE5EE"/>
          </a:solidFill>
          <a:ln w="0">
            <a:noFill/>
          </a:ln>
        </p:spPr>
      </p:sp>
      <p:sp>
        <p:nvSpPr>
          <p:cNvPr id="50466" name="F2-density-voxel">
            <a:extLst>
              <a:ext uri="{FF2B5EF4-FFF2-40B4-BE49-F238E27FC236}">
                <a16:creationId xmlns:a16="http://schemas.microsoft.com/office/drawing/2014/main" id="{8E8D1CD2-DC81-4A69-849C-F21783FD798D}"/>
              </a:ext>
            </a:extLst>
          </p:cNvPr>
          <p:cNvSpPr>
            <a:spLocks noGrp="1"/>
          </p:cNvSpPr>
          <p:nvPr/>
        </p:nvSpPr>
        <p:spPr>
          <a:xfrm>
            <a:off x="1411590" y="657225"/>
            <a:ext cx="52388" cy="42863"/>
          </a:xfrm>
          <a:prstGeom prst="rect">
            <a:avLst/>
          </a:prstGeom>
          <a:solidFill>
            <a:srgbClr val="4D9ABB"/>
          </a:solidFill>
          <a:ln w="0">
            <a:noFill/>
          </a:ln>
        </p:spPr>
      </p:sp>
      <p:sp>
        <p:nvSpPr>
          <p:cNvPr id="50467" name="F2-density-voxel">
            <a:extLst>
              <a:ext uri="{FF2B5EF4-FFF2-40B4-BE49-F238E27FC236}">
                <a16:creationId xmlns:a16="http://schemas.microsoft.com/office/drawing/2014/main" id="{CEA7FE12-330D-4160-8BE6-769BF6A26577}"/>
              </a:ext>
            </a:extLst>
          </p:cNvPr>
          <p:cNvSpPr>
            <a:spLocks noGrp="1"/>
          </p:cNvSpPr>
          <p:nvPr/>
        </p:nvSpPr>
        <p:spPr>
          <a:xfrm>
            <a:off x="1463978" y="657225"/>
            <a:ext cx="52388" cy="42863"/>
          </a:xfrm>
          <a:prstGeom prst="rect">
            <a:avLst/>
          </a:prstGeom>
          <a:solidFill>
            <a:srgbClr val="B6DDE7"/>
          </a:solidFill>
          <a:ln w="0">
            <a:noFill/>
          </a:ln>
        </p:spPr>
      </p:sp>
      <p:sp>
        <p:nvSpPr>
          <p:cNvPr id="50468" name="F2-density-voxel">
            <a:extLst>
              <a:ext uri="{FF2B5EF4-FFF2-40B4-BE49-F238E27FC236}">
                <a16:creationId xmlns:a16="http://schemas.microsoft.com/office/drawing/2014/main" id="{BE225EBF-D266-4631-9D7E-1B21643503B4}"/>
              </a:ext>
            </a:extLst>
          </p:cNvPr>
          <p:cNvSpPr>
            <a:spLocks noGrp="1"/>
          </p:cNvSpPr>
          <p:nvPr/>
        </p:nvSpPr>
        <p:spPr>
          <a:xfrm>
            <a:off x="1516365" y="657225"/>
            <a:ext cx="52388" cy="42863"/>
          </a:xfrm>
          <a:prstGeom prst="rect">
            <a:avLst/>
          </a:prstGeom>
          <a:solidFill>
            <a:srgbClr val="CCE5EE"/>
          </a:solidFill>
          <a:ln w="0">
            <a:noFill/>
          </a:ln>
        </p:spPr>
      </p:sp>
      <p:sp>
        <p:nvSpPr>
          <p:cNvPr id="50469" name="F2-density-voxel">
            <a:extLst>
              <a:ext uri="{FF2B5EF4-FFF2-40B4-BE49-F238E27FC236}">
                <a16:creationId xmlns:a16="http://schemas.microsoft.com/office/drawing/2014/main" id="{D56EA4DF-3429-4429-A2AA-6D7C9D33B341}"/>
              </a:ext>
            </a:extLst>
          </p:cNvPr>
          <p:cNvSpPr>
            <a:spLocks noGrp="1"/>
          </p:cNvSpPr>
          <p:nvPr/>
        </p:nvSpPr>
        <p:spPr>
          <a:xfrm>
            <a:off x="1568753" y="657225"/>
            <a:ext cx="52388" cy="42863"/>
          </a:xfrm>
          <a:prstGeom prst="rect">
            <a:avLst/>
          </a:prstGeom>
          <a:solidFill>
            <a:srgbClr val="86C0D7"/>
          </a:solidFill>
          <a:ln w="0">
            <a:noFill/>
          </a:ln>
        </p:spPr>
      </p:sp>
      <p:sp>
        <p:nvSpPr>
          <p:cNvPr id="50470" name="F2-density-voxel">
            <a:extLst>
              <a:ext uri="{FF2B5EF4-FFF2-40B4-BE49-F238E27FC236}">
                <a16:creationId xmlns:a16="http://schemas.microsoft.com/office/drawing/2014/main" id="{F4CB67F8-3427-42E0-B222-3C4C5B421A28}"/>
              </a:ext>
            </a:extLst>
          </p:cNvPr>
          <p:cNvSpPr>
            <a:spLocks noGrp="1"/>
          </p:cNvSpPr>
          <p:nvPr/>
        </p:nvSpPr>
        <p:spPr>
          <a:xfrm>
            <a:off x="1411590" y="700088"/>
            <a:ext cx="52388" cy="42863"/>
          </a:xfrm>
          <a:prstGeom prst="rect">
            <a:avLst/>
          </a:prstGeom>
          <a:solidFill>
            <a:srgbClr val="B6DDE7"/>
          </a:solidFill>
          <a:ln w="0">
            <a:noFill/>
          </a:ln>
        </p:spPr>
      </p:sp>
      <p:sp>
        <p:nvSpPr>
          <p:cNvPr id="50471" name="F2-density-voxel">
            <a:extLst>
              <a:ext uri="{FF2B5EF4-FFF2-40B4-BE49-F238E27FC236}">
                <a16:creationId xmlns:a16="http://schemas.microsoft.com/office/drawing/2014/main" id="{E62F2DC6-612B-4891-B2B7-8020312C0678}"/>
              </a:ext>
            </a:extLst>
          </p:cNvPr>
          <p:cNvSpPr>
            <a:spLocks noGrp="1"/>
          </p:cNvSpPr>
          <p:nvPr/>
        </p:nvSpPr>
        <p:spPr>
          <a:xfrm>
            <a:off x="1463978" y="700088"/>
            <a:ext cx="52388" cy="42863"/>
          </a:xfrm>
          <a:prstGeom prst="rect">
            <a:avLst/>
          </a:prstGeom>
          <a:solidFill>
            <a:srgbClr val="CCE5EE"/>
          </a:solidFill>
          <a:ln w="0">
            <a:noFill/>
          </a:ln>
        </p:spPr>
      </p:sp>
      <p:sp>
        <p:nvSpPr>
          <p:cNvPr id="50472" name="F2-density-voxel">
            <a:extLst>
              <a:ext uri="{FF2B5EF4-FFF2-40B4-BE49-F238E27FC236}">
                <a16:creationId xmlns:a16="http://schemas.microsoft.com/office/drawing/2014/main" id="{3D79F01F-5243-4E3C-8AA7-EE2C8B8C7E29}"/>
              </a:ext>
            </a:extLst>
          </p:cNvPr>
          <p:cNvSpPr>
            <a:spLocks noGrp="1"/>
          </p:cNvSpPr>
          <p:nvPr/>
        </p:nvSpPr>
        <p:spPr>
          <a:xfrm>
            <a:off x="1516365" y="700088"/>
            <a:ext cx="52388" cy="42863"/>
          </a:xfrm>
          <a:prstGeom prst="rect">
            <a:avLst/>
          </a:prstGeom>
          <a:solidFill>
            <a:srgbClr val="86C0D7"/>
          </a:solidFill>
          <a:ln w="0">
            <a:noFill/>
          </a:ln>
        </p:spPr>
      </p:sp>
      <p:sp>
        <p:nvSpPr>
          <p:cNvPr id="50473" name="F2-density-voxel">
            <a:extLst>
              <a:ext uri="{FF2B5EF4-FFF2-40B4-BE49-F238E27FC236}">
                <a16:creationId xmlns:a16="http://schemas.microsoft.com/office/drawing/2014/main" id="{7F5BC88D-76D1-4A24-B998-8BD41F9AADDB}"/>
              </a:ext>
            </a:extLst>
          </p:cNvPr>
          <p:cNvSpPr>
            <a:spLocks noGrp="1"/>
          </p:cNvSpPr>
          <p:nvPr/>
        </p:nvSpPr>
        <p:spPr>
          <a:xfrm>
            <a:off x="1568753" y="700088"/>
            <a:ext cx="52388" cy="42863"/>
          </a:xfrm>
          <a:prstGeom prst="rect">
            <a:avLst/>
          </a:prstGeom>
          <a:solidFill>
            <a:srgbClr val="4D9ABB"/>
          </a:solidFill>
          <a:ln w="0">
            <a:noFill/>
          </a:ln>
        </p:spPr>
      </p:sp>
      <p:sp>
        <p:nvSpPr>
          <p:cNvPr id="50474" name="F2-spatial-transform">
            <a:extLst>
              <a:ext uri="{FF2B5EF4-FFF2-40B4-BE49-F238E27FC236}">
                <a16:creationId xmlns:a16="http://schemas.microsoft.com/office/drawing/2014/main" id="{A85283F8-9FE2-48A1-8429-5356F2D370E2}"/>
              </a:ext>
            </a:extLst>
          </p:cNvPr>
          <p:cNvSpPr>
            <a:spLocks noGrp="1"/>
          </p:cNvSpPr>
          <p:nvPr/>
        </p:nvSpPr>
        <p:spPr>
          <a:xfrm>
            <a:off x="981877" y="549713"/>
            <a:ext cx="376238" cy="180975"/>
          </a:xfrm>
          <a:prstGeom prst="rect">
            <a:avLst/>
          </a:prstGeom>
          <a:noFill/>
          <a:ln w="0">
            <a:noFill/>
          </a:ln>
        </p:spPr>
        <p:txBody>
          <a:bodyPr wrap="none" lIns="0" tIns="0" rIns="0" bIns="0" anchor="ctr">
            <a:noAutofit/>
          </a:bodyPr>
          <a:lstStyle>
            <a:defPPr algn="ctr">
              <a:defRPr sz="540" b="0">
                <a:solidFill>
                  <a:srgbClr val="263442"/>
                </a:solidFill>
                <a:latin typeface="Arial"/>
                <a:ea typeface="Arial"/>
                <a:cs typeface="Arial"/>
              </a:defRPr>
            </a:defPPr>
            <a:lvl1pPr algn="ctr">
              <a:defRPr sz="540" b="0">
                <a:solidFill>
                  <a:srgbClr val="263442"/>
                </a:solidFill>
                <a:latin typeface="Arial"/>
                <a:ea typeface="Arial"/>
                <a:cs typeface="Arial"/>
              </a:defRPr>
            </a:lvl1pPr>
            <a:lvl2pPr algn="ctr">
              <a:defRPr sz="540" b="0">
                <a:solidFill>
                  <a:srgbClr val="263442"/>
                </a:solidFill>
                <a:latin typeface="Arial"/>
                <a:ea typeface="Arial"/>
                <a:cs typeface="Arial"/>
              </a:defRPr>
            </a:lvl2pPr>
            <a:lvl3pPr algn="ctr">
              <a:defRPr sz="540" b="0">
                <a:solidFill>
                  <a:srgbClr val="263442"/>
                </a:solidFill>
                <a:latin typeface="Arial"/>
                <a:ea typeface="Arial"/>
                <a:cs typeface="Arial"/>
              </a:defRPr>
            </a:lvl3pPr>
            <a:lvl4pPr algn="ctr">
              <a:defRPr sz="540" b="0">
                <a:solidFill>
                  <a:srgbClr val="263442"/>
                </a:solidFill>
                <a:latin typeface="Arial"/>
                <a:ea typeface="Arial"/>
                <a:cs typeface="Arial"/>
              </a:defRPr>
            </a:lvl4pPr>
            <a:lvl5pPr algn="ctr">
              <a:defRPr sz="540" b="0">
                <a:solidFill>
                  <a:srgbClr val="263442"/>
                </a:solidFill>
                <a:latin typeface="Arial"/>
                <a:ea typeface="Arial"/>
                <a:cs typeface="Arial"/>
              </a:defRPr>
            </a:lvl5pPr>
            <a:lvl6pPr algn="ctr">
              <a:defRPr sz="540" b="0">
                <a:solidFill>
                  <a:srgbClr val="263442"/>
                </a:solidFill>
                <a:latin typeface="Arial"/>
                <a:ea typeface="Arial"/>
                <a:cs typeface="Arial"/>
              </a:defRPr>
            </a:lvl6pPr>
            <a:lvl7pPr algn="ctr">
              <a:defRPr sz="540" b="0">
                <a:solidFill>
                  <a:srgbClr val="263442"/>
                </a:solidFill>
                <a:latin typeface="Arial"/>
                <a:ea typeface="Arial"/>
                <a:cs typeface="Arial"/>
              </a:defRPr>
            </a:lvl7pPr>
            <a:lvl8pPr algn="ctr">
              <a:defRPr sz="540" b="0">
                <a:solidFill>
                  <a:srgbClr val="263442"/>
                </a:solidFill>
                <a:latin typeface="Arial"/>
                <a:ea typeface="Arial"/>
                <a:cs typeface="Arial"/>
              </a:defRPr>
            </a:lvl8pPr>
            <a:lvl9pPr algn="ctr">
              <a:defRPr sz="540" b="0">
                <a:solidFill>
                  <a:srgbClr val="263442"/>
                </a:solidFill>
                <a:latin typeface="Arial"/>
                <a:ea typeface="Arial"/>
                <a:cs typeface="Arial"/>
              </a:defRPr>
            </a:lvl9pPr>
          </a:lstStyle>
          <a:p>
            <a:pPr algn="ctr">
              <a:defRPr sz="540" b="0">
                <a:solidFill>
                  <a:srgbClr val="263442"/>
                </a:solidFill>
                <a:latin typeface="Arial"/>
                <a:ea typeface="Arial"/>
                <a:cs typeface="Arial"/>
              </a:defRPr>
            </a:pPr>
            <a:r>
              <a:rPr sz="460" b="0" dirty="0">
                <a:solidFill>
                  <a:srgbClr val="263442"/>
                </a:solidFill>
                <a:latin typeface="Arial"/>
                <a:ea typeface="Arial"/>
                <a:cs typeface="Arial"/>
              </a:rPr>
              <a:t>Spatial</a:t>
            </a:r>
          </a:p>
          <a:p>
            <a:pPr algn="ctr">
              <a:defRPr sz="540" b="0">
                <a:solidFill>
                  <a:srgbClr val="263442"/>
                </a:solidFill>
                <a:latin typeface="Arial"/>
                <a:ea typeface="Arial"/>
                <a:cs typeface="Arial"/>
              </a:defRPr>
            </a:pPr>
            <a:r>
              <a:rPr sz="460" b="0" dirty="0">
                <a:solidFill>
                  <a:srgbClr val="263442"/>
                </a:solidFill>
                <a:latin typeface="Arial"/>
                <a:ea typeface="Arial"/>
                <a:cs typeface="Arial"/>
              </a:rPr>
              <a:t>transform</a:t>
            </a:r>
          </a:p>
        </p:txBody>
      </p:sp>
      <p:sp>
        <p:nvSpPr>
          <p:cNvPr id="50475" name="F2-atom-embeddings-input">
            <a:extLst>
              <a:ext uri="{FF2B5EF4-FFF2-40B4-BE49-F238E27FC236}">
                <a16:creationId xmlns:a16="http://schemas.microsoft.com/office/drawing/2014/main" id="{0B4B93C5-B055-4ECE-8D5F-9FD8F9F29D6A}"/>
              </a:ext>
            </a:extLst>
          </p:cNvPr>
          <p:cNvSpPr>
            <a:spLocks noGrp="1"/>
          </p:cNvSpPr>
          <p:nvPr/>
        </p:nvSpPr>
        <p:spPr>
          <a:xfrm>
            <a:off x="1010565" y="1287494"/>
            <a:ext cx="327329" cy="180975"/>
          </a:xfrm>
          <a:prstGeom prst="rect">
            <a:avLst/>
          </a:prstGeom>
          <a:noFill/>
          <a:ln w="0">
            <a:noFill/>
          </a:ln>
        </p:spPr>
        <p:txBody>
          <a:bodyPr wrap="none" lIns="0" tIns="0" rIns="0" bIns="0" anchor="ctr">
            <a:noAutofit/>
          </a:bodyPr>
          <a:lstStyle>
            <a:defPPr algn="ctr">
              <a:defRPr sz="540" b="0">
                <a:solidFill>
                  <a:srgbClr val="263442"/>
                </a:solidFill>
                <a:latin typeface="Arial"/>
                <a:ea typeface="Arial"/>
                <a:cs typeface="Arial"/>
              </a:defRPr>
            </a:defPPr>
            <a:lvl1pPr algn="ctr">
              <a:defRPr sz="540" b="0">
                <a:solidFill>
                  <a:srgbClr val="263442"/>
                </a:solidFill>
                <a:latin typeface="Arial"/>
                <a:ea typeface="Arial"/>
                <a:cs typeface="Arial"/>
              </a:defRPr>
            </a:lvl1pPr>
            <a:lvl2pPr algn="ctr">
              <a:defRPr sz="540" b="0">
                <a:solidFill>
                  <a:srgbClr val="263442"/>
                </a:solidFill>
                <a:latin typeface="Arial"/>
                <a:ea typeface="Arial"/>
                <a:cs typeface="Arial"/>
              </a:defRPr>
            </a:lvl2pPr>
            <a:lvl3pPr algn="ctr">
              <a:defRPr sz="540" b="0">
                <a:solidFill>
                  <a:srgbClr val="263442"/>
                </a:solidFill>
                <a:latin typeface="Arial"/>
                <a:ea typeface="Arial"/>
                <a:cs typeface="Arial"/>
              </a:defRPr>
            </a:lvl3pPr>
            <a:lvl4pPr algn="ctr">
              <a:defRPr sz="540" b="0">
                <a:solidFill>
                  <a:srgbClr val="263442"/>
                </a:solidFill>
                <a:latin typeface="Arial"/>
                <a:ea typeface="Arial"/>
                <a:cs typeface="Arial"/>
              </a:defRPr>
            </a:lvl4pPr>
            <a:lvl5pPr algn="ctr">
              <a:defRPr sz="540" b="0">
                <a:solidFill>
                  <a:srgbClr val="263442"/>
                </a:solidFill>
                <a:latin typeface="Arial"/>
                <a:ea typeface="Arial"/>
                <a:cs typeface="Arial"/>
              </a:defRPr>
            </a:lvl5pPr>
            <a:lvl6pPr algn="ctr">
              <a:defRPr sz="540" b="0">
                <a:solidFill>
                  <a:srgbClr val="263442"/>
                </a:solidFill>
                <a:latin typeface="Arial"/>
                <a:ea typeface="Arial"/>
                <a:cs typeface="Arial"/>
              </a:defRPr>
            </a:lvl6pPr>
            <a:lvl7pPr algn="ctr">
              <a:defRPr sz="540" b="0">
                <a:solidFill>
                  <a:srgbClr val="263442"/>
                </a:solidFill>
                <a:latin typeface="Arial"/>
                <a:ea typeface="Arial"/>
                <a:cs typeface="Arial"/>
              </a:defRPr>
            </a:lvl7pPr>
            <a:lvl8pPr algn="ctr">
              <a:defRPr sz="540" b="0">
                <a:solidFill>
                  <a:srgbClr val="263442"/>
                </a:solidFill>
                <a:latin typeface="Arial"/>
                <a:ea typeface="Arial"/>
                <a:cs typeface="Arial"/>
              </a:defRPr>
            </a:lvl8pPr>
            <a:lvl9pPr algn="ctr">
              <a:defRPr sz="540" b="0">
                <a:solidFill>
                  <a:srgbClr val="263442"/>
                </a:solidFill>
                <a:latin typeface="Arial"/>
                <a:ea typeface="Arial"/>
                <a:cs typeface="Arial"/>
              </a:defRPr>
            </a:lvl9pPr>
          </a:lstStyle>
          <a:p>
            <a:pPr algn="ctr">
              <a:defRPr sz="540" b="0">
                <a:solidFill>
                  <a:srgbClr val="263442"/>
                </a:solidFill>
                <a:latin typeface="Arial"/>
                <a:ea typeface="Arial"/>
                <a:cs typeface="Arial"/>
              </a:defRPr>
            </a:pPr>
            <a:r>
              <a:rPr lang="en-US" sz="460" b="0" dirty="0">
                <a:solidFill>
                  <a:srgbClr val="263442"/>
                </a:solidFill>
                <a:latin typeface="Arial"/>
                <a:ea typeface="Arial"/>
                <a:cs typeface="Arial"/>
              </a:rPr>
              <a:t>E</a:t>
            </a:r>
            <a:r>
              <a:rPr sz="460" b="0" dirty="0">
                <a:solidFill>
                  <a:srgbClr val="263442"/>
                </a:solidFill>
                <a:latin typeface="Arial"/>
                <a:ea typeface="Arial"/>
                <a:cs typeface="Arial"/>
              </a:rPr>
              <a:t>mbedding</a:t>
            </a:r>
            <a:endParaRPr lang="en-US" sz="460" b="0" dirty="0">
              <a:solidFill>
                <a:srgbClr val="263442"/>
              </a:solidFill>
              <a:latin typeface="Arial"/>
              <a:ea typeface="Arial"/>
              <a:cs typeface="Arial"/>
            </a:endParaRPr>
          </a:p>
          <a:p>
            <a:pPr algn="ctr">
              <a:defRPr sz="540" b="0">
                <a:solidFill>
                  <a:srgbClr val="263442"/>
                </a:solidFill>
                <a:latin typeface="Arial"/>
                <a:ea typeface="Arial"/>
                <a:cs typeface="Arial"/>
              </a:defRPr>
            </a:pPr>
            <a:r>
              <a:rPr lang="en-US" altLang="zh-CN" sz="460" b="0" dirty="0">
                <a:solidFill>
                  <a:srgbClr val="263442"/>
                </a:solidFill>
                <a:latin typeface="Arial"/>
                <a:ea typeface="Arial"/>
                <a:cs typeface="Arial"/>
              </a:rPr>
              <a:t>head</a:t>
            </a:r>
            <a:endParaRPr sz="460" b="0" dirty="0">
              <a:solidFill>
                <a:srgbClr val="263442"/>
              </a:solidFill>
              <a:latin typeface="Arial"/>
              <a:ea typeface="Arial"/>
              <a:cs typeface="Arial"/>
            </a:endParaRPr>
          </a:p>
        </p:txBody>
      </p:sp>
      <p:pic>
        <p:nvPicPr>
          <p:cNvPr id="50482" name="图片 50481">
            <a:extLst>
              <a:ext uri="{FF2B5EF4-FFF2-40B4-BE49-F238E27FC236}">
                <a16:creationId xmlns:a16="http://schemas.microsoft.com/office/drawing/2014/main" id="{CC697937-E8CE-4EDF-BB17-1FEA96E39283}"/>
              </a:ext>
            </a:extLst>
          </p:cNvPr>
          <p:cNvPicPr>
            <a:picLocks noChangeAspect="1"/>
          </p:cNvPicPr>
          <p:nvPr/>
        </p:nvPicPr>
        <p:blipFill>
          <a:blip r:embed="rId8"/>
          <a:stretch/>
        </p:blipFill>
        <p:spPr>
          <a:xfrm>
            <a:off x="622201" y="2943948"/>
            <a:ext cx="414760" cy="342900"/>
          </a:xfrm>
          <a:prstGeom prst="rect">
            <a:avLst/>
          </a:prstGeom>
        </p:spPr>
      </p:pic>
      <p:grpSp>
        <p:nvGrpSpPr>
          <p:cNvPr id="50493" name="Find preview 15"/>
          <p:cNvGrpSpPr/>
          <p:nvPr/>
        </p:nvGrpSpPr>
        <p:grpSpPr>
          <a:xfrm>
            <a:off x="582671" y="471488"/>
            <a:ext cx="404812" cy="395288"/>
            <a:chOff x="511635" y="471488"/>
            <a:chExt cx="404812" cy="395288"/>
          </a:xfrm>
        </p:grpSpPr>
        <p:pic>
          <p:nvPicPr>
            <p:cNvPr id="15" name="Find corresponding experimental density" descr="Experimental 9LLG density around chain C1 of the displayed CryoAtom2 receptor, at the original contour level and the identical camera orientation.">
              <a:extLst>
                <a:ext uri="{FF2B5EF4-FFF2-40B4-BE49-F238E27FC236}">
                  <a16:creationId xmlns:a16="http://schemas.microsoft.com/office/drawing/2014/main" id="{8CF1199C-6488-C5B6-B489-1131732B4FBF}"/>
                </a:ext>
              </a:extLst>
            </p:cNvPr>
            <p:cNvPicPr/>
            <p:nvPr/>
          </p:nvPicPr>
          <p:blipFill>
            <a:blip r:embed="rId4"/>
            <a:stretch>
              <a:fillRect/>
            </a:stretch>
          </p:blipFill>
          <p:spPr>
            <a:xfrm>
              <a:off x="511635" y="475859"/>
              <a:ext cx="404812" cy="386544"/>
            </a:xfrm>
            <a:prstGeom prst="rect">
              <a:avLst/>
            </a:prstGeom>
          </p:spPr>
        </p:pic>
        <p:sp>
          <p:nvSpPr>
            <p:cNvPr id="50476" name="crop-cube">
              <a:extLst>
                <a:ext uri="{FF2B5EF4-FFF2-40B4-BE49-F238E27FC236}">
                  <a16:creationId xmlns:a16="http://schemas.microsoft.com/office/drawing/2014/main" id="{25839399-079E-4307-9725-E085483F7FD6}"/>
                </a:ext>
              </a:extLst>
            </p:cNvPr>
            <p:cNvSpPr>
              <a:spLocks noGrp="1"/>
            </p:cNvSpPr>
            <p:nvPr/>
          </p:nvSpPr>
          <p:spPr>
            <a:xfrm>
              <a:off x="700088" y="626745"/>
              <a:ext cx="119063" cy="119063"/>
            </a:xfrm>
            <a:custGeom>
              <a:avLst/>
              <a:gdLst/>
              <a:ahLst/>
              <a:cxnLst/>
              <a:rect l="0" t="0" r="0" b="0"/>
              <a:pathLst>
                <a:path w="119063" h="119063">
                  <a:moveTo>
                    <a:pt x="0" y="30956"/>
                  </a:moveTo>
                  <a:lnTo>
                    <a:pt x="88106" y="30956"/>
                  </a:lnTo>
                  <a:lnTo>
                    <a:pt x="88106" y="119063"/>
                  </a:lnTo>
                  <a:lnTo>
                    <a:pt x="0" y="119063"/>
                  </a:lnTo>
                  <a:lnTo>
                    <a:pt x="0" y="30956"/>
                  </a:lnTo>
                  <a:lnTo>
                    <a:pt x="30956" y="0"/>
                  </a:lnTo>
                  <a:lnTo>
                    <a:pt x="119063" y="0"/>
                  </a:lnTo>
                  <a:lnTo>
                    <a:pt x="119063" y="88106"/>
                  </a:lnTo>
                  <a:lnTo>
                    <a:pt x="88106" y="119063"/>
                  </a:lnTo>
                </a:path>
              </a:pathLst>
            </a:custGeom>
            <a:noFill/>
            <a:ln w="8573">
              <a:solidFill>
                <a:srgbClr val="263442"/>
              </a:solidFill>
            </a:ln>
          </p:spPr>
        </p:sp>
        <p:sp>
          <p:nvSpPr>
            <p:cNvPr id="50477" name="crop-cube">
              <a:extLst>
                <a:ext uri="{FF2B5EF4-FFF2-40B4-BE49-F238E27FC236}">
                  <a16:creationId xmlns:a16="http://schemas.microsoft.com/office/drawing/2014/main" id="{07D86F79-577D-4116-BDEA-F38D19D792BA}"/>
                </a:ext>
              </a:extLst>
            </p:cNvPr>
            <p:cNvSpPr>
              <a:spLocks noGrp="1"/>
            </p:cNvSpPr>
            <p:nvPr/>
          </p:nvSpPr>
          <p:spPr>
            <a:xfrm>
              <a:off x="788194" y="626745"/>
              <a:ext cx="30956" cy="30956"/>
            </a:xfrm>
            <a:custGeom>
              <a:avLst/>
              <a:gdLst/>
              <a:ahLst/>
              <a:cxnLst/>
              <a:rect l="0" t="0" r="0" b="0"/>
              <a:pathLst>
                <a:path w="30956" h="30956">
                  <a:moveTo>
                    <a:pt x="0" y="30956"/>
                  </a:moveTo>
                  <a:lnTo>
                    <a:pt x="30956" y="0"/>
                  </a:lnTo>
                </a:path>
              </a:pathLst>
            </a:custGeom>
            <a:noFill/>
            <a:ln w="8573">
              <a:solidFill>
                <a:srgbClr val="263442"/>
              </a:solidFill>
            </a:ln>
          </p:spPr>
        </p:sp>
        <p:sp>
          <p:nvSpPr>
            <p:cNvPr id="50478" name="F2-density-crop-size">
              <a:extLst>
                <a:ext uri="{FF2B5EF4-FFF2-40B4-BE49-F238E27FC236}">
                  <a16:creationId xmlns:a16="http://schemas.microsoft.com/office/drawing/2014/main" id="{9B6ECDDF-4CA0-44BE-83B1-7FF800ECF209}"/>
                </a:ext>
              </a:extLst>
            </p:cNvPr>
            <p:cNvSpPr>
              <a:spLocks noGrp="1"/>
            </p:cNvSpPr>
            <p:nvPr/>
          </p:nvSpPr>
          <p:spPr>
            <a:xfrm>
              <a:off x="640556" y="766763"/>
              <a:ext cx="238125" cy="95250"/>
            </a:xfrm>
            <a:prstGeom prst="rect">
              <a:avLst/>
            </a:prstGeom>
            <a:noFill/>
            <a:ln w="0">
              <a:noFill/>
            </a:ln>
          </p:spPr>
          <p:txBody>
            <a:bodyPr wrap="none" lIns="0" tIns="0" rIns="0" bIns="0" anchor="ctr">
              <a:noAutofit/>
            </a:bodyPr>
            <a:lstStyle>
              <a:defPPr algn="ctr">
                <a:defRPr sz="600" b="1">
                  <a:solidFill>
                    <a:srgbClr val="263442"/>
                  </a:solidFill>
                  <a:latin typeface="Arial"/>
                  <a:ea typeface="Arial"/>
                  <a:cs typeface="Arial"/>
                </a:defRPr>
              </a:defPPr>
              <a:lvl1pPr algn="ctr">
                <a:defRPr sz="600" b="1">
                  <a:solidFill>
                    <a:srgbClr val="263442"/>
                  </a:solidFill>
                  <a:latin typeface="Arial"/>
                  <a:ea typeface="Arial"/>
                  <a:cs typeface="Arial"/>
                </a:defRPr>
              </a:lvl1pPr>
              <a:lvl2pPr algn="ctr">
                <a:defRPr sz="600" b="1">
                  <a:solidFill>
                    <a:srgbClr val="263442"/>
                  </a:solidFill>
                  <a:latin typeface="Arial"/>
                  <a:ea typeface="Arial"/>
                  <a:cs typeface="Arial"/>
                </a:defRPr>
              </a:lvl2pPr>
              <a:lvl3pPr algn="ctr">
                <a:defRPr sz="600" b="1">
                  <a:solidFill>
                    <a:srgbClr val="263442"/>
                  </a:solidFill>
                  <a:latin typeface="Arial"/>
                  <a:ea typeface="Arial"/>
                  <a:cs typeface="Arial"/>
                </a:defRPr>
              </a:lvl3pPr>
              <a:lvl4pPr algn="ctr">
                <a:defRPr sz="600" b="1">
                  <a:solidFill>
                    <a:srgbClr val="263442"/>
                  </a:solidFill>
                  <a:latin typeface="Arial"/>
                  <a:ea typeface="Arial"/>
                  <a:cs typeface="Arial"/>
                </a:defRPr>
              </a:lvl4pPr>
              <a:lvl5pPr algn="ctr">
                <a:defRPr sz="600" b="1">
                  <a:solidFill>
                    <a:srgbClr val="263442"/>
                  </a:solidFill>
                  <a:latin typeface="Arial"/>
                  <a:ea typeface="Arial"/>
                  <a:cs typeface="Arial"/>
                </a:defRPr>
              </a:lvl5pPr>
              <a:lvl6pPr algn="ctr">
                <a:defRPr sz="600" b="1">
                  <a:solidFill>
                    <a:srgbClr val="263442"/>
                  </a:solidFill>
                  <a:latin typeface="Arial"/>
                  <a:ea typeface="Arial"/>
                  <a:cs typeface="Arial"/>
                </a:defRPr>
              </a:lvl6pPr>
              <a:lvl7pPr algn="ctr">
                <a:defRPr sz="600" b="1">
                  <a:solidFill>
                    <a:srgbClr val="263442"/>
                  </a:solidFill>
                  <a:latin typeface="Arial"/>
                  <a:ea typeface="Arial"/>
                  <a:cs typeface="Arial"/>
                </a:defRPr>
              </a:lvl7pPr>
              <a:lvl8pPr algn="ctr">
                <a:defRPr sz="600" b="1">
                  <a:solidFill>
                    <a:srgbClr val="263442"/>
                  </a:solidFill>
                  <a:latin typeface="Arial"/>
                  <a:ea typeface="Arial"/>
                  <a:cs typeface="Arial"/>
                </a:defRPr>
              </a:lvl8pPr>
              <a:lvl9pPr algn="ctr">
                <a:defRPr sz="600" b="1">
                  <a:solidFill>
                    <a:srgbClr val="263442"/>
                  </a:solidFill>
                  <a:latin typeface="Arial"/>
                  <a:ea typeface="Arial"/>
                  <a:cs typeface="Arial"/>
                </a:defRPr>
              </a:lvl9pPr>
            </a:lstStyle>
            <a:p>
              <a:pPr algn="ctr">
                <a:defRPr sz="600" b="1">
                  <a:solidFill>
                    <a:srgbClr val="263442"/>
                  </a:solidFill>
                  <a:latin typeface="Arial"/>
                  <a:ea typeface="Arial"/>
                  <a:cs typeface="Arial"/>
                </a:defRPr>
              </a:pPr>
              <a:r>
                <a:rPr sz="600" b="1">
                  <a:solidFill>
                    <a:srgbClr val="263442"/>
                  </a:solidFill>
                  <a:latin typeface="Arial"/>
                  <a:ea typeface="Arial"/>
                  <a:cs typeface="Arial"/>
                </a:rPr>
                <a:t>80³</a:t>
              </a:r>
            </a:p>
          </p:txBody>
        </p:sp>
      </p:grpSp>
      <p:grpSp>
        <p:nvGrpSpPr>
          <p:cNvPr id="50494" name="Find preview 1435"/>
          <p:cNvGrpSpPr/>
          <p:nvPr/>
        </p:nvGrpSpPr>
        <p:grpSpPr>
          <a:xfrm>
            <a:off x="582671" y="1252538"/>
            <a:ext cx="404812" cy="395288"/>
            <a:chOff x="511635" y="1252538"/>
            <a:chExt cx="404812" cy="395288"/>
          </a:xfrm>
        </p:grpSpPr>
        <p:pic>
          <p:nvPicPr>
            <p:cNvPr id="1435" name="Find clear receptor" descr="Receptor cartoon rendered from unchanged local coordinates, chain C1 of the 9LLG CA2 model.">
              <a:extLst>
                <a:ext uri="{FF2B5EF4-FFF2-40B4-BE49-F238E27FC236}">
                  <a16:creationId xmlns:a16="http://schemas.microsoft.com/office/drawing/2014/main" id="{24C88AB2-5918-0F4D-EDE6-0D89FC02F100}"/>
                </a:ext>
              </a:extLst>
            </p:cNvPr>
            <p:cNvPicPr/>
            <p:nvPr/>
          </p:nvPicPr>
          <p:blipFill>
            <a:blip r:embed="rId7"/>
            <a:srcRect l="16857" t="30389" r="19786" b="22500"/>
            <a:stretch>
              <a:fillRect/>
            </a:stretch>
          </p:blipFill>
          <p:spPr>
            <a:xfrm>
              <a:off x="511635" y="1256674"/>
              <a:ext cx="404812" cy="387014"/>
            </a:xfrm>
            <a:prstGeom prst="rect">
              <a:avLst/>
            </a:prstGeom>
          </p:spPr>
        </p:pic>
        <p:sp>
          <p:nvSpPr>
            <p:cNvPr id="50479" name="crop-cube">
              <a:extLst>
                <a:ext uri="{FF2B5EF4-FFF2-40B4-BE49-F238E27FC236}">
                  <a16:creationId xmlns:a16="http://schemas.microsoft.com/office/drawing/2014/main" id="{B083B324-58BF-4271-92CE-6A3DCE5DBE53}"/>
                </a:ext>
              </a:extLst>
            </p:cNvPr>
            <p:cNvSpPr>
              <a:spLocks noGrp="1"/>
            </p:cNvSpPr>
            <p:nvPr/>
          </p:nvSpPr>
          <p:spPr>
            <a:xfrm>
              <a:off x="700088" y="1404938"/>
              <a:ext cx="119063" cy="119063"/>
            </a:xfrm>
            <a:custGeom>
              <a:avLst/>
              <a:gdLst/>
              <a:ahLst/>
              <a:cxnLst/>
              <a:rect l="0" t="0" r="0" b="0"/>
              <a:pathLst>
                <a:path w="119063" h="119063">
                  <a:moveTo>
                    <a:pt x="0" y="30956"/>
                  </a:moveTo>
                  <a:lnTo>
                    <a:pt x="88106" y="30956"/>
                  </a:lnTo>
                  <a:lnTo>
                    <a:pt x="88106" y="119063"/>
                  </a:lnTo>
                  <a:lnTo>
                    <a:pt x="0" y="119063"/>
                  </a:lnTo>
                  <a:lnTo>
                    <a:pt x="0" y="30956"/>
                  </a:lnTo>
                  <a:lnTo>
                    <a:pt x="30956" y="0"/>
                  </a:lnTo>
                  <a:lnTo>
                    <a:pt x="119063" y="0"/>
                  </a:lnTo>
                  <a:lnTo>
                    <a:pt x="119063" y="88106"/>
                  </a:lnTo>
                  <a:lnTo>
                    <a:pt x="88106" y="119063"/>
                  </a:lnTo>
                </a:path>
              </a:pathLst>
            </a:custGeom>
            <a:noFill/>
            <a:ln w="8573">
              <a:solidFill>
                <a:srgbClr val="263442"/>
              </a:solidFill>
            </a:ln>
          </p:spPr>
        </p:sp>
        <p:sp>
          <p:nvSpPr>
            <p:cNvPr id="50480" name="crop-cube">
              <a:extLst>
                <a:ext uri="{FF2B5EF4-FFF2-40B4-BE49-F238E27FC236}">
                  <a16:creationId xmlns:a16="http://schemas.microsoft.com/office/drawing/2014/main" id="{0E8C65BE-9745-4184-B8B7-6FD5E9341DBD}"/>
                </a:ext>
              </a:extLst>
            </p:cNvPr>
            <p:cNvSpPr>
              <a:spLocks noGrp="1"/>
            </p:cNvSpPr>
            <p:nvPr/>
          </p:nvSpPr>
          <p:spPr>
            <a:xfrm>
              <a:off x="788194" y="1404938"/>
              <a:ext cx="30956" cy="30956"/>
            </a:xfrm>
            <a:custGeom>
              <a:avLst/>
              <a:gdLst/>
              <a:ahLst/>
              <a:cxnLst/>
              <a:rect l="0" t="0" r="0" b="0"/>
              <a:pathLst>
                <a:path w="30956" h="30956">
                  <a:moveTo>
                    <a:pt x="0" y="30956"/>
                  </a:moveTo>
                  <a:lnTo>
                    <a:pt x="30956" y="0"/>
                  </a:lnTo>
                </a:path>
              </a:pathLst>
            </a:custGeom>
            <a:noFill/>
            <a:ln w="8573">
              <a:solidFill>
                <a:srgbClr val="263442"/>
              </a:solidFill>
            </a:ln>
          </p:spPr>
        </p:sp>
        <p:sp>
          <p:nvSpPr>
            <p:cNvPr id="50481" name="F2-receptor-crop-size">
              <a:extLst>
                <a:ext uri="{FF2B5EF4-FFF2-40B4-BE49-F238E27FC236}">
                  <a16:creationId xmlns:a16="http://schemas.microsoft.com/office/drawing/2014/main" id="{11CB5595-3267-408D-9A25-39E3920D0458}"/>
                </a:ext>
              </a:extLst>
            </p:cNvPr>
            <p:cNvSpPr>
              <a:spLocks noGrp="1"/>
            </p:cNvSpPr>
            <p:nvPr/>
          </p:nvSpPr>
          <p:spPr>
            <a:xfrm>
              <a:off x="640556" y="1544955"/>
              <a:ext cx="238125" cy="95250"/>
            </a:xfrm>
            <a:prstGeom prst="rect">
              <a:avLst/>
            </a:prstGeom>
            <a:noFill/>
            <a:ln w="0">
              <a:noFill/>
            </a:ln>
          </p:spPr>
          <p:txBody>
            <a:bodyPr wrap="none" lIns="0" tIns="0" rIns="0" bIns="0" anchor="ctr">
              <a:noAutofit/>
            </a:bodyPr>
            <a:lstStyle>
              <a:defPPr algn="ctr">
                <a:defRPr sz="600" b="1">
                  <a:solidFill>
                    <a:srgbClr val="263442"/>
                  </a:solidFill>
                  <a:latin typeface="Arial"/>
                  <a:ea typeface="Arial"/>
                  <a:cs typeface="Arial"/>
                </a:defRPr>
              </a:defPPr>
              <a:lvl1pPr algn="ctr">
                <a:defRPr sz="600" b="1">
                  <a:solidFill>
                    <a:srgbClr val="263442"/>
                  </a:solidFill>
                  <a:latin typeface="Arial"/>
                  <a:ea typeface="Arial"/>
                  <a:cs typeface="Arial"/>
                </a:defRPr>
              </a:lvl1pPr>
              <a:lvl2pPr algn="ctr">
                <a:defRPr sz="600" b="1">
                  <a:solidFill>
                    <a:srgbClr val="263442"/>
                  </a:solidFill>
                  <a:latin typeface="Arial"/>
                  <a:ea typeface="Arial"/>
                  <a:cs typeface="Arial"/>
                </a:defRPr>
              </a:lvl2pPr>
              <a:lvl3pPr algn="ctr">
                <a:defRPr sz="600" b="1">
                  <a:solidFill>
                    <a:srgbClr val="263442"/>
                  </a:solidFill>
                  <a:latin typeface="Arial"/>
                  <a:ea typeface="Arial"/>
                  <a:cs typeface="Arial"/>
                </a:defRPr>
              </a:lvl3pPr>
              <a:lvl4pPr algn="ctr">
                <a:defRPr sz="600" b="1">
                  <a:solidFill>
                    <a:srgbClr val="263442"/>
                  </a:solidFill>
                  <a:latin typeface="Arial"/>
                  <a:ea typeface="Arial"/>
                  <a:cs typeface="Arial"/>
                </a:defRPr>
              </a:lvl4pPr>
              <a:lvl5pPr algn="ctr">
                <a:defRPr sz="600" b="1">
                  <a:solidFill>
                    <a:srgbClr val="263442"/>
                  </a:solidFill>
                  <a:latin typeface="Arial"/>
                  <a:ea typeface="Arial"/>
                  <a:cs typeface="Arial"/>
                </a:defRPr>
              </a:lvl5pPr>
              <a:lvl6pPr algn="ctr">
                <a:defRPr sz="600" b="1">
                  <a:solidFill>
                    <a:srgbClr val="263442"/>
                  </a:solidFill>
                  <a:latin typeface="Arial"/>
                  <a:ea typeface="Arial"/>
                  <a:cs typeface="Arial"/>
                </a:defRPr>
              </a:lvl6pPr>
              <a:lvl7pPr algn="ctr">
                <a:defRPr sz="600" b="1">
                  <a:solidFill>
                    <a:srgbClr val="263442"/>
                  </a:solidFill>
                  <a:latin typeface="Arial"/>
                  <a:ea typeface="Arial"/>
                  <a:cs typeface="Arial"/>
                </a:defRPr>
              </a:lvl7pPr>
              <a:lvl8pPr algn="ctr">
                <a:defRPr sz="600" b="1">
                  <a:solidFill>
                    <a:srgbClr val="263442"/>
                  </a:solidFill>
                  <a:latin typeface="Arial"/>
                  <a:ea typeface="Arial"/>
                  <a:cs typeface="Arial"/>
                </a:defRPr>
              </a:lvl8pPr>
              <a:lvl9pPr algn="ctr">
                <a:defRPr sz="600" b="1">
                  <a:solidFill>
                    <a:srgbClr val="263442"/>
                  </a:solidFill>
                  <a:latin typeface="Arial"/>
                  <a:ea typeface="Arial"/>
                  <a:cs typeface="Arial"/>
                </a:defRPr>
              </a:lvl9pPr>
            </a:lstStyle>
            <a:p>
              <a:pPr algn="ctr">
                <a:defRPr sz="600" b="1">
                  <a:solidFill>
                    <a:srgbClr val="263442"/>
                  </a:solidFill>
                  <a:latin typeface="Arial"/>
                  <a:ea typeface="Arial"/>
                  <a:cs typeface="Arial"/>
                </a:defRPr>
              </a:pPr>
              <a:r>
                <a:rPr sz="600" b="1">
                  <a:solidFill>
                    <a:srgbClr val="263442"/>
                  </a:solidFill>
                  <a:latin typeface="Arial"/>
                  <a:ea typeface="Arial"/>
                  <a:cs typeface="Arial"/>
                </a:rPr>
                <a:t>80³</a:t>
              </a:r>
            </a:p>
          </p:txBody>
        </p:sp>
      </p:grpSp>
      <p:grpSp>
        <p:nvGrpSpPr>
          <p:cNvPr id="50495" name="Find preview 25"/>
          <p:cNvGrpSpPr/>
          <p:nvPr/>
        </p:nvGrpSpPr>
        <p:grpSpPr>
          <a:xfrm>
            <a:off x="4319205" y="499672"/>
            <a:ext cx="404812" cy="386544"/>
            <a:chOff x="4349067" y="499672"/>
            <a:chExt cx="404812" cy="386544"/>
          </a:xfrm>
        </p:grpSpPr>
        <p:pic>
          <p:nvPicPr>
            <p:cNvPr id="25" name="Find corresponding experimental density" descr="Experimental 9LLG density around chain C1 of the displayed CryoAtom2 receptor, at the original contour level and the identical camera orientation.">
              <a:extLst>
                <a:ext uri="{FF2B5EF4-FFF2-40B4-BE49-F238E27FC236}">
                  <a16:creationId xmlns:a16="http://schemas.microsoft.com/office/drawing/2014/main" id="{E01FAF0F-7383-AEC3-8192-CE781D4C8B97}"/>
                </a:ext>
              </a:extLst>
            </p:cNvPr>
            <p:cNvPicPr/>
            <p:nvPr/>
          </p:nvPicPr>
          <p:blipFill>
            <a:blip r:embed="rId4"/>
            <a:stretch>
              <a:fillRect/>
            </a:stretch>
          </p:blipFill>
          <p:spPr>
            <a:xfrm>
              <a:off x="4349067" y="499672"/>
              <a:ext cx="404812" cy="386544"/>
            </a:xfrm>
            <a:prstGeom prst="rect">
              <a:avLst/>
            </a:prstGeom>
          </p:spPr>
        </p:pic>
        <p:grpSp>
          <p:nvGrpSpPr>
            <p:cNvPr id="50437" name="Global copy of blob 758">
              <a:extLst>
                <a:ext uri="{FF2B5EF4-FFF2-40B4-BE49-F238E27FC236}">
                  <a16:creationId xmlns:a16="http://schemas.microsoft.com/office/drawing/2014/main" id="{00C0C92B-D4C8-0994-E860-1581EB873D86}"/>
                </a:ext>
              </a:extLst>
            </p:cNvPr>
            <p:cNvGrpSpPr/>
            <p:nvPr/>
          </p:nvGrpSpPr>
          <p:grpSpPr>
            <a:xfrm>
              <a:off x="4445066" y="623158"/>
              <a:ext cx="92055" cy="24054"/>
              <a:chOff x="1980855" y="3559489"/>
              <a:chExt cx="493446" cy="155682"/>
            </a:xfrm>
          </p:grpSpPr>
          <p:sp>
            <p:nvSpPr>
              <p:cNvPr id="50438" name="Candidate blob | editable contour">
                <a:extLst>
                  <a:ext uri="{FF2B5EF4-FFF2-40B4-BE49-F238E27FC236}">
                    <a16:creationId xmlns:a16="http://schemas.microsoft.com/office/drawing/2014/main" id="{A172A8B3-EFA3-33C9-CD2B-307B24D7293D}"/>
                  </a:ext>
                </a:extLst>
              </p:cNvPr>
              <p:cNvSpPr/>
              <p:nvPr/>
            </p:nvSpPr>
            <p:spPr>
              <a:xfrm>
                <a:off x="2246406" y="3559489"/>
                <a:ext cx="227895" cy="155682"/>
              </a:xfrm>
              <a:custGeom>
                <a:avLst/>
                <a:gdLst/>
                <a:ahLst/>
                <a:cxnLst/>
                <a:rect l="0" t="0" r="w" b="h"/>
                <a:pathLst>
                  <a:path w="227897" h="155682" extrusionOk="0">
                    <a:moveTo>
                      <a:pt x="3521" y="100385"/>
                    </a:moveTo>
                    <a:cubicBezTo>
                      <a:pt x="0" y="80701"/>
                      <a:pt x="26006" y="62787"/>
                      <a:pt x="43453" y="54263"/>
                    </a:cubicBezTo>
                    <a:cubicBezTo>
                      <a:pt x="58843" y="43224"/>
                      <a:pt x="83460" y="52781"/>
                      <a:pt x="99588" y="43358"/>
                    </a:cubicBezTo>
                    <a:cubicBezTo>
                      <a:pt x="112436" y="32945"/>
                      <a:pt x="102548" y="9475"/>
                      <a:pt x="114181" y="4123"/>
                    </a:cubicBezTo>
                    <a:cubicBezTo>
                      <a:pt x="125241" y="0"/>
                      <a:pt x="158214" y="2398"/>
                      <a:pt x="179365" y="5837"/>
                    </a:cubicBezTo>
                    <a:cubicBezTo>
                      <a:pt x="197301" y="9996"/>
                      <a:pt x="210134" y="19340"/>
                      <a:pt x="216909" y="31256"/>
                    </a:cubicBezTo>
                    <a:cubicBezTo>
                      <a:pt x="221237" y="45342"/>
                      <a:pt x="227897" y="67151"/>
                      <a:pt x="224378" y="79920"/>
                    </a:cubicBezTo>
                    <a:cubicBezTo>
                      <a:pt x="219253" y="92918"/>
                      <a:pt x="191986" y="104353"/>
                      <a:pt x="170629" y="115250"/>
                    </a:cubicBezTo>
                    <a:cubicBezTo>
                      <a:pt x="155563" y="129736"/>
                      <a:pt x="143418" y="146104"/>
                      <a:pt x="126157" y="151452"/>
                    </a:cubicBezTo>
                    <a:cubicBezTo>
                      <a:pt x="110048" y="155682"/>
                      <a:pt x="82946" y="155682"/>
                      <a:pt x="52808" y="150002"/>
                    </a:cubicBezTo>
                    <a:cubicBezTo>
                      <a:pt x="28847" y="143645"/>
                      <a:pt x="5675" y="118994"/>
                      <a:pt x="3521" y="100385"/>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50439" name="ellipse_2612">
                <a:extLst>
                  <a:ext uri="{FF2B5EF4-FFF2-40B4-BE49-F238E27FC236}">
                    <a16:creationId xmlns:a16="http://schemas.microsoft.com/office/drawing/2014/main" id="{CF37E813-914E-4383-9CE9-1C5F4095124F}"/>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sp>
          <p:nvSpPr>
            <p:cNvPr id="50442" name="ellipse_2612">
              <a:extLst>
                <a:ext uri="{FF2B5EF4-FFF2-40B4-BE49-F238E27FC236}">
                  <a16:creationId xmlns:a16="http://schemas.microsoft.com/office/drawing/2014/main" id="{899D545A-9188-B8A5-5122-F55763321954}"/>
                </a:ext>
              </a:extLst>
            </p:cNvPr>
            <p:cNvSpPr/>
            <p:nvPr/>
          </p:nvSpPr>
          <p:spPr>
            <a:xfrm rot="3197729">
              <a:off x="4608138" y="649456"/>
              <a:ext cx="10571" cy="3071"/>
            </a:xfrm>
            <a:prstGeom prst="ellipse">
              <a:avLst/>
            </a:prstGeom>
            <a:solidFill>
              <a:srgbClr val="FFFFFF">
                <a:alpha val="35000"/>
              </a:srgbClr>
            </a:solidFill>
            <a:ln w="3285" cap="rnd" cmpd="sng" algn="ctr">
              <a:noFill/>
              <a:prstDash val="solid"/>
              <a:round/>
              <a:headEnd type="none" w="med" len="med"/>
              <a:tailEnd type="none" w="med" len="med"/>
            </a:ln>
            <a:effectLst/>
          </p:spPr>
        </p:sp>
        <p:sp>
          <p:nvSpPr>
            <p:cNvPr id="50445" name="ellipse_2612">
              <a:extLst>
                <a:ext uri="{FF2B5EF4-FFF2-40B4-BE49-F238E27FC236}">
                  <a16:creationId xmlns:a16="http://schemas.microsoft.com/office/drawing/2014/main" id="{85D74281-2FE6-E2D2-EFBA-AF54A45686E3}"/>
                </a:ext>
              </a:extLst>
            </p:cNvPr>
            <p:cNvSpPr/>
            <p:nvPr/>
          </p:nvSpPr>
          <p:spPr>
            <a:xfrm>
              <a:off x="4430816" y="761249"/>
              <a:ext cx="9540" cy="2671"/>
            </a:xfrm>
            <a:prstGeom prst="ellipse">
              <a:avLst/>
            </a:prstGeom>
            <a:solidFill>
              <a:srgbClr val="FFFFFF">
                <a:alpha val="35000"/>
              </a:srgbClr>
            </a:solidFill>
            <a:ln w="3285" cap="rnd" cmpd="sng" algn="ctr">
              <a:noFill/>
              <a:prstDash val="solid"/>
              <a:round/>
              <a:headEnd type="none" w="med" len="med"/>
              <a:tailEnd type="none" w="med" len="med"/>
            </a:ln>
            <a:effectLst/>
          </p:spPr>
        </p:sp>
        <p:sp>
          <p:nvSpPr>
            <p:cNvPr id="50448" name="ellipse_2612">
              <a:extLst>
                <a:ext uri="{FF2B5EF4-FFF2-40B4-BE49-F238E27FC236}">
                  <a16:creationId xmlns:a16="http://schemas.microsoft.com/office/drawing/2014/main" id="{901C6437-E94C-AFDE-D242-E688A89ABBDB}"/>
                </a:ext>
              </a:extLst>
            </p:cNvPr>
            <p:cNvSpPr/>
            <p:nvPr/>
          </p:nvSpPr>
          <p:spPr>
            <a:xfrm>
              <a:off x="4542383" y="798587"/>
              <a:ext cx="9428" cy="3307"/>
            </a:xfrm>
            <a:prstGeom prst="ellipse">
              <a:avLst/>
            </a:prstGeom>
            <a:solidFill>
              <a:srgbClr val="FFFFFF">
                <a:alpha val="35000"/>
              </a:srgbClr>
            </a:solidFill>
            <a:ln w="3285" cap="rnd" cmpd="sng" algn="ctr">
              <a:noFill/>
              <a:prstDash val="solid"/>
              <a:round/>
              <a:headEnd type="none" w="med" len="med"/>
              <a:tailEnd type="none" w="med" len="med"/>
            </a:ln>
            <a:effectLst/>
          </p:spPr>
        </p:sp>
      </p:grpSp>
      <p:sp>
        <p:nvSpPr>
          <p:cNvPr id="29" name="V8 density and receptor to voxel">
            <a:extLst>
              <a:ext uri="{FF2B5EF4-FFF2-40B4-BE49-F238E27FC236}">
                <a16:creationId xmlns:a16="http://schemas.microsoft.com/office/drawing/2014/main" id="{6CB6A47B-4EF1-2B06-7255-E23CEE529CCF}"/>
              </a:ext>
            </a:extLst>
          </p:cNvPr>
          <p:cNvSpPr/>
          <p:nvPr/>
        </p:nvSpPr>
        <p:spPr>
          <a:xfrm flipV="1">
            <a:off x="1834335" y="790091"/>
            <a:ext cx="77018" cy="45719"/>
          </a:xfrm>
          <a:custGeom>
            <a:avLst/>
            <a:gdLst/>
            <a:ahLst/>
            <a:cxnLst/>
            <a:rect l="l" t="t" r="r" b="b"/>
            <a:pathLst>
              <a:path w="96730" h="1">
                <a:moveTo>
                  <a:pt x="0" y="0"/>
                </a:moveTo>
                <a:lnTo>
                  <a:pt x="96730" y="0"/>
                </a:lnTo>
              </a:path>
            </a:pathLst>
          </a:custGeom>
          <a:noFill/>
          <a:ln w="8509" cap="rnd">
            <a:solidFill>
              <a:srgbClr val="77828C"/>
            </a:solidFill>
            <a:prstDash val="solid"/>
            <a:round/>
          </a:ln>
        </p:spPr>
      </p:sp>
      <p:sp>
        <p:nvSpPr>
          <p:cNvPr id="31" name="V8 density and receptor to voxel head">
            <a:extLst>
              <a:ext uri="{FF2B5EF4-FFF2-40B4-BE49-F238E27FC236}">
                <a16:creationId xmlns:a16="http://schemas.microsoft.com/office/drawing/2014/main" id="{DF62D5B1-80E9-3975-FF99-0CA56F3741F9}"/>
              </a:ext>
            </a:extLst>
          </p:cNvPr>
          <p:cNvSpPr/>
          <p:nvPr/>
        </p:nvSpPr>
        <p:spPr>
          <a:xfrm>
            <a:off x="1905255" y="822853"/>
            <a:ext cx="28321" cy="24384"/>
          </a:xfrm>
          <a:custGeom>
            <a:avLst/>
            <a:gdLst/>
            <a:ahLst/>
            <a:cxnLst/>
            <a:rect l="l" t="t" r="r" b="b"/>
            <a:pathLst>
              <a:path w="28321" h="24384">
                <a:moveTo>
                  <a:pt x="28321" y="12192"/>
                </a:moveTo>
                <a:lnTo>
                  <a:pt x="0" y="0"/>
                </a:lnTo>
                <a:lnTo>
                  <a:pt x="0" y="24384"/>
                </a:lnTo>
                <a:close/>
              </a:path>
            </a:pathLst>
          </a:custGeom>
          <a:solidFill>
            <a:srgbClr val="77828C"/>
          </a:solidFill>
          <a:ln w="0" cap="rnd">
            <a:noFill/>
          </a:ln>
        </p:spPr>
      </p:sp>
      <p:sp>
        <p:nvSpPr>
          <p:cNvPr id="34" name="文本框 33">
            <a:extLst>
              <a:ext uri="{FF2B5EF4-FFF2-40B4-BE49-F238E27FC236}">
                <a16:creationId xmlns:a16="http://schemas.microsoft.com/office/drawing/2014/main" id="{04021CE7-7079-B8B1-FE1F-2395F0A6A9F4}"/>
              </a:ext>
            </a:extLst>
          </p:cNvPr>
          <p:cNvSpPr txBox="1"/>
          <p:nvPr/>
        </p:nvSpPr>
        <p:spPr>
          <a:xfrm>
            <a:off x="2776387" y="1439947"/>
            <a:ext cx="502061" cy="197618"/>
          </a:xfrm>
          <a:prstGeom prst="rect">
            <a:avLst/>
          </a:prstGeom>
          <a:noFill/>
        </p:spPr>
        <p:txBody>
          <a:bodyPr wrap="none" rtlCol="0">
            <a:spAutoFit/>
          </a:bodyPr>
          <a:lstStyle/>
          <a:p>
            <a:pPr algn="ctr">
              <a:lnSpc>
                <a:spcPct val="105000"/>
              </a:lnSpc>
            </a:pPr>
            <a:r>
              <a:rPr lang="en-US" altLang="zh-CN" sz="650" i="1" dirty="0">
                <a:solidFill>
                  <a:srgbClr val="263442"/>
                </a:solidFill>
                <a:latin typeface="Arial"/>
              </a:rPr>
              <a:t>Recycle</a:t>
            </a:r>
          </a:p>
        </p:txBody>
      </p:sp>
      <p:grpSp>
        <p:nvGrpSpPr>
          <p:cNvPr id="21" name="Find candidate blob 2">
            <a:extLst>
              <a:ext uri="{FF2B5EF4-FFF2-40B4-BE49-F238E27FC236}">
                <a16:creationId xmlns:a16="http://schemas.microsoft.com/office/drawing/2014/main" id="{7CF4B83B-CE40-0943-83BF-857F63F584FC}"/>
              </a:ext>
            </a:extLst>
          </p:cNvPr>
          <p:cNvGrpSpPr/>
          <p:nvPr/>
        </p:nvGrpSpPr>
        <p:grpSpPr>
          <a:xfrm rot="3197729">
            <a:off x="4586768" y="633066"/>
            <a:ext cx="35227" cy="29704"/>
            <a:chOff x="1928706" y="3559489"/>
            <a:chExt cx="227897" cy="155682"/>
          </a:xfrm>
        </p:grpSpPr>
        <p:sp>
          <p:nvSpPr>
            <p:cNvPr id="23" name="Candidate blob | editable contour">
              <a:extLst>
                <a:ext uri="{FF2B5EF4-FFF2-40B4-BE49-F238E27FC236}">
                  <a16:creationId xmlns:a16="http://schemas.microsoft.com/office/drawing/2014/main" id="{0EF5C813-7F44-77DD-67FE-EE476608E03B}"/>
                </a:ext>
              </a:extLst>
            </p:cNvPr>
            <p:cNvSpPr/>
            <p:nvPr/>
          </p:nvSpPr>
          <p:spPr>
            <a:xfrm>
              <a:off x="1928706" y="3559489"/>
              <a:ext cx="227897" cy="155682"/>
            </a:xfrm>
            <a:custGeom>
              <a:avLst/>
              <a:gdLst/>
              <a:ahLst/>
              <a:cxnLst/>
              <a:rect l="0" t="0" r="w" b="h"/>
              <a:pathLst>
                <a:path w="227897" h="155682" extrusionOk="0">
                  <a:moveTo>
                    <a:pt x="3521" y="100385"/>
                  </a:moveTo>
                  <a:cubicBezTo>
                    <a:pt x="0" y="80701"/>
                    <a:pt x="26006" y="62787"/>
                    <a:pt x="43453" y="54263"/>
                  </a:cubicBezTo>
                  <a:cubicBezTo>
                    <a:pt x="58843" y="43224"/>
                    <a:pt x="83460" y="52781"/>
                    <a:pt x="99588" y="43358"/>
                  </a:cubicBezTo>
                  <a:cubicBezTo>
                    <a:pt x="112436" y="32945"/>
                    <a:pt x="102548" y="9475"/>
                    <a:pt x="114181" y="4123"/>
                  </a:cubicBezTo>
                  <a:cubicBezTo>
                    <a:pt x="125241" y="0"/>
                    <a:pt x="158214" y="2398"/>
                    <a:pt x="179365" y="5837"/>
                  </a:cubicBezTo>
                  <a:cubicBezTo>
                    <a:pt x="197301" y="9996"/>
                    <a:pt x="210134" y="19340"/>
                    <a:pt x="216909" y="31256"/>
                  </a:cubicBezTo>
                  <a:cubicBezTo>
                    <a:pt x="221237" y="45342"/>
                    <a:pt x="227897" y="67151"/>
                    <a:pt x="224378" y="79920"/>
                  </a:cubicBezTo>
                  <a:cubicBezTo>
                    <a:pt x="219253" y="92918"/>
                    <a:pt x="191986" y="104353"/>
                    <a:pt x="170629" y="115250"/>
                  </a:cubicBezTo>
                  <a:cubicBezTo>
                    <a:pt x="155563" y="129736"/>
                    <a:pt x="143418" y="146104"/>
                    <a:pt x="126157" y="151452"/>
                  </a:cubicBezTo>
                  <a:cubicBezTo>
                    <a:pt x="110048" y="155682"/>
                    <a:pt x="82946" y="155682"/>
                    <a:pt x="52808" y="150002"/>
                  </a:cubicBezTo>
                  <a:cubicBezTo>
                    <a:pt x="28847" y="143645"/>
                    <a:pt x="5675" y="118994"/>
                    <a:pt x="3521" y="100385"/>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28" name="ellipse_2612">
              <a:extLst>
                <a:ext uri="{FF2B5EF4-FFF2-40B4-BE49-F238E27FC236}">
                  <a16:creationId xmlns:a16="http://schemas.microsoft.com/office/drawing/2014/main" id="{F5FA3B82-7CD0-DDDF-A968-EC80FAC5CC54}"/>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grpSp>
        <p:nvGrpSpPr>
          <p:cNvPr id="30" name="Find candidate blob 3">
            <a:extLst>
              <a:ext uri="{FF2B5EF4-FFF2-40B4-BE49-F238E27FC236}">
                <a16:creationId xmlns:a16="http://schemas.microsoft.com/office/drawing/2014/main" id="{7DFC79E6-A537-A8EE-9E23-73695EEDEA87}"/>
              </a:ext>
            </a:extLst>
          </p:cNvPr>
          <p:cNvGrpSpPr/>
          <p:nvPr/>
        </p:nvGrpSpPr>
        <p:grpSpPr>
          <a:xfrm rot="364243">
            <a:off x="4504977" y="709850"/>
            <a:ext cx="31915" cy="32299"/>
            <a:chOff x="1928706" y="3559489"/>
            <a:chExt cx="227897" cy="155682"/>
          </a:xfrm>
        </p:grpSpPr>
        <p:sp>
          <p:nvSpPr>
            <p:cNvPr id="32" name="Candidate blob | editable contour">
              <a:extLst>
                <a:ext uri="{FF2B5EF4-FFF2-40B4-BE49-F238E27FC236}">
                  <a16:creationId xmlns:a16="http://schemas.microsoft.com/office/drawing/2014/main" id="{EF3C7BE5-312A-39EB-D945-E725D09FC5CF}"/>
                </a:ext>
              </a:extLst>
            </p:cNvPr>
            <p:cNvSpPr/>
            <p:nvPr/>
          </p:nvSpPr>
          <p:spPr>
            <a:xfrm>
              <a:off x="1928706" y="3559489"/>
              <a:ext cx="227897" cy="155682"/>
            </a:xfrm>
            <a:custGeom>
              <a:avLst/>
              <a:gdLst/>
              <a:ahLst/>
              <a:cxnLst/>
              <a:rect l="0" t="0" r="w" b="h"/>
              <a:pathLst>
                <a:path w="227897" h="155682" extrusionOk="0">
                  <a:moveTo>
                    <a:pt x="4633" y="103508"/>
                  </a:moveTo>
                  <a:cubicBezTo>
                    <a:pt x="0" y="80701"/>
                    <a:pt x="17781" y="72087"/>
                    <a:pt x="35225" y="64107"/>
                  </a:cubicBezTo>
                  <a:cubicBezTo>
                    <a:pt x="54476" y="49917"/>
                    <a:pt x="72264" y="52549"/>
                    <a:pt x="92778" y="35736"/>
                  </a:cubicBezTo>
                  <a:cubicBezTo>
                    <a:pt x="110195" y="21040"/>
                    <a:pt x="104326" y="5059"/>
                    <a:pt x="115221" y="1753"/>
                  </a:cubicBezTo>
                  <a:cubicBezTo>
                    <a:pt x="125241" y="0"/>
                    <a:pt x="159037" y="3786"/>
                    <a:pt x="180838" y="12966"/>
                  </a:cubicBezTo>
                  <a:cubicBezTo>
                    <a:pt x="198427" y="23372"/>
                    <a:pt x="209170" y="39484"/>
                    <a:pt x="212983" y="52913"/>
                  </a:cubicBezTo>
                  <a:cubicBezTo>
                    <a:pt x="216818" y="61184"/>
                    <a:pt x="227897" y="67151"/>
                    <a:pt x="223406" y="85389"/>
                  </a:cubicBezTo>
                  <a:cubicBezTo>
                    <a:pt x="220211" y="103077"/>
                    <a:pt x="208185" y="131257"/>
                    <a:pt x="201464" y="141174"/>
                  </a:cubicBezTo>
                  <a:cubicBezTo>
                    <a:pt x="189414" y="144450"/>
                    <a:pt x="161966" y="148455"/>
                    <a:pt x="136762" y="150513"/>
                  </a:cubicBezTo>
                  <a:cubicBezTo>
                    <a:pt x="110048" y="155682"/>
                    <a:pt x="82946" y="155682"/>
                    <a:pt x="72733" y="149421"/>
                  </a:cubicBezTo>
                  <a:cubicBezTo>
                    <a:pt x="54091" y="147525"/>
                    <a:pt x="13199" y="123788"/>
                    <a:pt x="4633" y="103508"/>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33" name="ellipse_2612">
              <a:extLst>
                <a:ext uri="{FF2B5EF4-FFF2-40B4-BE49-F238E27FC236}">
                  <a16:creationId xmlns:a16="http://schemas.microsoft.com/office/drawing/2014/main" id="{0A4821A8-67B8-19F4-30E2-0FE8715E5DA6}"/>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grpSp>
        <p:nvGrpSpPr>
          <p:cNvPr id="38" name="Find candidate blob 1">
            <a:extLst>
              <a:ext uri="{FF2B5EF4-FFF2-40B4-BE49-F238E27FC236}">
                <a16:creationId xmlns:a16="http://schemas.microsoft.com/office/drawing/2014/main" id="{D9521CD7-F7FB-7490-A23A-67B39E4FD95D}"/>
              </a:ext>
            </a:extLst>
          </p:cNvPr>
          <p:cNvGrpSpPr/>
          <p:nvPr/>
        </p:nvGrpSpPr>
        <p:grpSpPr>
          <a:xfrm>
            <a:off x="4398123" y="745957"/>
            <a:ext cx="40973" cy="27988"/>
            <a:chOff x="1928706" y="3559489"/>
            <a:chExt cx="227897" cy="155682"/>
          </a:xfrm>
        </p:grpSpPr>
        <p:sp>
          <p:nvSpPr>
            <p:cNvPr id="39" name="Candidate blob | editable contour">
              <a:extLst>
                <a:ext uri="{FF2B5EF4-FFF2-40B4-BE49-F238E27FC236}">
                  <a16:creationId xmlns:a16="http://schemas.microsoft.com/office/drawing/2014/main" id="{B913F94B-9211-6007-A9F1-AA1E18C1D543}"/>
                </a:ext>
              </a:extLst>
            </p:cNvPr>
            <p:cNvSpPr/>
            <p:nvPr/>
          </p:nvSpPr>
          <p:spPr>
            <a:xfrm>
              <a:off x="1928706" y="3559489"/>
              <a:ext cx="227897" cy="155682"/>
            </a:xfrm>
            <a:custGeom>
              <a:avLst/>
              <a:gdLst/>
              <a:ahLst/>
              <a:cxnLst/>
              <a:rect l="0" t="0" r="w" b="h"/>
              <a:pathLst>
                <a:path w="227897" h="155682" extrusionOk="0">
                  <a:moveTo>
                    <a:pt x="5338" y="97866"/>
                  </a:moveTo>
                  <a:cubicBezTo>
                    <a:pt x="0" y="80701"/>
                    <a:pt x="18889" y="54504"/>
                    <a:pt x="29976" y="43663"/>
                  </a:cubicBezTo>
                  <a:cubicBezTo>
                    <a:pt x="41062" y="32823"/>
                    <a:pt x="58719" y="39447"/>
                    <a:pt x="71859" y="32823"/>
                  </a:cubicBezTo>
                  <a:cubicBezTo>
                    <a:pt x="84999" y="26198"/>
                    <a:pt x="92391" y="7829"/>
                    <a:pt x="108816" y="3915"/>
                  </a:cubicBezTo>
                  <a:cubicBezTo>
                    <a:pt x="125241" y="0"/>
                    <a:pt x="153984" y="3613"/>
                    <a:pt x="170409" y="9335"/>
                  </a:cubicBezTo>
                  <a:cubicBezTo>
                    <a:pt x="186834" y="15056"/>
                    <a:pt x="198332" y="26198"/>
                    <a:pt x="207366" y="38243"/>
                  </a:cubicBezTo>
                  <a:cubicBezTo>
                    <a:pt x="216399" y="50288"/>
                    <a:pt x="227897" y="67151"/>
                    <a:pt x="224612" y="81605"/>
                  </a:cubicBezTo>
                  <a:cubicBezTo>
                    <a:pt x="221327" y="96059"/>
                    <a:pt x="203259" y="113223"/>
                    <a:pt x="187656" y="124967"/>
                  </a:cubicBezTo>
                  <a:cubicBezTo>
                    <a:pt x="172052" y="136711"/>
                    <a:pt x="151931" y="148455"/>
                    <a:pt x="130989" y="152068"/>
                  </a:cubicBezTo>
                  <a:cubicBezTo>
                    <a:pt x="110048" y="155682"/>
                    <a:pt x="82946" y="155682"/>
                    <a:pt x="62004" y="146648"/>
                  </a:cubicBezTo>
                  <a:cubicBezTo>
                    <a:pt x="41062" y="137614"/>
                    <a:pt x="10676" y="115030"/>
                    <a:pt x="5338" y="97866"/>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40" name="ellipse_2612">
              <a:extLst>
                <a:ext uri="{FF2B5EF4-FFF2-40B4-BE49-F238E27FC236}">
                  <a16:creationId xmlns:a16="http://schemas.microsoft.com/office/drawing/2014/main" id="{D504CB61-AEF5-1C11-4CCF-573A1133E2A9}"/>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sp>
        <p:nvSpPr>
          <p:cNvPr id="4" name="Panel | Build background">
            <a:extLst>
              <a:ext uri="{FF2B5EF4-FFF2-40B4-BE49-F238E27FC236}">
                <a16:creationId xmlns:a16="http://schemas.microsoft.com/office/drawing/2014/main" id="{423915CE-7F39-51D3-4F53-363D9AA7C5AC}"/>
              </a:ext>
            </a:extLst>
          </p:cNvPr>
          <p:cNvSpPr/>
          <p:nvPr/>
        </p:nvSpPr>
        <p:spPr>
          <a:xfrm>
            <a:off x="4868797" y="84564"/>
            <a:ext cx="1354615" cy="4331875"/>
          </a:xfrm>
          <a:prstGeom prst="roundRect">
            <a:avLst>
              <a:gd name="adj" fmla="val 2000"/>
            </a:avLst>
          </a:prstGeom>
          <a:solidFill>
            <a:srgbClr val="FAF6EE"/>
          </a:solidFill>
          <a:ln w="9720">
            <a:solidFill>
              <a:srgbClr val="E3D9C6"/>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dirty="0"/>
          </a:p>
        </p:txBody>
      </p:sp>
      <p:sp>
        <p:nvSpPr>
          <p:cNvPr id="11" name="TextBox 8">
            <a:extLst>
              <a:ext uri="{FF2B5EF4-FFF2-40B4-BE49-F238E27FC236}">
                <a16:creationId xmlns:a16="http://schemas.microsoft.com/office/drawing/2014/main" id="{689BC81C-EBAE-6A9D-8B4B-EDF92826CD8B}"/>
              </a:ext>
            </a:extLst>
          </p:cNvPr>
          <p:cNvSpPr txBox="1"/>
          <p:nvPr/>
        </p:nvSpPr>
        <p:spPr>
          <a:xfrm>
            <a:off x="4902380" y="107125"/>
            <a:ext cx="174028" cy="149656"/>
          </a:xfrm>
          <a:prstGeom prst="rect">
            <a:avLst/>
          </a:prstGeom>
          <a:noFill/>
        </p:spPr>
        <p:txBody>
          <a:bodyPr wrap="square" lIns="0" tIns="0" rIns="0" bIns="0" anchor="ctr">
            <a:spAutoFit/>
          </a:bodyPr>
          <a:lstStyle/>
          <a:p>
            <a:pPr algn="l">
              <a:lnSpc>
                <a:spcPct val="105000"/>
              </a:lnSpc>
            </a:pPr>
            <a:r>
              <a:rPr sz="995" b="1" dirty="0">
                <a:solidFill>
                  <a:srgbClr val="263442"/>
                </a:solidFill>
                <a:latin typeface="Arial"/>
              </a:rPr>
              <a:t>c</a:t>
            </a:r>
          </a:p>
        </p:txBody>
      </p:sp>
      <p:sp>
        <p:nvSpPr>
          <p:cNvPr id="12" name="TextBox 9">
            <a:extLst>
              <a:ext uri="{FF2B5EF4-FFF2-40B4-BE49-F238E27FC236}">
                <a16:creationId xmlns:a16="http://schemas.microsoft.com/office/drawing/2014/main" id="{3B24A036-3161-27FF-1334-3994B66F0261}"/>
              </a:ext>
            </a:extLst>
          </p:cNvPr>
          <p:cNvSpPr txBox="1"/>
          <p:nvPr/>
        </p:nvSpPr>
        <p:spPr>
          <a:xfrm>
            <a:off x="5060587" y="120126"/>
            <a:ext cx="1202377" cy="239809"/>
          </a:xfrm>
          <a:prstGeom prst="rect">
            <a:avLst/>
          </a:prstGeom>
          <a:noFill/>
        </p:spPr>
        <p:txBody>
          <a:bodyPr wrap="square" lIns="0" tIns="0" rIns="0" bIns="0" anchor="ctr">
            <a:spAutoFit/>
          </a:bodyPr>
          <a:lstStyle/>
          <a:p>
            <a:pPr algn="l">
              <a:lnSpc>
                <a:spcPct val="98000"/>
              </a:lnSpc>
            </a:pPr>
            <a:r>
              <a:rPr sz="795" dirty="0">
                <a:solidFill>
                  <a:srgbClr val="263442"/>
                </a:solidFill>
                <a:latin typeface="Arial"/>
              </a:rPr>
              <a:t>Build: downstream</a:t>
            </a:r>
          </a:p>
          <a:p>
            <a:pPr algn="l">
              <a:lnSpc>
                <a:spcPct val="98000"/>
              </a:lnSpc>
            </a:pPr>
            <a:r>
              <a:rPr sz="795" dirty="0">
                <a:solidFill>
                  <a:srgbClr val="263442"/>
                </a:solidFill>
                <a:latin typeface="Arial"/>
              </a:rPr>
              <a:t>pose reconstruction</a:t>
            </a:r>
          </a:p>
        </p:txBody>
      </p:sp>
      <p:sp>
        <p:nvSpPr>
          <p:cNvPr id="18" name="Build four inputs">
            <a:extLst>
              <a:ext uri="{FF2B5EF4-FFF2-40B4-BE49-F238E27FC236}">
                <a16:creationId xmlns:a16="http://schemas.microsoft.com/office/drawing/2014/main" id="{6F54FC8D-E590-FF18-CF46-2ED3C218E1A5}"/>
              </a:ext>
            </a:extLst>
          </p:cNvPr>
          <p:cNvSpPr>
            <a:spLocks noGrp="1"/>
          </p:cNvSpPr>
          <p:nvPr/>
        </p:nvSpPr>
        <p:spPr>
          <a:xfrm>
            <a:off x="4963973" y="420252"/>
            <a:ext cx="1158792" cy="1302153"/>
          </a:xfrm>
          <a:prstGeom prst="roundRect">
            <a:avLst>
              <a:gd name="adj" fmla="val 4554"/>
            </a:avLst>
          </a:prstGeom>
          <a:solidFill>
            <a:schemeClr val="bg1"/>
          </a:solidFill>
          <a:ln w="7290">
            <a:solidFill>
              <a:srgbClr val="BEC7CE"/>
            </a:solidFill>
            <a:prstDash val="solid"/>
          </a:ln>
        </p:spPr>
        <p:txBody>
          <a:bodyPr/>
          <a:lstStyle/>
          <a:p>
            <a:endParaRPr lang="zh-CN" altLang="en-US" dirty="0"/>
          </a:p>
        </p:txBody>
      </p:sp>
      <p:sp>
        <p:nvSpPr>
          <p:cNvPr id="19" name="Site label">
            <a:extLst>
              <a:ext uri="{FF2B5EF4-FFF2-40B4-BE49-F238E27FC236}">
                <a16:creationId xmlns:a16="http://schemas.microsoft.com/office/drawing/2014/main" id="{AD52E5F1-FAF9-C795-1D13-B3675F1D1059}"/>
              </a:ext>
            </a:extLst>
          </p:cNvPr>
          <p:cNvSpPr>
            <a:spLocks noGrp="1"/>
          </p:cNvSpPr>
          <p:nvPr/>
        </p:nvSpPr>
        <p:spPr>
          <a:xfrm>
            <a:off x="4992638" y="834972"/>
            <a:ext cx="514364" cy="101253"/>
          </a:xfrm>
          <a:prstGeom prst="rect">
            <a:avLst/>
          </a:prstGeom>
          <a:noFill/>
          <a:ln w="6885">
            <a:noFill/>
            <a:prstDash val="solid"/>
          </a:ln>
        </p:spPr>
        <p:txBody>
          <a:bodyPr lIns="0" tIns="0" rIns="0" bIns="0" anchor="ctr"/>
          <a:lstStyle>
            <a:defPPr algn="ctr">
              <a:defRPr sz="695" b="1">
                <a:solidFill>
                  <a:srgbClr val="263442"/>
                </a:solidFill>
                <a:latin typeface="Arial"/>
                <a:ea typeface="Arial"/>
                <a:cs typeface="Arial"/>
              </a:defRPr>
            </a:defPPr>
            <a:lvl1pPr algn="ctr">
              <a:defRPr sz="695" b="1">
                <a:solidFill>
                  <a:srgbClr val="263442"/>
                </a:solidFill>
                <a:latin typeface="Arial"/>
                <a:ea typeface="Arial"/>
                <a:cs typeface="Arial"/>
              </a:defRPr>
            </a:lvl1pPr>
            <a:lvl2pPr algn="ctr">
              <a:defRPr sz="695" b="1">
                <a:solidFill>
                  <a:srgbClr val="263442"/>
                </a:solidFill>
                <a:latin typeface="Arial"/>
                <a:ea typeface="Arial"/>
                <a:cs typeface="Arial"/>
              </a:defRPr>
            </a:lvl2pPr>
            <a:lvl3pPr algn="ctr">
              <a:defRPr sz="695" b="1">
                <a:solidFill>
                  <a:srgbClr val="263442"/>
                </a:solidFill>
                <a:latin typeface="Arial"/>
                <a:ea typeface="Arial"/>
                <a:cs typeface="Arial"/>
              </a:defRPr>
            </a:lvl3pPr>
            <a:lvl4pPr algn="ctr">
              <a:defRPr sz="695" b="1">
                <a:solidFill>
                  <a:srgbClr val="263442"/>
                </a:solidFill>
                <a:latin typeface="Arial"/>
                <a:ea typeface="Arial"/>
                <a:cs typeface="Arial"/>
              </a:defRPr>
            </a:lvl4pPr>
            <a:lvl5pPr algn="ctr">
              <a:defRPr sz="695" b="1">
                <a:solidFill>
                  <a:srgbClr val="263442"/>
                </a:solidFill>
                <a:latin typeface="Arial"/>
                <a:ea typeface="Arial"/>
                <a:cs typeface="Arial"/>
              </a:defRPr>
            </a:lvl5pPr>
            <a:lvl6pPr algn="ctr">
              <a:defRPr sz="695" b="1">
                <a:solidFill>
                  <a:srgbClr val="263442"/>
                </a:solidFill>
                <a:latin typeface="Arial"/>
                <a:ea typeface="Arial"/>
                <a:cs typeface="Arial"/>
              </a:defRPr>
            </a:lvl6pPr>
            <a:lvl7pPr algn="ctr">
              <a:defRPr sz="695" b="1">
                <a:solidFill>
                  <a:srgbClr val="263442"/>
                </a:solidFill>
                <a:latin typeface="Arial"/>
                <a:ea typeface="Arial"/>
                <a:cs typeface="Arial"/>
              </a:defRPr>
            </a:lvl7pPr>
            <a:lvl8pPr algn="ctr">
              <a:defRPr sz="695" b="1">
                <a:solidFill>
                  <a:srgbClr val="263442"/>
                </a:solidFill>
                <a:latin typeface="Arial"/>
                <a:ea typeface="Arial"/>
                <a:cs typeface="Arial"/>
              </a:defRPr>
            </a:lvl8pPr>
            <a:lvl9pPr algn="ctr">
              <a:defRPr sz="695" b="1">
                <a:solidFill>
                  <a:srgbClr val="263442"/>
                </a:solidFill>
                <a:latin typeface="Arial"/>
                <a:ea typeface="Arial"/>
                <a:cs typeface="Arial"/>
              </a:defRPr>
            </a:lvl9pPr>
          </a:lstStyle>
          <a:p>
            <a:pPr algn="ctr">
              <a:defRPr sz="695" b="1">
                <a:solidFill>
                  <a:srgbClr val="263442"/>
                </a:solidFill>
                <a:latin typeface="Arial"/>
                <a:ea typeface="Arial"/>
                <a:cs typeface="Arial"/>
              </a:defRPr>
            </a:pPr>
            <a:r>
              <a:rPr sz="695" b="0" dirty="0">
                <a:solidFill>
                  <a:srgbClr val="263442"/>
                </a:solidFill>
                <a:latin typeface="Arial"/>
                <a:ea typeface="Arial"/>
                <a:cs typeface="Arial"/>
              </a:rPr>
              <a:t>Site</a:t>
            </a:r>
          </a:p>
        </p:txBody>
      </p:sp>
      <p:sp>
        <p:nvSpPr>
          <p:cNvPr id="20" name="Site provenance">
            <a:extLst>
              <a:ext uri="{FF2B5EF4-FFF2-40B4-BE49-F238E27FC236}">
                <a16:creationId xmlns:a16="http://schemas.microsoft.com/office/drawing/2014/main" id="{81100EF8-5A04-4FD6-5263-27CCDB86B205}"/>
              </a:ext>
            </a:extLst>
          </p:cNvPr>
          <p:cNvSpPr>
            <a:spLocks noGrp="1"/>
          </p:cNvSpPr>
          <p:nvPr/>
        </p:nvSpPr>
        <p:spPr>
          <a:xfrm>
            <a:off x="4999032" y="921461"/>
            <a:ext cx="514364" cy="85052"/>
          </a:xfrm>
          <a:prstGeom prst="rect">
            <a:avLst/>
          </a:prstGeom>
          <a:noFill/>
          <a:ln w="6885">
            <a:noFill/>
            <a:prstDash val="solid"/>
          </a:ln>
        </p:spPr>
        <p:txBody>
          <a:bodyPr lIns="0" tIns="0" rIns="0" bIns="0" anchor="ctr"/>
          <a:lstStyle>
            <a:defPPr algn="ctr">
              <a:defRPr sz="590" b="0">
                <a:solidFill>
                  <a:srgbClr val="263442"/>
                </a:solidFill>
                <a:latin typeface="Arial"/>
                <a:ea typeface="Arial"/>
                <a:cs typeface="Arial"/>
              </a:defRPr>
            </a:defPPr>
            <a:lvl1pPr algn="ctr">
              <a:defRPr sz="590" b="0">
                <a:solidFill>
                  <a:srgbClr val="263442"/>
                </a:solidFill>
                <a:latin typeface="Arial"/>
                <a:ea typeface="Arial"/>
                <a:cs typeface="Arial"/>
              </a:defRPr>
            </a:lvl1pPr>
            <a:lvl2pPr algn="ctr">
              <a:defRPr sz="590" b="0">
                <a:solidFill>
                  <a:srgbClr val="263442"/>
                </a:solidFill>
                <a:latin typeface="Arial"/>
                <a:ea typeface="Arial"/>
                <a:cs typeface="Arial"/>
              </a:defRPr>
            </a:lvl2pPr>
            <a:lvl3pPr algn="ctr">
              <a:defRPr sz="590" b="0">
                <a:solidFill>
                  <a:srgbClr val="263442"/>
                </a:solidFill>
                <a:latin typeface="Arial"/>
                <a:ea typeface="Arial"/>
                <a:cs typeface="Arial"/>
              </a:defRPr>
            </a:lvl3pPr>
            <a:lvl4pPr algn="ctr">
              <a:defRPr sz="590" b="0">
                <a:solidFill>
                  <a:srgbClr val="263442"/>
                </a:solidFill>
                <a:latin typeface="Arial"/>
                <a:ea typeface="Arial"/>
                <a:cs typeface="Arial"/>
              </a:defRPr>
            </a:lvl4pPr>
            <a:lvl5pPr algn="ctr">
              <a:defRPr sz="590" b="0">
                <a:solidFill>
                  <a:srgbClr val="263442"/>
                </a:solidFill>
                <a:latin typeface="Arial"/>
                <a:ea typeface="Arial"/>
                <a:cs typeface="Arial"/>
              </a:defRPr>
            </a:lvl5pPr>
            <a:lvl6pPr algn="ctr">
              <a:defRPr sz="590" b="0">
                <a:solidFill>
                  <a:srgbClr val="263442"/>
                </a:solidFill>
                <a:latin typeface="Arial"/>
                <a:ea typeface="Arial"/>
                <a:cs typeface="Arial"/>
              </a:defRPr>
            </a:lvl6pPr>
            <a:lvl7pPr algn="ctr">
              <a:defRPr sz="590" b="0">
                <a:solidFill>
                  <a:srgbClr val="263442"/>
                </a:solidFill>
                <a:latin typeface="Arial"/>
                <a:ea typeface="Arial"/>
                <a:cs typeface="Arial"/>
              </a:defRPr>
            </a:lvl7pPr>
            <a:lvl8pPr algn="ctr">
              <a:defRPr sz="590" b="0">
                <a:solidFill>
                  <a:srgbClr val="263442"/>
                </a:solidFill>
                <a:latin typeface="Arial"/>
                <a:ea typeface="Arial"/>
                <a:cs typeface="Arial"/>
              </a:defRPr>
            </a:lvl8pPr>
            <a:lvl9pPr algn="ctr">
              <a:defRPr sz="590" b="0">
                <a:solidFill>
                  <a:srgbClr val="263442"/>
                </a:solidFill>
                <a:latin typeface="Arial"/>
                <a:ea typeface="Arial"/>
                <a:cs typeface="Arial"/>
              </a:defRPr>
            </a:lvl9pPr>
          </a:lstStyle>
          <a:p>
            <a:pPr algn="ctr">
              <a:defRPr sz="590" b="0">
                <a:solidFill>
                  <a:srgbClr val="263442"/>
                </a:solidFill>
                <a:latin typeface="Arial"/>
                <a:ea typeface="Arial"/>
                <a:cs typeface="Arial"/>
              </a:defRPr>
            </a:pPr>
            <a:r>
              <a:rPr sz="550" dirty="0">
                <a:solidFill>
                  <a:srgbClr val="263442"/>
                </a:solidFill>
                <a:latin typeface="Arial"/>
                <a:ea typeface="Arial"/>
                <a:cs typeface="Arial"/>
              </a:rPr>
              <a:t>from Find</a:t>
            </a:r>
          </a:p>
        </p:txBody>
      </p:sp>
      <p:sp>
        <p:nvSpPr>
          <p:cNvPr id="22" name="Pocket label">
            <a:extLst>
              <a:ext uri="{FF2B5EF4-FFF2-40B4-BE49-F238E27FC236}">
                <a16:creationId xmlns:a16="http://schemas.microsoft.com/office/drawing/2014/main" id="{7B5D3FB1-F4D0-DA0D-E01C-BFF209368A20}"/>
              </a:ext>
            </a:extLst>
          </p:cNvPr>
          <p:cNvSpPr>
            <a:spLocks noGrp="1"/>
          </p:cNvSpPr>
          <p:nvPr/>
        </p:nvSpPr>
        <p:spPr>
          <a:xfrm>
            <a:off x="5581260" y="854408"/>
            <a:ext cx="514364" cy="101253"/>
          </a:xfrm>
          <a:prstGeom prst="rect">
            <a:avLst/>
          </a:prstGeom>
          <a:noFill/>
          <a:ln w="6885">
            <a:noFill/>
            <a:prstDash val="solid"/>
          </a:ln>
        </p:spPr>
        <p:txBody>
          <a:bodyPr lIns="0" tIns="0" rIns="0" bIns="0" anchor="ctr"/>
          <a:lstStyle>
            <a:defPPr algn="ctr">
              <a:defRPr sz="695" b="1">
                <a:solidFill>
                  <a:srgbClr val="263442"/>
                </a:solidFill>
                <a:latin typeface="Arial"/>
                <a:ea typeface="Arial"/>
                <a:cs typeface="Arial"/>
              </a:defRPr>
            </a:defPPr>
            <a:lvl1pPr algn="ctr">
              <a:defRPr sz="695" b="1">
                <a:solidFill>
                  <a:srgbClr val="263442"/>
                </a:solidFill>
                <a:latin typeface="Arial"/>
                <a:ea typeface="Arial"/>
                <a:cs typeface="Arial"/>
              </a:defRPr>
            </a:lvl1pPr>
            <a:lvl2pPr algn="ctr">
              <a:defRPr sz="695" b="1">
                <a:solidFill>
                  <a:srgbClr val="263442"/>
                </a:solidFill>
                <a:latin typeface="Arial"/>
                <a:ea typeface="Arial"/>
                <a:cs typeface="Arial"/>
              </a:defRPr>
            </a:lvl2pPr>
            <a:lvl3pPr algn="ctr">
              <a:defRPr sz="695" b="1">
                <a:solidFill>
                  <a:srgbClr val="263442"/>
                </a:solidFill>
                <a:latin typeface="Arial"/>
                <a:ea typeface="Arial"/>
                <a:cs typeface="Arial"/>
              </a:defRPr>
            </a:lvl3pPr>
            <a:lvl4pPr algn="ctr">
              <a:defRPr sz="695" b="1">
                <a:solidFill>
                  <a:srgbClr val="263442"/>
                </a:solidFill>
                <a:latin typeface="Arial"/>
                <a:ea typeface="Arial"/>
                <a:cs typeface="Arial"/>
              </a:defRPr>
            </a:lvl4pPr>
            <a:lvl5pPr algn="ctr">
              <a:defRPr sz="695" b="1">
                <a:solidFill>
                  <a:srgbClr val="263442"/>
                </a:solidFill>
                <a:latin typeface="Arial"/>
                <a:ea typeface="Arial"/>
                <a:cs typeface="Arial"/>
              </a:defRPr>
            </a:lvl5pPr>
            <a:lvl6pPr algn="ctr">
              <a:defRPr sz="695" b="1">
                <a:solidFill>
                  <a:srgbClr val="263442"/>
                </a:solidFill>
                <a:latin typeface="Arial"/>
                <a:ea typeface="Arial"/>
                <a:cs typeface="Arial"/>
              </a:defRPr>
            </a:lvl6pPr>
            <a:lvl7pPr algn="ctr">
              <a:defRPr sz="695" b="1">
                <a:solidFill>
                  <a:srgbClr val="263442"/>
                </a:solidFill>
                <a:latin typeface="Arial"/>
                <a:ea typeface="Arial"/>
                <a:cs typeface="Arial"/>
              </a:defRPr>
            </a:lvl7pPr>
            <a:lvl8pPr algn="ctr">
              <a:defRPr sz="695" b="1">
                <a:solidFill>
                  <a:srgbClr val="263442"/>
                </a:solidFill>
                <a:latin typeface="Arial"/>
                <a:ea typeface="Arial"/>
                <a:cs typeface="Arial"/>
              </a:defRPr>
            </a:lvl8pPr>
            <a:lvl9pPr algn="ctr">
              <a:defRPr sz="695" b="1">
                <a:solidFill>
                  <a:srgbClr val="263442"/>
                </a:solidFill>
                <a:latin typeface="Arial"/>
                <a:ea typeface="Arial"/>
                <a:cs typeface="Arial"/>
              </a:defRPr>
            </a:lvl9pPr>
          </a:lstStyle>
          <a:p>
            <a:pPr algn="ctr">
              <a:defRPr sz="695" b="1">
                <a:solidFill>
                  <a:srgbClr val="263442"/>
                </a:solidFill>
                <a:latin typeface="Arial"/>
                <a:ea typeface="Arial"/>
                <a:cs typeface="Arial"/>
              </a:defRPr>
            </a:pPr>
            <a:r>
              <a:rPr sz="695" b="0" dirty="0">
                <a:solidFill>
                  <a:srgbClr val="263442"/>
                </a:solidFill>
                <a:latin typeface="Arial"/>
                <a:ea typeface="Arial"/>
                <a:cs typeface="Arial"/>
              </a:rPr>
              <a:t>Pocket</a:t>
            </a:r>
          </a:p>
        </p:txBody>
      </p:sp>
      <p:sp>
        <p:nvSpPr>
          <p:cNvPr id="24" name="SMILES label">
            <a:extLst>
              <a:ext uri="{FF2B5EF4-FFF2-40B4-BE49-F238E27FC236}">
                <a16:creationId xmlns:a16="http://schemas.microsoft.com/office/drawing/2014/main" id="{E489D186-66B8-0887-E419-8261B5B146E0}"/>
              </a:ext>
            </a:extLst>
          </p:cNvPr>
          <p:cNvSpPr>
            <a:spLocks noGrp="1"/>
          </p:cNvSpPr>
          <p:nvPr/>
        </p:nvSpPr>
        <p:spPr>
          <a:xfrm>
            <a:off x="4999664" y="1480722"/>
            <a:ext cx="514364" cy="101253"/>
          </a:xfrm>
          <a:prstGeom prst="rect">
            <a:avLst/>
          </a:prstGeom>
          <a:noFill/>
          <a:ln w="6885">
            <a:noFill/>
            <a:prstDash val="solid"/>
          </a:ln>
        </p:spPr>
        <p:txBody>
          <a:bodyPr lIns="0" tIns="0" rIns="0" bIns="0" anchor="ctr"/>
          <a:lstStyle>
            <a:defPPr algn="ctr">
              <a:defRPr sz="695" b="1">
                <a:solidFill>
                  <a:srgbClr val="263442"/>
                </a:solidFill>
                <a:latin typeface="Arial"/>
                <a:ea typeface="Arial"/>
                <a:cs typeface="Arial"/>
              </a:defRPr>
            </a:defPPr>
            <a:lvl1pPr algn="ctr">
              <a:defRPr sz="695" b="1">
                <a:solidFill>
                  <a:srgbClr val="263442"/>
                </a:solidFill>
                <a:latin typeface="Arial"/>
                <a:ea typeface="Arial"/>
                <a:cs typeface="Arial"/>
              </a:defRPr>
            </a:lvl1pPr>
            <a:lvl2pPr algn="ctr">
              <a:defRPr sz="695" b="1">
                <a:solidFill>
                  <a:srgbClr val="263442"/>
                </a:solidFill>
                <a:latin typeface="Arial"/>
                <a:ea typeface="Arial"/>
                <a:cs typeface="Arial"/>
              </a:defRPr>
            </a:lvl2pPr>
            <a:lvl3pPr algn="ctr">
              <a:defRPr sz="695" b="1">
                <a:solidFill>
                  <a:srgbClr val="263442"/>
                </a:solidFill>
                <a:latin typeface="Arial"/>
                <a:ea typeface="Arial"/>
                <a:cs typeface="Arial"/>
              </a:defRPr>
            </a:lvl3pPr>
            <a:lvl4pPr algn="ctr">
              <a:defRPr sz="695" b="1">
                <a:solidFill>
                  <a:srgbClr val="263442"/>
                </a:solidFill>
                <a:latin typeface="Arial"/>
                <a:ea typeface="Arial"/>
                <a:cs typeface="Arial"/>
              </a:defRPr>
            </a:lvl4pPr>
            <a:lvl5pPr algn="ctr">
              <a:defRPr sz="695" b="1">
                <a:solidFill>
                  <a:srgbClr val="263442"/>
                </a:solidFill>
                <a:latin typeface="Arial"/>
                <a:ea typeface="Arial"/>
                <a:cs typeface="Arial"/>
              </a:defRPr>
            </a:lvl5pPr>
            <a:lvl6pPr algn="ctr">
              <a:defRPr sz="695" b="1">
                <a:solidFill>
                  <a:srgbClr val="263442"/>
                </a:solidFill>
                <a:latin typeface="Arial"/>
                <a:ea typeface="Arial"/>
                <a:cs typeface="Arial"/>
              </a:defRPr>
            </a:lvl6pPr>
            <a:lvl7pPr algn="ctr">
              <a:defRPr sz="695" b="1">
                <a:solidFill>
                  <a:srgbClr val="263442"/>
                </a:solidFill>
                <a:latin typeface="Arial"/>
                <a:ea typeface="Arial"/>
                <a:cs typeface="Arial"/>
              </a:defRPr>
            </a:lvl7pPr>
            <a:lvl8pPr algn="ctr">
              <a:defRPr sz="695" b="1">
                <a:solidFill>
                  <a:srgbClr val="263442"/>
                </a:solidFill>
                <a:latin typeface="Arial"/>
                <a:ea typeface="Arial"/>
                <a:cs typeface="Arial"/>
              </a:defRPr>
            </a:lvl8pPr>
            <a:lvl9pPr algn="ctr">
              <a:defRPr sz="695" b="1">
                <a:solidFill>
                  <a:srgbClr val="263442"/>
                </a:solidFill>
                <a:latin typeface="Arial"/>
                <a:ea typeface="Arial"/>
                <a:cs typeface="Arial"/>
              </a:defRPr>
            </a:lvl9pPr>
          </a:lstStyle>
          <a:p>
            <a:pPr algn="ctr">
              <a:defRPr sz="695" b="1">
                <a:solidFill>
                  <a:srgbClr val="263442"/>
                </a:solidFill>
                <a:latin typeface="Arial"/>
                <a:ea typeface="Arial"/>
                <a:cs typeface="Arial"/>
              </a:defRPr>
            </a:pPr>
            <a:r>
              <a:rPr sz="695" b="0" dirty="0">
                <a:solidFill>
                  <a:srgbClr val="263442"/>
                </a:solidFill>
                <a:latin typeface="Arial"/>
                <a:ea typeface="Arial"/>
                <a:cs typeface="Arial"/>
              </a:rPr>
              <a:t>SMILES</a:t>
            </a:r>
          </a:p>
        </p:txBody>
      </p:sp>
      <p:sp>
        <p:nvSpPr>
          <p:cNvPr id="26" name="SMILES provenance">
            <a:extLst>
              <a:ext uri="{FF2B5EF4-FFF2-40B4-BE49-F238E27FC236}">
                <a16:creationId xmlns:a16="http://schemas.microsoft.com/office/drawing/2014/main" id="{4F1FACC0-C0B3-1ECE-BC47-04B469A08BF6}"/>
              </a:ext>
            </a:extLst>
          </p:cNvPr>
          <p:cNvSpPr>
            <a:spLocks noGrp="1"/>
          </p:cNvSpPr>
          <p:nvPr/>
        </p:nvSpPr>
        <p:spPr>
          <a:xfrm>
            <a:off x="5005380" y="1568821"/>
            <a:ext cx="514364" cy="85052"/>
          </a:xfrm>
          <a:prstGeom prst="rect">
            <a:avLst/>
          </a:prstGeom>
          <a:noFill/>
          <a:ln w="6885">
            <a:noFill/>
            <a:prstDash val="solid"/>
          </a:ln>
        </p:spPr>
        <p:txBody>
          <a:bodyPr lIns="0" tIns="0" rIns="0" bIns="0" anchor="ctr"/>
          <a:lstStyle>
            <a:defPPr algn="ctr">
              <a:defRPr sz="590" b="0">
                <a:solidFill>
                  <a:srgbClr val="263442"/>
                </a:solidFill>
                <a:latin typeface="Arial"/>
                <a:ea typeface="Arial"/>
                <a:cs typeface="Arial"/>
              </a:defRPr>
            </a:defPPr>
            <a:lvl1pPr algn="ctr">
              <a:defRPr sz="590" b="0">
                <a:solidFill>
                  <a:srgbClr val="263442"/>
                </a:solidFill>
                <a:latin typeface="Arial"/>
                <a:ea typeface="Arial"/>
                <a:cs typeface="Arial"/>
              </a:defRPr>
            </a:lvl1pPr>
            <a:lvl2pPr algn="ctr">
              <a:defRPr sz="590" b="0">
                <a:solidFill>
                  <a:srgbClr val="263442"/>
                </a:solidFill>
                <a:latin typeface="Arial"/>
                <a:ea typeface="Arial"/>
                <a:cs typeface="Arial"/>
              </a:defRPr>
            </a:lvl2pPr>
            <a:lvl3pPr algn="ctr">
              <a:defRPr sz="590" b="0">
                <a:solidFill>
                  <a:srgbClr val="263442"/>
                </a:solidFill>
                <a:latin typeface="Arial"/>
                <a:ea typeface="Arial"/>
                <a:cs typeface="Arial"/>
              </a:defRPr>
            </a:lvl3pPr>
            <a:lvl4pPr algn="ctr">
              <a:defRPr sz="590" b="0">
                <a:solidFill>
                  <a:srgbClr val="263442"/>
                </a:solidFill>
                <a:latin typeface="Arial"/>
                <a:ea typeface="Arial"/>
                <a:cs typeface="Arial"/>
              </a:defRPr>
            </a:lvl4pPr>
            <a:lvl5pPr algn="ctr">
              <a:defRPr sz="590" b="0">
                <a:solidFill>
                  <a:srgbClr val="263442"/>
                </a:solidFill>
                <a:latin typeface="Arial"/>
                <a:ea typeface="Arial"/>
                <a:cs typeface="Arial"/>
              </a:defRPr>
            </a:lvl5pPr>
            <a:lvl6pPr algn="ctr">
              <a:defRPr sz="590" b="0">
                <a:solidFill>
                  <a:srgbClr val="263442"/>
                </a:solidFill>
                <a:latin typeface="Arial"/>
                <a:ea typeface="Arial"/>
                <a:cs typeface="Arial"/>
              </a:defRPr>
            </a:lvl6pPr>
            <a:lvl7pPr algn="ctr">
              <a:defRPr sz="590" b="0">
                <a:solidFill>
                  <a:srgbClr val="263442"/>
                </a:solidFill>
                <a:latin typeface="Arial"/>
                <a:ea typeface="Arial"/>
                <a:cs typeface="Arial"/>
              </a:defRPr>
            </a:lvl7pPr>
            <a:lvl8pPr algn="ctr">
              <a:defRPr sz="590" b="0">
                <a:solidFill>
                  <a:srgbClr val="263442"/>
                </a:solidFill>
                <a:latin typeface="Arial"/>
                <a:ea typeface="Arial"/>
                <a:cs typeface="Arial"/>
              </a:defRPr>
            </a:lvl8pPr>
            <a:lvl9pPr algn="ctr">
              <a:defRPr sz="590" b="0">
                <a:solidFill>
                  <a:srgbClr val="263442"/>
                </a:solidFill>
                <a:latin typeface="Arial"/>
                <a:ea typeface="Arial"/>
                <a:cs typeface="Arial"/>
              </a:defRPr>
            </a:lvl9pPr>
          </a:lstStyle>
          <a:p>
            <a:pPr algn="ctr">
              <a:defRPr sz="590" b="0">
                <a:solidFill>
                  <a:srgbClr val="263442"/>
                </a:solidFill>
                <a:latin typeface="Arial"/>
                <a:ea typeface="Arial"/>
                <a:cs typeface="Arial"/>
              </a:defRPr>
            </a:pPr>
            <a:r>
              <a:rPr sz="550" dirty="0">
                <a:solidFill>
                  <a:srgbClr val="263442"/>
                </a:solidFill>
                <a:latin typeface="Arial"/>
                <a:ea typeface="Arial"/>
                <a:cs typeface="Arial"/>
              </a:rPr>
              <a:t>from Match</a:t>
            </a:r>
          </a:p>
        </p:txBody>
      </p:sp>
      <p:sp>
        <p:nvSpPr>
          <p:cNvPr id="27" name="Density input label">
            <a:extLst>
              <a:ext uri="{FF2B5EF4-FFF2-40B4-BE49-F238E27FC236}">
                <a16:creationId xmlns:a16="http://schemas.microsoft.com/office/drawing/2014/main" id="{D60E76B3-6086-22F9-F331-6B3EB9D27DDB}"/>
              </a:ext>
            </a:extLst>
          </p:cNvPr>
          <p:cNvSpPr>
            <a:spLocks noGrp="1"/>
          </p:cNvSpPr>
          <p:nvPr/>
        </p:nvSpPr>
        <p:spPr>
          <a:xfrm>
            <a:off x="5574918" y="1480706"/>
            <a:ext cx="514364" cy="101253"/>
          </a:xfrm>
          <a:prstGeom prst="rect">
            <a:avLst/>
          </a:prstGeom>
          <a:noFill/>
          <a:ln w="6885">
            <a:noFill/>
            <a:prstDash val="solid"/>
          </a:ln>
        </p:spPr>
        <p:txBody>
          <a:bodyPr lIns="0" tIns="0" rIns="0" bIns="0" anchor="ctr"/>
          <a:lstStyle>
            <a:defPPr algn="ctr">
              <a:defRPr sz="695" b="1">
                <a:solidFill>
                  <a:srgbClr val="263442"/>
                </a:solidFill>
                <a:latin typeface="Arial"/>
                <a:ea typeface="Arial"/>
                <a:cs typeface="Arial"/>
              </a:defRPr>
            </a:defPPr>
            <a:lvl1pPr algn="ctr">
              <a:defRPr sz="695" b="1">
                <a:solidFill>
                  <a:srgbClr val="263442"/>
                </a:solidFill>
                <a:latin typeface="Arial"/>
                <a:ea typeface="Arial"/>
                <a:cs typeface="Arial"/>
              </a:defRPr>
            </a:lvl1pPr>
            <a:lvl2pPr algn="ctr">
              <a:defRPr sz="695" b="1">
                <a:solidFill>
                  <a:srgbClr val="263442"/>
                </a:solidFill>
                <a:latin typeface="Arial"/>
                <a:ea typeface="Arial"/>
                <a:cs typeface="Arial"/>
              </a:defRPr>
            </a:lvl2pPr>
            <a:lvl3pPr algn="ctr">
              <a:defRPr sz="695" b="1">
                <a:solidFill>
                  <a:srgbClr val="263442"/>
                </a:solidFill>
                <a:latin typeface="Arial"/>
                <a:ea typeface="Arial"/>
                <a:cs typeface="Arial"/>
              </a:defRPr>
            </a:lvl3pPr>
            <a:lvl4pPr algn="ctr">
              <a:defRPr sz="695" b="1">
                <a:solidFill>
                  <a:srgbClr val="263442"/>
                </a:solidFill>
                <a:latin typeface="Arial"/>
                <a:ea typeface="Arial"/>
                <a:cs typeface="Arial"/>
              </a:defRPr>
            </a:lvl4pPr>
            <a:lvl5pPr algn="ctr">
              <a:defRPr sz="695" b="1">
                <a:solidFill>
                  <a:srgbClr val="263442"/>
                </a:solidFill>
                <a:latin typeface="Arial"/>
                <a:ea typeface="Arial"/>
                <a:cs typeface="Arial"/>
              </a:defRPr>
            </a:lvl5pPr>
            <a:lvl6pPr algn="ctr">
              <a:defRPr sz="695" b="1">
                <a:solidFill>
                  <a:srgbClr val="263442"/>
                </a:solidFill>
                <a:latin typeface="Arial"/>
                <a:ea typeface="Arial"/>
                <a:cs typeface="Arial"/>
              </a:defRPr>
            </a:lvl6pPr>
            <a:lvl7pPr algn="ctr">
              <a:defRPr sz="695" b="1">
                <a:solidFill>
                  <a:srgbClr val="263442"/>
                </a:solidFill>
                <a:latin typeface="Arial"/>
                <a:ea typeface="Arial"/>
                <a:cs typeface="Arial"/>
              </a:defRPr>
            </a:lvl7pPr>
            <a:lvl8pPr algn="ctr">
              <a:defRPr sz="695" b="1">
                <a:solidFill>
                  <a:srgbClr val="263442"/>
                </a:solidFill>
                <a:latin typeface="Arial"/>
                <a:ea typeface="Arial"/>
                <a:cs typeface="Arial"/>
              </a:defRPr>
            </a:lvl8pPr>
            <a:lvl9pPr algn="ctr">
              <a:defRPr sz="695" b="1">
                <a:solidFill>
                  <a:srgbClr val="263442"/>
                </a:solidFill>
                <a:latin typeface="Arial"/>
                <a:ea typeface="Arial"/>
                <a:cs typeface="Arial"/>
              </a:defRPr>
            </a:lvl9pPr>
          </a:lstStyle>
          <a:p>
            <a:pPr algn="ctr">
              <a:defRPr sz="695" b="1">
                <a:solidFill>
                  <a:srgbClr val="263442"/>
                </a:solidFill>
                <a:latin typeface="Arial"/>
                <a:ea typeface="Arial"/>
                <a:cs typeface="Arial"/>
              </a:defRPr>
            </a:pPr>
            <a:r>
              <a:rPr sz="695" b="0" dirty="0">
                <a:solidFill>
                  <a:srgbClr val="263442"/>
                </a:solidFill>
                <a:latin typeface="Arial"/>
                <a:ea typeface="Arial"/>
                <a:cs typeface="Arial"/>
              </a:rPr>
              <a:t>Density</a:t>
            </a:r>
          </a:p>
        </p:txBody>
      </p:sp>
      <p:pic>
        <p:nvPicPr>
          <p:cNvPr id="35" name="Build corresponding experimental density" descr="Experimental 9LLG density around chain C1 of the displayed CryoAtom2 receptor, at the original contour level and the identical camera orientation.">
            <a:extLst>
              <a:ext uri="{FF2B5EF4-FFF2-40B4-BE49-F238E27FC236}">
                <a16:creationId xmlns:a16="http://schemas.microsoft.com/office/drawing/2014/main" id="{B6073C37-39CE-B7E0-3B07-79CC91752771}"/>
              </a:ext>
            </a:extLst>
          </p:cNvPr>
          <p:cNvPicPr/>
          <p:nvPr/>
        </p:nvPicPr>
        <p:blipFill>
          <a:blip r:embed="rId4"/>
          <a:stretch>
            <a:fillRect/>
          </a:stretch>
        </p:blipFill>
        <p:spPr>
          <a:xfrm>
            <a:off x="5657542" y="1104265"/>
            <a:ext cx="361766" cy="345440"/>
          </a:xfrm>
          <a:prstGeom prst="rect">
            <a:avLst/>
          </a:prstGeom>
        </p:spPr>
      </p:pic>
      <p:sp>
        <p:nvSpPr>
          <p:cNvPr id="36" name="V8 Build site and identity frame">
            <a:extLst>
              <a:ext uri="{FF2B5EF4-FFF2-40B4-BE49-F238E27FC236}">
                <a16:creationId xmlns:a16="http://schemas.microsoft.com/office/drawing/2014/main" id="{44A40F3E-EE7E-47F6-F21F-55B6342BC627}"/>
              </a:ext>
            </a:extLst>
          </p:cNvPr>
          <p:cNvSpPr/>
          <p:nvPr/>
        </p:nvSpPr>
        <p:spPr>
          <a:xfrm>
            <a:off x="4996634" y="457662"/>
            <a:ext cx="519754" cy="1228090"/>
          </a:xfrm>
          <a:prstGeom prst="roundRect">
            <a:avLst>
              <a:gd name="adj" fmla="val 5556"/>
            </a:avLst>
          </a:prstGeom>
          <a:noFill/>
          <a:ln w="6985" cap="rnd">
            <a:solidFill>
              <a:srgbClr val="BEC7CE"/>
            </a:solidFill>
            <a:prstDash val="dash"/>
            <a:round/>
          </a:ln>
        </p:spPr>
      </p:sp>
      <p:sp>
        <p:nvSpPr>
          <p:cNvPr id="37" name="V8 Build pocket and density frame">
            <a:extLst>
              <a:ext uri="{FF2B5EF4-FFF2-40B4-BE49-F238E27FC236}">
                <a16:creationId xmlns:a16="http://schemas.microsoft.com/office/drawing/2014/main" id="{14DCC2A1-CDC4-C175-7CD6-B44415023274}"/>
              </a:ext>
            </a:extLst>
          </p:cNvPr>
          <p:cNvSpPr/>
          <p:nvPr/>
        </p:nvSpPr>
        <p:spPr>
          <a:xfrm>
            <a:off x="5564187" y="456353"/>
            <a:ext cx="527685" cy="1228090"/>
          </a:xfrm>
          <a:prstGeom prst="roundRect">
            <a:avLst>
              <a:gd name="adj" fmla="val 6477"/>
            </a:avLst>
          </a:prstGeom>
          <a:noFill/>
          <a:ln w="6985" cap="rnd">
            <a:solidFill>
              <a:srgbClr val="BEC7CE"/>
            </a:solidFill>
            <a:prstDash val="dash"/>
            <a:round/>
          </a:ln>
        </p:spPr>
      </p:sp>
      <p:grpSp>
        <p:nvGrpSpPr>
          <p:cNvPr id="41" name="Match | Blob contour">
            <a:extLst>
              <a:ext uri="{FF2B5EF4-FFF2-40B4-BE49-F238E27FC236}">
                <a16:creationId xmlns:a16="http://schemas.microsoft.com/office/drawing/2014/main" id="{AEA59DBC-AE5B-BAC9-DB1A-B93729186927}"/>
              </a:ext>
            </a:extLst>
          </p:cNvPr>
          <p:cNvGrpSpPr/>
          <p:nvPr/>
        </p:nvGrpSpPr>
        <p:grpSpPr>
          <a:xfrm>
            <a:off x="5095498" y="565131"/>
            <a:ext cx="291608" cy="199265"/>
            <a:chOff x="1928706" y="3559489"/>
            <a:chExt cx="227897" cy="155682"/>
          </a:xfrm>
        </p:grpSpPr>
        <p:sp>
          <p:nvSpPr>
            <p:cNvPr id="42" name="Candidate blob | editable contour">
              <a:extLst>
                <a:ext uri="{FF2B5EF4-FFF2-40B4-BE49-F238E27FC236}">
                  <a16:creationId xmlns:a16="http://schemas.microsoft.com/office/drawing/2014/main" id="{C51024E8-6E1D-8550-24DC-C64E196CC7C0}"/>
                </a:ext>
              </a:extLst>
            </p:cNvPr>
            <p:cNvSpPr/>
            <p:nvPr/>
          </p:nvSpPr>
          <p:spPr>
            <a:xfrm>
              <a:off x="1928706" y="3559489"/>
              <a:ext cx="227897" cy="155682"/>
            </a:xfrm>
            <a:custGeom>
              <a:avLst/>
              <a:gdLst/>
              <a:ahLst/>
              <a:cxnLst/>
              <a:rect l="0" t="0" r="w" b="h"/>
              <a:pathLst>
                <a:path w="227897" h="155682" extrusionOk="0">
                  <a:moveTo>
                    <a:pt x="5338" y="97866"/>
                  </a:moveTo>
                  <a:cubicBezTo>
                    <a:pt x="0" y="80701"/>
                    <a:pt x="18889" y="54504"/>
                    <a:pt x="29976" y="43663"/>
                  </a:cubicBezTo>
                  <a:cubicBezTo>
                    <a:pt x="41062" y="32823"/>
                    <a:pt x="58719" y="39447"/>
                    <a:pt x="71859" y="32823"/>
                  </a:cubicBezTo>
                  <a:cubicBezTo>
                    <a:pt x="84999" y="26198"/>
                    <a:pt x="92391" y="7829"/>
                    <a:pt x="108816" y="3915"/>
                  </a:cubicBezTo>
                  <a:cubicBezTo>
                    <a:pt x="125241" y="0"/>
                    <a:pt x="153984" y="3613"/>
                    <a:pt x="170409" y="9335"/>
                  </a:cubicBezTo>
                  <a:cubicBezTo>
                    <a:pt x="186834" y="15056"/>
                    <a:pt x="198332" y="26198"/>
                    <a:pt x="207366" y="38243"/>
                  </a:cubicBezTo>
                  <a:cubicBezTo>
                    <a:pt x="216399" y="50288"/>
                    <a:pt x="227897" y="67151"/>
                    <a:pt x="224612" y="81605"/>
                  </a:cubicBezTo>
                  <a:cubicBezTo>
                    <a:pt x="221327" y="96059"/>
                    <a:pt x="203259" y="113223"/>
                    <a:pt x="187656" y="124967"/>
                  </a:cubicBezTo>
                  <a:cubicBezTo>
                    <a:pt x="172052" y="136711"/>
                    <a:pt x="151931" y="148455"/>
                    <a:pt x="130989" y="152068"/>
                  </a:cubicBezTo>
                  <a:cubicBezTo>
                    <a:pt x="110048" y="155682"/>
                    <a:pt x="82946" y="155682"/>
                    <a:pt x="62004" y="146648"/>
                  </a:cubicBezTo>
                  <a:cubicBezTo>
                    <a:pt x="41062" y="137614"/>
                    <a:pt x="10676" y="115030"/>
                    <a:pt x="5338" y="97866"/>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43" name="ellipse_2612">
              <a:extLst>
                <a:ext uri="{FF2B5EF4-FFF2-40B4-BE49-F238E27FC236}">
                  <a16:creationId xmlns:a16="http://schemas.microsoft.com/office/drawing/2014/main" id="{F005B847-7E52-D002-7402-A77292C8424D}"/>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sp>
        <p:nvSpPr>
          <p:cNvPr id="44" name="Oval 12178">
            <a:extLst>
              <a:ext uri="{FF2B5EF4-FFF2-40B4-BE49-F238E27FC236}">
                <a16:creationId xmlns:a16="http://schemas.microsoft.com/office/drawing/2014/main" id="{F18A76BA-3A6D-690E-1E25-09EADEAD6D22}"/>
              </a:ext>
            </a:extLst>
          </p:cNvPr>
          <p:cNvSpPr/>
          <p:nvPr/>
        </p:nvSpPr>
        <p:spPr>
          <a:xfrm>
            <a:off x="5224292" y="648563"/>
            <a:ext cx="34426" cy="34426"/>
          </a:xfrm>
          <a:prstGeom prst="ellipse">
            <a:avLst/>
          </a:prstGeom>
          <a:solidFill>
            <a:srgbClr val="1D4ED8"/>
          </a:solidFill>
          <a:ln w="635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pic>
        <p:nvPicPr>
          <p:cNvPr id="45" name="图片 44">
            <a:extLst>
              <a:ext uri="{FF2B5EF4-FFF2-40B4-BE49-F238E27FC236}">
                <a16:creationId xmlns:a16="http://schemas.microsoft.com/office/drawing/2014/main" id="{D6A16EFF-8D09-8A90-1861-D2C2CB3FB054}"/>
              </a:ext>
            </a:extLst>
          </p:cNvPr>
          <p:cNvPicPr>
            <a:picLocks noChangeAspect="1"/>
          </p:cNvPicPr>
          <p:nvPr/>
        </p:nvPicPr>
        <p:blipFill>
          <a:blip r:embed="rId9"/>
          <a:stretch/>
        </p:blipFill>
        <p:spPr>
          <a:xfrm>
            <a:off x="5631445" y="485775"/>
            <a:ext cx="414760" cy="342900"/>
          </a:xfrm>
          <a:prstGeom prst="rect">
            <a:avLst/>
          </a:prstGeom>
        </p:spPr>
      </p:pic>
      <p:sp>
        <p:nvSpPr>
          <p:cNvPr id="46" name="F2-Build-selected">
            <a:extLst>
              <a:ext uri="{FF2B5EF4-FFF2-40B4-BE49-F238E27FC236}">
                <a16:creationId xmlns:a16="http://schemas.microsoft.com/office/drawing/2014/main" id="{7A6CCD2E-6466-9D14-3B68-C871BA64A339}"/>
              </a:ext>
            </a:extLst>
          </p:cNvPr>
          <p:cNvSpPr>
            <a:spLocks noGrp="1"/>
          </p:cNvSpPr>
          <p:nvPr/>
        </p:nvSpPr>
        <p:spPr>
          <a:xfrm>
            <a:off x="5054601" y="1283549"/>
            <a:ext cx="390525" cy="81915"/>
          </a:xfrm>
          <a:prstGeom prst="roundRect">
            <a:avLst>
              <a:gd name="adj" fmla="val 50000"/>
            </a:avLst>
          </a:prstGeom>
          <a:solidFill>
            <a:srgbClr val="DCF8EB"/>
          </a:solidFill>
          <a:ln w="7144">
            <a:solidFill>
              <a:srgbClr val="499D86"/>
            </a:solidFill>
          </a:ln>
        </p:spPr>
      </p:sp>
      <p:sp>
        <p:nvSpPr>
          <p:cNvPr id="47" name="F2-Build-SMILES-0">
            <a:extLst>
              <a:ext uri="{FF2B5EF4-FFF2-40B4-BE49-F238E27FC236}">
                <a16:creationId xmlns:a16="http://schemas.microsoft.com/office/drawing/2014/main" id="{91899206-AFFF-7AE9-A668-AFB0022A39F9}"/>
              </a:ext>
            </a:extLst>
          </p:cNvPr>
          <p:cNvSpPr>
            <a:spLocks noGrp="1"/>
          </p:cNvSpPr>
          <p:nvPr/>
        </p:nvSpPr>
        <p:spPr>
          <a:xfrm>
            <a:off x="5101503" y="1136660"/>
            <a:ext cx="361950" cy="74295"/>
          </a:xfrm>
          <a:prstGeom prst="rect">
            <a:avLst/>
          </a:prstGeom>
          <a:noFill/>
          <a:ln w="0">
            <a:noFill/>
          </a:ln>
        </p:spPr>
        <p:txBody>
          <a:bodyPr wrap="none" lIns="0" tIns="0" rIns="0" bIns="0" anchor="ctr">
            <a:noAutofit/>
          </a:bodyPr>
          <a:lstStyle>
            <a:defPPr algn="l">
              <a:defRPr sz="540" b="0">
                <a:solidFill>
                  <a:srgbClr val="263442"/>
                </a:solidFill>
                <a:latin typeface="Arial"/>
                <a:ea typeface="Arial"/>
                <a:cs typeface="Arial"/>
              </a:defRPr>
            </a:defPPr>
            <a:lvl1pPr algn="l">
              <a:defRPr sz="540" b="0">
                <a:solidFill>
                  <a:srgbClr val="263442"/>
                </a:solidFill>
                <a:latin typeface="Arial"/>
                <a:ea typeface="Arial"/>
                <a:cs typeface="Arial"/>
              </a:defRPr>
            </a:lvl1pPr>
            <a:lvl2pPr algn="l">
              <a:defRPr sz="540" b="0">
                <a:solidFill>
                  <a:srgbClr val="263442"/>
                </a:solidFill>
                <a:latin typeface="Arial"/>
                <a:ea typeface="Arial"/>
                <a:cs typeface="Arial"/>
              </a:defRPr>
            </a:lvl2pPr>
            <a:lvl3pPr algn="l">
              <a:defRPr sz="540" b="0">
                <a:solidFill>
                  <a:srgbClr val="263442"/>
                </a:solidFill>
                <a:latin typeface="Arial"/>
                <a:ea typeface="Arial"/>
                <a:cs typeface="Arial"/>
              </a:defRPr>
            </a:lvl3pPr>
            <a:lvl4pPr algn="l">
              <a:defRPr sz="540" b="0">
                <a:solidFill>
                  <a:srgbClr val="263442"/>
                </a:solidFill>
                <a:latin typeface="Arial"/>
                <a:ea typeface="Arial"/>
                <a:cs typeface="Arial"/>
              </a:defRPr>
            </a:lvl4pPr>
            <a:lvl5pPr algn="l">
              <a:defRPr sz="540" b="0">
                <a:solidFill>
                  <a:srgbClr val="263442"/>
                </a:solidFill>
                <a:latin typeface="Arial"/>
                <a:ea typeface="Arial"/>
                <a:cs typeface="Arial"/>
              </a:defRPr>
            </a:lvl5pPr>
            <a:lvl6pPr algn="l">
              <a:defRPr sz="540" b="0">
                <a:solidFill>
                  <a:srgbClr val="263442"/>
                </a:solidFill>
                <a:latin typeface="Arial"/>
                <a:ea typeface="Arial"/>
                <a:cs typeface="Arial"/>
              </a:defRPr>
            </a:lvl6pPr>
            <a:lvl7pPr algn="l">
              <a:defRPr sz="540" b="0">
                <a:solidFill>
                  <a:srgbClr val="263442"/>
                </a:solidFill>
                <a:latin typeface="Arial"/>
                <a:ea typeface="Arial"/>
                <a:cs typeface="Arial"/>
              </a:defRPr>
            </a:lvl7pPr>
            <a:lvl8pPr algn="l">
              <a:defRPr sz="540" b="0">
                <a:solidFill>
                  <a:srgbClr val="263442"/>
                </a:solidFill>
                <a:latin typeface="Arial"/>
                <a:ea typeface="Arial"/>
                <a:cs typeface="Arial"/>
              </a:defRPr>
            </a:lvl8pPr>
            <a:lvl9pPr algn="l">
              <a:defRPr sz="540" b="0">
                <a:solidFill>
                  <a:srgbClr val="263442"/>
                </a:solidFill>
                <a:latin typeface="Arial"/>
                <a:ea typeface="Arial"/>
                <a:cs typeface="Arial"/>
              </a:defRPr>
            </a:lvl9pPr>
          </a:lstStyle>
          <a:p>
            <a:pPr algn="l">
              <a:defRPr sz="540" b="0">
                <a:solidFill>
                  <a:srgbClr val="263442"/>
                </a:solidFill>
                <a:latin typeface="Arial"/>
                <a:ea typeface="Arial"/>
                <a:cs typeface="Arial"/>
              </a:defRPr>
            </a:pPr>
            <a:r>
              <a:rPr sz="480" b="0" dirty="0">
                <a:solidFill>
                  <a:srgbClr val="263442"/>
                </a:solidFill>
                <a:latin typeface="Arial"/>
                <a:ea typeface="Arial"/>
                <a:cs typeface="Arial"/>
              </a:rPr>
              <a:t>CCO</a:t>
            </a:r>
          </a:p>
        </p:txBody>
      </p:sp>
      <p:sp>
        <p:nvSpPr>
          <p:cNvPr id="48" name="F2-Build-SMILES-7.8">
            <a:extLst>
              <a:ext uri="{FF2B5EF4-FFF2-40B4-BE49-F238E27FC236}">
                <a16:creationId xmlns:a16="http://schemas.microsoft.com/office/drawing/2014/main" id="{4F7693E5-E4A0-593A-A3A1-A79111C31959}"/>
              </a:ext>
            </a:extLst>
          </p:cNvPr>
          <p:cNvSpPr>
            <a:spLocks noGrp="1"/>
          </p:cNvSpPr>
          <p:nvPr/>
        </p:nvSpPr>
        <p:spPr>
          <a:xfrm>
            <a:off x="5101503" y="1199841"/>
            <a:ext cx="361950" cy="74295"/>
          </a:xfrm>
          <a:prstGeom prst="rect">
            <a:avLst/>
          </a:prstGeom>
          <a:noFill/>
          <a:ln w="0">
            <a:noFill/>
          </a:ln>
        </p:spPr>
        <p:txBody>
          <a:bodyPr wrap="none" lIns="0" tIns="0" rIns="0" bIns="0" anchor="ctr">
            <a:noAutofit/>
          </a:bodyPr>
          <a:lstStyle>
            <a:defPPr algn="l">
              <a:defRPr sz="540" b="0">
                <a:solidFill>
                  <a:srgbClr val="263442"/>
                </a:solidFill>
                <a:latin typeface="Arial"/>
                <a:ea typeface="Arial"/>
                <a:cs typeface="Arial"/>
              </a:defRPr>
            </a:defPPr>
            <a:lvl1pPr algn="l">
              <a:defRPr sz="540" b="0">
                <a:solidFill>
                  <a:srgbClr val="263442"/>
                </a:solidFill>
                <a:latin typeface="Arial"/>
                <a:ea typeface="Arial"/>
                <a:cs typeface="Arial"/>
              </a:defRPr>
            </a:lvl1pPr>
            <a:lvl2pPr algn="l">
              <a:defRPr sz="540" b="0">
                <a:solidFill>
                  <a:srgbClr val="263442"/>
                </a:solidFill>
                <a:latin typeface="Arial"/>
                <a:ea typeface="Arial"/>
                <a:cs typeface="Arial"/>
              </a:defRPr>
            </a:lvl2pPr>
            <a:lvl3pPr algn="l">
              <a:defRPr sz="540" b="0">
                <a:solidFill>
                  <a:srgbClr val="263442"/>
                </a:solidFill>
                <a:latin typeface="Arial"/>
                <a:ea typeface="Arial"/>
                <a:cs typeface="Arial"/>
              </a:defRPr>
            </a:lvl3pPr>
            <a:lvl4pPr algn="l">
              <a:defRPr sz="540" b="0">
                <a:solidFill>
                  <a:srgbClr val="263442"/>
                </a:solidFill>
                <a:latin typeface="Arial"/>
                <a:ea typeface="Arial"/>
                <a:cs typeface="Arial"/>
              </a:defRPr>
            </a:lvl4pPr>
            <a:lvl5pPr algn="l">
              <a:defRPr sz="540" b="0">
                <a:solidFill>
                  <a:srgbClr val="263442"/>
                </a:solidFill>
                <a:latin typeface="Arial"/>
                <a:ea typeface="Arial"/>
                <a:cs typeface="Arial"/>
              </a:defRPr>
            </a:lvl5pPr>
            <a:lvl6pPr algn="l">
              <a:defRPr sz="540" b="0">
                <a:solidFill>
                  <a:srgbClr val="263442"/>
                </a:solidFill>
                <a:latin typeface="Arial"/>
                <a:ea typeface="Arial"/>
                <a:cs typeface="Arial"/>
              </a:defRPr>
            </a:lvl6pPr>
            <a:lvl7pPr algn="l">
              <a:defRPr sz="540" b="0">
                <a:solidFill>
                  <a:srgbClr val="263442"/>
                </a:solidFill>
                <a:latin typeface="Arial"/>
                <a:ea typeface="Arial"/>
                <a:cs typeface="Arial"/>
              </a:defRPr>
            </a:lvl7pPr>
            <a:lvl8pPr algn="l">
              <a:defRPr sz="540" b="0">
                <a:solidFill>
                  <a:srgbClr val="263442"/>
                </a:solidFill>
                <a:latin typeface="Arial"/>
                <a:ea typeface="Arial"/>
                <a:cs typeface="Arial"/>
              </a:defRPr>
            </a:lvl8pPr>
            <a:lvl9pPr algn="l">
              <a:defRPr sz="540" b="0">
                <a:solidFill>
                  <a:srgbClr val="263442"/>
                </a:solidFill>
                <a:latin typeface="Arial"/>
                <a:ea typeface="Arial"/>
                <a:cs typeface="Arial"/>
              </a:defRPr>
            </a:lvl9pPr>
          </a:lstStyle>
          <a:p>
            <a:pPr>
              <a:defRPr sz="540" b="0">
                <a:solidFill>
                  <a:srgbClr val="263442"/>
                </a:solidFill>
                <a:latin typeface="Arial"/>
                <a:ea typeface="Arial"/>
                <a:cs typeface="Arial"/>
              </a:defRPr>
            </a:pPr>
            <a:r>
              <a:rPr sz="480" dirty="0"/>
              <a:t>CC(=O)O</a:t>
            </a:r>
          </a:p>
        </p:txBody>
      </p:sp>
      <p:sp>
        <p:nvSpPr>
          <p:cNvPr id="49" name="F2-Build-continuation">
            <a:extLst>
              <a:ext uri="{FF2B5EF4-FFF2-40B4-BE49-F238E27FC236}">
                <a16:creationId xmlns:a16="http://schemas.microsoft.com/office/drawing/2014/main" id="{C5DB50E8-C3A6-3C50-3582-FCA3BBABD8D7}"/>
              </a:ext>
            </a:extLst>
          </p:cNvPr>
          <p:cNvSpPr>
            <a:spLocks noGrp="1"/>
          </p:cNvSpPr>
          <p:nvPr/>
        </p:nvSpPr>
        <p:spPr>
          <a:xfrm>
            <a:off x="5106267" y="1268735"/>
            <a:ext cx="6668" cy="6668"/>
          </a:xfrm>
          <a:prstGeom prst="ellipse">
            <a:avLst/>
          </a:prstGeom>
          <a:solidFill>
            <a:srgbClr val="687780"/>
          </a:solidFill>
          <a:ln w="0">
            <a:noFill/>
          </a:ln>
        </p:spPr>
      </p:sp>
      <p:sp>
        <p:nvSpPr>
          <p:cNvPr id="50" name="F2-Build-continuation">
            <a:extLst>
              <a:ext uri="{FF2B5EF4-FFF2-40B4-BE49-F238E27FC236}">
                <a16:creationId xmlns:a16="http://schemas.microsoft.com/office/drawing/2014/main" id="{FE3B81E3-6F1E-472D-8CF2-4809F3ADB744}"/>
              </a:ext>
            </a:extLst>
          </p:cNvPr>
          <p:cNvSpPr>
            <a:spLocks noGrp="1"/>
          </p:cNvSpPr>
          <p:nvPr/>
        </p:nvSpPr>
        <p:spPr>
          <a:xfrm>
            <a:off x="5119918" y="1268735"/>
            <a:ext cx="6668" cy="6668"/>
          </a:xfrm>
          <a:prstGeom prst="ellipse">
            <a:avLst/>
          </a:prstGeom>
          <a:solidFill>
            <a:srgbClr val="687780"/>
          </a:solidFill>
          <a:ln w="0">
            <a:noFill/>
          </a:ln>
        </p:spPr>
      </p:sp>
      <p:sp>
        <p:nvSpPr>
          <p:cNvPr id="51" name="F2-Build-continuation">
            <a:extLst>
              <a:ext uri="{FF2B5EF4-FFF2-40B4-BE49-F238E27FC236}">
                <a16:creationId xmlns:a16="http://schemas.microsoft.com/office/drawing/2014/main" id="{59BE48BA-39C8-9115-E2D9-668366662F74}"/>
              </a:ext>
            </a:extLst>
          </p:cNvPr>
          <p:cNvSpPr>
            <a:spLocks noGrp="1"/>
          </p:cNvSpPr>
          <p:nvPr/>
        </p:nvSpPr>
        <p:spPr>
          <a:xfrm>
            <a:off x="5135157" y="1268735"/>
            <a:ext cx="6668" cy="6668"/>
          </a:xfrm>
          <a:prstGeom prst="ellipse">
            <a:avLst/>
          </a:prstGeom>
          <a:solidFill>
            <a:srgbClr val="687780"/>
          </a:solidFill>
          <a:ln w="0">
            <a:noFill/>
          </a:ln>
        </p:spPr>
      </p:sp>
      <p:sp>
        <p:nvSpPr>
          <p:cNvPr id="52" name="F2-Build-SMILES-19.8">
            <a:extLst>
              <a:ext uri="{FF2B5EF4-FFF2-40B4-BE49-F238E27FC236}">
                <a16:creationId xmlns:a16="http://schemas.microsoft.com/office/drawing/2014/main" id="{C92CDFAF-2927-D3DB-7E27-C5F95C54379C}"/>
              </a:ext>
            </a:extLst>
          </p:cNvPr>
          <p:cNvSpPr>
            <a:spLocks noGrp="1"/>
          </p:cNvSpPr>
          <p:nvPr/>
        </p:nvSpPr>
        <p:spPr>
          <a:xfrm>
            <a:off x="5101503" y="1285559"/>
            <a:ext cx="361950" cy="74295"/>
          </a:xfrm>
          <a:prstGeom prst="rect">
            <a:avLst/>
          </a:prstGeom>
          <a:noFill/>
          <a:ln w="0">
            <a:noFill/>
          </a:ln>
        </p:spPr>
        <p:txBody>
          <a:bodyPr wrap="none" lIns="0" tIns="0" rIns="0" bIns="0" anchor="ctr">
            <a:noAutofit/>
          </a:bodyPr>
          <a:lstStyle>
            <a:defPPr algn="l">
              <a:defRPr sz="540" b="0">
                <a:solidFill>
                  <a:srgbClr val="24634E"/>
                </a:solidFill>
                <a:latin typeface="Arial"/>
                <a:ea typeface="Arial"/>
                <a:cs typeface="Arial"/>
              </a:defRPr>
            </a:defPPr>
            <a:lvl1pPr algn="l">
              <a:defRPr sz="540" b="0">
                <a:solidFill>
                  <a:srgbClr val="24634E"/>
                </a:solidFill>
                <a:latin typeface="Arial"/>
                <a:ea typeface="Arial"/>
                <a:cs typeface="Arial"/>
              </a:defRPr>
            </a:lvl1pPr>
            <a:lvl2pPr algn="l">
              <a:defRPr sz="540" b="0">
                <a:solidFill>
                  <a:srgbClr val="24634E"/>
                </a:solidFill>
                <a:latin typeface="Arial"/>
                <a:ea typeface="Arial"/>
                <a:cs typeface="Arial"/>
              </a:defRPr>
            </a:lvl2pPr>
            <a:lvl3pPr algn="l">
              <a:defRPr sz="540" b="0">
                <a:solidFill>
                  <a:srgbClr val="24634E"/>
                </a:solidFill>
                <a:latin typeface="Arial"/>
                <a:ea typeface="Arial"/>
                <a:cs typeface="Arial"/>
              </a:defRPr>
            </a:lvl3pPr>
            <a:lvl4pPr algn="l">
              <a:defRPr sz="540" b="0">
                <a:solidFill>
                  <a:srgbClr val="24634E"/>
                </a:solidFill>
                <a:latin typeface="Arial"/>
                <a:ea typeface="Arial"/>
                <a:cs typeface="Arial"/>
              </a:defRPr>
            </a:lvl4pPr>
            <a:lvl5pPr algn="l">
              <a:defRPr sz="540" b="0">
                <a:solidFill>
                  <a:srgbClr val="24634E"/>
                </a:solidFill>
                <a:latin typeface="Arial"/>
                <a:ea typeface="Arial"/>
                <a:cs typeface="Arial"/>
              </a:defRPr>
            </a:lvl5pPr>
            <a:lvl6pPr algn="l">
              <a:defRPr sz="540" b="0">
                <a:solidFill>
                  <a:srgbClr val="24634E"/>
                </a:solidFill>
                <a:latin typeface="Arial"/>
                <a:ea typeface="Arial"/>
                <a:cs typeface="Arial"/>
              </a:defRPr>
            </a:lvl6pPr>
            <a:lvl7pPr algn="l">
              <a:defRPr sz="540" b="0">
                <a:solidFill>
                  <a:srgbClr val="24634E"/>
                </a:solidFill>
                <a:latin typeface="Arial"/>
                <a:ea typeface="Arial"/>
                <a:cs typeface="Arial"/>
              </a:defRPr>
            </a:lvl7pPr>
            <a:lvl8pPr algn="l">
              <a:defRPr sz="540" b="0">
                <a:solidFill>
                  <a:srgbClr val="24634E"/>
                </a:solidFill>
                <a:latin typeface="Arial"/>
                <a:ea typeface="Arial"/>
                <a:cs typeface="Arial"/>
              </a:defRPr>
            </a:lvl8pPr>
            <a:lvl9pPr algn="l">
              <a:defRPr sz="540" b="0">
                <a:solidFill>
                  <a:srgbClr val="24634E"/>
                </a:solidFill>
                <a:latin typeface="Arial"/>
                <a:ea typeface="Arial"/>
                <a:cs typeface="Arial"/>
              </a:defRPr>
            </a:lvl9pPr>
          </a:lstStyle>
          <a:p>
            <a:pPr>
              <a:defRPr sz="540" b="0">
                <a:solidFill>
                  <a:srgbClr val="263442"/>
                </a:solidFill>
                <a:latin typeface="Arial"/>
                <a:ea typeface="Arial"/>
                <a:cs typeface="Arial"/>
              </a:defRPr>
            </a:pPr>
            <a:r>
              <a:rPr sz="480" dirty="0">
                <a:solidFill>
                  <a:srgbClr val="263442"/>
                </a:solidFill>
              </a:rPr>
              <a:t>Cc1ccccc1</a:t>
            </a:r>
          </a:p>
        </p:txBody>
      </p:sp>
      <p:sp>
        <p:nvSpPr>
          <p:cNvPr id="53" name="F2-Build-SMILES-27.599999999999998">
            <a:extLst>
              <a:ext uri="{FF2B5EF4-FFF2-40B4-BE49-F238E27FC236}">
                <a16:creationId xmlns:a16="http://schemas.microsoft.com/office/drawing/2014/main" id="{09226E00-C9BE-6656-69E5-936D0D9C9BA0}"/>
              </a:ext>
            </a:extLst>
          </p:cNvPr>
          <p:cNvSpPr>
            <a:spLocks noGrp="1"/>
          </p:cNvSpPr>
          <p:nvPr/>
        </p:nvSpPr>
        <p:spPr>
          <a:xfrm>
            <a:off x="5101503" y="1359854"/>
            <a:ext cx="361950" cy="74295"/>
          </a:xfrm>
          <a:prstGeom prst="rect">
            <a:avLst/>
          </a:prstGeom>
          <a:noFill/>
          <a:ln w="0">
            <a:noFill/>
          </a:ln>
        </p:spPr>
        <p:txBody>
          <a:bodyPr wrap="none" lIns="0" tIns="0" rIns="0" bIns="0" anchor="ctr">
            <a:noAutofit/>
          </a:bodyPr>
          <a:lstStyle>
            <a:defPPr algn="l">
              <a:defRPr sz="540" b="0">
                <a:solidFill>
                  <a:srgbClr val="263442"/>
                </a:solidFill>
                <a:latin typeface="Arial"/>
                <a:ea typeface="Arial"/>
                <a:cs typeface="Arial"/>
              </a:defRPr>
            </a:defPPr>
            <a:lvl1pPr algn="l">
              <a:defRPr sz="540" b="0">
                <a:solidFill>
                  <a:srgbClr val="263442"/>
                </a:solidFill>
                <a:latin typeface="Arial"/>
                <a:ea typeface="Arial"/>
                <a:cs typeface="Arial"/>
              </a:defRPr>
            </a:lvl1pPr>
            <a:lvl2pPr algn="l">
              <a:defRPr sz="540" b="0">
                <a:solidFill>
                  <a:srgbClr val="263442"/>
                </a:solidFill>
                <a:latin typeface="Arial"/>
                <a:ea typeface="Arial"/>
                <a:cs typeface="Arial"/>
              </a:defRPr>
            </a:lvl2pPr>
            <a:lvl3pPr algn="l">
              <a:defRPr sz="540" b="0">
                <a:solidFill>
                  <a:srgbClr val="263442"/>
                </a:solidFill>
                <a:latin typeface="Arial"/>
                <a:ea typeface="Arial"/>
                <a:cs typeface="Arial"/>
              </a:defRPr>
            </a:lvl3pPr>
            <a:lvl4pPr algn="l">
              <a:defRPr sz="540" b="0">
                <a:solidFill>
                  <a:srgbClr val="263442"/>
                </a:solidFill>
                <a:latin typeface="Arial"/>
                <a:ea typeface="Arial"/>
                <a:cs typeface="Arial"/>
              </a:defRPr>
            </a:lvl4pPr>
            <a:lvl5pPr algn="l">
              <a:defRPr sz="540" b="0">
                <a:solidFill>
                  <a:srgbClr val="263442"/>
                </a:solidFill>
                <a:latin typeface="Arial"/>
                <a:ea typeface="Arial"/>
                <a:cs typeface="Arial"/>
              </a:defRPr>
            </a:lvl5pPr>
            <a:lvl6pPr algn="l">
              <a:defRPr sz="540" b="0">
                <a:solidFill>
                  <a:srgbClr val="263442"/>
                </a:solidFill>
                <a:latin typeface="Arial"/>
                <a:ea typeface="Arial"/>
                <a:cs typeface="Arial"/>
              </a:defRPr>
            </a:lvl6pPr>
            <a:lvl7pPr algn="l">
              <a:defRPr sz="540" b="0">
                <a:solidFill>
                  <a:srgbClr val="263442"/>
                </a:solidFill>
                <a:latin typeface="Arial"/>
                <a:ea typeface="Arial"/>
                <a:cs typeface="Arial"/>
              </a:defRPr>
            </a:lvl7pPr>
            <a:lvl8pPr algn="l">
              <a:defRPr sz="540" b="0">
                <a:solidFill>
                  <a:srgbClr val="263442"/>
                </a:solidFill>
                <a:latin typeface="Arial"/>
                <a:ea typeface="Arial"/>
                <a:cs typeface="Arial"/>
              </a:defRPr>
            </a:lvl8pPr>
            <a:lvl9pPr algn="l">
              <a:defRPr sz="540" b="0">
                <a:solidFill>
                  <a:srgbClr val="263442"/>
                </a:solidFill>
                <a:latin typeface="Arial"/>
                <a:ea typeface="Arial"/>
                <a:cs typeface="Arial"/>
              </a:defRPr>
            </a:lvl9pPr>
          </a:lstStyle>
          <a:p>
            <a:pPr>
              <a:defRPr sz="540" b="0">
                <a:solidFill>
                  <a:srgbClr val="263442"/>
                </a:solidFill>
                <a:latin typeface="Arial"/>
                <a:ea typeface="Arial"/>
                <a:cs typeface="Arial"/>
              </a:defRPr>
            </a:pPr>
            <a:r>
              <a:rPr sz="480" dirty="0"/>
              <a:t>CC(N)=O</a:t>
            </a:r>
          </a:p>
        </p:txBody>
      </p:sp>
      <p:sp>
        <p:nvSpPr>
          <p:cNvPr id="54" name="Build | inputs to iterative denoising">
            <a:extLst>
              <a:ext uri="{FF2B5EF4-FFF2-40B4-BE49-F238E27FC236}">
                <a16:creationId xmlns:a16="http://schemas.microsoft.com/office/drawing/2014/main" id="{77D5DEB0-83CB-4AE8-6632-C35EFE7F6AB1}"/>
              </a:ext>
            </a:extLst>
          </p:cNvPr>
          <p:cNvSpPr>
            <a:spLocks noGrp="1"/>
          </p:cNvSpPr>
          <p:nvPr/>
        </p:nvSpPr>
        <p:spPr>
          <a:xfrm>
            <a:off x="5547600" y="1774677"/>
            <a:ext cx="95" cy="100800"/>
          </a:xfrm>
          <a:custGeom>
            <a:avLst/>
            <a:gdLst/>
            <a:ahLst/>
            <a:cxnLst/>
            <a:rect l="0" t="0" r="0" b="0"/>
            <a:pathLst>
              <a:path w="95" h="100800">
                <a:moveTo>
                  <a:pt x="0" y="0"/>
                </a:moveTo>
                <a:lnTo>
                  <a:pt x="0" y="100800"/>
                </a:lnTo>
              </a:path>
            </a:pathLst>
          </a:custGeom>
          <a:noFill/>
          <a:ln w="8255">
            <a:solidFill>
              <a:srgbClr val="77828C"/>
            </a:solidFill>
          </a:ln>
        </p:spPr>
      </p:sp>
      <p:sp>
        <p:nvSpPr>
          <p:cNvPr id="55" name="Build | inputs to iterative denoising head">
            <a:extLst>
              <a:ext uri="{FF2B5EF4-FFF2-40B4-BE49-F238E27FC236}">
                <a16:creationId xmlns:a16="http://schemas.microsoft.com/office/drawing/2014/main" id="{61C20E2B-B035-C30C-DC5E-78722583412A}"/>
              </a:ext>
            </a:extLst>
          </p:cNvPr>
          <p:cNvSpPr>
            <a:spLocks noGrp="1"/>
          </p:cNvSpPr>
          <p:nvPr/>
        </p:nvSpPr>
        <p:spPr>
          <a:xfrm>
            <a:off x="5533470" y="1848335"/>
            <a:ext cx="28261" cy="27142"/>
          </a:xfrm>
          <a:custGeom>
            <a:avLst/>
            <a:gdLst/>
            <a:ahLst/>
            <a:cxnLst/>
            <a:rect l="0" t="0" r="0" b="0"/>
            <a:pathLst>
              <a:path w="28261" h="27142">
                <a:moveTo>
                  <a:pt x="0" y="0"/>
                </a:moveTo>
                <a:lnTo>
                  <a:pt x="14130" y="27142"/>
                </a:lnTo>
                <a:lnTo>
                  <a:pt x="28261" y="0"/>
                </a:lnTo>
              </a:path>
            </a:pathLst>
          </a:custGeom>
          <a:noFill/>
          <a:ln w="8255">
            <a:solidFill>
              <a:srgbClr val="77828C"/>
            </a:solidFill>
          </a:ln>
        </p:spPr>
      </p:sp>
      <p:sp>
        <p:nvSpPr>
          <p:cNvPr id="56" name="Build | denoising stage 0">
            <a:extLst>
              <a:ext uri="{FF2B5EF4-FFF2-40B4-BE49-F238E27FC236}">
                <a16:creationId xmlns:a16="http://schemas.microsoft.com/office/drawing/2014/main" id="{4FA3A63A-C5B4-46DC-9991-5E890A593F39}"/>
              </a:ext>
            </a:extLst>
          </p:cNvPr>
          <p:cNvSpPr>
            <a:spLocks noGrp="1"/>
          </p:cNvSpPr>
          <p:nvPr/>
        </p:nvSpPr>
        <p:spPr>
          <a:xfrm>
            <a:off x="5014346" y="2490900"/>
            <a:ext cx="324000" cy="187200"/>
          </a:xfrm>
          <a:prstGeom prst="rect">
            <a:avLst/>
          </a:prstGeom>
          <a:noFill/>
          <a:ln w="0">
            <a:noFill/>
          </a:ln>
        </p:spPr>
        <p:txBody>
          <a:bodyPr wrap="none" lIns="0" tIns="0" rIns="0" bIns="0" anchor="ctr">
            <a:noAutofit/>
          </a:bodyPr>
          <a:lstStyle>
            <a:defPPr algn="ctr">
              <a:defRPr sz="580" b="0">
                <a:solidFill>
                  <a:srgbClr val="596873"/>
                </a:solidFill>
                <a:latin typeface="Arial"/>
                <a:ea typeface="Arial"/>
                <a:cs typeface="Arial"/>
              </a:defRPr>
            </a:defPPr>
            <a:lvl1pPr algn="ctr">
              <a:defRPr sz="580" b="0">
                <a:solidFill>
                  <a:srgbClr val="596873"/>
                </a:solidFill>
                <a:latin typeface="Arial"/>
                <a:ea typeface="Arial"/>
                <a:cs typeface="Arial"/>
              </a:defRPr>
            </a:lvl1pPr>
            <a:lvl2pPr algn="ctr">
              <a:defRPr sz="580" b="0">
                <a:solidFill>
                  <a:srgbClr val="596873"/>
                </a:solidFill>
                <a:latin typeface="Arial"/>
                <a:ea typeface="Arial"/>
                <a:cs typeface="Arial"/>
              </a:defRPr>
            </a:lvl2pPr>
            <a:lvl3pPr algn="ctr">
              <a:defRPr sz="580" b="0">
                <a:solidFill>
                  <a:srgbClr val="596873"/>
                </a:solidFill>
                <a:latin typeface="Arial"/>
                <a:ea typeface="Arial"/>
                <a:cs typeface="Arial"/>
              </a:defRPr>
            </a:lvl3pPr>
            <a:lvl4pPr algn="ctr">
              <a:defRPr sz="580" b="0">
                <a:solidFill>
                  <a:srgbClr val="596873"/>
                </a:solidFill>
                <a:latin typeface="Arial"/>
                <a:ea typeface="Arial"/>
                <a:cs typeface="Arial"/>
              </a:defRPr>
            </a:lvl4pPr>
            <a:lvl5pPr algn="ctr">
              <a:defRPr sz="580" b="0">
                <a:solidFill>
                  <a:srgbClr val="596873"/>
                </a:solidFill>
                <a:latin typeface="Arial"/>
                <a:ea typeface="Arial"/>
                <a:cs typeface="Arial"/>
              </a:defRPr>
            </a:lvl5pPr>
            <a:lvl6pPr algn="ctr">
              <a:defRPr sz="580" b="0">
                <a:solidFill>
                  <a:srgbClr val="596873"/>
                </a:solidFill>
                <a:latin typeface="Arial"/>
                <a:ea typeface="Arial"/>
                <a:cs typeface="Arial"/>
              </a:defRPr>
            </a:lvl6pPr>
            <a:lvl7pPr algn="ctr">
              <a:defRPr sz="580" b="0">
                <a:solidFill>
                  <a:srgbClr val="596873"/>
                </a:solidFill>
                <a:latin typeface="Arial"/>
                <a:ea typeface="Arial"/>
                <a:cs typeface="Arial"/>
              </a:defRPr>
            </a:lvl7pPr>
            <a:lvl8pPr algn="ctr">
              <a:defRPr sz="580" b="0">
                <a:solidFill>
                  <a:srgbClr val="596873"/>
                </a:solidFill>
                <a:latin typeface="Arial"/>
                <a:ea typeface="Arial"/>
                <a:cs typeface="Arial"/>
              </a:defRPr>
            </a:lvl8pPr>
            <a:lvl9pPr algn="ctr">
              <a:defRPr sz="580" b="0">
                <a:solidFill>
                  <a:srgbClr val="596873"/>
                </a:solidFill>
                <a:latin typeface="Arial"/>
                <a:ea typeface="Arial"/>
                <a:cs typeface="Arial"/>
              </a:defRPr>
            </a:lvl9pPr>
          </a:lstStyle>
          <a:p>
            <a:pPr algn="ctr">
              <a:defRPr sz="580" b="0">
                <a:solidFill>
                  <a:srgbClr val="596873"/>
                </a:solidFill>
                <a:latin typeface="Arial"/>
                <a:ea typeface="Arial"/>
                <a:cs typeface="Arial"/>
              </a:defRPr>
            </a:pPr>
            <a:r>
              <a:rPr sz="580" b="0" dirty="0">
                <a:solidFill>
                  <a:srgbClr val="596873"/>
                </a:solidFill>
                <a:latin typeface="Arial"/>
                <a:ea typeface="Arial"/>
                <a:cs typeface="Arial"/>
              </a:rPr>
              <a:t>Gaussian</a:t>
            </a:r>
          </a:p>
          <a:p>
            <a:pPr algn="ctr">
              <a:defRPr sz="580" b="0">
                <a:solidFill>
                  <a:srgbClr val="596873"/>
                </a:solidFill>
                <a:latin typeface="Arial"/>
                <a:ea typeface="Arial"/>
                <a:cs typeface="Arial"/>
              </a:defRPr>
            </a:pPr>
            <a:r>
              <a:rPr sz="580" b="0" dirty="0">
                <a:solidFill>
                  <a:srgbClr val="596873"/>
                </a:solidFill>
                <a:latin typeface="Arial"/>
                <a:ea typeface="Arial"/>
                <a:cs typeface="Arial"/>
              </a:rPr>
              <a:t>noise</a:t>
            </a:r>
          </a:p>
        </p:txBody>
      </p:sp>
      <p:pic>
        <p:nvPicPr>
          <p:cNvPr id="57" name="图片 56">
            <a:extLst>
              <a:ext uri="{FF2B5EF4-FFF2-40B4-BE49-F238E27FC236}">
                <a16:creationId xmlns:a16="http://schemas.microsoft.com/office/drawing/2014/main" id="{5A8BF8D6-CC63-3A07-00C3-06D2FC84F371}"/>
              </a:ext>
            </a:extLst>
          </p:cNvPr>
          <p:cNvPicPr>
            <a:picLocks noChangeAspect="1"/>
          </p:cNvPicPr>
          <p:nvPr/>
        </p:nvPicPr>
        <p:blipFill>
          <a:blip r:embed="rId10"/>
          <a:stretch/>
        </p:blipFill>
        <p:spPr>
          <a:xfrm>
            <a:off x="5473551" y="2422737"/>
            <a:ext cx="477349" cy="344752"/>
          </a:xfrm>
          <a:prstGeom prst="rect">
            <a:avLst/>
          </a:prstGeom>
        </p:spPr>
      </p:pic>
      <p:pic>
        <p:nvPicPr>
          <p:cNvPr id="58" name="图片 57">
            <a:extLst>
              <a:ext uri="{FF2B5EF4-FFF2-40B4-BE49-F238E27FC236}">
                <a16:creationId xmlns:a16="http://schemas.microsoft.com/office/drawing/2014/main" id="{5EA6D07E-186E-721B-FE69-A910CADA4CD3}"/>
              </a:ext>
            </a:extLst>
          </p:cNvPr>
          <p:cNvPicPr>
            <a:picLocks noChangeAspect="1"/>
          </p:cNvPicPr>
          <p:nvPr/>
        </p:nvPicPr>
        <p:blipFill>
          <a:blip r:embed="rId11"/>
          <a:stretch/>
        </p:blipFill>
        <p:spPr>
          <a:xfrm>
            <a:off x="5483229" y="2791467"/>
            <a:ext cx="478523" cy="345600"/>
          </a:xfrm>
          <a:prstGeom prst="rect">
            <a:avLst/>
          </a:prstGeom>
        </p:spPr>
      </p:pic>
      <p:sp>
        <p:nvSpPr>
          <p:cNvPr id="59" name="Build | denoising stage 2">
            <a:extLst>
              <a:ext uri="{FF2B5EF4-FFF2-40B4-BE49-F238E27FC236}">
                <a16:creationId xmlns:a16="http://schemas.microsoft.com/office/drawing/2014/main" id="{97252846-6DC1-B072-9EF8-BFF8E9E51215}"/>
              </a:ext>
            </a:extLst>
          </p:cNvPr>
          <p:cNvSpPr>
            <a:spLocks noGrp="1"/>
          </p:cNvSpPr>
          <p:nvPr/>
        </p:nvSpPr>
        <p:spPr>
          <a:xfrm>
            <a:off x="5008587" y="2974840"/>
            <a:ext cx="324000" cy="118800"/>
          </a:xfrm>
          <a:prstGeom prst="rect">
            <a:avLst/>
          </a:prstGeom>
          <a:noFill/>
          <a:ln w="0">
            <a:noFill/>
          </a:ln>
        </p:spPr>
        <p:txBody>
          <a:bodyPr wrap="none" lIns="0" tIns="0" rIns="0" bIns="0" anchor="ctr">
            <a:noAutofit/>
          </a:bodyPr>
          <a:lstStyle>
            <a:defPPr algn="ctr">
              <a:defRPr sz="580" b="0">
                <a:solidFill>
                  <a:srgbClr val="596873"/>
                </a:solidFill>
                <a:latin typeface="Arial"/>
                <a:ea typeface="Arial"/>
                <a:cs typeface="Arial"/>
              </a:defRPr>
            </a:defPPr>
            <a:lvl1pPr algn="ctr">
              <a:defRPr sz="580" b="0">
                <a:solidFill>
                  <a:srgbClr val="596873"/>
                </a:solidFill>
                <a:latin typeface="Arial"/>
                <a:ea typeface="Arial"/>
                <a:cs typeface="Arial"/>
              </a:defRPr>
            </a:lvl1pPr>
            <a:lvl2pPr algn="ctr">
              <a:defRPr sz="580" b="0">
                <a:solidFill>
                  <a:srgbClr val="596873"/>
                </a:solidFill>
                <a:latin typeface="Arial"/>
                <a:ea typeface="Arial"/>
                <a:cs typeface="Arial"/>
              </a:defRPr>
            </a:lvl2pPr>
            <a:lvl3pPr algn="ctr">
              <a:defRPr sz="580" b="0">
                <a:solidFill>
                  <a:srgbClr val="596873"/>
                </a:solidFill>
                <a:latin typeface="Arial"/>
                <a:ea typeface="Arial"/>
                <a:cs typeface="Arial"/>
              </a:defRPr>
            </a:lvl3pPr>
            <a:lvl4pPr algn="ctr">
              <a:defRPr sz="580" b="0">
                <a:solidFill>
                  <a:srgbClr val="596873"/>
                </a:solidFill>
                <a:latin typeface="Arial"/>
                <a:ea typeface="Arial"/>
                <a:cs typeface="Arial"/>
              </a:defRPr>
            </a:lvl4pPr>
            <a:lvl5pPr algn="ctr">
              <a:defRPr sz="580" b="0">
                <a:solidFill>
                  <a:srgbClr val="596873"/>
                </a:solidFill>
                <a:latin typeface="Arial"/>
                <a:ea typeface="Arial"/>
                <a:cs typeface="Arial"/>
              </a:defRPr>
            </a:lvl5pPr>
            <a:lvl6pPr algn="ctr">
              <a:defRPr sz="580" b="0">
                <a:solidFill>
                  <a:srgbClr val="596873"/>
                </a:solidFill>
                <a:latin typeface="Arial"/>
                <a:ea typeface="Arial"/>
                <a:cs typeface="Arial"/>
              </a:defRPr>
            </a:lvl6pPr>
            <a:lvl7pPr algn="ctr">
              <a:defRPr sz="580" b="0">
                <a:solidFill>
                  <a:srgbClr val="596873"/>
                </a:solidFill>
                <a:latin typeface="Arial"/>
                <a:ea typeface="Arial"/>
                <a:cs typeface="Arial"/>
              </a:defRPr>
            </a:lvl7pPr>
            <a:lvl8pPr algn="ctr">
              <a:defRPr sz="580" b="0">
                <a:solidFill>
                  <a:srgbClr val="596873"/>
                </a:solidFill>
                <a:latin typeface="Arial"/>
                <a:ea typeface="Arial"/>
                <a:cs typeface="Arial"/>
              </a:defRPr>
            </a:lvl8pPr>
            <a:lvl9pPr algn="ctr">
              <a:defRPr sz="580" b="0">
                <a:solidFill>
                  <a:srgbClr val="596873"/>
                </a:solidFill>
                <a:latin typeface="Arial"/>
                <a:ea typeface="Arial"/>
                <a:cs typeface="Arial"/>
              </a:defRPr>
            </a:lvl9pPr>
          </a:lstStyle>
          <a:p>
            <a:pPr algn="ctr">
              <a:defRPr sz="580" b="0">
                <a:solidFill>
                  <a:srgbClr val="596873"/>
                </a:solidFill>
                <a:latin typeface="Arial"/>
                <a:ea typeface="Arial"/>
                <a:cs typeface="Arial"/>
              </a:defRPr>
            </a:pPr>
            <a:r>
              <a:rPr lang="en-US" sz="580" b="0" dirty="0">
                <a:solidFill>
                  <a:srgbClr val="596873"/>
                </a:solidFill>
                <a:latin typeface="Arial"/>
                <a:ea typeface="Arial"/>
                <a:cs typeface="Arial"/>
              </a:rPr>
              <a:t>D</a:t>
            </a:r>
            <a:r>
              <a:rPr lang="en-US" altLang="zh-CN" sz="580" b="0" dirty="0">
                <a:solidFill>
                  <a:srgbClr val="596873"/>
                </a:solidFill>
                <a:latin typeface="Arial"/>
                <a:ea typeface="Arial"/>
                <a:cs typeface="Arial"/>
              </a:rPr>
              <a:t>enoising</a:t>
            </a:r>
            <a:endParaRPr sz="580" b="0" dirty="0">
              <a:solidFill>
                <a:srgbClr val="596873"/>
              </a:solidFill>
              <a:latin typeface="Arial"/>
              <a:ea typeface="Arial"/>
              <a:cs typeface="Arial"/>
            </a:endParaRPr>
          </a:p>
        </p:txBody>
      </p:sp>
      <p:pic>
        <p:nvPicPr>
          <p:cNvPr id="60" name="图片 59">
            <a:extLst>
              <a:ext uri="{FF2B5EF4-FFF2-40B4-BE49-F238E27FC236}">
                <a16:creationId xmlns:a16="http://schemas.microsoft.com/office/drawing/2014/main" id="{9624DFFF-47D7-4BF2-00B4-BE0589E5D906}"/>
              </a:ext>
            </a:extLst>
          </p:cNvPr>
          <p:cNvPicPr>
            <a:picLocks noChangeAspect="1"/>
          </p:cNvPicPr>
          <p:nvPr/>
        </p:nvPicPr>
        <p:blipFill>
          <a:blip r:embed="rId12"/>
          <a:stretch/>
        </p:blipFill>
        <p:spPr>
          <a:xfrm>
            <a:off x="5472963" y="3164962"/>
            <a:ext cx="478523" cy="345600"/>
          </a:xfrm>
          <a:prstGeom prst="rect">
            <a:avLst/>
          </a:prstGeom>
        </p:spPr>
      </p:pic>
      <p:sp>
        <p:nvSpPr>
          <p:cNvPr id="61" name="Build | local structure viewport">
            <a:extLst>
              <a:ext uri="{FF2B5EF4-FFF2-40B4-BE49-F238E27FC236}">
                <a16:creationId xmlns:a16="http://schemas.microsoft.com/office/drawing/2014/main" id="{BC9ADC94-3DB8-0817-8C90-DB3ACE846727}"/>
              </a:ext>
            </a:extLst>
          </p:cNvPr>
          <p:cNvSpPr>
            <a:spLocks noGrp="1"/>
          </p:cNvSpPr>
          <p:nvPr/>
        </p:nvSpPr>
        <p:spPr>
          <a:xfrm>
            <a:off x="5034655" y="3612697"/>
            <a:ext cx="1012331" cy="735989"/>
          </a:xfrm>
          <a:prstGeom prst="roundRect">
            <a:avLst>
              <a:gd name="adj" fmla="val 8894"/>
            </a:avLst>
          </a:prstGeom>
          <a:solidFill>
            <a:srgbClr val="FFFFFF"/>
          </a:solidFill>
          <a:ln w="7620">
            <a:solidFill>
              <a:srgbClr val="C8CFD4"/>
            </a:solidFill>
          </a:ln>
        </p:spPr>
      </p:sp>
      <p:sp>
        <p:nvSpPr>
          <p:cNvPr id="62" name="Build | label">
            <a:extLst>
              <a:ext uri="{FF2B5EF4-FFF2-40B4-BE49-F238E27FC236}">
                <a16:creationId xmlns:a16="http://schemas.microsoft.com/office/drawing/2014/main" id="{71D10570-D81F-28AF-047A-7D1D7965E2D5}"/>
              </a:ext>
            </a:extLst>
          </p:cNvPr>
          <p:cNvSpPr>
            <a:spLocks noGrp="1"/>
          </p:cNvSpPr>
          <p:nvPr/>
        </p:nvSpPr>
        <p:spPr>
          <a:xfrm>
            <a:off x="5009487" y="4217257"/>
            <a:ext cx="1090800" cy="100800"/>
          </a:xfrm>
          <a:prstGeom prst="rect">
            <a:avLst/>
          </a:prstGeom>
          <a:noFill/>
          <a:ln w="0">
            <a:noFill/>
          </a:ln>
        </p:spPr>
        <p:txBody>
          <a:bodyPr wrap="none" lIns="0" tIns="0" rIns="0" bIns="0" anchor="ctr">
            <a:noAutofit/>
          </a:bodyPr>
          <a:lstStyle>
            <a:defPPr algn="ctr">
              <a:defRPr sz="670" b="0">
                <a:solidFill>
                  <a:srgbClr val="263442"/>
                </a:solidFill>
                <a:latin typeface="Arial"/>
                <a:ea typeface="Arial"/>
                <a:cs typeface="Arial"/>
              </a:defRPr>
            </a:defPPr>
            <a:lvl1pPr algn="ctr">
              <a:defRPr sz="670" b="0">
                <a:solidFill>
                  <a:srgbClr val="263442"/>
                </a:solidFill>
                <a:latin typeface="Arial"/>
                <a:ea typeface="Arial"/>
                <a:cs typeface="Arial"/>
              </a:defRPr>
            </a:lvl1pPr>
            <a:lvl2pPr algn="ctr">
              <a:defRPr sz="670" b="0">
                <a:solidFill>
                  <a:srgbClr val="263442"/>
                </a:solidFill>
                <a:latin typeface="Arial"/>
                <a:ea typeface="Arial"/>
                <a:cs typeface="Arial"/>
              </a:defRPr>
            </a:lvl2pPr>
            <a:lvl3pPr algn="ctr">
              <a:defRPr sz="670" b="0">
                <a:solidFill>
                  <a:srgbClr val="263442"/>
                </a:solidFill>
                <a:latin typeface="Arial"/>
                <a:ea typeface="Arial"/>
                <a:cs typeface="Arial"/>
              </a:defRPr>
            </a:lvl3pPr>
            <a:lvl4pPr algn="ctr">
              <a:defRPr sz="670" b="0">
                <a:solidFill>
                  <a:srgbClr val="263442"/>
                </a:solidFill>
                <a:latin typeface="Arial"/>
                <a:ea typeface="Arial"/>
                <a:cs typeface="Arial"/>
              </a:defRPr>
            </a:lvl4pPr>
            <a:lvl5pPr algn="ctr">
              <a:defRPr sz="670" b="0">
                <a:solidFill>
                  <a:srgbClr val="263442"/>
                </a:solidFill>
                <a:latin typeface="Arial"/>
                <a:ea typeface="Arial"/>
                <a:cs typeface="Arial"/>
              </a:defRPr>
            </a:lvl5pPr>
            <a:lvl6pPr algn="ctr">
              <a:defRPr sz="670" b="0">
                <a:solidFill>
                  <a:srgbClr val="263442"/>
                </a:solidFill>
                <a:latin typeface="Arial"/>
                <a:ea typeface="Arial"/>
                <a:cs typeface="Arial"/>
              </a:defRPr>
            </a:lvl6pPr>
            <a:lvl7pPr algn="ctr">
              <a:defRPr sz="670" b="0">
                <a:solidFill>
                  <a:srgbClr val="263442"/>
                </a:solidFill>
                <a:latin typeface="Arial"/>
                <a:ea typeface="Arial"/>
                <a:cs typeface="Arial"/>
              </a:defRPr>
            </a:lvl7pPr>
            <a:lvl8pPr algn="ctr">
              <a:defRPr sz="670" b="0">
                <a:solidFill>
                  <a:srgbClr val="263442"/>
                </a:solidFill>
                <a:latin typeface="Arial"/>
                <a:ea typeface="Arial"/>
                <a:cs typeface="Arial"/>
              </a:defRPr>
            </a:lvl8pPr>
            <a:lvl9pPr algn="ctr">
              <a:defRPr sz="670" b="0">
                <a:solidFill>
                  <a:srgbClr val="263442"/>
                </a:solidFill>
                <a:latin typeface="Arial"/>
                <a:ea typeface="Arial"/>
                <a:cs typeface="Arial"/>
              </a:defRPr>
            </a:lvl9pPr>
          </a:lstStyle>
          <a:p>
            <a:pPr algn="ctr">
              <a:defRPr sz="670" b="0">
                <a:solidFill>
                  <a:srgbClr val="263442"/>
                </a:solidFill>
                <a:latin typeface="Arial"/>
                <a:ea typeface="Arial"/>
                <a:cs typeface="Arial"/>
              </a:defRPr>
            </a:pPr>
            <a:r>
              <a:rPr sz="670" b="0" dirty="0">
                <a:solidFill>
                  <a:srgbClr val="263442"/>
                </a:solidFill>
                <a:latin typeface="Arial"/>
                <a:ea typeface="Arial"/>
                <a:cs typeface="Arial"/>
              </a:rPr>
              <a:t>All-atom ligand pose</a:t>
            </a:r>
            <a:r>
              <a:rPr lang="en-US" sz="670" b="0" dirty="0">
                <a:solidFill>
                  <a:srgbClr val="263442"/>
                </a:solidFill>
                <a:latin typeface="Arial"/>
                <a:ea typeface="Arial"/>
                <a:cs typeface="Arial"/>
              </a:rPr>
              <a:t>(s)</a:t>
            </a:r>
            <a:endParaRPr sz="670" b="0" dirty="0">
              <a:solidFill>
                <a:srgbClr val="263442"/>
              </a:solidFill>
              <a:latin typeface="Arial"/>
              <a:ea typeface="Arial"/>
              <a:cs typeface="Arial"/>
            </a:endParaRPr>
          </a:p>
        </p:txBody>
      </p:sp>
      <p:sp>
        <p:nvSpPr>
          <p:cNvPr id="63" name="Build | inputs to iterative denoising">
            <a:extLst>
              <a:ext uri="{FF2B5EF4-FFF2-40B4-BE49-F238E27FC236}">
                <a16:creationId xmlns:a16="http://schemas.microsoft.com/office/drawing/2014/main" id="{844D4712-AEED-E883-C5F0-D362F809E703}"/>
              </a:ext>
            </a:extLst>
          </p:cNvPr>
          <p:cNvSpPr>
            <a:spLocks noGrp="1"/>
          </p:cNvSpPr>
          <p:nvPr/>
        </p:nvSpPr>
        <p:spPr>
          <a:xfrm flipH="1">
            <a:off x="5300905" y="2502829"/>
            <a:ext cx="69223" cy="1043423"/>
          </a:xfrm>
          <a:custGeom>
            <a:avLst/>
            <a:gdLst/>
            <a:ahLst/>
            <a:cxnLst/>
            <a:rect l="0" t="0" r="0" b="0"/>
            <a:pathLst>
              <a:path w="95" h="100800">
                <a:moveTo>
                  <a:pt x="0" y="0"/>
                </a:moveTo>
                <a:lnTo>
                  <a:pt x="0" y="100800"/>
                </a:lnTo>
              </a:path>
            </a:pathLst>
          </a:custGeom>
          <a:noFill/>
          <a:ln w="8255">
            <a:solidFill>
              <a:srgbClr val="77828C"/>
            </a:solidFill>
          </a:ln>
        </p:spPr>
      </p:sp>
      <p:sp>
        <p:nvSpPr>
          <p:cNvPr id="192" name="Build | inputs to iterative denoising head">
            <a:extLst>
              <a:ext uri="{FF2B5EF4-FFF2-40B4-BE49-F238E27FC236}">
                <a16:creationId xmlns:a16="http://schemas.microsoft.com/office/drawing/2014/main" id="{243C67B2-7A6B-44AC-4681-7BF6293C7909}"/>
              </a:ext>
            </a:extLst>
          </p:cNvPr>
          <p:cNvSpPr>
            <a:spLocks noGrp="1"/>
          </p:cNvSpPr>
          <p:nvPr/>
        </p:nvSpPr>
        <p:spPr>
          <a:xfrm>
            <a:off x="5354208" y="3525770"/>
            <a:ext cx="28261" cy="27142"/>
          </a:xfrm>
          <a:custGeom>
            <a:avLst/>
            <a:gdLst/>
            <a:ahLst/>
            <a:cxnLst/>
            <a:rect l="0" t="0" r="0" b="0"/>
            <a:pathLst>
              <a:path w="28261" h="27142">
                <a:moveTo>
                  <a:pt x="0" y="0"/>
                </a:moveTo>
                <a:lnTo>
                  <a:pt x="14130" y="27142"/>
                </a:lnTo>
                <a:lnTo>
                  <a:pt x="28261" y="0"/>
                </a:lnTo>
              </a:path>
            </a:pathLst>
          </a:custGeom>
          <a:noFill/>
          <a:ln w="8255">
            <a:solidFill>
              <a:srgbClr val="77828C"/>
            </a:solidFill>
          </a:ln>
        </p:spPr>
      </p:sp>
      <p:sp>
        <p:nvSpPr>
          <p:cNvPr id="193" name="Build | Default PocketXMol card">
            <a:extLst>
              <a:ext uri="{FF2B5EF4-FFF2-40B4-BE49-F238E27FC236}">
                <a16:creationId xmlns:a16="http://schemas.microsoft.com/office/drawing/2014/main" id="{68687A4B-553D-209E-10BC-CEC5B2D4F848}"/>
              </a:ext>
            </a:extLst>
          </p:cNvPr>
          <p:cNvSpPr/>
          <p:nvPr/>
        </p:nvSpPr>
        <p:spPr>
          <a:xfrm>
            <a:off x="4999032" y="1900178"/>
            <a:ext cx="1106490" cy="456341"/>
          </a:xfrm>
          <a:prstGeom prst="roundRect">
            <a:avLst>
              <a:gd name="adj" fmla="val 8000"/>
            </a:avLst>
          </a:prstGeom>
          <a:solidFill>
            <a:srgbClr val="F4F6F7"/>
          </a:solidFill>
          <a:ln w="7290">
            <a:solidFill>
              <a:srgbClr val="BEC7C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grpSp>
        <p:nvGrpSpPr>
          <p:cNvPr id="194" name="Build | Density cube icon">
            <a:extLst>
              <a:ext uri="{FF2B5EF4-FFF2-40B4-BE49-F238E27FC236}">
                <a16:creationId xmlns:a16="http://schemas.microsoft.com/office/drawing/2014/main" id="{1E4E0589-C5B3-405D-4D29-CE6C8A279393}"/>
              </a:ext>
            </a:extLst>
          </p:cNvPr>
          <p:cNvGrpSpPr/>
          <p:nvPr/>
        </p:nvGrpSpPr>
        <p:grpSpPr>
          <a:xfrm>
            <a:off x="5031164" y="1982142"/>
            <a:ext cx="213580" cy="227238"/>
            <a:chOff x="2187720" y="5635440"/>
            <a:chExt cx="154440" cy="131400"/>
          </a:xfrm>
        </p:grpSpPr>
        <p:sp>
          <p:nvSpPr>
            <p:cNvPr id="195" name="asset_3169_0">
              <a:extLst>
                <a:ext uri="{FF2B5EF4-FFF2-40B4-BE49-F238E27FC236}">
                  <a16:creationId xmlns:a16="http://schemas.microsoft.com/office/drawing/2014/main" id="{F40B2CBA-8B2F-11A0-F694-502775EA8B55}"/>
                </a:ext>
              </a:extLst>
            </p:cNvPr>
            <p:cNvSpPr>
              <a:spLocks noGrp="1"/>
            </p:cNvSpPr>
            <p:nvPr/>
          </p:nvSpPr>
          <p:spPr>
            <a:xfrm>
              <a:off x="2187720" y="5635440"/>
              <a:ext cx="154440" cy="22338"/>
            </a:xfrm>
            <a:custGeom>
              <a:avLst/>
              <a:gdLst/>
              <a:ahLst/>
              <a:cxnLst/>
              <a:rect l="0" t="0" r="0" b="0"/>
              <a:pathLst>
                <a:path w="154440" h="22338">
                  <a:moveTo>
                    <a:pt x="0" y="22338"/>
                  </a:moveTo>
                  <a:lnTo>
                    <a:pt x="29344" y="0"/>
                  </a:lnTo>
                  <a:lnTo>
                    <a:pt x="154440" y="0"/>
                  </a:lnTo>
                  <a:lnTo>
                    <a:pt x="125096" y="22338"/>
                  </a:lnTo>
                  <a:close/>
                </a:path>
              </a:pathLst>
            </a:custGeom>
            <a:gradFill>
              <a:gsLst>
                <a:gs pos="0">
                  <a:srgbClr val="FAFDFF">
                    <a:alpha val="65000"/>
                  </a:srgbClr>
                </a:gs>
                <a:gs pos="100000">
                  <a:srgbClr val="D9EAFA">
                    <a:alpha val="45000"/>
                  </a:srgbClr>
                </a:gs>
              </a:gsLst>
              <a:lin ang="5400000"/>
            </a:gradFill>
            <a:ln w="2700">
              <a:solidFill>
                <a:srgbClr val="A3C3E2"/>
              </a:solidFill>
            </a:ln>
          </p:spPr>
        </p:sp>
        <p:sp>
          <p:nvSpPr>
            <p:cNvPr id="196" name="asset_3169_1">
              <a:extLst>
                <a:ext uri="{FF2B5EF4-FFF2-40B4-BE49-F238E27FC236}">
                  <a16:creationId xmlns:a16="http://schemas.microsoft.com/office/drawing/2014/main" id="{48CC7334-9BBF-E454-5B4E-756BE36879AF}"/>
                </a:ext>
              </a:extLst>
            </p:cNvPr>
            <p:cNvSpPr>
              <a:spLocks noGrp="1"/>
            </p:cNvSpPr>
            <p:nvPr/>
          </p:nvSpPr>
          <p:spPr>
            <a:xfrm>
              <a:off x="2312816" y="5635440"/>
              <a:ext cx="29344" cy="131400"/>
            </a:xfrm>
            <a:custGeom>
              <a:avLst/>
              <a:gdLst/>
              <a:ahLst/>
              <a:cxnLst/>
              <a:rect l="0" t="0" r="0" b="0"/>
              <a:pathLst>
                <a:path w="29344" h="131400">
                  <a:moveTo>
                    <a:pt x="0" y="22338"/>
                  </a:moveTo>
                  <a:lnTo>
                    <a:pt x="29344" y="0"/>
                  </a:lnTo>
                  <a:lnTo>
                    <a:pt x="29344" y="109062"/>
                  </a:lnTo>
                  <a:lnTo>
                    <a:pt x="0" y="131400"/>
                  </a:lnTo>
                  <a:close/>
                </a:path>
              </a:pathLst>
            </a:custGeom>
            <a:solidFill>
              <a:srgbClr val="C9DFF3">
                <a:alpha val="22000"/>
              </a:srgbClr>
            </a:solidFill>
            <a:ln w="2700">
              <a:solidFill>
                <a:srgbClr val="A3C3E2"/>
              </a:solidFill>
            </a:ln>
          </p:spPr>
        </p:sp>
        <p:sp>
          <p:nvSpPr>
            <p:cNvPr id="197" name="asset_3169_2">
              <a:extLst>
                <a:ext uri="{FF2B5EF4-FFF2-40B4-BE49-F238E27FC236}">
                  <a16:creationId xmlns:a16="http://schemas.microsoft.com/office/drawing/2014/main" id="{A5244064-2F55-D11C-4D01-06654766CC85}"/>
                </a:ext>
              </a:extLst>
            </p:cNvPr>
            <p:cNvSpPr>
              <a:spLocks noGrp="1"/>
            </p:cNvSpPr>
            <p:nvPr/>
          </p:nvSpPr>
          <p:spPr>
            <a:xfrm>
              <a:off x="2187720" y="5657778"/>
              <a:ext cx="125096" cy="109062"/>
            </a:xfrm>
            <a:prstGeom prst="rect">
              <a:avLst/>
            </a:prstGeom>
            <a:solidFill>
              <a:srgbClr val="E7F1FC">
                <a:alpha val="20000"/>
              </a:srgbClr>
            </a:solidFill>
            <a:ln w="2700">
              <a:solidFill>
                <a:srgbClr val="ABC9E7"/>
              </a:solidFill>
            </a:ln>
          </p:spPr>
        </p:sp>
        <p:sp>
          <p:nvSpPr>
            <p:cNvPr id="198" name="asset_3169_3">
              <a:extLst>
                <a:ext uri="{FF2B5EF4-FFF2-40B4-BE49-F238E27FC236}">
                  <a16:creationId xmlns:a16="http://schemas.microsoft.com/office/drawing/2014/main" id="{D91F7642-7EDB-344A-8564-71863E1FB922}"/>
                </a:ext>
              </a:extLst>
            </p:cNvPr>
            <p:cNvSpPr>
              <a:spLocks noGrp="1"/>
            </p:cNvSpPr>
            <p:nvPr/>
          </p:nvSpPr>
          <p:spPr>
            <a:xfrm>
              <a:off x="2218994" y="5657778"/>
              <a:ext cx="4" cy="109062"/>
            </a:xfrm>
            <a:prstGeom prst="line">
              <a:avLst/>
            </a:prstGeom>
            <a:noFill/>
            <a:ln w="1980">
              <a:solidFill>
                <a:srgbClr val="B8D2EB">
                  <a:alpha val="33000"/>
                </a:srgbClr>
              </a:solidFill>
            </a:ln>
          </p:spPr>
        </p:sp>
        <p:sp>
          <p:nvSpPr>
            <p:cNvPr id="199" name="asset_3169_4">
              <a:extLst>
                <a:ext uri="{FF2B5EF4-FFF2-40B4-BE49-F238E27FC236}">
                  <a16:creationId xmlns:a16="http://schemas.microsoft.com/office/drawing/2014/main" id="{CE42CD0D-232C-13FB-DC7D-47A379752682}"/>
                </a:ext>
              </a:extLst>
            </p:cNvPr>
            <p:cNvSpPr>
              <a:spLocks noGrp="1"/>
            </p:cNvSpPr>
            <p:nvPr/>
          </p:nvSpPr>
          <p:spPr>
            <a:xfrm>
              <a:off x="2187720" y="5685044"/>
              <a:ext cx="125096" cy="4"/>
            </a:xfrm>
            <a:prstGeom prst="line">
              <a:avLst/>
            </a:prstGeom>
            <a:noFill/>
            <a:ln w="1980">
              <a:solidFill>
                <a:srgbClr val="B8D2EB">
                  <a:alpha val="33000"/>
                </a:srgbClr>
              </a:solidFill>
            </a:ln>
          </p:spPr>
        </p:sp>
        <p:sp>
          <p:nvSpPr>
            <p:cNvPr id="200" name="asset_3169_5">
              <a:extLst>
                <a:ext uri="{FF2B5EF4-FFF2-40B4-BE49-F238E27FC236}">
                  <a16:creationId xmlns:a16="http://schemas.microsoft.com/office/drawing/2014/main" id="{9F62EF0E-614F-DB10-6591-8D242432F320}"/>
                </a:ext>
              </a:extLst>
            </p:cNvPr>
            <p:cNvSpPr>
              <a:spLocks noGrp="1"/>
            </p:cNvSpPr>
            <p:nvPr/>
          </p:nvSpPr>
          <p:spPr>
            <a:xfrm>
              <a:off x="2250268" y="5657778"/>
              <a:ext cx="4" cy="109062"/>
            </a:xfrm>
            <a:prstGeom prst="line">
              <a:avLst/>
            </a:prstGeom>
            <a:noFill/>
            <a:ln w="1980">
              <a:solidFill>
                <a:srgbClr val="B8D2EB">
                  <a:alpha val="33000"/>
                </a:srgbClr>
              </a:solidFill>
            </a:ln>
          </p:spPr>
        </p:sp>
        <p:sp>
          <p:nvSpPr>
            <p:cNvPr id="201" name="asset_3169_6">
              <a:extLst>
                <a:ext uri="{FF2B5EF4-FFF2-40B4-BE49-F238E27FC236}">
                  <a16:creationId xmlns:a16="http://schemas.microsoft.com/office/drawing/2014/main" id="{2BB77FD0-9A0E-766F-023F-2D01AEC1170C}"/>
                </a:ext>
              </a:extLst>
            </p:cNvPr>
            <p:cNvSpPr>
              <a:spLocks noGrp="1"/>
            </p:cNvSpPr>
            <p:nvPr/>
          </p:nvSpPr>
          <p:spPr>
            <a:xfrm>
              <a:off x="2187720" y="5712309"/>
              <a:ext cx="125096" cy="4"/>
            </a:xfrm>
            <a:prstGeom prst="line">
              <a:avLst/>
            </a:prstGeom>
            <a:noFill/>
            <a:ln w="1980">
              <a:solidFill>
                <a:srgbClr val="B8D2EB">
                  <a:alpha val="33000"/>
                </a:srgbClr>
              </a:solidFill>
            </a:ln>
          </p:spPr>
        </p:sp>
        <p:sp>
          <p:nvSpPr>
            <p:cNvPr id="202" name="asset_3169_7">
              <a:extLst>
                <a:ext uri="{FF2B5EF4-FFF2-40B4-BE49-F238E27FC236}">
                  <a16:creationId xmlns:a16="http://schemas.microsoft.com/office/drawing/2014/main" id="{760BAE23-F653-AAB5-E58E-6FA129A86360}"/>
                </a:ext>
              </a:extLst>
            </p:cNvPr>
            <p:cNvSpPr>
              <a:spLocks noGrp="1"/>
            </p:cNvSpPr>
            <p:nvPr/>
          </p:nvSpPr>
          <p:spPr>
            <a:xfrm>
              <a:off x="2281542" y="5657778"/>
              <a:ext cx="4" cy="109062"/>
            </a:xfrm>
            <a:prstGeom prst="line">
              <a:avLst/>
            </a:prstGeom>
            <a:noFill/>
            <a:ln w="1980">
              <a:solidFill>
                <a:srgbClr val="B8D2EB">
                  <a:alpha val="33000"/>
                </a:srgbClr>
              </a:solidFill>
            </a:ln>
          </p:spPr>
        </p:sp>
        <p:sp>
          <p:nvSpPr>
            <p:cNvPr id="203" name="asset_3169_8">
              <a:extLst>
                <a:ext uri="{FF2B5EF4-FFF2-40B4-BE49-F238E27FC236}">
                  <a16:creationId xmlns:a16="http://schemas.microsoft.com/office/drawing/2014/main" id="{1D465C25-E7D6-47AB-7454-023C1E95CCFD}"/>
                </a:ext>
              </a:extLst>
            </p:cNvPr>
            <p:cNvSpPr>
              <a:spLocks noGrp="1"/>
            </p:cNvSpPr>
            <p:nvPr/>
          </p:nvSpPr>
          <p:spPr>
            <a:xfrm>
              <a:off x="2187720" y="5739574"/>
              <a:ext cx="125096" cy="4"/>
            </a:xfrm>
            <a:prstGeom prst="line">
              <a:avLst/>
            </a:prstGeom>
            <a:noFill/>
            <a:ln w="1980">
              <a:solidFill>
                <a:srgbClr val="B8D2EB">
                  <a:alpha val="33000"/>
                </a:srgbClr>
              </a:solidFill>
            </a:ln>
          </p:spPr>
        </p:sp>
        <p:sp>
          <p:nvSpPr>
            <p:cNvPr id="204" name="asset_3169_9">
              <a:extLst>
                <a:ext uri="{FF2B5EF4-FFF2-40B4-BE49-F238E27FC236}">
                  <a16:creationId xmlns:a16="http://schemas.microsoft.com/office/drawing/2014/main" id="{FFC30FC4-EAB0-CC5C-3F71-5F2D28CB293A}"/>
                </a:ext>
              </a:extLst>
            </p:cNvPr>
            <p:cNvSpPr>
              <a:spLocks noGrp="1"/>
            </p:cNvSpPr>
            <p:nvPr/>
          </p:nvSpPr>
          <p:spPr>
            <a:xfrm>
              <a:off x="2198791" y="5672574"/>
              <a:ext cx="58245" cy="50256"/>
            </a:xfrm>
            <a:prstGeom prst="ellipse">
              <a:avLst/>
            </a:prstGeom>
            <a:gradFill>
              <a:gsLst>
                <a:gs pos="0">
                  <a:srgbClr val="E5F0FF">
                    <a:alpha val="55000"/>
                  </a:srgbClr>
                </a:gs>
                <a:gs pos="48000">
                  <a:srgbClr val="7DA9DB">
                    <a:alpha val="60000"/>
                  </a:srgbClr>
                </a:gs>
                <a:gs pos="100000">
                  <a:srgbClr val="7DA9DB">
                    <a:alpha val="35000"/>
                  </a:srgbClr>
                </a:gs>
              </a:gsLst>
              <a:lin ang="8400000"/>
            </a:gradFill>
            <a:ln w="3600">
              <a:noFill/>
            </a:ln>
            <a:effectLst>
              <a:softEdge rad="4320"/>
            </a:effectLst>
          </p:spPr>
        </p:sp>
        <p:sp>
          <p:nvSpPr>
            <p:cNvPr id="205" name="asset_3169_10">
              <a:extLst>
                <a:ext uri="{FF2B5EF4-FFF2-40B4-BE49-F238E27FC236}">
                  <a16:creationId xmlns:a16="http://schemas.microsoft.com/office/drawing/2014/main" id="{909A4200-BE35-00B4-7696-10A589C45121}"/>
                </a:ext>
              </a:extLst>
            </p:cNvPr>
            <p:cNvSpPr>
              <a:spLocks noGrp="1"/>
            </p:cNvSpPr>
            <p:nvPr/>
          </p:nvSpPr>
          <p:spPr>
            <a:xfrm>
              <a:off x="2225487" y="5687232"/>
              <a:ext cx="63099" cy="54444"/>
            </a:xfrm>
            <a:prstGeom prst="ellipse">
              <a:avLst/>
            </a:prstGeom>
            <a:gradFill>
              <a:gsLst>
                <a:gs pos="0">
                  <a:srgbClr val="E5F0FF">
                    <a:alpha val="55000"/>
                  </a:srgbClr>
                </a:gs>
                <a:gs pos="48000">
                  <a:srgbClr val="7DA9DB">
                    <a:alpha val="60000"/>
                  </a:srgbClr>
                </a:gs>
                <a:gs pos="100000">
                  <a:srgbClr val="7DA9DB">
                    <a:alpha val="35000"/>
                  </a:srgbClr>
                </a:gs>
              </a:gsLst>
              <a:lin ang="8400000"/>
            </a:gradFill>
            <a:ln w="3600">
              <a:noFill/>
            </a:ln>
            <a:effectLst>
              <a:softEdge rad="4320"/>
            </a:effectLst>
          </p:spPr>
        </p:sp>
        <p:sp>
          <p:nvSpPr>
            <p:cNvPr id="206" name="asset_3169_11">
              <a:extLst>
                <a:ext uri="{FF2B5EF4-FFF2-40B4-BE49-F238E27FC236}">
                  <a16:creationId xmlns:a16="http://schemas.microsoft.com/office/drawing/2014/main" id="{A9E945F5-2D0A-AA2E-1ACD-61993A952D9C}"/>
                </a:ext>
              </a:extLst>
            </p:cNvPr>
            <p:cNvSpPr>
              <a:spLocks noGrp="1"/>
            </p:cNvSpPr>
            <p:nvPr/>
          </p:nvSpPr>
          <p:spPr>
            <a:xfrm>
              <a:off x="2248542" y="5660010"/>
              <a:ext cx="55818" cy="48162"/>
            </a:xfrm>
            <a:prstGeom prst="ellipse">
              <a:avLst/>
            </a:prstGeom>
            <a:gradFill>
              <a:gsLst>
                <a:gs pos="0">
                  <a:srgbClr val="E5F0FF">
                    <a:alpha val="55000"/>
                  </a:srgbClr>
                </a:gs>
                <a:gs pos="48000">
                  <a:srgbClr val="7DA9DB">
                    <a:alpha val="60000"/>
                  </a:srgbClr>
                </a:gs>
                <a:gs pos="100000">
                  <a:srgbClr val="7DA9DB">
                    <a:alpha val="35000"/>
                  </a:srgbClr>
                </a:gs>
              </a:gsLst>
              <a:lin ang="8400000"/>
            </a:gradFill>
            <a:ln w="3600">
              <a:noFill/>
            </a:ln>
            <a:effectLst>
              <a:softEdge rad="4320"/>
            </a:effectLst>
          </p:spPr>
        </p:sp>
        <p:sp>
          <p:nvSpPr>
            <p:cNvPr id="207" name="asset_3169_12">
              <a:extLst>
                <a:ext uri="{FF2B5EF4-FFF2-40B4-BE49-F238E27FC236}">
                  <a16:creationId xmlns:a16="http://schemas.microsoft.com/office/drawing/2014/main" id="{B7F29E84-B886-30D5-159D-3C6D62FBCE47}"/>
                </a:ext>
              </a:extLst>
            </p:cNvPr>
            <p:cNvSpPr>
              <a:spLocks noGrp="1"/>
            </p:cNvSpPr>
            <p:nvPr/>
          </p:nvSpPr>
          <p:spPr>
            <a:xfrm>
              <a:off x="2223060" y="5652681"/>
              <a:ext cx="53391" cy="46068"/>
            </a:xfrm>
            <a:prstGeom prst="ellipse">
              <a:avLst/>
            </a:prstGeom>
            <a:gradFill>
              <a:gsLst>
                <a:gs pos="0">
                  <a:srgbClr val="E5F0FF">
                    <a:alpha val="55000"/>
                  </a:srgbClr>
                </a:gs>
                <a:gs pos="48000">
                  <a:srgbClr val="7DA9DB">
                    <a:alpha val="60000"/>
                  </a:srgbClr>
                </a:gs>
                <a:gs pos="100000">
                  <a:srgbClr val="7DA9DB">
                    <a:alpha val="35000"/>
                  </a:srgbClr>
                </a:gs>
              </a:gsLst>
              <a:lin ang="8400000"/>
            </a:gradFill>
            <a:ln w="3600">
              <a:noFill/>
            </a:ln>
            <a:effectLst>
              <a:softEdge rad="4320"/>
            </a:effectLst>
          </p:spPr>
        </p:sp>
        <p:sp>
          <p:nvSpPr>
            <p:cNvPr id="208" name="asset_3169_13">
              <a:extLst>
                <a:ext uri="{FF2B5EF4-FFF2-40B4-BE49-F238E27FC236}">
                  <a16:creationId xmlns:a16="http://schemas.microsoft.com/office/drawing/2014/main" id="{DC656B36-95AC-9494-86BF-DD98AE107193}"/>
                </a:ext>
              </a:extLst>
            </p:cNvPr>
            <p:cNvSpPr>
              <a:spLocks noGrp="1"/>
            </p:cNvSpPr>
            <p:nvPr/>
          </p:nvSpPr>
          <p:spPr>
            <a:xfrm>
              <a:off x="2207281" y="5693871"/>
              <a:ext cx="30911" cy="26671"/>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09" name="asset_3169_14">
              <a:extLst>
                <a:ext uri="{FF2B5EF4-FFF2-40B4-BE49-F238E27FC236}">
                  <a16:creationId xmlns:a16="http://schemas.microsoft.com/office/drawing/2014/main" id="{8B6614BE-2EFE-22FC-45DD-3F57126C3E9D}"/>
                </a:ext>
              </a:extLst>
            </p:cNvPr>
            <p:cNvSpPr>
              <a:spLocks noGrp="1"/>
            </p:cNvSpPr>
            <p:nvPr/>
          </p:nvSpPr>
          <p:spPr>
            <a:xfrm>
              <a:off x="2253557" y="5697302"/>
              <a:ext cx="21556" cy="18600"/>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10" name="asset_3169_15">
              <a:extLst>
                <a:ext uri="{FF2B5EF4-FFF2-40B4-BE49-F238E27FC236}">
                  <a16:creationId xmlns:a16="http://schemas.microsoft.com/office/drawing/2014/main" id="{CA4737B2-532C-4CFE-BCF8-96B26ADA1283}"/>
                </a:ext>
              </a:extLst>
            </p:cNvPr>
            <p:cNvSpPr>
              <a:spLocks noGrp="1"/>
            </p:cNvSpPr>
            <p:nvPr/>
          </p:nvSpPr>
          <p:spPr>
            <a:xfrm>
              <a:off x="2278359" y="5672317"/>
              <a:ext cx="20931" cy="18060"/>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11" name="asset_3169_16">
              <a:extLst>
                <a:ext uri="{FF2B5EF4-FFF2-40B4-BE49-F238E27FC236}">
                  <a16:creationId xmlns:a16="http://schemas.microsoft.com/office/drawing/2014/main" id="{13A5F512-824D-1A21-9FFD-0B2D98F7E4F3}"/>
                </a:ext>
              </a:extLst>
            </p:cNvPr>
            <p:cNvSpPr>
              <a:spLocks noGrp="1"/>
            </p:cNvSpPr>
            <p:nvPr/>
          </p:nvSpPr>
          <p:spPr>
            <a:xfrm>
              <a:off x="2235959" y="5649092"/>
              <a:ext cx="26179" cy="22588"/>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12" name="asset_3169_17">
              <a:extLst>
                <a:ext uri="{FF2B5EF4-FFF2-40B4-BE49-F238E27FC236}">
                  <a16:creationId xmlns:a16="http://schemas.microsoft.com/office/drawing/2014/main" id="{80463FE9-38A4-FE81-BE48-9E226B8A2A42}"/>
                </a:ext>
              </a:extLst>
            </p:cNvPr>
            <p:cNvSpPr>
              <a:spLocks noGrp="1"/>
            </p:cNvSpPr>
            <p:nvPr/>
          </p:nvSpPr>
          <p:spPr>
            <a:xfrm>
              <a:off x="2230057" y="5690206"/>
              <a:ext cx="17158" cy="14805"/>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13" name="asset_3169_18">
              <a:extLst>
                <a:ext uri="{FF2B5EF4-FFF2-40B4-BE49-F238E27FC236}">
                  <a16:creationId xmlns:a16="http://schemas.microsoft.com/office/drawing/2014/main" id="{C50332BE-1538-B5AF-5192-638B3DC749F1}"/>
                </a:ext>
              </a:extLst>
            </p:cNvPr>
            <p:cNvSpPr>
              <a:spLocks noGrp="1"/>
            </p:cNvSpPr>
            <p:nvPr/>
          </p:nvSpPr>
          <p:spPr>
            <a:xfrm>
              <a:off x="2228799" y="5700798"/>
              <a:ext cx="17470" cy="15073"/>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14" name="asset_3169_19">
              <a:extLst>
                <a:ext uri="{FF2B5EF4-FFF2-40B4-BE49-F238E27FC236}">
                  <a16:creationId xmlns:a16="http://schemas.microsoft.com/office/drawing/2014/main" id="{C0D2B4F0-BE3E-73BF-E0D8-9A9360E57E58}"/>
                </a:ext>
              </a:extLst>
            </p:cNvPr>
            <p:cNvSpPr>
              <a:spLocks noGrp="1"/>
            </p:cNvSpPr>
            <p:nvPr/>
          </p:nvSpPr>
          <p:spPr>
            <a:xfrm>
              <a:off x="2264745" y="5672793"/>
              <a:ext cx="22335" cy="19272"/>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15" name="asset_3169_20">
              <a:extLst>
                <a:ext uri="{FF2B5EF4-FFF2-40B4-BE49-F238E27FC236}">
                  <a16:creationId xmlns:a16="http://schemas.microsoft.com/office/drawing/2014/main" id="{F6EE6D0F-422A-EDF7-B09F-8431AA88ADA0}"/>
                </a:ext>
              </a:extLst>
            </p:cNvPr>
            <p:cNvSpPr>
              <a:spLocks noGrp="1"/>
            </p:cNvSpPr>
            <p:nvPr/>
          </p:nvSpPr>
          <p:spPr>
            <a:xfrm>
              <a:off x="2247802" y="5671816"/>
              <a:ext cx="29288" cy="25271"/>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16" name="asset_3169_21">
              <a:extLst>
                <a:ext uri="{FF2B5EF4-FFF2-40B4-BE49-F238E27FC236}">
                  <a16:creationId xmlns:a16="http://schemas.microsoft.com/office/drawing/2014/main" id="{40CFF148-83BA-948D-517F-D5E1D21D7EDC}"/>
                </a:ext>
              </a:extLst>
            </p:cNvPr>
            <p:cNvSpPr>
              <a:spLocks noGrp="1"/>
            </p:cNvSpPr>
            <p:nvPr/>
          </p:nvSpPr>
          <p:spPr>
            <a:xfrm>
              <a:off x="2221472" y="5673188"/>
              <a:ext cx="24803" cy="21401"/>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17" name="asset_3169_22">
              <a:extLst>
                <a:ext uri="{FF2B5EF4-FFF2-40B4-BE49-F238E27FC236}">
                  <a16:creationId xmlns:a16="http://schemas.microsoft.com/office/drawing/2014/main" id="{390AA771-E7EF-0773-8367-A579B4F1A681}"/>
                </a:ext>
              </a:extLst>
            </p:cNvPr>
            <p:cNvSpPr>
              <a:spLocks noGrp="1"/>
            </p:cNvSpPr>
            <p:nvPr/>
          </p:nvSpPr>
          <p:spPr>
            <a:xfrm>
              <a:off x="2231057" y="5701581"/>
              <a:ext cx="27548" cy="23769"/>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18" name="asset_3169_23">
              <a:extLst>
                <a:ext uri="{FF2B5EF4-FFF2-40B4-BE49-F238E27FC236}">
                  <a16:creationId xmlns:a16="http://schemas.microsoft.com/office/drawing/2014/main" id="{0AACB4A9-6684-F035-1F34-B436DEE8F240}"/>
                </a:ext>
              </a:extLst>
            </p:cNvPr>
            <p:cNvSpPr>
              <a:spLocks noGrp="1"/>
            </p:cNvSpPr>
            <p:nvPr/>
          </p:nvSpPr>
          <p:spPr>
            <a:xfrm>
              <a:off x="2264932" y="5667506"/>
              <a:ext cx="28421" cy="24522"/>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19" name="asset_3169_24">
              <a:extLst>
                <a:ext uri="{FF2B5EF4-FFF2-40B4-BE49-F238E27FC236}">
                  <a16:creationId xmlns:a16="http://schemas.microsoft.com/office/drawing/2014/main" id="{0CBBC2B1-665D-F0BC-16CB-098D3D252FCA}"/>
                </a:ext>
              </a:extLst>
            </p:cNvPr>
            <p:cNvSpPr>
              <a:spLocks noGrp="1"/>
            </p:cNvSpPr>
            <p:nvPr/>
          </p:nvSpPr>
          <p:spPr>
            <a:xfrm>
              <a:off x="2231286" y="5661727"/>
              <a:ext cx="25293" cy="21823"/>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20" name="asset_3169_25">
              <a:extLst>
                <a:ext uri="{FF2B5EF4-FFF2-40B4-BE49-F238E27FC236}">
                  <a16:creationId xmlns:a16="http://schemas.microsoft.com/office/drawing/2014/main" id="{E837D8BF-0BA5-2A23-2ABD-F80C977E40E8}"/>
                </a:ext>
              </a:extLst>
            </p:cNvPr>
            <p:cNvSpPr>
              <a:spLocks noGrp="1"/>
            </p:cNvSpPr>
            <p:nvPr/>
          </p:nvSpPr>
          <p:spPr>
            <a:xfrm>
              <a:off x="2203520" y="5678934"/>
              <a:ext cx="26056" cy="22482"/>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21" name="asset_3169_26">
              <a:extLst>
                <a:ext uri="{FF2B5EF4-FFF2-40B4-BE49-F238E27FC236}">
                  <a16:creationId xmlns:a16="http://schemas.microsoft.com/office/drawing/2014/main" id="{DCC61B59-79ED-DE95-81AF-7B9D839ECC50}"/>
                </a:ext>
              </a:extLst>
            </p:cNvPr>
            <p:cNvSpPr>
              <a:spLocks noGrp="1"/>
            </p:cNvSpPr>
            <p:nvPr/>
          </p:nvSpPr>
          <p:spPr>
            <a:xfrm>
              <a:off x="2258761" y="5717055"/>
              <a:ext cx="20939" cy="18067"/>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22" name="asset_3169_27">
              <a:extLst>
                <a:ext uri="{FF2B5EF4-FFF2-40B4-BE49-F238E27FC236}">
                  <a16:creationId xmlns:a16="http://schemas.microsoft.com/office/drawing/2014/main" id="{03B35917-F2F9-6865-2A46-99367EB40F61}"/>
                </a:ext>
              </a:extLst>
            </p:cNvPr>
            <p:cNvSpPr>
              <a:spLocks noGrp="1"/>
            </p:cNvSpPr>
            <p:nvPr/>
          </p:nvSpPr>
          <p:spPr>
            <a:xfrm>
              <a:off x="2262469" y="5681666"/>
              <a:ext cx="24125" cy="20816"/>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23" name="asset_3169_28">
              <a:extLst>
                <a:ext uri="{FF2B5EF4-FFF2-40B4-BE49-F238E27FC236}">
                  <a16:creationId xmlns:a16="http://schemas.microsoft.com/office/drawing/2014/main" id="{224D1274-9D99-00B3-1ACF-ACC916668424}"/>
                </a:ext>
              </a:extLst>
            </p:cNvPr>
            <p:cNvSpPr>
              <a:spLocks noGrp="1"/>
            </p:cNvSpPr>
            <p:nvPr/>
          </p:nvSpPr>
          <p:spPr>
            <a:xfrm>
              <a:off x="2238082" y="5671347"/>
              <a:ext cx="27389" cy="23632"/>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24" name="asset_3169_29">
              <a:extLst>
                <a:ext uri="{FF2B5EF4-FFF2-40B4-BE49-F238E27FC236}">
                  <a16:creationId xmlns:a16="http://schemas.microsoft.com/office/drawing/2014/main" id="{3302A644-8746-0C13-B2E7-3226C9BBEF63}"/>
                </a:ext>
              </a:extLst>
            </p:cNvPr>
            <p:cNvSpPr>
              <a:spLocks noGrp="1"/>
            </p:cNvSpPr>
            <p:nvPr/>
          </p:nvSpPr>
          <p:spPr>
            <a:xfrm>
              <a:off x="2220795" y="5698579"/>
              <a:ext cx="25648" cy="22130"/>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25" name="asset_3169_30">
              <a:extLst>
                <a:ext uri="{FF2B5EF4-FFF2-40B4-BE49-F238E27FC236}">
                  <a16:creationId xmlns:a16="http://schemas.microsoft.com/office/drawing/2014/main" id="{753644FF-4A55-B052-E7F1-471065913097}"/>
                </a:ext>
              </a:extLst>
            </p:cNvPr>
            <p:cNvSpPr>
              <a:spLocks noGrp="1"/>
            </p:cNvSpPr>
            <p:nvPr/>
          </p:nvSpPr>
          <p:spPr>
            <a:xfrm>
              <a:off x="2243067" y="5723084"/>
              <a:ext cx="17688" cy="15262"/>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26" name="asset_3169_31">
              <a:extLst>
                <a:ext uri="{FF2B5EF4-FFF2-40B4-BE49-F238E27FC236}">
                  <a16:creationId xmlns:a16="http://schemas.microsoft.com/office/drawing/2014/main" id="{4DF72375-0B02-BAC7-4B4C-6CC7CB2E8E62}"/>
                </a:ext>
              </a:extLst>
            </p:cNvPr>
            <p:cNvSpPr>
              <a:spLocks noGrp="1"/>
            </p:cNvSpPr>
            <p:nvPr/>
          </p:nvSpPr>
          <p:spPr>
            <a:xfrm>
              <a:off x="2257337" y="5659622"/>
              <a:ext cx="26336" cy="22723"/>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27" name="asset_3169_32">
              <a:extLst>
                <a:ext uri="{FF2B5EF4-FFF2-40B4-BE49-F238E27FC236}">
                  <a16:creationId xmlns:a16="http://schemas.microsoft.com/office/drawing/2014/main" id="{B18CA7F6-0915-D4D3-41F0-8E1F6B534407}"/>
                </a:ext>
              </a:extLst>
            </p:cNvPr>
            <p:cNvSpPr>
              <a:spLocks noGrp="1"/>
            </p:cNvSpPr>
            <p:nvPr/>
          </p:nvSpPr>
          <p:spPr>
            <a:xfrm>
              <a:off x="2256492" y="5666095"/>
              <a:ext cx="23460" cy="20242"/>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28" name="asset_3169_33">
              <a:extLst>
                <a:ext uri="{FF2B5EF4-FFF2-40B4-BE49-F238E27FC236}">
                  <a16:creationId xmlns:a16="http://schemas.microsoft.com/office/drawing/2014/main" id="{611552FB-BA42-3E93-EFA3-4C24CC1F0FB8}"/>
                </a:ext>
              </a:extLst>
            </p:cNvPr>
            <p:cNvSpPr>
              <a:spLocks noGrp="1"/>
            </p:cNvSpPr>
            <p:nvPr/>
          </p:nvSpPr>
          <p:spPr>
            <a:xfrm>
              <a:off x="2210503" y="5688799"/>
              <a:ext cx="30840" cy="26610"/>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29" name="asset_3169_34">
              <a:extLst>
                <a:ext uri="{FF2B5EF4-FFF2-40B4-BE49-F238E27FC236}">
                  <a16:creationId xmlns:a16="http://schemas.microsoft.com/office/drawing/2014/main" id="{EA859F29-F630-E3BC-99E1-C77C41213DCF}"/>
                </a:ext>
              </a:extLst>
            </p:cNvPr>
            <p:cNvSpPr>
              <a:spLocks noGrp="1"/>
            </p:cNvSpPr>
            <p:nvPr/>
          </p:nvSpPr>
          <p:spPr>
            <a:xfrm>
              <a:off x="2236186" y="5705144"/>
              <a:ext cx="22611" cy="19510"/>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30" name="asset_3169_35">
              <a:extLst>
                <a:ext uri="{FF2B5EF4-FFF2-40B4-BE49-F238E27FC236}">
                  <a16:creationId xmlns:a16="http://schemas.microsoft.com/office/drawing/2014/main" id="{D88D6704-065C-D705-8483-213EA8A2E6EB}"/>
                </a:ext>
              </a:extLst>
            </p:cNvPr>
            <p:cNvSpPr>
              <a:spLocks noGrp="1"/>
            </p:cNvSpPr>
            <p:nvPr/>
          </p:nvSpPr>
          <p:spPr>
            <a:xfrm>
              <a:off x="2260671" y="5685042"/>
              <a:ext cx="19267" cy="16624"/>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31" name="asset_3169_36">
              <a:extLst>
                <a:ext uri="{FF2B5EF4-FFF2-40B4-BE49-F238E27FC236}">
                  <a16:creationId xmlns:a16="http://schemas.microsoft.com/office/drawing/2014/main" id="{C6B65951-8F99-B674-8132-917EA95F67CD}"/>
                </a:ext>
              </a:extLst>
            </p:cNvPr>
            <p:cNvSpPr>
              <a:spLocks noGrp="1"/>
            </p:cNvSpPr>
            <p:nvPr/>
          </p:nvSpPr>
          <p:spPr>
            <a:xfrm>
              <a:off x="2255827" y="5658297"/>
              <a:ext cx="24486" cy="21128"/>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32" name="asset_3169_37">
              <a:extLst>
                <a:ext uri="{FF2B5EF4-FFF2-40B4-BE49-F238E27FC236}">
                  <a16:creationId xmlns:a16="http://schemas.microsoft.com/office/drawing/2014/main" id="{3F953BCB-75F6-FD3B-C22D-CAA7BE3E0798}"/>
                </a:ext>
              </a:extLst>
            </p:cNvPr>
            <p:cNvSpPr>
              <a:spLocks noGrp="1"/>
            </p:cNvSpPr>
            <p:nvPr/>
          </p:nvSpPr>
          <p:spPr>
            <a:xfrm>
              <a:off x="2212444" y="5679829"/>
              <a:ext cx="19456" cy="16787"/>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33" name="asset_3169_38">
              <a:extLst>
                <a:ext uri="{FF2B5EF4-FFF2-40B4-BE49-F238E27FC236}">
                  <a16:creationId xmlns:a16="http://schemas.microsoft.com/office/drawing/2014/main" id="{7E77807D-4249-1566-63FE-53EE7140B3D8}"/>
                </a:ext>
              </a:extLst>
            </p:cNvPr>
            <p:cNvSpPr>
              <a:spLocks noGrp="1"/>
            </p:cNvSpPr>
            <p:nvPr/>
          </p:nvSpPr>
          <p:spPr>
            <a:xfrm>
              <a:off x="2240936" y="5686210"/>
              <a:ext cx="21405" cy="18469"/>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34" name="asset_3169_39">
              <a:extLst>
                <a:ext uri="{FF2B5EF4-FFF2-40B4-BE49-F238E27FC236}">
                  <a16:creationId xmlns:a16="http://schemas.microsoft.com/office/drawing/2014/main" id="{A569E658-C743-FB25-9EE9-8C7C79CC7520}"/>
                </a:ext>
              </a:extLst>
            </p:cNvPr>
            <p:cNvSpPr>
              <a:spLocks noGrp="1"/>
            </p:cNvSpPr>
            <p:nvPr/>
          </p:nvSpPr>
          <p:spPr>
            <a:xfrm>
              <a:off x="2265093" y="5678881"/>
              <a:ext cx="26532" cy="22893"/>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95" name="asset_3169_40">
              <a:extLst>
                <a:ext uri="{FF2B5EF4-FFF2-40B4-BE49-F238E27FC236}">
                  <a16:creationId xmlns:a16="http://schemas.microsoft.com/office/drawing/2014/main" id="{85EFC85C-15E7-790E-E9FE-678A8D1ECFC4}"/>
                </a:ext>
              </a:extLst>
            </p:cNvPr>
            <p:cNvSpPr>
              <a:spLocks noGrp="1"/>
            </p:cNvSpPr>
            <p:nvPr/>
          </p:nvSpPr>
          <p:spPr>
            <a:xfrm>
              <a:off x="2229701" y="5665168"/>
              <a:ext cx="29465" cy="25424"/>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96" name="asset_3169_41">
              <a:extLst>
                <a:ext uri="{FF2B5EF4-FFF2-40B4-BE49-F238E27FC236}">
                  <a16:creationId xmlns:a16="http://schemas.microsoft.com/office/drawing/2014/main" id="{CAC35FD8-F696-ED73-E6A3-99DCB5E62E28}"/>
                </a:ext>
              </a:extLst>
            </p:cNvPr>
            <p:cNvSpPr>
              <a:spLocks noGrp="1"/>
            </p:cNvSpPr>
            <p:nvPr/>
          </p:nvSpPr>
          <p:spPr>
            <a:xfrm>
              <a:off x="2222658" y="5680582"/>
              <a:ext cx="27660" cy="23866"/>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307" name="asset_3169_42">
              <a:extLst>
                <a:ext uri="{FF2B5EF4-FFF2-40B4-BE49-F238E27FC236}">
                  <a16:creationId xmlns:a16="http://schemas.microsoft.com/office/drawing/2014/main" id="{A91E13F0-BFA1-2074-ACEC-A59C47C7FF51}"/>
                </a:ext>
              </a:extLst>
            </p:cNvPr>
            <p:cNvSpPr>
              <a:spLocks noGrp="1"/>
            </p:cNvSpPr>
            <p:nvPr/>
          </p:nvSpPr>
          <p:spPr>
            <a:xfrm>
              <a:off x="2243804" y="5697201"/>
              <a:ext cx="17846" cy="15398"/>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308" name="asset_3169_43">
              <a:extLst>
                <a:ext uri="{FF2B5EF4-FFF2-40B4-BE49-F238E27FC236}">
                  <a16:creationId xmlns:a16="http://schemas.microsoft.com/office/drawing/2014/main" id="{A7FDC376-28ED-6D6E-1BF3-01CA70C7D612}"/>
                </a:ext>
              </a:extLst>
            </p:cNvPr>
            <p:cNvSpPr>
              <a:spLocks noGrp="1"/>
            </p:cNvSpPr>
            <p:nvPr/>
          </p:nvSpPr>
          <p:spPr>
            <a:xfrm>
              <a:off x="2262800" y="5690235"/>
              <a:ext cx="21180" cy="18275"/>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309" name="asset_3169_44">
              <a:extLst>
                <a:ext uri="{FF2B5EF4-FFF2-40B4-BE49-F238E27FC236}">
                  <a16:creationId xmlns:a16="http://schemas.microsoft.com/office/drawing/2014/main" id="{FAE59EC0-24F7-3B0E-F9A2-25633D246B90}"/>
                </a:ext>
              </a:extLst>
            </p:cNvPr>
            <p:cNvSpPr>
              <a:spLocks noGrp="1"/>
            </p:cNvSpPr>
            <p:nvPr/>
          </p:nvSpPr>
          <p:spPr>
            <a:xfrm>
              <a:off x="2235058" y="5658630"/>
              <a:ext cx="25840" cy="22296"/>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310" name="asset_3169_45">
              <a:extLst>
                <a:ext uri="{FF2B5EF4-FFF2-40B4-BE49-F238E27FC236}">
                  <a16:creationId xmlns:a16="http://schemas.microsoft.com/office/drawing/2014/main" id="{065BDF85-1345-B07E-30BF-A1BFAC1CA27A}"/>
                </a:ext>
              </a:extLst>
            </p:cNvPr>
            <p:cNvSpPr>
              <a:spLocks noGrp="1"/>
            </p:cNvSpPr>
            <p:nvPr/>
          </p:nvSpPr>
          <p:spPr>
            <a:xfrm>
              <a:off x="2211228" y="5681493"/>
              <a:ext cx="31451" cy="27137"/>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311" name="asset_3169_46">
              <a:extLst>
                <a:ext uri="{FF2B5EF4-FFF2-40B4-BE49-F238E27FC236}">
                  <a16:creationId xmlns:a16="http://schemas.microsoft.com/office/drawing/2014/main" id="{C06EE6F4-B733-D25C-42E9-227A5C7D899C}"/>
                </a:ext>
              </a:extLst>
            </p:cNvPr>
            <p:cNvSpPr>
              <a:spLocks noGrp="1"/>
            </p:cNvSpPr>
            <p:nvPr/>
          </p:nvSpPr>
          <p:spPr>
            <a:xfrm>
              <a:off x="2234524" y="5703451"/>
              <a:ext cx="21739" cy="18757"/>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312" name="asset_3169_47">
              <a:extLst>
                <a:ext uri="{FF2B5EF4-FFF2-40B4-BE49-F238E27FC236}">
                  <a16:creationId xmlns:a16="http://schemas.microsoft.com/office/drawing/2014/main" id="{798FBAE8-2611-5A42-9A58-3435D28BDD46}"/>
                </a:ext>
              </a:extLst>
            </p:cNvPr>
            <p:cNvSpPr>
              <a:spLocks noGrp="1"/>
            </p:cNvSpPr>
            <p:nvPr/>
          </p:nvSpPr>
          <p:spPr>
            <a:xfrm>
              <a:off x="2269639" y="5693556"/>
              <a:ext cx="19299" cy="16652"/>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313" name="asset_3169_48">
              <a:extLst>
                <a:ext uri="{FF2B5EF4-FFF2-40B4-BE49-F238E27FC236}">
                  <a16:creationId xmlns:a16="http://schemas.microsoft.com/office/drawing/2014/main" id="{84E1BA72-F7B6-6E0A-900D-0A4DCAED36CF}"/>
                </a:ext>
              </a:extLst>
            </p:cNvPr>
            <p:cNvSpPr>
              <a:spLocks noGrp="1"/>
            </p:cNvSpPr>
            <p:nvPr/>
          </p:nvSpPr>
          <p:spPr>
            <a:xfrm>
              <a:off x="2221813" y="5667367"/>
              <a:ext cx="17021" cy="14686"/>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314" name="asset_3169_49">
              <a:extLst>
                <a:ext uri="{FF2B5EF4-FFF2-40B4-BE49-F238E27FC236}">
                  <a16:creationId xmlns:a16="http://schemas.microsoft.com/office/drawing/2014/main" id="{9F2EC32C-70E6-1E38-3AFF-1E1D8C85A6C5}"/>
                </a:ext>
              </a:extLst>
            </p:cNvPr>
            <p:cNvSpPr>
              <a:spLocks noGrp="1"/>
            </p:cNvSpPr>
            <p:nvPr/>
          </p:nvSpPr>
          <p:spPr>
            <a:xfrm>
              <a:off x="2208530" y="5668919"/>
              <a:ext cx="27524" cy="23749"/>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315" name="asset_3169_50">
              <a:extLst>
                <a:ext uri="{FF2B5EF4-FFF2-40B4-BE49-F238E27FC236}">
                  <a16:creationId xmlns:a16="http://schemas.microsoft.com/office/drawing/2014/main" id="{0DDD2284-715E-A0C1-74A1-706555C74994}"/>
                </a:ext>
              </a:extLst>
            </p:cNvPr>
            <p:cNvSpPr>
              <a:spLocks noGrp="1"/>
            </p:cNvSpPr>
            <p:nvPr/>
          </p:nvSpPr>
          <p:spPr>
            <a:xfrm>
              <a:off x="2251433" y="5689815"/>
              <a:ext cx="17431" cy="15040"/>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316" name="asset_3169_51">
              <a:extLst>
                <a:ext uri="{FF2B5EF4-FFF2-40B4-BE49-F238E27FC236}">
                  <a16:creationId xmlns:a16="http://schemas.microsoft.com/office/drawing/2014/main" id="{8FBDD00A-343E-DB27-8544-D97A06212F4A}"/>
                </a:ext>
              </a:extLst>
            </p:cNvPr>
            <p:cNvSpPr>
              <a:spLocks noGrp="1"/>
            </p:cNvSpPr>
            <p:nvPr/>
          </p:nvSpPr>
          <p:spPr>
            <a:xfrm>
              <a:off x="2187720" y="5657778"/>
              <a:ext cx="125096" cy="109062"/>
            </a:xfrm>
            <a:custGeom>
              <a:avLst/>
              <a:gdLst/>
              <a:ahLst/>
              <a:cxnLst/>
              <a:rect l="0" t="0" r="0" b="0"/>
              <a:pathLst>
                <a:path w="125096" h="109062">
                  <a:moveTo>
                    <a:pt x="0" y="0"/>
                  </a:moveTo>
                  <a:lnTo>
                    <a:pt x="125096" y="0"/>
                  </a:lnTo>
                  <a:lnTo>
                    <a:pt x="125096" y="109062"/>
                  </a:lnTo>
                  <a:lnTo>
                    <a:pt x="0" y="109062"/>
                  </a:lnTo>
                  <a:close/>
                </a:path>
              </a:pathLst>
            </a:custGeom>
            <a:noFill/>
            <a:ln w="3600">
              <a:solidFill>
                <a:srgbClr val="8AB3D9"/>
              </a:solidFill>
            </a:ln>
          </p:spPr>
        </p:sp>
      </p:grpSp>
      <p:sp>
        <p:nvSpPr>
          <p:cNvPr id="317" name="TextBox 12306">
            <a:extLst>
              <a:ext uri="{FF2B5EF4-FFF2-40B4-BE49-F238E27FC236}">
                <a16:creationId xmlns:a16="http://schemas.microsoft.com/office/drawing/2014/main" id="{E4CE5BC7-52E9-C008-0351-47853E03B881}"/>
              </a:ext>
            </a:extLst>
          </p:cNvPr>
          <p:cNvSpPr txBox="1"/>
          <p:nvPr/>
        </p:nvSpPr>
        <p:spPr>
          <a:xfrm>
            <a:off x="5276711" y="1960854"/>
            <a:ext cx="819150" cy="93744"/>
          </a:xfrm>
          <a:prstGeom prst="rect">
            <a:avLst/>
          </a:prstGeom>
          <a:noFill/>
        </p:spPr>
        <p:txBody>
          <a:bodyPr wrap="square" lIns="0" tIns="0" rIns="0" bIns="0" anchor="ctr">
            <a:spAutoFit/>
          </a:bodyPr>
          <a:lstStyle/>
          <a:p>
            <a:pPr algn="l">
              <a:lnSpc>
                <a:spcPct val="105000"/>
              </a:lnSpc>
            </a:pPr>
            <a:r>
              <a:rPr sz="623" b="1" dirty="0" err="1">
                <a:solidFill>
                  <a:srgbClr val="263442"/>
                </a:solidFill>
                <a:latin typeface="Arial"/>
              </a:rPr>
              <a:t>DG-PocketXMol</a:t>
            </a:r>
            <a:endParaRPr sz="623" b="1" dirty="0">
              <a:solidFill>
                <a:srgbClr val="263442"/>
              </a:solidFill>
              <a:latin typeface="Arial"/>
            </a:endParaRPr>
          </a:p>
        </p:txBody>
      </p:sp>
      <p:sp>
        <p:nvSpPr>
          <p:cNvPr id="318" name="TextBox 12307">
            <a:extLst>
              <a:ext uri="{FF2B5EF4-FFF2-40B4-BE49-F238E27FC236}">
                <a16:creationId xmlns:a16="http://schemas.microsoft.com/office/drawing/2014/main" id="{A853E2BE-3AF0-5BE2-A2A4-4BA11F9E9B9E}"/>
              </a:ext>
            </a:extLst>
          </p:cNvPr>
          <p:cNvSpPr txBox="1"/>
          <p:nvPr/>
        </p:nvSpPr>
        <p:spPr>
          <a:xfrm>
            <a:off x="5277204" y="2115727"/>
            <a:ext cx="819150" cy="163763"/>
          </a:xfrm>
          <a:prstGeom prst="rect">
            <a:avLst/>
          </a:prstGeom>
          <a:noFill/>
        </p:spPr>
        <p:txBody>
          <a:bodyPr wrap="square" lIns="0" tIns="0" rIns="0" bIns="0" anchor="ctr">
            <a:spAutoFit/>
          </a:bodyPr>
          <a:lstStyle/>
          <a:p>
            <a:pPr algn="l">
              <a:lnSpc>
                <a:spcPct val="96000"/>
              </a:lnSpc>
            </a:pPr>
            <a:r>
              <a:rPr sz="554" dirty="0">
                <a:solidFill>
                  <a:srgbClr val="263442"/>
                </a:solidFill>
                <a:latin typeface="Arial"/>
              </a:rPr>
              <a:t>Density-conditioned</a:t>
            </a:r>
            <a:endParaRPr lang="en-US" sz="554" dirty="0">
              <a:solidFill>
                <a:srgbClr val="263442"/>
              </a:solidFill>
              <a:latin typeface="Arial"/>
            </a:endParaRPr>
          </a:p>
          <a:p>
            <a:pPr algn="l">
              <a:lnSpc>
                <a:spcPct val="96000"/>
              </a:lnSpc>
            </a:pPr>
            <a:r>
              <a:rPr sz="554" dirty="0">
                <a:solidFill>
                  <a:srgbClr val="263442"/>
                </a:solidFill>
                <a:latin typeface="Arial"/>
              </a:rPr>
              <a:t>fine-tuning</a:t>
            </a:r>
          </a:p>
        </p:txBody>
      </p:sp>
      <p:sp>
        <p:nvSpPr>
          <p:cNvPr id="319" name="文本框 318">
            <a:extLst>
              <a:ext uri="{FF2B5EF4-FFF2-40B4-BE49-F238E27FC236}">
                <a16:creationId xmlns:a16="http://schemas.microsoft.com/office/drawing/2014/main" id="{63650389-D431-40CF-1BF5-59536E3CCAD0}"/>
              </a:ext>
            </a:extLst>
          </p:cNvPr>
          <p:cNvSpPr txBox="1"/>
          <p:nvPr/>
        </p:nvSpPr>
        <p:spPr>
          <a:xfrm>
            <a:off x="5519338" y="3396595"/>
            <a:ext cx="369012" cy="246221"/>
          </a:xfrm>
          <a:prstGeom prst="rect">
            <a:avLst/>
          </a:prstGeom>
          <a:noFill/>
        </p:spPr>
        <p:txBody>
          <a:bodyPr wrap="none" rtlCol="0">
            <a:spAutoFit/>
          </a:bodyPr>
          <a:lstStyle/>
          <a:p>
            <a:r>
              <a:rPr lang="en-US" altLang="zh-CN" sz="1000" dirty="0"/>
              <a:t>……</a:t>
            </a:r>
            <a:endParaRPr lang="zh-CN" altLang="en-US" sz="1000" dirty="0"/>
          </a:p>
        </p:txBody>
      </p:sp>
      <p:pic>
        <p:nvPicPr>
          <p:cNvPr id="50432" name="图片 50431">
            <a:extLst>
              <a:ext uri="{FF2B5EF4-FFF2-40B4-BE49-F238E27FC236}">
                <a16:creationId xmlns:a16="http://schemas.microsoft.com/office/drawing/2014/main" id="{FE072BFF-C95E-8D13-DC20-EFDFFD2C526A}"/>
              </a:ext>
            </a:extLst>
          </p:cNvPr>
          <p:cNvPicPr>
            <a:picLocks noChangeAspect="1"/>
          </p:cNvPicPr>
          <p:nvPr/>
        </p:nvPicPr>
        <p:blipFill>
          <a:blip r:embed="rId13"/>
          <a:stretch/>
        </p:blipFill>
        <p:spPr>
          <a:xfrm>
            <a:off x="5109601" y="3645105"/>
            <a:ext cx="814847" cy="588501"/>
          </a:xfrm>
          <a:prstGeom prst="rect">
            <a:avLst/>
          </a:prstGeom>
        </p:spPr>
      </p:pic>
    </p:spTree>
    <p:extLst>
      <p:ext uri="{BB962C8B-B14F-4D97-AF65-F5344CB8AC3E}">
        <p14:creationId xmlns:p14="http://schemas.microsoft.com/office/powerpoint/2010/main" val="3734909944"/>
      </p:ext>
    </p:extLst>
  </p:cSld>
  <p:clrMapOvr>
    <a:masterClrMapping/>
  </p:clrMapOvr>
  <p:extLst>
    <p:ext uri="{6950BFC3-D8DA-4A85-94F7-54DA5524770B}">
      <p188:commentRel xmlns:p188="http://schemas.microsoft.com/office/powerpoint/2018/8/main" r:id="rId3"/>
    </p:ext>
  </p:extLs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2354E4-C92C-E5E1-048A-CFE6234C4467}"/>
            </a:ext>
          </a:extLst>
        </p:cNvPr>
        <p:cNvGrpSpPr/>
        <p:nvPr/>
      </p:nvGrpSpPr>
      <p:grpSpPr>
        <a:xfrm>
          <a:off x="0" y="0"/>
          <a:ext cx="0" cy="0"/>
          <a:chOff x="0" y="0"/>
          <a:chExt cx="0" cy="0"/>
        </a:xfrm>
      </p:grpSpPr>
      <p:sp>
        <p:nvSpPr>
          <p:cNvPr id="2" name="Panel | Find background">
            <a:extLst>
              <a:ext uri="{FF2B5EF4-FFF2-40B4-BE49-F238E27FC236}">
                <a16:creationId xmlns:a16="http://schemas.microsoft.com/office/drawing/2014/main" id="{DB346E3B-300E-D9E1-EBB9-3C3DE0A9349F}"/>
              </a:ext>
            </a:extLst>
          </p:cNvPr>
          <p:cNvSpPr/>
          <p:nvPr/>
        </p:nvSpPr>
        <p:spPr>
          <a:xfrm>
            <a:off x="450985" y="89164"/>
            <a:ext cx="4381930" cy="1756103"/>
          </a:xfrm>
          <a:prstGeom prst="roundRect">
            <a:avLst>
              <a:gd name="adj" fmla="val 2000"/>
            </a:avLst>
          </a:prstGeom>
          <a:solidFill>
            <a:srgbClr val="ECF1F8"/>
          </a:solidFill>
          <a:ln w="9720">
            <a:solidFill>
              <a:srgbClr val="CFDBE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dirty="0"/>
          </a:p>
        </p:txBody>
      </p:sp>
      <p:sp>
        <p:nvSpPr>
          <p:cNvPr id="3" name="Panel | Match background">
            <a:extLst>
              <a:ext uri="{FF2B5EF4-FFF2-40B4-BE49-F238E27FC236}">
                <a16:creationId xmlns:a16="http://schemas.microsoft.com/office/drawing/2014/main" id="{EF0B267D-90C0-38A3-D16B-0DD3D65D62EB}"/>
              </a:ext>
            </a:extLst>
          </p:cNvPr>
          <p:cNvSpPr/>
          <p:nvPr/>
        </p:nvSpPr>
        <p:spPr>
          <a:xfrm>
            <a:off x="450985" y="1884235"/>
            <a:ext cx="4381930" cy="2532204"/>
          </a:xfrm>
          <a:prstGeom prst="roundRect">
            <a:avLst>
              <a:gd name="adj" fmla="val 2000"/>
            </a:avLst>
          </a:prstGeom>
          <a:solidFill>
            <a:srgbClr val="F2F9F6"/>
          </a:solidFill>
          <a:ln w="9720">
            <a:solidFill>
              <a:srgbClr val="C8E2D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dirty="0"/>
          </a:p>
        </p:txBody>
      </p:sp>
      <p:grpSp>
        <p:nvGrpSpPr>
          <p:cNvPr id="5" name="Input boundary layer">
            <a:extLst>
              <a:ext uri="{FF2B5EF4-FFF2-40B4-BE49-F238E27FC236}">
                <a16:creationId xmlns:a16="http://schemas.microsoft.com/office/drawing/2014/main" id="{AB3BC022-A619-B6D5-D09D-29711F1D2923}"/>
              </a:ext>
            </a:extLst>
          </p:cNvPr>
          <p:cNvGrpSpPr/>
          <p:nvPr/>
        </p:nvGrpSpPr>
        <p:grpSpPr>
          <a:xfrm>
            <a:off x="592345" y="2245791"/>
            <a:ext cx="1345044" cy="1068019"/>
            <a:chOff x="1393071" y="5281627"/>
            <a:chExt cx="3163259" cy="2511755"/>
          </a:xfrm>
        </p:grpSpPr>
        <p:sp>
          <p:nvSpPr>
            <p:cNvPr id="1478" name="V8 Match input boundary">
              <a:extLst>
                <a:ext uri="{FF2B5EF4-FFF2-40B4-BE49-F238E27FC236}">
                  <a16:creationId xmlns:a16="http://schemas.microsoft.com/office/drawing/2014/main" id="{7F1A5F3D-BB29-8794-C8AA-653684DEA06A}"/>
                </a:ext>
              </a:extLst>
            </p:cNvPr>
            <p:cNvSpPr/>
            <p:nvPr/>
          </p:nvSpPr>
          <p:spPr>
            <a:xfrm>
              <a:off x="1393071" y="5281627"/>
              <a:ext cx="3163259" cy="2511755"/>
            </a:xfrm>
            <a:custGeom>
              <a:avLst/>
              <a:gdLst/>
              <a:ahLst/>
              <a:cxnLst/>
              <a:rect l="l" t="t" r="r" b="b"/>
              <a:pathLst>
                <a:path w="1345044" h="1068019">
                  <a:moveTo>
                    <a:pt x="31750" y="0"/>
                  </a:moveTo>
                  <a:lnTo>
                    <a:pt x="893699" y="0"/>
                  </a:lnTo>
                  <a:cubicBezTo>
                    <a:pt x="911162" y="0"/>
                    <a:pt x="925449" y="14288"/>
                    <a:pt x="925449" y="31750"/>
                  </a:cubicBezTo>
                  <a:lnTo>
                    <a:pt x="925449" y="489521"/>
                  </a:lnTo>
                  <a:cubicBezTo>
                    <a:pt x="925449" y="506984"/>
                    <a:pt x="939736" y="521271"/>
                    <a:pt x="957199" y="521271"/>
                  </a:cubicBezTo>
                  <a:lnTo>
                    <a:pt x="1313294" y="521271"/>
                  </a:lnTo>
                  <a:cubicBezTo>
                    <a:pt x="1330757" y="521271"/>
                    <a:pt x="1345044" y="535559"/>
                    <a:pt x="1345044" y="553021"/>
                  </a:cubicBezTo>
                  <a:lnTo>
                    <a:pt x="1345044" y="1036269"/>
                  </a:lnTo>
                  <a:cubicBezTo>
                    <a:pt x="1345044" y="1053732"/>
                    <a:pt x="1330757" y="1068019"/>
                    <a:pt x="1313294" y="1068019"/>
                  </a:cubicBezTo>
                  <a:lnTo>
                    <a:pt x="31750" y="1068019"/>
                  </a:lnTo>
                  <a:cubicBezTo>
                    <a:pt x="14288" y="1068019"/>
                    <a:pt x="0" y="1053732"/>
                    <a:pt x="0" y="1036269"/>
                  </a:cubicBezTo>
                  <a:lnTo>
                    <a:pt x="0" y="31750"/>
                  </a:lnTo>
                  <a:cubicBezTo>
                    <a:pt x="0" y="14288"/>
                    <a:pt x="14288" y="0"/>
                    <a:pt x="31750" y="0"/>
                  </a:cubicBezTo>
                  <a:close/>
                </a:path>
              </a:pathLst>
            </a:custGeom>
            <a:solidFill>
              <a:schemeClr val="bg1"/>
            </a:solidFill>
            <a:ln w="7290" cap="rnd">
              <a:solidFill>
                <a:srgbClr val="BEC7CE"/>
              </a:solidFill>
              <a:prstDash val="solid"/>
              <a:round/>
            </a:ln>
          </p:spPr>
          <p:txBody>
            <a:bodyPr/>
            <a:lstStyle/>
            <a:p>
              <a:endParaRPr lang="zh-CN" altLang="en-US" dirty="0"/>
            </a:p>
          </p:txBody>
        </p:sp>
      </p:grpSp>
      <p:sp>
        <p:nvSpPr>
          <p:cNvPr id="7" name="TextBox 4">
            <a:extLst>
              <a:ext uri="{FF2B5EF4-FFF2-40B4-BE49-F238E27FC236}">
                <a16:creationId xmlns:a16="http://schemas.microsoft.com/office/drawing/2014/main" id="{2AB167FA-A651-FE28-3F2A-F3810FB27DAE}"/>
              </a:ext>
            </a:extLst>
          </p:cNvPr>
          <p:cNvSpPr txBox="1"/>
          <p:nvPr/>
        </p:nvSpPr>
        <p:spPr>
          <a:xfrm>
            <a:off x="519056" y="107111"/>
            <a:ext cx="174028" cy="149656"/>
          </a:xfrm>
          <a:prstGeom prst="rect">
            <a:avLst/>
          </a:prstGeom>
          <a:noFill/>
        </p:spPr>
        <p:txBody>
          <a:bodyPr wrap="square" lIns="0" tIns="0" rIns="0" bIns="0" anchor="ctr">
            <a:spAutoFit/>
          </a:bodyPr>
          <a:lstStyle/>
          <a:p>
            <a:pPr algn="l">
              <a:lnSpc>
                <a:spcPct val="105000"/>
              </a:lnSpc>
            </a:pPr>
            <a:r>
              <a:rPr sz="995" b="1" dirty="0">
                <a:solidFill>
                  <a:srgbClr val="263442"/>
                </a:solidFill>
                <a:latin typeface="Arial"/>
              </a:rPr>
              <a:t>a</a:t>
            </a:r>
          </a:p>
        </p:txBody>
      </p:sp>
      <p:sp>
        <p:nvSpPr>
          <p:cNvPr id="8" name="TextBox 5">
            <a:extLst>
              <a:ext uri="{FF2B5EF4-FFF2-40B4-BE49-F238E27FC236}">
                <a16:creationId xmlns:a16="http://schemas.microsoft.com/office/drawing/2014/main" id="{DE5C921A-3CC7-8AD9-5A81-6027BADBA2AC}"/>
              </a:ext>
            </a:extLst>
          </p:cNvPr>
          <p:cNvSpPr txBox="1"/>
          <p:nvPr/>
        </p:nvSpPr>
        <p:spPr>
          <a:xfrm>
            <a:off x="677263" y="124527"/>
            <a:ext cx="2531320" cy="123624"/>
          </a:xfrm>
          <a:prstGeom prst="rect">
            <a:avLst/>
          </a:prstGeom>
          <a:noFill/>
        </p:spPr>
        <p:txBody>
          <a:bodyPr wrap="square" lIns="0" tIns="0" rIns="0" bIns="0" anchor="ctr">
            <a:spAutoFit/>
          </a:bodyPr>
          <a:lstStyle/>
          <a:p>
            <a:pPr algn="l">
              <a:lnSpc>
                <a:spcPct val="105000"/>
              </a:lnSpc>
            </a:pPr>
            <a:r>
              <a:rPr sz="822">
                <a:solidFill>
                  <a:srgbClr val="263442"/>
                </a:solidFill>
                <a:latin typeface="Arial"/>
              </a:rPr>
              <a:t>Find: locate ligand regions</a:t>
            </a:r>
          </a:p>
        </p:txBody>
      </p:sp>
      <p:sp>
        <p:nvSpPr>
          <p:cNvPr id="9" name="TextBox 6">
            <a:extLst>
              <a:ext uri="{FF2B5EF4-FFF2-40B4-BE49-F238E27FC236}">
                <a16:creationId xmlns:a16="http://schemas.microsoft.com/office/drawing/2014/main" id="{E5BBDF5A-9389-70B6-3282-3E68DDC58A6E}"/>
              </a:ext>
            </a:extLst>
          </p:cNvPr>
          <p:cNvSpPr txBox="1"/>
          <p:nvPr/>
        </p:nvSpPr>
        <p:spPr>
          <a:xfrm>
            <a:off x="519056" y="1909702"/>
            <a:ext cx="174028" cy="149656"/>
          </a:xfrm>
          <a:prstGeom prst="rect">
            <a:avLst/>
          </a:prstGeom>
          <a:noFill/>
        </p:spPr>
        <p:txBody>
          <a:bodyPr wrap="square" lIns="0" tIns="0" rIns="0" bIns="0" anchor="ctr">
            <a:spAutoFit/>
          </a:bodyPr>
          <a:lstStyle/>
          <a:p>
            <a:pPr>
              <a:lnSpc>
                <a:spcPct val="105000"/>
              </a:lnSpc>
            </a:pPr>
            <a:r>
              <a:rPr sz="995" b="1" dirty="0">
                <a:solidFill>
                  <a:srgbClr val="263442"/>
                </a:solidFill>
                <a:latin typeface="Arial"/>
              </a:rPr>
              <a:t>b</a:t>
            </a:r>
          </a:p>
        </p:txBody>
      </p:sp>
      <p:sp>
        <p:nvSpPr>
          <p:cNvPr id="10" name="TextBox 7">
            <a:extLst>
              <a:ext uri="{FF2B5EF4-FFF2-40B4-BE49-F238E27FC236}">
                <a16:creationId xmlns:a16="http://schemas.microsoft.com/office/drawing/2014/main" id="{86AFA4D9-D92A-7BEC-125C-E82660B7FDE4}"/>
              </a:ext>
            </a:extLst>
          </p:cNvPr>
          <p:cNvSpPr txBox="1"/>
          <p:nvPr/>
        </p:nvSpPr>
        <p:spPr>
          <a:xfrm>
            <a:off x="677200" y="1931954"/>
            <a:ext cx="2847735" cy="123624"/>
          </a:xfrm>
          <a:prstGeom prst="rect">
            <a:avLst/>
          </a:prstGeom>
          <a:noFill/>
        </p:spPr>
        <p:txBody>
          <a:bodyPr wrap="square" lIns="0" tIns="0" rIns="0" bIns="0" anchor="ctr">
            <a:spAutoFit/>
          </a:bodyPr>
          <a:lstStyle/>
          <a:p>
            <a:pPr algn="l">
              <a:lnSpc>
                <a:spcPct val="105000"/>
              </a:lnSpc>
            </a:pPr>
            <a:r>
              <a:rPr sz="822" dirty="0">
                <a:solidFill>
                  <a:srgbClr val="263442"/>
                </a:solidFill>
                <a:latin typeface="Arial"/>
              </a:rPr>
              <a:t>Match: candidate-to-identity assignment</a:t>
            </a:r>
          </a:p>
        </p:txBody>
      </p:sp>
      <p:sp>
        <p:nvSpPr>
          <p:cNvPr id="13" name="Find | Density card">
            <a:extLst>
              <a:ext uri="{FF2B5EF4-FFF2-40B4-BE49-F238E27FC236}">
                <a16:creationId xmlns:a16="http://schemas.microsoft.com/office/drawing/2014/main" id="{728A8988-283B-D582-8EF1-867D8F0CBEE4}"/>
              </a:ext>
            </a:extLst>
          </p:cNvPr>
          <p:cNvSpPr/>
          <p:nvPr/>
        </p:nvSpPr>
        <p:spPr>
          <a:xfrm>
            <a:off x="540853" y="284774"/>
            <a:ext cx="488504" cy="680292"/>
          </a:xfrm>
          <a:prstGeom prst="roundRect">
            <a:avLst>
              <a:gd name="adj" fmla="val 6000"/>
            </a:avLst>
          </a:prstGeom>
          <a:solidFill>
            <a:schemeClr val="bg1"/>
          </a:solidFill>
          <a:ln w="7290">
            <a:solidFill>
              <a:srgbClr val="BEC7C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14" name="TextBox 11">
            <a:extLst>
              <a:ext uri="{FF2B5EF4-FFF2-40B4-BE49-F238E27FC236}">
                <a16:creationId xmlns:a16="http://schemas.microsoft.com/office/drawing/2014/main" id="{DE266356-4BF3-B262-E3A5-AEAEFA818FBA}"/>
              </a:ext>
            </a:extLst>
          </p:cNvPr>
          <p:cNvSpPr txBox="1"/>
          <p:nvPr/>
        </p:nvSpPr>
        <p:spPr>
          <a:xfrm>
            <a:off x="460928" y="318294"/>
            <a:ext cx="664471" cy="101503"/>
          </a:xfrm>
          <a:prstGeom prst="rect">
            <a:avLst/>
          </a:prstGeom>
          <a:noFill/>
        </p:spPr>
        <p:txBody>
          <a:bodyPr wrap="square" lIns="0" tIns="0" rIns="0" bIns="0" anchor="ctr">
            <a:spAutoFit/>
          </a:bodyPr>
          <a:lstStyle/>
          <a:p>
            <a:pPr algn="ctr">
              <a:lnSpc>
                <a:spcPct val="105000"/>
              </a:lnSpc>
            </a:pPr>
            <a:r>
              <a:rPr sz="675" dirty="0">
                <a:solidFill>
                  <a:srgbClr val="263442"/>
                </a:solidFill>
                <a:latin typeface="Arial"/>
              </a:rPr>
              <a:t>Density</a:t>
            </a:r>
          </a:p>
        </p:txBody>
      </p:sp>
      <p:sp>
        <p:nvSpPr>
          <p:cNvPr id="235" name="Find | Receptor card">
            <a:extLst>
              <a:ext uri="{FF2B5EF4-FFF2-40B4-BE49-F238E27FC236}">
                <a16:creationId xmlns:a16="http://schemas.microsoft.com/office/drawing/2014/main" id="{05ACE958-1CAA-2989-F795-8FC5B03849BF}"/>
              </a:ext>
            </a:extLst>
          </p:cNvPr>
          <p:cNvSpPr/>
          <p:nvPr/>
        </p:nvSpPr>
        <p:spPr>
          <a:xfrm>
            <a:off x="540852" y="1028349"/>
            <a:ext cx="489611" cy="727754"/>
          </a:xfrm>
          <a:prstGeom prst="roundRect">
            <a:avLst>
              <a:gd name="adj" fmla="val 6000"/>
            </a:avLst>
          </a:prstGeom>
          <a:solidFill>
            <a:schemeClr val="bg1"/>
          </a:solidFill>
          <a:ln w="7290">
            <a:solidFill>
              <a:srgbClr val="BEC7C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236" name="TextBox 6212">
            <a:extLst>
              <a:ext uri="{FF2B5EF4-FFF2-40B4-BE49-F238E27FC236}">
                <a16:creationId xmlns:a16="http://schemas.microsoft.com/office/drawing/2014/main" id="{A18F61E8-2999-61A5-5D90-2994D6B7EDD7}"/>
              </a:ext>
            </a:extLst>
          </p:cNvPr>
          <p:cNvSpPr txBox="1"/>
          <p:nvPr/>
        </p:nvSpPr>
        <p:spPr>
          <a:xfrm>
            <a:off x="434702" y="1053973"/>
            <a:ext cx="664471" cy="101503"/>
          </a:xfrm>
          <a:prstGeom prst="rect">
            <a:avLst/>
          </a:prstGeom>
          <a:noFill/>
        </p:spPr>
        <p:txBody>
          <a:bodyPr wrap="square" lIns="0" tIns="0" rIns="0" bIns="0" anchor="ctr">
            <a:spAutoFit/>
          </a:bodyPr>
          <a:lstStyle/>
          <a:p>
            <a:pPr algn="ctr">
              <a:lnSpc>
                <a:spcPct val="105000"/>
              </a:lnSpc>
            </a:pPr>
            <a:r>
              <a:rPr sz="675" dirty="0">
                <a:solidFill>
                  <a:srgbClr val="263442"/>
                </a:solidFill>
                <a:latin typeface="Arial"/>
              </a:rPr>
              <a:t>Receptor</a:t>
            </a:r>
          </a:p>
        </p:txBody>
      </p:sp>
      <p:sp>
        <p:nvSpPr>
          <p:cNvPr id="237" name="Find | 3D voxel U-Net box">
            <a:extLst>
              <a:ext uri="{FF2B5EF4-FFF2-40B4-BE49-F238E27FC236}">
                <a16:creationId xmlns:a16="http://schemas.microsoft.com/office/drawing/2014/main" id="{F58B70C4-9603-0A1A-B2A4-FDB7BEAA2FC8}"/>
              </a:ext>
            </a:extLst>
          </p:cNvPr>
          <p:cNvSpPr/>
          <p:nvPr/>
        </p:nvSpPr>
        <p:spPr>
          <a:xfrm>
            <a:off x="1932849" y="284774"/>
            <a:ext cx="2183263" cy="743575"/>
          </a:xfrm>
          <a:prstGeom prst="roundRect">
            <a:avLst>
              <a:gd name="adj" fmla="val 5000"/>
            </a:avLst>
          </a:prstGeom>
          <a:solidFill>
            <a:schemeClr val="bg1"/>
          </a:solidFill>
          <a:ln w="7290">
            <a:solidFill>
              <a:srgbClr val="BEC7C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238" name="TextBox 6223">
            <a:extLst>
              <a:ext uri="{FF2B5EF4-FFF2-40B4-BE49-F238E27FC236}">
                <a16:creationId xmlns:a16="http://schemas.microsoft.com/office/drawing/2014/main" id="{6577B360-8EDA-93A1-7C11-AE6719FDCE1C}"/>
              </a:ext>
            </a:extLst>
          </p:cNvPr>
          <p:cNvSpPr txBox="1"/>
          <p:nvPr/>
        </p:nvSpPr>
        <p:spPr>
          <a:xfrm>
            <a:off x="1932849" y="310561"/>
            <a:ext cx="2183263" cy="106632"/>
          </a:xfrm>
          <a:prstGeom prst="rect">
            <a:avLst/>
          </a:prstGeom>
          <a:noFill/>
        </p:spPr>
        <p:txBody>
          <a:bodyPr wrap="square" lIns="0" tIns="0" rIns="0" bIns="0" anchor="ctr">
            <a:spAutoFit/>
          </a:bodyPr>
          <a:lstStyle/>
          <a:p>
            <a:pPr algn="ctr">
              <a:lnSpc>
                <a:spcPct val="105000"/>
              </a:lnSpc>
            </a:pPr>
            <a:r>
              <a:rPr sz="709">
                <a:solidFill>
                  <a:srgbClr val="263442"/>
                </a:solidFill>
                <a:latin typeface="Arial"/>
              </a:rPr>
              <a:t>3D voxel U-Net</a:t>
            </a:r>
          </a:p>
        </p:txBody>
      </p:sp>
      <p:sp>
        <p:nvSpPr>
          <p:cNvPr id="239" name="TextBox 6224">
            <a:extLst>
              <a:ext uri="{FF2B5EF4-FFF2-40B4-BE49-F238E27FC236}">
                <a16:creationId xmlns:a16="http://schemas.microsoft.com/office/drawing/2014/main" id="{DB732642-3B6F-C7FC-2034-CAD03D534986}"/>
              </a:ext>
            </a:extLst>
          </p:cNvPr>
          <p:cNvSpPr txBox="1"/>
          <p:nvPr/>
        </p:nvSpPr>
        <p:spPr>
          <a:xfrm>
            <a:off x="1932704" y="415407"/>
            <a:ext cx="2183414" cy="84510"/>
          </a:xfrm>
          <a:prstGeom prst="rect">
            <a:avLst/>
          </a:prstGeom>
          <a:noFill/>
        </p:spPr>
        <p:txBody>
          <a:bodyPr wrap="square" lIns="0" tIns="0" rIns="0" bIns="0" anchor="ctr">
            <a:spAutoFit/>
          </a:bodyPr>
          <a:lstStyle/>
          <a:p>
            <a:pPr algn="ctr">
              <a:lnSpc>
                <a:spcPct val="105000"/>
              </a:lnSpc>
            </a:pPr>
            <a:r>
              <a:rPr sz="562" i="1" dirty="0">
                <a:solidFill>
                  <a:srgbClr val="263442"/>
                </a:solidFill>
                <a:latin typeface="Arial"/>
              </a:rPr>
              <a:t>Skip connections</a:t>
            </a:r>
          </a:p>
        </p:txBody>
      </p:sp>
      <p:sp>
        <p:nvSpPr>
          <p:cNvPr id="240" name="TextBox 10003">
            <a:extLst>
              <a:ext uri="{FF2B5EF4-FFF2-40B4-BE49-F238E27FC236}">
                <a16:creationId xmlns:a16="http://schemas.microsoft.com/office/drawing/2014/main" id="{D65BB1FE-2027-B89F-BA1D-199884E36E74}"/>
              </a:ext>
            </a:extLst>
          </p:cNvPr>
          <p:cNvSpPr txBox="1"/>
          <p:nvPr/>
        </p:nvSpPr>
        <p:spPr>
          <a:xfrm>
            <a:off x="2098966" y="905035"/>
            <a:ext cx="553726" cy="88422"/>
          </a:xfrm>
          <a:prstGeom prst="rect">
            <a:avLst/>
          </a:prstGeom>
          <a:noFill/>
        </p:spPr>
        <p:txBody>
          <a:bodyPr wrap="square" lIns="0" tIns="0" rIns="0" bIns="0" anchor="ctr">
            <a:spAutoFit/>
          </a:bodyPr>
          <a:lstStyle/>
          <a:p>
            <a:pPr algn="ctr">
              <a:lnSpc>
                <a:spcPct val="105000"/>
              </a:lnSpc>
            </a:pPr>
            <a:r>
              <a:rPr sz="588">
                <a:solidFill>
                  <a:srgbClr val="263442"/>
                </a:solidFill>
                <a:latin typeface="Arial"/>
              </a:rPr>
              <a:t>Encoder</a:t>
            </a:r>
          </a:p>
        </p:txBody>
      </p:sp>
      <p:sp>
        <p:nvSpPr>
          <p:cNvPr id="241" name="TextBox 10004">
            <a:extLst>
              <a:ext uri="{FF2B5EF4-FFF2-40B4-BE49-F238E27FC236}">
                <a16:creationId xmlns:a16="http://schemas.microsoft.com/office/drawing/2014/main" id="{1F7EB05E-C62E-F8B7-9F66-B70ACF573028}"/>
              </a:ext>
            </a:extLst>
          </p:cNvPr>
          <p:cNvSpPr txBox="1"/>
          <p:nvPr/>
        </p:nvSpPr>
        <p:spPr>
          <a:xfrm>
            <a:off x="2747617" y="905035"/>
            <a:ext cx="553726" cy="88422"/>
          </a:xfrm>
          <a:prstGeom prst="rect">
            <a:avLst/>
          </a:prstGeom>
          <a:noFill/>
        </p:spPr>
        <p:txBody>
          <a:bodyPr wrap="square" lIns="0" tIns="0" rIns="0" bIns="0" anchor="ctr">
            <a:spAutoFit/>
          </a:bodyPr>
          <a:lstStyle/>
          <a:p>
            <a:pPr algn="ctr">
              <a:lnSpc>
                <a:spcPct val="105000"/>
              </a:lnSpc>
            </a:pPr>
            <a:r>
              <a:rPr sz="588">
                <a:solidFill>
                  <a:srgbClr val="263442"/>
                </a:solidFill>
                <a:latin typeface="Arial"/>
              </a:rPr>
              <a:t>Bottleneck</a:t>
            </a:r>
          </a:p>
        </p:txBody>
      </p:sp>
      <p:sp>
        <p:nvSpPr>
          <p:cNvPr id="242" name="TextBox 10005">
            <a:extLst>
              <a:ext uri="{FF2B5EF4-FFF2-40B4-BE49-F238E27FC236}">
                <a16:creationId xmlns:a16="http://schemas.microsoft.com/office/drawing/2014/main" id="{087058EA-52E9-65B2-13F0-840AA525CDB6}"/>
              </a:ext>
            </a:extLst>
          </p:cNvPr>
          <p:cNvSpPr txBox="1"/>
          <p:nvPr/>
        </p:nvSpPr>
        <p:spPr>
          <a:xfrm>
            <a:off x="3396268" y="905035"/>
            <a:ext cx="553726" cy="88422"/>
          </a:xfrm>
          <a:prstGeom prst="rect">
            <a:avLst/>
          </a:prstGeom>
          <a:noFill/>
        </p:spPr>
        <p:txBody>
          <a:bodyPr wrap="square" lIns="0" tIns="0" rIns="0" bIns="0" anchor="ctr">
            <a:spAutoFit/>
          </a:bodyPr>
          <a:lstStyle/>
          <a:p>
            <a:pPr algn="ctr">
              <a:lnSpc>
                <a:spcPct val="105000"/>
              </a:lnSpc>
            </a:pPr>
            <a:r>
              <a:rPr sz="588">
                <a:solidFill>
                  <a:srgbClr val="263442"/>
                </a:solidFill>
                <a:latin typeface="Arial"/>
              </a:rPr>
              <a:t>Decoder</a:t>
            </a:r>
          </a:p>
        </p:txBody>
      </p:sp>
      <p:sp>
        <p:nvSpPr>
          <p:cNvPr id="243" name="Find | Point Transformer V3 box">
            <a:extLst>
              <a:ext uri="{FF2B5EF4-FFF2-40B4-BE49-F238E27FC236}">
                <a16:creationId xmlns:a16="http://schemas.microsoft.com/office/drawing/2014/main" id="{B78139E0-768D-E3F2-499B-C403611A68C4}"/>
              </a:ext>
            </a:extLst>
          </p:cNvPr>
          <p:cNvSpPr/>
          <p:nvPr/>
        </p:nvSpPr>
        <p:spPr>
          <a:xfrm>
            <a:off x="1932849" y="1170736"/>
            <a:ext cx="2183263" cy="585368"/>
          </a:xfrm>
          <a:prstGeom prst="roundRect">
            <a:avLst>
              <a:gd name="adj" fmla="val 5000"/>
            </a:avLst>
          </a:prstGeom>
          <a:solidFill>
            <a:schemeClr val="bg1"/>
          </a:solidFill>
          <a:ln w="7290">
            <a:solidFill>
              <a:srgbClr val="BEC7C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dirty="0"/>
          </a:p>
        </p:txBody>
      </p:sp>
      <p:grpSp>
        <p:nvGrpSpPr>
          <p:cNvPr id="244" name="Find | PTV3 stage 1 (no pseudo)">
            <a:extLst>
              <a:ext uri="{FF2B5EF4-FFF2-40B4-BE49-F238E27FC236}">
                <a16:creationId xmlns:a16="http://schemas.microsoft.com/office/drawing/2014/main" id="{CBF149C4-C780-28DB-64E1-7A1021F33B50}"/>
              </a:ext>
            </a:extLst>
          </p:cNvPr>
          <p:cNvGrpSpPr/>
          <p:nvPr/>
        </p:nvGrpSpPr>
        <p:grpSpPr>
          <a:xfrm>
            <a:off x="2023818" y="1222153"/>
            <a:ext cx="276863" cy="197759"/>
            <a:chOff x="1837958" y="1438830"/>
            <a:chExt cx="279225" cy="243090"/>
          </a:xfrm>
        </p:grpSpPr>
        <p:sp>
          <p:nvSpPr>
            <p:cNvPr id="245" name="rect_1844">
              <a:extLst>
                <a:ext uri="{FF2B5EF4-FFF2-40B4-BE49-F238E27FC236}">
                  <a16:creationId xmlns:a16="http://schemas.microsoft.com/office/drawing/2014/main" id="{999BA71B-1BEB-5779-EC83-71EC041F4DA3}"/>
                </a:ext>
              </a:extLst>
            </p:cNvPr>
            <p:cNvSpPr/>
            <p:nvPr/>
          </p:nvSpPr>
          <p:spPr>
            <a:xfrm>
              <a:off x="1837958" y="1438830"/>
              <a:ext cx="279225" cy="243090"/>
            </a:xfrm>
            <a:prstGeom prst="roundRect">
              <a:avLst>
                <a:gd name="adj" fmla="val 6757"/>
              </a:avLst>
            </a:prstGeom>
            <a:solidFill>
              <a:srgbClr val="F8F5FC"/>
            </a:solidFill>
            <a:ln w="2540" cap="rnd" cmpd="sng" algn="ctr">
              <a:solidFill>
                <a:srgbClr val="C3D4E6"/>
              </a:solidFill>
              <a:prstDash val="solid"/>
              <a:round/>
              <a:headEnd type="none" w="med" len="med"/>
              <a:tailEnd type="none" w="med" len="med"/>
            </a:ln>
            <a:effectLst/>
          </p:spPr>
        </p:sp>
        <p:sp>
          <p:nvSpPr>
            <p:cNvPr id="246" name="ellipse_1845">
              <a:extLst>
                <a:ext uri="{FF2B5EF4-FFF2-40B4-BE49-F238E27FC236}">
                  <a16:creationId xmlns:a16="http://schemas.microsoft.com/office/drawing/2014/main" id="{B8866EA3-D854-863A-3FCE-057F6F35A1D3}"/>
                </a:ext>
              </a:extLst>
            </p:cNvPr>
            <p:cNvSpPr/>
            <p:nvPr/>
          </p:nvSpPr>
          <p:spPr>
            <a:xfrm>
              <a:off x="1911179" y="1549889"/>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47" name="ellipse_1846">
              <a:extLst>
                <a:ext uri="{FF2B5EF4-FFF2-40B4-BE49-F238E27FC236}">
                  <a16:creationId xmlns:a16="http://schemas.microsoft.com/office/drawing/2014/main" id="{B767B2DF-631C-A066-BAE5-B05C2E20BF6A}"/>
                </a:ext>
              </a:extLst>
            </p:cNvPr>
            <p:cNvSpPr/>
            <p:nvPr/>
          </p:nvSpPr>
          <p:spPr>
            <a:xfrm>
              <a:off x="2016057" y="1569177"/>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48" name="ellipse_1847">
              <a:extLst>
                <a:ext uri="{FF2B5EF4-FFF2-40B4-BE49-F238E27FC236}">
                  <a16:creationId xmlns:a16="http://schemas.microsoft.com/office/drawing/2014/main" id="{742855AF-61A4-A15E-5C97-45A0617BE32C}"/>
                </a:ext>
              </a:extLst>
            </p:cNvPr>
            <p:cNvSpPr/>
            <p:nvPr/>
          </p:nvSpPr>
          <p:spPr>
            <a:xfrm>
              <a:off x="1901005" y="1463226"/>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49" name="ellipse_1848">
              <a:extLst>
                <a:ext uri="{FF2B5EF4-FFF2-40B4-BE49-F238E27FC236}">
                  <a16:creationId xmlns:a16="http://schemas.microsoft.com/office/drawing/2014/main" id="{DB2EAF94-2C69-1FC8-8039-E245129F9495}"/>
                </a:ext>
              </a:extLst>
            </p:cNvPr>
            <p:cNvSpPr/>
            <p:nvPr/>
          </p:nvSpPr>
          <p:spPr>
            <a:xfrm>
              <a:off x="1966917" y="1491223"/>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50" name="ellipse_1849">
              <a:extLst>
                <a:ext uri="{FF2B5EF4-FFF2-40B4-BE49-F238E27FC236}">
                  <a16:creationId xmlns:a16="http://schemas.microsoft.com/office/drawing/2014/main" id="{37879733-D9D5-9D7F-DCBB-9B81919C1089}"/>
                </a:ext>
              </a:extLst>
            </p:cNvPr>
            <p:cNvSpPr/>
            <p:nvPr/>
          </p:nvSpPr>
          <p:spPr>
            <a:xfrm>
              <a:off x="1981202" y="1461977"/>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51" name="ellipse_1850">
              <a:extLst>
                <a:ext uri="{FF2B5EF4-FFF2-40B4-BE49-F238E27FC236}">
                  <a16:creationId xmlns:a16="http://schemas.microsoft.com/office/drawing/2014/main" id="{F90BFB6E-E7CA-71C9-041A-D190EF34C127}"/>
                </a:ext>
              </a:extLst>
            </p:cNvPr>
            <p:cNvSpPr/>
            <p:nvPr/>
          </p:nvSpPr>
          <p:spPr>
            <a:xfrm>
              <a:off x="2025801" y="1522781"/>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52" name="ellipse_1851">
              <a:extLst>
                <a:ext uri="{FF2B5EF4-FFF2-40B4-BE49-F238E27FC236}">
                  <a16:creationId xmlns:a16="http://schemas.microsoft.com/office/drawing/2014/main" id="{D92E8062-11B2-4B0D-ADFF-E0E2FF826D14}"/>
                </a:ext>
              </a:extLst>
            </p:cNvPr>
            <p:cNvSpPr/>
            <p:nvPr/>
          </p:nvSpPr>
          <p:spPr>
            <a:xfrm>
              <a:off x="1923657" y="1574090"/>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53" name="ellipse_1852">
              <a:extLst>
                <a:ext uri="{FF2B5EF4-FFF2-40B4-BE49-F238E27FC236}">
                  <a16:creationId xmlns:a16="http://schemas.microsoft.com/office/drawing/2014/main" id="{A6A4F338-8FB4-7BCE-34F5-E5171B2F3BCC}"/>
                </a:ext>
              </a:extLst>
            </p:cNvPr>
            <p:cNvSpPr/>
            <p:nvPr/>
          </p:nvSpPr>
          <p:spPr>
            <a:xfrm>
              <a:off x="2046951" y="1492683"/>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54" name="ellipse_1853">
              <a:extLst>
                <a:ext uri="{FF2B5EF4-FFF2-40B4-BE49-F238E27FC236}">
                  <a16:creationId xmlns:a16="http://schemas.microsoft.com/office/drawing/2014/main" id="{709AE7C0-8C78-F85E-A26E-0022CB05BEC2}"/>
                </a:ext>
              </a:extLst>
            </p:cNvPr>
            <p:cNvSpPr/>
            <p:nvPr/>
          </p:nvSpPr>
          <p:spPr>
            <a:xfrm>
              <a:off x="1971403" y="1621226"/>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55" name="ellipse_1854">
              <a:extLst>
                <a:ext uri="{FF2B5EF4-FFF2-40B4-BE49-F238E27FC236}">
                  <a16:creationId xmlns:a16="http://schemas.microsoft.com/office/drawing/2014/main" id="{1CF1B9A9-6DC0-05F7-86D2-C9D183B58B08}"/>
                </a:ext>
              </a:extLst>
            </p:cNvPr>
            <p:cNvSpPr/>
            <p:nvPr/>
          </p:nvSpPr>
          <p:spPr>
            <a:xfrm>
              <a:off x="1916632" y="1483703"/>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grpSp>
      <p:grpSp>
        <p:nvGrpSpPr>
          <p:cNvPr id="256" name="Find | PTV3 stage 2 (no pseudo)">
            <a:extLst>
              <a:ext uri="{FF2B5EF4-FFF2-40B4-BE49-F238E27FC236}">
                <a16:creationId xmlns:a16="http://schemas.microsoft.com/office/drawing/2014/main" id="{E76933BC-A58C-A9D6-D75B-81B42B2AB4D1}"/>
              </a:ext>
            </a:extLst>
          </p:cNvPr>
          <p:cNvGrpSpPr/>
          <p:nvPr/>
        </p:nvGrpSpPr>
        <p:grpSpPr>
          <a:xfrm>
            <a:off x="2454581" y="1218198"/>
            <a:ext cx="269656" cy="205670"/>
            <a:chOff x="2276505" y="1465110"/>
            <a:chExt cx="243090" cy="190530"/>
          </a:xfrm>
        </p:grpSpPr>
        <p:sp>
          <p:nvSpPr>
            <p:cNvPr id="257" name="rect_1860">
              <a:extLst>
                <a:ext uri="{FF2B5EF4-FFF2-40B4-BE49-F238E27FC236}">
                  <a16:creationId xmlns:a16="http://schemas.microsoft.com/office/drawing/2014/main" id="{2D64C26B-C85A-269E-D6DE-A9304B43FEAD}"/>
                </a:ext>
              </a:extLst>
            </p:cNvPr>
            <p:cNvSpPr/>
            <p:nvPr/>
          </p:nvSpPr>
          <p:spPr>
            <a:xfrm>
              <a:off x="2276505" y="1465110"/>
              <a:ext cx="243090" cy="190530"/>
            </a:xfrm>
            <a:prstGeom prst="roundRect">
              <a:avLst>
                <a:gd name="adj" fmla="val 8621"/>
              </a:avLst>
            </a:prstGeom>
            <a:solidFill>
              <a:srgbClr val="F8F5FC"/>
            </a:solidFill>
            <a:ln w="2540" cap="rnd" cmpd="sng" algn="ctr">
              <a:solidFill>
                <a:srgbClr val="C3D4E6"/>
              </a:solidFill>
              <a:prstDash val="solid"/>
              <a:round/>
              <a:headEnd type="none" w="med" len="med"/>
              <a:tailEnd type="none" w="med" len="med"/>
            </a:ln>
            <a:effectLst/>
          </p:spPr>
        </p:sp>
        <p:sp>
          <p:nvSpPr>
            <p:cNvPr id="258" name="ellipse_1861">
              <a:extLst>
                <a:ext uri="{FF2B5EF4-FFF2-40B4-BE49-F238E27FC236}">
                  <a16:creationId xmlns:a16="http://schemas.microsoft.com/office/drawing/2014/main" id="{632DCE39-AC67-1ECD-B935-01B1C9272D7B}"/>
                </a:ext>
              </a:extLst>
            </p:cNvPr>
            <p:cNvSpPr/>
            <p:nvPr/>
          </p:nvSpPr>
          <p:spPr>
            <a:xfrm>
              <a:off x="2443383" y="1475381"/>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59" name="ellipse_1862">
              <a:extLst>
                <a:ext uri="{FF2B5EF4-FFF2-40B4-BE49-F238E27FC236}">
                  <a16:creationId xmlns:a16="http://schemas.microsoft.com/office/drawing/2014/main" id="{112378BE-7B2F-B2CE-18E9-CBD1204F2A7C}"/>
                </a:ext>
              </a:extLst>
            </p:cNvPr>
            <p:cNvSpPr/>
            <p:nvPr/>
          </p:nvSpPr>
          <p:spPr>
            <a:xfrm>
              <a:off x="2334302" y="1490546"/>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60" name="ellipse_1863">
              <a:extLst>
                <a:ext uri="{FF2B5EF4-FFF2-40B4-BE49-F238E27FC236}">
                  <a16:creationId xmlns:a16="http://schemas.microsoft.com/office/drawing/2014/main" id="{35273B1A-CBF1-5013-002A-F35D3DDDC1FE}"/>
                </a:ext>
              </a:extLst>
            </p:cNvPr>
            <p:cNvSpPr/>
            <p:nvPr/>
          </p:nvSpPr>
          <p:spPr>
            <a:xfrm>
              <a:off x="2421391" y="1518211"/>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61" name="ellipse_1864">
              <a:extLst>
                <a:ext uri="{FF2B5EF4-FFF2-40B4-BE49-F238E27FC236}">
                  <a16:creationId xmlns:a16="http://schemas.microsoft.com/office/drawing/2014/main" id="{E5E8247C-7662-9E4F-20A5-8EF45B5CAA33}"/>
                </a:ext>
              </a:extLst>
            </p:cNvPr>
            <p:cNvSpPr/>
            <p:nvPr/>
          </p:nvSpPr>
          <p:spPr>
            <a:xfrm>
              <a:off x="2395798" y="1481756"/>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62" name="ellipse_1865">
              <a:extLst>
                <a:ext uri="{FF2B5EF4-FFF2-40B4-BE49-F238E27FC236}">
                  <a16:creationId xmlns:a16="http://schemas.microsoft.com/office/drawing/2014/main" id="{3D6D55DA-DE2E-40D0-F5C5-1AB14C28DC38}"/>
                </a:ext>
              </a:extLst>
            </p:cNvPr>
            <p:cNvSpPr/>
            <p:nvPr/>
          </p:nvSpPr>
          <p:spPr>
            <a:xfrm>
              <a:off x="2345071" y="1608888"/>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63" name="ellipse_1866">
              <a:extLst>
                <a:ext uri="{FF2B5EF4-FFF2-40B4-BE49-F238E27FC236}">
                  <a16:creationId xmlns:a16="http://schemas.microsoft.com/office/drawing/2014/main" id="{CFF72254-C332-FD79-C0B4-D2B0735BEA0B}"/>
                </a:ext>
              </a:extLst>
            </p:cNvPr>
            <p:cNvSpPr/>
            <p:nvPr/>
          </p:nvSpPr>
          <p:spPr>
            <a:xfrm>
              <a:off x="2455927" y="1523542"/>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64" name="ellipse_1867">
              <a:extLst>
                <a:ext uri="{FF2B5EF4-FFF2-40B4-BE49-F238E27FC236}">
                  <a16:creationId xmlns:a16="http://schemas.microsoft.com/office/drawing/2014/main" id="{71AD1879-DBFC-E9EF-50E0-2CD58EE8C563}"/>
                </a:ext>
              </a:extLst>
            </p:cNvPr>
            <p:cNvSpPr/>
            <p:nvPr/>
          </p:nvSpPr>
          <p:spPr>
            <a:xfrm>
              <a:off x="2415612" y="1538275"/>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65" name="ellipse_1868">
              <a:extLst>
                <a:ext uri="{FF2B5EF4-FFF2-40B4-BE49-F238E27FC236}">
                  <a16:creationId xmlns:a16="http://schemas.microsoft.com/office/drawing/2014/main" id="{755F7733-46DE-FBCB-7B99-2251792732C6}"/>
                </a:ext>
              </a:extLst>
            </p:cNvPr>
            <p:cNvSpPr/>
            <p:nvPr/>
          </p:nvSpPr>
          <p:spPr>
            <a:xfrm>
              <a:off x="2384162" y="1553850"/>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grpSp>
      <p:grpSp>
        <p:nvGrpSpPr>
          <p:cNvPr id="266" name="Find | PTV3 stage 3 (no pseudo)">
            <a:extLst>
              <a:ext uri="{FF2B5EF4-FFF2-40B4-BE49-F238E27FC236}">
                <a16:creationId xmlns:a16="http://schemas.microsoft.com/office/drawing/2014/main" id="{32D15B95-4D0E-684D-B947-3081572A74FD}"/>
              </a:ext>
            </a:extLst>
          </p:cNvPr>
          <p:cNvGrpSpPr/>
          <p:nvPr/>
        </p:nvGrpSpPr>
        <p:grpSpPr>
          <a:xfrm>
            <a:off x="2902421" y="1230063"/>
            <a:ext cx="244120" cy="181939"/>
            <a:chOff x="2703555" y="1491390"/>
            <a:chExt cx="190530" cy="137970"/>
          </a:xfrm>
        </p:grpSpPr>
        <p:sp>
          <p:nvSpPr>
            <p:cNvPr id="267" name="rect_1874">
              <a:extLst>
                <a:ext uri="{FF2B5EF4-FFF2-40B4-BE49-F238E27FC236}">
                  <a16:creationId xmlns:a16="http://schemas.microsoft.com/office/drawing/2014/main" id="{5CA6A986-C50B-92C5-8C9D-3C1550B72A58}"/>
                </a:ext>
              </a:extLst>
            </p:cNvPr>
            <p:cNvSpPr/>
            <p:nvPr/>
          </p:nvSpPr>
          <p:spPr>
            <a:xfrm>
              <a:off x="2703555" y="1491390"/>
              <a:ext cx="190530" cy="137970"/>
            </a:xfrm>
            <a:prstGeom prst="roundRect">
              <a:avLst>
                <a:gd name="adj" fmla="val 11905"/>
              </a:avLst>
            </a:prstGeom>
            <a:solidFill>
              <a:srgbClr val="F8F5FC"/>
            </a:solidFill>
            <a:ln w="2540" cap="rnd" cmpd="sng" algn="ctr">
              <a:solidFill>
                <a:srgbClr val="C3D4E6"/>
              </a:solidFill>
              <a:prstDash val="solid"/>
              <a:round/>
              <a:headEnd type="none" w="med" len="med"/>
              <a:tailEnd type="none" w="med" len="med"/>
            </a:ln>
            <a:effectLst/>
          </p:spPr>
        </p:sp>
        <p:sp>
          <p:nvSpPr>
            <p:cNvPr id="268" name="ellipse_1875">
              <a:extLst>
                <a:ext uri="{FF2B5EF4-FFF2-40B4-BE49-F238E27FC236}">
                  <a16:creationId xmlns:a16="http://schemas.microsoft.com/office/drawing/2014/main" id="{C251143A-148D-AE40-78E8-F3746EB1EBAD}"/>
                </a:ext>
              </a:extLst>
            </p:cNvPr>
            <p:cNvSpPr/>
            <p:nvPr/>
          </p:nvSpPr>
          <p:spPr>
            <a:xfrm>
              <a:off x="2782342" y="1524860"/>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69" name="ellipse_1876">
              <a:extLst>
                <a:ext uri="{FF2B5EF4-FFF2-40B4-BE49-F238E27FC236}">
                  <a16:creationId xmlns:a16="http://schemas.microsoft.com/office/drawing/2014/main" id="{7A4A26C8-2008-755A-144B-6C4326DC977D}"/>
                </a:ext>
              </a:extLst>
            </p:cNvPr>
            <p:cNvSpPr/>
            <p:nvPr/>
          </p:nvSpPr>
          <p:spPr>
            <a:xfrm>
              <a:off x="2750750" y="1594469"/>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70" name="ellipse_1877">
              <a:extLst>
                <a:ext uri="{FF2B5EF4-FFF2-40B4-BE49-F238E27FC236}">
                  <a16:creationId xmlns:a16="http://schemas.microsoft.com/office/drawing/2014/main" id="{FD7EFFB9-72EB-52A4-E8C8-545E80B5C6AA}"/>
                </a:ext>
              </a:extLst>
            </p:cNvPr>
            <p:cNvSpPr/>
            <p:nvPr/>
          </p:nvSpPr>
          <p:spPr>
            <a:xfrm>
              <a:off x="2743887" y="1497155"/>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71" name="ellipse_1878">
              <a:extLst>
                <a:ext uri="{FF2B5EF4-FFF2-40B4-BE49-F238E27FC236}">
                  <a16:creationId xmlns:a16="http://schemas.microsoft.com/office/drawing/2014/main" id="{476F6B28-7FE0-6772-9D13-E4A490D00189}"/>
                </a:ext>
              </a:extLst>
            </p:cNvPr>
            <p:cNvSpPr/>
            <p:nvPr/>
          </p:nvSpPr>
          <p:spPr>
            <a:xfrm>
              <a:off x="2833390" y="1511327"/>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72" name="ellipse_1879">
              <a:extLst>
                <a:ext uri="{FF2B5EF4-FFF2-40B4-BE49-F238E27FC236}">
                  <a16:creationId xmlns:a16="http://schemas.microsoft.com/office/drawing/2014/main" id="{F2CBAB42-E8B9-B92B-E814-95E176ABE045}"/>
                </a:ext>
              </a:extLst>
            </p:cNvPr>
            <p:cNvSpPr/>
            <p:nvPr/>
          </p:nvSpPr>
          <p:spPr>
            <a:xfrm>
              <a:off x="2831792" y="1567728"/>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grpSp>
      <p:grpSp>
        <p:nvGrpSpPr>
          <p:cNvPr id="273" name="Find | PTV3 stage 4 (no pseudo)">
            <a:extLst>
              <a:ext uri="{FF2B5EF4-FFF2-40B4-BE49-F238E27FC236}">
                <a16:creationId xmlns:a16="http://schemas.microsoft.com/office/drawing/2014/main" id="{4CA102BA-D00D-8A9E-13F9-B2E950D2087C}"/>
              </a:ext>
            </a:extLst>
          </p:cNvPr>
          <p:cNvGrpSpPr/>
          <p:nvPr/>
        </p:nvGrpSpPr>
        <p:grpSpPr>
          <a:xfrm>
            <a:off x="3324724" y="1218198"/>
            <a:ext cx="269656" cy="205670"/>
            <a:chOff x="3097755" y="1465110"/>
            <a:chExt cx="243090" cy="190530"/>
          </a:xfrm>
        </p:grpSpPr>
        <p:sp>
          <p:nvSpPr>
            <p:cNvPr id="274" name="rect_1885">
              <a:extLst>
                <a:ext uri="{FF2B5EF4-FFF2-40B4-BE49-F238E27FC236}">
                  <a16:creationId xmlns:a16="http://schemas.microsoft.com/office/drawing/2014/main" id="{021A2BF6-418C-ECBB-8E6A-10FBDCC54136}"/>
                </a:ext>
              </a:extLst>
            </p:cNvPr>
            <p:cNvSpPr/>
            <p:nvPr/>
          </p:nvSpPr>
          <p:spPr>
            <a:xfrm>
              <a:off x="3097755" y="1465110"/>
              <a:ext cx="243090" cy="190530"/>
            </a:xfrm>
            <a:prstGeom prst="roundRect">
              <a:avLst>
                <a:gd name="adj" fmla="val 8621"/>
              </a:avLst>
            </a:prstGeom>
            <a:solidFill>
              <a:srgbClr val="F8F5FC"/>
            </a:solidFill>
            <a:ln w="2540" cap="rnd" cmpd="sng" algn="ctr">
              <a:solidFill>
                <a:srgbClr val="C3D4E6"/>
              </a:solidFill>
              <a:prstDash val="solid"/>
              <a:round/>
              <a:headEnd type="none" w="med" len="med"/>
              <a:tailEnd type="none" w="med" len="med"/>
            </a:ln>
            <a:effectLst/>
          </p:spPr>
        </p:sp>
        <p:sp>
          <p:nvSpPr>
            <p:cNvPr id="275" name="ellipse_1886">
              <a:extLst>
                <a:ext uri="{FF2B5EF4-FFF2-40B4-BE49-F238E27FC236}">
                  <a16:creationId xmlns:a16="http://schemas.microsoft.com/office/drawing/2014/main" id="{EE134B29-CC8C-3682-23BD-07B1641BDE16}"/>
                </a:ext>
              </a:extLst>
            </p:cNvPr>
            <p:cNvSpPr/>
            <p:nvPr/>
          </p:nvSpPr>
          <p:spPr>
            <a:xfrm>
              <a:off x="3274804" y="1547857"/>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76" name="ellipse_1887">
              <a:extLst>
                <a:ext uri="{FF2B5EF4-FFF2-40B4-BE49-F238E27FC236}">
                  <a16:creationId xmlns:a16="http://schemas.microsoft.com/office/drawing/2014/main" id="{347B422B-C4A6-90D0-59DA-E95B63CBB1D4}"/>
                </a:ext>
              </a:extLst>
            </p:cNvPr>
            <p:cNvSpPr/>
            <p:nvPr/>
          </p:nvSpPr>
          <p:spPr>
            <a:xfrm>
              <a:off x="3235593" y="1568791"/>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77" name="ellipse_1888">
              <a:extLst>
                <a:ext uri="{FF2B5EF4-FFF2-40B4-BE49-F238E27FC236}">
                  <a16:creationId xmlns:a16="http://schemas.microsoft.com/office/drawing/2014/main" id="{14D72A65-4A8A-7AF5-1F1B-15D7997D2847}"/>
                </a:ext>
              </a:extLst>
            </p:cNvPr>
            <p:cNvSpPr/>
            <p:nvPr/>
          </p:nvSpPr>
          <p:spPr>
            <a:xfrm>
              <a:off x="3215524" y="1548395"/>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78" name="ellipse_1889">
              <a:extLst>
                <a:ext uri="{FF2B5EF4-FFF2-40B4-BE49-F238E27FC236}">
                  <a16:creationId xmlns:a16="http://schemas.microsoft.com/office/drawing/2014/main" id="{EE678E38-27EB-BE34-3A48-7E98A5C10B77}"/>
                </a:ext>
              </a:extLst>
            </p:cNvPr>
            <p:cNvSpPr/>
            <p:nvPr/>
          </p:nvSpPr>
          <p:spPr>
            <a:xfrm>
              <a:off x="3114632" y="1579955"/>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79" name="ellipse_1890">
              <a:extLst>
                <a:ext uri="{FF2B5EF4-FFF2-40B4-BE49-F238E27FC236}">
                  <a16:creationId xmlns:a16="http://schemas.microsoft.com/office/drawing/2014/main" id="{268D72C5-0D8C-F0E7-FC3C-E2EFF15D92CF}"/>
                </a:ext>
              </a:extLst>
            </p:cNvPr>
            <p:cNvSpPr/>
            <p:nvPr/>
          </p:nvSpPr>
          <p:spPr>
            <a:xfrm>
              <a:off x="3288227" y="1584140"/>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80" name="ellipse_1891">
              <a:extLst>
                <a:ext uri="{FF2B5EF4-FFF2-40B4-BE49-F238E27FC236}">
                  <a16:creationId xmlns:a16="http://schemas.microsoft.com/office/drawing/2014/main" id="{F21EAEC5-C1A8-F3CE-622D-E56E314C81EC}"/>
                </a:ext>
              </a:extLst>
            </p:cNvPr>
            <p:cNvSpPr/>
            <p:nvPr/>
          </p:nvSpPr>
          <p:spPr>
            <a:xfrm>
              <a:off x="3206468" y="1610077"/>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81" name="ellipse_1892">
              <a:extLst>
                <a:ext uri="{FF2B5EF4-FFF2-40B4-BE49-F238E27FC236}">
                  <a16:creationId xmlns:a16="http://schemas.microsoft.com/office/drawing/2014/main" id="{A2B1924A-01B2-E062-73F9-C2E864445BB4}"/>
                </a:ext>
              </a:extLst>
            </p:cNvPr>
            <p:cNvSpPr/>
            <p:nvPr/>
          </p:nvSpPr>
          <p:spPr>
            <a:xfrm>
              <a:off x="3224851" y="1612180"/>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82" name="ellipse_1893">
              <a:extLst>
                <a:ext uri="{FF2B5EF4-FFF2-40B4-BE49-F238E27FC236}">
                  <a16:creationId xmlns:a16="http://schemas.microsoft.com/office/drawing/2014/main" id="{3D9ABC5A-F9A8-113D-77C4-469A48278261}"/>
                </a:ext>
              </a:extLst>
            </p:cNvPr>
            <p:cNvSpPr/>
            <p:nvPr/>
          </p:nvSpPr>
          <p:spPr>
            <a:xfrm>
              <a:off x="3255857" y="1477242"/>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grpSp>
      <p:grpSp>
        <p:nvGrpSpPr>
          <p:cNvPr id="283" name="Find | PTV3 stage 5 (no pseudo)">
            <a:extLst>
              <a:ext uri="{FF2B5EF4-FFF2-40B4-BE49-F238E27FC236}">
                <a16:creationId xmlns:a16="http://schemas.microsoft.com/office/drawing/2014/main" id="{FB906F61-2D28-6E64-A3C2-29EBF86981A6}"/>
              </a:ext>
            </a:extLst>
          </p:cNvPr>
          <p:cNvGrpSpPr/>
          <p:nvPr/>
        </p:nvGrpSpPr>
        <p:grpSpPr>
          <a:xfrm>
            <a:off x="3748279" y="1222153"/>
            <a:ext cx="276863" cy="197759"/>
            <a:chOff x="3473888" y="1438830"/>
            <a:chExt cx="279225" cy="243090"/>
          </a:xfrm>
        </p:grpSpPr>
        <p:sp>
          <p:nvSpPr>
            <p:cNvPr id="284" name="rect_1899">
              <a:extLst>
                <a:ext uri="{FF2B5EF4-FFF2-40B4-BE49-F238E27FC236}">
                  <a16:creationId xmlns:a16="http://schemas.microsoft.com/office/drawing/2014/main" id="{D783BC19-1682-79CE-B9A0-4D922B39F7E5}"/>
                </a:ext>
              </a:extLst>
            </p:cNvPr>
            <p:cNvSpPr/>
            <p:nvPr/>
          </p:nvSpPr>
          <p:spPr>
            <a:xfrm>
              <a:off x="3473888" y="1438830"/>
              <a:ext cx="279225" cy="243090"/>
            </a:xfrm>
            <a:prstGeom prst="roundRect">
              <a:avLst>
                <a:gd name="adj" fmla="val 6757"/>
              </a:avLst>
            </a:prstGeom>
            <a:solidFill>
              <a:srgbClr val="F8F5FC"/>
            </a:solidFill>
            <a:ln w="2540" cap="rnd" cmpd="sng" algn="ctr">
              <a:solidFill>
                <a:srgbClr val="C3D4E6"/>
              </a:solidFill>
              <a:prstDash val="solid"/>
              <a:round/>
              <a:headEnd type="none" w="med" len="med"/>
              <a:tailEnd type="none" w="med" len="med"/>
            </a:ln>
            <a:effectLst/>
          </p:spPr>
        </p:sp>
        <p:sp>
          <p:nvSpPr>
            <p:cNvPr id="285" name="ellipse_1900">
              <a:extLst>
                <a:ext uri="{FF2B5EF4-FFF2-40B4-BE49-F238E27FC236}">
                  <a16:creationId xmlns:a16="http://schemas.microsoft.com/office/drawing/2014/main" id="{2164BC90-5241-7675-42DB-980B432A19B5}"/>
                </a:ext>
              </a:extLst>
            </p:cNvPr>
            <p:cNvSpPr/>
            <p:nvPr/>
          </p:nvSpPr>
          <p:spPr>
            <a:xfrm>
              <a:off x="3538819" y="1482538"/>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86" name="ellipse_1901">
              <a:extLst>
                <a:ext uri="{FF2B5EF4-FFF2-40B4-BE49-F238E27FC236}">
                  <a16:creationId xmlns:a16="http://schemas.microsoft.com/office/drawing/2014/main" id="{6A1058DA-D9CB-8857-6C4C-E3CBAEB7F502}"/>
                </a:ext>
              </a:extLst>
            </p:cNvPr>
            <p:cNvSpPr/>
            <p:nvPr/>
          </p:nvSpPr>
          <p:spPr>
            <a:xfrm>
              <a:off x="3631999" y="1578094"/>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87" name="ellipse_1902">
              <a:extLst>
                <a:ext uri="{FF2B5EF4-FFF2-40B4-BE49-F238E27FC236}">
                  <a16:creationId xmlns:a16="http://schemas.microsoft.com/office/drawing/2014/main" id="{66158A73-B7AC-5437-1875-F4B3A1F7FDBA}"/>
                </a:ext>
              </a:extLst>
            </p:cNvPr>
            <p:cNvSpPr/>
            <p:nvPr/>
          </p:nvSpPr>
          <p:spPr>
            <a:xfrm>
              <a:off x="3687564" y="1590175"/>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88" name="ellipse_1903">
              <a:extLst>
                <a:ext uri="{FF2B5EF4-FFF2-40B4-BE49-F238E27FC236}">
                  <a16:creationId xmlns:a16="http://schemas.microsoft.com/office/drawing/2014/main" id="{3D74491B-2D8A-C597-113A-0DDB12A07D91}"/>
                </a:ext>
              </a:extLst>
            </p:cNvPr>
            <p:cNvSpPr/>
            <p:nvPr/>
          </p:nvSpPr>
          <p:spPr>
            <a:xfrm>
              <a:off x="3686262" y="1625396"/>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89" name="ellipse_1904">
              <a:extLst>
                <a:ext uri="{FF2B5EF4-FFF2-40B4-BE49-F238E27FC236}">
                  <a16:creationId xmlns:a16="http://schemas.microsoft.com/office/drawing/2014/main" id="{085BB1B3-9B8E-BE84-8833-46FF16D228C9}"/>
                </a:ext>
              </a:extLst>
            </p:cNvPr>
            <p:cNvSpPr/>
            <p:nvPr/>
          </p:nvSpPr>
          <p:spPr>
            <a:xfrm>
              <a:off x="3673847" y="1457259"/>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90" name="ellipse_1905">
              <a:extLst>
                <a:ext uri="{FF2B5EF4-FFF2-40B4-BE49-F238E27FC236}">
                  <a16:creationId xmlns:a16="http://schemas.microsoft.com/office/drawing/2014/main" id="{70A8B4D8-F94A-08F7-3863-7D80F7E16B2A}"/>
                </a:ext>
              </a:extLst>
            </p:cNvPr>
            <p:cNvSpPr/>
            <p:nvPr/>
          </p:nvSpPr>
          <p:spPr>
            <a:xfrm>
              <a:off x="3580150" y="1603047"/>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91" name="ellipse_1906">
              <a:extLst>
                <a:ext uri="{FF2B5EF4-FFF2-40B4-BE49-F238E27FC236}">
                  <a16:creationId xmlns:a16="http://schemas.microsoft.com/office/drawing/2014/main" id="{2DCA649C-56B5-84E8-5F03-28CFFF9CCA47}"/>
                </a:ext>
              </a:extLst>
            </p:cNvPr>
            <p:cNvSpPr/>
            <p:nvPr/>
          </p:nvSpPr>
          <p:spPr>
            <a:xfrm>
              <a:off x="3499431" y="1479999"/>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92" name="ellipse_1907">
              <a:extLst>
                <a:ext uri="{FF2B5EF4-FFF2-40B4-BE49-F238E27FC236}">
                  <a16:creationId xmlns:a16="http://schemas.microsoft.com/office/drawing/2014/main" id="{A7FAC7B3-C4D8-3C84-E8C2-C8FC96D97CD0}"/>
                </a:ext>
              </a:extLst>
            </p:cNvPr>
            <p:cNvSpPr/>
            <p:nvPr/>
          </p:nvSpPr>
          <p:spPr>
            <a:xfrm>
              <a:off x="3698498" y="1633754"/>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93" name="ellipse_1908">
              <a:extLst>
                <a:ext uri="{FF2B5EF4-FFF2-40B4-BE49-F238E27FC236}">
                  <a16:creationId xmlns:a16="http://schemas.microsoft.com/office/drawing/2014/main" id="{3E85E840-91DD-E1A7-ADB1-4534A1870503}"/>
                </a:ext>
              </a:extLst>
            </p:cNvPr>
            <p:cNvSpPr/>
            <p:nvPr/>
          </p:nvSpPr>
          <p:spPr>
            <a:xfrm>
              <a:off x="3664475" y="1606687"/>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94" name="ellipse_1909">
              <a:extLst>
                <a:ext uri="{FF2B5EF4-FFF2-40B4-BE49-F238E27FC236}">
                  <a16:creationId xmlns:a16="http://schemas.microsoft.com/office/drawing/2014/main" id="{0C691E33-6CAC-8FAB-FF48-309D6C9E6457}"/>
                </a:ext>
              </a:extLst>
            </p:cNvPr>
            <p:cNvSpPr/>
            <p:nvPr/>
          </p:nvSpPr>
          <p:spPr>
            <a:xfrm>
              <a:off x="3577670" y="1575000"/>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grpSp>
      <p:sp>
        <p:nvSpPr>
          <p:cNvPr id="297" name="TextBox 12152">
            <a:extLst>
              <a:ext uri="{FF2B5EF4-FFF2-40B4-BE49-F238E27FC236}">
                <a16:creationId xmlns:a16="http://schemas.microsoft.com/office/drawing/2014/main" id="{4FC0E9ED-7B76-85B7-9A66-1488A6560373}"/>
              </a:ext>
            </a:extLst>
          </p:cNvPr>
          <p:cNvSpPr txBox="1"/>
          <p:nvPr/>
        </p:nvSpPr>
        <p:spPr>
          <a:xfrm>
            <a:off x="1932849" y="1615773"/>
            <a:ext cx="2183263" cy="106632"/>
          </a:xfrm>
          <a:prstGeom prst="rect">
            <a:avLst/>
          </a:prstGeom>
          <a:noFill/>
        </p:spPr>
        <p:txBody>
          <a:bodyPr wrap="square" lIns="0" tIns="0" rIns="0" bIns="0" anchor="ctr">
            <a:spAutoFit/>
          </a:bodyPr>
          <a:lstStyle/>
          <a:p>
            <a:pPr algn="ctr">
              <a:lnSpc>
                <a:spcPct val="105000"/>
              </a:lnSpc>
            </a:pPr>
            <a:r>
              <a:rPr sz="709">
                <a:solidFill>
                  <a:srgbClr val="263442"/>
                </a:solidFill>
                <a:latin typeface="Arial"/>
              </a:rPr>
              <a:t>Point Transformer V3</a:t>
            </a:r>
          </a:p>
        </p:txBody>
      </p:sp>
      <p:sp>
        <p:nvSpPr>
          <p:cNvPr id="298" name="TextBox 12153">
            <a:extLst>
              <a:ext uri="{FF2B5EF4-FFF2-40B4-BE49-F238E27FC236}">
                <a16:creationId xmlns:a16="http://schemas.microsoft.com/office/drawing/2014/main" id="{9A840460-0FBB-E276-592B-6BB076FC63E0}"/>
              </a:ext>
            </a:extLst>
          </p:cNvPr>
          <p:cNvSpPr txBox="1"/>
          <p:nvPr/>
        </p:nvSpPr>
        <p:spPr>
          <a:xfrm>
            <a:off x="2779258" y="1058360"/>
            <a:ext cx="767306" cy="88422"/>
          </a:xfrm>
          <a:prstGeom prst="rect">
            <a:avLst/>
          </a:prstGeom>
          <a:noFill/>
        </p:spPr>
        <p:txBody>
          <a:bodyPr wrap="square" lIns="0" tIns="0" rIns="0" bIns="0" anchor="ctr">
            <a:spAutoFit/>
          </a:bodyPr>
          <a:lstStyle/>
          <a:p>
            <a:pPr algn="ctr">
              <a:lnSpc>
                <a:spcPct val="105000"/>
              </a:lnSpc>
            </a:pPr>
            <a:r>
              <a:rPr lang="en-US" sz="588" dirty="0">
                <a:solidFill>
                  <a:srgbClr val="263442"/>
                </a:solidFill>
                <a:latin typeface="Arial"/>
              </a:rPr>
              <a:t>F</a:t>
            </a:r>
            <a:r>
              <a:rPr sz="588" dirty="0">
                <a:solidFill>
                  <a:srgbClr val="263442"/>
                </a:solidFill>
                <a:latin typeface="Arial"/>
              </a:rPr>
              <a:t>usion</a:t>
            </a:r>
          </a:p>
        </p:txBody>
      </p:sp>
      <p:sp>
        <p:nvSpPr>
          <p:cNvPr id="299" name="Find | Blobs output card">
            <a:extLst>
              <a:ext uri="{FF2B5EF4-FFF2-40B4-BE49-F238E27FC236}">
                <a16:creationId xmlns:a16="http://schemas.microsoft.com/office/drawing/2014/main" id="{36F02793-11F7-7C57-9702-15E5318B58C6}"/>
              </a:ext>
            </a:extLst>
          </p:cNvPr>
          <p:cNvSpPr/>
          <p:nvPr/>
        </p:nvSpPr>
        <p:spPr>
          <a:xfrm>
            <a:off x="4300068" y="284775"/>
            <a:ext cx="442980" cy="1471328"/>
          </a:xfrm>
          <a:prstGeom prst="roundRect">
            <a:avLst>
              <a:gd name="adj" fmla="val 6000"/>
            </a:avLst>
          </a:prstGeom>
          <a:solidFill>
            <a:schemeClr val="bg1"/>
          </a:solidFill>
          <a:ln w="7290">
            <a:solidFill>
              <a:srgbClr val="BEC7C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300" name="TextBox 12155">
            <a:extLst>
              <a:ext uri="{FF2B5EF4-FFF2-40B4-BE49-F238E27FC236}">
                <a16:creationId xmlns:a16="http://schemas.microsoft.com/office/drawing/2014/main" id="{EA53C084-FE17-24B2-008C-DF176E211528}"/>
              </a:ext>
            </a:extLst>
          </p:cNvPr>
          <p:cNvSpPr txBox="1"/>
          <p:nvPr/>
        </p:nvSpPr>
        <p:spPr>
          <a:xfrm>
            <a:off x="4185689" y="307007"/>
            <a:ext cx="696113" cy="111954"/>
          </a:xfrm>
          <a:prstGeom prst="rect">
            <a:avLst/>
          </a:prstGeom>
          <a:noFill/>
        </p:spPr>
        <p:txBody>
          <a:bodyPr wrap="square" lIns="0" tIns="0" rIns="0" bIns="0" anchor="ctr">
            <a:spAutoFit/>
          </a:bodyPr>
          <a:lstStyle/>
          <a:p>
            <a:pPr algn="ctr">
              <a:lnSpc>
                <a:spcPct val="105000"/>
              </a:lnSpc>
            </a:pPr>
            <a:r>
              <a:rPr sz="744" dirty="0">
                <a:solidFill>
                  <a:srgbClr val="263442"/>
                </a:solidFill>
                <a:latin typeface="Arial"/>
              </a:rPr>
              <a:t>Blobs</a:t>
            </a:r>
          </a:p>
        </p:txBody>
      </p:sp>
      <p:sp>
        <p:nvSpPr>
          <p:cNvPr id="301" name="TextBox 12160">
            <a:extLst>
              <a:ext uri="{FF2B5EF4-FFF2-40B4-BE49-F238E27FC236}">
                <a16:creationId xmlns:a16="http://schemas.microsoft.com/office/drawing/2014/main" id="{24AAA1CB-8D62-3552-1132-1CE4A049FA8D}"/>
              </a:ext>
            </a:extLst>
          </p:cNvPr>
          <p:cNvSpPr txBox="1"/>
          <p:nvPr/>
        </p:nvSpPr>
        <p:spPr>
          <a:xfrm>
            <a:off x="616744" y="2090304"/>
            <a:ext cx="1186556" cy="107978"/>
          </a:xfrm>
          <a:prstGeom prst="rect">
            <a:avLst/>
          </a:prstGeom>
          <a:noFill/>
        </p:spPr>
        <p:txBody>
          <a:bodyPr wrap="square" lIns="0" tIns="0" rIns="0" bIns="0" anchor="ctr">
            <a:spAutoFit/>
          </a:bodyPr>
          <a:lstStyle/>
          <a:p>
            <a:pPr algn="l">
              <a:lnSpc>
                <a:spcPct val="105000"/>
              </a:lnSpc>
            </a:pPr>
            <a:r>
              <a:rPr sz="718" dirty="0">
                <a:solidFill>
                  <a:srgbClr val="263442"/>
                </a:solidFill>
                <a:latin typeface="Arial"/>
              </a:rPr>
              <a:t>Candidate encoder</a:t>
            </a:r>
          </a:p>
        </p:txBody>
      </p:sp>
      <p:sp>
        <p:nvSpPr>
          <p:cNvPr id="302" name="TextBox 12161">
            <a:extLst>
              <a:ext uri="{FF2B5EF4-FFF2-40B4-BE49-F238E27FC236}">
                <a16:creationId xmlns:a16="http://schemas.microsoft.com/office/drawing/2014/main" id="{AD503294-5E5A-44A4-E8FC-FDA51AE6D3AB}"/>
              </a:ext>
            </a:extLst>
          </p:cNvPr>
          <p:cNvSpPr txBox="1"/>
          <p:nvPr/>
        </p:nvSpPr>
        <p:spPr>
          <a:xfrm>
            <a:off x="2752186" y="2090304"/>
            <a:ext cx="1186556" cy="107978"/>
          </a:xfrm>
          <a:prstGeom prst="rect">
            <a:avLst/>
          </a:prstGeom>
          <a:noFill/>
        </p:spPr>
        <p:txBody>
          <a:bodyPr wrap="square" lIns="0" tIns="0" rIns="0" bIns="0" anchor="ctr">
            <a:spAutoFit/>
          </a:bodyPr>
          <a:lstStyle/>
          <a:p>
            <a:pPr algn="l">
              <a:lnSpc>
                <a:spcPct val="105000"/>
              </a:lnSpc>
            </a:pPr>
            <a:r>
              <a:rPr sz="718" dirty="0">
                <a:solidFill>
                  <a:srgbClr val="263442"/>
                </a:solidFill>
                <a:latin typeface="Arial"/>
              </a:rPr>
              <a:t>Identity encoder</a:t>
            </a:r>
          </a:p>
        </p:txBody>
      </p:sp>
      <p:sp>
        <p:nvSpPr>
          <p:cNvPr id="303" name="Match | Center divider">
            <a:extLst>
              <a:ext uri="{FF2B5EF4-FFF2-40B4-BE49-F238E27FC236}">
                <a16:creationId xmlns:a16="http://schemas.microsoft.com/office/drawing/2014/main" id="{8EF33EAC-DAC4-72B0-B86C-B13CE8C54988}"/>
              </a:ext>
            </a:extLst>
          </p:cNvPr>
          <p:cNvSpPr/>
          <p:nvPr/>
        </p:nvSpPr>
        <p:spPr>
          <a:xfrm>
            <a:off x="2605556" y="2119981"/>
            <a:ext cx="1" cy="1945952"/>
          </a:xfrm>
          <a:custGeom>
            <a:avLst/>
            <a:gdLst/>
            <a:ahLst/>
            <a:cxnLst/>
            <a:rect l="0" t="0" r="w" b="h"/>
            <a:pathLst>
              <a:path w="1" h="2249424">
                <a:moveTo>
                  <a:pt x="0" y="0"/>
                </a:moveTo>
                <a:lnTo>
                  <a:pt x="0" y="2249424"/>
                </a:lnTo>
              </a:path>
            </a:pathLst>
          </a:custGeom>
          <a:noFill/>
          <a:ln w="9525" cap="rnd" cmpd="sng" algn="ctr">
            <a:solidFill>
              <a:srgbClr val="C8CFD4"/>
            </a:solidFill>
            <a:prstDash val="solid"/>
            <a:round/>
            <a:headEnd type="none" w="med" len="med"/>
            <a:tailEnd type="none" w="med" len="med"/>
          </a:ln>
        </p:spPr>
      </p:sp>
      <p:sp>
        <p:nvSpPr>
          <p:cNvPr id="304" name="TextBox 12164">
            <a:extLst>
              <a:ext uri="{FF2B5EF4-FFF2-40B4-BE49-F238E27FC236}">
                <a16:creationId xmlns:a16="http://schemas.microsoft.com/office/drawing/2014/main" id="{257255D6-991D-3816-46E2-7C73E317E7DF}"/>
              </a:ext>
            </a:extLst>
          </p:cNvPr>
          <p:cNvSpPr txBox="1"/>
          <p:nvPr/>
        </p:nvSpPr>
        <p:spPr>
          <a:xfrm>
            <a:off x="608834" y="2270869"/>
            <a:ext cx="442981" cy="93744"/>
          </a:xfrm>
          <a:prstGeom prst="rect">
            <a:avLst/>
          </a:prstGeom>
          <a:noFill/>
        </p:spPr>
        <p:txBody>
          <a:bodyPr wrap="square" lIns="0" tIns="0" rIns="0" bIns="0" anchor="ctr">
            <a:spAutoFit/>
          </a:bodyPr>
          <a:lstStyle/>
          <a:p>
            <a:pPr algn="ctr">
              <a:lnSpc>
                <a:spcPct val="105000"/>
              </a:lnSpc>
            </a:pPr>
            <a:r>
              <a:rPr sz="623">
                <a:solidFill>
                  <a:srgbClr val="263442"/>
                </a:solidFill>
                <a:latin typeface="Arial"/>
              </a:rPr>
              <a:t>Receptor</a:t>
            </a:r>
          </a:p>
        </p:txBody>
      </p:sp>
      <p:sp>
        <p:nvSpPr>
          <p:cNvPr id="305" name="TextBox 12166">
            <a:extLst>
              <a:ext uri="{FF2B5EF4-FFF2-40B4-BE49-F238E27FC236}">
                <a16:creationId xmlns:a16="http://schemas.microsoft.com/office/drawing/2014/main" id="{147E1465-5F51-73A7-337C-EBB8452CAA87}"/>
              </a:ext>
            </a:extLst>
          </p:cNvPr>
          <p:cNvSpPr txBox="1"/>
          <p:nvPr/>
        </p:nvSpPr>
        <p:spPr>
          <a:xfrm>
            <a:off x="1091367" y="2270869"/>
            <a:ext cx="442981" cy="93744"/>
          </a:xfrm>
          <a:prstGeom prst="rect">
            <a:avLst/>
          </a:prstGeom>
          <a:noFill/>
        </p:spPr>
        <p:txBody>
          <a:bodyPr wrap="square" lIns="0" tIns="0" rIns="0" bIns="0" anchor="ctr">
            <a:spAutoFit/>
          </a:bodyPr>
          <a:lstStyle/>
          <a:p>
            <a:pPr algn="ctr">
              <a:lnSpc>
                <a:spcPct val="105000"/>
              </a:lnSpc>
            </a:pPr>
            <a:r>
              <a:rPr sz="623" dirty="0">
                <a:solidFill>
                  <a:srgbClr val="263442"/>
                </a:solidFill>
                <a:latin typeface="Arial"/>
              </a:rPr>
              <a:t>Density</a:t>
            </a:r>
          </a:p>
        </p:txBody>
      </p:sp>
      <p:pic>
        <p:nvPicPr>
          <p:cNvPr id="306" name="Match corresponding experimental density" descr="Experimental 9LLG density around chain C1 of the displayed CryoAtom2 receptor, at the original contour level and the identical camera orientation.">
            <a:extLst>
              <a:ext uri="{FF2B5EF4-FFF2-40B4-BE49-F238E27FC236}">
                <a16:creationId xmlns:a16="http://schemas.microsoft.com/office/drawing/2014/main" id="{104BDC70-137D-B001-93B5-33495CAD6D7F}"/>
              </a:ext>
            </a:extLst>
          </p:cNvPr>
          <p:cNvPicPr/>
          <p:nvPr/>
        </p:nvPicPr>
        <p:blipFill>
          <a:blip r:embed="rId4"/>
          <a:stretch>
            <a:fillRect/>
          </a:stretch>
        </p:blipFill>
        <p:spPr>
          <a:xfrm>
            <a:off x="1138851" y="2380847"/>
            <a:ext cx="347980" cy="332276"/>
          </a:xfrm>
          <a:prstGeom prst="rect">
            <a:avLst/>
          </a:prstGeom>
        </p:spPr>
      </p:pic>
      <p:sp>
        <p:nvSpPr>
          <p:cNvPr id="526" name="TextBox 12168">
            <a:extLst>
              <a:ext uri="{FF2B5EF4-FFF2-40B4-BE49-F238E27FC236}">
                <a16:creationId xmlns:a16="http://schemas.microsoft.com/office/drawing/2014/main" id="{09491D58-5E41-6434-92AC-FEB9AAF26E61}"/>
              </a:ext>
            </a:extLst>
          </p:cNvPr>
          <p:cNvSpPr txBox="1"/>
          <p:nvPr/>
        </p:nvSpPr>
        <p:spPr>
          <a:xfrm>
            <a:off x="648883" y="2851277"/>
            <a:ext cx="340209" cy="97203"/>
          </a:xfrm>
          <a:prstGeom prst="rect">
            <a:avLst/>
          </a:prstGeom>
          <a:noFill/>
        </p:spPr>
        <p:txBody>
          <a:bodyPr wrap="square" lIns="0" tIns="0" rIns="0" bIns="0" anchor="ctr">
            <a:spAutoFit/>
          </a:bodyPr>
          <a:lstStyle/>
          <a:p>
            <a:pPr algn="ctr">
              <a:lnSpc>
                <a:spcPct val="105000"/>
              </a:lnSpc>
            </a:pPr>
            <a:r>
              <a:rPr sz="623">
                <a:solidFill>
                  <a:srgbClr val="263442"/>
                </a:solidFill>
                <a:latin typeface="Arial"/>
              </a:rPr>
              <a:t>Pocket</a:t>
            </a:r>
          </a:p>
        </p:txBody>
      </p:sp>
      <p:sp>
        <p:nvSpPr>
          <p:cNvPr id="613" name="TextBox 12177">
            <a:extLst>
              <a:ext uri="{FF2B5EF4-FFF2-40B4-BE49-F238E27FC236}">
                <a16:creationId xmlns:a16="http://schemas.microsoft.com/office/drawing/2014/main" id="{6ABE696F-9463-864F-7D99-E63BE43B3C67}"/>
              </a:ext>
            </a:extLst>
          </p:cNvPr>
          <p:cNvSpPr txBox="1"/>
          <p:nvPr/>
        </p:nvSpPr>
        <p:spPr>
          <a:xfrm>
            <a:off x="1098445" y="2851277"/>
            <a:ext cx="340209" cy="97203"/>
          </a:xfrm>
          <a:prstGeom prst="rect">
            <a:avLst/>
          </a:prstGeom>
          <a:noFill/>
        </p:spPr>
        <p:txBody>
          <a:bodyPr wrap="square" lIns="0" tIns="0" rIns="0" bIns="0" anchor="ctr">
            <a:spAutoFit/>
          </a:bodyPr>
          <a:lstStyle/>
          <a:p>
            <a:pPr algn="ctr">
              <a:lnSpc>
                <a:spcPct val="105000"/>
              </a:lnSpc>
            </a:pPr>
            <a:r>
              <a:rPr sz="623">
                <a:solidFill>
                  <a:srgbClr val="263442"/>
                </a:solidFill>
                <a:latin typeface="Arial"/>
              </a:rPr>
              <a:t>Blob</a:t>
            </a:r>
          </a:p>
        </p:txBody>
      </p:sp>
      <p:grpSp>
        <p:nvGrpSpPr>
          <p:cNvPr id="614" name="Match | Blob contour">
            <a:extLst>
              <a:ext uri="{FF2B5EF4-FFF2-40B4-BE49-F238E27FC236}">
                <a16:creationId xmlns:a16="http://schemas.microsoft.com/office/drawing/2014/main" id="{D1E5DC26-77B2-CE51-EE82-2A985823BD5F}"/>
              </a:ext>
            </a:extLst>
          </p:cNvPr>
          <p:cNvGrpSpPr/>
          <p:nvPr/>
        </p:nvGrpSpPr>
        <p:grpSpPr>
          <a:xfrm>
            <a:off x="1122154" y="3036990"/>
            <a:ext cx="291608" cy="199265"/>
            <a:chOff x="1928706" y="3559489"/>
            <a:chExt cx="227897" cy="155682"/>
          </a:xfrm>
        </p:grpSpPr>
        <p:sp>
          <p:nvSpPr>
            <p:cNvPr id="615" name="Candidate blob | editable contour">
              <a:extLst>
                <a:ext uri="{FF2B5EF4-FFF2-40B4-BE49-F238E27FC236}">
                  <a16:creationId xmlns:a16="http://schemas.microsoft.com/office/drawing/2014/main" id="{F1077E52-1C84-C966-64C8-C9BA9C3D21FA}"/>
                </a:ext>
              </a:extLst>
            </p:cNvPr>
            <p:cNvSpPr/>
            <p:nvPr/>
          </p:nvSpPr>
          <p:spPr>
            <a:xfrm>
              <a:off x="1928706" y="3559489"/>
              <a:ext cx="227897" cy="155682"/>
            </a:xfrm>
            <a:custGeom>
              <a:avLst/>
              <a:gdLst/>
              <a:ahLst/>
              <a:cxnLst/>
              <a:rect l="0" t="0" r="w" b="h"/>
              <a:pathLst>
                <a:path w="227897" h="155682" extrusionOk="0">
                  <a:moveTo>
                    <a:pt x="5338" y="97866"/>
                  </a:moveTo>
                  <a:cubicBezTo>
                    <a:pt x="0" y="80701"/>
                    <a:pt x="18889" y="54504"/>
                    <a:pt x="29976" y="43663"/>
                  </a:cubicBezTo>
                  <a:cubicBezTo>
                    <a:pt x="41062" y="32823"/>
                    <a:pt x="58719" y="39447"/>
                    <a:pt x="71859" y="32823"/>
                  </a:cubicBezTo>
                  <a:cubicBezTo>
                    <a:pt x="84999" y="26198"/>
                    <a:pt x="92391" y="7829"/>
                    <a:pt x="108816" y="3915"/>
                  </a:cubicBezTo>
                  <a:cubicBezTo>
                    <a:pt x="125241" y="0"/>
                    <a:pt x="153984" y="3613"/>
                    <a:pt x="170409" y="9335"/>
                  </a:cubicBezTo>
                  <a:cubicBezTo>
                    <a:pt x="186834" y="15056"/>
                    <a:pt x="198332" y="26198"/>
                    <a:pt x="207366" y="38243"/>
                  </a:cubicBezTo>
                  <a:cubicBezTo>
                    <a:pt x="216399" y="50288"/>
                    <a:pt x="227897" y="67151"/>
                    <a:pt x="224612" y="81605"/>
                  </a:cubicBezTo>
                  <a:cubicBezTo>
                    <a:pt x="221327" y="96059"/>
                    <a:pt x="203259" y="113223"/>
                    <a:pt x="187656" y="124967"/>
                  </a:cubicBezTo>
                  <a:cubicBezTo>
                    <a:pt x="172052" y="136711"/>
                    <a:pt x="151931" y="148455"/>
                    <a:pt x="130989" y="152068"/>
                  </a:cubicBezTo>
                  <a:cubicBezTo>
                    <a:pt x="110048" y="155682"/>
                    <a:pt x="82946" y="155682"/>
                    <a:pt x="62004" y="146648"/>
                  </a:cubicBezTo>
                  <a:cubicBezTo>
                    <a:pt x="41062" y="137614"/>
                    <a:pt x="10676" y="115030"/>
                    <a:pt x="5338" y="97866"/>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616" name="ellipse_2612">
              <a:extLst>
                <a:ext uri="{FF2B5EF4-FFF2-40B4-BE49-F238E27FC236}">
                  <a16:creationId xmlns:a16="http://schemas.microsoft.com/office/drawing/2014/main" id="{0622E8CB-531C-6B9F-DFD1-0BCBC832886E}"/>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sp>
        <p:nvSpPr>
          <p:cNvPr id="618" name="TextBox 12186">
            <a:extLst>
              <a:ext uri="{FF2B5EF4-FFF2-40B4-BE49-F238E27FC236}">
                <a16:creationId xmlns:a16="http://schemas.microsoft.com/office/drawing/2014/main" id="{CBDD2F4C-8F1B-0067-82FE-63E2C8ADE1AB}"/>
              </a:ext>
            </a:extLst>
          </p:cNvPr>
          <p:cNvSpPr txBox="1"/>
          <p:nvPr/>
        </p:nvSpPr>
        <p:spPr>
          <a:xfrm>
            <a:off x="1640255" y="2259965"/>
            <a:ext cx="286938" cy="92333"/>
          </a:xfrm>
          <a:prstGeom prst="rect">
            <a:avLst/>
          </a:prstGeom>
          <a:noFill/>
        </p:spPr>
        <p:txBody>
          <a:bodyPr wrap="none" lIns="0" tIns="0" rIns="0" bIns="0" anchor="ctr">
            <a:spAutoFit/>
          </a:bodyPr>
          <a:lstStyle/>
          <a:p>
            <a:pPr algn="ctr">
              <a:lnSpc>
                <a:spcPct val="105000"/>
              </a:lnSpc>
            </a:pPr>
            <a:r>
              <a:rPr sz="614">
                <a:solidFill>
                  <a:srgbClr val="263442"/>
                </a:solidFill>
                <a:latin typeface="Arial"/>
              </a:rPr>
              <a:t>48³ crop</a:t>
            </a:r>
          </a:p>
        </p:txBody>
      </p:sp>
      <p:grpSp>
        <p:nvGrpSpPr>
          <p:cNvPr id="619" name="48^3 crop 3D cube">
            <a:extLst>
              <a:ext uri="{FF2B5EF4-FFF2-40B4-BE49-F238E27FC236}">
                <a16:creationId xmlns:a16="http://schemas.microsoft.com/office/drawing/2014/main" id="{8617071B-8C69-6511-8101-B7667F385C34}"/>
              </a:ext>
            </a:extLst>
          </p:cNvPr>
          <p:cNvGrpSpPr/>
          <p:nvPr/>
        </p:nvGrpSpPr>
        <p:grpSpPr>
          <a:xfrm>
            <a:off x="1657361" y="2353114"/>
            <a:ext cx="251107" cy="197645"/>
            <a:chOff x="4043880" y="489960"/>
            <a:chExt cx="571680" cy="450000"/>
          </a:xfrm>
        </p:grpSpPr>
        <p:sp>
          <p:nvSpPr>
            <p:cNvPr id="620" name="asset_2027_0">
              <a:extLst>
                <a:ext uri="{FF2B5EF4-FFF2-40B4-BE49-F238E27FC236}">
                  <a16:creationId xmlns:a16="http://schemas.microsoft.com/office/drawing/2014/main" id="{6F9AC463-3DA5-C7A9-BB1D-DF2E0B65072B}"/>
                </a:ext>
              </a:extLst>
            </p:cNvPr>
            <p:cNvSpPr>
              <a:spLocks noGrp="1"/>
            </p:cNvSpPr>
            <p:nvPr/>
          </p:nvSpPr>
          <p:spPr>
            <a:xfrm>
              <a:off x="4043880" y="489960"/>
              <a:ext cx="571680" cy="76500"/>
            </a:xfrm>
            <a:custGeom>
              <a:avLst/>
              <a:gdLst/>
              <a:ahLst/>
              <a:cxnLst/>
              <a:rect l="0" t="0" r="0" b="0"/>
              <a:pathLst>
                <a:path w="571680" h="76500">
                  <a:moveTo>
                    <a:pt x="0" y="76500"/>
                  </a:moveTo>
                  <a:lnTo>
                    <a:pt x="108619" y="0"/>
                  </a:lnTo>
                  <a:lnTo>
                    <a:pt x="571680" y="0"/>
                  </a:lnTo>
                  <a:lnTo>
                    <a:pt x="463061" y="76500"/>
                  </a:lnTo>
                  <a:close/>
                </a:path>
              </a:pathLst>
            </a:custGeom>
            <a:gradFill>
              <a:gsLst>
                <a:gs pos="0">
                  <a:srgbClr val="FAFDFF">
                    <a:alpha val="65000"/>
                  </a:srgbClr>
                </a:gs>
                <a:gs pos="100000">
                  <a:srgbClr val="D9EAFA">
                    <a:alpha val="45000"/>
                  </a:srgbClr>
                </a:gs>
              </a:gsLst>
              <a:lin ang="5400000"/>
            </a:gradFill>
            <a:ln w="2700">
              <a:solidFill>
                <a:srgbClr val="A3C3E2"/>
              </a:solidFill>
            </a:ln>
          </p:spPr>
        </p:sp>
        <p:sp>
          <p:nvSpPr>
            <p:cNvPr id="621" name="asset_2027_1">
              <a:extLst>
                <a:ext uri="{FF2B5EF4-FFF2-40B4-BE49-F238E27FC236}">
                  <a16:creationId xmlns:a16="http://schemas.microsoft.com/office/drawing/2014/main" id="{4E5B2AF1-C1E1-63CA-D996-1C14B5DE0311}"/>
                </a:ext>
              </a:extLst>
            </p:cNvPr>
            <p:cNvSpPr>
              <a:spLocks noGrp="1"/>
            </p:cNvSpPr>
            <p:nvPr/>
          </p:nvSpPr>
          <p:spPr>
            <a:xfrm>
              <a:off x="4506941" y="489960"/>
              <a:ext cx="108619" cy="450000"/>
            </a:xfrm>
            <a:custGeom>
              <a:avLst/>
              <a:gdLst/>
              <a:ahLst/>
              <a:cxnLst/>
              <a:rect l="0" t="0" r="0" b="0"/>
              <a:pathLst>
                <a:path w="108619" h="450000">
                  <a:moveTo>
                    <a:pt x="0" y="76500"/>
                  </a:moveTo>
                  <a:lnTo>
                    <a:pt x="108619" y="0"/>
                  </a:lnTo>
                  <a:lnTo>
                    <a:pt x="108619" y="373500"/>
                  </a:lnTo>
                  <a:lnTo>
                    <a:pt x="0" y="450000"/>
                  </a:lnTo>
                  <a:close/>
                </a:path>
              </a:pathLst>
            </a:custGeom>
            <a:solidFill>
              <a:srgbClr val="C9DFF3">
                <a:alpha val="22000"/>
              </a:srgbClr>
            </a:solidFill>
            <a:ln w="2700">
              <a:solidFill>
                <a:srgbClr val="A3C3E2"/>
              </a:solidFill>
            </a:ln>
          </p:spPr>
        </p:sp>
        <p:sp>
          <p:nvSpPr>
            <p:cNvPr id="622" name="asset_2027_2">
              <a:extLst>
                <a:ext uri="{FF2B5EF4-FFF2-40B4-BE49-F238E27FC236}">
                  <a16:creationId xmlns:a16="http://schemas.microsoft.com/office/drawing/2014/main" id="{02983A98-0C74-44F7-7B85-59A5383B1747}"/>
                </a:ext>
              </a:extLst>
            </p:cNvPr>
            <p:cNvSpPr>
              <a:spLocks noGrp="1"/>
            </p:cNvSpPr>
            <p:nvPr/>
          </p:nvSpPr>
          <p:spPr>
            <a:xfrm>
              <a:off x="4043880" y="566460"/>
              <a:ext cx="463061" cy="373500"/>
            </a:xfrm>
            <a:prstGeom prst="rect">
              <a:avLst/>
            </a:prstGeom>
            <a:solidFill>
              <a:srgbClr val="E7F1FC">
                <a:alpha val="20000"/>
              </a:srgbClr>
            </a:solidFill>
            <a:ln w="2700">
              <a:solidFill>
                <a:srgbClr val="ABC9E7"/>
              </a:solidFill>
            </a:ln>
          </p:spPr>
        </p:sp>
        <p:sp>
          <p:nvSpPr>
            <p:cNvPr id="623" name="asset_2027_3">
              <a:extLst>
                <a:ext uri="{FF2B5EF4-FFF2-40B4-BE49-F238E27FC236}">
                  <a16:creationId xmlns:a16="http://schemas.microsoft.com/office/drawing/2014/main" id="{B57ADFC0-76AC-CDAA-D719-7B5056C00239}"/>
                </a:ext>
              </a:extLst>
            </p:cNvPr>
            <p:cNvSpPr>
              <a:spLocks noGrp="1"/>
            </p:cNvSpPr>
            <p:nvPr/>
          </p:nvSpPr>
          <p:spPr>
            <a:xfrm>
              <a:off x="4159645" y="566460"/>
              <a:ext cx="4" cy="373500"/>
            </a:xfrm>
            <a:prstGeom prst="line">
              <a:avLst/>
            </a:prstGeom>
            <a:noFill/>
            <a:ln w="1980">
              <a:solidFill>
                <a:srgbClr val="B8D2EB">
                  <a:alpha val="33000"/>
                </a:srgbClr>
              </a:solidFill>
            </a:ln>
          </p:spPr>
        </p:sp>
        <p:sp>
          <p:nvSpPr>
            <p:cNvPr id="624" name="asset_2027_4">
              <a:extLst>
                <a:ext uri="{FF2B5EF4-FFF2-40B4-BE49-F238E27FC236}">
                  <a16:creationId xmlns:a16="http://schemas.microsoft.com/office/drawing/2014/main" id="{46ADEFFF-C294-2D10-FF9E-5B9E50791758}"/>
                </a:ext>
              </a:extLst>
            </p:cNvPr>
            <p:cNvSpPr>
              <a:spLocks noGrp="1"/>
            </p:cNvSpPr>
            <p:nvPr/>
          </p:nvSpPr>
          <p:spPr>
            <a:xfrm>
              <a:off x="4043880" y="659835"/>
              <a:ext cx="463061" cy="4"/>
            </a:xfrm>
            <a:prstGeom prst="line">
              <a:avLst/>
            </a:prstGeom>
            <a:noFill/>
            <a:ln w="1980">
              <a:solidFill>
                <a:srgbClr val="B8D2EB">
                  <a:alpha val="33000"/>
                </a:srgbClr>
              </a:solidFill>
            </a:ln>
          </p:spPr>
        </p:sp>
        <p:sp>
          <p:nvSpPr>
            <p:cNvPr id="625" name="asset_2027_5">
              <a:extLst>
                <a:ext uri="{FF2B5EF4-FFF2-40B4-BE49-F238E27FC236}">
                  <a16:creationId xmlns:a16="http://schemas.microsoft.com/office/drawing/2014/main" id="{8726FF12-25F2-880C-AAD7-FEB990DE351E}"/>
                </a:ext>
              </a:extLst>
            </p:cNvPr>
            <p:cNvSpPr>
              <a:spLocks noGrp="1"/>
            </p:cNvSpPr>
            <p:nvPr/>
          </p:nvSpPr>
          <p:spPr>
            <a:xfrm>
              <a:off x="4275410" y="566460"/>
              <a:ext cx="4" cy="373500"/>
            </a:xfrm>
            <a:prstGeom prst="line">
              <a:avLst/>
            </a:prstGeom>
            <a:noFill/>
            <a:ln w="1980">
              <a:solidFill>
                <a:srgbClr val="B8D2EB">
                  <a:alpha val="33000"/>
                </a:srgbClr>
              </a:solidFill>
            </a:ln>
          </p:spPr>
        </p:sp>
        <p:sp>
          <p:nvSpPr>
            <p:cNvPr id="626" name="asset_2027_6">
              <a:extLst>
                <a:ext uri="{FF2B5EF4-FFF2-40B4-BE49-F238E27FC236}">
                  <a16:creationId xmlns:a16="http://schemas.microsoft.com/office/drawing/2014/main" id="{54F3DA07-3D3C-0A8D-0B57-A6773E0F22E9}"/>
                </a:ext>
              </a:extLst>
            </p:cNvPr>
            <p:cNvSpPr>
              <a:spLocks noGrp="1"/>
            </p:cNvSpPr>
            <p:nvPr/>
          </p:nvSpPr>
          <p:spPr>
            <a:xfrm>
              <a:off x="4043880" y="753210"/>
              <a:ext cx="463061" cy="4"/>
            </a:xfrm>
            <a:prstGeom prst="line">
              <a:avLst/>
            </a:prstGeom>
            <a:noFill/>
            <a:ln w="1980">
              <a:solidFill>
                <a:srgbClr val="B8D2EB">
                  <a:alpha val="33000"/>
                </a:srgbClr>
              </a:solidFill>
            </a:ln>
          </p:spPr>
        </p:sp>
        <p:sp>
          <p:nvSpPr>
            <p:cNvPr id="627" name="asset_2027_7">
              <a:extLst>
                <a:ext uri="{FF2B5EF4-FFF2-40B4-BE49-F238E27FC236}">
                  <a16:creationId xmlns:a16="http://schemas.microsoft.com/office/drawing/2014/main" id="{22BA78AB-D31C-9D21-81A6-6517C046C969}"/>
                </a:ext>
              </a:extLst>
            </p:cNvPr>
            <p:cNvSpPr>
              <a:spLocks noGrp="1"/>
            </p:cNvSpPr>
            <p:nvPr/>
          </p:nvSpPr>
          <p:spPr>
            <a:xfrm>
              <a:off x="4391176" y="566460"/>
              <a:ext cx="4" cy="373500"/>
            </a:xfrm>
            <a:prstGeom prst="line">
              <a:avLst/>
            </a:prstGeom>
            <a:noFill/>
            <a:ln w="1980">
              <a:solidFill>
                <a:srgbClr val="B8D2EB">
                  <a:alpha val="33000"/>
                </a:srgbClr>
              </a:solidFill>
            </a:ln>
          </p:spPr>
        </p:sp>
        <p:sp>
          <p:nvSpPr>
            <p:cNvPr id="628" name="asset_2027_8">
              <a:extLst>
                <a:ext uri="{FF2B5EF4-FFF2-40B4-BE49-F238E27FC236}">
                  <a16:creationId xmlns:a16="http://schemas.microsoft.com/office/drawing/2014/main" id="{977D18F3-F886-AF84-0504-F418B8A8499D}"/>
                </a:ext>
              </a:extLst>
            </p:cNvPr>
            <p:cNvSpPr>
              <a:spLocks noGrp="1"/>
            </p:cNvSpPr>
            <p:nvPr/>
          </p:nvSpPr>
          <p:spPr>
            <a:xfrm>
              <a:off x="4043880" y="846585"/>
              <a:ext cx="463061" cy="4"/>
            </a:xfrm>
            <a:prstGeom prst="line">
              <a:avLst/>
            </a:prstGeom>
            <a:noFill/>
            <a:ln w="1980">
              <a:solidFill>
                <a:srgbClr val="B8D2EB">
                  <a:alpha val="33000"/>
                </a:srgbClr>
              </a:solidFill>
            </a:ln>
          </p:spPr>
        </p:sp>
        <p:sp>
          <p:nvSpPr>
            <p:cNvPr id="629" name="asset_2027_53">
              <a:extLst>
                <a:ext uri="{FF2B5EF4-FFF2-40B4-BE49-F238E27FC236}">
                  <a16:creationId xmlns:a16="http://schemas.microsoft.com/office/drawing/2014/main" id="{2FCE918D-FD0D-A410-E657-70E59FD64F07}"/>
                </a:ext>
              </a:extLst>
            </p:cNvPr>
            <p:cNvSpPr>
              <a:spLocks noGrp="1"/>
            </p:cNvSpPr>
            <p:nvPr/>
          </p:nvSpPr>
          <p:spPr>
            <a:xfrm>
              <a:off x="4043880" y="566460"/>
              <a:ext cx="463061" cy="373500"/>
            </a:xfrm>
            <a:custGeom>
              <a:avLst/>
              <a:gdLst/>
              <a:ahLst/>
              <a:cxnLst/>
              <a:rect l="0" t="0" r="0" b="0"/>
              <a:pathLst>
                <a:path w="463061" h="373500">
                  <a:moveTo>
                    <a:pt x="0" y="0"/>
                  </a:moveTo>
                  <a:lnTo>
                    <a:pt x="463061" y="0"/>
                  </a:lnTo>
                  <a:lnTo>
                    <a:pt x="463061" y="373500"/>
                  </a:lnTo>
                  <a:lnTo>
                    <a:pt x="0" y="373500"/>
                  </a:lnTo>
                  <a:close/>
                </a:path>
              </a:pathLst>
            </a:custGeom>
            <a:noFill/>
            <a:ln w="3600">
              <a:solidFill>
                <a:srgbClr val="8AB3D9"/>
              </a:solidFill>
            </a:ln>
          </p:spPr>
        </p:sp>
      </p:grpSp>
      <p:grpSp>
        <p:nvGrpSpPr>
          <p:cNvPr id="630" name="48^3 crop centered blob">
            <a:extLst>
              <a:ext uri="{FF2B5EF4-FFF2-40B4-BE49-F238E27FC236}">
                <a16:creationId xmlns:a16="http://schemas.microsoft.com/office/drawing/2014/main" id="{376170BF-B9FB-A2CB-0A96-513245841F19}"/>
              </a:ext>
            </a:extLst>
          </p:cNvPr>
          <p:cNvGrpSpPr/>
          <p:nvPr/>
        </p:nvGrpSpPr>
        <p:grpSpPr>
          <a:xfrm>
            <a:off x="1720137" y="2424395"/>
            <a:ext cx="110568" cy="75332"/>
            <a:chOff x="1928706" y="3559489"/>
            <a:chExt cx="227897" cy="155682"/>
          </a:xfrm>
        </p:grpSpPr>
        <p:sp>
          <p:nvSpPr>
            <p:cNvPr id="631" name="Candidate blob | editable contour">
              <a:extLst>
                <a:ext uri="{FF2B5EF4-FFF2-40B4-BE49-F238E27FC236}">
                  <a16:creationId xmlns:a16="http://schemas.microsoft.com/office/drawing/2014/main" id="{3540577D-E12C-7BE2-B39F-D8A35BC6AB99}"/>
                </a:ext>
              </a:extLst>
            </p:cNvPr>
            <p:cNvSpPr/>
            <p:nvPr/>
          </p:nvSpPr>
          <p:spPr>
            <a:xfrm>
              <a:off x="1928706" y="3559489"/>
              <a:ext cx="227897" cy="155682"/>
            </a:xfrm>
            <a:custGeom>
              <a:avLst/>
              <a:gdLst/>
              <a:ahLst/>
              <a:cxnLst/>
              <a:rect l="0" t="0" r="w" b="h"/>
              <a:pathLst>
                <a:path w="227897" h="155682" extrusionOk="0">
                  <a:moveTo>
                    <a:pt x="5338" y="97866"/>
                  </a:moveTo>
                  <a:cubicBezTo>
                    <a:pt x="0" y="80701"/>
                    <a:pt x="18889" y="54504"/>
                    <a:pt x="29976" y="43663"/>
                  </a:cubicBezTo>
                  <a:cubicBezTo>
                    <a:pt x="41062" y="32823"/>
                    <a:pt x="58719" y="39447"/>
                    <a:pt x="71859" y="32823"/>
                  </a:cubicBezTo>
                  <a:cubicBezTo>
                    <a:pt x="84999" y="26198"/>
                    <a:pt x="92391" y="7829"/>
                    <a:pt x="108816" y="3915"/>
                  </a:cubicBezTo>
                  <a:cubicBezTo>
                    <a:pt x="125241" y="0"/>
                    <a:pt x="153984" y="3613"/>
                    <a:pt x="170409" y="9335"/>
                  </a:cubicBezTo>
                  <a:cubicBezTo>
                    <a:pt x="186834" y="15056"/>
                    <a:pt x="198332" y="26198"/>
                    <a:pt x="207366" y="38243"/>
                  </a:cubicBezTo>
                  <a:cubicBezTo>
                    <a:pt x="216399" y="50288"/>
                    <a:pt x="227897" y="67151"/>
                    <a:pt x="224612" y="81605"/>
                  </a:cubicBezTo>
                  <a:cubicBezTo>
                    <a:pt x="221327" y="96059"/>
                    <a:pt x="203259" y="113223"/>
                    <a:pt x="187656" y="124967"/>
                  </a:cubicBezTo>
                  <a:cubicBezTo>
                    <a:pt x="172052" y="136711"/>
                    <a:pt x="151931" y="148455"/>
                    <a:pt x="130989" y="152068"/>
                  </a:cubicBezTo>
                  <a:cubicBezTo>
                    <a:pt x="110048" y="155682"/>
                    <a:pt x="82946" y="155682"/>
                    <a:pt x="62004" y="146648"/>
                  </a:cubicBezTo>
                  <a:cubicBezTo>
                    <a:pt x="41062" y="137614"/>
                    <a:pt x="10676" y="115030"/>
                    <a:pt x="5338" y="97866"/>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632" name="ellipse_2612">
              <a:extLst>
                <a:ext uri="{FF2B5EF4-FFF2-40B4-BE49-F238E27FC236}">
                  <a16:creationId xmlns:a16="http://schemas.microsoft.com/office/drawing/2014/main" id="{F88466A6-C4ED-991B-129A-667B0F841CEF}"/>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sp>
        <p:nvSpPr>
          <p:cNvPr id="633" name="Blob centroid marker">
            <a:extLst>
              <a:ext uri="{FF2B5EF4-FFF2-40B4-BE49-F238E27FC236}">
                <a16:creationId xmlns:a16="http://schemas.microsoft.com/office/drawing/2014/main" id="{B6088847-E67D-B76C-523B-CAFAC486AA53}"/>
              </a:ext>
            </a:extLst>
          </p:cNvPr>
          <p:cNvSpPr/>
          <p:nvPr/>
        </p:nvSpPr>
        <p:spPr>
          <a:xfrm>
            <a:off x="1763068" y="2450316"/>
            <a:ext cx="24301" cy="24301"/>
          </a:xfrm>
          <a:prstGeom prst="ellipse">
            <a:avLst/>
          </a:prstGeom>
          <a:solidFill>
            <a:srgbClr val="1D4ED8"/>
          </a:solidFill>
          <a:ln w="762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34" name="TextBox 12188">
            <a:extLst>
              <a:ext uri="{FF2B5EF4-FFF2-40B4-BE49-F238E27FC236}">
                <a16:creationId xmlns:a16="http://schemas.microsoft.com/office/drawing/2014/main" id="{D1B2411C-A9E9-5CE6-5A4B-CC9D508B6300}"/>
              </a:ext>
            </a:extLst>
          </p:cNvPr>
          <p:cNvSpPr txBox="1"/>
          <p:nvPr/>
        </p:nvSpPr>
        <p:spPr>
          <a:xfrm>
            <a:off x="1598897" y="2614551"/>
            <a:ext cx="328616" cy="92333"/>
          </a:xfrm>
          <a:prstGeom prst="rect">
            <a:avLst/>
          </a:prstGeom>
          <a:noFill/>
        </p:spPr>
        <p:txBody>
          <a:bodyPr wrap="none" lIns="0" tIns="0" rIns="0" bIns="0" anchor="ctr">
            <a:spAutoFit/>
          </a:bodyPr>
          <a:lstStyle/>
          <a:p>
            <a:pPr algn="ctr">
              <a:lnSpc>
                <a:spcPct val="105000"/>
              </a:lnSpc>
            </a:pPr>
            <a:r>
              <a:rPr sz="614" dirty="0">
                <a:solidFill>
                  <a:srgbClr val="263442"/>
                </a:solidFill>
                <a:latin typeface="Arial"/>
              </a:rPr>
              <a:t>3D U-Net</a:t>
            </a:r>
          </a:p>
        </p:txBody>
      </p:sp>
      <p:sp>
        <p:nvSpPr>
          <p:cNvPr id="635" name="TextBox 12189">
            <a:extLst>
              <a:ext uri="{FF2B5EF4-FFF2-40B4-BE49-F238E27FC236}">
                <a16:creationId xmlns:a16="http://schemas.microsoft.com/office/drawing/2014/main" id="{301AC40E-1FD2-3C19-C524-EF37F82BB735}"/>
              </a:ext>
            </a:extLst>
          </p:cNvPr>
          <p:cNvSpPr txBox="1"/>
          <p:nvPr/>
        </p:nvSpPr>
        <p:spPr>
          <a:xfrm>
            <a:off x="2016116" y="2623546"/>
            <a:ext cx="514564" cy="90218"/>
          </a:xfrm>
          <a:prstGeom prst="rect">
            <a:avLst/>
          </a:prstGeom>
          <a:noFill/>
        </p:spPr>
        <p:txBody>
          <a:bodyPr wrap="none" lIns="0" tIns="0" rIns="0" bIns="0" anchor="ctr">
            <a:spAutoFit/>
          </a:bodyPr>
          <a:lstStyle/>
          <a:p>
            <a:pPr algn="ctr">
              <a:lnSpc>
                <a:spcPct val="105000"/>
              </a:lnSpc>
            </a:pPr>
            <a:r>
              <a:rPr lang="en-US" sz="600" dirty="0">
                <a:solidFill>
                  <a:srgbClr val="263442"/>
                </a:solidFill>
                <a:latin typeface="Arial"/>
              </a:rPr>
              <a:t>B</a:t>
            </a:r>
            <a:r>
              <a:rPr lang="en-US" altLang="zh-CN" sz="600" dirty="0">
                <a:solidFill>
                  <a:srgbClr val="263442"/>
                </a:solidFill>
                <a:latin typeface="Arial"/>
              </a:rPr>
              <a:t>ase s</a:t>
            </a:r>
            <a:r>
              <a:rPr sz="600" dirty="0">
                <a:solidFill>
                  <a:srgbClr val="263442"/>
                </a:solidFill>
                <a:latin typeface="Arial"/>
              </a:rPr>
              <a:t>ummary</a:t>
            </a:r>
          </a:p>
        </p:txBody>
      </p:sp>
      <p:sp>
        <p:nvSpPr>
          <p:cNvPr id="636" name="Math | h_j^vox">
            <a:extLst>
              <a:ext uri="{FF2B5EF4-FFF2-40B4-BE49-F238E27FC236}">
                <a16:creationId xmlns:a16="http://schemas.microsoft.com/office/drawing/2014/main" id="{50018619-2909-D9F8-F79F-08DF6E20D5AF}"/>
              </a:ext>
            </a:extLst>
          </p:cNvPr>
          <p:cNvSpPr txBox="1"/>
          <p:nvPr/>
        </p:nvSpPr>
        <p:spPr>
          <a:xfrm>
            <a:off x="2191874" y="2371206"/>
            <a:ext cx="169918" cy="126509"/>
          </a:xfrm>
          <a:prstGeom prst="rect">
            <a:avLst/>
          </a:prstGeom>
          <a:noFill/>
        </p:spPr>
        <p:txBody>
          <a:bodyPr wrap="none" lIns="0" tIns="0" rIns="0" bIns="0" anchor="ctr">
            <a:spAutoFit/>
          </a:bodyPr>
          <a:lstStyle/>
          <a:p>
            <a:pPr algn="ctr"/>
            <a:r>
              <a:rPr sz="855" i="1">
                <a:solidFill>
                  <a:srgbClr val="263442"/>
                </a:solidFill>
                <a:latin typeface="Times New Roman"/>
              </a:rPr>
              <a:t>h</a:t>
            </a:r>
            <a:r>
              <a:rPr sz="780" i="1" baseline="-28000">
                <a:solidFill>
                  <a:srgbClr val="263442"/>
                </a:solidFill>
                <a:latin typeface="Times New Roman"/>
              </a:rPr>
              <a:t>j</a:t>
            </a:r>
            <a:r>
              <a:rPr sz="780" baseline="32000">
                <a:solidFill>
                  <a:srgbClr val="263442"/>
                </a:solidFill>
                <a:latin typeface="Arial"/>
              </a:rPr>
              <a:t>vox</a:t>
            </a:r>
          </a:p>
        </p:txBody>
      </p:sp>
      <p:sp>
        <p:nvSpPr>
          <p:cNvPr id="637" name="Base summary bar_1">
            <a:extLst>
              <a:ext uri="{FF2B5EF4-FFF2-40B4-BE49-F238E27FC236}">
                <a16:creationId xmlns:a16="http://schemas.microsoft.com/office/drawing/2014/main" id="{70988803-A81D-7F4E-E630-333E6624B7A2}"/>
              </a:ext>
            </a:extLst>
          </p:cNvPr>
          <p:cNvSpPr/>
          <p:nvPr/>
        </p:nvSpPr>
        <p:spPr>
          <a:xfrm>
            <a:off x="2095404" y="2549118"/>
            <a:ext cx="44072" cy="59328"/>
          </a:xfrm>
          <a:prstGeom prst="rect">
            <a:avLst/>
          </a:prstGeom>
          <a:solidFill>
            <a:srgbClr val="367FB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38" name="Base summary bar_2">
            <a:extLst>
              <a:ext uri="{FF2B5EF4-FFF2-40B4-BE49-F238E27FC236}">
                <a16:creationId xmlns:a16="http://schemas.microsoft.com/office/drawing/2014/main" id="{D397A01D-2F82-CB78-863C-65E147E9F92B}"/>
              </a:ext>
            </a:extLst>
          </p:cNvPr>
          <p:cNvSpPr/>
          <p:nvPr/>
        </p:nvSpPr>
        <p:spPr>
          <a:xfrm>
            <a:off x="2143431" y="2549118"/>
            <a:ext cx="44072" cy="59328"/>
          </a:xfrm>
          <a:prstGeom prst="rect">
            <a:avLst/>
          </a:prstGeom>
          <a:solidFill>
            <a:srgbClr val="7EAED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39" name="Base summary bar_3">
            <a:extLst>
              <a:ext uri="{FF2B5EF4-FFF2-40B4-BE49-F238E27FC236}">
                <a16:creationId xmlns:a16="http://schemas.microsoft.com/office/drawing/2014/main" id="{62184694-9BBB-11AD-FBD0-35D0DB1EFFAE}"/>
              </a:ext>
            </a:extLst>
          </p:cNvPr>
          <p:cNvSpPr/>
          <p:nvPr/>
        </p:nvSpPr>
        <p:spPr>
          <a:xfrm>
            <a:off x="2191458" y="2549118"/>
            <a:ext cx="44072" cy="59328"/>
          </a:xfrm>
          <a:prstGeom prst="rect">
            <a:avLst/>
          </a:prstGeom>
          <a:solidFill>
            <a:srgbClr val="BCD8E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40" name="Base summary bar_4">
            <a:extLst>
              <a:ext uri="{FF2B5EF4-FFF2-40B4-BE49-F238E27FC236}">
                <a16:creationId xmlns:a16="http://schemas.microsoft.com/office/drawing/2014/main" id="{252D31F5-26A7-C851-500D-AC5D9C8C5B83}"/>
              </a:ext>
            </a:extLst>
          </p:cNvPr>
          <p:cNvSpPr/>
          <p:nvPr/>
        </p:nvSpPr>
        <p:spPr>
          <a:xfrm>
            <a:off x="2239486" y="2549118"/>
            <a:ext cx="44072" cy="59328"/>
          </a:xfrm>
          <a:prstGeom prst="rect">
            <a:avLst/>
          </a:prstGeom>
          <a:solidFill>
            <a:srgbClr val="88C3B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41" name="Base summary bar_5">
            <a:extLst>
              <a:ext uri="{FF2B5EF4-FFF2-40B4-BE49-F238E27FC236}">
                <a16:creationId xmlns:a16="http://schemas.microsoft.com/office/drawing/2014/main" id="{59B724E2-03D6-D085-2BF1-AD066D9B28D1}"/>
              </a:ext>
            </a:extLst>
          </p:cNvPr>
          <p:cNvSpPr/>
          <p:nvPr/>
        </p:nvSpPr>
        <p:spPr>
          <a:xfrm>
            <a:off x="2287514" y="2549118"/>
            <a:ext cx="44072" cy="59328"/>
          </a:xfrm>
          <a:prstGeom prst="rect">
            <a:avLst/>
          </a:prstGeom>
          <a:solidFill>
            <a:srgbClr val="23877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42" name="Base summary bar_6">
            <a:extLst>
              <a:ext uri="{FF2B5EF4-FFF2-40B4-BE49-F238E27FC236}">
                <a16:creationId xmlns:a16="http://schemas.microsoft.com/office/drawing/2014/main" id="{85CC5C4C-B757-0BC6-BCBC-773686253F92}"/>
              </a:ext>
            </a:extLst>
          </p:cNvPr>
          <p:cNvSpPr/>
          <p:nvPr/>
        </p:nvSpPr>
        <p:spPr>
          <a:xfrm>
            <a:off x="2335541" y="2549118"/>
            <a:ext cx="44072" cy="59328"/>
          </a:xfrm>
          <a:prstGeom prst="rect">
            <a:avLst/>
          </a:prstGeom>
          <a:solidFill>
            <a:srgbClr val="B1A4C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43" name="Base summary bar_7">
            <a:extLst>
              <a:ext uri="{FF2B5EF4-FFF2-40B4-BE49-F238E27FC236}">
                <a16:creationId xmlns:a16="http://schemas.microsoft.com/office/drawing/2014/main" id="{FFFF62D0-1DB4-21D5-5D85-0FAFCFC80FFF}"/>
              </a:ext>
            </a:extLst>
          </p:cNvPr>
          <p:cNvSpPr/>
          <p:nvPr/>
        </p:nvSpPr>
        <p:spPr>
          <a:xfrm>
            <a:off x="2383568" y="2549118"/>
            <a:ext cx="44072" cy="59328"/>
          </a:xfrm>
          <a:prstGeom prst="rect">
            <a:avLst/>
          </a:prstGeom>
          <a:solidFill>
            <a:srgbClr val="D4CBE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44" name="Op | Mean/max pool">
            <a:extLst>
              <a:ext uri="{FF2B5EF4-FFF2-40B4-BE49-F238E27FC236}">
                <a16:creationId xmlns:a16="http://schemas.microsoft.com/office/drawing/2014/main" id="{81DBF956-EACD-FC9D-3FDB-3AA6622DD130}"/>
              </a:ext>
            </a:extLst>
          </p:cNvPr>
          <p:cNvSpPr/>
          <p:nvPr/>
        </p:nvSpPr>
        <p:spPr>
          <a:xfrm>
            <a:off x="608834" y="3452879"/>
            <a:ext cx="617009" cy="150297"/>
          </a:xfrm>
          <a:prstGeom prst="roundRect">
            <a:avLst>
              <a:gd name="adj" fmla="val 18000"/>
            </a:avLst>
          </a:prstGeom>
          <a:solidFill>
            <a:schemeClr val="bg1"/>
          </a:solidFill>
          <a:ln w="7290">
            <a:solidFill>
              <a:srgbClr val="BEC7C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Mean/max pool</a:t>
            </a:r>
          </a:p>
        </p:txBody>
      </p:sp>
      <p:sp>
        <p:nvSpPr>
          <p:cNvPr id="645" name="Op | Cross-attention">
            <a:extLst>
              <a:ext uri="{FF2B5EF4-FFF2-40B4-BE49-F238E27FC236}">
                <a16:creationId xmlns:a16="http://schemas.microsoft.com/office/drawing/2014/main" id="{33856ECA-B758-3DBD-E303-31F5A42A2ECA}"/>
              </a:ext>
            </a:extLst>
          </p:cNvPr>
          <p:cNvSpPr/>
          <p:nvPr/>
        </p:nvSpPr>
        <p:spPr>
          <a:xfrm>
            <a:off x="1304947" y="3452879"/>
            <a:ext cx="648651" cy="150297"/>
          </a:xfrm>
          <a:prstGeom prst="roundRect">
            <a:avLst>
              <a:gd name="adj" fmla="val 18000"/>
            </a:avLst>
          </a:prstGeom>
          <a:solidFill>
            <a:schemeClr val="bg1"/>
          </a:solidFill>
          <a:ln w="7290">
            <a:solidFill>
              <a:srgbClr val="BEC7C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Cross-attention</a:t>
            </a:r>
          </a:p>
        </p:txBody>
      </p:sp>
      <p:sp>
        <p:nvSpPr>
          <p:cNvPr id="646" name="TextBox 12200">
            <a:extLst>
              <a:ext uri="{FF2B5EF4-FFF2-40B4-BE49-F238E27FC236}">
                <a16:creationId xmlns:a16="http://schemas.microsoft.com/office/drawing/2014/main" id="{5890642A-B810-958C-EFC3-0A24B651A116}"/>
              </a:ext>
            </a:extLst>
          </p:cNvPr>
          <p:cNvSpPr txBox="1"/>
          <p:nvPr/>
        </p:nvSpPr>
        <p:spPr>
          <a:xfrm>
            <a:off x="1674244" y="3370950"/>
            <a:ext cx="134652" cy="80599"/>
          </a:xfrm>
          <a:prstGeom prst="rect">
            <a:avLst/>
          </a:prstGeom>
          <a:noFill/>
        </p:spPr>
        <p:txBody>
          <a:bodyPr wrap="none" lIns="0" tIns="0" rIns="0" bIns="0" anchor="ctr">
            <a:spAutoFit/>
          </a:bodyPr>
          <a:lstStyle/>
          <a:p>
            <a:pPr algn="l">
              <a:lnSpc>
                <a:spcPct val="105000"/>
              </a:lnSpc>
            </a:pPr>
            <a:r>
              <a:rPr sz="536" dirty="0">
                <a:solidFill>
                  <a:srgbClr val="263442"/>
                </a:solidFill>
                <a:latin typeface="Arial"/>
              </a:rPr>
              <a:t>K, V</a:t>
            </a:r>
          </a:p>
        </p:txBody>
      </p:sp>
      <p:sp>
        <p:nvSpPr>
          <p:cNvPr id="647" name="Op | FiLM">
            <a:extLst>
              <a:ext uri="{FF2B5EF4-FFF2-40B4-BE49-F238E27FC236}">
                <a16:creationId xmlns:a16="http://schemas.microsoft.com/office/drawing/2014/main" id="{F6D73074-EE7D-5B2A-73F0-150D69153180}"/>
              </a:ext>
            </a:extLst>
          </p:cNvPr>
          <p:cNvSpPr/>
          <p:nvPr/>
        </p:nvSpPr>
        <p:spPr>
          <a:xfrm>
            <a:off x="2095987" y="3738251"/>
            <a:ext cx="300518" cy="150259"/>
          </a:xfrm>
          <a:prstGeom prst="roundRect">
            <a:avLst>
              <a:gd name="adj" fmla="val 25000"/>
            </a:avLst>
          </a:prstGeom>
          <a:solidFill>
            <a:schemeClr val="bg1"/>
          </a:solidFill>
          <a:ln w="7290">
            <a:solidFill>
              <a:srgbClr val="BEC7C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623">
                <a:solidFill>
                  <a:srgbClr val="263442"/>
                </a:solidFill>
                <a:latin typeface="Arial"/>
              </a:rPr>
              <a:t>FiLM</a:t>
            </a:r>
          </a:p>
        </p:txBody>
      </p:sp>
      <p:sp>
        <p:nvSpPr>
          <p:cNvPr id="648" name="TextBox 12202">
            <a:extLst>
              <a:ext uri="{FF2B5EF4-FFF2-40B4-BE49-F238E27FC236}">
                <a16:creationId xmlns:a16="http://schemas.microsoft.com/office/drawing/2014/main" id="{2B49B595-4B39-0704-709C-C8907EFD22ED}"/>
              </a:ext>
            </a:extLst>
          </p:cNvPr>
          <p:cNvSpPr txBox="1"/>
          <p:nvPr/>
        </p:nvSpPr>
        <p:spPr>
          <a:xfrm>
            <a:off x="2029743" y="3431411"/>
            <a:ext cx="126566" cy="84510"/>
          </a:xfrm>
          <a:prstGeom prst="rect">
            <a:avLst/>
          </a:prstGeom>
          <a:noFill/>
        </p:spPr>
        <p:txBody>
          <a:bodyPr wrap="square" lIns="0" tIns="0" rIns="0" bIns="0" anchor="ctr">
            <a:spAutoFit/>
          </a:bodyPr>
          <a:lstStyle/>
          <a:p>
            <a:pPr algn="ctr">
              <a:lnSpc>
                <a:spcPct val="105000"/>
              </a:lnSpc>
            </a:pPr>
            <a:r>
              <a:rPr sz="562" dirty="0">
                <a:solidFill>
                  <a:srgbClr val="263442"/>
                </a:solidFill>
                <a:latin typeface="Arial"/>
              </a:rPr>
              <a:t>Q</a:t>
            </a:r>
          </a:p>
        </p:txBody>
      </p:sp>
      <p:sp>
        <p:nvSpPr>
          <p:cNvPr id="649" name="Op | MLP">
            <a:extLst>
              <a:ext uri="{FF2B5EF4-FFF2-40B4-BE49-F238E27FC236}">
                <a16:creationId xmlns:a16="http://schemas.microsoft.com/office/drawing/2014/main" id="{1C9EB5F5-984D-FC7B-F241-E36D8A091995}"/>
              </a:ext>
            </a:extLst>
          </p:cNvPr>
          <p:cNvSpPr/>
          <p:nvPr/>
        </p:nvSpPr>
        <p:spPr>
          <a:xfrm>
            <a:off x="1099255" y="3738251"/>
            <a:ext cx="347904" cy="150259"/>
          </a:xfrm>
          <a:prstGeom prst="roundRect">
            <a:avLst>
              <a:gd name="adj" fmla="val 18000"/>
            </a:avLst>
          </a:prstGeom>
          <a:solidFill>
            <a:schemeClr val="bg1"/>
          </a:solidFill>
          <a:ln w="7290">
            <a:solidFill>
              <a:srgbClr val="BEC7C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MLP</a:t>
            </a:r>
          </a:p>
        </p:txBody>
      </p:sp>
      <p:sp>
        <p:nvSpPr>
          <p:cNvPr id="650" name="h_j bar_1">
            <a:extLst>
              <a:ext uri="{FF2B5EF4-FFF2-40B4-BE49-F238E27FC236}">
                <a16:creationId xmlns:a16="http://schemas.microsoft.com/office/drawing/2014/main" id="{5FE4FABB-744C-2CF5-F918-EC910DFD6E4C}"/>
              </a:ext>
            </a:extLst>
          </p:cNvPr>
          <p:cNvSpPr/>
          <p:nvPr/>
        </p:nvSpPr>
        <p:spPr>
          <a:xfrm>
            <a:off x="2080164" y="3989994"/>
            <a:ext cx="44072" cy="56955"/>
          </a:xfrm>
          <a:prstGeom prst="rect">
            <a:avLst/>
          </a:prstGeom>
          <a:solidFill>
            <a:srgbClr val="367FB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51" name="h_j bar_2">
            <a:extLst>
              <a:ext uri="{FF2B5EF4-FFF2-40B4-BE49-F238E27FC236}">
                <a16:creationId xmlns:a16="http://schemas.microsoft.com/office/drawing/2014/main" id="{A7090AC7-E6AD-5862-7A7A-95F6641405BC}"/>
              </a:ext>
            </a:extLst>
          </p:cNvPr>
          <p:cNvSpPr/>
          <p:nvPr/>
        </p:nvSpPr>
        <p:spPr>
          <a:xfrm>
            <a:off x="2128191" y="3989994"/>
            <a:ext cx="44072" cy="56955"/>
          </a:xfrm>
          <a:prstGeom prst="rect">
            <a:avLst/>
          </a:prstGeom>
          <a:solidFill>
            <a:srgbClr val="7EAED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52" name="h_j bar_3">
            <a:extLst>
              <a:ext uri="{FF2B5EF4-FFF2-40B4-BE49-F238E27FC236}">
                <a16:creationId xmlns:a16="http://schemas.microsoft.com/office/drawing/2014/main" id="{C4629DBF-5AC9-CA4E-F13F-54FEFFCF6E1D}"/>
              </a:ext>
            </a:extLst>
          </p:cNvPr>
          <p:cNvSpPr/>
          <p:nvPr/>
        </p:nvSpPr>
        <p:spPr>
          <a:xfrm>
            <a:off x="2176218" y="3989994"/>
            <a:ext cx="44072" cy="56955"/>
          </a:xfrm>
          <a:prstGeom prst="rect">
            <a:avLst/>
          </a:prstGeom>
          <a:solidFill>
            <a:srgbClr val="BCD8E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53" name="h_j bar_4">
            <a:extLst>
              <a:ext uri="{FF2B5EF4-FFF2-40B4-BE49-F238E27FC236}">
                <a16:creationId xmlns:a16="http://schemas.microsoft.com/office/drawing/2014/main" id="{F2BDE901-45BA-A44B-2EFC-8B9BE2548828}"/>
              </a:ext>
            </a:extLst>
          </p:cNvPr>
          <p:cNvSpPr/>
          <p:nvPr/>
        </p:nvSpPr>
        <p:spPr>
          <a:xfrm>
            <a:off x="2224246" y="3989994"/>
            <a:ext cx="44072" cy="56955"/>
          </a:xfrm>
          <a:prstGeom prst="rect">
            <a:avLst/>
          </a:prstGeom>
          <a:solidFill>
            <a:srgbClr val="88C3B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54" name="h_j bar_5">
            <a:extLst>
              <a:ext uri="{FF2B5EF4-FFF2-40B4-BE49-F238E27FC236}">
                <a16:creationId xmlns:a16="http://schemas.microsoft.com/office/drawing/2014/main" id="{6E9534B9-7206-B4B2-6442-5F9741A3D5D9}"/>
              </a:ext>
            </a:extLst>
          </p:cNvPr>
          <p:cNvSpPr/>
          <p:nvPr/>
        </p:nvSpPr>
        <p:spPr>
          <a:xfrm>
            <a:off x="2272274" y="3989994"/>
            <a:ext cx="44072" cy="56955"/>
          </a:xfrm>
          <a:prstGeom prst="rect">
            <a:avLst/>
          </a:prstGeom>
          <a:solidFill>
            <a:srgbClr val="23877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55" name="h_j bar_6">
            <a:extLst>
              <a:ext uri="{FF2B5EF4-FFF2-40B4-BE49-F238E27FC236}">
                <a16:creationId xmlns:a16="http://schemas.microsoft.com/office/drawing/2014/main" id="{248206ED-79ED-85B5-BF1C-853081B25EC3}"/>
              </a:ext>
            </a:extLst>
          </p:cNvPr>
          <p:cNvSpPr/>
          <p:nvPr/>
        </p:nvSpPr>
        <p:spPr>
          <a:xfrm>
            <a:off x="2320301" y="3989994"/>
            <a:ext cx="44072" cy="56955"/>
          </a:xfrm>
          <a:prstGeom prst="rect">
            <a:avLst/>
          </a:prstGeom>
          <a:solidFill>
            <a:srgbClr val="B1A4C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56" name="h_j bar_7">
            <a:extLst>
              <a:ext uri="{FF2B5EF4-FFF2-40B4-BE49-F238E27FC236}">
                <a16:creationId xmlns:a16="http://schemas.microsoft.com/office/drawing/2014/main" id="{B90E5C28-5FB8-C3C2-F0B9-9CF8816104B1}"/>
              </a:ext>
            </a:extLst>
          </p:cNvPr>
          <p:cNvSpPr/>
          <p:nvPr/>
        </p:nvSpPr>
        <p:spPr>
          <a:xfrm>
            <a:off x="2368328" y="3989994"/>
            <a:ext cx="44072" cy="56955"/>
          </a:xfrm>
          <a:prstGeom prst="rect">
            <a:avLst/>
          </a:prstGeom>
          <a:solidFill>
            <a:srgbClr val="D4CBE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57" name="Math | h_j^">
            <a:extLst>
              <a:ext uri="{FF2B5EF4-FFF2-40B4-BE49-F238E27FC236}">
                <a16:creationId xmlns:a16="http://schemas.microsoft.com/office/drawing/2014/main" id="{05494094-75A7-2E6B-1D88-5A5876609970}"/>
              </a:ext>
            </a:extLst>
          </p:cNvPr>
          <p:cNvSpPr txBox="1"/>
          <p:nvPr/>
        </p:nvSpPr>
        <p:spPr>
          <a:xfrm>
            <a:off x="1986964" y="3936721"/>
            <a:ext cx="70532" cy="126509"/>
          </a:xfrm>
          <a:prstGeom prst="rect">
            <a:avLst/>
          </a:prstGeom>
          <a:noFill/>
        </p:spPr>
        <p:txBody>
          <a:bodyPr wrap="none" lIns="0" tIns="0" rIns="0" bIns="0" anchor="ctr">
            <a:spAutoFit/>
          </a:bodyPr>
          <a:lstStyle/>
          <a:p>
            <a:pPr algn="ctr"/>
            <a:r>
              <a:rPr sz="855" i="1" dirty="0" err="1">
                <a:solidFill>
                  <a:srgbClr val="263442"/>
                </a:solidFill>
                <a:latin typeface="Times New Roman"/>
              </a:rPr>
              <a:t>h</a:t>
            </a:r>
            <a:r>
              <a:rPr sz="780" i="1" baseline="-28000" dirty="0" err="1">
                <a:solidFill>
                  <a:srgbClr val="263442"/>
                </a:solidFill>
                <a:latin typeface="Times New Roman"/>
              </a:rPr>
              <a:t>j</a:t>
            </a:r>
            <a:endParaRPr sz="780" i="1" baseline="-28000" dirty="0">
              <a:solidFill>
                <a:srgbClr val="263442"/>
              </a:solidFill>
              <a:latin typeface="Times New Roman"/>
            </a:endParaRPr>
          </a:p>
        </p:txBody>
      </p:sp>
      <p:sp>
        <p:nvSpPr>
          <p:cNvPr id="658" name="Op | Foreground head">
            <a:extLst>
              <a:ext uri="{FF2B5EF4-FFF2-40B4-BE49-F238E27FC236}">
                <a16:creationId xmlns:a16="http://schemas.microsoft.com/office/drawing/2014/main" id="{5348D397-FFCE-30A8-BE50-37AFEFE7E608}"/>
              </a:ext>
            </a:extLst>
          </p:cNvPr>
          <p:cNvSpPr/>
          <p:nvPr/>
        </p:nvSpPr>
        <p:spPr>
          <a:xfrm>
            <a:off x="695848" y="4181937"/>
            <a:ext cx="696113" cy="150297"/>
          </a:xfrm>
          <a:prstGeom prst="roundRect">
            <a:avLst>
              <a:gd name="adj" fmla="val 18000"/>
            </a:avLst>
          </a:prstGeom>
          <a:solidFill>
            <a:schemeClr val="bg1"/>
          </a:solidFill>
          <a:ln w="7290">
            <a:solidFill>
              <a:srgbClr val="BEC7C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Foreground head</a:t>
            </a:r>
          </a:p>
        </p:txBody>
      </p:sp>
      <p:sp>
        <p:nvSpPr>
          <p:cNvPr id="659" name="Math | p_j^fg">
            <a:extLst>
              <a:ext uri="{FF2B5EF4-FFF2-40B4-BE49-F238E27FC236}">
                <a16:creationId xmlns:a16="http://schemas.microsoft.com/office/drawing/2014/main" id="{71E28630-0C1F-E738-6747-8A07041F6711}"/>
              </a:ext>
            </a:extLst>
          </p:cNvPr>
          <p:cNvSpPr txBox="1"/>
          <p:nvPr/>
        </p:nvSpPr>
        <p:spPr>
          <a:xfrm>
            <a:off x="1697293" y="4176444"/>
            <a:ext cx="121828" cy="122341"/>
          </a:xfrm>
          <a:prstGeom prst="rect">
            <a:avLst/>
          </a:prstGeom>
          <a:noFill/>
        </p:spPr>
        <p:txBody>
          <a:bodyPr wrap="none" lIns="0" tIns="0" rIns="0" bIns="0" anchor="ctr">
            <a:spAutoFit/>
          </a:bodyPr>
          <a:lstStyle/>
          <a:p>
            <a:pPr algn="ctr"/>
            <a:r>
              <a:rPr sz="827" i="1" dirty="0" err="1">
                <a:solidFill>
                  <a:srgbClr val="263442"/>
                </a:solidFill>
                <a:latin typeface="Times New Roman"/>
              </a:rPr>
              <a:t>p</a:t>
            </a:r>
            <a:r>
              <a:rPr sz="780" i="1" baseline="-28000" dirty="0" err="1">
                <a:solidFill>
                  <a:srgbClr val="263442"/>
                </a:solidFill>
                <a:latin typeface="Times New Roman"/>
              </a:rPr>
              <a:t>j</a:t>
            </a:r>
            <a:r>
              <a:rPr sz="780" baseline="32000" dirty="0" err="1">
                <a:solidFill>
                  <a:srgbClr val="263442"/>
                </a:solidFill>
                <a:latin typeface="Arial"/>
              </a:rPr>
              <a:t>fg</a:t>
            </a:r>
            <a:endParaRPr sz="780" baseline="32000" dirty="0">
              <a:solidFill>
                <a:srgbClr val="263442"/>
              </a:solidFill>
              <a:latin typeface="Arial"/>
            </a:endParaRPr>
          </a:p>
        </p:txBody>
      </p:sp>
      <p:sp>
        <p:nvSpPr>
          <p:cNvPr id="660" name="TextBox 12215">
            <a:extLst>
              <a:ext uri="{FF2B5EF4-FFF2-40B4-BE49-F238E27FC236}">
                <a16:creationId xmlns:a16="http://schemas.microsoft.com/office/drawing/2014/main" id="{59AF8C9F-62D8-4B58-F4BA-345BDA514251}"/>
              </a:ext>
            </a:extLst>
          </p:cNvPr>
          <p:cNvSpPr txBox="1"/>
          <p:nvPr/>
        </p:nvSpPr>
        <p:spPr>
          <a:xfrm>
            <a:off x="1428555" y="4310121"/>
            <a:ext cx="666849" cy="79445"/>
          </a:xfrm>
          <a:prstGeom prst="rect">
            <a:avLst/>
          </a:prstGeom>
          <a:noFill/>
        </p:spPr>
        <p:txBody>
          <a:bodyPr wrap="none" lIns="0" tIns="0" rIns="0" bIns="0" anchor="ctr">
            <a:spAutoFit/>
          </a:bodyPr>
          <a:lstStyle/>
          <a:p>
            <a:pPr algn="l">
              <a:lnSpc>
                <a:spcPct val="105000"/>
              </a:lnSpc>
            </a:pPr>
            <a:r>
              <a:rPr sz="528" dirty="0">
                <a:solidFill>
                  <a:srgbClr val="263442"/>
                </a:solidFill>
                <a:latin typeface="Arial"/>
              </a:rPr>
              <a:t>Foreground probability</a:t>
            </a:r>
          </a:p>
        </p:txBody>
      </p:sp>
      <p:sp>
        <p:nvSpPr>
          <p:cNvPr id="661" name="TextBox 12216">
            <a:extLst>
              <a:ext uri="{FF2B5EF4-FFF2-40B4-BE49-F238E27FC236}">
                <a16:creationId xmlns:a16="http://schemas.microsoft.com/office/drawing/2014/main" id="{62B55E12-416D-5929-77FA-D63A11AB56FB}"/>
              </a:ext>
            </a:extLst>
          </p:cNvPr>
          <p:cNvSpPr txBox="1"/>
          <p:nvPr/>
        </p:nvSpPr>
        <p:spPr>
          <a:xfrm>
            <a:off x="3071869" y="2206291"/>
            <a:ext cx="1195840" cy="88422"/>
          </a:xfrm>
          <a:prstGeom prst="rect">
            <a:avLst/>
          </a:prstGeom>
          <a:noFill/>
        </p:spPr>
        <p:txBody>
          <a:bodyPr wrap="none" lIns="0" tIns="0" rIns="0" bIns="0" anchor="ctr">
            <a:spAutoFit/>
          </a:bodyPr>
          <a:lstStyle/>
          <a:p>
            <a:pPr algn="ctr">
              <a:lnSpc>
                <a:spcPct val="105000"/>
              </a:lnSpc>
            </a:pPr>
            <a:r>
              <a:rPr sz="588">
                <a:solidFill>
                  <a:srgbClr val="263442"/>
                </a:solidFill>
                <a:latin typeface="Arial"/>
              </a:rPr>
              <a:t>User-provided SMILES · same PDB</a:t>
            </a:r>
          </a:p>
        </p:txBody>
      </p:sp>
      <p:sp>
        <p:nvSpPr>
          <p:cNvPr id="662" name="Identity | SMILES list card">
            <a:extLst>
              <a:ext uri="{FF2B5EF4-FFF2-40B4-BE49-F238E27FC236}">
                <a16:creationId xmlns:a16="http://schemas.microsoft.com/office/drawing/2014/main" id="{2A6D4535-9511-1039-C705-F166FA6B1B4E}"/>
              </a:ext>
            </a:extLst>
          </p:cNvPr>
          <p:cNvSpPr/>
          <p:nvPr/>
        </p:nvSpPr>
        <p:spPr>
          <a:xfrm>
            <a:off x="3250539" y="2309830"/>
            <a:ext cx="838500" cy="512745"/>
          </a:xfrm>
          <a:prstGeom prst="roundRect">
            <a:avLst>
              <a:gd name="adj" fmla="val 6000"/>
            </a:avLst>
          </a:prstGeom>
          <a:solidFill>
            <a:schemeClr val="bg1"/>
          </a:solidFill>
          <a:ln w="7290">
            <a:solidFill>
              <a:srgbClr val="BEC7C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63" name="TextBox 12218">
            <a:extLst>
              <a:ext uri="{FF2B5EF4-FFF2-40B4-BE49-F238E27FC236}">
                <a16:creationId xmlns:a16="http://schemas.microsoft.com/office/drawing/2014/main" id="{11D36D7A-2053-0203-E93D-8258322C006C}"/>
              </a:ext>
            </a:extLst>
          </p:cNvPr>
          <p:cNvSpPr txBox="1"/>
          <p:nvPr/>
        </p:nvSpPr>
        <p:spPr>
          <a:xfrm>
            <a:off x="3305912" y="2338063"/>
            <a:ext cx="727754" cy="85921"/>
          </a:xfrm>
          <a:prstGeom prst="rect">
            <a:avLst/>
          </a:prstGeom>
          <a:noFill/>
        </p:spPr>
        <p:txBody>
          <a:bodyPr wrap="square" lIns="0" tIns="0" rIns="0" bIns="0" anchor="ctr">
            <a:spAutoFit/>
          </a:bodyPr>
          <a:lstStyle/>
          <a:p>
            <a:pPr algn="l">
              <a:lnSpc>
                <a:spcPct val="105000"/>
              </a:lnSpc>
            </a:pPr>
            <a:r>
              <a:rPr sz="571" dirty="0">
                <a:solidFill>
                  <a:srgbClr val="263442"/>
                </a:solidFill>
                <a:latin typeface="Arial"/>
              </a:rPr>
              <a:t>1   CCO</a:t>
            </a:r>
          </a:p>
        </p:txBody>
      </p:sp>
      <p:sp>
        <p:nvSpPr>
          <p:cNvPr id="664" name="TextBox 12219">
            <a:extLst>
              <a:ext uri="{FF2B5EF4-FFF2-40B4-BE49-F238E27FC236}">
                <a16:creationId xmlns:a16="http://schemas.microsoft.com/office/drawing/2014/main" id="{F94E72EA-62FD-D9BD-11AF-3A084C51DE52}"/>
              </a:ext>
            </a:extLst>
          </p:cNvPr>
          <p:cNvSpPr txBox="1"/>
          <p:nvPr/>
        </p:nvSpPr>
        <p:spPr>
          <a:xfrm>
            <a:off x="3305912" y="2440897"/>
            <a:ext cx="727754" cy="85921"/>
          </a:xfrm>
          <a:prstGeom prst="rect">
            <a:avLst/>
          </a:prstGeom>
          <a:noFill/>
        </p:spPr>
        <p:txBody>
          <a:bodyPr wrap="square" lIns="0" tIns="0" rIns="0" bIns="0" anchor="ctr">
            <a:spAutoFit/>
          </a:bodyPr>
          <a:lstStyle/>
          <a:p>
            <a:pPr algn="l">
              <a:lnSpc>
                <a:spcPct val="105000"/>
              </a:lnSpc>
            </a:pPr>
            <a:r>
              <a:rPr sz="571" dirty="0">
                <a:solidFill>
                  <a:srgbClr val="263442"/>
                </a:solidFill>
                <a:latin typeface="Arial"/>
              </a:rPr>
              <a:t>2   CC(=O)O</a:t>
            </a:r>
          </a:p>
        </p:txBody>
      </p:sp>
      <p:sp>
        <p:nvSpPr>
          <p:cNvPr id="665" name="Identity | Selected k pill">
            <a:extLst>
              <a:ext uri="{FF2B5EF4-FFF2-40B4-BE49-F238E27FC236}">
                <a16:creationId xmlns:a16="http://schemas.microsoft.com/office/drawing/2014/main" id="{EC85226D-DD8A-B87D-FECA-FAA304BE8EA0}"/>
              </a:ext>
            </a:extLst>
          </p:cNvPr>
          <p:cNvSpPr/>
          <p:nvPr/>
        </p:nvSpPr>
        <p:spPr>
          <a:xfrm>
            <a:off x="3282181" y="2562853"/>
            <a:ext cx="775217" cy="118656"/>
          </a:xfrm>
          <a:prstGeom prst="roundRect">
            <a:avLst>
              <a:gd name="adj" fmla="val 18000"/>
            </a:avLst>
          </a:prstGeom>
          <a:solidFill>
            <a:srgbClr val="DCFCE7"/>
          </a:solidFill>
          <a:ln w="8890">
            <a:solidFill>
              <a:srgbClr val="3E997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66" name="TextBox 12222">
            <a:extLst>
              <a:ext uri="{FF2B5EF4-FFF2-40B4-BE49-F238E27FC236}">
                <a16:creationId xmlns:a16="http://schemas.microsoft.com/office/drawing/2014/main" id="{8F8B0A7B-7B23-017E-3B88-3E1F1442A7BD}"/>
              </a:ext>
            </a:extLst>
          </p:cNvPr>
          <p:cNvSpPr txBox="1"/>
          <p:nvPr/>
        </p:nvSpPr>
        <p:spPr>
          <a:xfrm>
            <a:off x="3313822" y="2585570"/>
            <a:ext cx="711934" cy="85921"/>
          </a:xfrm>
          <a:prstGeom prst="rect">
            <a:avLst/>
          </a:prstGeom>
          <a:noFill/>
        </p:spPr>
        <p:txBody>
          <a:bodyPr wrap="square" lIns="0" tIns="0" rIns="0" bIns="0" anchor="ctr">
            <a:spAutoFit/>
          </a:bodyPr>
          <a:lstStyle/>
          <a:p>
            <a:pPr algn="l">
              <a:lnSpc>
                <a:spcPct val="105000"/>
              </a:lnSpc>
            </a:pPr>
            <a:r>
              <a:rPr sz="571" dirty="0">
                <a:solidFill>
                  <a:srgbClr val="263442"/>
                </a:solidFill>
                <a:latin typeface="Arial"/>
              </a:rPr>
              <a:t>k   Cc1ccccc1</a:t>
            </a:r>
          </a:p>
        </p:txBody>
      </p:sp>
      <p:sp>
        <p:nvSpPr>
          <p:cNvPr id="667" name="TextBox 12224">
            <a:extLst>
              <a:ext uri="{FF2B5EF4-FFF2-40B4-BE49-F238E27FC236}">
                <a16:creationId xmlns:a16="http://schemas.microsoft.com/office/drawing/2014/main" id="{3590EEEA-C30E-7E1D-CEE8-4FD999AE5567}"/>
              </a:ext>
            </a:extLst>
          </p:cNvPr>
          <p:cNvSpPr txBox="1"/>
          <p:nvPr/>
        </p:nvSpPr>
        <p:spPr>
          <a:xfrm>
            <a:off x="3305912" y="2714369"/>
            <a:ext cx="727754" cy="85921"/>
          </a:xfrm>
          <a:prstGeom prst="rect">
            <a:avLst/>
          </a:prstGeom>
          <a:noFill/>
        </p:spPr>
        <p:txBody>
          <a:bodyPr wrap="square" lIns="0" tIns="0" rIns="0" bIns="0" anchor="ctr">
            <a:spAutoFit/>
          </a:bodyPr>
          <a:lstStyle/>
          <a:p>
            <a:pPr algn="l">
              <a:lnSpc>
                <a:spcPct val="105000"/>
              </a:lnSpc>
            </a:pPr>
            <a:r>
              <a:rPr sz="571" dirty="0">
                <a:solidFill>
                  <a:srgbClr val="263442"/>
                </a:solidFill>
                <a:latin typeface="Arial"/>
              </a:rPr>
              <a:t>K   CC(N)=O</a:t>
            </a:r>
          </a:p>
        </p:txBody>
      </p:sp>
      <p:sp>
        <p:nvSpPr>
          <p:cNvPr id="668" name="TextBox 12225">
            <a:extLst>
              <a:ext uri="{FF2B5EF4-FFF2-40B4-BE49-F238E27FC236}">
                <a16:creationId xmlns:a16="http://schemas.microsoft.com/office/drawing/2014/main" id="{0A577740-3405-59CD-57CC-7793FDE54B0E}"/>
              </a:ext>
            </a:extLst>
          </p:cNvPr>
          <p:cNvSpPr txBox="1"/>
          <p:nvPr/>
        </p:nvSpPr>
        <p:spPr>
          <a:xfrm>
            <a:off x="2786686" y="2643822"/>
            <a:ext cx="181140" cy="80599"/>
          </a:xfrm>
          <a:prstGeom prst="rect">
            <a:avLst/>
          </a:prstGeom>
          <a:noFill/>
        </p:spPr>
        <p:txBody>
          <a:bodyPr wrap="none" lIns="0" tIns="0" rIns="0" bIns="0" anchor="ctr">
            <a:spAutoFit/>
          </a:bodyPr>
          <a:lstStyle/>
          <a:p>
            <a:pPr algn="l">
              <a:lnSpc>
                <a:spcPct val="105000"/>
              </a:lnSpc>
            </a:pPr>
            <a:r>
              <a:rPr sz="536" dirty="0" err="1">
                <a:solidFill>
                  <a:srgbClr val="263442"/>
                </a:solidFill>
                <a:latin typeface="Arial"/>
              </a:rPr>
              <a:t>RDKit</a:t>
            </a:r>
            <a:endParaRPr sz="536" dirty="0">
              <a:solidFill>
                <a:srgbClr val="263442"/>
              </a:solidFill>
              <a:latin typeface="Arial"/>
            </a:endParaRPr>
          </a:p>
        </p:txBody>
      </p:sp>
      <p:grpSp>
        <p:nvGrpSpPr>
          <p:cNvPr id="669" name="Identity | Own molecular graph">
            <a:extLst>
              <a:ext uri="{FF2B5EF4-FFF2-40B4-BE49-F238E27FC236}">
                <a16:creationId xmlns:a16="http://schemas.microsoft.com/office/drawing/2014/main" id="{1E5E0A74-B55C-94A5-5C23-90F99D29A9CD}"/>
              </a:ext>
            </a:extLst>
          </p:cNvPr>
          <p:cNvGrpSpPr/>
          <p:nvPr/>
        </p:nvGrpSpPr>
        <p:grpSpPr>
          <a:xfrm>
            <a:off x="2862931" y="2888431"/>
            <a:ext cx="284773" cy="171742"/>
            <a:chOff x="3366271" y="3721905"/>
            <a:chExt cx="311024" cy="187573"/>
          </a:xfrm>
        </p:grpSpPr>
        <p:cxnSp>
          <p:nvCxnSpPr>
            <p:cNvPr id="670" name="path_2698">
              <a:extLst>
                <a:ext uri="{FF2B5EF4-FFF2-40B4-BE49-F238E27FC236}">
                  <a16:creationId xmlns:a16="http://schemas.microsoft.com/office/drawing/2014/main" id="{B5C78D85-1CC0-C5AB-F553-9B5E0A0A25D2}"/>
                </a:ext>
              </a:extLst>
            </p:cNvPr>
            <p:cNvCxnSpPr/>
            <p:nvPr/>
          </p:nvCxnSpPr>
          <p:spPr>
            <a:xfrm flipV="1">
              <a:off x="3381053" y="3736688"/>
              <a:ext cx="63663" cy="70463"/>
            </a:xfrm>
            <a:prstGeom prst="line">
              <a:avLst/>
            </a:prstGeom>
            <a:noFill/>
            <a:ln w="5256" cap="rnd" cmpd="sng" algn="ctr">
              <a:solidFill>
                <a:srgbClr val="238777"/>
              </a:solidFill>
              <a:prstDash val="solid"/>
              <a:round/>
              <a:headEnd type="none" w="med" len="med"/>
              <a:tailEnd type="none" w="med" len="med"/>
            </a:ln>
            <a:effectLst/>
          </p:spPr>
        </p:cxnSp>
        <p:cxnSp>
          <p:nvCxnSpPr>
            <p:cNvPr id="671" name="path_2699">
              <a:extLst>
                <a:ext uri="{FF2B5EF4-FFF2-40B4-BE49-F238E27FC236}">
                  <a16:creationId xmlns:a16="http://schemas.microsoft.com/office/drawing/2014/main" id="{6E055FF4-7887-A7F1-8F3E-DBC9C24E3AA5}"/>
                </a:ext>
              </a:extLst>
            </p:cNvPr>
            <p:cNvCxnSpPr/>
            <p:nvPr/>
          </p:nvCxnSpPr>
          <p:spPr>
            <a:xfrm>
              <a:off x="3444717" y="3736688"/>
              <a:ext cx="113924" cy="14947"/>
            </a:xfrm>
            <a:prstGeom prst="line">
              <a:avLst/>
            </a:prstGeom>
            <a:noFill/>
            <a:ln w="5256" cap="rnd" cmpd="sng" algn="ctr">
              <a:solidFill>
                <a:srgbClr val="238777"/>
              </a:solidFill>
              <a:prstDash val="solid"/>
              <a:round/>
              <a:headEnd type="none" w="med" len="med"/>
              <a:tailEnd type="none" w="med" len="med"/>
            </a:ln>
            <a:effectLst/>
          </p:spPr>
        </p:cxnSp>
        <p:cxnSp>
          <p:nvCxnSpPr>
            <p:cNvPr id="672" name="path_2700">
              <a:extLst>
                <a:ext uri="{FF2B5EF4-FFF2-40B4-BE49-F238E27FC236}">
                  <a16:creationId xmlns:a16="http://schemas.microsoft.com/office/drawing/2014/main" id="{89B1F5E6-DD3F-2935-0C5D-1D79BE96B7AA}"/>
                </a:ext>
              </a:extLst>
            </p:cNvPr>
            <p:cNvCxnSpPr/>
            <p:nvPr/>
          </p:nvCxnSpPr>
          <p:spPr>
            <a:xfrm>
              <a:off x="3558640" y="3751634"/>
              <a:ext cx="73715" cy="64058"/>
            </a:xfrm>
            <a:prstGeom prst="line">
              <a:avLst/>
            </a:prstGeom>
            <a:noFill/>
            <a:ln w="5256" cap="rnd" cmpd="sng" algn="ctr">
              <a:solidFill>
                <a:srgbClr val="238777"/>
              </a:solidFill>
              <a:prstDash val="solid"/>
              <a:round/>
              <a:headEnd type="none" w="med" len="med"/>
              <a:tailEnd type="none" w="med" len="med"/>
            </a:ln>
            <a:effectLst/>
          </p:spPr>
        </p:cxnSp>
        <p:cxnSp>
          <p:nvCxnSpPr>
            <p:cNvPr id="673" name="path_2701">
              <a:extLst>
                <a:ext uri="{FF2B5EF4-FFF2-40B4-BE49-F238E27FC236}">
                  <a16:creationId xmlns:a16="http://schemas.microsoft.com/office/drawing/2014/main" id="{E12956A6-FA7D-9882-B940-F1FE9AEEA955}"/>
                </a:ext>
              </a:extLst>
            </p:cNvPr>
            <p:cNvCxnSpPr/>
            <p:nvPr/>
          </p:nvCxnSpPr>
          <p:spPr>
            <a:xfrm flipH="1">
              <a:off x="3561991" y="3815692"/>
              <a:ext cx="70365" cy="79004"/>
            </a:xfrm>
            <a:prstGeom prst="line">
              <a:avLst/>
            </a:prstGeom>
            <a:noFill/>
            <a:ln w="5256" cap="rnd" cmpd="sng" algn="ctr">
              <a:solidFill>
                <a:srgbClr val="238777"/>
              </a:solidFill>
              <a:prstDash val="solid"/>
              <a:round/>
              <a:headEnd type="none" w="med" len="med"/>
              <a:tailEnd type="none" w="med" len="med"/>
            </a:ln>
            <a:effectLst/>
          </p:spPr>
        </p:cxnSp>
        <p:cxnSp>
          <p:nvCxnSpPr>
            <p:cNvPr id="674" name="path_2702">
              <a:extLst>
                <a:ext uri="{FF2B5EF4-FFF2-40B4-BE49-F238E27FC236}">
                  <a16:creationId xmlns:a16="http://schemas.microsoft.com/office/drawing/2014/main" id="{17413C88-CDA3-ADFA-DCF5-0BCF1409AFBE}"/>
                </a:ext>
              </a:extLst>
            </p:cNvPr>
            <p:cNvCxnSpPr/>
            <p:nvPr/>
          </p:nvCxnSpPr>
          <p:spPr>
            <a:xfrm flipH="1" flipV="1">
              <a:off x="3444717" y="3875479"/>
              <a:ext cx="117275" cy="19217"/>
            </a:xfrm>
            <a:prstGeom prst="line">
              <a:avLst/>
            </a:prstGeom>
            <a:noFill/>
            <a:ln w="5256" cap="rnd" cmpd="sng" algn="ctr">
              <a:solidFill>
                <a:srgbClr val="238777"/>
              </a:solidFill>
              <a:prstDash val="solid"/>
              <a:round/>
              <a:headEnd type="none" w="med" len="med"/>
              <a:tailEnd type="none" w="med" len="med"/>
            </a:ln>
            <a:effectLst/>
          </p:spPr>
        </p:cxnSp>
        <p:cxnSp>
          <p:nvCxnSpPr>
            <p:cNvPr id="675" name="path_2703">
              <a:extLst>
                <a:ext uri="{FF2B5EF4-FFF2-40B4-BE49-F238E27FC236}">
                  <a16:creationId xmlns:a16="http://schemas.microsoft.com/office/drawing/2014/main" id="{FCF8420B-08AE-A2BD-E006-1BA6276DD621}"/>
                </a:ext>
              </a:extLst>
            </p:cNvPr>
            <p:cNvCxnSpPr/>
            <p:nvPr/>
          </p:nvCxnSpPr>
          <p:spPr>
            <a:xfrm flipH="1" flipV="1">
              <a:off x="3381053" y="3807151"/>
              <a:ext cx="63663" cy="68328"/>
            </a:xfrm>
            <a:prstGeom prst="line">
              <a:avLst/>
            </a:prstGeom>
            <a:noFill/>
            <a:ln w="5256" cap="rnd" cmpd="sng" algn="ctr">
              <a:solidFill>
                <a:srgbClr val="238777"/>
              </a:solidFill>
              <a:prstDash val="solid"/>
              <a:round/>
              <a:headEnd type="none" w="med" len="med"/>
              <a:tailEnd type="none" w="med" len="med"/>
            </a:ln>
            <a:effectLst/>
          </p:spPr>
        </p:cxnSp>
        <p:cxnSp>
          <p:nvCxnSpPr>
            <p:cNvPr id="676" name="path_2704">
              <a:extLst>
                <a:ext uri="{FF2B5EF4-FFF2-40B4-BE49-F238E27FC236}">
                  <a16:creationId xmlns:a16="http://schemas.microsoft.com/office/drawing/2014/main" id="{9DA08028-8972-8EF8-D2EF-404D7FA56BAD}"/>
                </a:ext>
              </a:extLst>
            </p:cNvPr>
            <p:cNvCxnSpPr/>
            <p:nvPr/>
          </p:nvCxnSpPr>
          <p:spPr>
            <a:xfrm flipV="1">
              <a:off x="3558640" y="3745228"/>
              <a:ext cx="103872" cy="6406"/>
            </a:xfrm>
            <a:prstGeom prst="line">
              <a:avLst/>
            </a:prstGeom>
            <a:noFill/>
            <a:ln w="5256" cap="rnd" cmpd="sng" algn="ctr">
              <a:solidFill>
                <a:srgbClr val="238777"/>
              </a:solidFill>
              <a:prstDash val="solid"/>
              <a:round/>
              <a:headEnd type="none" w="med" len="med"/>
              <a:tailEnd type="none" w="med" len="med"/>
            </a:ln>
            <a:effectLst/>
          </p:spPr>
        </p:cxnSp>
        <p:sp>
          <p:nvSpPr>
            <p:cNvPr id="677" name="ellipse_2705">
              <a:extLst>
                <a:ext uri="{FF2B5EF4-FFF2-40B4-BE49-F238E27FC236}">
                  <a16:creationId xmlns:a16="http://schemas.microsoft.com/office/drawing/2014/main" id="{83F38FF6-CCB0-E3F7-6CAE-1092AA581B6D}"/>
                </a:ext>
              </a:extLst>
            </p:cNvPr>
            <p:cNvSpPr/>
            <p:nvPr/>
          </p:nvSpPr>
          <p:spPr>
            <a:xfrm>
              <a:off x="3366271" y="3792368"/>
              <a:ext cx="29565" cy="29565"/>
            </a:xfrm>
            <a:prstGeom prst="ellipse">
              <a:avLst/>
            </a:prstGeom>
            <a:gradFill flip="none" rotWithShape="1">
              <a:gsLst>
                <a:gs pos="0">
                  <a:srgbClr val="DEEDEB"/>
                </a:gs>
                <a:gs pos="43000">
                  <a:srgbClr val="61A99D"/>
                </a:gs>
                <a:gs pos="100000">
                  <a:srgbClr val="267D72"/>
                </a:gs>
              </a:gsLst>
              <a:lin ang="2700000" scaled="1"/>
              <a:tileRect/>
            </a:gradFill>
            <a:ln w="1807" cap="rnd" cmpd="sng" algn="ctr">
              <a:noFill/>
              <a:prstDash val="solid"/>
              <a:round/>
              <a:headEnd type="none" w="med" len="med"/>
              <a:tailEnd type="none" w="med" len="med"/>
            </a:ln>
            <a:effectLst/>
          </p:spPr>
        </p:sp>
        <p:sp>
          <p:nvSpPr>
            <p:cNvPr id="678" name="ellipse_2706">
              <a:extLst>
                <a:ext uri="{FF2B5EF4-FFF2-40B4-BE49-F238E27FC236}">
                  <a16:creationId xmlns:a16="http://schemas.microsoft.com/office/drawing/2014/main" id="{C2EF8EA2-D210-6155-FE29-A21CD17FA28B}"/>
                </a:ext>
              </a:extLst>
            </p:cNvPr>
            <p:cNvSpPr/>
            <p:nvPr/>
          </p:nvSpPr>
          <p:spPr>
            <a:xfrm>
              <a:off x="3429934" y="3721905"/>
              <a:ext cx="29565" cy="29565"/>
            </a:xfrm>
            <a:prstGeom prst="ellipse">
              <a:avLst/>
            </a:prstGeom>
            <a:gradFill flip="none" rotWithShape="1">
              <a:gsLst>
                <a:gs pos="0">
                  <a:srgbClr val="DEEDEB"/>
                </a:gs>
                <a:gs pos="43000">
                  <a:srgbClr val="61A99D"/>
                </a:gs>
                <a:gs pos="100000">
                  <a:srgbClr val="267D72"/>
                </a:gs>
              </a:gsLst>
              <a:lin ang="2700000" scaled="1"/>
              <a:tileRect/>
            </a:gradFill>
            <a:ln w="1807" cap="rnd" cmpd="sng" algn="ctr">
              <a:noFill/>
              <a:prstDash val="solid"/>
              <a:round/>
              <a:headEnd type="none" w="med" len="med"/>
              <a:tailEnd type="none" w="med" len="med"/>
            </a:ln>
            <a:effectLst/>
          </p:spPr>
        </p:sp>
        <p:sp>
          <p:nvSpPr>
            <p:cNvPr id="679" name="ellipse_2707">
              <a:extLst>
                <a:ext uri="{FF2B5EF4-FFF2-40B4-BE49-F238E27FC236}">
                  <a16:creationId xmlns:a16="http://schemas.microsoft.com/office/drawing/2014/main" id="{6116B654-C82A-7D8D-221B-FEC24D9BC35B}"/>
                </a:ext>
              </a:extLst>
            </p:cNvPr>
            <p:cNvSpPr/>
            <p:nvPr/>
          </p:nvSpPr>
          <p:spPr>
            <a:xfrm>
              <a:off x="3543858" y="3736852"/>
              <a:ext cx="29565" cy="29565"/>
            </a:xfrm>
            <a:prstGeom prst="ellipse">
              <a:avLst/>
            </a:prstGeom>
            <a:gradFill flip="none" rotWithShape="1">
              <a:gsLst>
                <a:gs pos="0">
                  <a:srgbClr val="DEEDEB"/>
                </a:gs>
                <a:gs pos="43000">
                  <a:srgbClr val="61A99D"/>
                </a:gs>
                <a:gs pos="100000">
                  <a:srgbClr val="267D72"/>
                </a:gs>
              </a:gsLst>
              <a:lin ang="2700000" scaled="1"/>
              <a:tileRect/>
            </a:gradFill>
            <a:ln w="1807" cap="rnd" cmpd="sng" algn="ctr">
              <a:noFill/>
              <a:prstDash val="solid"/>
              <a:round/>
              <a:headEnd type="none" w="med" len="med"/>
              <a:tailEnd type="none" w="med" len="med"/>
            </a:ln>
            <a:effectLst/>
          </p:spPr>
        </p:sp>
        <p:sp>
          <p:nvSpPr>
            <p:cNvPr id="680" name="ellipse_2708">
              <a:extLst>
                <a:ext uri="{FF2B5EF4-FFF2-40B4-BE49-F238E27FC236}">
                  <a16:creationId xmlns:a16="http://schemas.microsoft.com/office/drawing/2014/main" id="{D1188795-37DB-683B-0190-5C90F3D5E652}"/>
                </a:ext>
              </a:extLst>
            </p:cNvPr>
            <p:cNvSpPr/>
            <p:nvPr/>
          </p:nvSpPr>
          <p:spPr>
            <a:xfrm>
              <a:off x="3617573" y="3800909"/>
              <a:ext cx="29565" cy="29565"/>
            </a:xfrm>
            <a:prstGeom prst="ellipse">
              <a:avLst/>
            </a:prstGeom>
            <a:gradFill flip="none" rotWithShape="1">
              <a:gsLst>
                <a:gs pos="0">
                  <a:srgbClr val="DEEDEB"/>
                </a:gs>
                <a:gs pos="43000">
                  <a:srgbClr val="61A99D"/>
                </a:gs>
                <a:gs pos="100000">
                  <a:srgbClr val="267D72"/>
                </a:gs>
              </a:gsLst>
              <a:lin ang="2700000" scaled="1"/>
              <a:tileRect/>
            </a:gradFill>
            <a:ln w="1807" cap="rnd" cmpd="sng" algn="ctr">
              <a:noFill/>
              <a:prstDash val="solid"/>
              <a:round/>
              <a:headEnd type="none" w="med" len="med"/>
              <a:tailEnd type="none" w="med" len="med"/>
            </a:ln>
            <a:effectLst/>
          </p:spPr>
        </p:sp>
        <p:sp>
          <p:nvSpPr>
            <p:cNvPr id="681" name="ellipse_2709">
              <a:extLst>
                <a:ext uri="{FF2B5EF4-FFF2-40B4-BE49-F238E27FC236}">
                  <a16:creationId xmlns:a16="http://schemas.microsoft.com/office/drawing/2014/main" id="{0C6EF088-0A14-80D7-8B1D-4B4898E7FFBB}"/>
                </a:ext>
              </a:extLst>
            </p:cNvPr>
            <p:cNvSpPr/>
            <p:nvPr/>
          </p:nvSpPr>
          <p:spPr>
            <a:xfrm>
              <a:off x="3547209" y="3879913"/>
              <a:ext cx="29565" cy="29565"/>
            </a:xfrm>
            <a:prstGeom prst="ellipse">
              <a:avLst/>
            </a:prstGeom>
            <a:gradFill flip="none" rotWithShape="1">
              <a:gsLst>
                <a:gs pos="0">
                  <a:srgbClr val="DEEDEB"/>
                </a:gs>
                <a:gs pos="43000">
                  <a:srgbClr val="61A99D"/>
                </a:gs>
                <a:gs pos="100000">
                  <a:srgbClr val="267D72"/>
                </a:gs>
              </a:gsLst>
              <a:lin ang="2700000" scaled="1"/>
              <a:tileRect/>
            </a:gradFill>
            <a:ln w="1807" cap="rnd" cmpd="sng" algn="ctr">
              <a:noFill/>
              <a:prstDash val="solid"/>
              <a:round/>
              <a:headEnd type="none" w="med" len="med"/>
              <a:tailEnd type="none" w="med" len="med"/>
            </a:ln>
            <a:effectLst/>
          </p:spPr>
        </p:sp>
        <p:sp>
          <p:nvSpPr>
            <p:cNvPr id="682" name="ellipse_2710">
              <a:extLst>
                <a:ext uri="{FF2B5EF4-FFF2-40B4-BE49-F238E27FC236}">
                  <a16:creationId xmlns:a16="http://schemas.microsoft.com/office/drawing/2014/main" id="{46DECBC9-4974-8AE3-1013-2AF8B4976C0C}"/>
                </a:ext>
              </a:extLst>
            </p:cNvPr>
            <p:cNvSpPr/>
            <p:nvPr/>
          </p:nvSpPr>
          <p:spPr>
            <a:xfrm>
              <a:off x="3429934" y="3860696"/>
              <a:ext cx="29565" cy="29565"/>
            </a:xfrm>
            <a:prstGeom prst="ellipse">
              <a:avLst/>
            </a:prstGeom>
            <a:gradFill flip="none" rotWithShape="1">
              <a:gsLst>
                <a:gs pos="0">
                  <a:srgbClr val="DEEDEB"/>
                </a:gs>
                <a:gs pos="43000">
                  <a:srgbClr val="61A99D"/>
                </a:gs>
                <a:gs pos="100000">
                  <a:srgbClr val="267D72"/>
                </a:gs>
              </a:gsLst>
              <a:lin ang="2700000" scaled="1"/>
              <a:tileRect/>
            </a:gradFill>
            <a:ln w="1807" cap="rnd" cmpd="sng" algn="ctr">
              <a:noFill/>
              <a:prstDash val="solid"/>
              <a:round/>
              <a:headEnd type="none" w="med" len="med"/>
              <a:tailEnd type="none" w="med" len="med"/>
            </a:ln>
            <a:effectLst/>
          </p:spPr>
        </p:sp>
        <p:sp>
          <p:nvSpPr>
            <p:cNvPr id="683" name="ellipse_2711">
              <a:extLst>
                <a:ext uri="{FF2B5EF4-FFF2-40B4-BE49-F238E27FC236}">
                  <a16:creationId xmlns:a16="http://schemas.microsoft.com/office/drawing/2014/main" id="{8BFBA965-D974-0336-328E-9388B5821A84}"/>
                </a:ext>
              </a:extLst>
            </p:cNvPr>
            <p:cNvSpPr/>
            <p:nvPr/>
          </p:nvSpPr>
          <p:spPr>
            <a:xfrm>
              <a:off x="3647730" y="3730446"/>
              <a:ext cx="29565" cy="29565"/>
            </a:xfrm>
            <a:prstGeom prst="ellipse">
              <a:avLst/>
            </a:prstGeom>
            <a:gradFill flip="none" rotWithShape="1">
              <a:gsLst>
                <a:gs pos="0">
                  <a:srgbClr val="DEEDEB"/>
                </a:gs>
                <a:gs pos="43000">
                  <a:srgbClr val="61A99D"/>
                </a:gs>
                <a:gs pos="100000">
                  <a:srgbClr val="267D72"/>
                </a:gs>
              </a:gsLst>
              <a:lin ang="2700000" scaled="1"/>
              <a:tileRect/>
            </a:gradFill>
            <a:ln w="1807" cap="rnd" cmpd="sng" algn="ctr">
              <a:noFill/>
              <a:prstDash val="solid"/>
              <a:round/>
              <a:headEnd type="none" w="med" len="med"/>
              <a:tailEnd type="none" w="med" len="med"/>
            </a:ln>
            <a:effectLst/>
          </p:spPr>
        </p:sp>
      </p:grpSp>
      <p:sp>
        <p:nvSpPr>
          <p:cNvPr id="684" name="TextBox 12226">
            <a:extLst>
              <a:ext uri="{FF2B5EF4-FFF2-40B4-BE49-F238E27FC236}">
                <a16:creationId xmlns:a16="http://schemas.microsoft.com/office/drawing/2014/main" id="{E841B2F8-5D35-413B-F508-9C2F78E1684A}"/>
              </a:ext>
            </a:extLst>
          </p:cNvPr>
          <p:cNvSpPr txBox="1"/>
          <p:nvPr/>
        </p:nvSpPr>
        <p:spPr>
          <a:xfrm>
            <a:off x="2837002" y="3080344"/>
            <a:ext cx="336631" cy="80599"/>
          </a:xfrm>
          <a:prstGeom prst="rect">
            <a:avLst/>
          </a:prstGeom>
          <a:noFill/>
        </p:spPr>
        <p:txBody>
          <a:bodyPr wrap="none" lIns="0" tIns="0" rIns="0" bIns="0" anchor="ctr">
            <a:spAutoFit/>
          </a:bodyPr>
          <a:lstStyle/>
          <a:p>
            <a:pPr algn="ctr">
              <a:lnSpc>
                <a:spcPct val="105000"/>
              </a:lnSpc>
            </a:pPr>
            <a:r>
              <a:rPr sz="536">
                <a:solidFill>
                  <a:srgbClr val="263442"/>
                </a:solidFill>
                <a:latin typeface="Arial"/>
              </a:rPr>
              <a:t>Own graph</a:t>
            </a:r>
          </a:p>
        </p:txBody>
      </p:sp>
      <p:sp>
        <p:nvSpPr>
          <p:cNvPr id="685" name="Op | GNN">
            <a:extLst>
              <a:ext uri="{FF2B5EF4-FFF2-40B4-BE49-F238E27FC236}">
                <a16:creationId xmlns:a16="http://schemas.microsoft.com/office/drawing/2014/main" id="{CD025B8C-50EF-2D24-1C9B-737C243769D7}"/>
              </a:ext>
            </a:extLst>
          </p:cNvPr>
          <p:cNvSpPr/>
          <p:nvPr/>
        </p:nvSpPr>
        <p:spPr>
          <a:xfrm>
            <a:off x="2823379" y="3239299"/>
            <a:ext cx="363877" cy="134476"/>
          </a:xfrm>
          <a:prstGeom prst="roundRect">
            <a:avLst>
              <a:gd name="adj" fmla="val 18000"/>
            </a:avLst>
          </a:prstGeom>
          <a:solidFill>
            <a:schemeClr val="bg1"/>
          </a:solidFill>
          <a:ln w="7290">
            <a:solidFill>
              <a:srgbClr val="BEC7C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GNN</a:t>
            </a:r>
          </a:p>
        </p:txBody>
      </p:sp>
      <p:sp>
        <p:nvSpPr>
          <p:cNvPr id="686" name="TextBox 12228">
            <a:extLst>
              <a:ext uri="{FF2B5EF4-FFF2-40B4-BE49-F238E27FC236}">
                <a16:creationId xmlns:a16="http://schemas.microsoft.com/office/drawing/2014/main" id="{36683559-3CBF-D989-0D4A-37975AD63C47}"/>
              </a:ext>
            </a:extLst>
          </p:cNvPr>
          <p:cNvSpPr txBox="1"/>
          <p:nvPr/>
        </p:nvSpPr>
        <p:spPr>
          <a:xfrm>
            <a:off x="3036959" y="3388848"/>
            <a:ext cx="134652" cy="80599"/>
          </a:xfrm>
          <a:prstGeom prst="rect">
            <a:avLst/>
          </a:prstGeom>
          <a:noFill/>
        </p:spPr>
        <p:txBody>
          <a:bodyPr wrap="none" lIns="0" tIns="0" rIns="0" bIns="0" anchor="ctr">
            <a:spAutoFit/>
          </a:bodyPr>
          <a:lstStyle/>
          <a:p>
            <a:pPr algn="l">
              <a:lnSpc>
                <a:spcPct val="105000"/>
              </a:lnSpc>
            </a:pPr>
            <a:r>
              <a:rPr sz="536" dirty="0">
                <a:solidFill>
                  <a:srgbClr val="263442"/>
                </a:solidFill>
                <a:latin typeface="Arial"/>
              </a:rPr>
              <a:t>K, V</a:t>
            </a:r>
          </a:p>
        </p:txBody>
      </p:sp>
      <p:sp>
        <p:nvSpPr>
          <p:cNvPr id="687" name="Op | Graph attention">
            <a:extLst>
              <a:ext uri="{FF2B5EF4-FFF2-40B4-BE49-F238E27FC236}">
                <a16:creationId xmlns:a16="http://schemas.microsoft.com/office/drawing/2014/main" id="{19322CD2-5AD1-7482-D627-0E2836FD3523}"/>
              </a:ext>
            </a:extLst>
          </p:cNvPr>
          <p:cNvSpPr/>
          <p:nvPr/>
        </p:nvSpPr>
        <p:spPr>
          <a:xfrm>
            <a:off x="2696813" y="3500341"/>
            <a:ext cx="617009" cy="150297"/>
          </a:xfrm>
          <a:prstGeom prst="roundRect">
            <a:avLst>
              <a:gd name="adj" fmla="val 18000"/>
            </a:avLst>
          </a:prstGeom>
          <a:solidFill>
            <a:schemeClr val="bg1"/>
          </a:solidFill>
          <a:ln w="7290">
            <a:solidFill>
              <a:srgbClr val="BEC7C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Graph</a:t>
            </a:r>
            <a:r>
              <a:rPr sz="580" dirty="0">
                <a:solidFill>
                  <a:srgbClr val="263442"/>
                </a:solidFill>
                <a:latin typeface="Arial"/>
              </a:rPr>
              <a:t> </a:t>
            </a:r>
            <a:r>
              <a:rPr sz="588" dirty="0">
                <a:solidFill>
                  <a:srgbClr val="263442"/>
                </a:solidFill>
                <a:latin typeface="Arial"/>
              </a:rPr>
              <a:t>attention</a:t>
            </a:r>
          </a:p>
        </p:txBody>
      </p:sp>
      <p:sp>
        <p:nvSpPr>
          <p:cNvPr id="688" name="Op | SMI-TED">
            <a:extLst>
              <a:ext uri="{FF2B5EF4-FFF2-40B4-BE49-F238E27FC236}">
                <a16:creationId xmlns:a16="http://schemas.microsoft.com/office/drawing/2014/main" id="{608D79B8-9D48-58C6-1CC8-44483B278221}"/>
              </a:ext>
            </a:extLst>
          </p:cNvPr>
          <p:cNvSpPr/>
          <p:nvPr/>
        </p:nvSpPr>
        <p:spPr>
          <a:xfrm>
            <a:off x="3459362" y="2971538"/>
            <a:ext cx="427160" cy="134476"/>
          </a:xfrm>
          <a:prstGeom prst="roundRect">
            <a:avLst>
              <a:gd name="adj" fmla="val 18000"/>
            </a:avLst>
          </a:prstGeom>
          <a:solidFill>
            <a:schemeClr val="bg1"/>
          </a:solidFill>
          <a:ln w="7290">
            <a:solidFill>
              <a:srgbClr val="BEC7C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SMI-TED</a:t>
            </a:r>
          </a:p>
        </p:txBody>
      </p:sp>
      <p:sp>
        <p:nvSpPr>
          <p:cNvPr id="689" name="Language vector v_k_1">
            <a:extLst>
              <a:ext uri="{FF2B5EF4-FFF2-40B4-BE49-F238E27FC236}">
                <a16:creationId xmlns:a16="http://schemas.microsoft.com/office/drawing/2014/main" id="{130236D0-76A7-1012-3B41-B2CB733A554B}"/>
              </a:ext>
            </a:extLst>
          </p:cNvPr>
          <p:cNvSpPr/>
          <p:nvPr/>
        </p:nvSpPr>
        <p:spPr>
          <a:xfrm>
            <a:off x="3527403" y="3547013"/>
            <a:ext cx="37291" cy="56955"/>
          </a:xfrm>
          <a:prstGeom prst="rect">
            <a:avLst/>
          </a:prstGeom>
          <a:solidFill>
            <a:srgbClr val="3C9B8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90" name="Language vector v_k_2">
            <a:extLst>
              <a:ext uri="{FF2B5EF4-FFF2-40B4-BE49-F238E27FC236}">
                <a16:creationId xmlns:a16="http://schemas.microsoft.com/office/drawing/2014/main" id="{955E1D08-355B-309F-96AD-EB512EBD1BFA}"/>
              </a:ext>
            </a:extLst>
          </p:cNvPr>
          <p:cNvSpPr/>
          <p:nvPr/>
        </p:nvSpPr>
        <p:spPr>
          <a:xfrm>
            <a:off x="3568650" y="3547013"/>
            <a:ext cx="37291" cy="56955"/>
          </a:xfrm>
          <a:prstGeom prst="rect">
            <a:avLst/>
          </a:prstGeom>
          <a:solidFill>
            <a:srgbClr val="6FB9A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91" name="Language vector v_k_3">
            <a:extLst>
              <a:ext uri="{FF2B5EF4-FFF2-40B4-BE49-F238E27FC236}">
                <a16:creationId xmlns:a16="http://schemas.microsoft.com/office/drawing/2014/main" id="{64B47C27-69B8-9E91-D602-FA6537597E8C}"/>
              </a:ext>
            </a:extLst>
          </p:cNvPr>
          <p:cNvSpPr/>
          <p:nvPr/>
        </p:nvSpPr>
        <p:spPr>
          <a:xfrm>
            <a:off x="3609897" y="3547013"/>
            <a:ext cx="37291" cy="56955"/>
          </a:xfrm>
          <a:prstGeom prst="rect">
            <a:avLst/>
          </a:prstGeom>
          <a:solidFill>
            <a:srgbClr val="ADD8C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92" name="Language vector v_k_4">
            <a:extLst>
              <a:ext uri="{FF2B5EF4-FFF2-40B4-BE49-F238E27FC236}">
                <a16:creationId xmlns:a16="http://schemas.microsoft.com/office/drawing/2014/main" id="{E1B18501-149F-8094-68B3-4BA21316682E}"/>
              </a:ext>
            </a:extLst>
          </p:cNvPr>
          <p:cNvSpPr/>
          <p:nvPr/>
        </p:nvSpPr>
        <p:spPr>
          <a:xfrm>
            <a:off x="3651144" y="3547013"/>
            <a:ext cx="37291" cy="56955"/>
          </a:xfrm>
          <a:prstGeom prst="rect">
            <a:avLst/>
          </a:prstGeom>
          <a:solidFill>
            <a:srgbClr val="CBE7D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93" name="Language vector v_k_5">
            <a:extLst>
              <a:ext uri="{FF2B5EF4-FFF2-40B4-BE49-F238E27FC236}">
                <a16:creationId xmlns:a16="http://schemas.microsoft.com/office/drawing/2014/main" id="{18EBD2F2-BE09-9BE5-2879-BB55EF0D3CE9}"/>
              </a:ext>
            </a:extLst>
          </p:cNvPr>
          <p:cNvSpPr/>
          <p:nvPr/>
        </p:nvSpPr>
        <p:spPr>
          <a:xfrm>
            <a:off x="3692391" y="3547013"/>
            <a:ext cx="37291" cy="56955"/>
          </a:xfrm>
          <a:prstGeom prst="rect">
            <a:avLst/>
          </a:prstGeom>
          <a:solidFill>
            <a:srgbClr val="3C9B8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94" name="Language vector v_k_6">
            <a:extLst>
              <a:ext uri="{FF2B5EF4-FFF2-40B4-BE49-F238E27FC236}">
                <a16:creationId xmlns:a16="http://schemas.microsoft.com/office/drawing/2014/main" id="{2A45EB01-0046-80E6-5B40-84013BDA5CDC}"/>
              </a:ext>
            </a:extLst>
          </p:cNvPr>
          <p:cNvSpPr/>
          <p:nvPr/>
        </p:nvSpPr>
        <p:spPr>
          <a:xfrm>
            <a:off x="3733638" y="3547013"/>
            <a:ext cx="37291" cy="56955"/>
          </a:xfrm>
          <a:prstGeom prst="rect">
            <a:avLst/>
          </a:prstGeom>
          <a:solidFill>
            <a:srgbClr val="6FB9A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95" name="Language vector v_k_7">
            <a:extLst>
              <a:ext uri="{FF2B5EF4-FFF2-40B4-BE49-F238E27FC236}">
                <a16:creationId xmlns:a16="http://schemas.microsoft.com/office/drawing/2014/main" id="{3FA8855B-6068-D178-E690-9538FDBE52A4}"/>
              </a:ext>
            </a:extLst>
          </p:cNvPr>
          <p:cNvSpPr/>
          <p:nvPr/>
        </p:nvSpPr>
        <p:spPr>
          <a:xfrm>
            <a:off x="3774885" y="3547013"/>
            <a:ext cx="37291" cy="56955"/>
          </a:xfrm>
          <a:prstGeom prst="rect">
            <a:avLst/>
          </a:prstGeom>
          <a:solidFill>
            <a:srgbClr val="ADD8C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96" name="TextBox 12239">
            <a:extLst>
              <a:ext uri="{FF2B5EF4-FFF2-40B4-BE49-F238E27FC236}">
                <a16:creationId xmlns:a16="http://schemas.microsoft.com/office/drawing/2014/main" id="{E5730381-A647-455A-D29E-909FCCD60988}"/>
              </a:ext>
            </a:extLst>
          </p:cNvPr>
          <p:cNvSpPr txBox="1"/>
          <p:nvPr/>
        </p:nvSpPr>
        <p:spPr>
          <a:xfrm>
            <a:off x="3353374" y="3475189"/>
            <a:ext cx="126566" cy="81946"/>
          </a:xfrm>
          <a:prstGeom prst="rect">
            <a:avLst/>
          </a:prstGeom>
          <a:noFill/>
        </p:spPr>
        <p:txBody>
          <a:bodyPr wrap="square" lIns="0" tIns="0" rIns="0" bIns="0" anchor="ctr">
            <a:spAutoFit/>
          </a:bodyPr>
          <a:lstStyle/>
          <a:p>
            <a:pPr algn="ctr">
              <a:lnSpc>
                <a:spcPct val="105000"/>
              </a:lnSpc>
            </a:pPr>
            <a:r>
              <a:rPr sz="545" dirty="0">
                <a:solidFill>
                  <a:srgbClr val="263442"/>
                </a:solidFill>
                <a:latin typeface="Arial"/>
              </a:rPr>
              <a:t>Q</a:t>
            </a:r>
          </a:p>
        </p:txBody>
      </p:sp>
      <p:sp>
        <p:nvSpPr>
          <p:cNvPr id="697" name="TextBox 12240">
            <a:extLst>
              <a:ext uri="{FF2B5EF4-FFF2-40B4-BE49-F238E27FC236}">
                <a16:creationId xmlns:a16="http://schemas.microsoft.com/office/drawing/2014/main" id="{52F343BE-6559-FDED-A7AE-84AA3FB2DBCF}"/>
              </a:ext>
            </a:extLst>
          </p:cNvPr>
          <p:cNvSpPr txBox="1"/>
          <p:nvPr/>
        </p:nvSpPr>
        <p:spPr>
          <a:xfrm>
            <a:off x="3859638" y="3475189"/>
            <a:ext cx="126566" cy="81946"/>
          </a:xfrm>
          <a:prstGeom prst="rect">
            <a:avLst/>
          </a:prstGeom>
          <a:noFill/>
        </p:spPr>
        <p:txBody>
          <a:bodyPr wrap="square" lIns="0" tIns="0" rIns="0" bIns="0" anchor="ctr">
            <a:spAutoFit/>
          </a:bodyPr>
          <a:lstStyle/>
          <a:p>
            <a:pPr algn="ctr">
              <a:lnSpc>
                <a:spcPct val="105000"/>
              </a:lnSpc>
            </a:pPr>
            <a:r>
              <a:rPr sz="545">
                <a:solidFill>
                  <a:srgbClr val="263442"/>
                </a:solidFill>
                <a:latin typeface="Arial"/>
              </a:rPr>
              <a:t>Q</a:t>
            </a:r>
          </a:p>
        </p:txBody>
      </p:sp>
      <p:sp>
        <p:nvSpPr>
          <p:cNvPr id="698" name="TextBox 12241">
            <a:extLst>
              <a:ext uri="{FF2B5EF4-FFF2-40B4-BE49-F238E27FC236}">
                <a16:creationId xmlns:a16="http://schemas.microsoft.com/office/drawing/2014/main" id="{112A440C-351F-5C9F-2270-1361D2C94E3E}"/>
              </a:ext>
            </a:extLst>
          </p:cNvPr>
          <p:cNvSpPr txBox="1"/>
          <p:nvPr/>
        </p:nvSpPr>
        <p:spPr>
          <a:xfrm>
            <a:off x="4373812" y="2542416"/>
            <a:ext cx="379698" cy="151836"/>
          </a:xfrm>
          <a:prstGeom prst="rect">
            <a:avLst/>
          </a:prstGeom>
          <a:noFill/>
        </p:spPr>
        <p:txBody>
          <a:bodyPr wrap="square" lIns="0" tIns="0" rIns="0" bIns="0" anchor="ctr">
            <a:spAutoFit/>
          </a:bodyPr>
          <a:lstStyle/>
          <a:p>
            <a:pPr algn="l">
              <a:lnSpc>
                <a:spcPct val="95000"/>
              </a:lnSpc>
            </a:pPr>
            <a:r>
              <a:rPr lang="en-US" sz="519" dirty="0">
                <a:solidFill>
                  <a:srgbClr val="263442"/>
                </a:solidFill>
                <a:latin typeface="Arial"/>
              </a:rPr>
              <a:t>  </a:t>
            </a:r>
            <a:r>
              <a:rPr sz="519" dirty="0">
                <a:solidFill>
                  <a:srgbClr val="263442"/>
                </a:solidFill>
                <a:latin typeface="Arial"/>
              </a:rPr>
              <a:t>Other</a:t>
            </a:r>
          </a:p>
          <a:p>
            <a:pPr algn="l">
              <a:lnSpc>
                <a:spcPct val="95000"/>
              </a:lnSpc>
            </a:pPr>
            <a:r>
              <a:rPr sz="519" dirty="0">
                <a:solidFill>
                  <a:srgbClr val="263442"/>
                </a:solidFill>
                <a:latin typeface="Arial"/>
              </a:rPr>
              <a:t>identities</a:t>
            </a:r>
          </a:p>
        </p:txBody>
      </p:sp>
      <p:sp>
        <p:nvSpPr>
          <p:cNvPr id="699" name="Op | SMI-TED">
            <a:extLst>
              <a:ext uri="{FF2B5EF4-FFF2-40B4-BE49-F238E27FC236}">
                <a16:creationId xmlns:a16="http://schemas.microsoft.com/office/drawing/2014/main" id="{68AD35E6-1421-A2E6-4A70-C64593C4D0D9}"/>
              </a:ext>
            </a:extLst>
          </p:cNvPr>
          <p:cNvSpPr/>
          <p:nvPr/>
        </p:nvSpPr>
        <p:spPr>
          <a:xfrm>
            <a:off x="4140927" y="2967199"/>
            <a:ext cx="427160" cy="134476"/>
          </a:xfrm>
          <a:prstGeom prst="roundRect">
            <a:avLst>
              <a:gd name="adj" fmla="val 18000"/>
            </a:avLst>
          </a:prstGeom>
          <a:solidFill>
            <a:schemeClr val="bg1"/>
          </a:solidFill>
          <a:ln w="7290">
            <a:solidFill>
              <a:srgbClr val="BEC7C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SMI-TED</a:t>
            </a:r>
          </a:p>
        </p:txBody>
      </p:sp>
      <p:sp>
        <p:nvSpPr>
          <p:cNvPr id="700" name="TextBox 12244">
            <a:extLst>
              <a:ext uri="{FF2B5EF4-FFF2-40B4-BE49-F238E27FC236}">
                <a16:creationId xmlns:a16="http://schemas.microsoft.com/office/drawing/2014/main" id="{BB27A32E-113F-D2E9-2371-AF9455241203}"/>
              </a:ext>
            </a:extLst>
          </p:cNvPr>
          <p:cNvSpPr txBox="1"/>
          <p:nvPr/>
        </p:nvSpPr>
        <p:spPr>
          <a:xfrm>
            <a:off x="4128591" y="3197919"/>
            <a:ext cx="79104" cy="67711"/>
          </a:xfrm>
          <a:prstGeom prst="rect">
            <a:avLst/>
          </a:prstGeom>
          <a:noFill/>
        </p:spPr>
        <p:txBody>
          <a:bodyPr wrap="square" lIns="0" tIns="0" rIns="0" bIns="0" anchor="ctr">
            <a:spAutoFit/>
          </a:bodyPr>
          <a:lstStyle/>
          <a:p>
            <a:pPr algn="ctr">
              <a:lnSpc>
                <a:spcPct val="105000"/>
              </a:lnSpc>
            </a:pPr>
            <a:r>
              <a:rPr sz="522" dirty="0">
                <a:solidFill>
                  <a:srgbClr val="263442"/>
                </a:solidFill>
                <a:latin typeface="Arial"/>
              </a:rPr>
              <a:t>1</a:t>
            </a:r>
          </a:p>
        </p:txBody>
      </p:sp>
      <p:sp>
        <p:nvSpPr>
          <p:cNvPr id="701" name="Context bar 1_1">
            <a:extLst>
              <a:ext uri="{FF2B5EF4-FFF2-40B4-BE49-F238E27FC236}">
                <a16:creationId xmlns:a16="http://schemas.microsoft.com/office/drawing/2014/main" id="{05F1929C-7F33-158D-27BA-C5583426047D}"/>
              </a:ext>
            </a:extLst>
          </p:cNvPr>
          <p:cNvSpPr/>
          <p:nvPr/>
        </p:nvSpPr>
        <p:spPr>
          <a:xfrm>
            <a:off x="4223515" y="3223887"/>
            <a:ext cx="44166" cy="34806"/>
          </a:xfrm>
          <a:prstGeom prst="rect">
            <a:avLst/>
          </a:prstGeom>
          <a:solidFill>
            <a:srgbClr val="5A82B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02" name="Context bar 1_2">
            <a:extLst>
              <a:ext uri="{FF2B5EF4-FFF2-40B4-BE49-F238E27FC236}">
                <a16:creationId xmlns:a16="http://schemas.microsoft.com/office/drawing/2014/main" id="{662A2F66-4F57-5AB6-19BC-C38956939267}"/>
              </a:ext>
            </a:extLst>
          </p:cNvPr>
          <p:cNvSpPr/>
          <p:nvPr/>
        </p:nvSpPr>
        <p:spPr>
          <a:xfrm>
            <a:off x="4271637" y="3223887"/>
            <a:ext cx="44166" cy="34806"/>
          </a:xfrm>
          <a:prstGeom prst="rect">
            <a:avLst/>
          </a:prstGeom>
          <a:solidFill>
            <a:srgbClr val="8BAAD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03" name="Context bar 1_3">
            <a:extLst>
              <a:ext uri="{FF2B5EF4-FFF2-40B4-BE49-F238E27FC236}">
                <a16:creationId xmlns:a16="http://schemas.microsoft.com/office/drawing/2014/main" id="{067F011E-4AA3-C6B7-BEBA-03AD93490D1A}"/>
              </a:ext>
            </a:extLst>
          </p:cNvPr>
          <p:cNvSpPr/>
          <p:nvPr/>
        </p:nvSpPr>
        <p:spPr>
          <a:xfrm>
            <a:off x="4319758" y="3223887"/>
            <a:ext cx="44166" cy="34806"/>
          </a:xfrm>
          <a:prstGeom prst="rect">
            <a:avLst/>
          </a:prstGeom>
          <a:solidFill>
            <a:srgbClr val="BFD2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04" name="Context bar 1_4">
            <a:extLst>
              <a:ext uri="{FF2B5EF4-FFF2-40B4-BE49-F238E27FC236}">
                <a16:creationId xmlns:a16="http://schemas.microsoft.com/office/drawing/2014/main" id="{CE977707-CA4B-5983-68AC-81B511DB18CF}"/>
              </a:ext>
            </a:extLst>
          </p:cNvPr>
          <p:cNvSpPr/>
          <p:nvPr/>
        </p:nvSpPr>
        <p:spPr>
          <a:xfrm>
            <a:off x="4367880" y="3223887"/>
            <a:ext cx="44166" cy="34806"/>
          </a:xfrm>
          <a:prstGeom prst="rect">
            <a:avLst/>
          </a:prstGeom>
          <a:solidFill>
            <a:srgbClr val="7397C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05" name="Context bar 1_5">
            <a:extLst>
              <a:ext uri="{FF2B5EF4-FFF2-40B4-BE49-F238E27FC236}">
                <a16:creationId xmlns:a16="http://schemas.microsoft.com/office/drawing/2014/main" id="{C5FA3902-C328-D66F-1E07-BB01D481156A}"/>
              </a:ext>
            </a:extLst>
          </p:cNvPr>
          <p:cNvSpPr/>
          <p:nvPr/>
        </p:nvSpPr>
        <p:spPr>
          <a:xfrm>
            <a:off x="4416001" y="3223887"/>
            <a:ext cx="44166" cy="34806"/>
          </a:xfrm>
          <a:prstGeom prst="rect">
            <a:avLst/>
          </a:prstGeom>
          <a:solidFill>
            <a:srgbClr val="5A82B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06" name="Context bar 1_6">
            <a:extLst>
              <a:ext uri="{FF2B5EF4-FFF2-40B4-BE49-F238E27FC236}">
                <a16:creationId xmlns:a16="http://schemas.microsoft.com/office/drawing/2014/main" id="{0EDC83EE-1769-5A66-5D0E-8266AB81D986}"/>
              </a:ext>
            </a:extLst>
          </p:cNvPr>
          <p:cNvSpPr/>
          <p:nvPr/>
        </p:nvSpPr>
        <p:spPr>
          <a:xfrm>
            <a:off x="4464123" y="3223887"/>
            <a:ext cx="44166" cy="34806"/>
          </a:xfrm>
          <a:prstGeom prst="rect">
            <a:avLst/>
          </a:prstGeom>
          <a:solidFill>
            <a:srgbClr val="8BAAD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07" name="TextBox 12251">
            <a:extLst>
              <a:ext uri="{FF2B5EF4-FFF2-40B4-BE49-F238E27FC236}">
                <a16:creationId xmlns:a16="http://schemas.microsoft.com/office/drawing/2014/main" id="{E0FF7DD8-3983-397E-511A-07E35C10772A}"/>
              </a:ext>
            </a:extLst>
          </p:cNvPr>
          <p:cNvSpPr txBox="1"/>
          <p:nvPr/>
        </p:nvSpPr>
        <p:spPr>
          <a:xfrm>
            <a:off x="4128591" y="3270220"/>
            <a:ext cx="79104" cy="67711"/>
          </a:xfrm>
          <a:prstGeom prst="rect">
            <a:avLst/>
          </a:prstGeom>
          <a:noFill/>
        </p:spPr>
        <p:txBody>
          <a:bodyPr wrap="square" lIns="0" tIns="0" rIns="0" bIns="0" anchor="ctr">
            <a:spAutoFit/>
          </a:bodyPr>
          <a:lstStyle/>
          <a:p>
            <a:pPr algn="ctr">
              <a:lnSpc>
                <a:spcPct val="105000"/>
              </a:lnSpc>
            </a:pPr>
            <a:r>
              <a:rPr sz="522" dirty="0">
                <a:solidFill>
                  <a:srgbClr val="263442"/>
                </a:solidFill>
                <a:latin typeface="Arial"/>
              </a:rPr>
              <a:t>2</a:t>
            </a:r>
          </a:p>
        </p:txBody>
      </p:sp>
      <p:sp>
        <p:nvSpPr>
          <p:cNvPr id="708" name="Context bar 2_1">
            <a:extLst>
              <a:ext uri="{FF2B5EF4-FFF2-40B4-BE49-F238E27FC236}">
                <a16:creationId xmlns:a16="http://schemas.microsoft.com/office/drawing/2014/main" id="{AD27791B-BAA3-BC74-3AE2-CF7D58494849}"/>
              </a:ext>
            </a:extLst>
          </p:cNvPr>
          <p:cNvSpPr/>
          <p:nvPr/>
        </p:nvSpPr>
        <p:spPr>
          <a:xfrm>
            <a:off x="4223515" y="3286664"/>
            <a:ext cx="44166" cy="34806"/>
          </a:xfrm>
          <a:prstGeom prst="rect">
            <a:avLst/>
          </a:prstGeom>
          <a:solidFill>
            <a:srgbClr val="A67C4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09" name="Context bar 2_2">
            <a:extLst>
              <a:ext uri="{FF2B5EF4-FFF2-40B4-BE49-F238E27FC236}">
                <a16:creationId xmlns:a16="http://schemas.microsoft.com/office/drawing/2014/main" id="{E37705EF-6D0B-89D0-48A9-97A6A3EB2CB7}"/>
              </a:ext>
            </a:extLst>
          </p:cNvPr>
          <p:cNvSpPr/>
          <p:nvPr/>
        </p:nvSpPr>
        <p:spPr>
          <a:xfrm>
            <a:off x="4271637" y="3286664"/>
            <a:ext cx="44166" cy="34806"/>
          </a:xfrm>
          <a:prstGeom prst="rect">
            <a:avLst/>
          </a:prstGeom>
          <a:solidFill>
            <a:srgbClr val="C6A37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10" name="Context bar 2_3">
            <a:extLst>
              <a:ext uri="{FF2B5EF4-FFF2-40B4-BE49-F238E27FC236}">
                <a16:creationId xmlns:a16="http://schemas.microsoft.com/office/drawing/2014/main" id="{D9DC2695-75BA-CAE7-1DF7-516F912B4470}"/>
              </a:ext>
            </a:extLst>
          </p:cNvPr>
          <p:cNvSpPr/>
          <p:nvPr/>
        </p:nvSpPr>
        <p:spPr>
          <a:xfrm>
            <a:off x="4319758" y="3286664"/>
            <a:ext cx="44166" cy="34806"/>
          </a:xfrm>
          <a:prstGeom prst="rect">
            <a:avLst/>
          </a:prstGeom>
          <a:solidFill>
            <a:srgbClr val="E0CCB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11" name="Context bar 2_4">
            <a:extLst>
              <a:ext uri="{FF2B5EF4-FFF2-40B4-BE49-F238E27FC236}">
                <a16:creationId xmlns:a16="http://schemas.microsoft.com/office/drawing/2014/main" id="{3C306348-DBCD-1B2A-27D8-191B2064F2D3}"/>
              </a:ext>
            </a:extLst>
          </p:cNvPr>
          <p:cNvSpPr/>
          <p:nvPr/>
        </p:nvSpPr>
        <p:spPr>
          <a:xfrm>
            <a:off x="4367880" y="3286664"/>
            <a:ext cx="44166" cy="34806"/>
          </a:xfrm>
          <a:prstGeom prst="rect">
            <a:avLst/>
          </a:prstGeom>
          <a:solidFill>
            <a:srgbClr val="B58E5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12" name="Context bar 2_5">
            <a:extLst>
              <a:ext uri="{FF2B5EF4-FFF2-40B4-BE49-F238E27FC236}">
                <a16:creationId xmlns:a16="http://schemas.microsoft.com/office/drawing/2014/main" id="{DDF32FAE-D1A8-EC3E-C64C-B4DBEE23F811}"/>
              </a:ext>
            </a:extLst>
          </p:cNvPr>
          <p:cNvSpPr/>
          <p:nvPr/>
        </p:nvSpPr>
        <p:spPr>
          <a:xfrm>
            <a:off x="4416001" y="3286664"/>
            <a:ext cx="44166" cy="34806"/>
          </a:xfrm>
          <a:prstGeom prst="rect">
            <a:avLst/>
          </a:prstGeom>
          <a:solidFill>
            <a:srgbClr val="A67C4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13" name="Context bar 2_6">
            <a:extLst>
              <a:ext uri="{FF2B5EF4-FFF2-40B4-BE49-F238E27FC236}">
                <a16:creationId xmlns:a16="http://schemas.microsoft.com/office/drawing/2014/main" id="{08E6C466-AB87-B031-6115-EC01F075D09D}"/>
              </a:ext>
            </a:extLst>
          </p:cNvPr>
          <p:cNvSpPr/>
          <p:nvPr/>
        </p:nvSpPr>
        <p:spPr>
          <a:xfrm>
            <a:off x="4464123" y="3286664"/>
            <a:ext cx="44166" cy="34806"/>
          </a:xfrm>
          <a:prstGeom prst="rect">
            <a:avLst/>
          </a:prstGeom>
          <a:solidFill>
            <a:srgbClr val="C6A37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14" name="TextBox 12258">
            <a:extLst>
              <a:ext uri="{FF2B5EF4-FFF2-40B4-BE49-F238E27FC236}">
                <a16:creationId xmlns:a16="http://schemas.microsoft.com/office/drawing/2014/main" id="{2BC83F60-8222-9466-11E0-6843C5A1C383}"/>
              </a:ext>
            </a:extLst>
          </p:cNvPr>
          <p:cNvSpPr txBox="1"/>
          <p:nvPr/>
        </p:nvSpPr>
        <p:spPr>
          <a:xfrm>
            <a:off x="4128591" y="3342522"/>
            <a:ext cx="79104" cy="67711"/>
          </a:xfrm>
          <a:prstGeom prst="rect">
            <a:avLst/>
          </a:prstGeom>
          <a:noFill/>
        </p:spPr>
        <p:txBody>
          <a:bodyPr wrap="square" lIns="0" tIns="0" rIns="0" bIns="0" anchor="ctr">
            <a:spAutoFit/>
          </a:bodyPr>
          <a:lstStyle/>
          <a:p>
            <a:pPr algn="ctr">
              <a:lnSpc>
                <a:spcPct val="105000"/>
              </a:lnSpc>
            </a:pPr>
            <a:r>
              <a:rPr sz="522" dirty="0">
                <a:solidFill>
                  <a:srgbClr val="263442"/>
                </a:solidFill>
                <a:latin typeface="Arial"/>
              </a:rPr>
              <a:t>K</a:t>
            </a:r>
          </a:p>
        </p:txBody>
      </p:sp>
      <p:sp>
        <p:nvSpPr>
          <p:cNvPr id="715" name="Context bar K_1">
            <a:extLst>
              <a:ext uri="{FF2B5EF4-FFF2-40B4-BE49-F238E27FC236}">
                <a16:creationId xmlns:a16="http://schemas.microsoft.com/office/drawing/2014/main" id="{849F65F0-600D-DEE1-14B7-742BA5715E15}"/>
              </a:ext>
            </a:extLst>
          </p:cNvPr>
          <p:cNvSpPr/>
          <p:nvPr/>
        </p:nvSpPr>
        <p:spPr>
          <a:xfrm>
            <a:off x="4223515" y="3349440"/>
            <a:ext cx="44166" cy="34806"/>
          </a:xfrm>
          <a:prstGeom prst="rect">
            <a:avLst/>
          </a:prstGeom>
          <a:solidFill>
            <a:srgbClr val="7A68A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16" name="Context bar K_2">
            <a:extLst>
              <a:ext uri="{FF2B5EF4-FFF2-40B4-BE49-F238E27FC236}">
                <a16:creationId xmlns:a16="http://schemas.microsoft.com/office/drawing/2014/main" id="{A305351E-0A56-BEBE-D6E3-F36395A9BD3B}"/>
              </a:ext>
            </a:extLst>
          </p:cNvPr>
          <p:cNvSpPr/>
          <p:nvPr/>
        </p:nvSpPr>
        <p:spPr>
          <a:xfrm>
            <a:off x="4271637" y="3349440"/>
            <a:ext cx="44166" cy="34806"/>
          </a:xfrm>
          <a:prstGeom prst="rect">
            <a:avLst/>
          </a:prstGeom>
          <a:solidFill>
            <a:srgbClr val="A193C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17" name="Context bar K_3">
            <a:extLst>
              <a:ext uri="{FF2B5EF4-FFF2-40B4-BE49-F238E27FC236}">
                <a16:creationId xmlns:a16="http://schemas.microsoft.com/office/drawing/2014/main" id="{70443BAB-5250-4C86-0486-D2C12A458209}"/>
              </a:ext>
            </a:extLst>
          </p:cNvPr>
          <p:cNvSpPr/>
          <p:nvPr/>
        </p:nvSpPr>
        <p:spPr>
          <a:xfrm>
            <a:off x="4319758" y="3349440"/>
            <a:ext cx="44166" cy="34806"/>
          </a:xfrm>
          <a:prstGeom prst="rect">
            <a:avLst/>
          </a:prstGeom>
          <a:solidFill>
            <a:srgbClr val="CBC2E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18" name="Context bar K_4">
            <a:extLst>
              <a:ext uri="{FF2B5EF4-FFF2-40B4-BE49-F238E27FC236}">
                <a16:creationId xmlns:a16="http://schemas.microsoft.com/office/drawing/2014/main" id="{50ECBD49-60B4-4B55-2875-7526697050D4}"/>
              </a:ext>
            </a:extLst>
          </p:cNvPr>
          <p:cNvSpPr/>
          <p:nvPr/>
        </p:nvSpPr>
        <p:spPr>
          <a:xfrm>
            <a:off x="4367880" y="3349440"/>
            <a:ext cx="44166" cy="34806"/>
          </a:xfrm>
          <a:prstGeom prst="rect">
            <a:avLst/>
          </a:prstGeom>
          <a:solidFill>
            <a:srgbClr val="8E7DB5"/>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19" name="Context bar K_5">
            <a:extLst>
              <a:ext uri="{FF2B5EF4-FFF2-40B4-BE49-F238E27FC236}">
                <a16:creationId xmlns:a16="http://schemas.microsoft.com/office/drawing/2014/main" id="{A2C9F1EA-8C19-FE37-F067-11F9B3F6F765}"/>
              </a:ext>
            </a:extLst>
          </p:cNvPr>
          <p:cNvSpPr/>
          <p:nvPr/>
        </p:nvSpPr>
        <p:spPr>
          <a:xfrm>
            <a:off x="4416001" y="3349440"/>
            <a:ext cx="44166" cy="34806"/>
          </a:xfrm>
          <a:prstGeom prst="rect">
            <a:avLst/>
          </a:prstGeom>
          <a:solidFill>
            <a:srgbClr val="7A68A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20" name="Context bar K_6">
            <a:extLst>
              <a:ext uri="{FF2B5EF4-FFF2-40B4-BE49-F238E27FC236}">
                <a16:creationId xmlns:a16="http://schemas.microsoft.com/office/drawing/2014/main" id="{735A7634-980E-5895-732E-213A761AB123}"/>
              </a:ext>
            </a:extLst>
          </p:cNvPr>
          <p:cNvSpPr/>
          <p:nvPr/>
        </p:nvSpPr>
        <p:spPr>
          <a:xfrm>
            <a:off x="4464123" y="3349440"/>
            <a:ext cx="44166" cy="34806"/>
          </a:xfrm>
          <a:prstGeom prst="rect">
            <a:avLst/>
          </a:prstGeom>
          <a:solidFill>
            <a:srgbClr val="A193C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21" name="TextBox 12265">
            <a:extLst>
              <a:ext uri="{FF2B5EF4-FFF2-40B4-BE49-F238E27FC236}">
                <a16:creationId xmlns:a16="http://schemas.microsoft.com/office/drawing/2014/main" id="{9C02F653-D565-D8BB-15A1-8FB1144A6D0F}"/>
              </a:ext>
            </a:extLst>
          </p:cNvPr>
          <p:cNvSpPr txBox="1"/>
          <p:nvPr/>
        </p:nvSpPr>
        <p:spPr>
          <a:xfrm>
            <a:off x="4381723" y="3400472"/>
            <a:ext cx="134652" cy="80599"/>
          </a:xfrm>
          <a:prstGeom prst="rect">
            <a:avLst/>
          </a:prstGeom>
          <a:noFill/>
        </p:spPr>
        <p:txBody>
          <a:bodyPr wrap="none" lIns="0" tIns="0" rIns="0" bIns="0" anchor="ctr">
            <a:spAutoFit/>
          </a:bodyPr>
          <a:lstStyle/>
          <a:p>
            <a:pPr algn="l">
              <a:lnSpc>
                <a:spcPct val="105000"/>
              </a:lnSpc>
            </a:pPr>
            <a:r>
              <a:rPr sz="536" dirty="0">
                <a:solidFill>
                  <a:srgbClr val="263442"/>
                </a:solidFill>
                <a:latin typeface="Arial"/>
              </a:rPr>
              <a:t>K, V</a:t>
            </a:r>
          </a:p>
        </p:txBody>
      </p:sp>
      <p:sp>
        <p:nvSpPr>
          <p:cNvPr id="722" name="Op | Context attention">
            <a:extLst>
              <a:ext uri="{FF2B5EF4-FFF2-40B4-BE49-F238E27FC236}">
                <a16:creationId xmlns:a16="http://schemas.microsoft.com/office/drawing/2014/main" id="{79DE6AC1-3890-17D1-55AB-3B2104813636}"/>
              </a:ext>
            </a:extLst>
          </p:cNvPr>
          <p:cNvSpPr/>
          <p:nvPr/>
        </p:nvSpPr>
        <p:spPr>
          <a:xfrm>
            <a:off x="4025756" y="3500341"/>
            <a:ext cx="648651" cy="150297"/>
          </a:xfrm>
          <a:prstGeom prst="roundRect">
            <a:avLst>
              <a:gd name="adj" fmla="val 18000"/>
            </a:avLst>
          </a:prstGeom>
          <a:solidFill>
            <a:schemeClr val="bg1"/>
          </a:solidFill>
          <a:ln w="7290">
            <a:solidFill>
              <a:srgbClr val="BEC7C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Context</a:t>
            </a:r>
            <a:r>
              <a:rPr sz="580" dirty="0">
                <a:solidFill>
                  <a:srgbClr val="263442"/>
                </a:solidFill>
                <a:latin typeface="Arial"/>
              </a:rPr>
              <a:t> attention</a:t>
            </a:r>
          </a:p>
        </p:txBody>
      </p:sp>
      <p:sp>
        <p:nvSpPr>
          <p:cNvPr id="723" name="Op | Fusion">
            <a:extLst>
              <a:ext uri="{FF2B5EF4-FFF2-40B4-BE49-F238E27FC236}">
                <a16:creationId xmlns:a16="http://schemas.microsoft.com/office/drawing/2014/main" id="{C8ADA774-E66E-A6A2-016E-20B972F878BF}"/>
              </a:ext>
            </a:extLst>
          </p:cNvPr>
          <p:cNvSpPr/>
          <p:nvPr/>
        </p:nvSpPr>
        <p:spPr>
          <a:xfrm>
            <a:off x="3479940" y="3733697"/>
            <a:ext cx="379698" cy="142387"/>
          </a:xfrm>
          <a:prstGeom prst="roundRect">
            <a:avLst>
              <a:gd name="adj" fmla="val 18000"/>
            </a:avLst>
          </a:prstGeom>
          <a:solidFill>
            <a:schemeClr val="bg1"/>
          </a:solidFill>
          <a:ln w="7290">
            <a:solidFill>
              <a:srgbClr val="BEC7C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Fusion</a:t>
            </a:r>
          </a:p>
        </p:txBody>
      </p:sp>
      <p:sp>
        <p:nvSpPr>
          <p:cNvPr id="724" name="g_k bar_1">
            <a:extLst>
              <a:ext uri="{FF2B5EF4-FFF2-40B4-BE49-F238E27FC236}">
                <a16:creationId xmlns:a16="http://schemas.microsoft.com/office/drawing/2014/main" id="{FECFA284-4082-BB36-CF29-F43EBA2D7044}"/>
              </a:ext>
            </a:extLst>
          </p:cNvPr>
          <p:cNvSpPr/>
          <p:nvPr/>
        </p:nvSpPr>
        <p:spPr>
          <a:xfrm>
            <a:off x="3503672" y="3989994"/>
            <a:ext cx="44072" cy="56955"/>
          </a:xfrm>
          <a:prstGeom prst="rect">
            <a:avLst/>
          </a:prstGeom>
          <a:solidFill>
            <a:srgbClr val="3E997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25" name="g_k bar_2">
            <a:extLst>
              <a:ext uri="{FF2B5EF4-FFF2-40B4-BE49-F238E27FC236}">
                <a16:creationId xmlns:a16="http://schemas.microsoft.com/office/drawing/2014/main" id="{02657CA5-9558-6D23-726C-B6991F5254D4}"/>
              </a:ext>
            </a:extLst>
          </p:cNvPr>
          <p:cNvSpPr/>
          <p:nvPr/>
        </p:nvSpPr>
        <p:spPr>
          <a:xfrm>
            <a:off x="3551699" y="3989994"/>
            <a:ext cx="44072" cy="56955"/>
          </a:xfrm>
          <a:prstGeom prst="rect">
            <a:avLst/>
          </a:prstGeom>
          <a:solidFill>
            <a:srgbClr val="83C2A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26" name="g_k bar_3">
            <a:extLst>
              <a:ext uri="{FF2B5EF4-FFF2-40B4-BE49-F238E27FC236}">
                <a16:creationId xmlns:a16="http://schemas.microsoft.com/office/drawing/2014/main" id="{4EBC715A-C7DF-C3EC-15C9-EEB9A8132CBE}"/>
              </a:ext>
            </a:extLst>
          </p:cNvPr>
          <p:cNvSpPr/>
          <p:nvPr/>
        </p:nvSpPr>
        <p:spPr>
          <a:xfrm>
            <a:off x="3599726" y="3989994"/>
            <a:ext cx="44072" cy="56955"/>
          </a:xfrm>
          <a:prstGeom prst="rect">
            <a:avLst/>
          </a:prstGeom>
          <a:solidFill>
            <a:srgbClr val="BCDDC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27" name="g_k bar_4">
            <a:extLst>
              <a:ext uri="{FF2B5EF4-FFF2-40B4-BE49-F238E27FC236}">
                <a16:creationId xmlns:a16="http://schemas.microsoft.com/office/drawing/2014/main" id="{2012338B-F024-EBCC-E444-A4CCA9FE6843}"/>
              </a:ext>
            </a:extLst>
          </p:cNvPr>
          <p:cNvSpPr/>
          <p:nvPr/>
        </p:nvSpPr>
        <p:spPr>
          <a:xfrm>
            <a:off x="3647753" y="3989994"/>
            <a:ext cx="44072" cy="56955"/>
          </a:xfrm>
          <a:prstGeom prst="rect">
            <a:avLst/>
          </a:prstGeom>
          <a:solidFill>
            <a:srgbClr val="68AB9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28" name="g_k bar_5">
            <a:extLst>
              <a:ext uri="{FF2B5EF4-FFF2-40B4-BE49-F238E27FC236}">
                <a16:creationId xmlns:a16="http://schemas.microsoft.com/office/drawing/2014/main" id="{B66CA711-BFB2-96DD-CA70-BEC60D33FE01}"/>
              </a:ext>
            </a:extLst>
          </p:cNvPr>
          <p:cNvSpPr/>
          <p:nvPr/>
        </p:nvSpPr>
        <p:spPr>
          <a:xfrm>
            <a:off x="3695781" y="3989994"/>
            <a:ext cx="44072" cy="56955"/>
          </a:xfrm>
          <a:prstGeom prst="rect">
            <a:avLst/>
          </a:prstGeom>
          <a:solidFill>
            <a:srgbClr val="3E997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29" name="g_k bar_6">
            <a:extLst>
              <a:ext uri="{FF2B5EF4-FFF2-40B4-BE49-F238E27FC236}">
                <a16:creationId xmlns:a16="http://schemas.microsoft.com/office/drawing/2014/main" id="{97DC8DD5-CC28-4D2F-BD22-4A1FB44D0129}"/>
              </a:ext>
            </a:extLst>
          </p:cNvPr>
          <p:cNvSpPr/>
          <p:nvPr/>
        </p:nvSpPr>
        <p:spPr>
          <a:xfrm>
            <a:off x="3743808" y="3989994"/>
            <a:ext cx="44072" cy="56955"/>
          </a:xfrm>
          <a:prstGeom prst="rect">
            <a:avLst/>
          </a:prstGeom>
          <a:solidFill>
            <a:srgbClr val="83C2A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30" name="g_k bar_7">
            <a:extLst>
              <a:ext uri="{FF2B5EF4-FFF2-40B4-BE49-F238E27FC236}">
                <a16:creationId xmlns:a16="http://schemas.microsoft.com/office/drawing/2014/main" id="{4392C2A6-FC7B-48F7-CC98-7C339D85A959}"/>
              </a:ext>
            </a:extLst>
          </p:cNvPr>
          <p:cNvSpPr/>
          <p:nvPr/>
        </p:nvSpPr>
        <p:spPr>
          <a:xfrm>
            <a:off x="3791835" y="3989994"/>
            <a:ext cx="44072" cy="56955"/>
          </a:xfrm>
          <a:prstGeom prst="rect">
            <a:avLst/>
          </a:prstGeom>
          <a:solidFill>
            <a:srgbClr val="BCDDC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31" name="Math | g_k^">
            <a:extLst>
              <a:ext uri="{FF2B5EF4-FFF2-40B4-BE49-F238E27FC236}">
                <a16:creationId xmlns:a16="http://schemas.microsoft.com/office/drawing/2014/main" id="{A73F20F9-55DC-133E-3461-B599FB11A753}"/>
              </a:ext>
            </a:extLst>
          </p:cNvPr>
          <p:cNvSpPr txBox="1"/>
          <p:nvPr/>
        </p:nvSpPr>
        <p:spPr>
          <a:xfrm>
            <a:off x="3872532" y="3947306"/>
            <a:ext cx="84960" cy="126509"/>
          </a:xfrm>
          <a:prstGeom prst="rect">
            <a:avLst/>
          </a:prstGeom>
          <a:noFill/>
        </p:spPr>
        <p:txBody>
          <a:bodyPr wrap="none" lIns="0" tIns="0" rIns="0" bIns="0" anchor="ctr">
            <a:spAutoFit/>
          </a:bodyPr>
          <a:lstStyle/>
          <a:p>
            <a:pPr algn="ctr"/>
            <a:r>
              <a:rPr sz="855" i="1">
                <a:solidFill>
                  <a:srgbClr val="263442"/>
                </a:solidFill>
                <a:latin typeface="Times New Roman"/>
              </a:rPr>
              <a:t>g</a:t>
            </a:r>
            <a:r>
              <a:rPr sz="780" i="1" baseline="-28000">
                <a:solidFill>
                  <a:srgbClr val="263442"/>
                </a:solidFill>
                <a:latin typeface="Times New Roman"/>
              </a:rPr>
              <a:t>k</a:t>
            </a:r>
          </a:p>
        </p:txBody>
      </p:sp>
      <p:sp>
        <p:nvSpPr>
          <p:cNvPr id="732" name="Op | Cosine score">
            <a:extLst>
              <a:ext uri="{FF2B5EF4-FFF2-40B4-BE49-F238E27FC236}">
                <a16:creationId xmlns:a16="http://schemas.microsoft.com/office/drawing/2014/main" id="{66DCF91F-1CBA-C7CE-BC4F-097CBF018C34}"/>
              </a:ext>
            </a:extLst>
          </p:cNvPr>
          <p:cNvSpPr/>
          <p:nvPr/>
        </p:nvSpPr>
        <p:spPr>
          <a:xfrm>
            <a:off x="3279920" y="4162465"/>
            <a:ext cx="569547" cy="150297"/>
          </a:xfrm>
          <a:prstGeom prst="roundRect">
            <a:avLst>
              <a:gd name="adj" fmla="val 18000"/>
            </a:avLst>
          </a:prstGeom>
          <a:solidFill>
            <a:schemeClr val="bg1"/>
          </a:solidFill>
          <a:ln w="7290">
            <a:solidFill>
              <a:srgbClr val="BEC7C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Cosine score</a:t>
            </a:r>
          </a:p>
        </p:txBody>
      </p:sp>
      <p:sp>
        <p:nvSpPr>
          <p:cNvPr id="733" name="TextBox 12277">
            <a:extLst>
              <a:ext uri="{FF2B5EF4-FFF2-40B4-BE49-F238E27FC236}">
                <a16:creationId xmlns:a16="http://schemas.microsoft.com/office/drawing/2014/main" id="{95C180B8-3921-5D94-4DA1-811D1D005341}"/>
              </a:ext>
            </a:extLst>
          </p:cNvPr>
          <p:cNvSpPr txBox="1"/>
          <p:nvPr/>
        </p:nvSpPr>
        <p:spPr>
          <a:xfrm>
            <a:off x="3275392" y="4326634"/>
            <a:ext cx="585097" cy="79445"/>
          </a:xfrm>
          <a:prstGeom prst="rect">
            <a:avLst/>
          </a:prstGeom>
          <a:noFill/>
        </p:spPr>
        <p:txBody>
          <a:bodyPr wrap="none" lIns="0" tIns="0" rIns="0" bIns="0" anchor="ctr">
            <a:spAutoFit/>
          </a:bodyPr>
          <a:lstStyle/>
          <a:p>
            <a:pPr algn="ctr">
              <a:lnSpc>
                <a:spcPct val="105000"/>
              </a:lnSpc>
            </a:pPr>
            <a:r>
              <a:rPr sz="528" dirty="0">
                <a:solidFill>
                  <a:srgbClr val="263442"/>
                </a:solidFill>
                <a:latin typeface="Arial"/>
              </a:rPr>
              <a:t>Learned projections</a:t>
            </a:r>
          </a:p>
        </p:txBody>
      </p:sp>
      <p:sp>
        <p:nvSpPr>
          <p:cNvPr id="734" name="Math | s_j,k^">
            <a:extLst>
              <a:ext uri="{FF2B5EF4-FFF2-40B4-BE49-F238E27FC236}">
                <a16:creationId xmlns:a16="http://schemas.microsoft.com/office/drawing/2014/main" id="{F14EBC8C-258E-262E-B6B0-3374292AA371}"/>
              </a:ext>
            </a:extLst>
          </p:cNvPr>
          <p:cNvSpPr txBox="1"/>
          <p:nvPr/>
        </p:nvSpPr>
        <p:spPr>
          <a:xfrm>
            <a:off x="3930163" y="4086560"/>
            <a:ext cx="104196" cy="117083"/>
          </a:xfrm>
          <a:prstGeom prst="rect">
            <a:avLst/>
          </a:prstGeom>
          <a:noFill/>
        </p:spPr>
        <p:txBody>
          <a:bodyPr wrap="none" lIns="0" tIns="0" rIns="0" bIns="0" anchor="ctr">
            <a:spAutoFit/>
          </a:bodyPr>
          <a:lstStyle/>
          <a:p>
            <a:pPr algn="ctr"/>
            <a:r>
              <a:rPr sz="791" i="1" dirty="0" err="1">
                <a:solidFill>
                  <a:srgbClr val="263442"/>
                </a:solidFill>
                <a:latin typeface="Times New Roman"/>
              </a:rPr>
              <a:t>s</a:t>
            </a:r>
            <a:r>
              <a:rPr sz="780" i="1" baseline="-28000" dirty="0" err="1">
                <a:solidFill>
                  <a:srgbClr val="263442"/>
                </a:solidFill>
                <a:latin typeface="Times New Roman"/>
              </a:rPr>
              <a:t>j,k</a:t>
            </a:r>
            <a:endParaRPr sz="780" i="1" baseline="-28000" dirty="0">
              <a:solidFill>
                <a:srgbClr val="263442"/>
              </a:solidFill>
              <a:latin typeface="Times New Roman"/>
            </a:endParaRPr>
          </a:p>
        </p:txBody>
      </p:sp>
      <p:sp>
        <p:nvSpPr>
          <p:cNvPr id="735" name="TextBox 12279">
            <a:extLst>
              <a:ext uri="{FF2B5EF4-FFF2-40B4-BE49-F238E27FC236}">
                <a16:creationId xmlns:a16="http://schemas.microsoft.com/office/drawing/2014/main" id="{B6063C43-1232-5F60-74B7-68798C75DC6C}"/>
              </a:ext>
            </a:extLst>
          </p:cNvPr>
          <p:cNvSpPr txBox="1"/>
          <p:nvPr/>
        </p:nvSpPr>
        <p:spPr>
          <a:xfrm>
            <a:off x="4189537" y="3931330"/>
            <a:ext cx="479297" cy="87268"/>
          </a:xfrm>
          <a:prstGeom prst="rect">
            <a:avLst/>
          </a:prstGeom>
          <a:noFill/>
        </p:spPr>
        <p:txBody>
          <a:bodyPr wrap="none" lIns="0" tIns="0" rIns="0" bIns="0" anchor="ctr">
            <a:spAutoFit/>
          </a:bodyPr>
          <a:lstStyle/>
          <a:p>
            <a:pPr algn="ctr">
              <a:lnSpc>
                <a:spcPct val="105000"/>
              </a:lnSpc>
            </a:pPr>
            <a:r>
              <a:rPr sz="580">
                <a:solidFill>
                  <a:srgbClr val="263442"/>
                </a:solidFill>
                <a:latin typeface="Arial"/>
              </a:rPr>
              <a:t>Identity scores</a:t>
            </a:r>
          </a:p>
        </p:txBody>
      </p:sp>
      <p:sp>
        <p:nvSpPr>
          <p:cNvPr id="736" name="TextBox 12280">
            <a:extLst>
              <a:ext uri="{FF2B5EF4-FFF2-40B4-BE49-F238E27FC236}">
                <a16:creationId xmlns:a16="http://schemas.microsoft.com/office/drawing/2014/main" id="{15839FA0-A4A5-7119-A610-31BD10CD9E2D}"/>
              </a:ext>
            </a:extLst>
          </p:cNvPr>
          <p:cNvSpPr txBox="1"/>
          <p:nvPr/>
        </p:nvSpPr>
        <p:spPr>
          <a:xfrm>
            <a:off x="4428041" y="4018471"/>
            <a:ext cx="102835" cy="85921"/>
          </a:xfrm>
          <a:prstGeom prst="rect">
            <a:avLst/>
          </a:prstGeom>
          <a:noFill/>
        </p:spPr>
        <p:txBody>
          <a:bodyPr wrap="square" lIns="0" tIns="0" rIns="0" bIns="0" anchor="ctr">
            <a:spAutoFit/>
          </a:bodyPr>
          <a:lstStyle/>
          <a:p>
            <a:pPr algn="ctr">
              <a:lnSpc>
                <a:spcPct val="105000"/>
              </a:lnSpc>
            </a:pPr>
            <a:r>
              <a:rPr sz="571" dirty="0">
                <a:solidFill>
                  <a:srgbClr val="263442"/>
                </a:solidFill>
                <a:latin typeface="Arial"/>
              </a:rPr>
              <a:t>k</a:t>
            </a:r>
          </a:p>
        </p:txBody>
      </p:sp>
      <p:sp>
        <p:nvSpPr>
          <p:cNvPr id="737" name="TextBox 12281">
            <a:extLst>
              <a:ext uri="{FF2B5EF4-FFF2-40B4-BE49-F238E27FC236}">
                <a16:creationId xmlns:a16="http://schemas.microsoft.com/office/drawing/2014/main" id="{41A05C65-B3BD-0A3A-596B-AB2703459E8F}"/>
              </a:ext>
            </a:extLst>
          </p:cNvPr>
          <p:cNvSpPr txBox="1"/>
          <p:nvPr/>
        </p:nvSpPr>
        <p:spPr>
          <a:xfrm>
            <a:off x="4128591" y="4169314"/>
            <a:ext cx="87014" cy="85921"/>
          </a:xfrm>
          <a:prstGeom prst="rect">
            <a:avLst/>
          </a:prstGeom>
          <a:noFill/>
        </p:spPr>
        <p:txBody>
          <a:bodyPr wrap="square" lIns="0" tIns="0" rIns="0" bIns="0" anchor="ctr">
            <a:spAutoFit/>
          </a:bodyPr>
          <a:lstStyle/>
          <a:p>
            <a:pPr algn="ctr">
              <a:lnSpc>
                <a:spcPct val="105000"/>
              </a:lnSpc>
            </a:pPr>
            <a:r>
              <a:rPr sz="571">
                <a:solidFill>
                  <a:srgbClr val="263442"/>
                </a:solidFill>
                <a:latin typeface="Arial"/>
              </a:rPr>
              <a:t>j</a:t>
            </a:r>
          </a:p>
        </p:txBody>
      </p:sp>
      <p:sp>
        <p:nvSpPr>
          <p:cNvPr id="738" name="Matrix cell (0,0)">
            <a:extLst>
              <a:ext uri="{FF2B5EF4-FFF2-40B4-BE49-F238E27FC236}">
                <a16:creationId xmlns:a16="http://schemas.microsoft.com/office/drawing/2014/main" id="{FE055175-C1DF-98B9-D269-528B6DB8BCC5}"/>
              </a:ext>
            </a:extLst>
          </p:cNvPr>
          <p:cNvSpPr/>
          <p:nvPr/>
        </p:nvSpPr>
        <p:spPr>
          <a:xfrm>
            <a:off x="4223515" y="4105485"/>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39" name="Matrix cell (0,1)">
            <a:extLst>
              <a:ext uri="{FF2B5EF4-FFF2-40B4-BE49-F238E27FC236}">
                <a16:creationId xmlns:a16="http://schemas.microsoft.com/office/drawing/2014/main" id="{A42061DF-CDC2-BBAD-CC04-D795ECC762D7}"/>
              </a:ext>
            </a:extLst>
          </p:cNvPr>
          <p:cNvSpPr/>
          <p:nvPr/>
        </p:nvSpPr>
        <p:spPr>
          <a:xfrm>
            <a:off x="4326350" y="4105485"/>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0" name="Matrix cell (0,2)">
            <a:extLst>
              <a:ext uri="{FF2B5EF4-FFF2-40B4-BE49-F238E27FC236}">
                <a16:creationId xmlns:a16="http://schemas.microsoft.com/office/drawing/2014/main" id="{F7182FD9-6BC2-E0AB-C10D-A81656341249}"/>
              </a:ext>
            </a:extLst>
          </p:cNvPr>
          <p:cNvSpPr/>
          <p:nvPr/>
        </p:nvSpPr>
        <p:spPr>
          <a:xfrm>
            <a:off x="4429185" y="4105485"/>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1" name="Matrix cell (0,3)">
            <a:extLst>
              <a:ext uri="{FF2B5EF4-FFF2-40B4-BE49-F238E27FC236}">
                <a16:creationId xmlns:a16="http://schemas.microsoft.com/office/drawing/2014/main" id="{F49C1191-397D-0F0D-8860-9255C16271B7}"/>
              </a:ext>
            </a:extLst>
          </p:cNvPr>
          <p:cNvSpPr/>
          <p:nvPr/>
        </p:nvSpPr>
        <p:spPr>
          <a:xfrm>
            <a:off x="4532020" y="4105485"/>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2" name="Matrix cell (1,0)">
            <a:extLst>
              <a:ext uri="{FF2B5EF4-FFF2-40B4-BE49-F238E27FC236}">
                <a16:creationId xmlns:a16="http://schemas.microsoft.com/office/drawing/2014/main" id="{153A91F1-6A82-46F5-CBC7-E29160DD5ED1}"/>
              </a:ext>
            </a:extLst>
          </p:cNvPr>
          <p:cNvSpPr/>
          <p:nvPr/>
        </p:nvSpPr>
        <p:spPr>
          <a:xfrm>
            <a:off x="4223515" y="4176678"/>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3" name="Matrix cell (1,1)">
            <a:extLst>
              <a:ext uri="{FF2B5EF4-FFF2-40B4-BE49-F238E27FC236}">
                <a16:creationId xmlns:a16="http://schemas.microsoft.com/office/drawing/2014/main" id="{7A8C51E1-5C0E-2A3C-CEB2-E40CE7A36CD6}"/>
              </a:ext>
            </a:extLst>
          </p:cNvPr>
          <p:cNvSpPr/>
          <p:nvPr/>
        </p:nvSpPr>
        <p:spPr>
          <a:xfrm>
            <a:off x="4326350" y="4176678"/>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4" name="Matrix cell (1,2)">
            <a:extLst>
              <a:ext uri="{FF2B5EF4-FFF2-40B4-BE49-F238E27FC236}">
                <a16:creationId xmlns:a16="http://schemas.microsoft.com/office/drawing/2014/main" id="{AEDAB794-5537-C686-4BB0-738F687DCD6D}"/>
              </a:ext>
            </a:extLst>
          </p:cNvPr>
          <p:cNvSpPr/>
          <p:nvPr/>
        </p:nvSpPr>
        <p:spPr>
          <a:xfrm>
            <a:off x="4429185" y="4176678"/>
            <a:ext cx="102835" cy="71193"/>
          </a:xfrm>
          <a:prstGeom prst="rect">
            <a:avLst/>
          </a:prstGeom>
          <a:solidFill>
            <a:srgbClr val="3C9486"/>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5" name="Matrix cell (1,3)">
            <a:extLst>
              <a:ext uri="{FF2B5EF4-FFF2-40B4-BE49-F238E27FC236}">
                <a16:creationId xmlns:a16="http://schemas.microsoft.com/office/drawing/2014/main" id="{603A1D68-850F-4C5C-3192-425C9F2A2609}"/>
              </a:ext>
            </a:extLst>
          </p:cNvPr>
          <p:cNvSpPr/>
          <p:nvPr/>
        </p:nvSpPr>
        <p:spPr>
          <a:xfrm>
            <a:off x="4532020" y="4176678"/>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6" name="Matrix cell (2,0)">
            <a:extLst>
              <a:ext uri="{FF2B5EF4-FFF2-40B4-BE49-F238E27FC236}">
                <a16:creationId xmlns:a16="http://schemas.microsoft.com/office/drawing/2014/main" id="{D87DAF7C-43B6-25FF-0769-9FF60D96AC9E}"/>
              </a:ext>
            </a:extLst>
          </p:cNvPr>
          <p:cNvSpPr/>
          <p:nvPr/>
        </p:nvSpPr>
        <p:spPr>
          <a:xfrm>
            <a:off x="4223515" y="4247872"/>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7" name="Matrix cell (2,1)">
            <a:extLst>
              <a:ext uri="{FF2B5EF4-FFF2-40B4-BE49-F238E27FC236}">
                <a16:creationId xmlns:a16="http://schemas.microsoft.com/office/drawing/2014/main" id="{99649E13-5C79-0619-BB5F-5A332F5FD747}"/>
              </a:ext>
            </a:extLst>
          </p:cNvPr>
          <p:cNvSpPr/>
          <p:nvPr/>
        </p:nvSpPr>
        <p:spPr>
          <a:xfrm>
            <a:off x="4326350" y="4247872"/>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8" name="Matrix cell (2,2)">
            <a:extLst>
              <a:ext uri="{FF2B5EF4-FFF2-40B4-BE49-F238E27FC236}">
                <a16:creationId xmlns:a16="http://schemas.microsoft.com/office/drawing/2014/main" id="{9ED543D3-6582-CA5E-2403-A405345A45B4}"/>
              </a:ext>
            </a:extLst>
          </p:cNvPr>
          <p:cNvSpPr/>
          <p:nvPr/>
        </p:nvSpPr>
        <p:spPr>
          <a:xfrm>
            <a:off x="4429185" y="4247872"/>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9" name="Matrix cell (2,3)">
            <a:extLst>
              <a:ext uri="{FF2B5EF4-FFF2-40B4-BE49-F238E27FC236}">
                <a16:creationId xmlns:a16="http://schemas.microsoft.com/office/drawing/2014/main" id="{744D1959-45EB-B1FB-6D2C-524FC9ECAEDC}"/>
              </a:ext>
            </a:extLst>
          </p:cNvPr>
          <p:cNvSpPr/>
          <p:nvPr/>
        </p:nvSpPr>
        <p:spPr>
          <a:xfrm>
            <a:off x="4532020" y="4247872"/>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50" name="TextBox 12294">
            <a:extLst>
              <a:ext uri="{FF2B5EF4-FFF2-40B4-BE49-F238E27FC236}">
                <a16:creationId xmlns:a16="http://schemas.microsoft.com/office/drawing/2014/main" id="{7F2D0646-7A7C-8958-279B-F1CECFF09093}"/>
              </a:ext>
            </a:extLst>
          </p:cNvPr>
          <p:cNvSpPr txBox="1"/>
          <p:nvPr/>
        </p:nvSpPr>
        <p:spPr>
          <a:xfrm>
            <a:off x="4223516" y="4312989"/>
            <a:ext cx="411339" cy="82587"/>
          </a:xfrm>
          <a:prstGeom prst="rect">
            <a:avLst/>
          </a:prstGeom>
          <a:noFill/>
        </p:spPr>
        <p:txBody>
          <a:bodyPr wrap="square" lIns="0" tIns="0" rIns="0" bIns="0" anchor="ctr">
            <a:spAutoFit/>
          </a:bodyPr>
          <a:lstStyle/>
          <a:p>
            <a:pPr algn="ctr">
              <a:lnSpc>
                <a:spcPct val="105000"/>
              </a:lnSpc>
            </a:pPr>
            <a:r>
              <a:rPr sz="536">
                <a:solidFill>
                  <a:srgbClr val="263442"/>
                </a:solidFill>
                <a:latin typeface="Arial"/>
              </a:rPr>
              <a:t>J × K</a:t>
            </a:r>
          </a:p>
        </p:txBody>
      </p:sp>
      <p:grpSp>
        <p:nvGrpSpPr>
          <p:cNvPr id="751" name="组合 13795">
            <a:extLst>
              <a:ext uri="{FF2B5EF4-FFF2-40B4-BE49-F238E27FC236}">
                <a16:creationId xmlns:a16="http://schemas.microsoft.com/office/drawing/2014/main" id="{A7C8C46A-0A12-7692-FC5C-D670624E01D5}"/>
              </a:ext>
            </a:extLst>
          </p:cNvPr>
          <p:cNvGrpSpPr/>
          <p:nvPr/>
        </p:nvGrpSpPr>
        <p:grpSpPr>
          <a:xfrm>
            <a:off x="2038007" y="554865"/>
            <a:ext cx="1978883" cy="340209"/>
            <a:chOff x="6312668" y="2448732"/>
            <a:chExt cx="1215499" cy="343631"/>
          </a:xfrm>
        </p:grpSpPr>
        <p:pic>
          <p:nvPicPr>
            <p:cNvPr id="752" name="图片 12">
              <a:extLst>
                <a:ext uri="{FF2B5EF4-FFF2-40B4-BE49-F238E27FC236}">
                  <a16:creationId xmlns:a16="http://schemas.microsoft.com/office/drawing/2014/main" id="{CAC02272-DF9C-4B1E-4DC2-2B8B65642E7D}"/>
                </a:ext>
              </a:extLst>
            </p:cNvPr>
            <p:cNvPicPr>
              <a:picLocks/>
            </p:cNvPicPr>
            <p:nvPr/>
          </p:nvPicPr>
          <p:blipFill>
            <a:blip r:embed="rId5"/>
            <a:srcRect l="70243" t="-18171" b="-1"/>
            <a:stretch>
              <a:fillRect/>
            </a:stretch>
          </p:blipFill>
          <p:spPr>
            <a:xfrm>
              <a:off x="7112075" y="2448732"/>
              <a:ext cx="416092" cy="323855"/>
            </a:xfrm>
            <a:prstGeom prst="rect">
              <a:avLst/>
            </a:prstGeom>
          </p:spPr>
        </p:pic>
        <p:pic>
          <p:nvPicPr>
            <p:cNvPr id="753" name="图片 12">
              <a:extLst>
                <a:ext uri="{FF2B5EF4-FFF2-40B4-BE49-F238E27FC236}">
                  <a16:creationId xmlns:a16="http://schemas.microsoft.com/office/drawing/2014/main" id="{4A981EA9-94EF-910F-60F4-6457C16F335A}"/>
                </a:ext>
              </a:extLst>
            </p:cNvPr>
            <p:cNvPicPr>
              <a:picLocks/>
            </p:cNvPicPr>
            <p:nvPr/>
          </p:nvPicPr>
          <p:blipFill>
            <a:blip r:embed="rId5"/>
            <a:srcRect r="70534" b="-8235"/>
            <a:stretch>
              <a:fillRect/>
            </a:stretch>
          </p:blipFill>
          <p:spPr>
            <a:xfrm>
              <a:off x="6312668" y="2495741"/>
              <a:ext cx="412024" cy="296622"/>
            </a:xfrm>
            <a:prstGeom prst="rect">
              <a:avLst/>
            </a:prstGeom>
          </p:spPr>
        </p:pic>
        <p:pic>
          <p:nvPicPr>
            <p:cNvPr id="754" name="Picture 10000" descr="unet_block_18.png">
              <a:extLst>
                <a:ext uri="{FF2B5EF4-FFF2-40B4-BE49-F238E27FC236}">
                  <a16:creationId xmlns:a16="http://schemas.microsoft.com/office/drawing/2014/main" id="{18156510-7BE9-37BB-FC31-D73CEF36A4BA}"/>
                </a:ext>
              </a:extLst>
            </p:cNvPr>
            <p:cNvPicPr>
              <a:picLocks noChangeAspect="1"/>
            </p:cNvPicPr>
            <p:nvPr/>
          </p:nvPicPr>
          <p:blipFill>
            <a:blip r:embed="rId6"/>
            <a:stretch>
              <a:fillRect/>
            </a:stretch>
          </p:blipFill>
          <p:spPr>
            <a:xfrm>
              <a:off x="6776851" y="2645026"/>
              <a:ext cx="276863" cy="126566"/>
            </a:xfrm>
            <a:prstGeom prst="rect">
              <a:avLst/>
            </a:prstGeom>
          </p:spPr>
        </p:pic>
      </p:grpSp>
      <p:grpSp>
        <p:nvGrpSpPr>
          <p:cNvPr id="755" name="Find candidate blob 1">
            <a:extLst>
              <a:ext uri="{FF2B5EF4-FFF2-40B4-BE49-F238E27FC236}">
                <a16:creationId xmlns:a16="http://schemas.microsoft.com/office/drawing/2014/main" id="{07D408F7-73B8-504B-1638-47D6BE9FAF0C}"/>
              </a:ext>
            </a:extLst>
          </p:cNvPr>
          <p:cNvGrpSpPr/>
          <p:nvPr/>
        </p:nvGrpSpPr>
        <p:grpSpPr>
          <a:xfrm>
            <a:off x="4357668" y="1039644"/>
            <a:ext cx="163890" cy="111953"/>
            <a:chOff x="1928706" y="3559489"/>
            <a:chExt cx="227897" cy="155682"/>
          </a:xfrm>
        </p:grpSpPr>
        <p:sp>
          <p:nvSpPr>
            <p:cNvPr id="756" name="Candidate blob | editable contour">
              <a:extLst>
                <a:ext uri="{FF2B5EF4-FFF2-40B4-BE49-F238E27FC236}">
                  <a16:creationId xmlns:a16="http://schemas.microsoft.com/office/drawing/2014/main" id="{37C5288C-532D-ACD6-124C-44740FF509B8}"/>
                </a:ext>
              </a:extLst>
            </p:cNvPr>
            <p:cNvSpPr/>
            <p:nvPr/>
          </p:nvSpPr>
          <p:spPr>
            <a:xfrm>
              <a:off x="1928706" y="3559489"/>
              <a:ext cx="227897" cy="155682"/>
            </a:xfrm>
            <a:custGeom>
              <a:avLst/>
              <a:gdLst/>
              <a:ahLst/>
              <a:cxnLst/>
              <a:rect l="0" t="0" r="w" b="h"/>
              <a:pathLst>
                <a:path w="227897" h="155682" extrusionOk="0">
                  <a:moveTo>
                    <a:pt x="5338" y="97866"/>
                  </a:moveTo>
                  <a:cubicBezTo>
                    <a:pt x="0" y="80701"/>
                    <a:pt x="18889" y="54504"/>
                    <a:pt x="29976" y="43663"/>
                  </a:cubicBezTo>
                  <a:cubicBezTo>
                    <a:pt x="41062" y="32823"/>
                    <a:pt x="58719" y="39447"/>
                    <a:pt x="71859" y="32823"/>
                  </a:cubicBezTo>
                  <a:cubicBezTo>
                    <a:pt x="84999" y="26198"/>
                    <a:pt x="92391" y="7829"/>
                    <a:pt x="108816" y="3915"/>
                  </a:cubicBezTo>
                  <a:cubicBezTo>
                    <a:pt x="125241" y="0"/>
                    <a:pt x="153984" y="3613"/>
                    <a:pt x="170409" y="9335"/>
                  </a:cubicBezTo>
                  <a:cubicBezTo>
                    <a:pt x="186834" y="15056"/>
                    <a:pt x="198332" y="26198"/>
                    <a:pt x="207366" y="38243"/>
                  </a:cubicBezTo>
                  <a:cubicBezTo>
                    <a:pt x="216399" y="50288"/>
                    <a:pt x="227897" y="67151"/>
                    <a:pt x="224612" y="81605"/>
                  </a:cubicBezTo>
                  <a:cubicBezTo>
                    <a:pt x="221327" y="96059"/>
                    <a:pt x="203259" y="113223"/>
                    <a:pt x="187656" y="124967"/>
                  </a:cubicBezTo>
                  <a:cubicBezTo>
                    <a:pt x="172052" y="136711"/>
                    <a:pt x="151931" y="148455"/>
                    <a:pt x="130989" y="152068"/>
                  </a:cubicBezTo>
                  <a:cubicBezTo>
                    <a:pt x="110048" y="155682"/>
                    <a:pt x="82946" y="155682"/>
                    <a:pt x="62004" y="146648"/>
                  </a:cubicBezTo>
                  <a:cubicBezTo>
                    <a:pt x="41062" y="137614"/>
                    <a:pt x="10676" y="115030"/>
                    <a:pt x="5338" y="97866"/>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757" name="ellipse_2612">
              <a:extLst>
                <a:ext uri="{FF2B5EF4-FFF2-40B4-BE49-F238E27FC236}">
                  <a16:creationId xmlns:a16="http://schemas.microsoft.com/office/drawing/2014/main" id="{7B2D3AC9-DAAA-2C64-E3ED-D5120C877775}"/>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grpSp>
        <p:nvGrpSpPr>
          <p:cNvPr id="758" name="Find candidate blob 2">
            <a:extLst>
              <a:ext uri="{FF2B5EF4-FFF2-40B4-BE49-F238E27FC236}">
                <a16:creationId xmlns:a16="http://schemas.microsoft.com/office/drawing/2014/main" id="{7179DAC1-3327-E0E7-F1D4-84AB32380C1E}"/>
              </a:ext>
            </a:extLst>
          </p:cNvPr>
          <p:cNvGrpSpPr/>
          <p:nvPr/>
        </p:nvGrpSpPr>
        <p:grpSpPr>
          <a:xfrm>
            <a:off x="4352956" y="917369"/>
            <a:ext cx="168602" cy="95394"/>
            <a:chOff x="1928706" y="3559489"/>
            <a:chExt cx="227897" cy="155682"/>
          </a:xfrm>
        </p:grpSpPr>
        <p:sp>
          <p:nvSpPr>
            <p:cNvPr id="759" name="Candidate blob | editable contour">
              <a:extLst>
                <a:ext uri="{FF2B5EF4-FFF2-40B4-BE49-F238E27FC236}">
                  <a16:creationId xmlns:a16="http://schemas.microsoft.com/office/drawing/2014/main" id="{7FE9A235-CD65-1D11-9B18-9D02505BA5BA}"/>
                </a:ext>
              </a:extLst>
            </p:cNvPr>
            <p:cNvSpPr/>
            <p:nvPr/>
          </p:nvSpPr>
          <p:spPr>
            <a:xfrm>
              <a:off x="1928706" y="3559489"/>
              <a:ext cx="227897" cy="155682"/>
            </a:xfrm>
            <a:custGeom>
              <a:avLst/>
              <a:gdLst/>
              <a:ahLst/>
              <a:cxnLst/>
              <a:rect l="0" t="0" r="w" b="h"/>
              <a:pathLst>
                <a:path w="227897" h="155682" extrusionOk="0">
                  <a:moveTo>
                    <a:pt x="3521" y="100385"/>
                  </a:moveTo>
                  <a:cubicBezTo>
                    <a:pt x="0" y="80701"/>
                    <a:pt x="26006" y="62787"/>
                    <a:pt x="43453" y="54263"/>
                  </a:cubicBezTo>
                  <a:cubicBezTo>
                    <a:pt x="58843" y="43224"/>
                    <a:pt x="83460" y="52781"/>
                    <a:pt x="99588" y="43358"/>
                  </a:cubicBezTo>
                  <a:cubicBezTo>
                    <a:pt x="112436" y="32945"/>
                    <a:pt x="102548" y="9475"/>
                    <a:pt x="114181" y="4123"/>
                  </a:cubicBezTo>
                  <a:cubicBezTo>
                    <a:pt x="125241" y="0"/>
                    <a:pt x="158214" y="2398"/>
                    <a:pt x="179365" y="5837"/>
                  </a:cubicBezTo>
                  <a:cubicBezTo>
                    <a:pt x="197301" y="9996"/>
                    <a:pt x="210134" y="19340"/>
                    <a:pt x="216909" y="31256"/>
                  </a:cubicBezTo>
                  <a:cubicBezTo>
                    <a:pt x="221237" y="45342"/>
                    <a:pt x="227897" y="67151"/>
                    <a:pt x="224378" y="79920"/>
                  </a:cubicBezTo>
                  <a:cubicBezTo>
                    <a:pt x="219253" y="92918"/>
                    <a:pt x="191986" y="104353"/>
                    <a:pt x="170629" y="115250"/>
                  </a:cubicBezTo>
                  <a:cubicBezTo>
                    <a:pt x="155563" y="129736"/>
                    <a:pt x="143418" y="146104"/>
                    <a:pt x="126157" y="151452"/>
                  </a:cubicBezTo>
                  <a:cubicBezTo>
                    <a:pt x="110048" y="155682"/>
                    <a:pt x="82946" y="155682"/>
                    <a:pt x="52808" y="150002"/>
                  </a:cubicBezTo>
                  <a:cubicBezTo>
                    <a:pt x="28847" y="143645"/>
                    <a:pt x="5675" y="118994"/>
                    <a:pt x="3521" y="100385"/>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760" name="ellipse_2612">
              <a:extLst>
                <a:ext uri="{FF2B5EF4-FFF2-40B4-BE49-F238E27FC236}">
                  <a16:creationId xmlns:a16="http://schemas.microsoft.com/office/drawing/2014/main" id="{B7C23605-DA85-BD4E-F76C-0A54A583D80D}"/>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grpSp>
        <p:nvGrpSpPr>
          <p:cNvPr id="761" name="Find candidate blob 3">
            <a:extLst>
              <a:ext uri="{FF2B5EF4-FFF2-40B4-BE49-F238E27FC236}">
                <a16:creationId xmlns:a16="http://schemas.microsoft.com/office/drawing/2014/main" id="{E00DBE8B-787C-93F3-1AD5-726880372CE5}"/>
              </a:ext>
            </a:extLst>
          </p:cNvPr>
          <p:cNvGrpSpPr/>
          <p:nvPr/>
        </p:nvGrpSpPr>
        <p:grpSpPr>
          <a:xfrm rot="364243">
            <a:off x="4559731" y="1028968"/>
            <a:ext cx="127658" cy="129194"/>
            <a:chOff x="1928706" y="3559489"/>
            <a:chExt cx="227897" cy="155682"/>
          </a:xfrm>
        </p:grpSpPr>
        <p:sp>
          <p:nvSpPr>
            <p:cNvPr id="762" name="Candidate blob | editable contour">
              <a:extLst>
                <a:ext uri="{FF2B5EF4-FFF2-40B4-BE49-F238E27FC236}">
                  <a16:creationId xmlns:a16="http://schemas.microsoft.com/office/drawing/2014/main" id="{9AD76A86-FA7F-E1DC-E566-584A703E96EE}"/>
                </a:ext>
              </a:extLst>
            </p:cNvPr>
            <p:cNvSpPr/>
            <p:nvPr/>
          </p:nvSpPr>
          <p:spPr>
            <a:xfrm>
              <a:off x="1928706" y="3559489"/>
              <a:ext cx="227897" cy="155682"/>
            </a:xfrm>
            <a:custGeom>
              <a:avLst/>
              <a:gdLst/>
              <a:ahLst/>
              <a:cxnLst/>
              <a:rect l="0" t="0" r="w" b="h"/>
              <a:pathLst>
                <a:path w="227897" h="155682" extrusionOk="0">
                  <a:moveTo>
                    <a:pt x="4633" y="103508"/>
                  </a:moveTo>
                  <a:cubicBezTo>
                    <a:pt x="0" y="80701"/>
                    <a:pt x="17781" y="72087"/>
                    <a:pt x="35225" y="64107"/>
                  </a:cubicBezTo>
                  <a:cubicBezTo>
                    <a:pt x="54476" y="49917"/>
                    <a:pt x="72264" y="52549"/>
                    <a:pt x="92778" y="35736"/>
                  </a:cubicBezTo>
                  <a:cubicBezTo>
                    <a:pt x="110195" y="21040"/>
                    <a:pt x="104326" y="5059"/>
                    <a:pt x="115221" y="1753"/>
                  </a:cubicBezTo>
                  <a:cubicBezTo>
                    <a:pt x="125241" y="0"/>
                    <a:pt x="159037" y="3786"/>
                    <a:pt x="180838" y="12966"/>
                  </a:cubicBezTo>
                  <a:cubicBezTo>
                    <a:pt x="198427" y="23372"/>
                    <a:pt x="209170" y="39484"/>
                    <a:pt x="212983" y="52913"/>
                  </a:cubicBezTo>
                  <a:cubicBezTo>
                    <a:pt x="216818" y="61184"/>
                    <a:pt x="227897" y="67151"/>
                    <a:pt x="223406" y="85389"/>
                  </a:cubicBezTo>
                  <a:cubicBezTo>
                    <a:pt x="220211" y="103077"/>
                    <a:pt x="208185" y="131257"/>
                    <a:pt x="201464" y="141174"/>
                  </a:cubicBezTo>
                  <a:cubicBezTo>
                    <a:pt x="189414" y="144450"/>
                    <a:pt x="161966" y="148455"/>
                    <a:pt x="136762" y="150513"/>
                  </a:cubicBezTo>
                  <a:cubicBezTo>
                    <a:pt x="110048" y="155682"/>
                    <a:pt x="82946" y="155682"/>
                    <a:pt x="72733" y="149421"/>
                  </a:cubicBezTo>
                  <a:cubicBezTo>
                    <a:pt x="54091" y="147525"/>
                    <a:pt x="13199" y="123788"/>
                    <a:pt x="4633" y="103508"/>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763" name="ellipse_2612">
              <a:extLst>
                <a:ext uri="{FF2B5EF4-FFF2-40B4-BE49-F238E27FC236}">
                  <a16:creationId xmlns:a16="http://schemas.microsoft.com/office/drawing/2014/main" id="{F8BC6FB8-22D5-0210-831F-1D5E506D8535}"/>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sp>
        <p:nvSpPr>
          <p:cNvPr id="765" name="Find auxiliary label">
            <a:extLst>
              <a:ext uri="{FF2B5EF4-FFF2-40B4-BE49-F238E27FC236}">
                <a16:creationId xmlns:a16="http://schemas.microsoft.com/office/drawing/2014/main" id="{C2FA4A61-779F-842B-95B0-E5C1CB97DBCE}"/>
              </a:ext>
            </a:extLst>
          </p:cNvPr>
          <p:cNvSpPr>
            <a:spLocks noGrp="1"/>
          </p:cNvSpPr>
          <p:nvPr/>
        </p:nvSpPr>
        <p:spPr>
          <a:xfrm>
            <a:off x="4315962" y="1518303"/>
            <a:ext cx="433362" cy="157954"/>
          </a:xfrm>
          <a:prstGeom prst="rect">
            <a:avLst/>
          </a:prstGeom>
          <a:noFill/>
          <a:ln w="6885">
            <a:noFill/>
            <a:prstDash val="solid"/>
          </a:ln>
        </p:spPr>
        <p:txBody>
          <a:bodyPr lIns="0" tIns="0" rIns="0" bIns="0" anchor="ctr"/>
          <a:lstStyle>
            <a:defPPr algn="ctr">
              <a:defRPr sz="590" b="0">
                <a:solidFill>
                  <a:srgbClr val="263442"/>
                </a:solidFill>
                <a:latin typeface="Arial"/>
                <a:ea typeface="Arial"/>
                <a:cs typeface="Arial"/>
              </a:defRPr>
            </a:defPPr>
            <a:lvl1pPr algn="ctr">
              <a:defRPr sz="590" b="0">
                <a:solidFill>
                  <a:srgbClr val="263442"/>
                </a:solidFill>
                <a:latin typeface="Arial"/>
                <a:ea typeface="Arial"/>
                <a:cs typeface="Arial"/>
              </a:defRPr>
            </a:lvl1pPr>
            <a:lvl2pPr algn="ctr">
              <a:defRPr sz="590" b="0">
                <a:solidFill>
                  <a:srgbClr val="263442"/>
                </a:solidFill>
                <a:latin typeface="Arial"/>
                <a:ea typeface="Arial"/>
                <a:cs typeface="Arial"/>
              </a:defRPr>
            </a:lvl2pPr>
            <a:lvl3pPr algn="ctr">
              <a:defRPr sz="590" b="0">
                <a:solidFill>
                  <a:srgbClr val="263442"/>
                </a:solidFill>
                <a:latin typeface="Arial"/>
                <a:ea typeface="Arial"/>
                <a:cs typeface="Arial"/>
              </a:defRPr>
            </a:lvl3pPr>
            <a:lvl4pPr algn="ctr">
              <a:defRPr sz="590" b="0">
                <a:solidFill>
                  <a:srgbClr val="263442"/>
                </a:solidFill>
                <a:latin typeface="Arial"/>
                <a:ea typeface="Arial"/>
                <a:cs typeface="Arial"/>
              </a:defRPr>
            </a:lvl4pPr>
            <a:lvl5pPr algn="ctr">
              <a:defRPr sz="590" b="0">
                <a:solidFill>
                  <a:srgbClr val="263442"/>
                </a:solidFill>
                <a:latin typeface="Arial"/>
                <a:ea typeface="Arial"/>
                <a:cs typeface="Arial"/>
              </a:defRPr>
            </a:lvl5pPr>
            <a:lvl6pPr algn="ctr">
              <a:defRPr sz="590" b="0">
                <a:solidFill>
                  <a:srgbClr val="263442"/>
                </a:solidFill>
                <a:latin typeface="Arial"/>
                <a:ea typeface="Arial"/>
                <a:cs typeface="Arial"/>
              </a:defRPr>
            </a:lvl6pPr>
            <a:lvl7pPr algn="ctr">
              <a:defRPr sz="590" b="0">
                <a:solidFill>
                  <a:srgbClr val="263442"/>
                </a:solidFill>
                <a:latin typeface="Arial"/>
                <a:ea typeface="Arial"/>
                <a:cs typeface="Arial"/>
              </a:defRPr>
            </a:lvl7pPr>
            <a:lvl8pPr algn="ctr">
              <a:defRPr sz="590" b="0">
                <a:solidFill>
                  <a:srgbClr val="263442"/>
                </a:solidFill>
                <a:latin typeface="Arial"/>
                <a:ea typeface="Arial"/>
                <a:cs typeface="Arial"/>
              </a:defRPr>
            </a:lvl8pPr>
            <a:lvl9pPr algn="ctr">
              <a:defRPr sz="590" b="0">
                <a:solidFill>
                  <a:srgbClr val="263442"/>
                </a:solidFill>
                <a:latin typeface="Arial"/>
                <a:ea typeface="Arial"/>
                <a:cs typeface="Arial"/>
              </a:defRPr>
            </a:lvl9pPr>
          </a:lstStyle>
          <a:p>
            <a:pPr algn="ctr">
              <a:defRPr sz="590" b="0">
                <a:solidFill>
                  <a:srgbClr val="263442"/>
                </a:solidFill>
                <a:latin typeface="Arial"/>
                <a:ea typeface="Arial"/>
                <a:cs typeface="Arial"/>
              </a:defRPr>
            </a:pPr>
            <a:r>
              <a:rPr sz="590" dirty="0">
                <a:solidFill>
                  <a:srgbClr val="263442"/>
                </a:solidFill>
                <a:latin typeface="Arial"/>
                <a:ea typeface="Arial"/>
                <a:cs typeface="Arial"/>
              </a:rPr>
              <a:t>Auxiliary</a:t>
            </a:r>
          </a:p>
          <a:p>
            <a:pPr algn="ctr">
              <a:defRPr sz="590" b="0">
                <a:solidFill>
                  <a:srgbClr val="263442"/>
                </a:solidFill>
                <a:latin typeface="Arial"/>
                <a:ea typeface="Arial"/>
                <a:cs typeface="Arial"/>
              </a:defRPr>
            </a:pPr>
            <a:r>
              <a:rPr sz="590" dirty="0">
                <a:solidFill>
                  <a:srgbClr val="263442"/>
                </a:solidFill>
                <a:latin typeface="Arial"/>
                <a:ea typeface="Arial"/>
                <a:cs typeface="Arial"/>
              </a:rPr>
              <a:t>features</a:t>
            </a:r>
          </a:p>
        </p:txBody>
      </p:sp>
      <p:sp>
        <p:nvSpPr>
          <p:cNvPr id="766" name="Match auxiliary label">
            <a:extLst>
              <a:ext uri="{FF2B5EF4-FFF2-40B4-BE49-F238E27FC236}">
                <a16:creationId xmlns:a16="http://schemas.microsoft.com/office/drawing/2014/main" id="{DEAFB1A4-3D52-7098-EB66-0B3DF2BAC5BD}"/>
              </a:ext>
            </a:extLst>
          </p:cNvPr>
          <p:cNvSpPr>
            <a:spLocks noGrp="1"/>
          </p:cNvSpPr>
          <p:nvPr/>
        </p:nvSpPr>
        <p:spPr>
          <a:xfrm>
            <a:off x="1539032" y="2843177"/>
            <a:ext cx="405011" cy="174155"/>
          </a:xfrm>
          <a:prstGeom prst="rect">
            <a:avLst/>
          </a:prstGeom>
          <a:noFill/>
          <a:ln w="6885">
            <a:noFill/>
            <a:prstDash val="solid"/>
          </a:ln>
        </p:spPr>
        <p:txBody>
          <a:bodyPr lIns="0" tIns="0" rIns="0" bIns="0" anchor="ctr"/>
          <a:lstStyle>
            <a:defPPr algn="ctr">
              <a:defRPr sz="590" b="1">
                <a:solidFill>
                  <a:srgbClr val="263442"/>
                </a:solidFill>
                <a:latin typeface="Arial"/>
                <a:ea typeface="Arial"/>
                <a:cs typeface="Arial"/>
              </a:defRPr>
            </a:defPPr>
            <a:lvl1pPr algn="ctr">
              <a:defRPr sz="590" b="1">
                <a:solidFill>
                  <a:srgbClr val="263442"/>
                </a:solidFill>
                <a:latin typeface="Arial"/>
                <a:ea typeface="Arial"/>
                <a:cs typeface="Arial"/>
              </a:defRPr>
            </a:lvl1pPr>
            <a:lvl2pPr algn="ctr">
              <a:defRPr sz="590" b="1">
                <a:solidFill>
                  <a:srgbClr val="263442"/>
                </a:solidFill>
                <a:latin typeface="Arial"/>
                <a:ea typeface="Arial"/>
                <a:cs typeface="Arial"/>
              </a:defRPr>
            </a:lvl2pPr>
            <a:lvl3pPr algn="ctr">
              <a:defRPr sz="590" b="1">
                <a:solidFill>
                  <a:srgbClr val="263442"/>
                </a:solidFill>
                <a:latin typeface="Arial"/>
                <a:ea typeface="Arial"/>
                <a:cs typeface="Arial"/>
              </a:defRPr>
            </a:lvl3pPr>
            <a:lvl4pPr algn="ctr">
              <a:defRPr sz="590" b="1">
                <a:solidFill>
                  <a:srgbClr val="263442"/>
                </a:solidFill>
                <a:latin typeface="Arial"/>
                <a:ea typeface="Arial"/>
                <a:cs typeface="Arial"/>
              </a:defRPr>
            </a:lvl4pPr>
            <a:lvl5pPr algn="ctr">
              <a:defRPr sz="590" b="1">
                <a:solidFill>
                  <a:srgbClr val="263442"/>
                </a:solidFill>
                <a:latin typeface="Arial"/>
                <a:ea typeface="Arial"/>
                <a:cs typeface="Arial"/>
              </a:defRPr>
            </a:lvl5pPr>
            <a:lvl6pPr algn="ctr">
              <a:defRPr sz="590" b="1">
                <a:solidFill>
                  <a:srgbClr val="263442"/>
                </a:solidFill>
                <a:latin typeface="Arial"/>
                <a:ea typeface="Arial"/>
                <a:cs typeface="Arial"/>
              </a:defRPr>
            </a:lvl6pPr>
            <a:lvl7pPr algn="ctr">
              <a:defRPr sz="590" b="1">
                <a:solidFill>
                  <a:srgbClr val="263442"/>
                </a:solidFill>
                <a:latin typeface="Arial"/>
                <a:ea typeface="Arial"/>
                <a:cs typeface="Arial"/>
              </a:defRPr>
            </a:lvl7pPr>
            <a:lvl8pPr algn="ctr">
              <a:defRPr sz="590" b="1">
                <a:solidFill>
                  <a:srgbClr val="263442"/>
                </a:solidFill>
                <a:latin typeface="Arial"/>
                <a:ea typeface="Arial"/>
                <a:cs typeface="Arial"/>
              </a:defRPr>
            </a:lvl8pPr>
            <a:lvl9pPr algn="ctr">
              <a:defRPr sz="590" b="1">
                <a:solidFill>
                  <a:srgbClr val="263442"/>
                </a:solidFill>
                <a:latin typeface="Arial"/>
                <a:ea typeface="Arial"/>
                <a:cs typeface="Arial"/>
              </a:defRPr>
            </a:lvl9pPr>
          </a:lstStyle>
          <a:p>
            <a:pPr algn="ctr">
              <a:defRPr sz="590" b="1">
                <a:solidFill>
                  <a:srgbClr val="263442"/>
                </a:solidFill>
                <a:latin typeface="Arial"/>
                <a:ea typeface="Arial"/>
                <a:cs typeface="Arial"/>
              </a:defRPr>
            </a:pPr>
            <a:r>
              <a:rPr sz="590" b="0" dirty="0">
                <a:solidFill>
                  <a:srgbClr val="263442"/>
                </a:solidFill>
                <a:latin typeface="Arial"/>
                <a:ea typeface="Arial"/>
                <a:cs typeface="Arial"/>
              </a:rPr>
              <a:t>Auxiliary</a:t>
            </a:r>
          </a:p>
          <a:p>
            <a:pPr algn="ctr">
              <a:defRPr sz="590" b="1">
                <a:solidFill>
                  <a:srgbClr val="263442"/>
                </a:solidFill>
                <a:latin typeface="Arial"/>
                <a:ea typeface="Arial"/>
                <a:cs typeface="Arial"/>
              </a:defRPr>
            </a:pPr>
            <a:r>
              <a:rPr sz="590" b="0" dirty="0">
                <a:solidFill>
                  <a:srgbClr val="263442"/>
                </a:solidFill>
                <a:latin typeface="Arial"/>
                <a:ea typeface="Arial"/>
                <a:cs typeface="Arial"/>
              </a:rPr>
              <a:t>features</a:t>
            </a:r>
          </a:p>
        </p:txBody>
      </p:sp>
      <p:sp>
        <p:nvSpPr>
          <p:cNvPr id="767" name="Concat label">
            <a:extLst>
              <a:ext uri="{FF2B5EF4-FFF2-40B4-BE49-F238E27FC236}">
                <a16:creationId xmlns:a16="http://schemas.microsoft.com/office/drawing/2014/main" id="{4D42E3CA-DF50-C141-866F-CEDBA23EE500}"/>
              </a:ext>
            </a:extLst>
          </p:cNvPr>
          <p:cNvSpPr>
            <a:spLocks noGrp="1"/>
          </p:cNvSpPr>
          <p:nvPr/>
        </p:nvSpPr>
        <p:spPr>
          <a:xfrm>
            <a:off x="1141938" y="3608830"/>
            <a:ext cx="259207" cy="81002"/>
          </a:xfrm>
          <a:prstGeom prst="rect">
            <a:avLst/>
          </a:prstGeom>
          <a:noFill/>
          <a:ln w="6885">
            <a:noFill/>
            <a:prstDash val="solid"/>
          </a:ln>
        </p:spPr>
        <p:txBody>
          <a:bodyPr lIns="0" tIns="0" rIns="0" bIns="0" anchor="ctr"/>
          <a:lstStyle>
            <a:defPPr algn="ctr">
              <a:defRPr sz="568" b="0">
                <a:solidFill>
                  <a:srgbClr val="263442"/>
                </a:solidFill>
                <a:latin typeface="Arial"/>
                <a:ea typeface="Arial"/>
                <a:cs typeface="Arial"/>
              </a:defRPr>
            </a:defPPr>
            <a:lvl1pPr algn="ctr">
              <a:defRPr sz="568" b="0">
                <a:solidFill>
                  <a:srgbClr val="263442"/>
                </a:solidFill>
                <a:latin typeface="Arial"/>
                <a:ea typeface="Arial"/>
                <a:cs typeface="Arial"/>
              </a:defRPr>
            </a:lvl1pPr>
            <a:lvl2pPr algn="ctr">
              <a:defRPr sz="568" b="0">
                <a:solidFill>
                  <a:srgbClr val="263442"/>
                </a:solidFill>
                <a:latin typeface="Arial"/>
                <a:ea typeface="Arial"/>
                <a:cs typeface="Arial"/>
              </a:defRPr>
            </a:lvl2pPr>
            <a:lvl3pPr algn="ctr">
              <a:defRPr sz="568" b="0">
                <a:solidFill>
                  <a:srgbClr val="263442"/>
                </a:solidFill>
                <a:latin typeface="Arial"/>
                <a:ea typeface="Arial"/>
                <a:cs typeface="Arial"/>
              </a:defRPr>
            </a:lvl3pPr>
            <a:lvl4pPr algn="ctr">
              <a:defRPr sz="568" b="0">
                <a:solidFill>
                  <a:srgbClr val="263442"/>
                </a:solidFill>
                <a:latin typeface="Arial"/>
                <a:ea typeface="Arial"/>
                <a:cs typeface="Arial"/>
              </a:defRPr>
            </a:lvl4pPr>
            <a:lvl5pPr algn="ctr">
              <a:defRPr sz="568" b="0">
                <a:solidFill>
                  <a:srgbClr val="263442"/>
                </a:solidFill>
                <a:latin typeface="Arial"/>
                <a:ea typeface="Arial"/>
                <a:cs typeface="Arial"/>
              </a:defRPr>
            </a:lvl5pPr>
            <a:lvl6pPr algn="ctr">
              <a:defRPr sz="568" b="0">
                <a:solidFill>
                  <a:srgbClr val="263442"/>
                </a:solidFill>
                <a:latin typeface="Arial"/>
                <a:ea typeface="Arial"/>
                <a:cs typeface="Arial"/>
              </a:defRPr>
            </a:lvl6pPr>
            <a:lvl7pPr algn="ctr">
              <a:defRPr sz="568" b="0">
                <a:solidFill>
                  <a:srgbClr val="263442"/>
                </a:solidFill>
                <a:latin typeface="Arial"/>
                <a:ea typeface="Arial"/>
                <a:cs typeface="Arial"/>
              </a:defRPr>
            </a:lvl7pPr>
            <a:lvl8pPr algn="ctr">
              <a:defRPr sz="568" b="0">
                <a:solidFill>
                  <a:srgbClr val="263442"/>
                </a:solidFill>
                <a:latin typeface="Arial"/>
                <a:ea typeface="Arial"/>
                <a:cs typeface="Arial"/>
              </a:defRPr>
            </a:lvl8pPr>
            <a:lvl9pPr algn="ctr">
              <a:defRPr sz="568" b="0">
                <a:solidFill>
                  <a:srgbClr val="263442"/>
                </a:solidFill>
                <a:latin typeface="Arial"/>
                <a:ea typeface="Arial"/>
                <a:cs typeface="Arial"/>
              </a:defRPr>
            </a:lvl9pPr>
          </a:lstStyle>
          <a:p>
            <a:pPr algn="ctr">
              <a:defRPr sz="568" b="0">
                <a:solidFill>
                  <a:srgbClr val="263442"/>
                </a:solidFill>
                <a:latin typeface="Arial"/>
                <a:ea typeface="Arial"/>
                <a:cs typeface="Arial"/>
              </a:defRPr>
            </a:pPr>
            <a:r>
              <a:rPr sz="568" dirty="0" err="1">
                <a:solidFill>
                  <a:srgbClr val="263442"/>
                </a:solidFill>
                <a:latin typeface="Arial"/>
                <a:ea typeface="Arial"/>
                <a:cs typeface="Arial"/>
              </a:rPr>
              <a:t>Concat</a:t>
            </a:r>
            <a:endParaRPr sz="568" dirty="0">
              <a:solidFill>
                <a:srgbClr val="263442"/>
              </a:solidFill>
              <a:latin typeface="Arial"/>
              <a:ea typeface="Arial"/>
              <a:cs typeface="Arial"/>
            </a:endParaRPr>
          </a:p>
        </p:txBody>
      </p:sp>
      <p:grpSp>
        <p:nvGrpSpPr>
          <p:cNvPr id="1248" name="Unified flow and feature elements">
            <a:extLst>
              <a:ext uri="{FF2B5EF4-FFF2-40B4-BE49-F238E27FC236}">
                <a16:creationId xmlns:a16="http://schemas.microsoft.com/office/drawing/2014/main" id="{BEDB810A-3058-A27D-9A9D-D7670A24D702}"/>
              </a:ext>
            </a:extLst>
          </p:cNvPr>
          <p:cNvGrpSpPr/>
          <p:nvPr/>
        </p:nvGrpSpPr>
        <p:grpSpPr>
          <a:xfrm>
            <a:off x="906174" y="284723"/>
            <a:ext cx="3778711" cy="3984382"/>
            <a:chOff x="2131133" y="669608"/>
            <a:chExt cx="8886725" cy="9370426"/>
          </a:xfrm>
        </p:grpSpPr>
        <p:sp>
          <p:nvSpPr>
            <p:cNvPr id="1249" name="Preprocessing refined">
              <a:extLst>
                <a:ext uri="{FF2B5EF4-FFF2-40B4-BE49-F238E27FC236}">
                  <a16:creationId xmlns:a16="http://schemas.microsoft.com/office/drawing/2014/main" id="{1859AFD7-0DCD-3E15-4760-F012FC7604E4}"/>
                </a:ext>
              </a:extLst>
            </p:cNvPr>
            <p:cNvSpPr>
              <a:spLocks noGrp="1"/>
            </p:cNvSpPr>
            <p:nvPr/>
          </p:nvSpPr>
          <p:spPr>
            <a:xfrm>
              <a:off x="3122581" y="669608"/>
              <a:ext cx="1028701" cy="3460433"/>
            </a:xfrm>
            <a:prstGeom prst="roundRect">
              <a:avLst>
                <a:gd name="adj" fmla="val 6481"/>
              </a:avLst>
            </a:prstGeom>
            <a:solidFill>
              <a:schemeClr val="bg1"/>
            </a:solidFill>
            <a:ln w="7290">
              <a:solidFill>
                <a:srgbClr val="BEC7CE"/>
              </a:solidFill>
            </a:ln>
          </p:spPr>
        </p:sp>
        <p:sp>
          <p:nvSpPr>
            <p:cNvPr id="1250" name="Preprocessing divider refined">
              <a:extLst>
                <a:ext uri="{FF2B5EF4-FFF2-40B4-BE49-F238E27FC236}">
                  <a16:creationId xmlns:a16="http://schemas.microsoft.com/office/drawing/2014/main" id="{E7611B8E-8A60-78DD-3DC7-1948E45A63FA}"/>
                </a:ext>
              </a:extLst>
            </p:cNvPr>
            <p:cNvSpPr>
              <a:spLocks noGrp="1"/>
            </p:cNvSpPr>
            <p:nvPr/>
          </p:nvSpPr>
          <p:spPr>
            <a:xfrm>
              <a:off x="3199219" y="2418363"/>
              <a:ext cx="800100" cy="190"/>
            </a:xfrm>
            <a:custGeom>
              <a:avLst/>
              <a:gdLst/>
              <a:ahLst/>
              <a:cxnLst/>
              <a:rect l="0" t="0" r="0" b="0"/>
              <a:pathLst>
                <a:path w="800100" h="191">
                  <a:moveTo>
                    <a:pt x="0" y="0"/>
                  </a:moveTo>
                  <a:lnTo>
                    <a:pt x="800100" y="0"/>
                  </a:lnTo>
                </a:path>
              </a:pathLst>
            </a:custGeom>
            <a:noFill/>
            <a:ln w="6075">
              <a:solidFill>
                <a:srgbClr val="C8CFD4"/>
              </a:solidFill>
              <a:prstDash val="solid"/>
            </a:ln>
          </p:spPr>
        </p:sp>
        <p:sp>
          <p:nvSpPr>
            <p:cNvPr id="1251" name="Density bank refined">
              <a:extLst>
                <a:ext uri="{FF2B5EF4-FFF2-40B4-BE49-F238E27FC236}">
                  <a16:creationId xmlns:a16="http://schemas.microsoft.com/office/drawing/2014/main" id="{FB12AB95-9B44-93BD-70DD-6D91FA177EE3}"/>
                </a:ext>
              </a:extLst>
            </p:cNvPr>
            <p:cNvSpPr>
              <a:spLocks noGrp="1"/>
            </p:cNvSpPr>
            <p:nvPr/>
          </p:nvSpPr>
          <p:spPr>
            <a:xfrm>
              <a:off x="3160769" y="695478"/>
              <a:ext cx="990599" cy="457199"/>
            </a:xfrm>
            <a:prstGeom prst="rect">
              <a:avLst/>
            </a:prstGeom>
            <a:noFill/>
            <a:ln w="7290">
              <a:noFill/>
            </a:ln>
          </p:spPr>
          <p:txBody>
            <a:bodyPr lIns="0" tIns="0" rIns="0" bIns="0" anchor="ctr"/>
            <a:lstStyle>
              <a:defPPr algn="ctr">
                <a:defRPr sz="612">
                  <a:solidFill>
                    <a:srgbClr val="263442"/>
                  </a:solidFill>
                  <a:latin typeface="Arial"/>
                  <a:ea typeface="Arial"/>
                  <a:cs typeface="Arial"/>
                </a:defRPr>
              </a:defPPr>
              <a:lvl1pPr algn="ctr">
                <a:defRPr sz="612">
                  <a:solidFill>
                    <a:srgbClr val="263442"/>
                  </a:solidFill>
                  <a:latin typeface="Arial"/>
                  <a:ea typeface="Arial"/>
                  <a:cs typeface="Arial"/>
                </a:defRPr>
              </a:lvl1pPr>
              <a:lvl2pPr algn="ctr">
                <a:defRPr sz="612">
                  <a:solidFill>
                    <a:srgbClr val="263442"/>
                  </a:solidFill>
                  <a:latin typeface="Arial"/>
                  <a:ea typeface="Arial"/>
                  <a:cs typeface="Arial"/>
                </a:defRPr>
              </a:lvl2pPr>
              <a:lvl3pPr algn="ctr">
                <a:defRPr sz="612">
                  <a:solidFill>
                    <a:srgbClr val="263442"/>
                  </a:solidFill>
                  <a:latin typeface="Arial"/>
                  <a:ea typeface="Arial"/>
                  <a:cs typeface="Arial"/>
                </a:defRPr>
              </a:lvl3pPr>
              <a:lvl4pPr algn="ctr">
                <a:defRPr sz="612">
                  <a:solidFill>
                    <a:srgbClr val="263442"/>
                  </a:solidFill>
                  <a:latin typeface="Arial"/>
                  <a:ea typeface="Arial"/>
                  <a:cs typeface="Arial"/>
                </a:defRPr>
              </a:lvl4pPr>
              <a:lvl5pPr algn="ctr">
                <a:defRPr sz="612">
                  <a:solidFill>
                    <a:srgbClr val="263442"/>
                  </a:solidFill>
                  <a:latin typeface="Arial"/>
                  <a:ea typeface="Arial"/>
                  <a:cs typeface="Arial"/>
                </a:defRPr>
              </a:lvl5pPr>
              <a:lvl6pPr algn="ctr">
                <a:defRPr sz="612">
                  <a:solidFill>
                    <a:srgbClr val="263442"/>
                  </a:solidFill>
                  <a:latin typeface="Arial"/>
                  <a:ea typeface="Arial"/>
                  <a:cs typeface="Arial"/>
                </a:defRPr>
              </a:lvl6pPr>
              <a:lvl7pPr algn="ctr">
                <a:defRPr sz="612">
                  <a:solidFill>
                    <a:srgbClr val="263442"/>
                  </a:solidFill>
                  <a:latin typeface="Arial"/>
                  <a:ea typeface="Arial"/>
                  <a:cs typeface="Arial"/>
                </a:defRPr>
              </a:lvl7pPr>
              <a:lvl8pPr algn="ctr">
                <a:defRPr sz="612">
                  <a:solidFill>
                    <a:srgbClr val="263442"/>
                  </a:solidFill>
                  <a:latin typeface="Arial"/>
                  <a:ea typeface="Arial"/>
                  <a:cs typeface="Arial"/>
                </a:defRPr>
              </a:lvl8pPr>
              <a:lvl9pPr algn="ctr">
                <a:defRPr sz="612">
                  <a:solidFill>
                    <a:srgbClr val="263442"/>
                  </a:solidFill>
                  <a:latin typeface="Arial"/>
                  <a:ea typeface="Arial"/>
                  <a:cs typeface="Arial"/>
                </a:defRPr>
              </a:lvl9pPr>
            </a:lstStyle>
            <a:p>
              <a:pPr algn="ctr">
                <a:defRPr sz="612">
                  <a:solidFill>
                    <a:srgbClr val="263442"/>
                  </a:solidFill>
                  <a:latin typeface="Arial"/>
                  <a:ea typeface="Arial"/>
                  <a:cs typeface="Arial"/>
                </a:defRPr>
              </a:pPr>
              <a:r>
                <a:rPr sz="550" dirty="0">
                  <a:solidFill>
                    <a:srgbClr val="263442"/>
                  </a:solidFill>
                  <a:latin typeface="Arial"/>
                  <a:ea typeface="Arial"/>
                  <a:cs typeface="Arial"/>
                </a:rPr>
                <a:t>Density</a:t>
              </a:r>
            </a:p>
            <a:p>
              <a:pPr algn="ctr">
                <a:defRPr sz="612">
                  <a:solidFill>
                    <a:srgbClr val="263442"/>
                  </a:solidFill>
                  <a:latin typeface="Arial"/>
                  <a:ea typeface="Arial"/>
                  <a:cs typeface="Arial"/>
                </a:defRPr>
              </a:pPr>
              <a:r>
                <a:rPr lang="en-US" sz="550" dirty="0">
                  <a:solidFill>
                    <a:srgbClr val="263442"/>
                  </a:solidFill>
                  <a:latin typeface="Arial"/>
                  <a:ea typeface="Arial"/>
                  <a:cs typeface="Arial"/>
                </a:rPr>
                <a:t>B</a:t>
              </a:r>
              <a:r>
                <a:rPr sz="550" dirty="0">
                  <a:solidFill>
                    <a:srgbClr val="263442"/>
                  </a:solidFill>
                  <a:latin typeface="Arial"/>
                  <a:ea typeface="Arial"/>
                  <a:cs typeface="Arial"/>
                </a:rPr>
                <a:t>ank</a:t>
              </a:r>
            </a:p>
          </p:txBody>
        </p:sp>
        <p:sp>
          <p:nvSpPr>
            <p:cNvPr id="1252" name="Embedding head refined">
              <a:extLst>
                <a:ext uri="{FF2B5EF4-FFF2-40B4-BE49-F238E27FC236}">
                  <a16:creationId xmlns:a16="http://schemas.microsoft.com/office/drawing/2014/main" id="{9BD65A6D-920D-9175-9C4F-E9730CB47ED5}"/>
                </a:ext>
              </a:extLst>
            </p:cNvPr>
            <p:cNvSpPr>
              <a:spLocks noGrp="1"/>
            </p:cNvSpPr>
            <p:nvPr/>
          </p:nvSpPr>
          <p:spPr>
            <a:xfrm>
              <a:off x="3122433" y="2542570"/>
              <a:ext cx="990599" cy="457199"/>
            </a:xfrm>
            <a:prstGeom prst="rect">
              <a:avLst/>
            </a:prstGeom>
            <a:noFill/>
            <a:ln w="7290">
              <a:noFill/>
            </a:ln>
          </p:spPr>
          <p:txBody>
            <a:bodyPr lIns="0" tIns="0" rIns="0" bIns="0" anchor="ctr"/>
            <a:lstStyle>
              <a:defPPr algn="ctr">
                <a:defRPr sz="612">
                  <a:solidFill>
                    <a:srgbClr val="263442"/>
                  </a:solidFill>
                  <a:latin typeface="Arial"/>
                  <a:ea typeface="Arial"/>
                  <a:cs typeface="Arial"/>
                </a:defRPr>
              </a:defPPr>
              <a:lvl1pPr algn="ctr">
                <a:defRPr sz="612">
                  <a:solidFill>
                    <a:srgbClr val="263442"/>
                  </a:solidFill>
                  <a:latin typeface="Arial"/>
                  <a:ea typeface="Arial"/>
                  <a:cs typeface="Arial"/>
                </a:defRPr>
              </a:lvl1pPr>
              <a:lvl2pPr algn="ctr">
                <a:defRPr sz="612">
                  <a:solidFill>
                    <a:srgbClr val="263442"/>
                  </a:solidFill>
                  <a:latin typeface="Arial"/>
                  <a:ea typeface="Arial"/>
                  <a:cs typeface="Arial"/>
                </a:defRPr>
              </a:lvl2pPr>
              <a:lvl3pPr algn="ctr">
                <a:defRPr sz="612">
                  <a:solidFill>
                    <a:srgbClr val="263442"/>
                  </a:solidFill>
                  <a:latin typeface="Arial"/>
                  <a:ea typeface="Arial"/>
                  <a:cs typeface="Arial"/>
                </a:defRPr>
              </a:lvl3pPr>
              <a:lvl4pPr algn="ctr">
                <a:defRPr sz="612">
                  <a:solidFill>
                    <a:srgbClr val="263442"/>
                  </a:solidFill>
                  <a:latin typeface="Arial"/>
                  <a:ea typeface="Arial"/>
                  <a:cs typeface="Arial"/>
                </a:defRPr>
              </a:lvl4pPr>
              <a:lvl5pPr algn="ctr">
                <a:defRPr sz="612">
                  <a:solidFill>
                    <a:srgbClr val="263442"/>
                  </a:solidFill>
                  <a:latin typeface="Arial"/>
                  <a:ea typeface="Arial"/>
                  <a:cs typeface="Arial"/>
                </a:defRPr>
              </a:lvl5pPr>
              <a:lvl6pPr algn="ctr">
                <a:defRPr sz="612">
                  <a:solidFill>
                    <a:srgbClr val="263442"/>
                  </a:solidFill>
                  <a:latin typeface="Arial"/>
                  <a:ea typeface="Arial"/>
                  <a:cs typeface="Arial"/>
                </a:defRPr>
              </a:lvl6pPr>
              <a:lvl7pPr algn="ctr">
                <a:defRPr sz="612">
                  <a:solidFill>
                    <a:srgbClr val="263442"/>
                  </a:solidFill>
                  <a:latin typeface="Arial"/>
                  <a:ea typeface="Arial"/>
                  <a:cs typeface="Arial"/>
                </a:defRPr>
              </a:lvl7pPr>
              <a:lvl8pPr algn="ctr">
                <a:defRPr sz="612">
                  <a:solidFill>
                    <a:srgbClr val="263442"/>
                  </a:solidFill>
                  <a:latin typeface="Arial"/>
                  <a:ea typeface="Arial"/>
                  <a:cs typeface="Arial"/>
                </a:defRPr>
              </a:lvl8pPr>
              <a:lvl9pPr algn="ctr">
                <a:defRPr sz="612">
                  <a:solidFill>
                    <a:srgbClr val="263442"/>
                  </a:solidFill>
                  <a:latin typeface="Arial"/>
                  <a:ea typeface="Arial"/>
                  <a:cs typeface="Arial"/>
                </a:defRPr>
              </a:lvl9pPr>
            </a:lstStyle>
            <a:p>
              <a:pPr algn="ctr">
                <a:defRPr sz="612">
                  <a:solidFill>
                    <a:srgbClr val="263442"/>
                  </a:solidFill>
                  <a:latin typeface="Arial"/>
                  <a:ea typeface="Arial"/>
                  <a:cs typeface="Arial"/>
                </a:defRPr>
              </a:pPr>
              <a:r>
                <a:rPr lang="en-US" sz="550" dirty="0">
                  <a:solidFill>
                    <a:srgbClr val="263442"/>
                  </a:solidFill>
                  <a:latin typeface="Arial"/>
                  <a:ea typeface="Arial"/>
                  <a:cs typeface="Arial"/>
                </a:rPr>
                <a:t>Atom embeddings</a:t>
              </a:r>
              <a:endParaRPr sz="550" dirty="0">
                <a:solidFill>
                  <a:srgbClr val="263442"/>
                </a:solidFill>
                <a:latin typeface="Arial"/>
                <a:ea typeface="Arial"/>
                <a:cs typeface="Arial"/>
              </a:endParaRPr>
            </a:p>
          </p:txBody>
        </p:sp>
        <p:sp>
          <p:nvSpPr>
            <p:cNvPr id="1253" name="Find matrix 0-0">
              <a:extLst>
                <a:ext uri="{FF2B5EF4-FFF2-40B4-BE49-F238E27FC236}">
                  <a16:creationId xmlns:a16="http://schemas.microsoft.com/office/drawing/2014/main" id="{0EAB0855-F56D-DAE5-130E-7807B548A5CA}"/>
                </a:ext>
              </a:extLst>
            </p:cNvPr>
            <p:cNvSpPr>
              <a:spLocks noGrp="1"/>
            </p:cNvSpPr>
            <p:nvPr/>
          </p:nvSpPr>
          <p:spPr>
            <a:xfrm>
              <a:off x="10255382" y="3200400"/>
              <a:ext cx="91559" cy="70009"/>
            </a:xfrm>
            <a:prstGeom prst="rect">
              <a:avLst/>
            </a:prstGeom>
            <a:solidFill>
              <a:srgbClr val="3E8F9A"/>
            </a:solidFill>
            <a:ln w="7290">
              <a:noFill/>
            </a:ln>
          </p:spPr>
        </p:sp>
        <p:sp>
          <p:nvSpPr>
            <p:cNvPr id="1254" name="Find matrix 0-1">
              <a:extLst>
                <a:ext uri="{FF2B5EF4-FFF2-40B4-BE49-F238E27FC236}">
                  <a16:creationId xmlns:a16="http://schemas.microsoft.com/office/drawing/2014/main" id="{DB1D6A76-136E-E4BE-9CC6-0D4EC9F8E0F9}"/>
                </a:ext>
              </a:extLst>
            </p:cNvPr>
            <p:cNvSpPr>
              <a:spLocks noGrp="1"/>
            </p:cNvSpPr>
            <p:nvPr/>
          </p:nvSpPr>
          <p:spPr>
            <a:xfrm>
              <a:off x="10351227" y="3200400"/>
              <a:ext cx="91559" cy="70009"/>
            </a:xfrm>
            <a:prstGeom prst="rect">
              <a:avLst/>
            </a:prstGeom>
            <a:solidFill>
              <a:srgbClr val="5B9FB6"/>
            </a:solidFill>
            <a:ln w="7290">
              <a:noFill/>
            </a:ln>
          </p:spPr>
        </p:sp>
        <p:sp>
          <p:nvSpPr>
            <p:cNvPr id="1255" name="Find matrix 0-2">
              <a:extLst>
                <a:ext uri="{FF2B5EF4-FFF2-40B4-BE49-F238E27FC236}">
                  <a16:creationId xmlns:a16="http://schemas.microsoft.com/office/drawing/2014/main" id="{9154DEB9-0E91-A644-41CF-0F69BB3E95B9}"/>
                </a:ext>
              </a:extLst>
            </p:cNvPr>
            <p:cNvSpPr>
              <a:spLocks noGrp="1"/>
            </p:cNvSpPr>
            <p:nvPr/>
          </p:nvSpPr>
          <p:spPr>
            <a:xfrm>
              <a:off x="10447072" y="3200400"/>
              <a:ext cx="91559" cy="70009"/>
            </a:xfrm>
            <a:prstGeom prst="rect">
              <a:avLst/>
            </a:prstGeom>
            <a:solidFill>
              <a:srgbClr val="A3CDDA"/>
            </a:solidFill>
            <a:ln w="7290">
              <a:noFill/>
            </a:ln>
          </p:spPr>
        </p:sp>
        <p:sp>
          <p:nvSpPr>
            <p:cNvPr id="1256" name="Find matrix 0-3">
              <a:extLst>
                <a:ext uri="{FF2B5EF4-FFF2-40B4-BE49-F238E27FC236}">
                  <a16:creationId xmlns:a16="http://schemas.microsoft.com/office/drawing/2014/main" id="{5442672B-C67B-925E-F92D-E782FEC51616}"/>
                </a:ext>
              </a:extLst>
            </p:cNvPr>
            <p:cNvSpPr>
              <a:spLocks noGrp="1"/>
            </p:cNvSpPr>
            <p:nvPr/>
          </p:nvSpPr>
          <p:spPr>
            <a:xfrm>
              <a:off x="10542917" y="3200400"/>
              <a:ext cx="91559" cy="70009"/>
            </a:xfrm>
            <a:prstGeom prst="rect">
              <a:avLst/>
            </a:prstGeom>
            <a:solidFill>
              <a:srgbClr val="88BEC3"/>
            </a:solidFill>
            <a:ln w="7290">
              <a:noFill/>
            </a:ln>
          </p:spPr>
        </p:sp>
        <p:sp>
          <p:nvSpPr>
            <p:cNvPr id="1257" name="Find matrix 0-4">
              <a:extLst>
                <a:ext uri="{FF2B5EF4-FFF2-40B4-BE49-F238E27FC236}">
                  <a16:creationId xmlns:a16="http://schemas.microsoft.com/office/drawing/2014/main" id="{C5738AA3-1033-6B2B-3221-DD68B1DA20EA}"/>
                </a:ext>
              </a:extLst>
            </p:cNvPr>
            <p:cNvSpPr>
              <a:spLocks noGrp="1"/>
            </p:cNvSpPr>
            <p:nvPr/>
          </p:nvSpPr>
          <p:spPr>
            <a:xfrm>
              <a:off x="10638763" y="3200400"/>
              <a:ext cx="91559" cy="70009"/>
            </a:xfrm>
            <a:prstGeom prst="rect">
              <a:avLst/>
            </a:prstGeom>
            <a:solidFill>
              <a:srgbClr val="67AD9F"/>
            </a:solidFill>
            <a:ln w="7290">
              <a:noFill/>
            </a:ln>
          </p:spPr>
        </p:sp>
        <p:sp>
          <p:nvSpPr>
            <p:cNvPr id="1258" name="Find matrix 0-5">
              <a:extLst>
                <a:ext uri="{FF2B5EF4-FFF2-40B4-BE49-F238E27FC236}">
                  <a16:creationId xmlns:a16="http://schemas.microsoft.com/office/drawing/2014/main" id="{421A8DD9-856E-2E74-3485-6C48503C19AA}"/>
                </a:ext>
              </a:extLst>
            </p:cNvPr>
            <p:cNvSpPr>
              <a:spLocks noGrp="1"/>
            </p:cNvSpPr>
            <p:nvPr/>
          </p:nvSpPr>
          <p:spPr>
            <a:xfrm>
              <a:off x="10734608" y="3200400"/>
              <a:ext cx="91559" cy="70009"/>
            </a:xfrm>
            <a:prstGeom prst="rect">
              <a:avLst/>
            </a:prstGeom>
            <a:solidFill>
              <a:srgbClr val="C4DDE0"/>
            </a:solidFill>
            <a:ln w="7290">
              <a:noFill/>
            </a:ln>
          </p:spPr>
        </p:sp>
        <p:sp>
          <p:nvSpPr>
            <p:cNvPr id="1259" name="Find matrix 0-6">
              <a:extLst>
                <a:ext uri="{FF2B5EF4-FFF2-40B4-BE49-F238E27FC236}">
                  <a16:creationId xmlns:a16="http://schemas.microsoft.com/office/drawing/2014/main" id="{518388B9-EF42-86BD-973C-38C4F1FE2B8B}"/>
                </a:ext>
              </a:extLst>
            </p:cNvPr>
            <p:cNvSpPr>
              <a:spLocks noGrp="1"/>
            </p:cNvSpPr>
            <p:nvPr/>
          </p:nvSpPr>
          <p:spPr>
            <a:xfrm>
              <a:off x="10830453" y="3200400"/>
              <a:ext cx="91559" cy="70009"/>
            </a:xfrm>
            <a:prstGeom prst="rect">
              <a:avLst/>
            </a:prstGeom>
            <a:solidFill>
              <a:srgbClr val="B6D8CC"/>
            </a:solidFill>
            <a:ln w="7290">
              <a:noFill/>
            </a:ln>
          </p:spPr>
        </p:sp>
        <p:sp>
          <p:nvSpPr>
            <p:cNvPr id="1260" name="Find matrix 0-7">
              <a:extLst>
                <a:ext uri="{FF2B5EF4-FFF2-40B4-BE49-F238E27FC236}">
                  <a16:creationId xmlns:a16="http://schemas.microsoft.com/office/drawing/2014/main" id="{50529703-F6E8-FF0D-68B2-27D3AE465265}"/>
                </a:ext>
              </a:extLst>
            </p:cNvPr>
            <p:cNvSpPr>
              <a:spLocks noGrp="1"/>
            </p:cNvSpPr>
            <p:nvPr/>
          </p:nvSpPr>
          <p:spPr>
            <a:xfrm>
              <a:off x="10926299" y="3200400"/>
              <a:ext cx="91559" cy="70009"/>
            </a:xfrm>
            <a:prstGeom prst="rect">
              <a:avLst/>
            </a:prstGeom>
            <a:solidFill>
              <a:srgbClr val="D6E5ED"/>
            </a:solidFill>
            <a:ln w="7290">
              <a:noFill/>
            </a:ln>
          </p:spPr>
        </p:sp>
        <p:sp>
          <p:nvSpPr>
            <p:cNvPr id="1261" name="Find matrix 1-0">
              <a:extLst>
                <a:ext uri="{FF2B5EF4-FFF2-40B4-BE49-F238E27FC236}">
                  <a16:creationId xmlns:a16="http://schemas.microsoft.com/office/drawing/2014/main" id="{F0EEB8EC-34B5-3949-4157-8E6693E11853}"/>
                </a:ext>
              </a:extLst>
            </p:cNvPr>
            <p:cNvSpPr>
              <a:spLocks noGrp="1"/>
            </p:cNvSpPr>
            <p:nvPr/>
          </p:nvSpPr>
          <p:spPr>
            <a:xfrm>
              <a:off x="10255382" y="3274695"/>
              <a:ext cx="91559" cy="70009"/>
            </a:xfrm>
            <a:prstGeom prst="rect">
              <a:avLst/>
            </a:prstGeom>
            <a:solidFill>
              <a:srgbClr val="A3CDDA"/>
            </a:solidFill>
            <a:ln w="7290">
              <a:noFill/>
            </a:ln>
          </p:spPr>
        </p:sp>
        <p:sp>
          <p:nvSpPr>
            <p:cNvPr id="1262" name="Find matrix 1-1">
              <a:extLst>
                <a:ext uri="{FF2B5EF4-FFF2-40B4-BE49-F238E27FC236}">
                  <a16:creationId xmlns:a16="http://schemas.microsoft.com/office/drawing/2014/main" id="{0EF1DBCD-9CDE-0935-89B7-74A61EFB288F}"/>
                </a:ext>
              </a:extLst>
            </p:cNvPr>
            <p:cNvSpPr>
              <a:spLocks noGrp="1"/>
            </p:cNvSpPr>
            <p:nvPr/>
          </p:nvSpPr>
          <p:spPr>
            <a:xfrm>
              <a:off x="10351227" y="3274695"/>
              <a:ext cx="91559" cy="70009"/>
            </a:xfrm>
            <a:prstGeom prst="rect">
              <a:avLst/>
            </a:prstGeom>
            <a:solidFill>
              <a:srgbClr val="B6D8CC"/>
            </a:solidFill>
            <a:ln w="7290">
              <a:noFill/>
            </a:ln>
          </p:spPr>
        </p:sp>
        <p:sp>
          <p:nvSpPr>
            <p:cNvPr id="1263" name="Find matrix 1-2">
              <a:extLst>
                <a:ext uri="{FF2B5EF4-FFF2-40B4-BE49-F238E27FC236}">
                  <a16:creationId xmlns:a16="http://schemas.microsoft.com/office/drawing/2014/main" id="{747D7A9C-2C34-0063-C1EA-1E3A3213D778}"/>
                </a:ext>
              </a:extLst>
            </p:cNvPr>
            <p:cNvSpPr>
              <a:spLocks noGrp="1"/>
            </p:cNvSpPr>
            <p:nvPr/>
          </p:nvSpPr>
          <p:spPr>
            <a:xfrm>
              <a:off x="10447072" y="3274695"/>
              <a:ext cx="91559" cy="70009"/>
            </a:xfrm>
            <a:prstGeom prst="rect">
              <a:avLst/>
            </a:prstGeom>
            <a:solidFill>
              <a:srgbClr val="88BEC3"/>
            </a:solidFill>
            <a:ln w="7290">
              <a:noFill/>
            </a:ln>
          </p:spPr>
        </p:sp>
        <p:sp>
          <p:nvSpPr>
            <p:cNvPr id="1264" name="Find matrix 1-3">
              <a:extLst>
                <a:ext uri="{FF2B5EF4-FFF2-40B4-BE49-F238E27FC236}">
                  <a16:creationId xmlns:a16="http://schemas.microsoft.com/office/drawing/2014/main" id="{41FEFB9C-6F52-F508-F1BA-FB2B9AE9E222}"/>
                </a:ext>
              </a:extLst>
            </p:cNvPr>
            <p:cNvSpPr>
              <a:spLocks noGrp="1"/>
            </p:cNvSpPr>
            <p:nvPr/>
          </p:nvSpPr>
          <p:spPr>
            <a:xfrm>
              <a:off x="10542917" y="3274695"/>
              <a:ext cx="91559" cy="70009"/>
            </a:xfrm>
            <a:prstGeom prst="rect">
              <a:avLst/>
            </a:prstGeom>
            <a:solidFill>
              <a:srgbClr val="D6E5ED"/>
            </a:solidFill>
            <a:ln w="7290">
              <a:noFill/>
            </a:ln>
          </p:spPr>
        </p:sp>
        <p:sp>
          <p:nvSpPr>
            <p:cNvPr id="1265" name="Find matrix 1-4">
              <a:extLst>
                <a:ext uri="{FF2B5EF4-FFF2-40B4-BE49-F238E27FC236}">
                  <a16:creationId xmlns:a16="http://schemas.microsoft.com/office/drawing/2014/main" id="{69067DD1-1D5D-4CFA-B477-53A708302654}"/>
                </a:ext>
              </a:extLst>
            </p:cNvPr>
            <p:cNvSpPr>
              <a:spLocks noGrp="1"/>
            </p:cNvSpPr>
            <p:nvPr/>
          </p:nvSpPr>
          <p:spPr>
            <a:xfrm>
              <a:off x="10638763" y="3274695"/>
              <a:ext cx="91559" cy="70009"/>
            </a:xfrm>
            <a:prstGeom prst="rect">
              <a:avLst/>
            </a:prstGeom>
            <a:solidFill>
              <a:srgbClr val="5B9FB6"/>
            </a:solidFill>
            <a:ln w="7290">
              <a:noFill/>
            </a:ln>
          </p:spPr>
        </p:sp>
        <p:sp>
          <p:nvSpPr>
            <p:cNvPr id="1266" name="Find matrix 1-5">
              <a:extLst>
                <a:ext uri="{FF2B5EF4-FFF2-40B4-BE49-F238E27FC236}">
                  <a16:creationId xmlns:a16="http://schemas.microsoft.com/office/drawing/2014/main" id="{6A1FC697-7A0A-D09D-4774-5AD7F204CA9B}"/>
                </a:ext>
              </a:extLst>
            </p:cNvPr>
            <p:cNvSpPr>
              <a:spLocks noGrp="1"/>
            </p:cNvSpPr>
            <p:nvPr/>
          </p:nvSpPr>
          <p:spPr>
            <a:xfrm>
              <a:off x="10734608" y="3274695"/>
              <a:ext cx="91559" cy="70009"/>
            </a:xfrm>
            <a:prstGeom prst="rect">
              <a:avLst/>
            </a:prstGeom>
            <a:solidFill>
              <a:srgbClr val="3E8F9A"/>
            </a:solidFill>
            <a:ln w="7290">
              <a:noFill/>
            </a:ln>
          </p:spPr>
        </p:sp>
        <p:sp>
          <p:nvSpPr>
            <p:cNvPr id="1267" name="Find matrix 1-6">
              <a:extLst>
                <a:ext uri="{FF2B5EF4-FFF2-40B4-BE49-F238E27FC236}">
                  <a16:creationId xmlns:a16="http://schemas.microsoft.com/office/drawing/2014/main" id="{C24A08FD-26FC-34D1-5D45-A099E2595C7C}"/>
                </a:ext>
              </a:extLst>
            </p:cNvPr>
            <p:cNvSpPr>
              <a:spLocks noGrp="1"/>
            </p:cNvSpPr>
            <p:nvPr/>
          </p:nvSpPr>
          <p:spPr>
            <a:xfrm>
              <a:off x="10830453" y="3274695"/>
              <a:ext cx="91559" cy="70009"/>
            </a:xfrm>
            <a:prstGeom prst="rect">
              <a:avLst/>
            </a:prstGeom>
            <a:solidFill>
              <a:srgbClr val="C4DDE0"/>
            </a:solidFill>
            <a:ln w="7290">
              <a:noFill/>
            </a:ln>
          </p:spPr>
        </p:sp>
        <p:sp>
          <p:nvSpPr>
            <p:cNvPr id="1268" name="Find matrix 1-7">
              <a:extLst>
                <a:ext uri="{FF2B5EF4-FFF2-40B4-BE49-F238E27FC236}">
                  <a16:creationId xmlns:a16="http://schemas.microsoft.com/office/drawing/2014/main" id="{CF903130-DC22-B904-AA1D-12D53F8F9957}"/>
                </a:ext>
              </a:extLst>
            </p:cNvPr>
            <p:cNvSpPr>
              <a:spLocks noGrp="1"/>
            </p:cNvSpPr>
            <p:nvPr/>
          </p:nvSpPr>
          <p:spPr>
            <a:xfrm>
              <a:off x="10926299" y="3274695"/>
              <a:ext cx="91559" cy="70009"/>
            </a:xfrm>
            <a:prstGeom prst="rect">
              <a:avLst/>
            </a:prstGeom>
            <a:solidFill>
              <a:srgbClr val="67AD9F"/>
            </a:solidFill>
            <a:ln w="7290">
              <a:noFill/>
            </a:ln>
          </p:spPr>
        </p:sp>
        <p:sp>
          <p:nvSpPr>
            <p:cNvPr id="1269" name="Find matrix 2-0">
              <a:extLst>
                <a:ext uri="{FF2B5EF4-FFF2-40B4-BE49-F238E27FC236}">
                  <a16:creationId xmlns:a16="http://schemas.microsoft.com/office/drawing/2014/main" id="{2F075FF6-7455-E03B-1185-CBD8A17B1B3C}"/>
                </a:ext>
              </a:extLst>
            </p:cNvPr>
            <p:cNvSpPr>
              <a:spLocks noGrp="1"/>
            </p:cNvSpPr>
            <p:nvPr/>
          </p:nvSpPr>
          <p:spPr>
            <a:xfrm>
              <a:off x="10255382" y="3348990"/>
              <a:ext cx="91559" cy="70009"/>
            </a:xfrm>
            <a:prstGeom prst="rect">
              <a:avLst/>
            </a:prstGeom>
            <a:solidFill>
              <a:srgbClr val="67AD9F"/>
            </a:solidFill>
            <a:ln w="7290">
              <a:noFill/>
            </a:ln>
          </p:spPr>
        </p:sp>
        <p:sp>
          <p:nvSpPr>
            <p:cNvPr id="1270" name="Find matrix 2-1">
              <a:extLst>
                <a:ext uri="{FF2B5EF4-FFF2-40B4-BE49-F238E27FC236}">
                  <a16:creationId xmlns:a16="http://schemas.microsoft.com/office/drawing/2014/main" id="{53C83164-BCD5-77C9-CD49-46C82AD34FA1}"/>
                </a:ext>
              </a:extLst>
            </p:cNvPr>
            <p:cNvSpPr>
              <a:spLocks noGrp="1"/>
            </p:cNvSpPr>
            <p:nvPr/>
          </p:nvSpPr>
          <p:spPr>
            <a:xfrm>
              <a:off x="10351227" y="3348990"/>
              <a:ext cx="91559" cy="70009"/>
            </a:xfrm>
            <a:prstGeom prst="rect">
              <a:avLst/>
            </a:prstGeom>
            <a:solidFill>
              <a:srgbClr val="C4DDE0"/>
            </a:solidFill>
            <a:ln w="7290">
              <a:noFill/>
            </a:ln>
          </p:spPr>
        </p:sp>
        <p:sp>
          <p:nvSpPr>
            <p:cNvPr id="1271" name="Find matrix 2-2">
              <a:extLst>
                <a:ext uri="{FF2B5EF4-FFF2-40B4-BE49-F238E27FC236}">
                  <a16:creationId xmlns:a16="http://schemas.microsoft.com/office/drawing/2014/main" id="{22BA9D90-E678-168F-49EF-5EEA3F9435CC}"/>
                </a:ext>
              </a:extLst>
            </p:cNvPr>
            <p:cNvSpPr>
              <a:spLocks noGrp="1"/>
            </p:cNvSpPr>
            <p:nvPr/>
          </p:nvSpPr>
          <p:spPr>
            <a:xfrm>
              <a:off x="10447072" y="3348990"/>
              <a:ext cx="91559" cy="70009"/>
            </a:xfrm>
            <a:prstGeom prst="rect">
              <a:avLst/>
            </a:prstGeom>
            <a:solidFill>
              <a:srgbClr val="5B9FB6"/>
            </a:solidFill>
            <a:ln w="7290">
              <a:noFill/>
            </a:ln>
          </p:spPr>
        </p:sp>
        <p:sp>
          <p:nvSpPr>
            <p:cNvPr id="1272" name="Find matrix 2-3">
              <a:extLst>
                <a:ext uri="{FF2B5EF4-FFF2-40B4-BE49-F238E27FC236}">
                  <a16:creationId xmlns:a16="http://schemas.microsoft.com/office/drawing/2014/main" id="{3CEA22B1-95A4-1A3C-FA0B-1D1111859C00}"/>
                </a:ext>
              </a:extLst>
            </p:cNvPr>
            <p:cNvSpPr>
              <a:spLocks noGrp="1"/>
            </p:cNvSpPr>
            <p:nvPr/>
          </p:nvSpPr>
          <p:spPr>
            <a:xfrm>
              <a:off x="10542917" y="3348990"/>
              <a:ext cx="91559" cy="70009"/>
            </a:xfrm>
            <a:prstGeom prst="rect">
              <a:avLst/>
            </a:prstGeom>
            <a:solidFill>
              <a:srgbClr val="B6D8CC"/>
            </a:solidFill>
            <a:ln w="7290">
              <a:noFill/>
            </a:ln>
          </p:spPr>
        </p:sp>
        <p:sp>
          <p:nvSpPr>
            <p:cNvPr id="1273" name="Find matrix 2-4">
              <a:extLst>
                <a:ext uri="{FF2B5EF4-FFF2-40B4-BE49-F238E27FC236}">
                  <a16:creationId xmlns:a16="http://schemas.microsoft.com/office/drawing/2014/main" id="{087F0F00-9FC1-BDC4-4D70-97BA74B25968}"/>
                </a:ext>
              </a:extLst>
            </p:cNvPr>
            <p:cNvSpPr>
              <a:spLocks noGrp="1"/>
            </p:cNvSpPr>
            <p:nvPr/>
          </p:nvSpPr>
          <p:spPr>
            <a:xfrm>
              <a:off x="10638763" y="3348990"/>
              <a:ext cx="91559" cy="70009"/>
            </a:xfrm>
            <a:prstGeom prst="rect">
              <a:avLst/>
            </a:prstGeom>
            <a:solidFill>
              <a:srgbClr val="3E8F9A"/>
            </a:solidFill>
            <a:ln w="7290">
              <a:noFill/>
            </a:ln>
          </p:spPr>
        </p:sp>
        <p:sp>
          <p:nvSpPr>
            <p:cNvPr id="1274" name="Find matrix 2-5">
              <a:extLst>
                <a:ext uri="{FF2B5EF4-FFF2-40B4-BE49-F238E27FC236}">
                  <a16:creationId xmlns:a16="http://schemas.microsoft.com/office/drawing/2014/main" id="{E1EA4F0A-FD36-79E6-D19E-5C378F218002}"/>
                </a:ext>
              </a:extLst>
            </p:cNvPr>
            <p:cNvSpPr>
              <a:spLocks noGrp="1"/>
            </p:cNvSpPr>
            <p:nvPr/>
          </p:nvSpPr>
          <p:spPr>
            <a:xfrm>
              <a:off x="10734608" y="3348990"/>
              <a:ext cx="91559" cy="70009"/>
            </a:xfrm>
            <a:prstGeom prst="rect">
              <a:avLst/>
            </a:prstGeom>
            <a:solidFill>
              <a:srgbClr val="D6E5ED"/>
            </a:solidFill>
            <a:ln w="7290">
              <a:noFill/>
            </a:ln>
          </p:spPr>
        </p:sp>
        <p:sp>
          <p:nvSpPr>
            <p:cNvPr id="1275" name="Find matrix 2-6">
              <a:extLst>
                <a:ext uri="{FF2B5EF4-FFF2-40B4-BE49-F238E27FC236}">
                  <a16:creationId xmlns:a16="http://schemas.microsoft.com/office/drawing/2014/main" id="{97E5F366-5326-8A8E-140C-2942CD47086F}"/>
                </a:ext>
              </a:extLst>
            </p:cNvPr>
            <p:cNvSpPr>
              <a:spLocks noGrp="1"/>
            </p:cNvSpPr>
            <p:nvPr/>
          </p:nvSpPr>
          <p:spPr>
            <a:xfrm>
              <a:off x="10830453" y="3348990"/>
              <a:ext cx="91559" cy="70009"/>
            </a:xfrm>
            <a:prstGeom prst="rect">
              <a:avLst/>
            </a:prstGeom>
            <a:solidFill>
              <a:srgbClr val="88BEC3"/>
            </a:solidFill>
            <a:ln w="7290">
              <a:noFill/>
            </a:ln>
          </p:spPr>
        </p:sp>
        <p:sp>
          <p:nvSpPr>
            <p:cNvPr id="1276" name="Find matrix 2-7">
              <a:extLst>
                <a:ext uri="{FF2B5EF4-FFF2-40B4-BE49-F238E27FC236}">
                  <a16:creationId xmlns:a16="http://schemas.microsoft.com/office/drawing/2014/main" id="{34601416-A376-1E9F-0C70-C60672718FC9}"/>
                </a:ext>
              </a:extLst>
            </p:cNvPr>
            <p:cNvSpPr>
              <a:spLocks noGrp="1"/>
            </p:cNvSpPr>
            <p:nvPr/>
          </p:nvSpPr>
          <p:spPr>
            <a:xfrm>
              <a:off x="10926299" y="3348990"/>
              <a:ext cx="91559" cy="70009"/>
            </a:xfrm>
            <a:prstGeom prst="rect">
              <a:avLst/>
            </a:prstGeom>
            <a:solidFill>
              <a:srgbClr val="A3CDDA"/>
            </a:solidFill>
            <a:ln w="7290">
              <a:noFill/>
            </a:ln>
          </p:spPr>
        </p:sp>
        <p:sp>
          <p:nvSpPr>
            <p:cNvPr id="1277" name="Find matrix 3-0">
              <a:extLst>
                <a:ext uri="{FF2B5EF4-FFF2-40B4-BE49-F238E27FC236}">
                  <a16:creationId xmlns:a16="http://schemas.microsoft.com/office/drawing/2014/main" id="{62F77A33-4C43-2892-8B0D-9BF0AFFF7841}"/>
                </a:ext>
              </a:extLst>
            </p:cNvPr>
            <p:cNvSpPr>
              <a:spLocks noGrp="1"/>
            </p:cNvSpPr>
            <p:nvPr/>
          </p:nvSpPr>
          <p:spPr>
            <a:xfrm>
              <a:off x="10255382" y="3423285"/>
              <a:ext cx="91559" cy="70009"/>
            </a:xfrm>
            <a:prstGeom prst="rect">
              <a:avLst/>
            </a:prstGeom>
            <a:solidFill>
              <a:srgbClr val="88BEC3"/>
            </a:solidFill>
            <a:ln w="7290">
              <a:noFill/>
            </a:ln>
          </p:spPr>
        </p:sp>
        <p:sp>
          <p:nvSpPr>
            <p:cNvPr id="1278" name="Find matrix 3-1">
              <a:extLst>
                <a:ext uri="{FF2B5EF4-FFF2-40B4-BE49-F238E27FC236}">
                  <a16:creationId xmlns:a16="http://schemas.microsoft.com/office/drawing/2014/main" id="{85760DBA-A2D6-45EE-2A63-F252CE61967D}"/>
                </a:ext>
              </a:extLst>
            </p:cNvPr>
            <p:cNvSpPr>
              <a:spLocks noGrp="1"/>
            </p:cNvSpPr>
            <p:nvPr/>
          </p:nvSpPr>
          <p:spPr>
            <a:xfrm>
              <a:off x="10351227" y="3423285"/>
              <a:ext cx="91559" cy="70009"/>
            </a:xfrm>
            <a:prstGeom prst="rect">
              <a:avLst/>
            </a:prstGeom>
            <a:solidFill>
              <a:srgbClr val="D6E5ED"/>
            </a:solidFill>
            <a:ln w="7290">
              <a:noFill/>
            </a:ln>
          </p:spPr>
        </p:sp>
        <p:sp>
          <p:nvSpPr>
            <p:cNvPr id="1279" name="Find matrix 3-2">
              <a:extLst>
                <a:ext uri="{FF2B5EF4-FFF2-40B4-BE49-F238E27FC236}">
                  <a16:creationId xmlns:a16="http://schemas.microsoft.com/office/drawing/2014/main" id="{D78A43A8-0EE4-A256-3A93-F4C20D3F2712}"/>
                </a:ext>
              </a:extLst>
            </p:cNvPr>
            <p:cNvSpPr>
              <a:spLocks noGrp="1"/>
            </p:cNvSpPr>
            <p:nvPr/>
          </p:nvSpPr>
          <p:spPr>
            <a:xfrm>
              <a:off x="10447072" y="3423285"/>
              <a:ext cx="91559" cy="70009"/>
            </a:xfrm>
            <a:prstGeom prst="rect">
              <a:avLst/>
            </a:prstGeom>
            <a:solidFill>
              <a:srgbClr val="67AD9F"/>
            </a:solidFill>
            <a:ln w="7290">
              <a:noFill/>
            </a:ln>
          </p:spPr>
        </p:sp>
        <p:sp>
          <p:nvSpPr>
            <p:cNvPr id="1280" name="Find matrix 3-3">
              <a:extLst>
                <a:ext uri="{FF2B5EF4-FFF2-40B4-BE49-F238E27FC236}">
                  <a16:creationId xmlns:a16="http://schemas.microsoft.com/office/drawing/2014/main" id="{84C8A1EE-1A30-2342-D474-860F37A26E39}"/>
                </a:ext>
              </a:extLst>
            </p:cNvPr>
            <p:cNvSpPr>
              <a:spLocks noGrp="1"/>
            </p:cNvSpPr>
            <p:nvPr/>
          </p:nvSpPr>
          <p:spPr>
            <a:xfrm>
              <a:off x="10542917" y="3423285"/>
              <a:ext cx="91559" cy="70009"/>
            </a:xfrm>
            <a:prstGeom prst="rect">
              <a:avLst/>
            </a:prstGeom>
            <a:solidFill>
              <a:srgbClr val="3E8F9A"/>
            </a:solidFill>
            <a:ln w="7290">
              <a:noFill/>
            </a:ln>
          </p:spPr>
        </p:sp>
        <p:sp>
          <p:nvSpPr>
            <p:cNvPr id="1281" name="Find matrix 3-4">
              <a:extLst>
                <a:ext uri="{FF2B5EF4-FFF2-40B4-BE49-F238E27FC236}">
                  <a16:creationId xmlns:a16="http://schemas.microsoft.com/office/drawing/2014/main" id="{B9168256-F5FB-F356-0DE7-CD52E3466B57}"/>
                </a:ext>
              </a:extLst>
            </p:cNvPr>
            <p:cNvSpPr>
              <a:spLocks noGrp="1"/>
            </p:cNvSpPr>
            <p:nvPr/>
          </p:nvSpPr>
          <p:spPr>
            <a:xfrm>
              <a:off x="10638763" y="3423285"/>
              <a:ext cx="91559" cy="70009"/>
            </a:xfrm>
            <a:prstGeom prst="rect">
              <a:avLst/>
            </a:prstGeom>
            <a:solidFill>
              <a:srgbClr val="C4DDE0"/>
            </a:solidFill>
            <a:ln w="7290">
              <a:noFill/>
            </a:ln>
          </p:spPr>
        </p:sp>
        <p:sp>
          <p:nvSpPr>
            <p:cNvPr id="1282" name="Find matrix 3-5">
              <a:extLst>
                <a:ext uri="{FF2B5EF4-FFF2-40B4-BE49-F238E27FC236}">
                  <a16:creationId xmlns:a16="http://schemas.microsoft.com/office/drawing/2014/main" id="{08488654-6E2C-D918-D25D-99AD8BF26373}"/>
                </a:ext>
              </a:extLst>
            </p:cNvPr>
            <p:cNvSpPr>
              <a:spLocks noGrp="1"/>
            </p:cNvSpPr>
            <p:nvPr/>
          </p:nvSpPr>
          <p:spPr>
            <a:xfrm>
              <a:off x="10734608" y="3423285"/>
              <a:ext cx="91559" cy="70009"/>
            </a:xfrm>
            <a:prstGeom prst="rect">
              <a:avLst/>
            </a:prstGeom>
            <a:solidFill>
              <a:srgbClr val="A3CDDA"/>
            </a:solidFill>
            <a:ln w="7290">
              <a:noFill/>
            </a:ln>
          </p:spPr>
        </p:sp>
        <p:sp>
          <p:nvSpPr>
            <p:cNvPr id="1283" name="Find matrix 3-6">
              <a:extLst>
                <a:ext uri="{FF2B5EF4-FFF2-40B4-BE49-F238E27FC236}">
                  <a16:creationId xmlns:a16="http://schemas.microsoft.com/office/drawing/2014/main" id="{E260A184-D1D3-B392-D18C-0888E94BD126}"/>
                </a:ext>
              </a:extLst>
            </p:cNvPr>
            <p:cNvSpPr>
              <a:spLocks noGrp="1"/>
            </p:cNvSpPr>
            <p:nvPr/>
          </p:nvSpPr>
          <p:spPr>
            <a:xfrm>
              <a:off x="10830453" y="3423285"/>
              <a:ext cx="91559" cy="70009"/>
            </a:xfrm>
            <a:prstGeom prst="rect">
              <a:avLst/>
            </a:prstGeom>
            <a:solidFill>
              <a:srgbClr val="B6D8CC"/>
            </a:solidFill>
            <a:ln w="7290">
              <a:noFill/>
            </a:ln>
          </p:spPr>
        </p:sp>
        <p:sp>
          <p:nvSpPr>
            <p:cNvPr id="1284" name="Find matrix 3-7">
              <a:extLst>
                <a:ext uri="{FF2B5EF4-FFF2-40B4-BE49-F238E27FC236}">
                  <a16:creationId xmlns:a16="http://schemas.microsoft.com/office/drawing/2014/main" id="{2D2293A3-A3B0-0EEC-1B18-295065EC25D5}"/>
                </a:ext>
              </a:extLst>
            </p:cNvPr>
            <p:cNvSpPr>
              <a:spLocks noGrp="1"/>
            </p:cNvSpPr>
            <p:nvPr/>
          </p:nvSpPr>
          <p:spPr>
            <a:xfrm>
              <a:off x="10926299" y="3423285"/>
              <a:ext cx="91559" cy="70009"/>
            </a:xfrm>
            <a:prstGeom prst="rect">
              <a:avLst/>
            </a:prstGeom>
            <a:solidFill>
              <a:srgbClr val="5B9FB6"/>
            </a:solidFill>
            <a:ln w="7290">
              <a:noFill/>
            </a:ln>
          </p:spPr>
        </p:sp>
        <p:sp>
          <p:nvSpPr>
            <p:cNvPr id="1285" name="Match matrix 0-0">
              <a:extLst>
                <a:ext uri="{FF2B5EF4-FFF2-40B4-BE49-F238E27FC236}">
                  <a16:creationId xmlns:a16="http://schemas.microsoft.com/office/drawing/2014/main" id="{2AE6DD68-A490-7361-ABF1-8294F1BE56A0}"/>
                </a:ext>
              </a:extLst>
            </p:cNvPr>
            <p:cNvSpPr>
              <a:spLocks noGrp="1"/>
            </p:cNvSpPr>
            <p:nvPr/>
          </p:nvSpPr>
          <p:spPr>
            <a:xfrm>
              <a:off x="3633156" y="7252039"/>
              <a:ext cx="88583" cy="70009"/>
            </a:xfrm>
            <a:prstGeom prst="rect">
              <a:avLst/>
            </a:prstGeom>
            <a:solidFill>
              <a:srgbClr val="3E8F9A"/>
            </a:solidFill>
            <a:ln w="7290">
              <a:noFill/>
            </a:ln>
          </p:spPr>
        </p:sp>
        <p:sp>
          <p:nvSpPr>
            <p:cNvPr id="1286" name="Match matrix 0-1">
              <a:extLst>
                <a:ext uri="{FF2B5EF4-FFF2-40B4-BE49-F238E27FC236}">
                  <a16:creationId xmlns:a16="http://schemas.microsoft.com/office/drawing/2014/main" id="{B984019D-671C-4F67-A1B9-D0AD7D9C93A2}"/>
                </a:ext>
              </a:extLst>
            </p:cNvPr>
            <p:cNvSpPr>
              <a:spLocks noGrp="1"/>
            </p:cNvSpPr>
            <p:nvPr/>
          </p:nvSpPr>
          <p:spPr>
            <a:xfrm>
              <a:off x="3726025" y="7252039"/>
              <a:ext cx="88583" cy="70009"/>
            </a:xfrm>
            <a:prstGeom prst="rect">
              <a:avLst/>
            </a:prstGeom>
            <a:solidFill>
              <a:srgbClr val="5B9FB6"/>
            </a:solidFill>
            <a:ln w="7290">
              <a:noFill/>
            </a:ln>
          </p:spPr>
        </p:sp>
        <p:sp>
          <p:nvSpPr>
            <p:cNvPr id="1287" name="Match matrix 0-2">
              <a:extLst>
                <a:ext uri="{FF2B5EF4-FFF2-40B4-BE49-F238E27FC236}">
                  <a16:creationId xmlns:a16="http://schemas.microsoft.com/office/drawing/2014/main" id="{6280A1B1-F33F-8A8D-D2EE-BFA29D883537}"/>
                </a:ext>
              </a:extLst>
            </p:cNvPr>
            <p:cNvSpPr>
              <a:spLocks noGrp="1"/>
            </p:cNvSpPr>
            <p:nvPr/>
          </p:nvSpPr>
          <p:spPr>
            <a:xfrm>
              <a:off x="3818894" y="7252039"/>
              <a:ext cx="88583" cy="70009"/>
            </a:xfrm>
            <a:prstGeom prst="rect">
              <a:avLst/>
            </a:prstGeom>
            <a:solidFill>
              <a:srgbClr val="A3CDDA"/>
            </a:solidFill>
            <a:ln w="7290">
              <a:noFill/>
            </a:ln>
          </p:spPr>
        </p:sp>
        <p:sp>
          <p:nvSpPr>
            <p:cNvPr id="1288" name="Match matrix 0-3">
              <a:extLst>
                <a:ext uri="{FF2B5EF4-FFF2-40B4-BE49-F238E27FC236}">
                  <a16:creationId xmlns:a16="http://schemas.microsoft.com/office/drawing/2014/main" id="{438AA3F0-92C9-C0D4-7C8D-41F21A14E8DC}"/>
                </a:ext>
              </a:extLst>
            </p:cNvPr>
            <p:cNvSpPr>
              <a:spLocks noGrp="1"/>
            </p:cNvSpPr>
            <p:nvPr/>
          </p:nvSpPr>
          <p:spPr>
            <a:xfrm>
              <a:off x="3911762" y="7252039"/>
              <a:ext cx="88583" cy="70009"/>
            </a:xfrm>
            <a:prstGeom prst="rect">
              <a:avLst/>
            </a:prstGeom>
            <a:solidFill>
              <a:srgbClr val="88BEC3"/>
            </a:solidFill>
            <a:ln w="7290">
              <a:noFill/>
            </a:ln>
          </p:spPr>
        </p:sp>
        <p:sp>
          <p:nvSpPr>
            <p:cNvPr id="1289" name="Match matrix 0-4">
              <a:extLst>
                <a:ext uri="{FF2B5EF4-FFF2-40B4-BE49-F238E27FC236}">
                  <a16:creationId xmlns:a16="http://schemas.microsoft.com/office/drawing/2014/main" id="{4D6E3235-3FBE-E9EF-7DF7-DF94909A2CDA}"/>
                </a:ext>
              </a:extLst>
            </p:cNvPr>
            <p:cNvSpPr>
              <a:spLocks noGrp="1"/>
            </p:cNvSpPr>
            <p:nvPr/>
          </p:nvSpPr>
          <p:spPr>
            <a:xfrm>
              <a:off x="4004631" y="7252039"/>
              <a:ext cx="88583" cy="70009"/>
            </a:xfrm>
            <a:prstGeom prst="rect">
              <a:avLst/>
            </a:prstGeom>
            <a:solidFill>
              <a:srgbClr val="67AD9F"/>
            </a:solidFill>
            <a:ln w="7290">
              <a:noFill/>
            </a:ln>
          </p:spPr>
        </p:sp>
        <p:sp>
          <p:nvSpPr>
            <p:cNvPr id="1290" name="Match matrix 0-5">
              <a:extLst>
                <a:ext uri="{FF2B5EF4-FFF2-40B4-BE49-F238E27FC236}">
                  <a16:creationId xmlns:a16="http://schemas.microsoft.com/office/drawing/2014/main" id="{BA0FF643-E0ED-2762-7EFC-516C6552B6EB}"/>
                </a:ext>
              </a:extLst>
            </p:cNvPr>
            <p:cNvSpPr>
              <a:spLocks noGrp="1"/>
            </p:cNvSpPr>
            <p:nvPr/>
          </p:nvSpPr>
          <p:spPr>
            <a:xfrm>
              <a:off x="4097500" y="7252039"/>
              <a:ext cx="88583" cy="70009"/>
            </a:xfrm>
            <a:prstGeom prst="rect">
              <a:avLst/>
            </a:prstGeom>
            <a:solidFill>
              <a:srgbClr val="C4DDE0"/>
            </a:solidFill>
            <a:ln w="7290">
              <a:noFill/>
            </a:ln>
          </p:spPr>
        </p:sp>
        <p:sp>
          <p:nvSpPr>
            <p:cNvPr id="1291" name="Match matrix 0-6">
              <a:extLst>
                <a:ext uri="{FF2B5EF4-FFF2-40B4-BE49-F238E27FC236}">
                  <a16:creationId xmlns:a16="http://schemas.microsoft.com/office/drawing/2014/main" id="{7A9944DD-E06E-9926-A098-8722DF601B45}"/>
                </a:ext>
              </a:extLst>
            </p:cNvPr>
            <p:cNvSpPr>
              <a:spLocks noGrp="1"/>
            </p:cNvSpPr>
            <p:nvPr/>
          </p:nvSpPr>
          <p:spPr>
            <a:xfrm>
              <a:off x="4190369" y="7252039"/>
              <a:ext cx="88583" cy="70009"/>
            </a:xfrm>
            <a:prstGeom prst="rect">
              <a:avLst/>
            </a:prstGeom>
            <a:solidFill>
              <a:srgbClr val="B6D8CC"/>
            </a:solidFill>
            <a:ln w="7290">
              <a:noFill/>
            </a:ln>
          </p:spPr>
        </p:sp>
        <p:sp>
          <p:nvSpPr>
            <p:cNvPr id="1292" name="Match matrix 0-7">
              <a:extLst>
                <a:ext uri="{FF2B5EF4-FFF2-40B4-BE49-F238E27FC236}">
                  <a16:creationId xmlns:a16="http://schemas.microsoft.com/office/drawing/2014/main" id="{60575C6B-5E38-4CEF-E886-DA0BD230F3E7}"/>
                </a:ext>
              </a:extLst>
            </p:cNvPr>
            <p:cNvSpPr>
              <a:spLocks noGrp="1"/>
            </p:cNvSpPr>
            <p:nvPr/>
          </p:nvSpPr>
          <p:spPr>
            <a:xfrm>
              <a:off x="4283237" y="7252039"/>
              <a:ext cx="88583" cy="70009"/>
            </a:xfrm>
            <a:prstGeom prst="rect">
              <a:avLst/>
            </a:prstGeom>
            <a:solidFill>
              <a:srgbClr val="D6E5ED"/>
            </a:solidFill>
            <a:ln w="7290">
              <a:noFill/>
            </a:ln>
          </p:spPr>
        </p:sp>
        <p:sp>
          <p:nvSpPr>
            <p:cNvPr id="1293" name="Match matrix 1-0">
              <a:extLst>
                <a:ext uri="{FF2B5EF4-FFF2-40B4-BE49-F238E27FC236}">
                  <a16:creationId xmlns:a16="http://schemas.microsoft.com/office/drawing/2014/main" id="{7B7D0220-596A-F818-E053-E0143A90926D}"/>
                </a:ext>
              </a:extLst>
            </p:cNvPr>
            <p:cNvSpPr>
              <a:spLocks noGrp="1"/>
            </p:cNvSpPr>
            <p:nvPr/>
          </p:nvSpPr>
          <p:spPr>
            <a:xfrm>
              <a:off x="3633156" y="7326334"/>
              <a:ext cx="88583" cy="70009"/>
            </a:xfrm>
            <a:prstGeom prst="rect">
              <a:avLst/>
            </a:prstGeom>
            <a:solidFill>
              <a:srgbClr val="A3CDDA"/>
            </a:solidFill>
            <a:ln w="7290">
              <a:noFill/>
            </a:ln>
          </p:spPr>
        </p:sp>
        <p:sp>
          <p:nvSpPr>
            <p:cNvPr id="1294" name="Match matrix 1-1">
              <a:extLst>
                <a:ext uri="{FF2B5EF4-FFF2-40B4-BE49-F238E27FC236}">
                  <a16:creationId xmlns:a16="http://schemas.microsoft.com/office/drawing/2014/main" id="{131051FC-F29B-A539-AC38-099DC00CECDC}"/>
                </a:ext>
              </a:extLst>
            </p:cNvPr>
            <p:cNvSpPr>
              <a:spLocks noGrp="1"/>
            </p:cNvSpPr>
            <p:nvPr/>
          </p:nvSpPr>
          <p:spPr>
            <a:xfrm>
              <a:off x="3726025" y="7326334"/>
              <a:ext cx="88583" cy="70009"/>
            </a:xfrm>
            <a:prstGeom prst="rect">
              <a:avLst/>
            </a:prstGeom>
            <a:solidFill>
              <a:srgbClr val="B6D8CC"/>
            </a:solidFill>
            <a:ln w="7290">
              <a:noFill/>
            </a:ln>
          </p:spPr>
        </p:sp>
        <p:sp>
          <p:nvSpPr>
            <p:cNvPr id="1295" name="Match matrix 1-2">
              <a:extLst>
                <a:ext uri="{FF2B5EF4-FFF2-40B4-BE49-F238E27FC236}">
                  <a16:creationId xmlns:a16="http://schemas.microsoft.com/office/drawing/2014/main" id="{1752AC5F-F53F-5759-FF54-FD709F3B0D12}"/>
                </a:ext>
              </a:extLst>
            </p:cNvPr>
            <p:cNvSpPr>
              <a:spLocks noGrp="1"/>
            </p:cNvSpPr>
            <p:nvPr/>
          </p:nvSpPr>
          <p:spPr>
            <a:xfrm>
              <a:off x="3818894" y="7326334"/>
              <a:ext cx="88583" cy="70009"/>
            </a:xfrm>
            <a:prstGeom prst="rect">
              <a:avLst/>
            </a:prstGeom>
            <a:solidFill>
              <a:srgbClr val="88BEC3"/>
            </a:solidFill>
            <a:ln w="7290">
              <a:noFill/>
            </a:ln>
          </p:spPr>
        </p:sp>
        <p:sp>
          <p:nvSpPr>
            <p:cNvPr id="1296" name="Match matrix 1-3">
              <a:extLst>
                <a:ext uri="{FF2B5EF4-FFF2-40B4-BE49-F238E27FC236}">
                  <a16:creationId xmlns:a16="http://schemas.microsoft.com/office/drawing/2014/main" id="{4276E59C-6DF4-4912-668F-373DFA1F2AAC}"/>
                </a:ext>
              </a:extLst>
            </p:cNvPr>
            <p:cNvSpPr>
              <a:spLocks noGrp="1"/>
            </p:cNvSpPr>
            <p:nvPr/>
          </p:nvSpPr>
          <p:spPr>
            <a:xfrm>
              <a:off x="3911762" y="7326334"/>
              <a:ext cx="88583" cy="70009"/>
            </a:xfrm>
            <a:prstGeom prst="rect">
              <a:avLst/>
            </a:prstGeom>
            <a:solidFill>
              <a:srgbClr val="D6E5ED"/>
            </a:solidFill>
            <a:ln w="7290">
              <a:noFill/>
            </a:ln>
          </p:spPr>
        </p:sp>
        <p:sp>
          <p:nvSpPr>
            <p:cNvPr id="1297" name="Match matrix 1-4">
              <a:extLst>
                <a:ext uri="{FF2B5EF4-FFF2-40B4-BE49-F238E27FC236}">
                  <a16:creationId xmlns:a16="http://schemas.microsoft.com/office/drawing/2014/main" id="{4BE70C21-DF2A-83DC-0716-659B17C7F95F}"/>
                </a:ext>
              </a:extLst>
            </p:cNvPr>
            <p:cNvSpPr>
              <a:spLocks noGrp="1"/>
            </p:cNvSpPr>
            <p:nvPr/>
          </p:nvSpPr>
          <p:spPr>
            <a:xfrm>
              <a:off x="4004631" y="7326334"/>
              <a:ext cx="88583" cy="70009"/>
            </a:xfrm>
            <a:prstGeom prst="rect">
              <a:avLst/>
            </a:prstGeom>
            <a:solidFill>
              <a:srgbClr val="5B9FB6"/>
            </a:solidFill>
            <a:ln w="7290">
              <a:noFill/>
            </a:ln>
          </p:spPr>
        </p:sp>
        <p:sp>
          <p:nvSpPr>
            <p:cNvPr id="1298" name="Match matrix 1-5">
              <a:extLst>
                <a:ext uri="{FF2B5EF4-FFF2-40B4-BE49-F238E27FC236}">
                  <a16:creationId xmlns:a16="http://schemas.microsoft.com/office/drawing/2014/main" id="{CB35EBFF-F4A8-3B7E-94EB-45B0F026BED2}"/>
                </a:ext>
              </a:extLst>
            </p:cNvPr>
            <p:cNvSpPr>
              <a:spLocks noGrp="1"/>
            </p:cNvSpPr>
            <p:nvPr/>
          </p:nvSpPr>
          <p:spPr>
            <a:xfrm>
              <a:off x="4097500" y="7326334"/>
              <a:ext cx="88583" cy="70009"/>
            </a:xfrm>
            <a:prstGeom prst="rect">
              <a:avLst/>
            </a:prstGeom>
            <a:solidFill>
              <a:srgbClr val="3E8F9A"/>
            </a:solidFill>
            <a:ln w="7290">
              <a:noFill/>
            </a:ln>
          </p:spPr>
        </p:sp>
        <p:sp>
          <p:nvSpPr>
            <p:cNvPr id="1299" name="Match matrix 1-6">
              <a:extLst>
                <a:ext uri="{FF2B5EF4-FFF2-40B4-BE49-F238E27FC236}">
                  <a16:creationId xmlns:a16="http://schemas.microsoft.com/office/drawing/2014/main" id="{0D710ED1-196A-84C5-F8A3-CCC13A1D44DE}"/>
                </a:ext>
              </a:extLst>
            </p:cNvPr>
            <p:cNvSpPr>
              <a:spLocks noGrp="1"/>
            </p:cNvSpPr>
            <p:nvPr/>
          </p:nvSpPr>
          <p:spPr>
            <a:xfrm>
              <a:off x="4190369" y="7326334"/>
              <a:ext cx="88583" cy="70009"/>
            </a:xfrm>
            <a:prstGeom prst="rect">
              <a:avLst/>
            </a:prstGeom>
            <a:solidFill>
              <a:srgbClr val="C4DDE0"/>
            </a:solidFill>
            <a:ln w="7290">
              <a:noFill/>
            </a:ln>
          </p:spPr>
        </p:sp>
        <p:sp>
          <p:nvSpPr>
            <p:cNvPr id="1300" name="Match matrix 1-7">
              <a:extLst>
                <a:ext uri="{FF2B5EF4-FFF2-40B4-BE49-F238E27FC236}">
                  <a16:creationId xmlns:a16="http://schemas.microsoft.com/office/drawing/2014/main" id="{3BE72AF2-BCF6-6EE7-A8BA-43B781681547}"/>
                </a:ext>
              </a:extLst>
            </p:cNvPr>
            <p:cNvSpPr>
              <a:spLocks noGrp="1"/>
            </p:cNvSpPr>
            <p:nvPr/>
          </p:nvSpPr>
          <p:spPr>
            <a:xfrm>
              <a:off x="4283237" y="7326334"/>
              <a:ext cx="88583" cy="70009"/>
            </a:xfrm>
            <a:prstGeom prst="rect">
              <a:avLst/>
            </a:prstGeom>
            <a:solidFill>
              <a:srgbClr val="67AD9F"/>
            </a:solidFill>
            <a:ln w="7290">
              <a:noFill/>
            </a:ln>
          </p:spPr>
        </p:sp>
        <p:sp>
          <p:nvSpPr>
            <p:cNvPr id="1301" name="Match matrix 2-0">
              <a:extLst>
                <a:ext uri="{FF2B5EF4-FFF2-40B4-BE49-F238E27FC236}">
                  <a16:creationId xmlns:a16="http://schemas.microsoft.com/office/drawing/2014/main" id="{5F823655-9888-2AB0-9FB4-61CB0C9C3ECB}"/>
                </a:ext>
              </a:extLst>
            </p:cNvPr>
            <p:cNvSpPr>
              <a:spLocks noGrp="1"/>
            </p:cNvSpPr>
            <p:nvPr/>
          </p:nvSpPr>
          <p:spPr>
            <a:xfrm>
              <a:off x="3633156" y="7400629"/>
              <a:ext cx="88583" cy="70009"/>
            </a:xfrm>
            <a:prstGeom prst="rect">
              <a:avLst/>
            </a:prstGeom>
            <a:solidFill>
              <a:srgbClr val="67AD9F"/>
            </a:solidFill>
            <a:ln w="7290">
              <a:noFill/>
            </a:ln>
          </p:spPr>
        </p:sp>
        <p:sp>
          <p:nvSpPr>
            <p:cNvPr id="1302" name="Match matrix 2-1">
              <a:extLst>
                <a:ext uri="{FF2B5EF4-FFF2-40B4-BE49-F238E27FC236}">
                  <a16:creationId xmlns:a16="http://schemas.microsoft.com/office/drawing/2014/main" id="{584138E5-F053-921F-5112-94C16489A093}"/>
                </a:ext>
              </a:extLst>
            </p:cNvPr>
            <p:cNvSpPr>
              <a:spLocks noGrp="1"/>
            </p:cNvSpPr>
            <p:nvPr/>
          </p:nvSpPr>
          <p:spPr>
            <a:xfrm>
              <a:off x="3726025" y="7400629"/>
              <a:ext cx="88583" cy="70009"/>
            </a:xfrm>
            <a:prstGeom prst="rect">
              <a:avLst/>
            </a:prstGeom>
            <a:solidFill>
              <a:srgbClr val="C4DDE0"/>
            </a:solidFill>
            <a:ln w="7290">
              <a:noFill/>
            </a:ln>
          </p:spPr>
        </p:sp>
        <p:sp>
          <p:nvSpPr>
            <p:cNvPr id="1303" name="Match matrix 2-2">
              <a:extLst>
                <a:ext uri="{FF2B5EF4-FFF2-40B4-BE49-F238E27FC236}">
                  <a16:creationId xmlns:a16="http://schemas.microsoft.com/office/drawing/2014/main" id="{39FB1FEC-FE10-032B-FBC2-7CF790611C30}"/>
                </a:ext>
              </a:extLst>
            </p:cNvPr>
            <p:cNvSpPr>
              <a:spLocks noGrp="1"/>
            </p:cNvSpPr>
            <p:nvPr/>
          </p:nvSpPr>
          <p:spPr>
            <a:xfrm>
              <a:off x="3818894" y="7400629"/>
              <a:ext cx="88583" cy="70009"/>
            </a:xfrm>
            <a:prstGeom prst="rect">
              <a:avLst/>
            </a:prstGeom>
            <a:solidFill>
              <a:srgbClr val="5B9FB6"/>
            </a:solidFill>
            <a:ln w="7290">
              <a:noFill/>
            </a:ln>
          </p:spPr>
        </p:sp>
        <p:sp>
          <p:nvSpPr>
            <p:cNvPr id="1304" name="Match matrix 2-3">
              <a:extLst>
                <a:ext uri="{FF2B5EF4-FFF2-40B4-BE49-F238E27FC236}">
                  <a16:creationId xmlns:a16="http://schemas.microsoft.com/office/drawing/2014/main" id="{DDED006F-88A6-7429-5C0C-DE8CD4ADB51A}"/>
                </a:ext>
              </a:extLst>
            </p:cNvPr>
            <p:cNvSpPr>
              <a:spLocks noGrp="1"/>
            </p:cNvSpPr>
            <p:nvPr/>
          </p:nvSpPr>
          <p:spPr>
            <a:xfrm>
              <a:off x="3911762" y="7400629"/>
              <a:ext cx="88583" cy="70009"/>
            </a:xfrm>
            <a:prstGeom prst="rect">
              <a:avLst/>
            </a:prstGeom>
            <a:solidFill>
              <a:srgbClr val="B6D8CC"/>
            </a:solidFill>
            <a:ln w="7290">
              <a:noFill/>
            </a:ln>
          </p:spPr>
        </p:sp>
        <p:sp>
          <p:nvSpPr>
            <p:cNvPr id="1305" name="Match matrix 2-4">
              <a:extLst>
                <a:ext uri="{FF2B5EF4-FFF2-40B4-BE49-F238E27FC236}">
                  <a16:creationId xmlns:a16="http://schemas.microsoft.com/office/drawing/2014/main" id="{3BEE743A-BB22-912A-D034-A4B82133DC68}"/>
                </a:ext>
              </a:extLst>
            </p:cNvPr>
            <p:cNvSpPr>
              <a:spLocks noGrp="1"/>
            </p:cNvSpPr>
            <p:nvPr/>
          </p:nvSpPr>
          <p:spPr>
            <a:xfrm>
              <a:off x="4004631" y="7400629"/>
              <a:ext cx="88583" cy="70009"/>
            </a:xfrm>
            <a:prstGeom prst="rect">
              <a:avLst/>
            </a:prstGeom>
            <a:solidFill>
              <a:srgbClr val="3E8F9A"/>
            </a:solidFill>
            <a:ln w="7290">
              <a:noFill/>
            </a:ln>
          </p:spPr>
        </p:sp>
        <p:sp>
          <p:nvSpPr>
            <p:cNvPr id="1306" name="Match matrix 2-5">
              <a:extLst>
                <a:ext uri="{FF2B5EF4-FFF2-40B4-BE49-F238E27FC236}">
                  <a16:creationId xmlns:a16="http://schemas.microsoft.com/office/drawing/2014/main" id="{72611C89-19AA-E8B9-E224-21DD0985ADEF}"/>
                </a:ext>
              </a:extLst>
            </p:cNvPr>
            <p:cNvSpPr>
              <a:spLocks noGrp="1"/>
            </p:cNvSpPr>
            <p:nvPr/>
          </p:nvSpPr>
          <p:spPr>
            <a:xfrm>
              <a:off x="4097500" y="7400629"/>
              <a:ext cx="88583" cy="70009"/>
            </a:xfrm>
            <a:prstGeom prst="rect">
              <a:avLst/>
            </a:prstGeom>
            <a:solidFill>
              <a:srgbClr val="D6E5ED"/>
            </a:solidFill>
            <a:ln w="7290">
              <a:noFill/>
            </a:ln>
          </p:spPr>
        </p:sp>
        <p:sp>
          <p:nvSpPr>
            <p:cNvPr id="1307" name="Match matrix 2-6">
              <a:extLst>
                <a:ext uri="{FF2B5EF4-FFF2-40B4-BE49-F238E27FC236}">
                  <a16:creationId xmlns:a16="http://schemas.microsoft.com/office/drawing/2014/main" id="{B4C33DFF-760E-BB6C-5FC9-E68230722926}"/>
                </a:ext>
              </a:extLst>
            </p:cNvPr>
            <p:cNvSpPr>
              <a:spLocks noGrp="1"/>
            </p:cNvSpPr>
            <p:nvPr/>
          </p:nvSpPr>
          <p:spPr>
            <a:xfrm>
              <a:off x="4190369" y="7400629"/>
              <a:ext cx="88583" cy="70009"/>
            </a:xfrm>
            <a:prstGeom prst="rect">
              <a:avLst/>
            </a:prstGeom>
            <a:solidFill>
              <a:srgbClr val="88BEC3"/>
            </a:solidFill>
            <a:ln w="7290">
              <a:noFill/>
            </a:ln>
          </p:spPr>
        </p:sp>
        <p:sp>
          <p:nvSpPr>
            <p:cNvPr id="1308" name="Match matrix 2-7">
              <a:extLst>
                <a:ext uri="{FF2B5EF4-FFF2-40B4-BE49-F238E27FC236}">
                  <a16:creationId xmlns:a16="http://schemas.microsoft.com/office/drawing/2014/main" id="{E6580992-1FD1-0EDE-3727-F247B9B84F56}"/>
                </a:ext>
              </a:extLst>
            </p:cNvPr>
            <p:cNvSpPr>
              <a:spLocks noGrp="1"/>
            </p:cNvSpPr>
            <p:nvPr/>
          </p:nvSpPr>
          <p:spPr>
            <a:xfrm>
              <a:off x="4283237" y="7400629"/>
              <a:ext cx="88583" cy="70009"/>
            </a:xfrm>
            <a:prstGeom prst="rect">
              <a:avLst/>
            </a:prstGeom>
            <a:solidFill>
              <a:srgbClr val="A3CDDA"/>
            </a:solidFill>
            <a:ln w="7290">
              <a:noFill/>
            </a:ln>
          </p:spPr>
        </p:sp>
        <p:sp>
          <p:nvSpPr>
            <p:cNvPr id="1309" name="Match matrix 3-0">
              <a:extLst>
                <a:ext uri="{FF2B5EF4-FFF2-40B4-BE49-F238E27FC236}">
                  <a16:creationId xmlns:a16="http://schemas.microsoft.com/office/drawing/2014/main" id="{8CAEAF44-4594-9BE1-FFEA-C24CCDC748C7}"/>
                </a:ext>
              </a:extLst>
            </p:cNvPr>
            <p:cNvSpPr>
              <a:spLocks noGrp="1"/>
            </p:cNvSpPr>
            <p:nvPr/>
          </p:nvSpPr>
          <p:spPr>
            <a:xfrm>
              <a:off x="3633156" y="7474924"/>
              <a:ext cx="88583" cy="70009"/>
            </a:xfrm>
            <a:prstGeom prst="rect">
              <a:avLst/>
            </a:prstGeom>
            <a:solidFill>
              <a:srgbClr val="88BEC3"/>
            </a:solidFill>
            <a:ln w="7290">
              <a:noFill/>
            </a:ln>
          </p:spPr>
        </p:sp>
        <p:sp>
          <p:nvSpPr>
            <p:cNvPr id="1310" name="Match matrix 3-1">
              <a:extLst>
                <a:ext uri="{FF2B5EF4-FFF2-40B4-BE49-F238E27FC236}">
                  <a16:creationId xmlns:a16="http://schemas.microsoft.com/office/drawing/2014/main" id="{56D41846-2E5E-A705-7543-A69A8E9563FA}"/>
                </a:ext>
              </a:extLst>
            </p:cNvPr>
            <p:cNvSpPr>
              <a:spLocks noGrp="1"/>
            </p:cNvSpPr>
            <p:nvPr/>
          </p:nvSpPr>
          <p:spPr>
            <a:xfrm>
              <a:off x="3726025" y="7474924"/>
              <a:ext cx="88583" cy="70009"/>
            </a:xfrm>
            <a:prstGeom prst="rect">
              <a:avLst/>
            </a:prstGeom>
            <a:solidFill>
              <a:srgbClr val="D6E5ED"/>
            </a:solidFill>
            <a:ln w="7290">
              <a:noFill/>
            </a:ln>
          </p:spPr>
        </p:sp>
        <p:sp>
          <p:nvSpPr>
            <p:cNvPr id="1311" name="Match matrix 3-2">
              <a:extLst>
                <a:ext uri="{FF2B5EF4-FFF2-40B4-BE49-F238E27FC236}">
                  <a16:creationId xmlns:a16="http://schemas.microsoft.com/office/drawing/2014/main" id="{FFD90195-F68F-2396-3243-540B612A4D75}"/>
                </a:ext>
              </a:extLst>
            </p:cNvPr>
            <p:cNvSpPr>
              <a:spLocks noGrp="1"/>
            </p:cNvSpPr>
            <p:nvPr/>
          </p:nvSpPr>
          <p:spPr>
            <a:xfrm>
              <a:off x="3818894" y="7474924"/>
              <a:ext cx="88583" cy="70009"/>
            </a:xfrm>
            <a:prstGeom prst="rect">
              <a:avLst/>
            </a:prstGeom>
            <a:solidFill>
              <a:srgbClr val="67AD9F"/>
            </a:solidFill>
            <a:ln w="7290">
              <a:noFill/>
            </a:ln>
          </p:spPr>
        </p:sp>
        <p:sp>
          <p:nvSpPr>
            <p:cNvPr id="1312" name="Match matrix 3-3">
              <a:extLst>
                <a:ext uri="{FF2B5EF4-FFF2-40B4-BE49-F238E27FC236}">
                  <a16:creationId xmlns:a16="http://schemas.microsoft.com/office/drawing/2014/main" id="{49AAB109-B5EA-15DD-185C-155F4F66EEBB}"/>
                </a:ext>
              </a:extLst>
            </p:cNvPr>
            <p:cNvSpPr>
              <a:spLocks noGrp="1"/>
            </p:cNvSpPr>
            <p:nvPr/>
          </p:nvSpPr>
          <p:spPr>
            <a:xfrm>
              <a:off x="3911762" y="7474924"/>
              <a:ext cx="88583" cy="70009"/>
            </a:xfrm>
            <a:prstGeom prst="rect">
              <a:avLst/>
            </a:prstGeom>
            <a:solidFill>
              <a:srgbClr val="3E8F9A"/>
            </a:solidFill>
            <a:ln w="7290">
              <a:noFill/>
            </a:ln>
          </p:spPr>
        </p:sp>
        <p:sp>
          <p:nvSpPr>
            <p:cNvPr id="1313" name="Match matrix 3-4">
              <a:extLst>
                <a:ext uri="{FF2B5EF4-FFF2-40B4-BE49-F238E27FC236}">
                  <a16:creationId xmlns:a16="http://schemas.microsoft.com/office/drawing/2014/main" id="{B70C13F0-0576-A203-6CBB-3C4C5417340B}"/>
                </a:ext>
              </a:extLst>
            </p:cNvPr>
            <p:cNvSpPr>
              <a:spLocks noGrp="1"/>
            </p:cNvSpPr>
            <p:nvPr/>
          </p:nvSpPr>
          <p:spPr>
            <a:xfrm>
              <a:off x="4004631" y="7474924"/>
              <a:ext cx="88583" cy="70009"/>
            </a:xfrm>
            <a:prstGeom prst="rect">
              <a:avLst/>
            </a:prstGeom>
            <a:solidFill>
              <a:srgbClr val="C4DDE0"/>
            </a:solidFill>
            <a:ln w="7290">
              <a:noFill/>
            </a:ln>
          </p:spPr>
        </p:sp>
        <p:sp>
          <p:nvSpPr>
            <p:cNvPr id="1314" name="Match matrix 3-5">
              <a:extLst>
                <a:ext uri="{FF2B5EF4-FFF2-40B4-BE49-F238E27FC236}">
                  <a16:creationId xmlns:a16="http://schemas.microsoft.com/office/drawing/2014/main" id="{81F18FA1-CCA5-0C63-5C3E-CBF8824988BC}"/>
                </a:ext>
              </a:extLst>
            </p:cNvPr>
            <p:cNvSpPr>
              <a:spLocks noGrp="1"/>
            </p:cNvSpPr>
            <p:nvPr/>
          </p:nvSpPr>
          <p:spPr>
            <a:xfrm>
              <a:off x="4097500" y="7474924"/>
              <a:ext cx="88583" cy="70009"/>
            </a:xfrm>
            <a:prstGeom prst="rect">
              <a:avLst/>
            </a:prstGeom>
            <a:solidFill>
              <a:srgbClr val="A3CDDA"/>
            </a:solidFill>
            <a:ln w="7290">
              <a:noFill/>
            </a:ln>
          </p:spPr>
        </p:sp>
        <p:sp>
          <p:nvSpPr>
            <p:cNvPr id="1315" name="Match matrix 3-6">
              <a:extLst>
                <a:ext uri="{FF2B5EF4-FFF2-40B4-BE49-F238E27FC236}">
                  <a16:creationId xmlns:a16="http://schemas.microsoft.com/office/drawing/2014/main" id="{6E77F7BC-5720-61BC-25A6-58ED7CA03000}"/>
                </a:ext>
              </a:extLst>
            </p:cNvPr>
            <p:cNvSpPr>
              <a:spLocks noGrp="1"/>
            </p:cNvSpPr>
            <p:nvPr/>
          </p:nvSpPr>
          <p:spPr>
            <a:xfrm>
              <a:off x="4190369" y="7474924"/>
              <a:ext cx="88583" cy="70009"/>
            </a:xfrm>
            <a:prstGeom prst="rect">
              <a:avLst/>
            </a:prstGeom>
            <a:solidFill>
              <a:srgbClr val="B6D8CC"/>
            </a:solidFill>
            <a:ln w="7290">
              <a:noFill/>
            </a:ln>
          </p:spPr>
        </p:sp>
        <p:sp>
          <p:nvSpPr>
            <p:cNvPr id="1316" name="Match matrix 3-7">
              <a:extLst>
                <a:ext uri="{FF2B5EF4-FFF2-40B4-BE49-F238E27FC236}">
                  <a16:creationId xmlns:a16="http://schemas.microsoft.com/office/drawing/2014/main" id="{36ADBBB5-8DC9-1604-9F31-E90D9C28C374}"/>
                </a:ext>
              </a:extLst>
            </p:cNvPr>
            <p:cNvSpPr>
              <a:spLocks noGrp="1"/>
            </p:cNvSpPr>
            <p:nvPr/>
          </p:nvSpPr>
          <p:spPr>
            <a:xfrm>
              <a:off x="4283237" y="7474924"/>
              <a:ext cx="88583" cy="70009"/>
            </a:xfrm>
            <a:prstGeom prst="rect">
              <a:avLst/>
            </a:prstGeom>
            <a:solidFill>
              <a:srgbClr val="5B9FB6"/>
            </a:solidFill>
            <a:ln w="7290">
              <a:noFill/>
            </a:ln>
          </p:spPr>
        </p:sp>
        <p:sp>
          <p:nvSpPr>
            <p:cNvPr id="1318" name="SMILES continuation 806-628.2">
              <a:extLst>
                <a:ext uri="{FF2B5EF4-FFF2-40B4-BE49-F238E27FC236}">
                  <a16:creationId xmlns:a16="http://schemas.microsoft.com/office/drawing/2014/main" id="{B1176EA0-F32E-BC2D-EB8D-7D58F248FEDE}"/>
                </a:ext>
              </a:extLst>
            </p:cNvPr>
            <p:cNvSpPr>
              <a:spLocks noGrp="1"/>
            </p:cNvSpPr>
            <p:nvPr/>
          </p:nvSpPr>
          <p:spPr>
            <a:xfrm>
              <a:off x="8110676" y="5974080"/>
              <a:ext cx="19050" cy="19050"/>
            </a:xfrm>
            <a:prstGeom prst="ellipse">
              <a:avLst/>
            </a:prstGeom>
            <a:solidFill>
              <a:srgbClr val="71808C"/>
            </a:solidFill>
            <a:ln w="0">
              <a:noFill/>
            </a:ln>
          </p:spPr>
        </p:sp>
        <p:sp>
          <p:nvSpPr>
            <p:cNvPr id="1319" name="SMILES continuation 812-628.2">
              <a:extLst>
                <a:ext uri="{FF2B5EF4-FFF2-40B4-BE49-F238E27FC236}">
                  <a16:creationId xmlns:a16="http://schemas.microsoft.com/office/drawing/2014/main" id="{33E73D6D-C08E-F53F-AC14-D48723F82DA6}"/>
                </a:ext>
              </a:extLst>
            </p:cNvPr>
            <p:cNvSpPr>
              <a:spLocks noGrp="1"/>
            </p:cNvSpPr>
            <p:nvPr/>
          </p:nvSpPr>
          <p:spPr>
            <a:xfrm>
              <a:off x="8167826" y="5974080"/>
              <a:ext cx="19050" cy="19050"/>
            </a:xfrm>
            <a:prstGeom prst="ellipse">
              <a:avLst/>
            </a:prstGeom>
            <a:solidFill>
              <a:srgbClr val="71808C"/>
            </a:solidFill>
            <a:ln w="0">
              <a:noFill/>
            </a:ln>
          </p:spPr>
        </p:sp>
        <p:sp>
          <p:nvSpPr>
            <p:cNvPr id="1320" name="SMILES continuation 818-628.2">
              <a:extLst>
                <a:ext uri="{FF2B5EF4-FFF2-40B4-BE49-F238E27FC236}">
                  <a16:creationId xmlns:a16="http://schemas.microsoft.com/office/drawing/2014/main" id="{5E2BBD9A-D946-60F7-E0E5-241956F50DE4}"/>
                </a:ext>
              </a:extLst>
            </p:cNvPr>
            <p:cNvSpPr>
              <a:spLocks noGrp="1"/>
            </p:cNvSpPr>
            <p:nvPr/>
          </p:nvSpPr>
          <p:spPr>
            <a:xfrm>
              <a:off x="8224976" y="5974080"/>
              <a:ext cx="19050" cy="19050"/>
            </a:xfrm>
            <a:prstGeom prst="ellipse">
              <a:avLst/>
            </a:prstGeom>
            <a:solidFill>
              <a:srgbClr val="71808C"/>
            </a:solidFill>
            <a:ln w="0">
              <a:noFill/>
            </a:ln>
          </p:spPr>
        </p:sp>
        <p:sp>
          <p:nvSpPr>
            <p:cNvPr id="1321" name="SMILES continuation 806-667">
              <a:extLst>
                <a:ext uri="{FF2B5EF4-FFF2-40B4-BE49-F238E27FC236}">
                  <a16:creationId xmlns:a16="http://schemas.microsoft.com/office/drawing/2014/main" id="{ED5687EF-8D52-6F08-09FA-1BB7EDA568F6}"/>
                </a:ext>
              </a:extLst>
            </p:cNvPr>
            <p:cNvSpPr>
              <a:spLocks noGrp="1"/>
            </p:cNvSpPr>
            <p:nvPr/>
          </p:nvSpPr>
          <p:spPr>
            <a:xfrm>
              <a:off x="8110676" y="6343650"/>
              <a:ext cx="19050" cy="19050"/>
            </a:xfrm>
            <a:prstGeom prst="ellipse">
              <a:avLst/>
            </a:prstGeom>
            <a:solidFill>
              <a:srgbClr val="71808C"/>
            </a:solidFill>
            <a:ln w="0">
              <a:noFill/>
            </a:ln>
          </p:spPr>
        </p:sp>
        <p:sp>
          <p:nvSpPr>
            <p:cNvPr id="1322" name="SMILES continuation 812-667">
              <a:extLst>
                <a:ext uri="{FF2B5EF4-FFF2-40B4-BE49-F238E27FC236}">
                  <a16:creationId xmlns:a16="http://schemas.microsoft.com/office/drawing/2014/main" id="{C1855FFD-FC9F-3DA3-4800-4BDAB4C8EAE4}"/>
                </a:ext>
              </a:extLst>
            </p:cNvPr>
            <p:cNvSpPr>
              <a:spLocks noGrp="1"/>
            </p:cNvSpPr>
            <p:nvPr/>
          </p:nvSpPr>
          <p:spPr>
            <a:xfrm>
              <a:off x="8167826" y="6343650"/>
              <a:ext cx="19050" cy="19050"/>
            </a:xfrm>
            <a:prstGeom prst="ellipse">
              <a:avLst/>
            </a:prstGeom>
            <a:solidFill>
              <a:srgbClr val="71808C"/>
            </a:solidFill>
            <a:ln w="0">
              <a:noFill/>
            </a:ln>
          </p:spPr>
        </p:sp>
        <p:sp>
          <p:nvSpPr>
            <p:cNvPr id="1323" name="SMILES continuation 818-667">
              <a:extLst>
                <a:ext uri="{FF2B5EF4-FFF2-40B4-BE49-F238E27FC236}">
                  <a16:creationId xmlns:a16="http://schemas.microsoft.com/office/drawing/2014/main" id="{CD84B1BE-80A3-F735-71C2-C9021A96ED3C}"/>
                </a:ext>
              </a:extLst>
            </p:cNvPr>
            <p:cNvSpPr>
              <a:spLocks noGrp="1"/>
            </p:cNvSpPr>
            <p:nvPr/>
          </p:nvSpPr>
          <p:spPr>
            <a:xfrm>
              <a:off x="8224976" y="6343650"/>
              <a:ext cx="19050" cy="19050"/>
            </a:xfrm>
            <a:prstGeom prst="ellipse">
              <a:avLst/>
            </a:prstGeom>
            <a:solidFill>
              <a:srgbClr val="71808C"/>
            </a:solidFill>
            <a:ln w="0">
              <a:noFill/>
            </a:ln>
          </p:spPr>
        </p:sp>
        <p:sp>
          <p:nvSpPr>
            <p:cNvPr id="1324" name="Find density input">
              <a:extLst>
                <a:ext uri="{FF2B5EF4-FFF2-40B4-BE49-F238E27FC236}">
                  <a16:creationId xmlns:a16="http://schemas.microsoft.com/office/drawing/2014/main" id="{C8B854DC-23D0-BC72-14D3-C8763AB30579}"/>
                </a:ext>
              </a:extLst>
            </p:cNvPr>
            <p:cNvSpPr>
              <a:spLocks noGrp="1"/>
            </p:cNvSpPr>
            <p:nvPr/>
          </p:nvSpPr>
          <p:spPr>
            <a:xfrm flipV="1">
              <a:off x="2405391" y="1410958"/>
              <a:ext cx="692378" cy="107521"/>
            </a:xfrm>
            <a:custGeom>
              <a:avLst/>
              <a:gdLst/>
              <a:ahLst/>
              <a:cxnLst/>
              <a:rect l="0" t="0" r="0" b="0"/>
              <a:pathLst>
                <a:path w="125540" h="191">
                  <a:moveTo>
                    <a:pt x="0" y="0"/>
                  </a:moveTo>
                  <a:lnTo>
                    <a:pt x="125540" y="0"/>
                  </a:lnTo>
                </a:path>
              </a:pathLst>
            </a:custGeom>
            <a:noFill/>
            <a:ln w="8505">
              <a:solidFill>
                <a:srgbClr val="77828C"/>
              </a:solidFill>
              <a:prstDash val="solid"/>
            </a:ln>
          </p:spPr>
        </p:sp>
        <p:sp>
          <p:nvSpPr>
            <p:cNvPr id="1325" name="Find density input head">
              <a:extLst>
                <a:ext uri="{FF2B5EF4-FFF2-40B4-BE49-F238E27FC236}">
                  <a16:creationId xmlns:a16="http://schemas.microsoft.com/office/drawing/2014/main" id="{607B31CE-B5FA-3022-361F-10ADF824A84D}"/>
                </a:ext>
              </a:extLst>
            </p:cNvPr>
            <p:cNvSpPr>
              <a:spLocks noGrp="1"/>
            </p:cNvSpPr>
            <p:nvPr/>
          </p:nvSpPr>
          <p:spPr>
            <a:xfrm>
              <a:off x="3052858" y="1489808"/>
              <a:ext cx="66676" cy="57339"/>
            </a:xfrm>
            <a:custGeom>
              <a:avLst/>
              <a:gdLst/>
              <a:ahLst/>
              <a:cxnLst/>
              <a:rect l="0" t="0" r="0" b="0"/>
              <a:pathLst>
                <a:path w="66675" h="57340">
                  <a:moveTo>
                    <a:pt x="66675" y="28670"/>
                  </a:moveTo>
                  <a:lnTo>
                    <a:pt x="0" y="0"/>
                  </a:lnTo>
                  <a:lnTo>
                    <a:pt x="0" y="57340"/>
                  </a:lnTo>
                  <a:close/>
                </a:path>
              </a:pathLst>
            </a:custGeom>
            <a:solidFill>
              <a:srgbClr val="77828C"/>
            </a:solidFill>
            <a:ln w="0">
              <a:noFill/>
              <a:prstDash val="solid"/>
            </a:ln>
          </p:spPr>
        </p:sp>
        <p:sp>
          <p:nvSpPr>
            <p:cNvPr id="1328" name="Find receptor input">
              <a:extLst>
                <a:ext uri="{FF2B5EF4-FFF2-40B4-BE49-F238E27FC236}">
                  <a16:creationId xmlns:a16="http://schemas.microsoft.com/office/drawing/2014/main" id="{BB5D7BFF-4469-95EA-0226-462CA631AED0}"/>
                </a:ext>
              </a:extLst>
            </p:cNvPr>
            <p:cNvSpPr>
              <a:spLocks noGrp="1"/>
            </p:cNvSpPr>
            <p:nvPr/>
          </p:nvSpPr>
          <p:spPr>
            <a:xfrm>
              <a:off x="2405391" y="3260557"/>
              <a:ext cx="692378" cy="107521"/>
            </a:xfrm>
            <a:custGeom>
              <a:avLst/>
              <a:gdLst/>
              <a:ahLst/>
              <a:cxnLst/>
              <a:rect l="0" t="0" r="0" b="0"/>
              <a:pathLst>
                <a:path w="125540" h="191">
                  <a:moveTo>
                    <a:pt x="0" y="0"/>
                  </a:moveTo>
                  <a:lnTo>
                    <a:pt x="125540" y="0"/>
                  </a:lnTo>
                </a:path>
              </a:pathLst>
            </a:custGeom>
            <a:solidFill>
              <a:srgbClr val="77828C"/>
            </a:solidFill>
            <a:ln w="8505">
              <a:solidFill>
                <a:srgbClr val="77828C"/>
              </a:solidFill>
              <a:prstDash val="solid"/>
            </a:ln>
          </p:spPr>
        </p:sp>
        <p:sp>
          <p:nvSpPr>
            <p:cNvPr id="1329" name="Find receptor input head">
              <a:extLst>
                <a:ext uri="{FF2B5EF4-FFF2-40B4-BE49-F238E27FC236}">
                  <a16:creationId xmlns:a16="http://schemas.microsoft.com/office/drawing/2014/main" id="{68868F62-3CD4-6930-B070-51533DCD1530}"/>
                </a:ext>
              </a:extLst>
            </p:cNvPr>
            <p:cNvSpPr>
              <a:spLocks noGrp="1"/>
            </p:cNvSpPr>
            <p:nvPr/>
          </p:nvSpPr>
          <p:spPr>
            <a:xfrm>
              <a:off x="3052858" y="3231886"/>
              <a:ext cx="66676" cy="57339"/>
            </a:xfrm>
            <a:custGeom>
              <a:avLst/>
              <a:gdLst/>
              <a:ahLst/>
              <a:cxnLst/>
              <a:rect l="0" t="0" r="0" b="0"/>
              <a:pathLst>
                <a:path w="66675" h="57340">
                  <a:moveTo>
                    <a:pt x="66675" y="28670"/>
                  </a:moveTo>
                  <a:lnTo>
                    <a:pt x="0" y="0"/>
                  </a:lnTo>
                  <a:lnTo>
                    <a:pt x="0" y="57340"/>
                  </a:lnTo>
                  <a:close/>
                </a:path>
              </a:pathLst>
            </a:custGeom>
            <a:solidFill>
              <a:srgbClr val="77828C"/>
            </a:solidFill>
            <a:ln w="0">
              <a:noFill/>
              <a:prstDash val="solid"/>
            </a:ln>
          </p:spPr>
        </p:sp>
        <p:sp>
          <p:nvSpPr>
            <p:cNvPr id="1332" name="Find voxel output">
              <a:extLst>
                <a:ext uri="{FF2B5EF4-FFF2-40B4-BE49-F238E27FC236}">
                  <a16:creationId xmlns:a16="http://schemas.microsoft.com/office/drawing/2014/main" id="{C12D793B-0700-4395-4635-0274B508867B}"/>
                </a:ext>
              </a:extLst>
            </p:cNvPr>
            <p:cNvSpPr>
              <a:spLocks noGrp="1"/>
            </p:cNvSpPr>
            <p:nvPr/>
          </p:nvSpPr>
          <p:spPr>
            <a:xfrm>
              <a:off x="9680238" y="1544003"/>
              <a:ext cx="409314" cy="191"/>
            </a:xfrm>
            <a:custGeom>
              <a:avLst/>
              <a:gdLst/>
              <a:ahLst/>
              <a:cxnLst/>
              <a:rect l="0" t="0" r="0" b="0"/>
              <a:pathLst>
                <a:path w="252508" h="191">
                  <a:moveTo>
                    <a:pt x="0" y="0"/>
                  </a:moveTo>
                  <a:lnTo>
                    <a:pt x="252508" y="0"/>
                  </a:lnTo>
                </a:path>
              </a:pathLst>
            </a:custGeom>
            <a:noFill/>
            <a:ln w="8505">
              <a:solidFill>
                <a:srgbClr val="77828C"/>
              </a:solidFill>
              <a:prstDash val="solid"/>
            </a:ln>
          </p:spPr>
        </p:sp>
        <p:sp>
          <p:nvSpPr>
            <p:cNvPr id="1333" name="Find voxel output head">
              <a:extLst>
                <a:ext uri="{FF2B5EF4-FFF2-40B4-BE49-F238E27FC236}">
                  <a16:creationId xmlns:a16="http://schemas.microsoft.com/office/drawing/2014/main" id="{05C29EA8-04A8-0788-F9B5-6213BBCDA8E7}"/>
                </a:ext>
              </a:extLst>
            </p:cNvPr>
            <p:cNvSpPr>
              <a:spLocks noGrp="1"/>
            </p:cNvSpPr>
            <p:nvPr/>
          </p:nvSpPr>
          <p:spPr>
            <a:xfrm>
              <a:off x="10046213" y="1515332"/>
              <a:ext cx="66675" cy="57340"/>
            </a:xfrm>
            <a:custGeom>
              <a:avLst/>
              <a:gdLst/>
              <a:ahLst/>
              <a:cxnLst/>
              <a:rect l="0" t="0" r="0" b="0"/>
              <a:pathLst>
                <a:path w="66675" h="57340">
                  <a:moveTo>
                    <a:pt x="66675" y="28670"/>
                  </a:moveTo>
                  <a:lnTo>
                    <a:pt x="0" y="0"/>
                  </a:lnTo>
                  <a:lnTo>
                    <a:pt x="0" y="57340"/>
                  </a:lnTo>
                  <a:close/>
                </a:path>
              </a:pathLst>
            </a:custGeom>
            <a:solidFill>
              <a:srgbClr val="77828C"/>
            </a:solidFill>
            <a:ln w="0">
              <a:noFill/>
              <a:prstDash val="solid"/>
            </a:ln>
          </p:spPr>
        </p:sp>
        <p:sp>
          <p:nvSpPr>
            <p:cNvPr id="1334" name="Find point output">
              <a:extLst>
                <a:ext uri="{FF2B5EF4-FFF2-40B4-BE49-F238E27FC236}">
                  <a16:creationId xmlns:a16="http://schemas.microsoft.com/office/drawing/2014/main" id="{A46180D4-69EB-8AE7-CDA2-F04A094745C5}"/>
                </a:ext>
              </a:extLst>
            </p:cNvPr>
            <p:cNvSpPr>
              <a:spLocks noGrp="1"/>
            </p:cNvSpPr>
            <p:nvPr/>
          </p:nvSpPr>
          <p:spPr>
            <a:xfrm>
              <a:off x="9680238" y="3107055"/>
              <a:ext cx="409314" cy="191"/>
            </a:xfrm>
            <a:custGeom>
              <a:avLst/>
              <a:gdLst/>
              <a:ahLst/>
              <a:cxnLst/>
              <a:rect l="0" t="0" r="0" b="0"/>
              <a:pathLst>
                <a:path w="252508" h="191">
                  <a:moveTo>
                    <a:pt x="0" y="0"/>
                  </a:moveTo>
                  <a:lnTo>
                    <a:pt x="252508" y="0"/>
                  </a:lnTo>
                </a:path>
              </a:pathLst>
            </a:custGeom>
            <a:noFill/>
            <a:ln w="8505">
              <a:solidFill>
                <a:srgbClr val="77828C"/>
              </a:solidFill>
              <a:prstDash val="solid"/>
            </a:ln>
          </p:spPr>
        </p:sp>
        <p:sp>
          <p:nvSpPr>
            <p:cNvPr id="1335" name="Find point output head">
              <a:extLst>
                <a:ext uri="{FF2B5EF4-FFF2-40B4-BE49-F238E27FC236}">
                  <a16:creationId xmlns:a16="http://schemas.microsoft.com/office/drawing/2014/main" id="{3AE984D2-E1D8-ED29-0351-477843139B62}"/>
                </a:ext>
              </a:extLst>
            </p:cNvPr>
            <p:cNvSpPr>
              <a:spLocks noGrp="1"/>
            </p:cNvSpPr>
            <p:nvPr/>
          </p:nvSpPr>
          <p:spPr>
            <a:xfrm>
              <a:off x="10046213" y="3078385"/>
              <a:ext cx="66675" cy="57340"/>
            </a:xfrm>
            <a:custGeom>
              <a:avLst/>
              <a:gdLst/>
              <a:ahLst/>
              <a:cxnLst/>
              <a:rect l="0" t="0" r="0" b="0"/>
              <a:pathLst>
                <a:path w="66675" h="57340">
                  <a:moveTo>
                    <a:pt x="66675" y="28670"/>
                  </a:moveTo>
                  <a:lnTo>
                    <a:pt x="0" y="0"/>
                  </a:lnTo>
                  <a:lnTo>
                    <a:pt x="0" y="57340"/>
                  </a:lnTo>
                  <a:close/>
                </a:path>
              </a:pathLst>
            </a:custGeom>
            <a:solidFill>
              <a:srgbClr val="77828C"/>
            </a:solidFill>
            <a:ln w="0">
              <a:noFill/>
              <a:prstDash val="solid"/>
            </a:ln>
          </p:spPr>
        </p:sp>
        <p:sp>
          <p:nvSpPr>
            <p:cNvPr id="1336" name="U-Net flow refined 1">
              <a:extLst>
                <a:ext uri="{FF2B5EF4-FFF2-40B4-BE49-F238E27FC236}">
                  <a16:creationId xmlns:a16="http://schemas.microsoft.com/office/drawing/2014/main" id="{95244034-801E-119B-8522-4E45D7CE0861}"/>
                </a:ext>
              </a:extLst>
            </p:cNvPr>
            <p:cNvSpPr>
              <a:spLocks noGrp="1"/>
            </p:cNvSpPr>
            <p:nvPr/>
          </p:nvSpPr>
          <p:spPr>
            <a:xfrm>
              <a:off x="5329408" y="1943100"/>
              <a:ext cx="71390" cy="191"/>
            </a:xfrm>
            <a:custGeom>
              <a:avLst/>
              <a:gdLst/>
              <a:ahLst/>
              <a:cxnLst/>
              <a:rect l="0" t="0" r="0" b="0"/>
              <a:pathLst>
                <a:path w="71390" h="191">
                  <a:moveTo>
                    <a:pt x="0" y="0"/>
                  </a:moveTo>
                  <a:lnTo>
                    <a:pt x="71390" y="0"/>
                  </a:lnTo>
                </a:path>
              </a:pathLst>
            </a:custGeom>
            <a:noFill/>
            <a:ln w="6480">
              <a:solidFill>
                <a:srgbClr val="77828C"/>
              </a:solidFill>
              <a:prstDash val="solid"/>
            </a:ln>
          </p:spPr>
        </p:sp>
        <p:sp>
          <p:nvSpPr>
            <p:cNvPr id="1337" name="U-Net flow refined 1 head">
              <a:extLst>
                <a:ext uri="{FF2B5EF4-FFF2-40B4-BE49-F238E27FC236}">
                  <a16:creationId xmlns:a16="http://schemas.microsoft.com/office/drawing/2014/main" id="{F3259204-25A9-6387-95E4-09EFA79554FB}"/>
                </a:ext>
              </a:extLst>
            </p:cNvPr>
            <p:cNvSpPr>
              <a:spLocks noGrp="1"/>
            </p:cNvSpPr>
            <p:nvPr/>
          </p:nvSpPr>
          <p:spPr>
            <a:xfrm>
              <a:off x="5374176" y="1925488"/>
              <a:ext cx="40957" cy="35223"/>
            </a:xfrm>
            <a:custGeom>
              <a:avLst/>
              <a:gdLst/>
              <a:ahLst/>
              <a:cxnLst/>
              <a:rect l="0" t="0" r="0" b="0"/>
              <a:pathLst>
                <a:path w="40957" h="35223">
                  <a:moveTo>
                    <a:pt x="40957" y="17612"/>
                  </a:moveTo>
                  <a:lnTo>
                    <a:pt x="0" y="0"/>
                  </a:lnTo>
                  <a:lnTo>
                    <a:pt x="0" y="35223"/>
                  </a:lnTo>
                  <a:close/>
                </a:path>
              </a:pathLst>
            </a:custGeom>
            <a:solidFill>
              <a:srgbClr val="77828C"/>
            </a:solidFill>
            <a:ln w="0">
              <a:noFill/>
              <a:prstDash val="solid"/>
            </a:ln>
          </p:spPr>
        </p:sp>
        <p:sp>
          <p:nvSpPr>
            <p:cNvPr id="1338" name="U-Net flow refined 2">
              <a:extLst>
                <a:ext uri="{FF2B5EF4-FFF2-40B4-BE49-F238E27FC236}">
                  <a16:creationId xmlns:a16="http://schemas.microsoft.com/office/drawing/2014/main" id="{8746BBD3-9A92-59D3-6E63-C12DB6FDDD37}"/>
                </a:ext>
              </a:extLst>
            </p:cNvPr>
            <p:cNvSpPr>
              <a:spLocks noGrp="1"/>
            </p:cNvSpPr>
            <p:nvPr/>
          </p:nvSpPr>
          <p:spPr>
            <a:xfrm>
              <a:off x="5786608" y="1943100"/>
              <a:ext cx="61865" cy="191"/>
            </a:xfrm>
            <a:custGeom>
              <a:avLst/>
              <a:gdLst/>
              <a:ahLst/>
              <a:cxnLst/>
              <a:rect l="0" t="0" r="0" b="0"/>
              <a:pathLst>
                <a:path w="61865" h="191">
                  <a:moveTo>
                    <a:pt x="0" y="0"/>
                  </a:moveTo>
                  <a:lnTo>
                    <a:pt x="61865" y="0"/>
                  </a:lnTo>
                </a:path>
              </a:pathLst>
            </a:custGeom>
            <a:noFill/>
            <a:ln w="6480">
              <a:solidFill>
                <a:srgbClr val="77828C"/>
              </a:solidFill>
              <a:prstDash val="solid"/>
            </a:ln>
          </p:spPr>
        </p:sp>
        <p:sp>
          <p:nvSpPr>
            <p:cNvPr id="1339" name="U-Net flow refined 2 head">
              <a:extLst>
                <a:ext uri="{FF2B5EF4-FFF2-40B4-BE49-F238E27FC236}">
                  <a16:creationId xmlns:a16="http://schemas.microsoft.com/office/drawing/2014/main" id="{82AD34F7-C8D4-9C6E-BB23-7C5A9EEEC3FA}"/>
                </a:ext>
              </a:extLst>
            </p:cNvPr>
            <p:cNvSpPr>
              <a:spLocks noGrp="1"/>
            </p:cNvSpPr>
            <p:nvPr/>
          </p:nvSpPr>
          <p:spPr>
            <a:xfrm>
              <a:off x="5821851" y="1925488"/>
              <a:ext cx="40957" cy="35223"/>
            </a:xfrm>
            <a:custGeom>
              <a:avLst/>
              <a:gdLst/>
              <a:ahLst/>
              <a:cxnLst/>
              <a:rect l="0" t="0" r="0" b="0"/>
              <a:pathLst>
                <a:path w="40957" h="35223">
                  <a:moveTo>
                    <a:pt x="40957" y="17612"/>
                  </a:moveTo>
                  <a:lnTo>
                    <a:pt x="0" y="0"/>
                  </a:lnTo>
                  <a:lnTo>
                    <a:pt x="0" y="35223"/>
                  </a:lnTo>
                  <a:close/>
                </a:path>
              </a:pathLst>
            </a:custGeom>
            <a:solidFill>
              <a:srgbClr val="77828C"/>
            </a:solidFill>
            <a:ln w="0">
              <a:noFill/>
              <a:prstDash val="solid"/>
            </a:ln>
          </p:spPr>
        </p:sp>
        <p:sp>
          <p:nvSpPr>
            <p:cNvPr id="1340" name="U-Net flow refined 3">
              <a:extLst>
                <a:ext uri="{FF2B5EF4-FFF2-40B4-BE49-F238E27FC236}">
                  <a16:creationId xmlns:a16="http://schemas.microsoft.com/office/drawing/2014/main" id="{CFDFBC2A-F0EA-3D96-483E-8FF81A539358}"/>
                </a:ext>
              </a:extLst>
            </p:cNvPr>
            <p:cNvSpPr>
              <a:spLocks noGrp="1"/>
            </p:cNvSpPr>
            <p:nvPr/>
          </p:nvSpPr>
          <p:spPr>
            <a:xfrm>
              <a:off x="6358108" y="1943100"/>
              <a:ext cx="185690" cy="191"/>
            </a:xfrm>
            <a:custGeom>
              <a:avLst/>
              <a:gdLst/>
              <a:ahLst/>
              <a:cxnLst/>
              <a:rect l="0" t="0" r="0" b="0"/>
              <a:pathLst>
                <a:path w="185690" h="191">
                  <a:moveTo>
                    <a:pt x="0" y="0"/>
                  </a:moveTo>
                  <a:lnTo>
                    <a:pt x="185690" y="0"/>
                  </a:lnTo>
                </a:path>
              </a:pathLst>
            </a:custGeom>
            <a:noFill/>
            <a:ln w="6480">
              <a:solidFill>
                <a:srgbClr val="77828C"/>
              </a:solidFill>
              <a:prstDash val="solid"/>
            </a:ln>
          </p:spPr>
        </p:sp>
        <p:sp>
          <p:nvSpPr>
            <p:cNvPr id="1341" name="U-Net flow refined 3 head">
              <a:extLst>
                <a:ext uri="{FF2B5EF4-FFF2-40B4-BE49-F238E27FC236}">
                  <a16:creationId xmlns:a16="http://schemas.microsoft.com/office/drawing/2014/main" id="{FA233369-F9DF-2900-5A6D-DF29E378C870}"/>
                </a:ext>
              </a:extLst>
            </p:cNvPr>
            <p:cNvSpPr>
              <a:spLocks noGrp="1"/>
            </p:cNvSpPr>
            <p:nvPr/>
          </p:nvSpPr>
          <p:spPr>
            <a:xfrm>
              <a:off x="6517176" y="1925488"/>
              <a:ext cx="40957" cy="35223"/>
            </a:xfrm>
            <a:custGeom>
              <a:avLst/>
              <a:gdLst/>
              <a:ahLst/>
              <a:cxnLst/>
              <a:rect l="0" t="0" r="0" b="0"/>
              <a:pathLst>
                <a:path w="40957" h="35223">
                  <a:moveTo>
                    <a:pt x="40957" y="17612"/>
                  </a:moveTo>
                  <a:lnTo>
                    <a:pt x="0" y="0"/>
                  </a:lnTo>
                  <a:lnTo>
                    <a:pt x="0" y="35223"/>
                  </a:lnTo>
                  <a:close/>
                </a:path>
              </a:pathLst>
            </a:custGeom>
            <a:solidFill>
              <a:srgbClr val="77828C"/>
            </a:solidFill>
            <a:ln w="0">
              <a:noFill/>
              <a:prstDash val="solid"/>
            </a:ln>
          </p:spPr>
        </p:sp>
        <p:sp>
          <p:nvSpPr>
            <p:cNvPr id="1342" name="U-Net flow refined 4">
              <a:extLst>
                <a:ext uri="{FF2B5EF4-FFF2-40B4-BE49-F238E27FC236}">
                  <a16:creationId xmlns:a16="http://schemas.microsoft.com/office/drawing/2014/main" id="{0437C985-390E-4FF3-C5C8-27933E609C01}"/>
                </a:ext>
              </a:extLst>
            </p:cNvPr>
            <p:cNvSpPr>
              <a:spLocks noGrp="1"/>
            </p:cNvSpPr>
            <p:nvPr/>
          </p:nvSpPr>
          <p:spPr>
            <a:xfrm>
              <a:off x="7634458" y="1943100"/>
              <a:ext cx="204740" cy="191"/>
            </a:xfrm>
            <a:custGeom>
              <a:avLst/>
              <a:gdLst/>
              <a:ahLst/>
              <a:cxnLst/>
              <a:rect l="0" t="0" r="0" b="0"/>
              <a:pathLst>
                <a:path w="204740" h="191">
                  <a:moveTo>
                    <a:pt x="0" y="0"/>
                  </a:moveTo>
                  <a:lnTo>
                    <a:pt x="204740" y="0"/>
                  </a:lnTo>
                </a:path>
              </a:pathLst>
            </a:custGeom>
            <a:noFill/>
            <a:ln w="6480">
              <a:solidFill>
                <a:srgbClr val="77828C"/>
              </a:solidFill>
              <a:prstDash val="solid"/>
            </a:ln>
          </p:spPr>
        </p:sp>
        <p:sp>
          <p:nvSpPr>
            <p:cNvPr id="1343" name="U-Net flow refined 4 head">
              <a:extLst>
                <a:ext uri="{FF2B5EF4-FFF2-40B4-BE49-F238E27FC236}">
                  <a16:creationId xmlns:a16="http://schemas.microsoft.com/office/drawing/2014/main" id="{890881F0-9507-729A-88C9-9F6C9192DB7C}"/>
                </a:ext>
              </a:extLst>
            </p:cNvPr>
            <p:cNvSpPr>
              <a:spLocks noGrp="1"/>
            </p:cNvSpPr>
            <p:nvPr/>
          </p:nvSpPr>
          <p:spPr>
            <a:xfrm>
              <a:off x="7812576" y="1925488"/>
              <a:ext cx="40957" cy="35223"/>
            </a:xfrm>
            <a:custGeom>
              <a:avLst/>
              <a:gdLst/>
              <a:ahLst/>
              <a:cxnLst/>
              <a:rect l="0" t="0" r="0" b="0"/>
              <a:pathLst>
                <a:path w="40957" h="35223">
                  <a:moveTo>
                    <a:pt x="40957" y="17612"/>
                  </a:moveTo>
                  <a:lnTo>
                    <a:pt x="0" y="0"/>
                  </a:lnTo>
                  <a:lnTo>
                    <a:pt x="0" y="35223"/>
                  </a:lnTo>
                  <a:close/>
                </a:path>
              </a:pathLst>
            </a:custGeom>
            <a:solidFill>
              <a:srgbClr val="77828C"/>
            </a:solidFill>
            <a:ln w="0">
              <a:noFill/>
              <a:prstDash val="solid"/>
            </a:ln>
          </p:spPr>
        </p:sp>
        <p:sp>
          <p:nvSpPr>
            <p:cNvPr id="1344" name="U-Net flow refined 5">
              <a:extLst>
                <a:ext uri="{FF2B5EF4-FFF2-40B4-BE49-F238E27FC236}">
                  <a16:creationId xmlns:a16="http://schemas.microsoft.com/office/drawing/2014/main" id="{98A03B8C-0E10-717A-5C42-8B4134797536}"/>
                </a:ext>
              </a:extLst>
            </p:cNvPr>
            <p:cNvSpPr>
              <a:spLocks noGrp="1"/>
            </p:cNvSpPr>
            <p:nvPr/>
          </p:nvSpPr>
          <p:spPr>
            <a:xfrm>
              <a:off x="8358358" y="1943100"/>
              <a:ext cx="71390" cy="191"/>
            </a:xfrm>
            <a:custGeom>
              <a:avLst/>
              <a:gdLst/>
              <a:ahLst/>
              <a:cxnLst/>
              <a:rect l="0" t="0" r="0" b="0"/>
              <a:pathLst>
                <a:path w="71390" h="191">
                  <a:moveTo>
                    <a:pt x="0" y="0"/>
                  </a:moveTo>
                  <a:lnTo>
                    <a:pt x="71390" y="0"/>
                  </a:lnTo>
                </a:path>
              </a:pathLst>
            </a:custGeom>
            <a:noFill/>
            <a:ln w="6480">
              <a:solidFill>
                <a:srgbClr val="77828C"/>
              </a:solidFill>
              <a:prstDash val="solid"/>
            </a:ln>
          </p:spPr>
        </p:sp>
        <p:sp>
          <p:nvSpPr>
            <p:cNvPr id="1345" name="U-Net flow refined 5 head">
              <a:extLst>
                <a:ext uri="{FF2B5EF4-FFF2-40B4-BE49-F238E27FC236}">
                  <a16:creationId xmlns:a16="http://schemas.microsoft.com/office/drawing/2014/main" id="{48974519-1EC1-B101-76CE-78CFFA8DD7A0}"/>
                </a:ext>
              </a:extLst>
            </p:cNvPr>
            <p:cNvSpPr>
              <a:spLocks noGrp="1"/>
            </p:cNvSpPr>
            <p:nvPr/>
          </p:nvSpPr>
          <p:spPr>
            <a:xfrm>
              <a:off x="8403126" y="1925488"/>
              <a:ext cx="40957" cy="35223"/>
            </a:xfrm>
            <a:custGeom>
              <a:avLst/>
              <a:gdLst/>
              <a:ahLst/>
              <a:cxnLst/>
              <a:rect l="0" t="0" r="0" b="0"/>
              <a:pathLst>
                <a:path w="40957" h="35223">
                  <a:moveTo>
                    <a:pt x="40957" y="17612"/>
                  </a:moveTo>
                  <a:lnTo>
                    <a:pt x="0" y="0"/>
                  </a:lnTo>
                  <a:lnTo>
                    <a:pt x="0" y="35223"/>
                  </a:lnTo>
                  <a:close/>
                </a:path>
              </a:pathLst>
            </a:custGeom>
            <a:solidFill>
              <a:srgbClr val="77828C"/>
            </a:solidFill>
            <a:ln w="0">
              <a:noFill/>
              <a:prstDash val="solid"/>
            </a:ln>
          </p:spPr>
        </p:sp>
        <p:sp>
          <p:nvSpPr>
            <p:cNvPr id="1346" name="U-Net flow refined 6">
              <a:extLst>
                <a:ext uri="{FF2B5EF4-FFF2-40B4-BE49-F238E27FC236}">
                  <a16:creationId xmlns:a16="http://schemas.microsoft.com/office/drawing/2014/main" id="{54884F8D-B7C5-0A7E-0469-8888F2F4017B}"/>
                </a:ext>
              </a:extLst>
            </p:cNvPr>
            <p:cNvSpPr>
              <a:spLocks noGrp="1"/>
            </p:cNvSpPr>
            <p:nvPr/>
          </p:nvSpPr>
          <p:spPr>
            <a:xfrm>
              <a:off x="8796508" y="1943100"/>
              <a:ext cx="90440" cy="191"/>
            </a:xfrm>
            <a:custGeom>
              <a:avLst/>
              <a:gdLst/>
              <a:ahLst/>
              <a:cxnLst/>
              <a:rect l="0" t="0" r="0" b="0"/>
              <a:pathLst>
                <a:path w="90440" h="191">
                  <a:moveTo>
                    <a:pt x="0" y="0"/>
                  </a:moveTo>
                  <a:lnTo>
                    <a:pt x="90440" y="0"/>
                  </a:lnTo>
                </a:path>
              </a:pathLst>
            </a:custGeom>
            <a:noFill/>
            <a:ln w="6480">
              <a:solidFill>
                <a:srgbClr val="77828C"/>
              </a:solidFill>
              <a:prstDash val="solid"/>
            </a:ln>
          </p:spPr>
        </p:sp>
        <p:sp>
          <p:nvSpPr>
            <p:cNvPr id="1347" name="U-Net flow refined 6 head">
              <a:extLst>
                <a:ext uri="{FF2B5EF4-FFF2-40B4-BE49-F238E27FC236}">
                  <a16:creationId xmlns:a16="http://schemas.microsoft.com/office/drawing/2014/main" id="{B27C0CBB-7874-D786-B1AC-5AC319E4C5FF}"/>
                </a:ext>
              </a:extLst>
            </p:cNvPr>
            <p:cNvSpPr>
              <a:spLocks noGrp="1"/>
            </p:cNvSpPr>
            <p:nvPr/>
          </p:nvSpPr>
          <p:spPr>
            <a:xfrm>
              <a:off x="8860326" y="1925488"/>
              <a:ext cx="40957" cy="35223"/>
            </a:xfrm>
            <a:custGeom>
              <a:avLst/>
              <a:gdLst/>
              <a:ahLst/>
              <a:cxnLst/>
              <a:rect l="0" t="0" r="0" b="0"/>
              <a:pathLst>
                <a:path w="40957" h="35223">
                  <a:moveTo>
                    <a:pt x="40957" y="17612"/>
                  </a:moveTo>
                  <a:lnTo>
                    <a:pt x="0" y="0"/>
                  </a:lnTo>
                  <a:lnTo>
                    <a:pt x="0" y="35223"/>
                  </a:lnTo>
                  <a:close/>
                </a:path>
              </a:pathLst>
            </a:custGeom>
            <a:solidFill>
              <a:srgbClr val="77828C"/>
            </a:solidFill>
            <a:ln w="0">
              <a:noFill/>
              <a:prstDash val="solid"/>
            </a:ln>
          </p:spPr>
        </p:sp>
        <p:sp>
          <p:nvSpPr>
            <p:cNvPr id="1348" name="Skip outer refined">
              <a:extLst>
                <a:ext uri="{FF2B5EF4-FFF2-40B4-BE49-F238E27FC236}">
                  <a16:creationId xmlns:a16="http://schemas.microsoft.com/office/drawing/2014/main" id="{658FCEB8-ADC5-A3A6-0ED5-FCED39E4A54E}"/>
                </a:ext>
              </a:extLst>
            </p:cNvPr>
            <p:cNvSpPr>
              <a:spLocks noGrp="1"/>
            </p:cNvSpPr>
            <p:nvPr/>
          </p:nvSpPr>
          <p:spPr>
            <a:xfrm>
              <a:off x="4919833" y="1209675"/>
              <a:ext cx="4333875" cy="219075"/>
            </a:xfrm>
            <a:custGeom>
              <a:avLst/>
              <a:gdLst/>
              <a:ahLst/>
              <a:cxnLst/>
              <a:rect l="0" t="0" r="0" b="0"/>
              <a:pathLst>
                <a:path w="4333875" h="219075">
                  <a:moveTo>
                    <a:pt x="0" y="219075"/>
                  </a:moveTo>
                  <a:lnTo>
                    <a:pt x="0" y="0"/>
                  </a:lnTo>
                  <a:lnTo>
                    <a:pt x="4333875" y="0"/>
                  </a:lnTo>
                  <a:lnTo>
                    <a:pt x="4333875" y="204073"/>
                  </a:lnTo>
                </a:path>
              </a:pathLst>
            </a:custGeom>
            <a:noFill/>
            <a:ln w="5468">
              <a:solidFill>
                <a:srgbClr val="A3ACB4"/>
              </a:solidFill>
              <a:prstDash val="dash"/>
            </a:ln>
          </p:spPr>
        </p:sp>
        <p:sp>
          <p:nvSpPr>
            <p:cNvPr id="1349" name="Skip outer refined head">
              <a:extLst>
                <a:ext uri="{FF2B5EF4-FFF2-40B4-BE49-F238E27FC236}">
                  <a16:creationId xmlns:a16="http://schemas.microsoft.com/office/drawing/2014/main" id="{60C42D79-C695-00EF-5B01-175FA7FB3605}"/>
                </a:ext>
              </a:extLst>
            </p:cNvPr>
            <p:cNvSpPr>
              <a:spLocks noGrp="1"/>
            </p:cNvSpPr>
            <p:nvPr/>
          </p:nvSpPr>
          <p:spPr>
            <a:xfrm>
              <a:off x="9235277" y="1385888"/>
              <a:ext cx="36862" cy="42863"/>
            </a:xfrm>
            <a:custGeom>
              <a:avLst/>
              <a:gdLst/>
              <a:ahLst/>
              <a:cxnLst/>
              <a:rect l="0" t="0" r="0" b="0"/>
              <a:pathLst>
                <a:path w="36862" h="42863">
                  <a:moveTo>
                    <a:pt x="18431" y="42863"/>
                  </a:moveTo>
                  <a:lnTo>
                    <a:pt x="36862" y="0"/>
                  </a:lnTo>
                  <a:lnTo>
                    <a:pt x="0" y="0"/>
                  </a:lnTo>
                  <a:close/>
                </a:path>
              </a:pathLst>
            </a:custGeom>
            <a:solidFill>
              <a:srgbClr val="A3ACB4"/>
            </a:solidFill>
            <a:ln w="0">
              <a:noFill/>
              <a:prstDash val="solid"/>
            </a:ln>
          </p:spPr>
        </p:sp>
        <p:sp>
          <p:nvSpPr>
            <p:cNvPr id="1350" name="Skip middle refined">
              <a:extLst>
                <a:ext uri="{FF2B5EF4-FFF2-40B4-BE49-F238E27FC236}">
                  <a16:creationId xmlns:a16="http://schemas.microsoft.com/office/drawing/2014/main" id="{83A0B664-ACCB-87DF-C129-C0F879D2D7B7}"/>
                </a:ext>
              </a:extLst>
            </p:cNvPr>
            <p:cNvSpPr>
              <a:spLocks noGrp="1"/>
            </p:cNvSpPr>
            <p:nvPr/>
          </p:nvSpPr>
          <p:spPr>
            <a:xfrm>
              <a:off x="5558008" y="1295400"/>
              <a:ext cx="3067050" cy="266700"/>
            </a:xfrm>
            <a:custGeom>
              <a:avLst/>
              <a:gdLst/>
              <a:ahLst/>
              <a:cxnLst/>
              <a:rect l="0" t="0" r="0" b="0"/>
              <a:pathLst>
                <a:path w="3067050" h="266700">
                  <a:moveTo>
                    <a:pt x="0" y="266700"/>
                  </a:moveTo>
                  <a:lnTo>
                    <a:pt x="0" y="0"/>
                  </a:lnTo>
                  <a:lnTo>
                    <a:pt x="3067050" y="0"/>
                  </a:lnTo>
                  <a:lnTo>
                    <a:pt x="3067050" y="251698"/>
                  </a:lnTo>
                </a:path>
              </a:pathLst>
            </a:custGeom>
            <a:noFill/>
            <a:ln w="5468">
              <a:solidFill>
                <a:srgbClr val="A3ACB4"/>
              </a:solidFill>
              <a:prstDash val="dash"/>
            </a:ln>
          </p:spPr>
        </p:sp>
        <p:sp>
          <p:nvSpPr>
            <p:cNvPr id="1351" name="Skip middle refined head">
              <a:extLst>
                <a:ext uri="{FF2B5EF4-FFF2-40B4-BE49-F238E27FC236}">
                  <a16:creationId xmlns:a16="http://schemas.microsoft.com/office/drawing/2014/main" id="{58CA8EAC-7861-9B4C-F0CE-1E3A5B591204}"/>
                </a:ext>
              </a:extLst>
            </p:cNvPr>
            <p:cNvSpPr>
              <a:spLocks noGrp="1"/>
            </p:cNvSpPr>
            <p:nvPr/>
          </p:nvSpPr>
          <p:spPr>
            <a:xfrm>
              <a:off x="8606627" y="1519238"/>
              <a:ext cx="36862" cy="42863"/>
            </a:xfrm>
            <a:custGeom>
              <a:avLst/>
              <a:gdLst/>
              <a:ahLst/>
              <a:cxnLst/>
              <a:rect l="0" t="0" r="0" b="0"/>
              <a:pathLst>
                <a:path w="36862" h="42863">
                  <a:moveTo>
                    <a:pt x="18431" y="42863"/>
                  </a:moveTo>
                  <a:lnTo>
                    <a:pt x="36862" y="0"/>
                  </a:lnTo>
                  <a:lnTo>
                    <a:pt x="0" y="0"/>
                  </a:lnTo>
                  <a:close/>
                </a:path>
              </a:pathLst>
            </a:custGeom>
            <a:solidFill>
              <a:srgbClr val="A3ACB4"/>
            </a:solidFill>
            <a:ln w="0">
              <a:noFill/>
              <a:prstDash val="solid"/>
            </a:ln>
          </p:spPr>
        </p:sp>
        <p:sp>
          <p:nvSpPr>
            <p:cNvPr id="1352" name="Skip inner refined">
              <a:extLst>
                <a:ext uri="{FF2B5EF4-FFF2-40B4-BE49-F238E27FC236}">
                  <a16:creationId xmlns:a16="http://schemas.microsoft.com/office/drawing/2014/main" id="{76975CDD-8F87-C2F9-EA69-936E0136B573}"/>
                </a:ext>
              </a:extLst>
            </p:cNvPr>
            <p:cNvSpPr>
              <a:spLocks noGrp="1"/>
            </p:cNvSpPr>
            <p:nvPr/>
          </p:nvSpPr>
          <p:spPr>
            <a:xfrm>
              <a:off x="6081883" y="1381125"/>
              <a:ext cx="2000250" cy="323850"/>
            </a:xfrm>
            <a:custGeom>
              <a:avLst/>
              <a:gdLst/>
              <a:ahLst/>
              <a:cxnLst/>
              <a:rect l="0" t="0" r="0" b="0"/>
              <a:pathLst>
                <a:path w="2000250" h="323850">
                  <a:moveTo>
                    <a:pt x="0" y="323850"/>
                  </a:moveTo>
                  <a:lnTo>
                    <a:pt x="0" y="0"/>
                  </a:lnTo>
                  <a:lnTo>
                    <a:pt x="2000250" y="0"/>
                  </a:lnTo>
                  <a:lnTo>
                    <a:pt x="2000250" y="308848"/>
                  </a:lnTo>
                </a:path>
              </a:pathLst>
            </a:custGeom>
            <a:noFill/>
            <a:ln w="5468">
              <a:solidFill>
                <a:srgbClr val="A3ACB4"/>
              </a:solidFill>
              <a:prstDash val="dash"/>
            </a:ln>
          </p:spPr>
        </p:sp>
        <p:sp>
          <p:nvSpPr>
            <p:cNvPr id="1353" name="Skip inner refined head">
              <a:extLst>
                <a:ext uri="{FF2B5EF4-FFF2-40B4-BE49-F238E27FC236}">
                  <a16:creationId xmlns:a16="http://schemas.microsoft.com/office/drawing/2014/main" id="{752B1E02-2FC4-F49F-2A36-D9536EC2AA84}"/>
                </a:ext>
              </a:extLst>
            </p:cNvPr>
            <p:cNvSpPr>
              <a:spLocks noGrp="1"/>
            </p:cNvSpPr>
            <p:nvPr/>
          </p:nvSpPr>
          <p:spPr>
            <a:xfrm>
              <a:off x="8063702" y="1662113"/>
              <a:ext cx="36862" cy="42863"/>
            </a:xfrm>
            <a:custGeom>
              <a:avLst/>
              <a:gdLst/>
              <a:ahLst/>
              <a:cxnLst/>
              <a:rect l="0" t="0" r="0" b="0"/>
              <a:pathLst>
                <a:path w="36862" h="42863">
                  <a:moveTo>
                    <a:pt x="18431" y="42863"/>
                  </a:moveTo>
                  <a:lnTo>
                    <a:pt x="36862" y="0"/>
                  </a:lnTo>
                  <a:lnTo>
                    <a:pt x="0" y="0"/>
                  </a:lnTo>
                  <a:close/>
                </a:path>
              </a:pathLst>
            </a:custGeom>
            <a:solidFill>
              <a:srgbClr val="A3ACB4"/>
            </a:solidFill>
            <a:ln w="0">
              <a:noFill/>
              <a:prstDash val="solid"/>
            </a:ln>
          </p:spPr>
        </p:sp>
        <p:sp>
          <p:nvSpPr>
            <p:cNvPr id="1354" name="PTV3 forward refined 1">
              <a:extLst>
                <a:ext uri="{FF2B5EF4-FFF2-40B4-BE49-F238E27FC236}">
                  <a16:creationId xmlns:a16="http://schemas.microsoft.com/office/drawing/2014/main" id="{04310EA6-8B85-4716-C7FE-1F1CB7529F8C}"/>
                </a:ext>
              </a:extLst>
            </p:cNvPr>
            <p:cNvSpPr>
              <a:spLocks noGrp="1"/>
            </p:cNvSpPr>
            <p:nvPr/>
          </p:nvSpPr>
          <p:spPr>
            <a:xfrm>
              <a:off x="5447899" y="3106769"/>
              <a:ext cx="255746" cy="191"/>
            </a:xfrm>
            <a:custGeom>
              <a:avLst/>
              <a:gdLst/>
              <a:ahLst/>
              <a:cxnLst/>
              <a:rect l="0" t="0" r="0" b="0"/>
              <a:pathLst>
                <a:path w="255746" h="191">
                  <a:moveTo>
                    <a:pt x="0" y="0"/>
                  </a:moveTo>
                  <a:lnTo>
                    <a:pt x="255746" y="0"/>
                  </a:lnTo>
                </a:path>
              </a:pathLst>
            </a:custGeom>
            <a:noFill/>
            <a:ln w="8505">
              <a:solidFill>
                <a:srgbClr val="77828C"/>
              </a:solidFill>
              <a:prstDash val="solid"/>
            </a:ln>
          </p:spPr>
        </p:sp>
        <p:sp>
          <p:nvSpPr>
            <p:cNvPr id="1355" name="PTV3 forward refined 1 head">
              <a:extLst>
                <a:ext uri="{FF2B5EF4-FFF2-40B4-BE49-F238E27FC236}">
                  <a16:creationId xmlns:a16="http://schemas.microsoft.com/office/drawing/2014/main" id="{17EEEDD6-DD4D-4A87-1B93-66579A0131B0}"/>
                </a:ext>
              </a:extLst>
            </p:cNvPr>
            <p:cNvSpPr>
              <a:spLocks noGrp="1"/>
            </p:cNvSpPr>
            <p:nvPr/>
          </p:nvSpPr>
          <p:spPr>
            <a:xfrm>
              <a:off x="5660307" y="3078099"/>
              <a:ext cx="66675" cy="57340"/>
            </a:xfrm>
            <a:custGeom>
              <a:avLst/>
              <a:gdLst/>
              <a:ahLst/>
              <a:cxnLst/>
              <a:rect l="0" t="0" r="0" b="0"/>
              <a:pathLst>
                <a:path w="66675" h="57340">
                  <a:moveTo>
                    <a:pt x="66675" y="28670"/>
                  </a:moveTo>
                  <a:lnTo>
                    <a:pt x="0" y="0"/>
                  </a:lnTo>
                  <a:lnTo>
                    <a:pt x="0" y="57340"/>
                  </a:lnTo>
                  <a:close/>
                </a:path>
              </a:pathLst>
            </a:custGeom>
            <a:solidFill>
              <a:srgbClr val="77828C"/>
            </a:solidFill>
            <a:ln w="0">
              <a:solidFill>
                <a:srgbClr val="77828C"/>
              </a:solidFill>
              <a:prstDash val="solid"/>
            </a:ln>
          </p:spPr>
        </p:sp>
        <p:sp>
          <p:nvSpPr>
            <p:cNvPr id="1356" name="PTV3 forward refined 2">
              <a:extLst>
                <a:ext uri="{FF2B5EF4-FFF2-40B4-BE49-F238E27FC236}">
                  <a16:creationId xmlns:a16="http://schemas.microsoft.com/office/drawing/2014/main" id="{79AAEC09-E915-3AB0-E946-341E2CE7251C}"/>
                </a:ext>
              </a:extLst>
            </p:cNvPr>
            <p:cNvSpPr>
              <a:spLocks noGrp="1"/>
            </p:cNvSpPr>
            <p:nvPr/>
          </p:nvSpPr>
          <p:spPr>
            <a:xfrm>
              <a:off x="6452501" y="3106769"/>
              <a:ext cx="311563" cy="191"/>
            </a:xfrm>
            <a:custGeom>
              <a:avLst/>
              <a:gdLst/>
              <a:ahLst/>
              <a:cxnLst/>
              <a:rect l="0" t="0" r="0" b="0"/>
              <a:pathLst>
                <a:path w="311563" h="191">
                  <a:moveTo>
                    <a:pt x="0" y="0"/>
                  </a:moveTo>
                  <a:lnTo>
                    <a:pt x="311563" y="0"/>
                  </a:lnTo>
                </a:path>
              </a:pathLst>
            </a:custGeom>
            <a:noFill/>
            <a:ln w="8505">
              <a:solidFill>
                <a:srgbClr val="77828C"/>
              </a:solidFill>
              <a:prstDash val="solid"/>
            </a:ln>
          </p:spPr>
        </p:sp>
        <p:sp>
          <p:nvSpPr>
            <p:cNvPr id="1357" name="PTV3 forward refined 2 head">
              <a:extLst>
                <a:ext uri="{FF2B5EF4-FFF2-40B4-BE49-F238E27FC236}">
                  <a16:creationId xmlns:a16="http://schemas.microsoft.com/office/drawing/2014/main" id="{B27D8AA0-8D28-AFF2-0672-3D5781EF57FF}"/>
                </a:ext>
              </a:extLst>
            </p:cNvPr>
            <p:cNvSpPr>
              <a:spLocks noGrp="1"/>
            </p:cNvSpPr>
            <p:nvPr/>
          </p:nvSpPr>
          <p:spPr>
            <a:xfrm>
              <a:off x="6720725" y="3078099"/>
              <a:ext cx="66675" cy="57340"/>
            </a:xfrm>
            <a:custGeom>
              <a:avLst/>
              <a:gdLst/>
              <a:ahLst/>
              <a:cxnLst/>
              <a:rect l="0" t="0" r="0" b="0"/>
              <a:pathLst>
                <a:path w="66675" h="57340">
                  <a:moveTo>
                    <a:pt x="66675" y="28670"/>
                  </a:moveTo>
                  <a:lnTo>
                    <a:pt x="0" y="0"/>
                  </a:lnTo>
                  <a:lnTo>
                    <a:pt x="0" y="57340"/>
                  </a:lnTo>
                  <a:close/>
                </a:path>
              </a:pathLst>
            </a:custGeom>
            <a:solidFill>
              <a:srgbClr val="77828C"/>
            </a:solidFill>
            <a:ln w="0">
              <a:noFill/>
              <a:prstDash val="solid"/>
            </a:ln>
          </p:spPr>
        </p:sp>
        <p:sp>
          <p:nvSpPr>
            <p:cNvPr id="1358" name="PTV3 forward refined 3">
              <a:extLst>
                <a:ext uri="{FF2B5EF4-FFF2-40B4-BE49-F238E27FC236}">
                  <a16:creationId xmlns:a16="http://schemas.microsoft.com/office/drawing/2014/main" id="{A4C8624A-823F-84BE-1A3B-214AB03CCFFA}"/>
                </a:ext>
              </a:extLst>
            </p:cNvPr>
            <p:cNvSpPr>
              <a:spLocks noGrp="1"/>
            </p:cNvSpPr>
            <p:nvPr/>
          </p:nvSpPr>
          <p:spPr>
            <a:xfrm>
              <a:off x="7438529" y="3106769"/>
              <a:ext cx="311563" cy="191"/>
            </a:xfrm>
            <a:custGeom>
              <a:avLst/>
              <a:gdLst/>
              <a:ahLst/>
              <a:cxnLst/>
              <a:rect l="0" t="0" r="0" b="0"/>
              <a:pathLst>
                <a:path w="311563" h="191">
                  <a:moveTo>
                    <a:pt x="0" y="0"/>
                  </a:moveTo>
                  <a:lnTo>
                    <a:pt x="311563" y="0"/>
                  </a:lnTo>
                </a:path>
              </a:pathLst>
            </a:custGeom>
            <a:noFill/>
            <a:ln w="8505">
              <a:solidFill>
                <a:srgbClr val="77828C"/>
              </a:solidFill>
              <a:prstDash val="solid"/>
            </a:ln>
          </p:spPr>
        </p:sp>
        <p:sp>
          <p:nvSpPr>
            <p:cNvPr id="1359" name="PTV3 forward refined 3 head">
              <a:extLst>
                <a:ext uri="{FF2B5EF4-FFF2-40B4-BE49-F238E27FC236}">
                  <a16:creationId xmlns:a16="http://schemas.microsoft.com/office/drawing/2014/main" id="{6F35C736-C168-3256-784E-026BBF3C9F31}"/>
                </a:ext>
              </a:extLst>
            </p:cNvPr>
            <p:cNvSpPr>
              <a:spLocks noGrp="1"/>
            </p:cNvSpPr>
            <p:nvPr/>
          </p:nvSpPr>
          <p:spPr>
            <a:xfrm>
              <a:off x="7706753" y="3078099"/>
              <a:ext cx="66675" cy="57340"/>
            </a:xfrm>
            <a:custGeom>
              <a:avLst/>
              <a:gdLst/>
              <a:ahLst/>
              <a:cxnLst/>
              <a:rect l="0" t="0" r="0" b="0"/>
              <a:pathLst>
                <a:path w="66675" h="57340">
                  <a:moveTo>
                    <a:pt x="66675" y="28670"/>
                  </a:moveTo>
                  <a:lnTo>
                    <a:pt x="0" y="0"/>
                  </a:lnTo>
                  <a:lnTo>
                    <a:pt x="0" y="57340"/>
                  </a:lnTo>
                  <a:close/>
                </a:path>
              </a:pathLst>
            </a:custGeom>
            <a:solidFill>
              <a:srgbClr val="77828C"/>
            </a:solidFill>
            <a:ln w="0">
              <a:solidFill>
                <a:srgbClr val="77828C"/>
              </a:solidFill>
              <a:prstDash val="solid"/>
            </a:ln>
          </p:spPr>
        </p:sp>
        <p:sp>
          <p:nvSpPr>
            <p:cNvPr id="1360" name="PTV3 forward refined 4">
              <a:extLst>
                <a:ext uri="{FF2B5EF4-FFF2-40B4-BE49-F238E27FC236}">
                  <a16:creationId xmlns:a16="http://schemas.microsoft.com/office/drawing/2014/main" id="{DF6C23C6-29A5-5C2E-82D6-805B8A55BB48}"/>
                </a:ext>
              </a:extLst>
            </p:cNvPr>
            <p:cNvSpPr>
              <a:spLocks noGrp="1"/>
            </p:cNvSpPr>
            <p:nvPr/>
          </p:nvSpPr>
          <p:spPr>
            <a:xfrm>
              <a:off x="8498852" y="3106769"/>
              <a:ext cx="255746" cy="191"/>
            </a:xfrm>
            <a:custGeom>
              <a:avLst/>
              <a:gdLst/>
              <a:ahLst/>
              <a:cxnLst/>
              <a:rect l="0" t="0" r="0" b="0"/>
              <a:pathLst>
                <a:path w="255746" h="191">
                  <a:moveTo>
                    <a:pt x="0" y="0"/>
                  </a:moveTo>
                  <a:lnTo>
                    <a:pt x="255746" y="0"/>
                  </a:lnTo>
                </a:path>
              </a:pathLst>
            </a:custGeom>
            <a:noFill/>
            <a:ln w="8505">
              <a:solidFill>
                <a:srgbClr val="77828C"/>
              </a:solidFill>
              <a:prstDash val="solid"/>
            </a:ln>
          </p:spPr>
        </p:sp>
        <p:sp>
          <p:nvSpPr>
            <p:cNvPr id="1361" name="PTV3 forward refined 4 head">
              <a:extLst>
                <a:ext uri="{FF2B5EF4-FFF2-40B4-BE49-F238E27FC236}">
                  <a16:creationId xmlns:a16="http://schemas.microsoft.com/office/drawing/2014/main" id="{FD8C8FBD-CDE0-78DB-0EB7-7D065E078D98}"/>
                </a:ext>
              </a:extLst>
            </p:cNvPr>
            <p:cNvSpPr>
              <a:spLocks noGrp="1"/>
            </p:cNvSpPr>
            <p:nvPr/>
          </p:nvSpPr>
          <p:spPr>
            <a:xfrm>
              <a:off x="8711259" y="3078099"/>
              <a:ext cx="66675" cy="57340"/>
            </a:xfrm>
            <a:custGeom>
              <a:avLst/>
              <a:gdLst/>
              <a:ahLst/>
              <a:cxnLst/>
              <a:rect l="0" t="0" r="0" b="0"/>
              <a:pathLst>
                <a:path w="66675" h="57340">
                  <a:moveTo>
                    <a:pt x="66675" y="28670"/>
                  </a:moveTo>
                  <a:lnTo>
                    <a:pt x="0" y="0"/>
                  </a:lnTo>
                  <a:lnTo>
                    <a:pt x="0" y="57340"/>
                  </a:lnTo>
                  <a:close/>
                </a:path>
              </a:pathLst>
            </a:custGeom>
            <a:solidFill>
              <a:srgbClr val="77828C"/>
            </a:solidFill>
            <a:ln w="0">
              <a:noFill/>
              <a:prstDash val="solid"/>
            </a:ln>
          </p:spPr>
        </p:sp>
        <p:sp>
          <p:nvSpPr>
            <p:cNvPr id="1362" name="Fusion refined 487.16">
              <a:extLst>
                <a:ext uri="{FF2B5EF4-FFF2-40B4-BE49-F238E27FC236}">
                  <a16:creationId xmlns:a16="http://schemas.microsoft.com/office/drawing/2014/main" id="{70DBAA85-F6EF-4A3B-34C3-CE706D0EB846}"/>
                </a:ext>
              </a:extLst>
            </p:cNvPr>
            <p:cNvSpPr>
              <a:spLocks noGrp="1"/>
            </p:cNvSpPr>
            <p:nvPr/>
          </p:nvSpPr>
          <p:spPr>
            <a:xfrm>
              <a:off x="5085187" y="2418493"/>
              <a:ext cx="191" cy="404527"/>
            </a:xfrm>
            <a:custGeom>
              <a:avLst/>
              <a:gdLst/>
              <a:ahLst/>
              <a:cxnLst/>
              <a:rect l="0" t="0" r="0" b="0"/>
              <a:pathLst>
                <a:path w="191" h="404527">
                  <a:moveTo>
                    <a:pt x="0" y="0"/>
                  </a:moveTo>
                  <a:lnTo>
                    <a:pt x="0" y="404527"/>
                  </a:lnTo>
                </a:path>
              </a:pathLst>
            </a:custGeom>
            <a:noFill/>
            <a:ln w="8505">
              <a:solidFill>
                <a:srgbClr val="77828C"/>
              </a:solidFill>
              <a:prstDash val="solid"/>
            </a:ln>
          </p:spPr>
        </p:sp>
        <p:sp>
          <p:nvSpPr>
            <p:cNvPr id="1363" name="Fusion refined 487.16 head">
              <a:extLst>
                <a:ext uri="{FF2B5EF4-FFF2-40B4-BE49-F238E27FC236}">
                  <a16:creationId xmlns:a16="http://schemas.microsoft.com/office/drawing/2014/main" id="{55831F3B-A155-236B-11B4-952A0FDC60D9}"/>
                </a:ext>
              </a:extLst>
            </p:cNvPr>
            <p:cNvSpPr>
              <a:spLocks noGrp="1"/>
            </p:cNvSpPr>
            <p:nvPr/>
          </p:nvSpPr>
          <p:spPr>
            <a:xfrm>
              <a:off x="5056517" y="2779681"/>
              <a:ext cx="57340" cy="66675"/>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364" name="Fusion refined 700.05">
              <a:extLst>
                <a:ext uri="{FF2B5EF4-FFF2-40B4-BE49-F238E27FC236}">
                  <a16:creationId xmlns:a16="http://schemas.microsoft.com/office/drawing/2014/main" id="{FEE554AB-B64E-668E-5B85-951AD5BC92E6}"/>
                </a:ext>
              </a:extLst>
            </p:cNvPr>
            <p:cNvSpPr>
              <a:spLocks noGrp="1"/>
            </p:cNvSpPr>
            <p:nvPr/>
          </p:nvSpPr>
          <p:spPr>
            <a:xfrm>
              <a:off x="7112964" y="2418493"/>
              <a:ext cx="191" cy="404527"/>
            </a:xfrm>
            <a:custGeom>
              <a:avLst/>
              <a:gdLst/>
              <a:ahLst/>
              <a:cxnLst/>
              <a:rect l="0" t="0" r="0" b="0"/>
              <a:pathLst>
                <a:path w="191" h="404527">
                  <a:moveTo>
                    <a:pt x="0" y="0"/>
                  </a:moveTo>
                  <a:lnTo>
                    <a:pt x="0" y="404527"/>
                  </a:lnTo>
                </a:path>
              </a:pathLst>
            </a:custGeom>
            <a:noFill/>
            <a:ln w="8505">
              <a:solidFill>
                <a:srgbClr val="77828C"/>
              </a:solidFill>
              <a:prstDash val="solid"/>
            </a:ln>
          </p:spPr>
        </p:sp>
        <p:sp>
          <p:nvSpPr>
            <p:cNvPr id="1365" name="Fusion refined 700.05 head">
              <a:extLst>
                <a:ext uri="{FF2B5EF4-FFF2-40B4-BE49-F238E27FC236}">
                  <a16:creationId xmlns:a16="http://schemas.microsoft.com/office/drawing/2014/main" id="{68E46EB1-393B-9774-B8F0-1BCE296EB4CE}"/>
                </a:ext>
              </a:extLst>
            </p:cNvPr>
            <p:cNvSpPr>
              <a:spLocks noGrp="1"/>
            </p:cNvSpPr>
            <p:nvPr/>
          </p:nvSpPr>
          <p:spPr>
            <a:xfrm>
              <a:off x="7084294" y="2779681"/>
              <a:ext cx="57340" cy="66675"/>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366" name="Fusion refined 912.94">
              <a:extLst>
                <a:ext uri="{FF2B5EF4-FFF2-40B4-BE49-F238E27FC236}">
                  <a16:creationId xmlns:a16="http://schemas.microsoft.com/office/drawing/2014/main" id="{BA26E747-F34E-044A-66A2-17E12033CF99}"/>
                </a:ext>
              </a:extLst>
            </p:cNvPr>
            <p:cNvSpPr>
              <a:spLocks noGrp="1"/>
            </p:cNvSpPr>
            <p:nvPr/>
          </p:nvSpPr>
          <p:spPr>
            <a:xfrm>
              <a:off x="9140742" y="2418493"/>
              <a:ext cx="191" cy="404527"/>
            </a:xfrm>
            <a:custGeom>
              <a:avLst/>
              <a:gdLst/>
              <a:ahLst/>
              <a:cxnLst/>
              <a:rect l="0" t="0" r="0" b="0"/>
              <a:pathLst>
                <a:path w="191" h="404527">
                  <a:moveTo>
                    <a:pt x="0" y="0"/>
                  </a:moveTo>
                  <a:lnTo>
                    <a:pt x="0" y="404527"/>
                  </a:lnTo>
                </a:path>
              </a:pathLst>
            </a:custGeom>
            <a:noFill/>
            <a:ln w="8505">
              <a:solidFill>
                <a:srgbClr val="77828C"/>
              </a:solidFill>
              <a:prstDash val="solid"/>
            </a:ln>
          </p:spPr>
        </p:sp>
        <p:sp>
          <p:nvSpPr>
            <p:cNvPr id="1367" name="Fusion refined 912.94 head">
              <a:extLst>
                <a:ext uri="{FF2B5EF4-FFF2-40B4-BE49-F238E27FC236}">
                  <a16:creationId xmlns:a16="http://schemas.microsoft.com/office/drawing/2014/main" id="{EE08B38D-6E61-4AF9-9633-6EECD0A57D4F}"/>
                </a:ext>
              </a:extLst>
            </p:cNvPr>
            <p:cNvSpPr>
              <a:spLocks noGrp="1"/>
            </p:cNvSpPr>
            <p:nvPr/>
          </p:nvSpPr>
          <p:spPr>
            <a:xfrm>
              <a:off x="9112071" y="2779681"/>
              <a:ext cx="57340" cy="66675"/>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368" name="Recycle right refined">
              <a:extLst>
                <a:ext uri="{FF2B5EF4-FFF2-40B4-BE49-F238E27FC236}">
                  <a16:creationId xmlns:a16="http://schemas.microsoft.com/office/drawing/2014/main" id="{218BDA07-8793-A80F-A536-6C3DDFE46280}"/>
                </a:ext>
              </a:extLst>
            </p:cNvPr>
            <p:cNvSpPr>
              <a:spLocks noGrp="1"/>
            </p:cNvSpPr>
            <p:nvPr/>
          </p:nvSpPr>
          <p:spPr>
            <a:xfrm>
              <a:off x="7596644" y="3385852"/>
              <a:ext cx="1544098" cy="241840"/>
            </a:xfrm>
            <a:custGeom>
              <a:avLst/>
              <a:gdLst/>
              <a:ahLst/>
              <a:cxnLst/>
              <a:rect l="0" t="0" r="0" b="0"/>
              <a:pathLst>
                <a:path w="1544098" h="241840">
                  <a:moveTo>
                    <a:pt x="1544098" y="0"/>
                  </a:moveTo>
                  <a:lnTo>
                    <a:pt x="1544098" y="241840"/>
                  </a:lnTo>
                  <a:lnTo>
                    <a:pt x="0" y="241840"/>
                  </a:lnTo>
                </a:path>
              </a:pathLst>
            </a:custGeom>
            <a:noFill/>
            <a:ln w="8505">
              <a:solidFill>
                <a:srgbClr val="77828C"/>
              </a:solidFill>
              <a:prstDash val="solid"/>
            </a:ln>
          </p:spPr>
        </p:sp>
        <p:sp>
          <p:nvSpPr>
            <p:cNvPr id="1369" name="Recycle left refined">
              <a:extLst>
                <a:ext uri="{FF2B5EF4-FFF2-40B4-BE49-F238E27FC236}">
                  <a16:creationId xmlns:a16="http://schemas.microsoft.com/office/drawing/2014/main" id="{9B2BDFD1-DD71-015E-E090-3F67197C231D}"/>
                </a:ext>
              </a:extLst>
            </p:cNvPr>
            <p:cNvSpPr>
              <a:spLocks noGrp="1"/>
            </p:cNvSpPr>
            <p:nvPr/>
          </p:nvSpPr>
          <p:spPr>
            <a:xfrm>
              <a:off x="5085187" y="3409188"/>
              <a:ext cx="1544098" cy="218503"/>
            </a:xfrm>
            <a:custGeom>
              <a:avLst/>
              <a:gdLst/>
              <a:ahLst/>
              <a:cxnLst/>
              <a:rect l="0" t="0" r="0" b="0"/>
              <a:pathLst>
                <a:path w="1544098" h="218503">
                  <a:moveTo>
                    <a:pt x="1544098" y="218503"/>
                  </a:moveTo>
                  <a:lnTo>
                    <a:pt x="0" y="218503"/>
                  </a:lnTo>
                  <a:lnTo>
                    <a:pt x="0" y="0"/>
                  </a:lnTo>
                </a:path>
              </a:pathLst>
            </a:custGeom>
            <a:noFill/>
            <a:ln w="8505">
              <a:solidFill>
                <a:srgbClr val="77828C"/>
              </a:solidFill>
              <a:prstDash val="solid"/>
            </a:ln>
          </p:spPr>
        </p:sp>
        <p:sp>
          <p:nvSpPr>
            <p:cNvPr id="1370" name="Recycle left refined head">
              <a:extLst>
                <a:ext uri="{FF2B5EF4-FFF2-40B4-BE49-F238E27FC236}">
                  <a16:creationId xmlns:a16="http://schemas.microsoft.com/office/drawing/2014/main" id="{08EDC00E-1BA8-0DED-02A1-8F844BB42405}"/>
                </a:ext>
              </a:extLst>
            </p:cNvPr>
            <p:cNvSpPr>
              <a:spLocks noGrp="1"/>
            </p:cNvSpPr>
            <p:nvPr/>
          </p:nvSpPr>
          <p:spPr>
            <a:xfrm>
              <a:off x="5056517" y="3385852"/>
              <a:ext cx="57340" cy="66675"/>
            </a:xfrm>
            <a:custGeom>
              <a:avLst/>
              <a:gdLst/>
              <a:ahLst/>
              <a:cxnLst/>
              <a:rect l="0" t="0" r="0" b="0"/>
              <a:pathLst>
                <a:path w="57340" h="66675">
                  <a:moveTo>
                    <a:pt x="28670" y="0"/>
                  </a:moveTo>
                  <a:lnTo>
                    <a:pt x="0" y="66675"/>
                  </a:lnTo>
                  <a:lnTo>
                    <a:pt x="57340" y="66675"/>
                  </a:lnTo>
                  <a:close/>
                </a:path>
              </a:pathLst>
            </a:custGeom>
            <a:solidFill>
              <a:srgbClr val="77828C"/>
            </a:solidFill>
            <a:ln w="0">
              <a:noFill/>
              <a:prstDash val="solid"/>
            </a:ln>
          </p:spPr>
        </p:sp>
        <p:sp>
          <p:nvSpPr>
            <p:cNvPr id="1371" name="Crop to summary refined">
              <a:extLst>
                <a:ext uri="{FF2B5EF4-FFF2-40B4-BE49-F238E27FC236}">
                  <a16:creationId xmlns:a16="http://schemas.microsoft.com/office/drawing/2014/main" id="{DA4F0EEB-BAE6-257E-5D26-BD1FC6E1B7DD}"/>
                </a:ext>
              </a:extLst>
            </p:cNvPr>
            <p:cNvSpPr>
              <a:spLocks noGrp="1"/>
            </p:cNvSpPr>
            <p:nvPr/>
          </p:nvSpPr>
          <p:spPr>
            <a:xfrm flipV="1">
              <a:off x="3571124" y="5920900"/>
              <a:ext cx="1306769" cy="143591"/>
            </a:xfrm>
            <a:custGeom>
              <a:avLst/>
              <a:gdLst/>
              <a:ahLst/>
              <a:cxnLst/>
              <a:rect l="0" t="0" r="0" b="0"/>
              <a:pathLst>
                <a:path w="1148715" h="191">
                  <a:moveTo>
                    <a:pt x="0" y="0"/>
                  </a:moveTo>
                  <a:lnTo>
                    <a:pt x="1148715" y="0"/>
                  </a:lnTo>
                </a:path>
              </a:pathLst>
            </a:custGeom>
            <a:noFill/>
            <a:ln w="8505">
              <a:solidFill>
                <a:srgbClr val="77828C"/>
              </a:solidFill>
              <a:prstDash val="solid"/>
            </a:ln>
          </p:spPr>
        </p:sp>
        <p:sp>
          <p:nvSpPr>
            <p:cNvPr id="1372" name="Crop to summary refined head">
              <a:extLst>
                <a:ext uri="{FF2B5EF4-FFF2-40B4-BE49-F238E27FC236}">
                  <a16:creationId xmlns:a16="http://schemas.microsoft.com/office/drawing/2014/main" id="{49AEFC15-6663-F250-8BB8-BAFCA78312D6}"/>
                </a:ext>
              </a:extLst>
            </p:cNvPr>
            <p:cNvSpPr>
              <a:spLocks noGrp="1"/>
            </p:cNvSpPr>
            <p:nvPr/>
          </p:nvSpPr>
          <p:spPr>
            <a:xfrm>
              <a:off x="4832301" y="6036088"/>
              <a:ext cx="66676" cy="57339"/>
            </a:xfrm>
            <a:custGeom>
              <a:avLst/>
              <a:gdLst/>
              <a:ahLst/>
              <a:cxnLst/>
              <a:rect l="0" t="0" r="0" b="0"/>
              <a:pathLst>
                <a:path w="66675" h="57340">
                  <a:moveTo>
                    <a:pt x="66675" y="28670"/>
                  </a:moveTo>
                  <a:lnTo>
                    <a:pt x="0" y="0"/>
                  </a:lnTo>
                  <a:lnTo>
                    <a:pt x="0" y="57340"/>
                  </a:lnTo>
                  <a:close/>
                </a:path>
              </a:pathLst>
            </a:custGeom>
            <a:solidFill>
              <a:srgbClr val="77828C"/>
            </a:solidFill>
            <a:ln w="0">
              <a:noFill/>
              <a:prstDash val="solid"/>
            </a:ln>
          </p:spPr>
        </p:sp>
        <p:sp>
          <p:nvSpPr>
            <p:cNvPr id="1373" name="Input split refined">
              <a:extLst>
                <a:ext uri="{FF2B5EF4-FFF2-40B4-BE49-F238E27FC236}">
                  <a16:creationId xmlns:a16="http://schemas.microsoft.com/office/drawing/2014/main" id="{30025E66-4059-5A39-3666-474B19B13010}"/>
                </a:ext>
              </a:extLst>
            </p:cNvPr>
            <p:cNvSpPr>
              <a:spLocks noGrp="1"/>
            </p:cNvSpPr>
            <p:nvPr/>
          </p:nvSpPr>
          <p:spPr>
            <a:xfrm>
              <a:off x="2152323" y="7793354"/>
              <a:ext cx="846770" cy="160020"/>
            </a:xfrm>
            <a:custGeom>
              <a:avLst/>
              <a:gdLst/>
              <a:ahLst/>
              <a:cxnLst/>
              <a:rect l="0" t="0" r="0" b="0"/>
              <a:pathLst>
                <a:path w="846772" h="160020">
                  <a:moveTo>
                    <a:pt x="846772" y="0"/>
                  </a:moveTo>
                  <a:lnTo>
                    <a:pt x="846772" y="160020"/>
                  </a:lnTo>
                  <a:lnTo>
                    <a:pt x="0" y="160020"/>
                  </a:lnTo>
                </a:path>
              </a:pathLst>
            </a:custGeom>
            <a:noFill/>
            <a:ln w="8505">
              <a:solidFill>
                <a:srgbClr val="77828C"/>
              </a:solidFill>
              <a:prstDash val="solid"/>
            </a:ln>
          </p:spPr>
        </p:sp>
        <p:sp>
          <p:nvSpPr>
            <p:cNvPr id="1374" name="Input split right refined">
              <a:extLst>
                <a:ext uri="{FF2B5EF4-FFF2-40B4-BE49-F238E27FC236}">
                  <a16:creationId xmlns:a16="http://schemas.microsoft.com/office/drawing/2014/main" id="{0783D12D-81CC-B5BB-51AB-102C836D6FA0}"/>
                </a:ext>
              </a:extLst>
            </p:cNvPr>
            <p:cNvSpPr>
              <a:spLocks noGrp="1"/>
            </p:cNvSpPr>
            <p:nvPr/>
          </p:nvSpPr>
          <p:spPr>
            <a:xfrm>
              <a:off x="2999100" y="7953375"/>
              <a:ext cx="827723" cy="190"/>
            </a:xfrm>
            <a:custGeom>
              <a:avLst/>
              <a:gdLst/>
              <a:ahLst/>
              <a:cxnLst/>
              <a:rect l="0" t="0" r="0" b="0"/>
              <a:pathLst>
                <a:path w="827723" h="191">
                  <a:moveTo>
                    <a:pt x="0" y="0"/>
                  </a:moveTo>
                  <a:lnTo>
                    <a:pt x="827723" y="0"/>
                  </a:lnTo>
                </a:path>
              </a:pathLst>
            </a:custGeom>
            <a:noFill/>
            <a:ln w="8505">
              <a:solidFill>
                <a:srgbClr val="77828C"/>
              </a:solidFill>
              <a:prstDash val="solid"/>
            </a:ln>
          </p:spPr>
        </p:sp>
        <p:sp>
          <p:nvSpPr>
            <p:cNvPr id="1375" name="Inputs to pool refined">
              <a:extLst>
                <a:ext uri="{FF2B5EF4-FFF2-40B4-BE49-F238E27FC236}">
                  <a16:creationId xmlns:a16="http://schemas.microsoft.com/office/drawing/2014/main" id="{2D1656C8-0BA3-A4F1-C9D5-C91CD4487DCA}"/>
                </a:ext>
              </a:extLst>
            </p:cNvPr>
            <p:cNvSpPr>
              <a:spLocks noGrp="1"/>
            </p:cNvSpPr>
            <p:nvPr/>
          </p:nvSpPr>
          <p:spPr>
            <a:xfrm>
              <a:off x="2159804" y="7953375"/>
              <a:ext cx="190" cy="143732"/>
            </a:xfrm>
            <a:custGeom>
              <a:avLst/>
              <a:gdLst/>
              <a:ahLst/>
              <a:cxnLst/>
              <a:rect l="0" t="0" r="0" b="0"/>
              <a:pathLst>
                <a:path w="191" h="143732">
                  <a:moveTo>
                    <a:pt x="0" y="0"/>
                  </a:moveTo>
                  <a:lnTo>
                    <a:pt x="0" y="143732"/>
                  </a:lnTo>
                </a:path>
              </a:pathLst>
            </a:custGeom>
            <a:noFill/>
            <a:ln w="8505">
              <a:solidFill>
                <a:srgbClr val="77828C"/>
              </a:solidFill>
              <a:prstDash val="solid"/>
            </a:ln>
          </p:spPr>
        </p:sp>
        <p:sp>
          <p:nvSpPr>
            <p:cNvPr id="1376" name="Inputs to pool refined head">
              <a:extLst>
                <a:ext uri="{FF2B5EF4-FFF2-40B4-BE49-F238E27FC236}">
                  <a16:creationId xmlns:a16="http://schemas.microsoft.com/office/drawing/2014/main" id="{9D9BCB70-DE13-862B-8F74-33721AE65E02}"/>
                </a:ext>
              </a:extLst>
            </p:cNvPr>
            <p:cNvSpPr>
              <a:spLocks noGrp="1"/>
            </p:cNvSpPr>
            <p:nvPr/>
          </p:nvSpPr>
          <p:spPr>
            <a:xfrm>
              <a:off x="2131133" y="8053769"/>
              <a:ext cx="57339" cy="66676"/>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377" name="Inputs to attention refined">
              <a:extLst>
                <a:ext uri="{FF2B5EF4-FFF2-40B4-BE49-F238E27FC236}">
                  <a16:creationId xmlns:a16="http://schemas.microsoft.com/office/drawing/2014/main" id="{787B0F94-F912-04E5-D54A-CE0782D5E680}"/>
                </a:ext>
              </a:extLst>
            </p:cNvPr>
            <p:cNvSpPr>
              <a:spLocks noGrp="1"/>
            </p:cNvSpPr>
            <p:nvPr/>
          </p:nvSpPr>
          <p:spPr>
            <a:xfrm>
              <a:off x="3825152" y="7950242"/>
              <a:ext cx="190" cy="143732"/>
            </a:xfrm>
            <a:custGeom>
              <a:avLst/>
              <a:gdLst/>
              <a:ahLst/>
              <a:cxnLst/>
              <a:rect l="0" t="0" r="0" b="0"/>
              <a:pathLst>
                <a:path w="191" h="143732">
                  <a:moveTo>
                    <a:pt x="0" y="0"/>
                  </a:moveTo>
                  <a:lnTo>
                    <a:pt x="0" y="143732"/>
                  </a:lnTo>
                </a:path>
              </a:pathLst>
            </a:custGeom>
            <a:noFill/>
            <a:ln w="8505">
              <a:solidFill>
                <a:srgbClr val="77828C"/>
              </a:solidFill>
              <a:prstDash val="solid"/>
            </a:ln>
          </p:spPr>
        </p:sp>
        <p:sp>
          <p:nvSpPr>
            <p:cNvPr id="1378" name="Inputs to attention refined head">
              <a:extLst>
                <a:ext uri="{FF2B5EF4-FFF2-40B4-BE49-F238E27FC236}">
                  <a16:creationId xmlns:a16="http://schemas.microsoft.com/office/drawing/2014/main" id="{B0EF2E66-F693-9319-B432-C2CA32631F90}"/>
                </a:ext>
              </a:extLst>
            </p:cNvPr>
            <p:cNvSpPr>
              <a:spLocks noGrp="1"/>
            </p:cNvSpPr>
            <p:nvPr/>
          </p:nvSpPr>
          <p:spPr>
            <a:xfrm>
              <a:off x="3793990" y="8050639"/>
              <a:ext cx="57339" cy="66676"/>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383" name="MLP to FiLM refined">
              <a:extLst>
                <a:ext uri="{FF2B5EF4-FFF2-40B4-BE49-F238E27FC236}">
                  <a16:creationId xmlns:a16="http://schemas.microsoft.com/office/drawing/2014/main" id="{0A2FE7F1-B345-C943-517C-22FD55642EA2}"/>
                </a:ext>
              </a:extLst>
            </p:cNvPr>
            <p:cNvSpPr>
              <a:spLocks noGrp="1"/>
            </p:cNvSpPr>
            <p:nvPr/>
          </p:nvSpPr>
          <p:spPr>
            <a:xfrm>
              <a:off x="3409393" y="8968263"/>
              <a:ext cx="1502569" cy="190"/>
            </a:xfrm>
            <a:custGeom>
              <a:avLst/>
              <a:gdLst/>
              <a:ahLst/>
              <a:cxnLst/>
              <a:rect l="0" t="0" r="0" b="0"/>
              <a:pathLst>
                <a:path w="1502569" h="191">
                  <a:moveTo>
                    <a:pt x="0" y="0"/>
                  </a:moveTo>
                  <a:lnTo>
                    <a:pt x="1502569" y="0"/>
                  </a:lnTo>
                </a:path>
              </a:pathLst>
            </a:custGeom>
            <a:noFill/>
            <a:ln w="8505">
              <a:solidFill>
                <a:srgbClr val="77828C"/>
              </a:solidFill>
              <a:prstDash val="solid"/>
            </a:ln>
          </p:spPr>
        </p:sp>
        <p:sp>
          <p:nvSpPr>
            <p:cNvPr id="1384" name="MLP to FiLM refined head">
              <a:extLst>
                <a:ext uri="{FF2B5EF4-FFF2-40B4-BE49-F238E27FC236}">
                  <a16:creationId xmlns:a16="http://schemas.microsoft.com/office/drawing/2014/main" id="{37EDC431-EBF7-9312-431D-A2957061758A}"/>
                </a:ext>
              </a:extLst>
            </p:cNvPr>
            <p:cNvSpPr>
              <a:spLocks noGrp="1"/>
            </p:cNvSpPr>
            <p:nvPr/>
          </p:nvSpPr>
          <p:spPr>
            <a:xfrm>
              <a:off x="4868623" y="8939595"/>
              <a:ext cx="66676" cy="57339"/>
            </a:xfrm>
            <a:custGeom>
              <a:avLst/>
              <a:gdLst/>
              <a:ahLst/>
              <a:cxnLst/>
              <a:rect l="0" t="0" r="0" b="0"/>
              <a:pathLst>
                <a:path w="66675" h="57340">
                  <a:moveTo>
                    <a:pt x="66675" y="28670"/>
                  </a:moveTo>
                  <a:lnTo>
                    <a:pt x="0" y="0"/>
                  </a:lnTo>
                  <a:lnTo>
                    <a:pt x="0" y="57340"/>
                  </a:lnTo>
                  <a:close/>
                </a:path>
              </a:pathLst>
            </a:custGeom>
            <a:solidFill>
              <a:srgbClr val="77828C"/>
            </a:solidFill>
            <a:ln w="0">
              <a:noFill/>
              <a:prstDash val="solid"/>
            </a:ln>
          </p:spPr>
        </p:sp>
        <p:sp>
          <p:nvSpPr>
            <p:cNvPr id="1385" name="Summary to FiLM refined">
              <a:extLst>
                <a:ext uri="{FF2B5EF4-FFF2-40B4-BE49-F238E27FC236}">
                  <a16:creationId xmlns:a16="http://schemas.microsoft.com/office/drawing/2014/main" id="{5630A748-7842-E0ED-86A5-41E5E86BAA01}"/>
                </a:ext>
              </a:extLst>
            </p:cNvPr>
            <p:cNvSpPr>
              <a:spLocks noGrp="1"/>
            </p:cNvSpPr>
            <p:nvPr/>
          </p:nvSpPr>
          <p:spPr>
            <a:xfrm>
              <a:off x="5261889" y="6405028"/>
              <a:ext cx="190" cy="2367440"/>
            </a:xfrm>
            <a:custGeom>
              <a:avLst/>
              <a:gdLst/>
              <a:ahLst/>
              <a:cxnLst/>
              <a:rect l="0" t="0" r="0" b="0"/>
              <a:pathLst>
                <a:path w="191" h="2367439">
                  <a:moveTo>
                    <a:pt x="0" y="0"/>
                  </a:moveTo>
                  <a:lnTo>
                    <a:pt x="0" y="2367439"/>
                  </a:lnTo>
                </a:path>
              </a:pathLst>
            </a:custGeom>
            <a:noFill/>
            <a:ln w="8505">
              <a:solidFill>
                <a:srgbClr val="77828C"/>
              </a:solidFill>
              <a:prstDash val="solid"/>
            </a:ln>
          </p:spPr>
        </p:sp>
        <p:sp>
          <p:nvSpPr>
            <p:cNvPr id="1386" name="Summary to FiLM refined head">
              <a:extLst>
                <a:ext uri="{FF2B5EF4-FFF2-40B4-BE49-F238E27FC236}">
                  <a16:creationId xmlns:a16="http://schemas.microsoft.com/office/drawing/2014/main" id="{BB00AF64-5B2A-D365-CC0D-380632FE4EA4}"/>
                </a:ext>
              </a:extLst>
            </p:cNvPr>
            <p:cNvSpPr>
              <a:spLocks noGrp="1"/>
            </p:cNvSpPr>
            <p:nvPr/>
          </p:nvSpPr>
          <p:spPr>
            <a:xfrm>
              <a:off x="5234867" y="8724900"/>
              <a:ext cx="57339" cy="66676"/>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387" name="Summary to cross attention refined">
              <a:extLst>
                <a:ext uri="{FF2B5EF4-FFF2-40B4-BE49-F238E27FC236}">
                  <a16:creationId xmlns:a16="http://schemas.microsoft.com/office/drawing/2014/main" id="{677B3C70-08EB-021D-9103-DEEDBC7D40AE}"/>
                </a:ext>
              </a:extLst>
            </p:cNvPr>
            <p:cNvSpPr>
              <a:spLocks noGrp="1"/>
            </p:cNvSpPr>
            <p:nvPr/>
          </p:nvSpPr>
          <p:spPr>
            <a:xfrm>
              <a:off x="4659180" y="8299325"/>
              <a:ext cx="604619" cy="107521"/>
            </a:xfrm>
            <a:custGeom>
              <a:avLst/>
              <a:gdLst/>
              <a:ahLst/>
              <a:cxnLst/>
              <a:rect l="0" t="0" r="0" b="0"/>
              <a:pathLst>
                <a:path w="664845" h="191">
                  <a:moveTo>
                    <a:pt x="664845" y="0"/>
                  </a:moveTo>
                  <a:lnTo>
                    <a:pt x="0" y="0"/>
                  </a:lnTo>
                </a:path>
              </a:pathLst>
            </a:custGeom>
            <a:noFill/>
            <a:ln w="8505">
              <a:solidFill>
                <a:srgbClr val="77828C"/>
              </a:solidFill>
              <a:prstDash val="solid"/>
            </a:ln>
          </p:spPr>
        </p:sp>
        <p:sp>
          <p:nvSpPr>
            <p:cNvPr id="1388" name="Summary to cross attention refined head">
              <a:extLst>
                <a:ext uri="{FF2B5EF4-FFF2-40B4-BE49-F238E27FC236}">
                  <a16:creationId xmlns:a16="http://schemas.microsoft.com/office/drawing/2014/main" id="{8CCE3A78-2963-7CB2-D865-C436CCBD33FA}"/>
                </a:ext>
              </a:extLst>
            </p:cNvPr>
            <p:cNvSpPr>
              <a:spLocks noGrp="1"/>
            </p:cNvSpPr>
            <p:nvPr/>
          </p:nvSpPr>
          <p:spPr>
            <a:xfrm>
              <a:off x="4592349" y="8268463"/>
              <a:ext cx="66676" cy="57339"/>
            </a:xfrm>
            <a:custGeom>
              <a:avLst/>
              <a:gdLst/>
              <a:ahLst/>
              <a:cxnLst/>
              <a:rect l="0" t="0" r="0" b="0"/>
              <a:pathLst>
                <a:path w="66675" h="57340">
                  <a:moveTo>
                    <a:pt x="0" y="28670"/>
                  </a:moveTo>
                  <a:lnTo>
                    <a:pt x="66675" y="57340"/>
                  </a:lnTo>
                  <a:lnTo>
                    <a:pt x="66675" y="0"/>
                  </a:lnTo>
                  <a:close/>
                </a:path>
              </a:pathLst>
            </a:custGeom>
            <a:solidFill>
              <a:srgbClr val="77828C"/>
            </a:solidFill>
            <a:ln w="0">
              <a:noFill/>
              <a:prstDash val="solid"/>
            </a:ln>
          </p:spPr>
        </p:sp>
        <p:sp>
          <p:nvSpPr>
            <p:cNvPr id="1389" name="FiLM to candidate refined">
              <a:extLst>
                <a:ext uri="{FF2B5EF4-FFF2-40B4-BE49-F238E27FC236}">
                  <a16:creationId xmlns:a16="http://schemas.microsoft.com/office/drawing/2014/main" id="{408BA2C5-D79D-A02D-1F20-3FD8F9F5C1BB}"/>
                </a:ext>
              </a:extLst>
            </p:cNvPr>
            <p:cNvSpPr>
              <a:spLocks noGrp="1"/>
            </p:cNvSpPr>
            <p:nvPr/>
          </p:nvSpPr>
          <p:spPr>
            <a:xfrm>
              <a:off x="5260059" y="9144953"/>
              <a:ext cx="190" cy="215360"/>
            </a:xfrm>
            <a:custGeom>
              <a:avLst/>
              <a:gdLst/>
              <a:ahLst/>
              <a:cxnLst/>
              <a:rect l="0" t="0" r="0" b="0"/>
              <a:pathLst>
                <a:path w="191" h="215360">
                  <a:moveTo>
                    <a:pt x="0" y="0"/>
                  </a:moveTo>
                  <a:lnTo>
                    <a:pt x="0" y="215360"/>
                  </a:lnTo>
                </a:path>
              </a:pathLst>
            </a:custGeom>
            <a:noFill/>
            <a:ln w="8505">
              <a:solidFill>
                <a:srgbClr val="77828C"/>
              </a:solidFill>
              <a:prstDash val="solid"/>
            </a:ln>
          </p:spPr>
        </p:sp>
        <p:sp>
          <p:nvSpPr>
            <p:cNvPr id="1390" name="FiLM to candidate refined head">
              <a:extLst>
                <a:ext uri="{FF2B5EF4-FFF2-40B4-BE49-F238E27FC236}">
                  <a16:creationId xmlns:a16="http://schemas.microsoft.com/office/drawing/2014/main" id="{75828D8D-FCD4-CBE1-0099-78E2B703FEF0}"/>
                </a:ext>
              </a:extLst>
            </p:cNvPr>
            <p:cNvSpPr>
              <a:spLocks noGrp="1"/>
            </p:cNvSpPr>
            <p:nvPr/>
          </p:nvSpPr>
          <p:spPr>
            <a:xfrm>
              <a:off x="5227656" y="9316975"/>
              <a:ext cx="57339" cy="66676"/>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391" name="Candidate to foreground refined">
              <a:extLst>
                <a:ext uri="{FF2B5EF4-FFF2-40B4-BE49-F238E27FC236}">
                  <a16:creationId xmlns:a16="http://schemas.microsoft.com/office/drawing/2014/main" id="{8CED8A68-866E-2E83-95B4-FFC5DD0FA085}"/>
                </a:ext>
              </a:extLst>
            </p:cNvPr>
            <p:cNvSpPr>
              <a:spLocks noGrp="1"/>
            </p:cNvSpPr>
            <p:nvPr/>
          </p:nvSpPr>
          <p:spPr>
            <a:xfrm>
              <a:off x="2390046" y="9532751"/>
              <a:ext cx="2867433" cy="278948"/>
            </a:xfrm>
            <a:custGeom>
              <a:avLst/>
              <a:gdLst/>
              <a:ahLst/>
              <a:cxnLst/>
              <a:rect l="0" t="0" r="0" b="0"/>
              <a:pathLst>
                <a:path w="2809018" h="286702">
                  <a:moveTo>
                    <a:pt x="2809018" y="0"/>
                  </a:moveTo>
                  <a:lnTo>
                    <a:pt x="2809018" y="95250"/>
                  </a:lnTo>
                  <a:lnTo>
                    <a:pt x="0" y="95250"/>
                  </a:lnTo>
                  <a:lnTo>
                    <a:pt x="0" y="286702"/>
                  </a:lnTo>
                </a:path>
              </a:pathLst>
            </a:custGeom>
            <a:noFill/>
            <a:ln w="8505">
              <a:solidFill>
                <a:srgbClr val="77828C"/>
              </a:solidFill>
              <a:prstDash val="solid"/>
            </a:ln>
          </p:spPr>
        </p:sp>
        <p:sp>
          <p:nvSpPr>
            <p:cNvPr id="1392" name="Candidate to foreground refined head">
              <a:extLst>
                <a:ext uri="{FF2B5EF4-FFF2-40B4-BE49-F238E27FC236}">
                  <a16:creationId xmlns:a16="http://schemas.microsoft.com/office/drawing/2014/main" id="{C18F2346-FD98-F51E-E383-6958B4C1D79C}"/>
                </a:ext>
              </a:extLst>
            </p:cNvPr>
            <p:cNvSpPr>
              <a:spLocks noGrp="1"/>
            </p:cNvSpPr>
            <p:nvPr/>
          </p:nvSpPr>
          <p:spPr>
            <a:xfrm>
              <a:off x="2361378" y="9768364"/>
              <a:ext cx="57340" cy="66675"/>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393" name="Foreground to probability refined">
              <a:extLst>
                <a:ext uri="{FF2B5EF4-FFF2-40B4-BE49-F238E27FC236}">
                  <a16:creationId xmlns:a16="http://schemas.microsoft.com/office/drawing/2014/main" id="{1DB9AA9A-0259-832B-F21F-6A8BCC392083}"/>
                </a:ext>
              </a:extLst>
            </p:cNvPr>
            <p:cNvSpPr>
              <a:spLocks noGrp="1"/>
            </p:cNvSpPr>
            <p:nvPr/>
          </p:nvSpPr>
          <p:spPr>
            <a:xfrm flipV="1">
              <a:off x="3273601" y="9904498"/>
              <a:ext cx="621737" cy="107521"/>
            </a:xfrm>
            <a:custGeom>
              <a:avLst/>
              <a:gdLst/>
              <a:ahLst/>
              <a:cxnLst/>
              <a:rect l="0" t="0" r="0" b="0"/>
              <a:pathLst>
                <a:path w="600742" h="191">
                  <a:moveTo>
                    <a:pt x="0" y="0"/>
                  </a:moveTo>
                  <a:lnTo>
                    <a:pt x="600742" y="0"/>
                  </a:lnTo>
                </a:path>
              </a:pathLst>
            </a:custGeom>
            <a:noFill/>
            <a:ln w="8505">
              <a:solidFill>
                <a:srgbClr val="77828C"/>
              </a:solidFill>
              <a:prstDash val="solid"/>
            </a:ln>
          </p:spPr>
        </p:sp>
        <p:sp>
          <p:nvSpPr>
            <p:cNvPr id="1394" name="Foreground to probability refined head">
              <a:extLst>
                <a:ext uri="{FF2B5EF4-FFF2-40B4-BE49-F238E27FC236}">
                  <a16:creationId xmlns:a16="http://schemas.microsoft.com/office/drawing/2014/main" id="{5A4A0A60-AC36-84DA-6FFD-F3F5FC40FA3B}"/>
                </a:ext>
              </a:extLst>
            </p:cNvPr>
            <p:cNvSpPr>
              <a:spLocks noGrp="1"/>
            </p:cNvSpPr>
            <p:nvPr/>
          </p:nvSpPr>
          <p:spPr>
            <a:xfrm>
              <a:off x="3856976" y="9982695"/>
              <a:ext cx="66676" cy="57339"/>
            </a:xfrm>
            <a:custGeom>
              <a:avLst/>
              <a:gdLst/>
              <a:ahLst/>
              <a:cxnLst/>
              <a:rect l="0" t="0" r="0" b="0"/>
              <a:pathLst>
                <a:path w="66675" h="57340">
                  <a:moveTo>
                    <a:pt x="66675" y="28670"/>
                  </a:moveTo>
                  <a:lnTo>
                    <a:pt x="0" y="0"/>
                  </a:lnTo>
                  <a:lnTo>
                    <a:pt x="0" y="57340"/>
                  </a:lnTo>
                  <a:close/>
                </a:path>
              </a:pathLst>
            </a:custGeom>
            <a:solidFill>
              <a:srgbClr val="77828C"/>
            </a:solidFill>
            <a:ln w="0">
              <a:noFill/>
              <a:prstDash val="solid"/>
            </a:ln>
          </p:spPr>
        </p:sp>
        <p:sp>
          <p:nvSpPr>
            <p:cNvPr id="1395" name="Candidate to cosine refined">
              <a:extLst>
                <a:ext uri="{FF2B5EF4-FFF2-40B4-BE49-F238E27FC236}">
                  <a16:creationId xmlns:a16="http://schemas.microsoft.com/office/drawing/2014/main" id="{A34FF022-E1C8-6472-A051-0F3E908ED901}"/>
                </a:ext>
              </a:extLst>
            </p:cNvPr>
            <p:cNvSpPr>
              <a:spLocks noGrp="1"/>
            </p:cNvSpPr>
            <p:nvPr/>
          </p:nvSpPr>
          <p:spPr>
            <a:xfrm>
              <a:off x="5257496" y="9528367"/>
              <a:ext cx="2419601" cy="443164"/>
            </a:xfrm>
            <a:custGeom>
              <a:avLst/>
              <a:gdLst/>
              <a:ahLst/>
              <a:cxnLst/>
              <a:rect l="0" t="0" r="0" b="0"/>
              <a:pathLst>
                <a:path w="2143887" h="446532">
                  <a:moveTo>
                    <a:pt x="0" y="0"/>
                  </a:moveTo>
                  <a:lnTo>
                    <a:pt x="0" y="446532"/>
                  </a:lnTo>
                  <a:lnTo>
                    <a:pt x="2143887" y="446532"/>
                  </a:lnTo>
                </a:path>
              </a:pathLst>
            </a:custGeom>
            <a:noFill/>
            <a:ln w="8505">
              <a:solidFill>
                <a:srgbClr val="77828C"/>
              </a:solidFill>
              <a:prstDash val="solid"/>
            </a:ln>
          </p:spPr>
        </p:sp>
        <p:sp>
          <p:nvSpPr>
            <p:cNvPr id="1396" name="Candidate to cosine refined head">
              <a:extLst>
                <a:ext uri="{FF2B5EF4-FFF2-40B4-BE49-F238E27FC236}">
                  <a16:creationId xmlns:a16="http://schemas.microsoft.com/office/drawing/2014/main" id="{4F723D41-6C43-304F-F502-4CE7339BC917}"/>
                </a:ext>
              </a:extLst>
            </p:cNvPr>
            <p:cNvSpPr>
              <a:spLocks noGrp="1"/>
            </p:cNvSpPr>
            <p:nvPr/>
          </p:nvSpPr>
          <p:spPr>
            <a:xfrm>
              <a:off x="7633759" y="9942862"/>
              <a:ext cx="66675" cy="57340"/>
            </a:xfrm>
            <a:custGeom>
              <a:avLst/>
              <a:gdLst/>
              <a:ahLst/>
              <a:cxnLst/>
              <a:rect l="0" t="0" r="0" b="0"/>
              <a:pathLst>
                <a:path w="66675" h="57340">
                  <a:moveTo>
                    <a:pt x="66675" y="28670"/>
                  </a:moveTo>
                  <a:lnTo>
                    <a:pt x="0" y="0"/>
                  </a:lnTo>
                  <a:lnTo>
                    <a:pt x="0" y="57340"/>
                  </a:lnTo>
                  <a:close/>
                </a:path>
              </a:pathLst>
            </a:custGeom>
            <a:solidFill>
              <a:srgbClr val="77828C"/>
            </a:solidFill>
            <a:ln w="0">
              <a:noFill/>
              <a:prstDash val="solid"/>
            </a:ln>
          </p:spPr>
        </p:sp>
        <p:sp>
          <p:nvSpPr>
            <p:cNvPr id="1397" name="Selected identity to graph refined">
              <a:extLst>
                <a:ext uri="{FF2B5EF4-FFF2-40B4-BE49-F238E27FC236}">
                  <a16:creationId xmlns:a16="http://schemas.microsoft.com/office/drawing/2014/main" id="{470CCF64-CB25-D8B5-DE1F-4A803D37356B}"/>
                </a:ext>
              </a:extLst>
            </p:cNvPr>
            <p:cNvSpPr>
              <a:spLocks noGrp="1"/>
            </p:cNvSpPr>
            <p:nvPr/>
          </p:nvSpPr>
          <p:spPr>
            <a:xfrm>
              <a:off x="7067879" y="6134481"/>
              <a:ext cx="651129" cy="595217"/>
            </a:xfrm>
            <a:custGeom>
              <a:avLst/>
              <a:gdLst/>
              <a:ahLst/>
              <a:cxnLst/>
              <a:rect l="0" t="0" r="0" b="0"/>
              <a:pathLst>
                <a:path w="651129" h="595217">
                  <a:moveTo>
                    <a:pt x="651129" y="0"/>
                  </a:moveTo>
                  <a:lnTo>
                    <a:pt x="0" y="0"/>
                  </a:lnTo>
                  <a:lnTo>
                    <a:pt x="0" y="595217"/>
                  </a:lnTo>
                </a:path>
              </a:pathLst>
            </a:custGeom>
            <a:noFill/>
            <a:ln w="8505">
              <a:solidFill>
                <a:srgbClr val="77828C"/>
              </a:solidFill>
              <a:prstDash val="solid"/>
            </a:ln>
          </p:spPr>
        </p:sp>
        <p:sp>
          <p:nvSpPr>
            <p:cNvPr id="1398" name="Selected identity to graph refined head">
              <a:extLst>
                <a:ext uri="{FF2B5EF4-FFF2-40B4-BE49-F238E27FC236}">
                  <a16:creationId xmlns:a16="http://schemas.microsoft.com/office/drawing/2014/main" id="{FBD254F6-DFD8-1355-9AE1-D743D4CA5972}"/>
                </a:ext>
              </a:extLst>
            </p:cNvPr>
            <p:cNvSpPr>
              <a:spLocks noGrp="1"/>
            </p:cNvSpPr>
            <p:nvPr/>
          </p:nvSpPr>
          <p:spPr>
            <a:xfrm>
              <a:off x="7039209" y="6686360"/>
              <a:ext cx="57340" cy="66675"/>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399" name="Graph to GNN refined">
              <a:extLst>
                <a:ext uri="{FF2B5EF4-FFF2-40B4-BE49-F238E27FC236}">
                  <a16:creationId xmlns:a16="http://schemas.microsoft.com/office/drawing/2014/main" id="{D2A5E4C9-B127-72D0-13C0-B178D10A9D46}"/>
                </a:ext>
              </a:extLst>
            </p:cNvPr>
            <p:cNvSpPr>
              <a:spLocks noGrp="1"/>
            </p:cNvSpPr>
            <p:nvPr/>
          </p:nvSpPr>
          <p:spPr>
            <a:xfrm>
              <a:off x="7067879" y="7441406"/>
              <a:ext cx="191" cy="153448"/>
            </a:xfrm>
            <a:custGeom>
              <a:avLst/>
              <a:gdLst/>
              <a:ahLst/>
              <a:cxnLst/>
              <a:rect l="0" t="0" r="0" b="0"/>
              <a:pathLst>
                <a:path w="191" h="153448">
                  <a:moveTo>
                    <a:pt x="0" y="0"/>
                  </a:moveTo>
                  <a:lnTo>
                    <a:pt x="0" y="153448"/>
                  </a:lnTo>
                </a:path>
              </a:pathLst>
            </a:custGeom>
            <a:noFill/>
            <a:ln w="8505">
              <a:solidFill>
                <a:srgbClr val="77828C"/>
              </a:solidFill>
              <a:prstDash val="solid"/>
            </a:ln>
          </p:spPr>
        </p:sp>
        <p:sp>
          <p:nvSpPr>
            <p:cNvPr id="1400" name="Graph to GNN refined head">
              <a:extLst>
                <a:ext uri="{FF2B5EF4-FFF2-40B4-BE49-F238E27FC236}">
                  <a16:creationId xmlns:a16="http://schemas.microsoft.com/office/drawing/2014/main" id="{A8C472CA-BC49-124B-7403-773C35E47E8B}"/>
                </a:ext>
              </a:extLst>
            </p:cNvPr>
            <p:cNvSpPr>
              <a:spLocks noGrp="1"/>
            </p:cNvSpPr>
            <p:nvPr/>
          </p:nvSpPr>
          <p:spPr>
            <a:xfrm>
              <a:off x="7039209" y="7551515"/>
              <a:ext cx="57340" cy="66675"/>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401" name="GNN to graph attention refined">
              <a:extLst>
                <a:ext uri="{FF2B5EF4-FFF2-40B4-BE49-F238E27FC236}">
                  <a16:creationId xmlns:a16="http://schemas.microsoft.com/office/drawing/2014/main" id="{1BF7DA47-398C-D887-DD3D-F3AA439887E2}"/>
                </a:ext>
              </a:extLst>
            </p:cNvPr>
            <p:cNvSpPr>
              <a:spLocks noGrp="1"/>
            </p:cNvSpPr>
            <p:nvPr/>
          </p:nvSpPr>
          <p:spPr>
            <a:xfrm>
              <a:off x="7067879" y="7934420"/>
              <a:ext cx="191" cy="274320"/>
            </a:xfrm>
            <a:custGeom>
              <a:avLst/>
              <a:gdLst/>
              <a:ahLst/>
              <a:cxnLst/>
              <a:rect l="0" t="0" r="0" b="0"/>
              <a:pathLst>
                <a:path w="191" h="274320">
                  <a:moveTo>
                    <a:pt x="0" y="0"/>
                  </a:moveTo>
                  <a:lnTo>
                    <a:pt x="0" y="274320"/>
                  </a:lnTo>
                </a:path>
              </a:pathLst>
            </a:custGeom>
            <a:noFill/>
            <a:ln w="8505">
              <a:solidFill>
                <a:srgbClr val="77828C"/>
              </a:solidFill>
              <a:prstDash val="solid"/>
            </a:ln>
          </p:spPr>
        </p:sp>
        <p:sp>
          <p:nvSpPr>
            <p:cNvPr id="1402" name="GNN to graph attention refined head">
              <a:extLst>
                <a:ext uri="{FF2B5EF4-FFF2-40B4-BE49-F238E27FC236}">
                  <a16:creationId xmlns:a16="http://schemas.microsoft.com/office/drawing/2014/main" id="{40B3B19D-4379-CD7D-034D-C323FE227130}"/>
                </a:ext>
              </a:extLst>
            </p:cNvPr>
            <p:cNvSpPr>
              <a:spLocks noGrp="1"/>
            </p:cNvSpPr>
            <p:nvPr/>
          </p:nvSpPr>
          <p:spPr>
            <a:xfrm>
              <a:off x="7039209" y="8165402"/>
              <a:ext cx="57340" cy="66675"/>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403" name="Identity to SMI-TED refined">
              <a:extLst>
                <a:ext uri="{FF2B5EF4-FFF2-40B4-BE49-F238E27FC236}">
                  <a16:creationId xmlns:a16="http://schemas.microsoft.com/office/drawing/2014/main" id="{0F559390-62E2-E621-2546-B40E3F5FFDDB}"/>
                </a:ext>
              </a:extLst>
            </p:cNvPr>
            <p:cNvSpPr>
              <a:spLocks noGrp="1"/>
            </p:cNvSpPr>
            <p:nvPr/>
          </p:nvSpPr>
          <p:spPr>
            <a:xfrm>
              <a:off x="8637980" y="6638068"/>
              <a:ext cx="191" cy="326993"/>
            </a:xfrm>
            <a:custGeom>
              <a:avLst/>
              <a:gdLst/>
              <a:ahLst/>
              <a:cxnLst/>
              <a:rect l="0" t="0" r="0" b="0"/>
              <a:pathLst>
                <a:path w="191" h="326993">
                  <a:moveTo>
                    <a:pt x="0" y="0"/>
                  </a:moveTo>
                  <a:lnTo>
                    <a:pt x="0" y="326993"/>
                  </a:lnTo>
                </a:path>
              </a:pathLst>
            </a:custGeom>
            <a:noFill/>
            <a:ln w="8505">
              <a:solidFill>
                <a:srgbClr val="77828C"/>
              </a:solidFill>
              <a:prstDash val="solid"/>
            </a:ln>
          </p:spPr>
        </p:sp>
        <p:sp>
          <p:nvSpPr>
            <p:cNvPr id="1404" name="Identity to SMI-TED refined head">
              <a:extLst>
                <a:ext uri="{FF2B5EF4-FFF2-40B4-BE49-F238E27FC236}">
                  <a16:creationId xmlns:a16="http://schemas.microsoft.com/office/drawing/2014/main" id="{99780122-71EF-3850-2098-1F401DE68540}"/>
                </a:ext>
              </a:extLst>
            </p:cNvPr>
            <p:cNvSpPr>
              <a:spLocks noGrp="1"/>
            </p:cNvSpPr>
            <p:nvPr/>
          </p:nvSpPr>
          <p:spPr>
            <a:xfrm>
              <a:off x="8609310" y="6921722"/>
              <a:ext cx="57340" cy="66675"/>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405" name="SMI-TED to language refined">
              <a:extLst>
                <a:ext uri="{FF2B5EF4-FFF2-40B4-BE49-F238E27FC236}">
                  <a16:creationId xmlns:a16="http://schemas.microsoft.com/office/drawing/2014/main" id="{486EB3FD-FB7D-8564-3A7C-18D757D5F92B}"/>
                </a:ext>
              </a:extLst>
            </p:cNvPr>
            <p:cNvSpPr>
              <a:spLocks noGrp="1"/>
            </p:cNvSpPr>
            <p:nvPr/>
          </p:nvSpPr>
          <p:spPr>
            <a:xfrm>
              <a:off x="8637980" y="7304627"/>
              <a:ext cx="191" cy="1013841"/>
            </a:xfrm>
            <a:custGeom>
              <a:avLst/>
              <a:gdLst/>
              <a:ahLst/>
              <a:cxnLst/>
              <a:rect l="0" t="0" r="0" b="0"/>
              <a:pathLst>
                <a:path w="191" h="1013841">
                  <a:moveTo>
                    <a:pt x="0" y="0"/>
                  </a:moveTo>
                  <a:lnTo>
                    <a:pt x="0" y="1013841"/>
                  </a:lnTo>
                </a:path>
              </a:pathLst>
            </a:custGeom>
            <a:noFill/>
            <a:ln w="8505">
              <a:solidFill>
                <a:srgbClr val="77828C"/>
              </a:solidFill>
              <a:prstDash val="solid"/>
            </a:ln>
          </p:spPr>
        </p:sp>
        <p:sp>
          <p:nvSpPr>
            <p:cNvPr id="1406" name="SMI-TED to language refined head">
              <a:extLst>
                <a:ext uri="{FF2B5EF4-FFF2-40B4-BE49-F238E27FC236}">
                  <a16:creationId xmlns:a16="http://schemas.microsoft.com/office/drawing/2014/main" id="{ACA92C90-D81D-37F5-BAA2-15B6A99F8C66}"/>
                </a:ext>
              </a:extLst>
            </p:cNvPr>
            <p:cNvSpPr>
              <a:spLocks noGrp="1"/>
            </p:cNvSpPr>
            <p:nvPr/>
          </p:nvSpPr>
          <p:spPr>
            <a:xfrm>
              <a:off x="8609310" y="8275130"/>
              <a:ext cx="57340" cy="66675"/>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407" name="Other identities refined">
              <a:extLst>
                <a:ext uri="{FF2B5EF4-FFF2-40B4-BE49-F238E27FC236}">
                  <a16:creationId xmlns:a16="http://schemas.microsoft.com/office/drawing/2014/main" id="{1A65287A-071D-D58C-C8EE-F053B920B350}"/>
                </a:ext>
              </a:extLst>
            </p:cNvPr>
            <p:cNvSpPr>
              <a:spLocks noGrp="1"/>
            </p:cNvSpPr>
            <p:nvPr/>
          </p:nvSpPr>
          <p:spPr>
            <a:xfrm>
              <a:off x="9616579" y="5581174"/>
              <a:ext cx="613886" cy="1373695"/>
            </a:xfrm>
            <a:custGeom>
              <a:avLst/>
              <a:gdLst/>
              <a:ahLst/>
              <a:cxnLst/>
              <a:rect l="0" t="0" r="0" b="0"/>
              <a:pathLst>
                <a:path w="613886" h="1373695">
                  <a:moveTo>
                    <a:pt x="0" y="0"/>
                  </a:moveTo>
                  <a:lnTo>
                    <a:pt x="613886" y="0"/>
                  </a:lnTo>
                  <a:lnTo>
                    <a:pt x="613886" y="1373695"/>
                  </a:lnTo>
                </a:path>
              </a:pathLst>
            </a:custGeom>
            <a:noFill/>
            <a:ln w="8505">
              <a:solidFill>
                <a:srgbClr val="77828C"/>
              </a:solidFill>
              <a:prstDash val="solid"/>
            </a:ln>
          </p:spPr>
        </p:sp>
        <p:sp>
          <p:nvSpPr>
            <p:cNvPr id="1408" name="Other identities refined head">
              <a:extLst>
                <a:ext uri="{FF2B5EF4-FFF2-40B4-BE49-F238E27FC236}">
                  <a16:creationId xmlns:a16="http://schemas.microsoft.com/office/drawing/2014/main" id="{EA75DD49-8DC1-09DC-A555-1A2F73EFD2BB}"/>
                </a:ext>
              </a:extLst>
            </p:cNvPr>
            <p:cNvSpPr>
              <a:spLocks noGrp="1"/>
            </p:cNvSpPr>
            <p:nvPr/>
          </p:nvSpPr>
          <p:spPr>
            <a:xfrm>
              <a:off x="10201795" y="6911531"/>
              <a:ext cx="57340" cy="66675"/>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409" name="Other identities middle refined">
              <a:extLst>
                <a:ext uri="{FF2B5EF4-FFF2-40B4-BE49-F238E27FC236}">
                  <a16:creationId xmlns:a16="http://schemas.microsoft.com/office/drawing/2014/main" id="{F5C7E82C-2C1B-E196-4796-2B51983E6EB5}"/>
                </a:ext>
              </a:extLst>
            </p:cNvPr>
            <p:cNvSpPr>
              <a:spLocks noGrp="1"/>
            </p:cNvSpPr>
            <p:nvPr/>
          </p:nvSpPr>
          <p:spPr>
            <a:xfrm>
              <a:off x="9616579" y="5851112"/>
              <a:ext cx="613886" cy="191"/>
            </a:xfrm>
            <a:custGeom>
              <a:avLst/>
              <a:gdLst/>
              <a:ahLst/>
              <a:cxnLst/>
              <a:rect l="0" t="0" r="0" b="0"/>
              <a:pathLst>
                <a:path w="613886" h="191">
                  <a:moveTo>
                    <a:pt x="0" y="0"/>
                  </a:moveTo>
                  <a:lnTo>
                    <a:pt x="613886" y="0"/>
                  </a:lnTo>
                </a:path>
              </a:pathLst>
            </a:custGeom>
            <a:noFill/>
            <a:ln w="8505">
              <a:solidFill>
                <a:srgbClr val="77828C"/>
              </a:solidFill>
              <a:prstDash val="solid"/>
            </a:ln>
          </p:spPr>
        </p:sp>
        <p:sp>
          <p:nvSpPr>
            <p:cNvPr id="1410" name="Other identities lower refined">
              <a:extLst>
                <a:ext uri="{FF2B5EF4-FFF2-40B4-BE49-F238E27FC236}">
                  <a16:creationId xmlns:a16="http://schemas.microsoft.com/office/drawing/2014/main" id="{1F20A392-B143-7FF3-3263-B30ACEE4DA02}"/>
                </a:ext>
              </a:extLst>
            </p:cNvPr>
            <p:cNvSpPr>
              <a:spLocks noGrp="1"/>
            </p:cNvSpPr>
            <p:nvPr/>
          </p:nvSpPr>
          <p:spPr>
            <a:xfrm>
              <a:off x="9616579" y="6533293"/>
              <a:ext cx="613886" cy="191"/>
            </a:xfrm>
            <a:custGeom>
              <a:avLst/>
              <a:gdLst/>
              <a:ahLst/>
              <a:cxnLst/>
              <a:rect l="0" t="0" r="0" b="0"/>
              <a:pathLst>
                <a:path w="613886" h="191">
                  <a:moveTo>
                    <a:pt x="0" y="0"/>
                  </a:moveTo>
                  <a:lnTo>
                    <a:pt x="613886" y="0"/>
                  </a:lnTo>
                </a:path>
              </a:pathLst>
            </a:custGeom>
            <a:noFill/>
            <a:ln w="8505">
              <a:solidFill>
                <a:srgbClr val="77828C"/>
              </a:solidFill>
              <a:prstDash val="solid"/>
            </a:ln>
          </p:spPr>
        </p:sp>
        <p:sp>
          <p:nvSpPr>
            <p:cNvPr id="1411" name="Context SMI-TED to matrix refined">
              <a:extLst>
                <a:ext uri="{FF2B5EF4-FFF2-40B4-BE49-F238E27FC236}">
                  <a16:creationId xmlns:a16="http://schemas.microsoft.com/office/drawing/2014/main" id="{4FE67884-5D7E-83D8-F457-E8D3D0F8F235}"/>
                </a:ext>
              </a:extLst>
            </p:cNvPr>
            <p:cNvSpPr>
              <a:spLocks noGrp="1"/>
            </p:cNvSpPr>
            <p:nvPr/>
          </p:nvSpPr>
          <p:spPr>
            <a:xfrm>
              <a:off x="10240942" y="7294436"/>
              <a:ext cx="191" cy="264128"/>
            </a:xfrm>
            <a:custGeom>
              <a:avLst/>
              <a:gdLst/>
              <a:ahLst/>
              <a:cxnLst/>
              <a:rect l="0" t="0" r="0" b="0"/>
              <a:pathLst>
                <a:path w="191" h="264128">
                  <a:moveTo>
                    <a:pt x="0" y="0"/>
                  </a:moveTo>
                  <a:lnTo>
                    <a:pt x="0" y="264128"/>
                  </a:lnTo>
                </a:path>
              </a:pathLst>
            </a:custGeom>
            <a:noFill/>
            <a:ln w="8505">
              <a:solidFill>
                <a:srgbClr val="77828C"/>
              </a:solidFill>
              <a:prstDash val="solid"/>
            </a:ln>
          </p:spPr>
        </p:sp>
        <p:sp>
          <p:nvSpPr>
            <p:cNvPr id="1412" name="Context SMI-TED to matrix refined head">
              <a:extLst>
                <a:ext uri="{FF2B5EF4-FFF2-40B4-BE49-F238E27FC236}">
                  <a16:creationId xmlns:a16="http://schemas.microsoft.com/office/drawing/2014/main" id="{499FD1EB-9CD5-F052-0C1A-64FA033F4A98}"/>
                </a:ext>
              </a:extLst>
            </p:cNvPr>
            <p:cNvSpPr>
              <a:spLocks noGrp="1"/>
            </p:cNvSpPr>
            <p:nvPr/>
          </p:nvSpPr>
          <p:spPr>
            <a:xfrm>
              <a:off x="10212272" y="7515226"/>
              <a:ext cx="57339" cy="66676"/>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413" name="Context matrix to attention refined">
              <a:extLst>
                <a:ext uri="{FF2B5EF4-FFF2-40B4-BE49-F238E27FC236}">
                  <a16:creationId xmlns:a16="http://schemas.microsoft.com/office/drawing/2014/main" id="{B3776A2D-650F-13E5-1471-38A139AC3E80}"/>
                </a:ext>
              </a:extLst>
            </p:cNvPr>
            <p:cNvSpPr>
              <a:spLocks noGrp="1"/>
            </p:cNvSpPr>
            <p:nvPr/>
          </p:nvSpPr>
          <p:spPr>
            <a:xfrm>
              <a:off x="10230465" y="7958995"/>
              <a:ext cx="191" cy="249745"/>
            </a:xfrm>
            <a:custGeom>
              <a:avLst/>
              <a:gdLst/>
              <a:ahLst/>
              <a:cxnLst/>
              <a:rect l="0" t="0" r="0" b="0"/>
              <a:pathLst>
                <a:path w="191" h="249745">
                  <a:moveTo>
                    <a:pt x="0" y="0"/>
                  </a:moveTo>
                  <a:lnTo>
                    <a:pt x="0" y="249745"/>
                  </a:lnTo>
                </a:path>
              </a:pathLst>
            </a:custGeom>
            <a:noFill/>
            <a:ln w="8505">
              <a:solidFill>
                <a:srgbClr val="77828C"/>
              </a:solidFill>
              <a:prstDash val="solid"/>
            </a:ln>
          </p:spPr>
        </p:sp>
        <p:sp>
          <p:nvSpPr>
            <p:cNvPr id="1414" name="Context matrix to attention refined head">
              <a:extLst>
                <a:ext uri="{FF2B5EF4-FFF2-40B4-BE49-F238E27FC236}">
                  <a16:creationId xmlns:a16="http://schemas.microsoft.com/office/drawing/2014/main" id="{5CCF2EAC-C06D-4051-79C6-56684EE849A0}"/>
                </a:ext>
              </a:extLst>
            </p:cNvPr>
            <p:cNvSpPr>
              <a:spLocks noGrp="1"/>
            </p:cNvSpPr>
            <p:nvPr/>
          </p:nvSpPr>
          <p:spPr>
            <a:xfrm>
              <a:off x="10201795" y="8165402"/>
              <a:ext cx="57340" cy="66675"/>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415" name="Language query left refined">
              <a:extLst>
                <a:ext uri="{FF2B5EF4-FFF2-40B4-BE49-F238E27FC236}">
                  <a16:creationId xmlns:a16="http://schemas.microsoft.com/office/drawing/2014/main" id="{D983E8D6-7DD6-3FD3-DFEC-0574C0D8077B}"/>
                </a:ext>
              </a:extLst>
            </p:cNvPr>
            <p:cNvSpPr>
              <a:spLocks noGrp="1"/>
            </p:cNvSpPr>
            <p:nvPr/>
          </p:nvSpPr>
          <p:spPr>
            <a:xfrm>
              <a:off x="7816735" y="8408765"/>
              <a:ext cx="479012" cy="191"/>
            </a:xfrm>
            <a:custGeom>
              <a:avLst/>
              <a:gdLst/>
              <a:ahLst/>
              <a:cxnLst/>
              <a:rect l="0" t="0" r="0" b="0"/>
              <a:pathLst>
                <a:path w="479012" h="191">
                  <a:moveTo>
                    <a:pt x="479012" y="0"/>
                  </a:moveTo>
                  <a:lnTo>
                    <a:pt x="0" y="0"/>
                  </a:lnTo>
                </a:path>
              </a:pathLst>
            </a:custGeom>
            <a:noFill/>
            <a:ln w="8505">
              <a:solidFill>
                <a:srgbClr val="77828C"/>
              </a:solidFill>
              <a:prstDash val="solid"/>
            </a:ln>
          </p:spPr>
        </p:sp>
        <p:sp>
          <p:nvSpPr>
            <p:cNvPr id="1416" name="Language query left refined head">
              <a:extLst>
                <a:ext uri="{FF2B5EF4-FFF2-40B4-BE49-F238E27FC236}">
                  <a16:creationId xmlns:a16="http://schemas.microsoft.com/office/drawing/2014/main" id="{929D0605-8623-9346-1743-DA7BE7DCEFC8}"/>
                </a:ext>
              </a:extLst>
            </p:cNvPr>
            <p:cNvSpPr>
              <a:spLocks noGrp="1"/>
            </p:cNvSpPr>
            <p:nvPr/>
          </p:nvSpPr>
          <p:spPr>
            <a:xfrm>
              <a:off x="7793398" y="8380095"/>
              <a:ext cx="66675" cy="57340"/>
            </a:xfrm>
            <a:custGeom>
              <a:avLst/>
              <a:gdLst/>
              <a:ahLst/>
              <a:cxnLst/>
              <a:rect l="0" t="0" r="0" b="0"/>
              <a:pathLst>
                <a:path w="66675" h="57340">
                  <a:moveTo>
                    <a:pt x="0" y="28670"/>
                  </a:moveTo>
                  <a:lnTo>
                    <a:pt x="66675" y="57340"/>
                  </a:lnTo>
                  <a:lnTo>
                    <a:pt x="66675" y="0"/>
                  </a:lnTo>
                  <a:close/>
                </a:path>
              </a:pathLst>
            </a:custGeom>
            <a:solidFill>
              <a:srgbClr val="77828C"/>
            </a:solidFill>
            <a:ln w="0">
              <a:noFill/>
              <a:prstDash val="solid"/>
            </a:ln>
          </p:spPr>
        </p:sp>
        <p:sp>
          <p:nvSpPr>
            <p:cNvPr id="1417" name="Language query right refined">
              <a:extLst>
                <a:ext uri="{FF2B5EF4-FFF2-40B4-BE49-F238E27FC236}">
                  <a16:creationId xmlns:a16="http://schemas.microsoft.com/office/drawing/2014/main" id="{B0C981CB-EB8A-FDB0-9049-F865C0A08E36}"/>
                </a:ext>
              </a:extLst>
            </p:cNvPr>
            <p:cNvSpPr>
              <a:spLocks noGrp="1"/>
            </p:cNvSpPr>
            <p:nvPr/>
          </p:nvSpPr>
          <p:spPr>
            <a:xfrm>
              <a:off x="8965450" y="8408765"/>
              <a:ext cx="478917" cy="191"/>
            </a:xfrm>
            <a:custGeom>
              <a:avLst/>
              <a:gdLst/>
              <a:ahLst/>
              <a:cxnLst/>
              <a:rect l="0" t="0" r="0" b="0"/>
              <a:pathLst>
                <a:path w="478917" h="191">
                  <a:moveTo>
                    <a:pt x="0" y="0"/>
                  </a:moveTo>
                  <a:lnTo>
                    <a:pt x="478917" y="0"/>
                  </a:lnTo>
                </a:path>
              </a:pathLst>
            </a:custGeom>
            <a:noFill/>
            <a:ln w="8505">
              <a:solidFill>
                <a:srgbClr val="77828C"/>
              </a:solidFill>
              <a:prstDash val="solid"/>
            </a:ln>
          </p:spPr>
        </p:sp>
        <p:sp>
          <p:nvSpPr>
            <p:cNvPr id="1418" name="Language query right refined head">
              <a:extLst>
                <a:ext uri="{FF2B5EF4-FFF2-40B4-BE49-F238E27FC236}">
                  <a16:creationId xmlns:a16="http://schemas.microsoft.com/office/drawing/2014/main" id="{322F4C68-470A-5713-9037-C4AE72A961D3}"/>
                </a:ext>
              </a:extLst>
            </p:cNvPr>
            <p:cNvSpPr>
              <a:spLocks noGrp="1"/>
            </p:cNvSpPr>
            <p:nvPr/>
          </p:nvSpPr>
          <p:spPr>
            <a:xfrm>
              <a:off x="9401028" y="8380095"/>
              <a:ext cx="66675" cy="57340"/>
            </a:xfrm>
            <a:custGeom>
              <a:avLst/>
              <a:gdLst/>
              <a:ahLst/>
              <a:cxnLst/>
              <a:rect l="0" t="0" r="0" b="0"/>
              <a:pathLst>
                <a:path w="66675" h="57340">
                  <a:moveTo>
                    <a:pt x="66675" y="28670"/>
                  </a:moveTo>
                  <a:lnTo>
                    <a:pt x="0" y="0"/>
                  </a:lnTo>
                  <a:lnTo>
                    <a:pt x="0" y="57340"/>
                  </a:lnTo>
                  <a:close/>
                </a:path>
              </a:pathLst>
            </a:custGeom>
            <a:solidFill>
              <a:srgbClr val="77828C"/>
            </a:solidFill>
            <a:ln w="0">
              <a:noFill/>
              <a:prstDash val="solid"/>
            </a:ln>
          </p:spPr>
        </p:sp>
        <p:sp>
          <p:nvSpPr>
            <p:cNvPr id="1419" name="Language to fusion refined">
              <a:extLst>
                <a:ext uri="{FF2B5EF4-FFF2-40B4-BE49-F238E27FC236}">
                  <a16:creationId xmlns:a16="http://schemas.microsoft.com/office/drawing/2014/main" id="{936FF858-071B-39B8-20A7-A9F71CEBAD0A}"/>
                </a:ext>
              </a:extLst>
            </p:cNvPr>
            <p:cNvSpPr>
              <a:spLocks noGrp="1"/>
            </p:cNvSpPr>
            <p:nvPr/>
          </p:nvSpPr>
          <p:spPr>
            <a:xfrm>
              <a:off x="8630551" y="8475726"/>
              <a:ext cx="191" cy="281845"/>
            </a:xfrm>
            <a:custGeom>
              <a:avLst/>
              <a:gdLst/>
              <a:ahLst/>
              <a:cxnLst/>
              <a:rect l="0" t="0" r="0" b="0"/>
              <a:pathLst>
                <a:path w="191" h="281845">
                  <a:moveTo>
                    <a:pt x="0" y="0"/>
                  </a:moveTo>
                  <a:lnTo>
                    <a:pt x="0" y="281845"/>
                  </a:lnTo>
                </a:path>
              </a:pathLst>
            </a:custGeom>
            <a:noFill/>
            <a:ln w="8505">
              <a:solidFill>
                <a:srgbClr val="77828C"/>
              </a:solidFill>
              <a:prstDash val="solid"/>
            </a:ln>
          </p:spPr>
        </p:sp>
        <p:sp>
          <p:nvSpPr>
            <p:cNvPr id="1420" name="Language to fusion refined head">
              <a:extLst>
                <a:ext uri="{FF2B5EF4-FFF2-40B4-BE49-F238E27FC236}">
                  <a16:creationId xmlns:a16="http://schemas.microsoft.com/office/drawing/2014/main" id="{898B4C34-D644-A33C-8C6D-C0E12505D725}"/>
                </a:ext>
              </a:extLst>
            </p:cNvPr>
            <p:cNvSpPr>
              <a:spLocks noGrp="1"/>
            </p:cNvSpPr>
            <p:nvPr/>
          </p:nvSpPr>
          <p:spPr>
            <a:xfrm>
              <a:off x="8601880" y="8714232"/>
              <a:ext cx="57340" cy="66675"/>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421" name="Graph attention to fusion refined">
              <a:extLst>
                <a:ext uri="{FF2B5EF4-FFF2-40B4-BE49-F238E27FC236}">
                  <a16:creationId xmlns:a16="http://schemas.microsoft.com/office/drawing/2014/main" id="{BB07316E-D83C-1CC9-4B31-D8C511C9BA17}"/>
                </a:ext>
              </a:extLst>
            </p:cNvPr>
            <p:cNvSpPr>
              <a:spLocks noGrp="1"/>
            </p:cNvSpPr>
            <p:nvPr/>
          </p:nvSpPr>
          <p:spPr>
            <a:xfrm>
              <a:off x="7067879" y="8585549"/>
              <a:ext cx="1092899" cy="362807"/>
            </a:xfrm>
            <a:custGeom>
              <a:avLst/>
              <a:gdLst/>
              <a:ahLst/>
              <a:cxnLst/>
              <a:rect l="0" t="0" r="0" b="0"/>
              <a:pathLst>
                <a:path w="1092899" h="362807">
                  <a:moveTo>
                    <a:pt x="0" y="0"/>
                  </a:moveTo>
                  <a:lnTo>
                    <a:pt x="0" y="362807"/>
                  </a:lnTo>
                  <a:lnTo>
                    <a:pt x="1092899" y="362807"/>
                  </a:lnTo>
                </a:path>
              </a:pathLst>
            </a:custGeom>
            <a:noFill/>
            <a:ln w="8505">
              <a:solidFill>
                <a:srgbClr val="77828C"/>
              </a:solidFill>
              <a:prstDash val="solid"/>
            </a:ln>
          </p:spPr>
        </p:sp>
        <p:sp>
          <p:nvSpPr>
            <p:cNvPr id="1422" name="Graph attention to fusion refined head">
              <a:extLst>
                <a:ext uri="{FF2B5EF4-FFF2-40B4-BE49-F238E27FC236}">
                  <a16:creationId xmlns:a16="http://schemas.microsoft.com/office/drawing/2014/main" id="{04DB471C-8FB2-74D6-0430-789809AE251D}"/>
                </a:ext>
              </a:extLst>
            </p:cNvPr>
            <p:cNvSpPr>
              <a:spLocks noGrp="1"/>
            </p:cNvSpPr>
            <p:nvPr/>
          </p:nvSpPr>
          <p:spPr>
            <a:xfrm>
              <a:off x="8117439" y="8919686"/>
              <a:ext cx="66675" cy="57340"/>
            </a:xfrm>
            <a:custGeom>
              <a:avLst/>
              <a:gdLst/>
              <a:ahLst/>
              <a:cxnLst/>
              <a:rect l="0" t="0" r="0" b="0"/>
              <a:pathLst>
                <a:path w="66675" h="57340">
                  <a:moveTo>
                    <a:pt x="66675" y="28670"/>
                  </a:moveTo>
                  <a:lnTo>
                    <a:pt x="0" y="0"/>
                  </a:lnTo>
                  <a:lnTo>
                    <a:pt x="0" y="57340"/>
                  </a:lnTo>
                  <a:close/>
                </a:path>
              </a:pathLst>
            </a:custGeom>
            <a:solidFill>
              <a:srgbClr val="77828C"/>
            </a:solidFill>
            <a:ln w="0">
              <a:noFill/>
              <a:prstDash val="solid"/>
            </a:ln>
          </p:spPr>
        </p:sp>
        <p:sp>
          <p:nvSpPr>
            <p:cNvPr id="1423" name="Context attention to fusion refined">
              <a:extLst>
                <a:ext uri="{FF2B5EF4-FFF2-40B4-BE49-F238E27FC236}">
                  <a16:creationId xmlns:a16="http://schemas.microsoft.com/office/drawing/2014/main" id="{E0167F24-CA8C-EF31-0D1C-00630764F52B}"/>
                </a:ext>
              </a:extLst>
            </p:cNvPr>
            <p:cNvSpPr>
              <a:spLocks noGrp="1"/>
            </p:cNvSpPr>
            <p:nvPr/>
          </p:nvSpPr>
          <p:spPr>
            <a:xfrm>
              <a:off x="9100419" y="8585549"/>
              <a:ext cx="1130046" cy="362807"/>
            </a:xfrm>
            <a:custGeom>
              <a:avLst/>
              <a:gdLst/>
              <a:ahLst/>
              <a:cxnLst/>
              <a:rect l="0" t="0" r="0" b="0"/>
              <a:pathLst>
                <a:path w="1130046" h="362807">
                  <a:moveTo>
                    <a:pt x="1130046" y="0"/>
                  </a:moveTo>
                  <a:lnTo>
                    <a:pt x="1130046" y="362807"/>
                  </a:lnTo>
                  <a:lnTo>
                    <a:pt x="0" y="362807"/>
                  </a:lnTo>
                </a:path>
              </a:pathLst>
            </a:custGeom>
            <a:noFill/>
            <a:ln w="8505">
              <a:solidFill>
                <a:srgbClr val="77828C"/>
              </a:solidFill>
              <a:prstDash val="solid"/>
            </a:ln>
          </p:spPr>
        </p:sp>
        <p:sp>
          <p:nvSpPr>
            <p:cNvPr id="1424" name="Context attention to fusion refined head">
              <a:extLst>
                <a:ext uri="{FF2B5EF4-FFF2-40B4-BE49-F238E27FC236}">
                  <a16:creationId xmlns:a16="http://schemas.microsoft.com/office/drawing/2014/main" id="{3D7949D6-F788-3473-740C-611F86478B49}"/>
                </a:ext>
              </a:extLst>
            </p:cNvPr>
            <p:cNvSpPr>
              <a:spLocks noGrp="1"/>
            </p:cNvSpPr>
            <p:nvPr/>
          </p:nvSpPr>
          <p:spPr>
            <a:xfrm>
              <a:off x="9077083" y="8919686"/>
              <a:ext cx="66675" cy="57340"/>
            </a:xfrm>
            <a:custGeom>
              <a:avLst/>
              <a:gdLst/>
              <a:ahLst/>
              <a:cxnLst/>
              <a:rect l="0" t="0" r="0" b="0"/>
              <a:pathLst>
                <a:path w="66675" h="57340">
                  <a:moveTo>
                    <a:pt x="0" y="28670"/>
                  </a:moveTo>
                  <a:lnTo>
                    <a:pt x="66675" y="57340"/>
                  </a:lnTo>
                  <a:lnTo>
                    <a:pt x="66675" y="0"/>
                  </a:lnTo>
                  <a:close/>
                </a:path>
              </a:pathLst>
            </a:custGeom>
            <a:solidFill>
              <a:srgbClr val="77828C"/>
            </a:solidFill>
            <a:ln w="0">
              <a:noFill/>
              <a:prstDash val="solid"/>
            </a:ln>
          </p:spPr>
        </p:sp>
        <p:sp>
          <p:nvSpPr>
            <p:cNvPr id="1425" name="Fusion to identity vector refined">
              <a:extLst>
                <a:ext uri="{FF2B5EF4-FFF2-40B4-BE49-F238E27FC236}">
                  <a16:creationId xmlns:a16="http://schemas.microsoft.com/office/drawing/2014/main" id="{E9815DAA-908C-0E63-23C4-5F838E2FD47E}"/>
                </a:ext>
              </a:extLst>
            </p:cNvPr>
            <p:cNvSpPr>
              <a:spLocks noGrp="1"/>
            </p:cNvSpPr>
            <p:nvPr/>
          </p:nvSpPr>
          <p:spPr>
            <a:xfrm>
              <a:off x="8630551" y="9115806"/>
              <a:ext cx="191" cy="244507"/>
            </a:xfrm>
            <a:custGeom>
              <a:avLst/>
              <a:gdLst/>
              <a:ahLst/>
              <a:cxnLst/>
              <a:rect l="0" t="0" r="0" b="0"/>
              <a:pathLst>
                <a:path w="191" h="244507">
                  <a:moveTo>
                    <a:pt x="0" y="0"/>
                  </a:moveTo>
                  <a:lnTo>
                    <a:pt x="0" y="244507"/>
                  </a:lnTo>
                </a:path>
              </a:pathLst>
            </a:custGeom>
            <a:noFill/>
            <a:ln w="8505">
              <a:solidFill>
                <a:srgbClr val="77828C"/>
              </a:solidFill>
              <a:prstDash val="solid"/>
            </a:ln>
          </p:spPr>
        </p:sp>
        <p:sp>
          <p:nvSpPr>
            <p:cNvPr id="1426" name="Fusion to identity vector refined head">
              <a:extLst>
                <a:ext uri="{FF2B5EF4-FFF2-40B4-BE49-F238E27FC236}">
                  <a16:creationId xmlns:a16="http://schemas.microsoft.com/office/drawing/2014/main" id="{06E27828-72D9-3682-1014-A1C2F340D6AA}"/>
                </a:ext>
              </a:extLst>
            </p:cNvPr>
            <p:cNvSpPr>
              <a:spLocks noGrp="1"/>
            </p:cNvSpPr>
            <p:nvPr/>
          </p:nvSpPr>
          <p:spPr>
            <a:xfrm>
              <a:off x="8601880" y="9316974"/>
              <a:ext cx="57340" cy="66675"/>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427" name="Identity vector to cosine refined">
              <a:extLst>
                <a:ext uri="{FF2B5EF4-FFF2-40B4-BE49-F238E27FC236}">
                  <a16:creationId xmlns:a16="http://schemas.microsoft.com/office/drawing/2014/main" id="{C3940746-D167-E313-52AA-75FB624E8555}"/>
                </a:ext>
              </a:extLst>
            </p:cNvPr>
            <p:cNvSpPr>
              <a:spLocks noGrp="1"/>
            </p:cNvSpPr>
            <p:nvPr/>
          </p:nvSpPr>
          <p:spPr>
            <a:xfrm>
              <a:off x="8630551" y="9517571"/>
              <a:ext cx="191" cy="253841"/>
            </a:xfrm>
            <a:custGeom>
              <a:avLst/>
              <a:gdLst/>
              <a:ahLst/>
              <a:cxnLst/>
              <a:rect l="0" t="0" r="0" b="0"/>
              <a:pathLst>
                <a:path w="191" h="253841">
                  <a:moveTo>
                    <a:pt x="0" y="0"/>
                  </a:moveTo>
                  <a:lnTo>
                    <a:pt x="0" y="253841"/>
                  </a:lnTo>
                </a:path>
              </a:pathLst>
            </a:custGeom>
            <a:noFill/>
            <a:ln w="8505">
              <a:solidFill>
                <a:srgbClr val="77828C"/>
              </a:solidFill>
              <a:prstDash val="solid"/>
            </a:ln>
          </p:spPr>
        </p:sp>
        <p:sp>
          <p:nvSpPr>
            <p:cNvPr id="1428" name="Identity vector to cosine refined head">
              <a:extLst>
                <a:ext uri="{FF2B5EF4-FFF2-40B4-BE49-F238E27FC236}">
                  <a16:creationId xmlns:a16="http://schemas.microsoft.com/office/drawing/2014/main" id="{DE70BF67-1BCA-5C57-B7D0-FAABF9B39D13}"/>
                </a:ext>
              </a:extLst>
            </p:cNvPr>
            <p:cNvSpPr>
              <a:spLocks noGrp="1"/>
            </p:cNvSpPr>
            <p:nvPr/>
          </p:nvSpPr>
          <p:spPr>
            <a:xfrm>
              <a:off x="8601880" y="9728073"/>
              <a:ext cx="57340" cy="66675"/>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429" name="Cosine to score matrix refined">
              <a:extLst>
                <a:ext uri="{FF2B5EF4-FFF2-40B4-BE49-F238E27FC236}">
                  <a16:creationId xmlns:a16="http://schemas.microsoft.com/office/drawing/2014/main" id="{9659B926-71F1-6E56-B70F-B613A7DBAB6A}"/>
                </a:ext>
              </a:extLst>
            </p:cNvPr>
            <p:cNvSpPr>
              <a:spLocks noGrp="1"/>
            </p:cNvSpPr>
            <p:nvPr/>
          </p:nvSpPr>
          <p:spPr>
            <a:xfrm>
              <a:off x="9044913" y="9971531"/>
              <a:ext cx="619030" cy="190"/>
            </a:xfrm>
            <a:custGeom>
              <a:avLst/>
              <a:gdLst/>
              <a:ahLst/>
              <a:cxnLst/>
              <a:rect l="0" t="0" r="0" b="0"/>
              <a:pathLst>
                <a:path w="619030" h="191">
                  <a:moveTo>
                    <a:pt x="0" y="0"/>
                  </a:moveTo>
                  <a:lnTo>
                    <a:pt x="619030" y="0"/>
                  </a:lnTo>
                </a:path>
              </a:pathLst>
            </a:custGeom>
            <a:noFill/>
            <a:ln w="8505">
              <a:solidFill>
                <a:srgbClr val="77828C"/>
              </a:solidFill>
              <a:prstDash val="solid"/>
            </a:ln>
          </p:spPr>
        </p:sp>
        <p:sp>
          <p:nvSpPr>
            <p:cNvPr id="1430" name="Cosine to score matrix refined head">
              <a:extLst>
                <a:ext uri="{FF2B5EF4-FFF2-40B4-BE49-F238E27FC236}">
                  <a16:creationId xmlns:a16="http://schemas.microsoft.com/office/drawing/2014/main" id="{C43D15D2-3D43-DE16-F166-1D0AF870FD19}"/>
                </a:ext>
              </a:extLst>
            </p:cNvPr>
            <p:cNvSpPr>
              <a:spLocks noGrp="1"/>
            </p:cNvSpPr>
            <p:nvPr/>
          </p:nvSpPr>
          <p:spPr>
            <a:xfrm>
              <a:off x="9615626" y="9942862"/>
              <a:ext cx="66675" cy="57340"/>
            </a:xfrm>
            <a:custGeom>
              <a:avLst/>
              <a:gdLst/>
              <a:ahLst/>
              <a:cxnLst/>
              <a:rect l="0" t="0" r="0" b="0"/>
              <a:pathLst>
                <a:path w="66675" h="57340">
                  <a:moveTo>
                    <a:pt x="66675" y="28670"/>
                  </a:moveTo>
                  <a:lnTo>
                    <a:pt x="0" y="0"/>
                  </a:lnTo>
                  <a:lnTo>
                    <a:pt x="0" y="57340"/>
                  </a:lnTo>
                  <a:close/>
                </a:path>
              </a:pathLst>
            </a:custGeom>
            <a:solidFill>
              <a:srgbClr val="77828C"/>
            </a:solidFill>
            <a:ln w="0">
              <a:noFill/>
              <a:prstDash val="solid"/>
            </a:ln>
          </p:spPr>
        </p:sp>
      </p:grpSp>
      <p:pic>
        <p:nvPicPr>
          <p:cNvPr id="1436" name="Match clear receptor" descr="Receptor cartoon rendered from unchanged local coordinates, chain C1 of the 9LLG CA2 model.">
            <a:extLst>
              <a:ext uri="{FF2B5EF4-FFF2-40B4-BE49-F238E27FC236}">
                <a16:creationId xmlns:a16="http://schemas.microsoft.com/office/drawing/2014/main" id="{7E0E7A92-DD15-E832-14D2-77F12D1D34B4}"/>
              </a:ext>
            </a:extLst>
          </p:cNvPr>
          <p:cNvPicPr/>
          <p:nvPr/>
        </p:nvPicPr>
        <p:blipFill>
          <a:blip r:embed="rId7"/>
          <a:srcRect l="16857" t="30389" r="19786" b="22500"/>
          <a:stretch>
            <a:fillRect/>
          </a:stretch>
        </p:blipFill>
        <p:spPr>
          <a:xfrm>
            <a:off x="664274" y="2388765"/>
            <a:ext cx="332109" cy="317507"/>
          </a:xfrm>
          <a:prstGeom prst="rect">
            <a:avLst/>
          </a:prstGeom>
        </p:spPr>
      </p:pic>
      <p:sp>
        <p:nvSpPr>
          <p:cNvPr id="1442" name="文本框 1441">
            <a:extLst>
              <a:ext uri="{FF2B5EF4-FFF2-40B4-BE49-F238E27FC236}">
                <a16:creationId xmlns:a16="http://schemas.microsoft.com/office/drawing/2014/main" id="{FCBD61BC-F464-FD53-9F5B-0D5535BE8251}"/>
              </a:ext>
            </a:extLst>
          </p:cNvPr>
          <p:cNvSpPr txBox="1"/>
          <p:nvPr/>
        </p:nvSpPr>
        <p:spPr>
          <a:xfrm>
            <a:off x="1260165" y="775016"/>
            <a:ext cx="559769" cy="176972"/>
          </a:xfrm>
          <a:prstGeom prst="rect">
            <a:avLst/>
          </a:prstGeom>
          <a:noFill/>
        </p:spPr>
        <p:txBody>
          <a:bodyPr wrap="none" rtlCol="0">
            <a:spAutoFit/>
          </a:bodyPr>
          <a:lstStyle/>
          <a:p>
            <a:r>
              <a:rPr lang="en-US" altLang="zh-CN" sz="550" dirty="0">
                <a:solidFill>
                  <a:srgbClr val="263442"/>
                </a:solidFill>
                <a:latin typeface="Arial"/>
                <a:cs typeface="Arial"/>
              </a:rPr>
              <a:t>56 channels</a:t>
            </a:r>
            <a:endParaRPr lang="zh-CN" altLang="en-US" sz="550" dirty="0">
              <a:solidFill>
                <a:srgbClr val="263442"/>
              </a:solidFill>
              <a:latin typeface="Arial"/>
              <a:cs typeface="Arial"/>
            </a:endParaRPr>
          </a:p>
        </p:txBody>
      </p:sp>
      <p:sp>
        <p:nvSpPr>
          <p:cNvPr id="1443" name="V8 embedding computation frame">
            <a:extLst>
              <a:ext uri="{FF2B5EF4-FFF2-40B4-BE49-F238E27FC236}">
                <a16:creationId xmlns:a16="http://schemas.microsoft.com/office/drawing/2014/main" id="{1A529259-C135-EF5C-970B-7738B7F4548C}"/>
              </a:ext>
            </a:extLst>
          </p:cNvPr>
          <p:cNvSpPr/>
          <p:nvPr/>
        </p:nvSpPr>
        <p:spPr>
          <a:xfrm>
            <a:off x="1351898" y="1318283"/>
            <a:ext cx="386080" cy="417830"/>
          </a:xfrm>
          <a:prstGeom prst="roundRect">
            <a:avLst>
              <a:gd name="adj" fmla="val 6579"/>
            </a:avLst>
          </a:prstGeom>
          <a:solidFill>
            <a:schemeClr val="bg1"/>
          </a:solidFill>
          <a:ln w="6096" cap="rnd">
            <a:solidFill>
              <a:srgbClr val="BEC7CE"/>
            </a:solidFill>
            <a:prstDash val="solid"/>
            <a:round/>
          </a:ln>
        </p:spPr>
      </p:sp>
      <p:sp>
        <p:nvSpPr>
          <p:cNvPr id="1444" name="V8 embedding neighbor 1 to center">
            <a:extLst>
              <a:ext uri="{FF2B5EF4-FFF2-40B4-BE49-F238E27FC236}">
                <a16:creationId xmlns:a16="http://schemas.microsoft.com/office/drawing/2014/main" id="{E44D9DD8-82D7-A25B-AA98-F806DCAC84D6}"/>
              </a:ext>
            </a:extLst>
          </p:cNvPr>
          <p:cNvSpPr/>
          <p:nvPr/>
        </p:nvSpPr>
        <p:spPr>
          <a:xfrm>
            <a:off x="1408080" y="1388677"/>
            <a:ext cx="84338" cy="113635"/>
          </a:xfrm>
          <a:custGeom>
            <a:avLst/>
            <a:gdLst/>
            <a:ahLst/>
            <a:cxnLst/>
            <a:rect l="l" t="t" r="r" b="b"/>
            <a:pathLst>
              <a:path w="84338" h="113635">
                <a:moveTo>
                  <a:pt x="0" y="0"/>
                </a:moveTo>
                <a:lnTo>
                  <a:pt x="84338" y="113635"/>
                </a:lnTo>
              </a:path>
            </a:pathLst>
          </a:custGeom>
          <a:noFill/>
          <a:ln w="5842" cap="rnd">
            <a:solidFill>
              <a:srgbClr val="4083B4"/>
            </a:solidFill>
            <a:prstDash val="solid"/>
            <a:round/>
          </a:ln>
        </p:spPr>
      </p:sp>
      <p:sp>
        <p:nvSpPr>
          <p:cNvPr id="1445" name="V8 embedding neighbor 1 to center head">
            <a:extLst>
              <a:ext uri="{FF2B5EF4-FFF2-40B4-BE49-F238E27FC236}">
                <a16:creationId xmlns:a16="http://schemas.microsoft.com/office/drawing/2014/main" id="{E98407BC-C4CF-6413-6348-4B4AA3269088}"/>
              </a:ext>
            </a:extLst>
          </p:cNvPr>
          <p:cNvSpPr/>
          <p:nvPr/>
        </p:nvSpPr>
        <p:spPr>
          <a:xfrm>
            <a:off x="1478827" y="1488319"/>
            <a:ext cx="18870" cy="21105"/>
          </a:xfrm>
          <a:custGeom>
            <a:avLst/>
            <a:gdLst/>
            <a:ahLst/>
            <a:cxnLst/>
            <a:rect l="l" t="t" r="r" b="b"/>
            <a:pathLst>
              <a:path w="18870" h="21105">
                <a:moveTo>
                  <a:pt x="18870" y="21105"/>
                </a:moveTo>
                <a:lnTo>
                  <a:pt x="14277" y="0"/>
                </a:lnTo>
                <a:lnTo>
                  <a:pt x="0" y="10596"/>
                </a:lnTo>
                <a:close/>
              </a:path>
            </a:pathLst>
          </a:custGeom>
          <a:solidFill>
            <a:srgbClr val="4083B4"/>
          </a:solidFill>
          <a:ln w="0" cap="rnd">
            <a:noFill/>
          </a:ln>
        </p:spPr>
      </p:sp>
      <p:sp>
        <p:nvSpPr>
          <p:cNvPr id="1446" name="V8 embedding neighbor 1">
            <a:extLst>
              <a:ext uri="{FF2B5EF4-FFF2-40B4-BE49-F238E27FC236}">
                <a16:creationId xmlns:a16="http://schemas.microsoft.com/office/drawing/2014/main" id="{BDF6DC7B-C3CB-1596-B684-BB2A0E4E25FE}"/>
              </a:ext>
            </a:extLst>
          </p:cNvPr>
          <p:cNvSpPr/>
          <p:nvPr/>
        </p:nvSpPr>
        <p:spPr>
          <a:xfrm>
            <a:off x="1382060" y="1358582"/>
            <a:ext cx="28575" cy="28575"/>
          </a:xfrm>
          <a:prstGeom prst="ellipse">
            <a:avLst/>
          </a:prstGeom>
          <a:noFill/>
          <a:ln w="7112" cap="rnd">
            <a:solidFill>
              <a:srgbClr val="4083B4"/>
            </a:solidFill>
            <a:prstDash val="solid"/>
            <a:round/>
          </a:ln>
        </p:spPr>
      </p:sp>
      <p:sp>
        <p:nvSpPr>
          <p:cNvPr id="1447" name="V8 embedding neighbor 2 to center">
            <a:extLst>
              <a:ext uri="{FF2B5EF4-FFF2-40B4-BE49-F238E27FC236}">
                <a16:creationId xmlns:a16="http://schemas.microsoft.com/office/drawing/2014/main" id="{E0D7E525-5B44-C4EA-7B63-B7D005725612}"/>
              </a:ext>
            </a:extLst>
          </p:cNvPr>
          <p:cNvSpPr/>
          <p:nvPr/>
        </p:nvSpPr>
        <p:spPr>
          <a:xfrm>
            <a:off x="1537980" y="1384737"/>
            <a:ext cx="68064" cy="115185"/>
          </a:xfrm>
          <a:custGeom>
            <a:avLst/>
            <a:gdLst/>
            <a:ahLst/>
            <a:cxnLst/>
            <a:rect l="l" t="t" r="r" b="b"/>
            <a:pathLst>
              <a:path w="68064" h="115185">
                <a:moveTo>
                  <a:pt x="68064" y="0"/>
                </a:moveTo>
                <a:lnTo>
                  <a:pt x="0" y="115185"/>
                </a:lnTo>
              </a:path>
            </a:pathLst>
          </a:custGeom>
          <a:noFill/>
          <a:ln w="5842" cap="rnd">
            <a:solidFill>
              <a:srgbClr val="4083B4"/>
            </a:solidFill>
            <a:prstDash val="solid"/>
            <a:round/>
          </a:ln>
        </p:spPr>
      </p:sp>
      <p:sp>
        <p:nvSpPr>
          <p:cNvPr id="1448" name="V8 embedding neighbor 2 to center head">
            <a:extLst>
              <a:ext uri="{FF2B5EF4-FFF2-40B4-BE49-F238E27FC236}">
                <a16:creationId xmlns:a16="http://schemas.microsoft.com/office/drawing/2014/main" id="{61FE41BD-54C4-96BA-BCAB-08FB0C1F545D}"/>
              </a:ext>
            </a:extLst>
          </p:cNvPr>
          <p:cNvSpPr/>
          <p:nvPr/>
        </p:nvSpPr>
        <p:spPr>
          <a:xfrm>
            <a:off x="1533473" y="1486079"/>
            <a:ext cx="17668" cy="21470"/>
          </a:xfrm>
          <a:custGeom>
            <a:avLst/>
            <a:gdLst/>
            <a:ahLst/>
            <a:cxnLst/>
            <a:rect l="l" t="t" r="r" b="b"/>
            <a:pathLst>
              <a:path w="17668" h="21470">
                <a:moveTo>
                  <a:pt x="0" y="21470"/>
                </a:moveTo>
                <a:lnTo>
                  <a:pt x="17668" y="9045"/>
                </a:lnTo>
                <a:lnTo>
                  <a:pt x="2361" y="0"/>
                </a:lnTo>
                <a:close/>
              </a:path>
            </a:pathLst>
          </a:custGeom>
          <a:solidFill>
            <a:srgbClr val="4083B4"/>
          </a:solidFill>
          <a:ln w="0" cap="rnd">
            <a:noFill/>
          </a:ln>
        </p:spPr>
      </p:sp>
      <p:sp>
        <p:nvSpPr>
          <p:cNvPr id="1449" name="V8 embedding neighbor 2">
            <a:extLst>
              <a:ext uri="{FF2B5EF4-FFF2-40B4-BE49-F238E27FC236}">
                <a16:creationId xmlns:a16="http://schemas.microsoft.com/office/drawing/2014/main" id="{3E49453D-365D-A806-E516-7F55FB0E18A5}"/>
              </a:ext>
            </a:extLst>
          </p:cNvPr>
          <p:cNvSpPr/>
          <p:nvPr/>
        </p:nvSpPr>
        <p:spPr>
          <a:xfrm>
            <a:off x="1600500" y="1352232"/>
            <a:ext cx="31115" cy="31115"/>
          </a:xfrm>
          <a:prstGeom prst="ellipse">
            <a:avLst/>
          </a:prstGeom>
          <a:noFill/>
          <a:ln w="7112" cap="rnd">
            <a:solidFill>
              <a:srgbClr val="4083B4"/>
            </a:solidFill>
            <a:prstDash val="solid"/>
            <a:round/>
          </a:ln>
        </p:spPr>
      </p:sp>
      <p:sp>
        <p:nvSpPr>
          <p:cNvPr id="1450" name="V8 embedding upper curved aggregation">
            <a:extLst>
              <a:ext uri="{FF2B5EF4-FFF2-40B4-BE49-F238E27FC236}">
                <a16:creationId xmlns:a16="http://schemas.microsoft.com/office/drawing/2014/main" id="{C3E8089C-E285-85E4-5968-A5FCE05979CF}"/>
              </a:ext>
            </a:extLst>
          </p:cNvPr>
          <p:cNvSpPr/>
          <p:nvPr/>
        </p:nvSpPr>
        <p:spPr>
          <a:xfrm>
            <a:off x="1551288" y="1449794"/>
            <a:ext cx="120650" cy="48806"/>
          </a:xfrm>
          <a:custGeom>
            <a:avLst/>
            <a:gdLst/>
            <a:ahLst/>
            <a:cxnLst/>
            <a:rect l="l" t="t" r="r" b="b"/>
            <a:pathLst>
              <a:path w="120650" h="48806">
                <a:moveTo>
                  <a:pt x="118713" y="0"/>
                </a:moveTo>
                <a:cubicBezTo>
                  <a:pt x="120650" y="36106"/>
                  <a:pt x="44450" y="29756"/>
                  <a:pt x="0" y="48806"/>
                </a:cubicBezTo>
              </a:path>
            </a:pathLst>
          </a:custGeom>
          <a:noFill/>
          <a:ln w="5842" cap="rnd">
            <a:solidFill>
              <a:srgbClr val="4083B4"/>
            </a:solidFill>
            <a:prstDash val="solid"/>
            <a:round/>
          </a:ln>
        </p:spPr>
      </p:sp>
      <p:sp>
        <p:nvSpPr>
          <p:cNvPr id="1451" name="V8 embedding upper curved aggregation tip">
            <a:extLst>
              <a:ext uri="{FF2B5EF4-FFF2-40B4-BE49-F238E27FC236}">
                <a16:creationId xmlns:a16="http://schemas.microsoft.com/office/drawing/2014/main" id="{DB5372B8-7931-C219-420C-D1B5123824D4}"/>
              </a:ext>
            </a:extLst>
          </p:cNvPr>
          <p:cNvSpPr/>
          <p:nvPr/>
        </p:nvSpPr>
        <p:spPr>
          <a:xfrm>
            <a:off x="1542577" y="1498600"/>
            <a:ext cx="8711" cy="4690"/>
          </a:xfrm>
          <a:custGeom>
            <a:avLst/>
            <a:gdLst/>
            <a:ahLst/>
            <a:cxnLst/>
            <a:rect l="l" t="t" r="r" b="b"/>
            <a:pathLst>
              <a:path w="8711" h="4690">
                <a:moveTo>
                  <a:pt x="8711" y="0"/>
                </a:moveTo>
                <a:lnTo>
                  <a:pt x="0" y="4690"/>
                </a:lnTo>
              </a:path>
            </a:pathLst>
          </a:custGeom>
          <a:noFill/>
          <a:ln w="5842" cap="rnd">
            <a:solidFill>
              <a:srgbClr val="9481B1"/>
            </a:solidFill>
            <a:prstDash val="solid"/>
            <a:round/>
          </a:ln>
        </p:spPr>
      </p:sp>
      <p:sp>
        <p:nvSpPr>
          <p:cNvPr id="1452" name="V8 embedding upper curved aggregation tip head">
            <a:extLst>
              <a:ext uri="{FF2B5EF4-FFF2-40B4-BE49-F238E27FC236}">
                <a16:creationId xmlns:a16="http://schemas.microsoft.com/office/drawing/2014/main" id="{1A3FF943-3FB5-5C9A-E078-9E2817DA11DB}"/>
              </a:ext>
            </a:extLst>
          </p:cNvPr>
          <p:cNvSpPr/>
          <p:nvPr/>
        </p:nvSpPr>
        <p:spPr>
          <a:xfrm>
            <a:off x="1534778" y="1490330"/>
            <a:ext cx="21547" cy="17160"/>
          </a:xfrm>
          <a:custGeom>
            <a:avLst/>
            <a:gdLst/>
            <a:ahLst/>
            <a:cxnLst/>
            <a:rect l="l" t="t" r="r" b="b"/>
            <a:pathLst>
              <a:path w="21547" h="17160">
                <a:moveTo>
                  <a:pt x="0" y="17160"/>
                </a:moveTo>
                <a:lnTo>
                  <a:pt x="21547" y="15655"/>
                </a:lnTo>
                <a:lnTo>
                  <a:pt x="13117" y="0"/>
                </a:lnTo>
                <a:close/>
              </a:path>
            </a:pathLst>
          </a:custGeom>
          <a:solidFill>
            <a:srgbClr val="4083B4"/>
          </a:solidFill>
          <a:ln w="0" cap="rnd">
            <a:noFill/>
          </a:ln>
        </p:spPr>
      </p:sp>
      <p:sp>
        <p:nvSpPr>
          <p:cNvPr id="1453" name="V8 embedding neighbor 3">
            <a:extLst>
              <a:ext uri="{FF2B5EF4-FFF2-40B4-BE49-F238E27FC236}">
                <a16:creationId xmlns:a16="http://schemas.microsoft.com/office/drawing/2014/main" id="{4254689E-CF60-B8D1-07D5-77A70DE5CC67}"/>
              </a:ext>
            </a:extLst>
          </p:cNvPr>
          <p:cNvSpPr/>
          <p:nvPr/>
        </p:nvSpPr>
        <p:spPr>
          <a:xfrm>
            <a:off x="1673208" y="1426210"/>
            <a:ext cx="27940" cy="27940"/>
          </a:xfrm>
          <a:prstGeom prst="ellipse">
            <a:avLst/>
          </a:prstGeom>
          <a:noFill/>
          <a:ln w="7112" cap="rnd">
            <a:solidFill>
              <a:srgbClr val="4083B4"/>
            </a:solidFill>
            <a:prstDash val="solid"/>
            <a:round/>
          </a:ln>
        </p:spPr>
      </p:sp>
      <p:sp>
        <p:nvSpPr>
          <p:cNvPr id="1454" name="V8 embedding curved aggregation">
            <a:extLst>
              <a:ext uri="{FF2B5EF4-FFF2-40B4-BE49-F238E27FC236}">
                <a16:creationId xmlns:a16="http://schemas.microsoft.com/office/drawing/2014/main" id="{12DAC5E0-DA28-1410-2EC7-DA03698FE227}"/>
              </a:ext>
            </a:extLst>
          </p:cNvPr>
          <p:cNvSpPr/>
          <p:nvPr/>
        </p:nvSpPr>
        <p:spPr>
          <a:xfrm>
            <a:off x="1392538" y="1503680"/>
            <a:ext cx="77470" cy="107970"/>
          </a:xfrm>
          <a:custGeom>
            <a:avLst/>
            <a:gdLst/>
            <a:ahLst/>
            <a:cxnLst/>
            <a:rect l="l" t="t" r="r" b="b"/>
            <a:pathLst>
              <a:path w="77470" h="107970">
                <a:moveTo>
                  <a:pt x="17311" y="107970"/>
                </a:moveTo>
                <a:cubicBezTo>
                  <a:pt x="0" y="29210"/>
                  <a:pt x="35560" y="0"/>
                  <a:pt x="77470" y="12700"/>
                </a:cubicBezTo>
              </a:path>
            </a:pathLst>
          </a:custGeom>
          <a:noFill/>
          <a:ln w="8890" cap="rnd">
            <a:solidFill>
              <a:srgbClr val="4083B4"/>
            </a:solidFill>
            <a:prstDash val="solid"/>
            <a:round/>
          </a:ln>
        </p:spPr>
      </p:sp>
      <p:sp>
        <p:nvSpPr>
          <p:cNvPr id="1455" name="V8 embedding curved aggregation tip">
            <a:extLst>
              <a:ext uri="{FF2B5EF4-FFF2-40B4-BE49-F238E27FC236}">
                <a16:creationId xmlns:a16="http://schemas.microsoft.com/office/drawing/2014/main" id="{DDE9BBFC-E235-F971-D59F-D73ABB945971}"/>
              </a:ext>
            </a:extLst>
          </p:cNvPr>
          <p:cNvSpPr/>
          <p:nvPr/>
        </p:nvSpPr>
        <p:spPr>
          <a:xfrm>
            <a:off x="1470008" y="1516380"/>
            <a:ext cx="6039" cy="3020"/>
          </a:xfrm>
          <a:custGeom>
            <a:avLst/>
            <a:gdLst/>
            <a:ahLst/>
            <a:cxnLst/>
            <a:rect l="l" t="t" r="r" b="b"/>
            <a:pathLst>
              <a:path w="6039" h="3020">
                <a:moveTo>
                  <a:pt x="0" y="0"/>
                </a:moveTo>
                <a:lnTo>
                  <a:pt x="6039" y="3020"/>
                </a:lnTo>
              </a:path>
            </a:pathLst>
          </a:custGeom>
          <a:noFill/>
          <a:ln w="8890" cap="rnd">
            <a:solidFill>
              <a:srgbClr val="9481B1"/>
            </a:solidFill>
            <a:prstDash val="solid"/>
            <a:round/>
          </a:ln>
        </p:spPr>
      </p:sp>
      <p:sp>
        <p:nvSpPr>
          <p:cNvPr id="1456" name="V8 embedding curved aggregation tip head">
            <a:extLst>
              <a:ext uri="{FF2B5EF4-FFF2-40B4-BE49-F238E27FC236}">
                <a16:creationId xmlns:a16="http://schemas.microsoft.com/office/drawing/2014/main" id="{1AF0508C-689C-1E8D-300E-BF40E28EA181}"/>
              </a:ext>
            </a:extLst>
          </p:cNvPr>
          <p:cNvSpPr/>
          <p:nvPr/>
        </p:nvSpPr>
        <p:spPr>
          <a:xfrm>
            <a:off x="1460116" y="1504405"/>
            <a:ext cx="25132" cy="19595"/>
          </a:xfrm>
          <a:custGeom>
            <a:avLst/>
            <a:gdLst/>
            <a:ahLst/>
            <a:cxnLst/>
            <a:rect l="l" t="t" r="r" b="b"/>
            <a:pathLst>
              <a:path w="25132" h="19595">
                <a:moveTo>
                  <a:pt x="25132" y="19595"/>
                </a:moveTo>
                <a:lnTo>
                  <a:pt x="9371" y="0"/>
                </a:lnTo>
                <a:lnTo>
                  <a:pt x="0" y="18743"/>
                </a:lnTo>
                <a:close/>
              </a:path>
            </a:pathLst>
          </a:custGeom>
          <a:solidFill>
            <a:srgbClr val="4083B4"/>
          </a:solidFill>
          <a:ln w="0" cap="rnd">
            <a:solidFill>
              <a:srgbClr val="4083B4"/>
            </a:solidFill>
          </a:ln>
        </p:spPr>
      </p:sp>
      <p:sp>
        <p:nvSpPr>
          <p:cNvPr id="1457" name="V8 embedding neighbor 4">
            <a:extLst>
              <a:ext uri="{FF2B5EF4-FFF2-40B4-BE49-F238E27FC236}">
                <a16:creationId xmlns:a16="http://schemas.microsoft.com/office/drawing/2014/main" id="{6AA8839F-126E-885E-0DFE-C008B2EF1ECF}"/>
              </a:ext>
            </a:extLst>
          </p:cNvPr>
          <p:cNvSpPr/>
          <p:nvPr/>
        </p:nvSpPr>
        <p:spPr>
          <a:xfrm>
            <a:off x="1377933" y="1607185"/>
            <a:ext cx="31750" cy="31750"/>
          </a:xfrm>
          <a:prstGeom prst="ellipse">
            <a:avLst/>
          </a:prstGeom>
          <a:noFill/>
          <a:ln w="7112" cap="rnd">
            <a:solidFill>
              <a:srgbClr val="4083B4"/>
            </a:solidFill>
            <a:prstDash val="solid"/>
            <a:round/>
          </a:ln>
        </p:spPr>
      </p:sp>
      <p:sp>
        <p:nvSpPr>
          <p:cNvPr id="1458" name="V8 embedding neighbor 5 to center">
            <a:extLst>
              <a:ext uri="{FF2B5EF4-FFF2-40B4-BE49-F238E27FC236}">
                <a16:creationId xmlns:a16="http://schemas.microsoft.com/office/drawing/2014/main" id="{967AD83E-1C07-6D3C-E79B-F9D418477576}"/>
              </a:ext>
            </a:extLst>
          </p:cNvPr>
          <p:cNvSpPr/>
          <p:nvPr/>
        </p:nvSpPr>
        <p:spPr>
          <a:xfrm>
            <a:off x="1508228" y="1576570"/>
            <a:ext cx="5857" cy="82734"/>
          </a:xfrm>
          <a:custGeom>
            <a:avLst/>
            <a:gdLst/>
            <a:ahLst/>
            <a:cxnLst/>
            <a:rect l="l" t="t" r="r" b="b"/>
            <a:pathLst>
              <a:path w="5857" h="82734">
                <a:moveTo>
                  <a:pt x="0" y="82734"/>
                </a:moveTo>
                <a:lnTo>
                  <a:pt x="5857" y="0"/>
                </a:lnTo>
              </a:path>
            </a:pathLst>
          </a:custGeom>
          <a:noFill/>
          <a:ln w="5842" cap="rnd">
            <a:solidFill>
              <a:srgbClr val="4083B4"/>
            </a:solidFill>
            <a:prstDash val="solid"/>
            <a:round/>
          </a:ln>
        </p:spPr>
      </p:sp>
      <p:sp>
        <p:nvSpPr>
          <p:cNvPr id="1459" name="V8 embedding neighbor 5 to center head">
            <a:extLst>
              <a:ext uri="{FF2B5EF4-FFF2-40B4-BE49-F238E27FC236}">
                <a16:creationId xmlns:a16="http://schemas.microsoft.com/office/drawing/2014/main" id="{00F62071-296A-5E48-F980-2C20320385AA}"/>
              </a:ext>
            </a:extLst>
          </p:cNvPr>
          <p:cNvSpPr/>
          <p:nvPr/>
        </p:nvSpPr>
        <p:spPr>
          <a:xfrm>
            <a:off x="1504453" y="1567734"/>
            <a:ext cx="17736" cy="20264"/>
          </a:xfrm>
          <a:custGeom>
            <a:avLst/>
            <a:gdLst/>
            <a:ahLst/>
            <a:cxnLst/>
            <a:rect l="l" t="t" r="r" b="b"/>
            <a:pathLst>
              <a:path w="17736" h="20264">
                <a:moveTo>
                  <a:pt x="10258" y="0"/>
                </a:moveTo>
                <a:lnTo>
                  <a:pt x="0" y="19008"/>
                </a:lnTo>
                <a:lnTo>
                  <a:pt x="17736" y="20264"/>
                </a:lnTo>
                <a:close/>
              </a:path>
            </a:pathLst>
          </a:custGeom>
          <a:solidFill>
            <a:srgbClr val="4083B4"/>
          </a:solidFill>
          <a:ln w="0" cap="rnd">
            <a:solidFill>
              <a:srgbClr val="4083B4"/>
            </a:solidFill>
          </a:ln>
        </p:spPr>
      </p:sp>
      <p:sp>
        <p:nvSpPr>
          <p:cNvPr id="1460" name="V8 embedding neighbor 5">
            <a:extLst>
              <a:ext uri="{FF2B5EF4-FFF2-40B4-BE49-F238E27FC236}">
                <a16:creationId xmlns:a16="http://schemas.microsoft.com/office/drawing/2014/main" id="{C4BBBF1B-5ADC-1A59-5E28-F9AF29FCE3AF}"/>
              </a:ext>
            </a:extLst>
          </p:cNvPr>
          <p:cNvSpPr/>
          <p:nvPr/>
        </p:nvSpPr>
        <p:spPr>
          <a:xfrm>
            <a:off x="1492233" y="1664335"/>
            <a:ext cx="29210" cy="29210"/>
          </a:xfrm>
          <a:prstGeom prst="ellipse">
            <a:avLst/>
          </a:prstGeom>
          <a:noFill/>
          <a:ln w="7112" cap="rnd">
            <a:solidFill>
              <a:srgbClr val="4083B4"/>
            </a:solidFill>
            <a:prstDash val="solid"/>
            <a:round/>
          </a:ln>
        </p:spPr>
      </p:sp>
      <p:sp>
        <p:nvSpPr>
          <p:cNvPr id="1461" name="V8 embedding center">
            <a:extLst>
              <a:ext uri="{FF2B5EF4-FFF2-40B4-BE49-F238E27FC236}">
                <a16:creationId xmlns:a16="http://schemas.microsoft.com/office/drawing/2014/main" id="{2B59EAA2-0FB6-A138-C47E-59E77A656D5D}"/>
              </a:ext>
            </a:extLst>
          </p:cNvPr>
          <p:cNvSpPr/>
          <p:nvPr/>
        </p:nvSpPr>
        <p:spPr>
          <a:xfrm>
            <a:off x="1494773" y="1513205"/>
            <a:ext cx="44450" cy="44450"/>
          </a:xfrm>
          <a:prstGeom prst="ellipse">
            <a:avLst/>
          </a:prstGeom>
          <a:noFill/>
          <a:ln w="9906" cap="rnd">
            <a:solidFill>
              <a:srgbClr val="3B8C80"/>
            </a:solidFill>
            <a:prstDash val="solid"/>
            <a:round/>
          </a:ln>
        </p:spPr>
      </p:sp>
      <p:sp>
        <p:nvSpPr>
          <p:cNvPr id="1462" name="V8 embedding feature 1">
            <a:extLst>
              <a:ext uri="{FF2B5EF4-FFF2-40B4-BE49-F238E27FC236}">
                <a16:creationId xmlns:a16="http://schemas.microsoft.com/office/drawing/2014/main" id="{A3A8D3D4-AD60-F00D-D0C4-7483B99B3716}"/>
              </a:ext>
            </a:extLst>
          </p:cNvPr>
          <p:cNvSpPr/>
          <p:nvPr/>
        </p:nvSpPr>
        <p:spPr>
          <a:xfrm>
            <a:off x="1548748" y="1518285"/>
            <a:ext cx="18415" cy="34290"/>
          </a:xfrm>
          <a:prstGeom prst="rect">
            <a:avLst/>
          </a:prstGeom>
          <a:solidFill>
            <a:srgbClr val="3E8F9A"/>
          </a:solidFill>
          <a:ln w="0" cap="rnd">
            <a:noFill/>
          </a:ln>
        </p:spPr>
      </p:sp>
      <p:sp>
        <p:nvSpPr>
          <p:cNvPr id="1463" name="V8 embedding feature 2">
            <a:extLst>
              <a:ext uri="{FF2B5EF4-FFF2-40B4-BE49-F238E27FC236}">
                <a16:creationId xmlns:a16="http://schemas.microsoft.com/office/drawing/2014/main" id="{C76EBA3E-6C18-2B76-70C8-F1F5A5ED20B4}"/>
              </a:ext>
            </a:extLst>
          </p:cNvPr>
          <p:cNvSpPr/>
          <p:nvPr/>
        </p:nvSpPr>
        <p:spPr>
          <a:xfrm>
            <a:off x="1568433" y="1518285"/>
            <a:ext cx="18415" cy="34290"/>
          </a:xfrm>
          <a:prstGeom prst="rect">
            <a:avLst/>
          </a:prstGeom>
          <a:solidFill>
            <a:srgbClr val="88BEC3"/>
          </a:solidFill>
          <a:ln w="0" cap="rnd">
            <a:noFill/>
          </a:ln>
        </p:spPr>
      </p:sp>
      <p:sp>
        <p:nvSpPr>
          <p:cNvPr id="1464" name="V8 embedding feature 3">
            <a:extLst>
              <a:ext uri="{FF2B5EF4-FFF2-40B4-BE49-F238E27FC236}">
                <a16:creationId xmlns:a16="http://schemas.microsoft.com/office/drawing/2014/main" id="{290E80AA-8B16-C201-B7DD-E81747F0963D}"/>
              </a:ext>
            </a:extLst>
          </p:cNvPr>
          <p:cNvSpPr/>
          <p:nvPr/>
        </p:nvSpPr>
        <p:spPr>
          <a:xfrm>
            <a:off x="1588118" y="1518285"/>
            <a:ext cx="18415" cy="34290"/>
          </a:xfrm>
          <a:prstGeom prst="rect">
            <a:avLst/>
          </a:prstGeom>
          <a:solidFill>
            <a:srgbClr val="67AD9F"/>
          </a:solidFill>
          <a:ln w="0" cap="rnd">
            <a:noFill/>
          </a:ln>
        </p:spPr>
      </p:sp>
      <p:sp>
        <p:nvSpPr>
          <p:cNvPr id="1465" name="V8 embedding feature 4">
            <a:extLst>
              <a:ext uri="{FF2B5EF4-FFF2-40B4-BE49-F238E27FC236}">
                <a16:creationId xmlns:a16="http://schemas.microsoft.com/office/drawing/2014/main" id="{5BFE975E-0625-6A44-B271-D4A0EAD3DBF2}"/>
              </a:ext>
            </a:extLst>
          </p:cNvPr>
          <p:cNvSpPr/>
          <p:nvPr/>
        </p:nvSpPr>
        <p:spPr>
          <a:xfrm>
            <a:off x="1607803" y="1518285"/>
            <a:ext cx="18415" cy="34290"/>
          </a:xfrm>
          <a:prstGeom prst="rect">
            <a:avLst/>
          </a:prstGeom>
          <a:solidFill>
            <a:srgbClr val="B6D8CC"/>
          </a:solidFill>
          <a:ln w="0" cap="rnd">
            <a:noFill/>
          </a:ln>
        </p:spPr>
      </p:sp>
      <p:sp>
        <p:nvSpPr>
          <p:cNvPr id="1466" name="V8 embedding feature 5">
            <a:extLst>
              <a:ext uri="{FF2B5EF4-FFF2-40B4-BE49-F238E27FC236}">
                <a16:creationId xmlns:a16="http://schemas.microsoft.com/office/drawing/2014/main" id="{2B37A414-67B6-F94B-E31C-89E606A7BFA6}"/>
              </a:ext>
            </a:extLst>
          </p:cNvPr>
          <p:cNvSpPr/>
          <p:nvPr/>
        </p:nvSpPr>
        <p:spPr>
          <a:xfrm>
            <a:off x="1627488" y="1518285"/>
            <a:ext cx="18415" cy="34290"/>
          </a:xfrm>
          <a:prstGeom prst="rect">
            <a:avLst/>
          </a:prstGeom>
          <a:solidFill>
            <a:srgbClr val="3B8C80"/>
          </a:solidFill>
          <a:ln w="0" cap="rnd">
            <a:noFill/>
          </a:ln>
        </p:spPr>
      </p:sp>
      <p:sp>
        <p:nvSpPr>
          <p:cNvPr id="1467" name="V8 embedding feature 6">
            <a:extLst>
              <a:ext uri="{FF2B5EF4-FFF2-40B4-BE49-F238E27FC236}">
                <a16:creationId xmlns:a16="http://schemas.microsoft.com/office/drawing/2014/main" id="{43F3F72D-1F29-8750-1187-9DDB60F0B146}"/>
              </a:ext>
            </a:extLst>
          </p:cNvPr>
          <p:cNvSpPr/>
          <p:nvPr/>
        </p:nvSpPr>
        <p:spPr>
          <a:xfrm>
            <a:off x="1647173" y="1518285"/>
            <a:ext cx="18415" cy="34290"/>
          </a:xfrm>
          <a:prstGeom prst="rect">
            <a:avLst/>
          </a:prstGeom>
          <a:solidFill>
            <a:srgbClr val="A3CDDA"/>
          </a:solidFill>
          <a:ln w="0" cap="rnd">
            <a:noFill/>
          </a:ln>
        </p:spPr>
      </p:sp>
      <p:sp>
        <p:nvSpPr>
          <p:cNvPr id="1468" name="V8 embedding feature 7">
            <a:extLst>
              <a:ext uri="{FF2B5EF4-FFF2-40B4-BE49-F238E27FC236}">
                <a16:creationId xmlns:a16="http://schemas.microsoft.com/office/drawing/2014/main" id="{00A1FE55-6557-0429-C6EB-0599207669FC}"/>
              </a:ext>
            </a:extLst>
          </p:cNvPr>
          <p:cNvSpPr/>
          <p:nvPr/>
        </p:nvSpPr>
        <p:spPr>
          <a:xfrm>
            <a:off x="1666858" y="1518285"/>
            <a:ext cx="18415" cy="34290"/>
          </a:xfrm>
          <a:prstGeom prst="rect">
            <a:avLst/>
          </a:prstGeom>
          <a:solidFill>
            <a:srgbClr val="6CAFA4"/>
          </a:solidFill>
          <a:ln w="0" cap="rnd">
            <a:noFill/>
          </a:ln>
        </p:spPr>
      </p:sp>
      <p:sp>
        <p:nvSpPr>
          <p:cNvPr id="1469" name="V8 embedding feature 8">
            <a:extLst>
              <a:ext uri="{FF2B5EF4-FFF2-40B4-BE49-F238E27FC236}">
                <a16:creationId xmlns:a16="http://schemas.microsoft.com/office/drawing/2014/main" id="{30EF5E93-BBBE-493F-5AC8-4B50E4B48ECE}"/>
              </a:ext>
            </a:extLst>
          </p:cNvPr>
          <p:cNvSpPr/>
          <p:nvPr/>
        </p:nvSpPr>
        <p:spPr>
          <a:xfrm>
            <a:off x="1686543" y="1518285"/>
            <a:ext cx="18415" cy="34290"/>
          </a:xfrm>
          <a:prstGeom prst="rect">
            <a:avLst/>
          </a:prstGeom>
          <a:solidFill>
            <a:srgbClr val="C4DDE0"/>
          </a:solidFill>
          <a:ln w="0" cap="rnd">
            <a:noFill/>
          </a:ln>
        </p:spPr>
      </p:sp>
      <p:sp>
        <p:nvSpPr>
          <p:cNvPr id="1471" name="V8 embedding to point branch">
            <a:extLst>
              <a:ext uri="{FF2B5EF4-FFF2-40B4-BE49-F238E27FC236}">
                <a16:creationId xmlns:a16="http://schemas.microsoft.com/office/drawing/2014/main" id="{02ED4828-EA7C-BCD9-5EDB-73F437500450}"/>
              </a:ext>
            </a:extLst>
          </p:cNvPr>
          <p:cNvSpPr/>
          <p:nvPr/>
        </p:nvSpPr>
        <p:spPr>
          <a:xfrm flipV="1">
            <a:off x="1767191" y="1469001"/>
            <a:ext cx="157162" cy="66614"/>
          </a:xfrm>
          <a:custGeom>
            <a:avLst/>
            <a:gdLst/>
            <a:ahLst/>
            <a:cxnLst/>
            <a:rect l="l" t="t" r="r" b="b"/>
            <a:pathLst>
              <a:path w="63379" h="1">
                <a:moveTo>
                  <a:pt x="0" y="0"/>
                </a:moveTo>
                <a:lnTo>
                  <a:pt x="63379" y="0"/>
                </a:lnTo>
              </a:path>
            </a:pathLst>
          </a:custGeom>
          <a:noFill/>
          <a:ln w="8509" cap="rnd">
            <a:solidFill>
              <a:srgbClr val="77828C"/>
            </a:solidFill>
            <a:prstDash val="solid"/>
            <a:round/>
          </a:ln>
        </p:spPr>
      </p:sp>
      <p:sp>
        <p:nvSpPr>
          <p:cNvPr id="1472" name="V8 embedding to point branch head">
            <a:extLst>
              <a:ext uri="{FF2B5EF4-FFF2-40B4-BE49-F238E27FC236}">
                <a16:creationId xmlns:a16="http://schemas.microsoft.com/office/drawing/2014/main" id="{5351FC20-1EFA-3046-A67A-60A080E25430}"/>
              </a:ext>
            </a:extLst>
          </p:cNvPr>
          <p:cNvSpPr/>
          <p:nvPr/>
        </p:nvSpPr>
        <p:spPr>
          <a:xfrm>
            <a:off x="1909057" y="1523745"/>
            <a:ext cx="28321" cy="24384"/>
          </a:xfrm>
          <a:custGeom>
            <a:avLst/>
            <a:gdLst/>
            <a:ahLst/>
            <a:cxnLst/>
            <a:rect l="l" t="t" r="r" b="b"/>
            <a:pathLst>
              <a:path w="28321" h="24384">
                <a:moveTo>
                  <a:pt x="28321" y="12192"/>
                </a:moveTo>
                <a:lnTo>
                  <a:pt x="0" y="0"/>
                </a:lnTo>
                <a:lnTo>
                  <a:pt x="0" y="24384"/>
                </a:lnTo>
                <a:close/>
              </a:path>
            </a:pathLst>
          </a:custGeom>
          <a:solidFill>
            <a:srgbClr val="77828C"/>
          </a:solidFill>
          <a:ln w="0" cap="rnd">
            <a:solidFill>
              <a:srgbClr val="77828C"/>
            </a:solidFill>
          </a:ln>
        </p:spPr>
      </p:sp>
      <p:sp>
        <p:nvSpPr>
          <p:cNvPr id="1473" name="V8 embedding to voxel branch">
            <a:extLst>
              <a:ext uri="{FF2B5EF4-FFF2-40B4-BE49-F238E27FC236}">
                <a16:creationId xmlns:a16="http://schemas.microsoft.com/office/drawing/2014/main" id="{FEECEC48-8097-17EF-5B69-806AE8B552D0}"/>
              </a:ext>
            </a:extLst>
          </p:cNvPr>
          <p:cNvSpPr/>
          <p:nvPr/>
        </p:nvSpPr>
        <p:spPr>
          <a:xfrm flipH="1">
            <a:off x="1787927" y="835707"/>
            <a:ext cx="45719" cy="699723"/>
          </a:xfrm>
          <a:custGeom>
            <a:avLst/>
            <a:gdLst/>
            <a:ahLst/>
            <a:cxnLst/>
            <a:rect l="l" t="t" r="r" b="b"/>
            <a:pathLst>
              <a:path w="1" h="866159">
                <a:moveTo>
                  <a:pt x="0" y="866159"/>
                </a:moveTo>
                <a:lnTo>
                  <a:pt x="0" y="0"/>
                </a:lnTo>
              </a:path>
            </a:pathLst>
          </a:custGeom>
          <a:noFill/>
          <a:ln w="8509" cap="rnd">
            <a:solidFill>
              <a:srgbClr val="77828C"/>
            </a:solidFill>
            <a:prstDash val="solid"/>
            <a:round/>
          </a:ln>
        </p:spPr>
      </p:sp>
      <p:sp>
        <p:nvSpPr>
          <p:cNvPr id="1475" name="V8 density and receptor to voxel">
            <a:extLst>
              <a:ext uri="{FF2B5EF4-FFF2-40B4-BE49-F238E27FC236}">
                <a16:creationId xmlns:a16="http://schemas.microsoft.com/office/drawing/2014/main" id="{194CCBEA-A563-E1C4-75EF-A0D3C76F59AC}"/>
              </a:ext>
            </a:extLst>
          </p:cNvPr>
          <p:cNvSpPr/>
          <p:nvPr/>
        </p:nvSpPr>
        <p:spPr>
          <a:xfrm flipV="1">
            <a:off x="1767284" y="610807"/>
            <a:ext cx="148072" cy="45719"/>
          </a:xfrm>
          <a:custGeom>
            <a:avLst/>
            <a:gdLst/>
            <a:ahLst/>
            <a:cxnLst/>
            <a:rect l="l" t="t" r="r" b="b"/>
            <a:pathLst>
              <a:path w="96730" h="1">
                <a:moveTo>
                  <a:pt x="0" y="0"/>
                </a:moveTo>
                <a:lnTo>
                  <a:pt x="96730" y="0"/>
                </a:lnTo>
              </a:path>
            </a:pathLst>
          </a:custGeom>
          <a:noFill/>
          <a:ln w="8509" cap="rnd">
            <a:solidFill>
              <a:srgbClr val="77828C"/>
            </a:solidFill>
            <a:prstDash val="solid"/>
            <a:round/>
          </a:ln>
        </p:spPr>
      </p:sp>
      <p:sp>
        <p:nvSpPr>
          <p:cNvPr id="1476" name="V8 density and receptor to voxel head">
            <a:extLst>
              <a:ext uri="{FF2B5EF4-FFF2-40B4-BE49-F238E27FC236}">
                <a16:creationId xmlns:a16="http://schemas.microsoft.com/office/drawing/2014/main" id="{2CDB69E4-23E0-C0A2-6713-348EBF1C3F8F}"/>
              </a:ext>
            </a:extLst>
          </p:cNvPr>
          <p:cNvSpPr/>
          <p:nvPr/>
        </p:nvSpPr>
        <p:spPr>
          <a:xfrm>
            <a:off x="1904526" y="644334"/>
            <a:ext cx="28321" cy="24384"/>
          </a:xfrm>
          <a:custGeom>
            <a:avLst/>
            <a:gdLst/>
            <a:ahLst/>
            <a:cxnLst/>
            <a:rect l="l" t="t" r="r" b="b"/>
            <a:pathLst>
              <a:path w="28321" h="24384">
                <a:moveTo>
                  <a:pt x="28321" y="12192"/>
                </a:moveTo>
                <a:lnTo>
                  <a:pt x="0" y="0"/>
                </a:lnTo>
                <a:lnTo>
                  <a:pt x="0" y="24384"/>
                </a:lnTo>
                <a:close/>
              </a:path>
            </a:pathLst>
          </a:custGeom>
          <a:solidFill>
            <a:srgbClr val="77828C"/>
          </a:solidFill>
          <a:ln w="0" cap="rnd">
            <a:noFill/>
          </a:ln>
        </p:spPr>
      </p:sp>
      <p:sp>
        <p:nvSpPr>
          <p:cNvPr id="1479" name="V8 Match input divider">
            <a:extLst>
              <a:ext uri="{FF2B5EF4-FFF2-40B4-BE49-F238E27FC236}">
                <a16:creationId xmlns:a16="http://schemas.microsoft.com/office/drawing/2014/main" id="{F3D87676-068C-E48A-EC7D-9B0B3C1AF538}"/>
              </a:ext>
            </a:extLst>
          </p:cNvPr>
          <p:cNvSpPr/>
          <p:nvPr/>
        </p:nvSpPr>
        <p:spPr>
          <a:xfrm>
            <a:off x="596155" y="2767063"/>
            <a:ext cx="957199" cy="1"/>
          </a:xfrm>
          <a:custGeom>
            <a:avLst/>
            <a:gdLst/>
            <a:ahLst/>
            <a:cxnLst/>
            <a:rect l="l" t="t" r="r" b="b"/>
            <a:pathLst>
              <a:path w="957199" h="1">
                <a:moveTo>
                  <a:pt x="0" y="0"/>
                </a:moveTo>
                <a:lnTo>
                  <a:pt x="957199" y="0"/>
                </a:lnTo>
              </a:path>
            </a:pathLst>
          </a:custGeom>
          <a:noFill/>
          <a:ln w="7290" cap="rnd">
            <a:solidFill>
              <a:srgbClr val="C8CFD4"/>
            </a:solidFill>
            <a:prstDash val="solid"/>
            <a:round/>
          </a:ln>
        </p:spPr>
      </p:sp>
      <p:sp>
        <p:nvSpPr>
          <p:cNvPr id="1480" name="V8 pool to concat">
            <a:extLst>
              <a:ext uri="{FF2B5EF4-FFF2-40B4-BE49-F238E27FC236}">
                <a16:creationId xmlns:a16="http://schemas.microsoft.com/office/drawing/2014/main" id="{166BE9FB-9181-6CAD-992E-A2D11E9D59F8}"/>
              </a:ext>
            </a:extLst>
          </p:cNvPr>
          <p:cNvSpPr/>
          <p:nvPr/>
        </p:nvSpPr>
        <p:spPr>
          <a:xfrm>
            <a:off x="917331" y="3603168"/>
            <a:ext cx="355873" cy="100152"/>
          </a:xfrm>
          <a:custGeom>
            <a:avLst/>
            <a:gdLst/>
            <a:ahLst/>
            <a:cxnLst/>
            <a:rect l="l" t="t" r="r" b="b"/>
            <a:pathLst>
              <a:path w="355873" h="100152">
                <a:moveTo>
                  <a:pt x="0" y="0"/>
                </a:moveTo>
                <a:lnTo>
                  <a:pt x="0" y="100152"/>
                </a:lnTo>
                <a:lnTo>
                  <a:pt x="355873" y="100152"/>
                </a:lnTo>
              </a:path>
            </a:pathLst>
          </a:custGeom>
          <a:noFill/>
          <a:ln w="8509" cap="rnd">
            <a:solidFill>
              <a:srgbClr val="77828C"/>
            </a:solidFill>
            <a:prstDash val="solid"/>
            <a:round/>
          </a:ln>
        </p:spPr>
      </p:sp>
      <p:sp>
        <p:nvSpPr>
          <p:cNvPr id="1481" name="V8 attention to concat">
            <a:extLst>
              <a:ext uri="{FF2B5EF4-FFF2-40B4-BE49-F238E27FC236}">
                <a16:creationId xmlns:a16="http://schemas.microsoft.com/office/drawing/2014/main" id="{98D84FF8-BC6C-50B4-6B2E-1EE2D570B8DD}"/>
              </a:ext>
            </a:extLst>
          </p:cNvPr>
          <p:cNvSpPr/>
          <p:nvPr/>
        </p:nvSpPr>
        <p:spPr>
          <a:xfrm>
            <a:off x="1273204" y="3603168"/>
            <a:ext cx="356064" cy="100152"/>
          </a:xfrm>
          <a:custGeom>
            <a:avLst/>
            <a:gdLst/>
            <a:ahLst/>
            <a:cxnLst/>
            <a:rect l="l" t="t" r="r" b="b"/>
            <a:pathLst>
              <a:path w="356064" h="100152">
                <a:moveTo>
                  <a:pt x="356064" y="0"/>
                </a:moveTo>
                <a:lnTo>
                  <a:pt x="356064" y="100152"/>
                </a:lnTo>
                <a:lnTo>
                  <a:pt x="0" y="100152"/>
                </a:lnTo>
              </a:path>
            </a:pathLst>
          </a:custGeom>
          <a:noFill/>
          <a:ln w="8509" cap="rnd">
            <a:solidFill>
              <a:srgbClr val="77828C"/>
            </a:solidFill>
            <a:prstDash val="solid"/>
            <a:round/>
          </a:ln>
        </p:spPr>
      </p:sp>
      <p:sp>
        <p:nvSpPr>
          <p:cNvPr id="1482" name="V8 concat to MLP">
            <a:extLst>
              <a:ext uri="{FF2B5EF4-FFF2-40B4-BE49-F238E27FC236}">
                <a16:creationId xmlns:a16="http://schemas.microsoft.com/office/drawing/2014/main" id="{FC6B198B-47D7-FFC4-DD2C-512ADB5BAC9D}"/>
              </a:ext>
            </a:extLst>
          </p:cNvPr>
          <p:cNvSpPr/>
          <p:nvPr/>
        </p:nvSpPr>
        <p:spPr>
          <a:xfrm>
            <a:off x="1273204" y="3703320"/>
            <a:ext cx="1" cy="22181"/>
          </a:xfrm>
          <a:custGeom>
            <a:avLst/>
            <a:gdLst/>
            <a:ahLst/>
            <a:cxnLst/>
            <a:rect l="l" t="t" r="r" b="b"/>
            <a:pathLst>
              <a:path w="1" h="22181">
                <a:moveTo>
                  <a:pt x="0" y="0"/>
                </a:moveTo>
                <a:lnTo>
                  <a:pt x="0" y="22181"/>
                </a:lnTo>
              </a:path>
            </a:pathLst>
          </a:custGeom>
          <a:noFill/>
          <a:ln w="8509" cap="rnd">
            <a:solidFill>
              <a:srgbClr val="77828C"/>
            </a:solidFill>
            <a:prstDash val="solid"/>
            <a:round/>
          </a:ln>
        </p:spPr>
      </p:sp>
      <p:sp>
        <p:nvSpPr>
          <p:cNvPr id="1483" name="V8 concat to MLP head">
            <a:extLst>
              <a:ext uri="{FF2B5EF4-FFF2-40B4-BE49-F238E27FC236}">
                <a16:creationId xmlns:a16="http://schemas.microsoft.com/office/drawing/2014/main" id="{5D9C9BEF-05CE-6AA6-E28E-771DFF6D66EA}"/>
              </a:ext>
            </a:extLst>
          </p:cNvPr>
          <p:cNvSpPr/>
          <p:nvPr/>
        </p:nvSpPr>
        <p:spPr>
          <a:xfrm>
            <a:off x="1261012" y="3709924"/>
            <a:ext cx="24384" cy="28321"/>
          </a:xfrm>
          <a:custGeom>
            <a:avLst/>
            <a:gdLst/>
            <a:ahLst/>
            <a:cxnLst/>
            <a:rect l="l" t="t" r="r" b="b"/>
            <a:pathLst>
              <a:path w="24384" h="28321">
                <a:moveTo>
                  <a:pt x="12192" y="28321"/>
                </a:moveTo>
                <a:lnTo>
                  <a:pt x="24384" y="0"/>
                </a:lnTo>
                <a:lnTo>
                  <a:pt x="0" y="0"/>
                </a:lnTo>
                <a:close/>
              </a:path>
            </a:pathLst>
          </a:custGeom>
          <a:solidFill>
            <a:srgbClr val="77828C"/>
          </a:solidFill>
          <a:ln w="0" cap="rnd">
            <a:noFill/>
          </a:ln>
        </p:spPr>
      </p:sp>
      <p:grpSp>
        <p:nvGrpSpPr>
          <p:cNvPr id="6" name="Find candidate blob 2">
            <a:extLst>
              <a:ext uri="{FF2B5EF4-FFF2-40B4-BE49-F238E27FC236}">
                <a16:creationId xmlns:a16="http://schemas.microsoft.com/office/drawing/2014/main" id="{75B91D94-AEBE-63B6-81C4-C0DA1164C79A}"/>
              </a:ext>
            </a:extLst>
          </p:cNvPr>
          <p:cNvGrpSpPr/>
          <p:nvPr/>
        </p:nvGrpSpPr>
        <p:grpSpPr>
          <a:xfrm rot="3197729">
            <a:off x="4553030" y="901286"/>
            <a:ext cx="140909" cy="118817"/>
            <a:chOff x="1928706" y="3559489"/>
            <a:chExt cx="227897" cy="155682"/>
          </a:xfrm>
        </p:grpSpPr>
        <p:sp>
          <p:nvSpPr>
            <p:cNvPr id="16" name="Candidate blob | editable contour">
              <a:extLst>
                <a:ext uri="{FF2B5EF4-FFF2-40B4-BE49-F238E27FC236}">
                  <a16:creationId xmlns:a16="http://schemas.microsoft.com/office/drawing/2014/main" id="{237F2A93-52DF-68E2-54F7-C8D3B93648B4}"/>
                </a:ext>
              </a:extLst>
            </p:cNvPr>
            <p:cNvSpPr/>
            <p:nvPr/>
          </p:nvSpPr>
          <p:spPr>
            <a:xfrm>
              <a:off x="1928706" y="3559489"/>
              <a:ext cx="227897" cy="155682"/>
            </a:xfrm>
            <a:custGeom>
              <a:avLst/>
              <a:gdLst/>
              <a:ahLst/>
              <a:cxnLst/>
              <a:rect l="0" t="0" r="w" b="h"/>
              <a:pathLst>
                <a:path w="227897" h="155682" extrusionOk="0">
                  <a:moveTo>
                    <a:pt x="3521" y="100385"/>
                  </a:moveTo>
                  <a:cubicBezTo>
                    <a:pt x="0" y="80701"/>
                    <a:pt x="26006" y="62787"/>
                    <a:pt x="43453" y="54263"/>
                  </a:cubicBezTo>
                  <a:cubicBezTo>
                    <a:pt x="58843" y="43224"/>
                    <a:pt x="83460" y="52781"/>
                    <a:pt x="99588" y="43358"/>
                  </a:cubicBezTo>
                  <a:cubicBezTo>
                    <a:pt x="112436" y="32945"/>
                    <a:pt x="102548" y="9475"/>
                    <a:pt x="114181" y="4123"/>
                  </a:cubicBezTo>
                  <a:cubicBezTo>
                    <a:pt x="125241" y="0"/>
                    <a:pt x="158214" y="2398"/>
                    <a:pt x="179365" y="5837"/>
                  </a:cubicBezTo>
                  <a:cubicBezTo>
                    <a:pt x="197301" y="9996"/>
                    <a:pt x="210134" y="19340"/>
                    <a:pt x="216909" y="31256"/>
                  </a:cubicBezTo>
                  <a:cubicBezTo>
                    <a:pt x="221237" y="45342"/>
                    <a:pt x="227897" y="67151"/>
                    <a:pt x="224378" y="79920"/>
                  </a:cubicBezTo>
                  <a:cubicBezTo>
                    <a:pt x="219253" y="92918"/>
                    <a:pt x="191986" y="104353"/>
                    <a:pt x="170629" y="115250"/>
                  </a:cubicBezTo>
                  <a:cubicBezTo>
                    <a:pt x="155563" y="129736"/>
                    <a:pt x="143418" y="146104"/>
                    <a:pt x="126157" y="151452"/>
                  </a:cubicBezTo>
                  <a:cubicBezTo>
                    <a:pt x="110048" y="155682"/>
                    <a:pt x="82946" y="155682"/>
                    <a:pt x="52808" y="150002"/>
                  </a:cubicBezTo>
                  <a:cubicBezTo>
                    <a:pt x="28847" y="143645"/>
                    <a:pt x="5675" y="118994"/>
                    <a:pt x="3521" y="100385"/>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17" name="ellipse_2612">
              <a:extLst>
                <a:ext uri="{FF2B5EF4-FFF2-40B4-BE49-F238E27FC236}">
                  <a16:creationId xmlns:a16="http://schemas.microsoft.com/office/drawing/2014/main" id="{BC3C82B2-460D-CCF4-42B9-3E76FA9CB0EF}"/>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sp>
        <p:nvSpPr>
          <p:cNvPr id="50449" name="F2-bank-channel">
            <a:extLst>
              <a:ext uri="{FF2B5EF4-FFF2-40B4-BE49-F238E27FC236}">
                <a16:creationId xmlns:a16="http://schemas.microsoft.com/office/drawing/2014/main" id="{AC1088D6-C440-F1BD-F88C-F1EA027DE842}"/>
              </a:ext>
            </a:extLst>
          </p:cNvPr>
          <p:cNvSpPr>
            <a:spLocks noGrp="1"/>
          </p:cNvSpPr>
          <p:nvPr/>
        </p:nvSpPr>
        <p:spPr>
          <a:xfrm>
            <a:off x="1453500" y="508635"/>
            <a:ext cx="257175" cy="190500"/>
          </a:xfrm>
          <a:prstGeom prst="rect">
            <a:avLst/>
          </a:prstGeom>
          <a:solidFill>
            <a:srgbClr val="EBF7FC"/>
          </a:solidFill>
          <a:ln w="4286">
            <a:solidFill>
              <a:srgbClr val="A6C5DF"/>
            </a:solidFill>
          </a:ln>
        </p:spPr>
      </p:sp>
      <p:sp>
        <p:nvSpPr>
          <p:cNvPr id="50450" name="F2-bank-channel">
            <a:extLst>
              <a:ext uri="{FF2B5EF4-FFF2-40B4-BE49-F238E27FC236}">
                <a16:creationId xmlns:a16="http://schemas.microsoft.com/office/drawing/2014/main" id="{BDDC5820-76B2-62EF-B9DF-79BB8C6FD867}"/>
              </a:ext>
            </a:extLst>
          </p:cNvPr>
          <p:cNvSpPr>
            <a:spLocks noGrp="1"/>
          </p:cNvSpPr>
          <p:nvPr/>
        </p:nvSpPr>
        <p:spPr>
          <a:xfrm>
            <a:off x="1445880" y="515303"/>
            <a:ext cx="257175" cy="190500"/>
          </a:xfrm>
          <a:prstGeom prst="rect">
            <a:avLst/>
          </a:prstGeom>
          <a:solidFill>
            <a:srgbClr val="EBF7FC"/>
          </a:solidFill>
          <a:ln w="4286">
            <a:solidFill>
              <a:srgbClr val="A6C5DF"/>
            </a:solidFill>
          </a:ln>
        </p:spPr>
      </p:sp>
      <p:sp>
        <p:nvSpPr>
          <p:cNvPr id="50451" name="F2-bank-channel">
            <a:extLst>
              <a:ext uri="{FF2B5EF4-FFF2-40B4-BE49-F238E27FC236}">
                <a16:creationId xmlns:a16="http://schemas.microsoft.com/office/drawing/2014/main" id="{090879D7-57ED-02F4-D6DF-ECA0262710D3}"/>
              </a:ext>
            </a:extLst>
          </p:cNvPr>
          <p:cNvSpPr>
            <a:spLocks noGrp="1"/>
          </p:cNvSpPr>
          <p:nvPr/>
        </p:nvSpPr>
        <p:spPr>
          <a:xfrm>
            <a:off x="1438260" y="521970"/>
            <a:ext cx="257175" cy="190500"/>
          </a:xfrm>
          <a:prstGeom prst="rect">
            <a:avLst/>
          </a:prstGeom>
          <a:solidFill>
            <a:srgbClr val="EBF7FC"/>
          </a:solidFill>
          <a:ln w="4286">
            <a:solidFill>
              <a:srgbClr val="A6C5DF"/>
            </a:solidFill>
          </a:ln>
        </p:spPr>
      </p:sp>
      <p:sp>
        <p:nvSpPr>
          <p:cNvPr id="50452" name="F2-bank-channel">
            <a:extLst>
              <a:ext uri="{FF2B5EF4-FFF2-40B4-BE49-F238E27FC236}">
                <a16:creationId xmlns:a16="http://schemas.microsoft.com/office/drawing/2014/main" id="{31615CE3-8FFF-495C-F009-F60467821B1E}"/>
              </a:ext>
            </a:extLst>
          </p:cNvPr>
          <p:cNvSpPr>
            <a:spLocks noGrp="1"/>
          </p:cNvSpPr>
          <p:nvPr/>
        </p:nvSpPr>
        <p:spPr>
          <a:xfrm>
            <a:off x="1430640" y="528638"/>
            <a:ext cx="257175" cy="190500"/>
          </a:xfrm>
          <a:prstGeom prst="rect">
            <a:avLst/>
          </a:prstGeom>
          <a:solidFill>
            <a:srgbClr val="EBF7FC"/>
          </a:solidFill>
          <a:ln w="4286">
            <a:solidFill>
              <a:srgbClr val="A6C5DF"/>
            </a:solidFill>
          </a:ln>
        </p:spPr>
      </p:sp>
      <p:sp>
        <p:nvSpPr>
          <p:cNvPr id="50453" name="F2-bank-channel">
            <a:extLst>
              <a:ext uri="{FF2B5EF4-FFF2-40B4-BE49-F238E27FC236}">
                <a16:creationId xmlns:a16="http://schemas.microsoft.com/office/drawing/2014/main" id="{45D76177-F172-C3AC-3C24-EDD7709D386E}"/>
              </a:ext>
            </a:extLst>
          </p:cNvPr>
          <p:cNvSpPr>
            <a:spLocks noGrp="1"/>
          </p:cNvSpPr>
          <p:nvPr/>
        </p:nvSpPr>
        <p:spPr>
          <a:xfrm>
            <a:off x="1423020" y="535305"/>
            <a:ext cx="257175" cy="190500"/>
          </a:xfrm>
          <a:prstGeom prst="rect">
            <a:avLst/>
          </a:prstGeom>
          <a:solidFill>
            <a:srgbClr val="EBF7FC"/>
          </a:solidFill>
          <a:ln w="4286">
            <a:solidFill>
              <a:srgbClr val="A6C5DF"/>
            </a:solidFill>
          </a:ln>
        </p:spPr>
      </p:sp>
      <p:sp>
        <p:nvSpPr>
          <p:cNvPr id="50454" name="F2-bank-channel">
            <a:extLst>
              <a:ext uri="{FF2B5EF4-FFF2-40B4-BE49-F238E27FC236}">
                <a16:creationId xmlns:a16="http://schemas.microsoft.com/office/drawing/2014/main" id="{B538D1FE-2DFB-E34D-B78B-1ABE37A8AABA}"/>
              </a:ext>
            </a:extLst>
          </p:cNvPr>
          <p:cNvSpPr>
            <a:spLocks noGrp="1"/>
          </p:cNvSpPr>
          <p:nvPr/>
        </p:nvSpPr>
        <p:spPr>
          <a:xfrm>
            <a:off x="1415400" y="541973"/>
            <a:ext cx="257175" cy="190500"/>
          </a:xfrm>
          <a:prstGeom prst="rect">
            <a:avLst/>
          </a:prstGeom>
          <a:solidFill>
            <a:srgbClr val="EBF7FC"/>
          </a:solidFill>
          <a:ln w="4286">
            <a:solidFill>
              <a:srgbClr val="A6C5DF"/>
            </a:solidFill>
          </a:ln>
        </p:spPr>
      </p:sp>
      <p:sp>
        <p:nvSpPr>
          <p:cNvPr id="50455" name="F2-bank-channel">
            <a:extLst>
              <a:ext uri="{FF2B5EF4-FFF2-40B4-BE49-F238E27FC236}">
                <a16:creationId xmlns:a16="http://schemas.microsoft.com/office/drawing/2014/main" id="{B18CAE34-402D-B28F-0308-114860F6CC34}"/>
              </a:ext>
            </a:extLst>
          </p:cNvPr>
          <p:cNvSpPr>
            <a:spLocks noGrp="1"/>
          </p:cNvSpPr>
          <p:nvPr/>
        </p:nvSpPr>
        <p:spPr>
          <a:xfrm>
            <a:off x="1407780" y="548640"/>
            <a:ext cx="257175" cy="190500"/>
          </a:xfrm>
          <a:prstGeom prst="rect">
            <a:avLst/>
          </a:prstGeom>
          <a:solidFill>
            <a:srgbClr val="EBF7FC"/>
          </a:solidFill>
          <a:ln w="4286">
            <a:solidFill>
              <a:srgbClr val="A6C5DF"/>
            </a:solidFill>
          </a:ln>
        </p:spPr>
      </p:sp>
      <p:sp>
        <p:nvSpPr>
          <p:cNvPr id="50456" name="F2-bank-channel">
            <a:extLst>
              <a:ext uri="{FF2B5EF4-FFF2-40B4-BE49-F238E27FC236}">
                <a16:creationId xmlns:a16="http://schemas.microsoft.com/office/drawing/2014/main" id="{CFC0F380-6A3F-61A0-B200-90E2F860E6A0}"/>
              </a:ext>
            </a:extLst>
          </p:cNvPr>
          <p:cNvSpPr>
            <a:spLocks noGrp="1"/>
          </p:cNvSpPr>
          <p:nvPr/>
        </p:nvSpPr>
        <p:spPr>
          <a:xfrm>
            <a:off x="1400160" y="555308"/>
            <a:ext cx="257175" cy="190500"/>
          </a:xfrm>
          <a:prstGeom prst="rect">
            <a:avLst/>
          </a:prstGeom>
          <a:solidFill>
            <a:srgbClr val="EBF7FC"/>
          </a:solidFill>
          <a:ln w="4286">
            <a:solidFill>
              <a:srgbClr val="A6C5DF"/>
            </a:solidFill>
          </a:ln>
        </p:spPr>
      </p:sp>
      <p:sp>
        <p:nvSpPr>
          <p:cNvPr id="50457" name="F2-bank-channel">
            <a:extLst>
              <a:ext uri="{FF2B5EF4-FFF2-40B4-BE49-F238E27FC236}">
                <a16:creationId xmlns:a16="http://schemas.microsoft.com/office/drawing/2014/main" id="{7FF25DE1-543A-304D-0BE7-B4FCEB5FA3C1}"/>
              </a:ext>
            </a:extLst>
          </p:cNvPr>
          <p:cNvSpPr>
            <a:spLocks noGrp="1"/>
          </p:cNvSpPr>
          <p:nvPr/>
        </p:nvSpPr>
        <p:spPr>
          <a:xfrm>
            <a:off x="1392540" y="561975"/>
            <a:ext cx="257175" cy="190500"/>
          </a:xfrm>
          <a:prstGeom prst="rect">
            <a:avLst/>
          </a:prstGeom>
          <a:solidFill>
            <a:srgbClr val="EBF7FC"/>
          </a:solidFill>
          <a:ln w="4286">
            <a:solidFill>
              <a:srgbClr val="A6C5DF"/>
            </a:solidFill>
          </a:ln>
        </p:spPr>
      </p:sp>
      <p:sp>
        <p:nvSpPr>
          <p:cNvPr id="50458" name="F2-density-voxel">
            <a:extLst>
              <a:ext uri="{FF2B5EF4-FFF2-40B4-BE49-F238E27FC236}">
                <a16:creationId xmlns:a16="http://schemas.microsoft.com/office/drawing/2014/main" id="{79E26BBE-745A-D6E3-04A0-721460939865}"/>
              </a:ext>
            </a:extLst>
          </p:cNvPr>
          <p:cNvSpPr>
            <a:spLocks noGrp="1"/>
          </p:cNvSpPr>
          <p:nvPr/>
        </p:nvSpPr>
        <p:spPr>
          <a:xfrm>
            <a:off x="1411590" y="571500"/>
            <a:ext cx="52388" cy="42863"/>
          </a:xfrm>
          <a:prstGeom prst="rect">
            <a:avLst/>
          </a:prstGeom>
          <a:solidFill>
            <a:srgbClr val="CCE5EE"/>
          </a:solidFill>
          <a:ln w="0">
            <a:noFill/>
          </a:ln>
        </p:spPr>
      </p:sp>
      <p:sp>
        <p:nvSpPr>
          <p:cNvPr id="50459" name="F2-density-voxel">
            <a:extLst>
              <a:ext uri="{FF2B5EF4-FFF2-40B4-BE49-F238E27FC236}">
                <a16:creationId xmlns:a16="http://schemas.microsoft.com/office/drawing/2014/main" id="{1C10B641-CD4C-2F7F-41EA-C7051AD8871E}"/>
              </a:ext>
            </a:extLst>
          </p:cNvPr>
          <p:cNvSpPr>
            <a:spLocks noGrp="1"/>
          </p:cNvSpPr>
          <p:nvPr/>
        </p:nvSpPr>
        <p:spPr>
          <a:xfrm>
            <a:off x="1463978" y="571500"/>
            <a:ext cx="52388" cy="42863"/>
          </a:xfrm>
          <a:prstGeom prst="rect">
            <a:avLst/>
          </a:prstGeom>
          <a:solidFill>
            <a:srgbClr val="86C0D7"/>
          </a:solidFill>
          <a:ln w="0">
            <a:noFill/>
          </a:ln>
        </p:spPr>
      </p:sp>
      <p:sp>
        <p:nvSpPr>
          <p:cNvPr id="50460" name="F2-density-voxel">
            <a:extLst>
              <a:ext uri="{FF2B5EF4-FFF2-40B4-BE49-F238E27FC236}">
                <a16:creationId xmlns:a16="http://schemas.microsoft.com/office/drawing/2014/main" id="{9E6C0E78-E519-2F5A-B74F-175E68A7684C}"/>
              </a:ext>
            </a:extLst>
          </p:cNvPr>
          <p:cNvSpPr>
            <a:spLocks noGrp="1"/>
          </p:cNvSpPr>
          <p:nvPr/>
        </p:nvSpPr>
        <p:spPr>
          <a:xfrm>
            <a:off x="1516365" y="571500"/>
            <a:ext cx="52388" cy="42863"/>
          </a:xfrm>
          <a:prstGeom prst="rect">
            <a:avLst/>
          </a:prstGeom>
          <a:solidFill>
            <a:srgbClr val="4D9ABB"/>
          </a:solidFill>
          <a:ln w="0">
            <a:noFill/>
          </a:ln>
        </p:spPr>
      </p:sp>
      <p:sp>
        <p:nvSpPr>
          <p:cNvPr id="50461" name="F2-density-voxel">
            <a:extLst>
              <a:ext uri="{FF2B5EF4-FFF2-40B4-BE49-F238E27FC236}">
                <a16:creationId xmlns:a16="http://schemas.microsoft.com/office/drawing/2014/main" id="{270B61F3-AB26-C38A-FCF2-C6522C39F1EE}"/>
              </a:ext>
            </a:extLst>
          </p:cNvPr>
          <p:cNvSpPr>
            <a:spLocks noGrp="1"/>
          </p:cNvSpPr>
          <p:nvPr/>
        </p:nvSpPr>
        <p:spPr>
          <a:xfrm>
            <a:off x="1568753" y="571500"/>
            <a:ext cx="52388" cy="42863"/>
          </a:xfrm>
          <a:prstGeom prst="rect">
            <a:avLst/>
          </a:prstGeom>
          <a:solidFill>
            <a:srgbClr val="B6DDE7"/>
          </a:solidFill>
          <a:ln w="0">
            <a:noFill/>
          </a:ln>
        </p:spPr>
      </p:sp>
      <p:sp>
        <p:nvSpPr>
          <p:cNvPr id="50462" name="F2-density-voxel">
            <a:extLst>
              <a:ext uri="{FF2B5EF4-FFF2-40B4-BE49-F238E27FC236}">
                <a16:creationId xmlns:a16="http://schemas.microsoft.com/office/drawing/2014/main" id="{6D892A9D-53D5-7F09-52A7-186E945CF92A}"/>
              </a:ext>
            </a:extLst>
          </p:cNvPr>
          <p:cNvSpPr>
            <a:spLocks noGrp="1"/>
          </p:cNvSpPr>
          <p:nvPr/>
        </p:nvSpPr>
        <p:spPr>
          <a:xfrm>
            <a:off x="1411590" y="614363"/>
            <a:ext cx="52388" cy="42863"/>
          </a:xfrm>
          <a:prstGeom prst="rect">
            <a:avLst/>
          </a:prstGeom>
          <a:solidFill>
            <a:srgbClr val="86C0D7"/>
          </a:solidFill>
          <a:ln w="0">
            <a:noFill/>
          </a:ln>
        </p:spPr>
      </p:sp>
      <p:sp>
        <p:nvSpPr>
          <p:cNvPr id="50463" name="F2-density-voxel">
            <a:extLst>
              <a:ext uri="{FF2B5EF4-FFF2-40B4-BE49-F238E27FC236}">
                <a16:creationId xmlns:a16="http://schemas.microsoft.com/office/drawing/2014/main" id="{844592DB-E495-378B-159F-449E364665FA}"/>
              </a:ext>
            </a:extLst>
          </p:cNvPr>
          <p:cNvSpPr>
            <a:spLocks noGrp="1"/>
          </p:cNvSpPr>
          <p:nvPr/>
        </p:nvSpPr>
        <p:spPr>
          <a:xfrm>
            <a:off x="1463978" y="614363"/>
            <a:ext cx="52388" cy="42863"/>
          </a:xfrm>
          <a:prstGeom prst="rect">
            <a:avLst/>
          </a:prstGeom>
          <a:solidFill>
            <a:srgbClr val="4D9ABB"/>
          </a:solidFill>
          <a:ln w="0">
            <a:noFill/>
          </a:ln>
        </p:spPr>
      </p:sp>
      <p:sp>
        <p:nvSpPr>
          <p:cNvPr id="50464" name="F2-density-voxel">
            <a:extLst>
              <a:ext uri="{FF2B5EF4-FFF2-40B4-BE49-F238E27FC236}">
                <a16:creationId xmlns:a16="http://schemas.microsoft.com/office/drawing/2014/main" id="{141D58BB-3D10-70FD-6743-BDCBD0E08C76}"/>
              </a:ext>
            </a:extLst>
          </p:cNvPr>
          <p:cNvSpPr>
            <a:spLocks noGrp="1"/>
          </p:cNvSpPr>
          <p:nvPr/>
        </p:nvSpPr>
        <p:spPr>
          <a:xfrm>
            <a:off x="1516365" y="614363"/>
            <a:ext cx="52388" cy="42863"/>
          </a:xfrm>
          <a:prstGeom prst="rect">
            <a:avLst/>
          </a:prstGeom>
          <a:solidFill>
            <a:srgbClr val="B6DDE7"/>
          </a:solidFill>
          <a:ln w="0">
            <a:noFill/>
          </a:ln>
        </p:spPr>
      </p:sp>
      <p:sp>
        <p:nvSpPr>
          <p:cNvPr id="50465" name="F2-density-voxel">
            <a:extLst>
              <a:ext uri="{FF2B5EF4-FFF2-40B4-BE49-F238E27FC236}">
                <a16:creationId xmlns:a16="http://schemas.microsoft.com/office/drawing/2014/main" id="{D7C6F907-C288-7651-EFEC-5F0756AED18F}"/>
              </a:ext>
            </a:extLst>
          </p:cNvPr>
          <p:cNvSpPr>
            <a:spLocks noGrp="1"/>
          </p:cNvSpPr>
          <p:nvPr/>
        </p:nvSpPr>
        <p:spPr>
          <a:xfrm>
            <a:off x="1568753" y="614363"/>
            <a:ext cx="52388" cy="42863"/>
          </a:xfrm>
          <a:prstGeom prst="rect">
            <a:avLst/>
          </a:prstGeom>
          <a:solidFill>
            <a:srgbClr val="CCE5EE"/>
          </a:solidFill>
          <a:ln w="0">
            <a:noFill/>
          </a:ln>
        </p:spPr>
      </p:sp>
      <p:sp>
        <p:nvSpPr>
          <p:cNvPr id="50466" name="F2-density-voxel">
            <a:extLst>
              <a:ext uri="{FF2B5EF4-FFF2-40B4-BE49-F238E27FC236}">
                <a16:creationId xmlns:a16="http://schemas.microsoft.com/office/drawing/2014/main" id="{5F62FC0F-E009-6CF3-EBF5-5C24EB62C670}"/>
              </a:ext>
            </a:extLst>
          </p:cNvPr>
          <p:cNvSpPr>
            <a:spLocks noGrp="1"/>
          </p:cNvSpPr>
          <p:nvPr/>
        </p:nvSpPr>
        <p:spPr>
          <a:xfrm>
            <a:off x="1411590" y="657225"/>
            <a:ext cx="52388" cy="42863"/>
          </a:xfrm>
          <a:prstGeom prst="rect">
            <a:avLst/>
          </a:prstGeom>
          <a:solidFill>
            <a:srgbClr val="4D9ABB"/>
          </a:solidFill>
          <a:ln w="0">
            <a:noFill/>
          </a:ln>
        </p:spPr>
      </p:sp>
      <p:sp>
        <p:nvSpPr>
          <p:cNvPr id="50467" name="F2-density-voxel">
            <a:extLst>
              <a:ext uri="{FF2B5EF4-FFF2-40B4-BE49-F238E27FC236}">
                <a16:creationId xmlns:a16="http://schemas.microsoft.com/office/drawing/2014/main" id="{D52E5D98-B043-C08C-CFD8-BB43705D61EF}"/>
              </a:ext>
            </a:extLst>
          </p:cNvPr>
          <p:cNvSpPr>
            <a:spLocks noGrp="1"/>
          </p:cNvSpPr>
          <p:nvPr/>
        </p:nvSpPr>
        <p:spPr>
          <a:xfrm>
            <a:off x="1463978" y="657225"/>
            <a:ext cx="52388" cy="42863"/>
          </a:xfrm>
          <a:prstGeom prst="rect">
            <a:avLst/>
          </a:prstGeom>
          <a:solidFill>
            <a:srgbClr val="B6DDE7"/>
          </a:solidFill>
          <a:ln w="0">
            <a:noFill/>
          </a:ln>
        </p:spPr>
      </p:sp>
      <p:sp>
        <p:nvSpPr>
          <p:cNvPr id="50468" name="F2-density-voxel">
            <a:extLst>
              <a:ext uri="{FF2B5EF4-FFF2-40B4-BE49-F238E27FC236}">
                <a16:creationId xmlns:a16="http://schemas.microsoft.com/office/drawing/2014/main" id="{B8593C30-09A3-1D42-22DC-DA9645B745BB}"/>
              </a:ext>
            </a:extLst>
          </p:cNvPr>
          <p:cNvSpPr>
            <a:spLocks noGrp="1"/>
          </p:cNvSpPr>
          <p:nvPr/>
        </p:nvSpPr>
        <p:spPr>
          <a:xfrm>
            <a:off x="1516365" y="657225"/>
            <a:ext cx="52388" cy="42863"/>
          </a:xfrm>
          <a:prstGeom prst="rect">
            <a:avLst/>
          </a:prstGeom>
          <a:solidFill>
            <a:srgbClr val="CCE5EE"/>
          </a:solidFill>
          <a:ln w="0">
            <a:noFill/>
          </a:ln>
        </p:spPr>
      </p:sp>
      <p:sp>
        <p:nvSpPr>
          <p:cNvPr id="50469" name="F2-density-voxel">
            <a:extLst>
              <a:ext uri="{FF2B5EF4-FFF2-40B4-BE49-F238E27FC236}">
                <a16:creationId xmlns:a16="http://schemas.microsoft.com/office/drawing/2014/main" id="{ACE25073-AEE0-A5D3-8A55-B62B9E4294CE}"/>
              </a:ext>
            </a:extLst>
          </p:cNvPr>
          <p:cNvSpPr>
            <a:spLocks noGrp="1"/>
          </p:cNvSpPr>
          <p:nvPr/>
        </p:nvSpPr>
        <p:spPr>
          <a:xfrm>
            <a:off x="1568753" y="657225"/>
            <a:ext cx="52388" cy="42863"/>
          </a:xfrm>
          <a:prstGeom prst="rect">
            <a:avLst/>
          </a:prstGeom>
          <a:solidFill>
            <a:srgbClr val="86C0D7"/>
          </a:solidFill>
          <a:ln w="0">
            <a:noFill/>
          </a:ln>
        </p:spPr>
      </p:sp>
      <p:sp>
        <p:nvSpPr>
          <p:cNvPr id="50470" name="F2-density-voxel">
            <a:extLst>
              <a:ext uri="{FF2B5EF4-FFF2-40B4-BE49-F238E27FC236}">
                <a16:creationId xmlns:a16="http://schemas.microsoft.com/office/drawing/2014/main" id="{B5922CB6-88BA-6CA3-8709-D27F7849E637}"/>
              </a:ext>
            </a:extLst>
          </p:cNvPr>
          <p:cNvSpPr>
            <a:spLocks noGrp="1"/>
          </p:cNvSpPr>
          <p:nvPr/>
        </p:nvSpPr>
        <p:spPr>
          <a:xfrm>
            <a:off x="1411590" y="700088"/>
            <a:ext cx="52388" cy="42863"/>
          </a:xfrm>
          <a:prstGeom prst="rect">
            <a:avLst/>
          </a:prstGeom>
          <a:solidFill>
            <a:srgbClr val="B6DDE7"/>
          </a:solidFill>
          <a:ln w="0">
            <a:noFill/>
          </a:ln>
        </p:spPr>
      </p:sp>
      <p:sp>
        <p:nvSpPr>
          <p:cNvPr id="50471" name="F2-density-voxel">
            <a:extLst>
              <a:ext uri="{FF2B5EF4-FFF2-40B4-BE49-F238E27FC236}">
                <a16:creationId xmlns:a16="http://schemas.microsoft.com/office/drawing/2014/main" id="{EE18BF2F-DC85-5C0A-5D1E-6029604835C6}"/>
              </a:ext>
            </a:extLst>
          </p:cNvPr>
          <p:cNvSpPr>
            <a:spLocks noGrp="1"/>
          </p:cNvSpPr>
          <p:nvPr/>
        </p:nvSpPr>
        <p:spPr>
          <a:xfrm>
            <a:off x="1463978" y="700088"/>
            <a:ext cx="52388" cy="42863"/>
          </a:xfrm>
          <a:prstGeom prst="rect">
            <a:avLst/>
          </a:prstGeom>
          <a:solidFill>
            <a:srgbClr val="CCE5EE"/>
          </a:solidFill>
          <a:ln w="0">
            <a:noFill/>
          </a:ln>
        </p:spPr>
      </p:sp>
      <p:sp>
        <p:nvSpPr>
          <p:cNvPr id="50472" name="F2-density-voxel">
            <a:extLst>
              <a:ext uri="{FF2B5EF4-FFF2-40B4-BE49-F238E27FC236}">
                <a16:creationId xmlns:a16="http://schemas.microsoft.com/office/drawing/2014/main" id="{380B18C8-B6A9-F142-9A44-229DDBDC949E}"/>
              </a:ext>
            </a:extLst>
          </p:cNvPr>
          <p:cNvSpPr>
            <a:spLocks noGrp="1"/>
          </p:cNvSpPr>
          <p:nvPr/>
        </p:nvSpPr>
        <p:spPr>
          <a:xfrm>
            <a:off x="1516365" y="700088"/>
            <a:ext cx="52388" cy="42863"/>
          </a:xfrm>
          <a:prstGeom prst="rect">
            <a:avLst/>
          </a:prstGeom>
          <a:solidFill>
            <a:srgbClr val="86C0D7"/>
          </a:solidFill>
          <a:ln w="0">
            <a:noFill/>
          </a:ln>
        </p:spPr>
      </p:sp>
      <p:sp>
        <p:nvSpPr>
          <p:cNvPr id="50473" name="F2-density-voxel">
            <a:extLst>
              <a:ext uri="{FF2B5EF4-FFF2-40B4-BE49-F238E27FC236}">
                <a16:creationId xmlns:a16="http://schemas.microsoft.com/office/drawing/2014/main" id="{4B51F7DF-DD11-2A46-2326-B179D0E55168}"/>
              </a:ext>
            </a:extLst>
          </p:cNvPr>
          <p:cNvSpPr>
            <a:spLocks noGrp="1"/>
          </p:cNvSpPr>
          <p:nvPr/>
        </p:nvSpPr>
        <p:spPr>
          <a:xfrm>
            <a:off x="1568753" y="700088"/>
            <a:ext cx="52388" cy="42863"/>
          </a:xfrm>
          <a:prstGeom prst="rect">
            <a:avLst/>
          </a:prstGeom>
          <a:solidFill>
            <a:srgbClr val="4D9ABB"/>
          </a:solidFill>
          <a:ln w="0">
            <a:noFill/>
          </a:ln>
        </p:spPr>
      </p:sp>
      <p:sp>
        <p:nvSpPr>
          <p:cNvPr id="50474" name="F2-spatial-transform">
            <a:extLst>
              <a:ext uri="{FF2B5EF4-FFF2-40B4-BE49-F238E27FC236}">
                <a16:creationId xmlns:a16="http://schemas.microsoft.com/office/drawing/2014/main" id="{6133F924-DB95-EE7F-FA88-B90ECD4EEC5A}"/>
              </a:ext>
            </a:extLst>
          </p:cNvPr>
          <p:cNvSpPr>
            <a:spLocks noGrp="1"/>
          </p:cNvSpPr>
          <p:nvPr/>
        </p:nvSpPr>
        <p:spPr>
          <a:xfrm>
            <a:off x="981877" y="549713"/>
            <a:ext cx="376238" cy="180975"/>
          </a:xfrm>
          <a:prstGeom prst="rect">
            <a:avLst/>
          </a:prstGeom>
          <a:noFill/>
          <a:ln w="0">
            <a:noFill/>
          </a:ln>
        </p:spPr>
        <p:txBody>
          <a:bodyPr wrap="none" lIns="0" tIns="0" rIns="0" bIns="0" anchor="ctr">
            <a:noAutofit/>
          </a:bodyPr>
          <a:lstStyle>
            <a:defPPr algn="ctr">
              <a:defRPr sz="540" b="0">
                <a:solidFill>
                  <a:srgbClr val="263442"/>
                </a:solidFill>
                <a:latin typeface="Arial"/>
                <a:ea typeface="Arial"/>
                <a:cs typeface="Arial"/>
              </a:defRPr>
            </a:defPPr>
            <a:lvl1pPr algn="ctr">
              <a:defRPr sz="540" b="0">
                <a:solidFill>
                  <a:srgbClr val="263442"/>
                </a:solidFill>
                <a:latin typeface="Arial"/>
                <a:ea typeface="Arial"/>
                <a:cs typeface="Arial"/>
              </a:defRPr>
            </a:lvl1pPr>
            <a:lvl2pPr algn="ctr">
              <a:defRPr sz="540" b="0">
                <a:solidFill>
                  <a:srgbClr val="263442"/>
                </a:solidFill>
                <a:latin typeface="Arial"/>
                <a:ea typeface="Arial"/>
                <a:cs typeface="Arial"/>
              </a:defRPr>
            </a:lvl2pPr>
            <a:lvl3pPr algn="ctr">
              <a:defRPr sz="540" b="0">
                <a:solidFill>
                  <a:srgbClr val="263442"/>
                </a:solidFill>
                <a:latin typeface="Arial"/>
                <a:ea typeface="Arial"/>
                <a:cs typeface="Arial"/>
              </a:defRPr>
            </a:lvl3pPr>
            <a:lvl4pPr algn="ctr">
              <a:defRPr sz="540" b="0">
                <a:solidFill>
                  <a:srgbClr val="263442"/>
                </a:solidFill>
                <a:latin typeface="Arial"/>
                <a:ea typeface="Arial"/>
                <a:cs typeface="Arial"/>
              </a:defRPr>
            </a:lvl4pPr>
            <a:lvl5pPr algn="ctr">
              <a:defRPr sz="540" b="0">
                <a:solidFill>
                  <a:srgbClr val="263442"/>
                </a:solidFill>
                <a:latin typeface="Arial"/>
                <a:ea typeface="Arial"/>
                <a:cs typeface="Arial"/>
              </a:defRPr>
            </a:lvl5pPr>
            <a:lvl6pPr algn="ctr">
              <a:defRPr sz="540" b="0">
                <a:solidFill>
                  <a:srgbClr val="263442"/>
                </a:solidFill>
                <a:latin typeface="Arial"/>
                <a:ea typeface="Arial"/>
                <a:cs typeface="Arial"/>
              </a:defRPr>
            </a:lvl6pPr>
            <a:lvl7pPr algn="ctr">
              <a:defRPr sz="540" b="0">
                <a:solidFill>
                  <a:srgbClr val="263442"/>
                </a:solidFill>
                <a:latin typeface="Arial"/>
                <a:ea typeface="Arial"/>
                <a:cs typeface="Arial"/>
              </a:defRPr>
            </a:lvl7pPr>
            <a:lvl8pPr algn="ctr">
              <a:defRPr sz="540" b="0">
                <a:solidFill>
                  <a:srgbClr val="263442"/>
                </a:solidFill>
                <a:latin typeface="Arial"/>
                <a:ea typeface="Arial"/>
                <a:cs typeface="Arial"/>
              </a:defRPr>
            </a:lvl8pPr>
            <a:lvl9pPr algn="ctr">
              <a:defRPr sz="540" b="0">
                <a:solidFill>
                  <a:srgbClr val="263442"/>
                </a:solidFill>
                <a:latin typeface="Arial"/>
                <a:ea typeface="Arial"/>
                <a:cs typeface="Arial"/>
              </a:defRPr>
            </a:lvl9pPr>
          </a:lstStyle>
          <a:p>
            <a:pPr algn="ctr">
              <a:defRPr sz="540" b="0">
                <a:solidFill>
                  <a:srgbClr val="263442"/>
                </a:solidFill>
                <a:latin typeface="Arial"/>
                <a:ea typeface="Arial"/>
                <a:cs typeface="Arial"/>
              </a:defRPr>
            </a:pPr>
            <a:r>
              <a:rPr sz="460" b="0" dirty="0">
                <a:solidFill>
                  <a:srgbClr val="263442"/>
                </a:solidFill>
                <a:latin typeface="Arial"/>
                <a:ea typeface="Arial"/>
                <a:cs typeface="Arial"/>
              </a:rPr>
              <a:t>Spatial</a:t>
            </a:r>
          </a:p>
          <a:p>
            <a:pPr algn="ctr">
              <a:defRPr sz="540" b="0">
                <a:solidFill>
                  <a:srgbClr val="263442"/>
                </a:solidFill>
                <a:latin typeface="Arial"/>
                <a:ea typeface="Arial"/>
                <a:cs typeface="Arial"/>
              </a:defRPr>
            </a:pPr>
            <a:r>
              <a:rPr sz="460" b="0" dirty="0">
                <a:solidFill>
                  <a:srgbClr val="263442"/>
                </a:solidFill>
                <a:latin typeface="Arial"/>
                <a:ea typeface="Arial"/>
                <a:cs typeface="Arial"/>
              </a:rPr>
              <a:t>transform</a:t>
            </a:r>
          </a:p>
        </p:txBody>
      </p:sp>
      <p:sp>
        <p:nvSpPr>
          <p:cNvPr id="50475" name="F2-atom-embeddings-input">
            <a:extLst>
              <a:ext uri="{FF2B5EF4-FFF2-40B4-BE49-F238E27FC236}">
                <a16:creationId xmlns:a16="http://schemas.microsoft.com/office/drawing/2014/main" id="{47F420AC-0C78-EEF3-743D-7C6B317E3478}"/>
              </a:ext>
            </a:extLst>
          </p:cNvPr>
          <p:cNvSpPr>
            <a:spLocks noGrp="1"/>
          </p:cNvSpPr>
          <p:nvPr/>
        </p:nvSpPr>
        <p:spPr>
          <a:xfrm>
            <a:off x="1010565" y="1287494"/>
            <a:ext cx="327329" cy="180975"/>
          </a:xfrm>
          <a:prstGeom prst="rect">
            <a:avLst/>
          </a:prstGeom>
          <a:noFill/>
          <a:ln w="0">
            <a:noFill/>
          </a:ln>
        </p:spPr>
        <p:txBody>
          <a:bodyPr wrap="none" lIns="0" tIns="0" rIns="0" bIns="0" anchor="ctr">
            <a:noAutofit/>
          </a:bodyPr>
          <a:lstStyle>
            <a:defPPr algn="ctr">
              <a:defRPr sz="540" b="0">
                <a:solidFill>
                  <a:srgbClr val="263442"/>
                </a:solidFill>
                <a:latin typeface="Arial"/>
                <a:ea typeface="Arial"/>
                <a:cs typeface="Arial"/>
              </a:defRPr>
            </a:defPPr>
            <a:lvl1pPr algn="ctr">
              <a:defRPr sz="540" b="0">
                <a:solidFill>
                  <a:srgbClr val="263442"/>
                </a:solidFill>
                <a:latin typeface="Arial"/>
                <a:ea typeface="Arial"/>
                <a:cs typeface="Arial"/>
              </a:defRPr>
            </a:lvl1pPr>
            <a:lvl2pPr algn="ctr">
              <a:defRPr sz="540" b="0">
                <a:solidFill>
                  <a:srgbClr val="263442"/>
                </a:solidFill>
                <a:latin typeface="Arial"/>
                <a:ea typeface="Arial"/>
                <a:cs typeface="Arial"/>
              </a:defRPr>
            </a:lvl2pPr>
            <a:lvl3pPr algn="ctr">
              <a:defRPr sz="540" b="0">
                <a:solidFill>
                  <a:srgbClr val="263442"/>
                </a:solidFill>
                <a:latin typeface="Arial"/>
                <a:ea typeface="Arial"/>
                <a:cs typeface="Arial"/>
              </a:defRPr>
            </a:lvl3pPr>
            <a:lvl4pPr algn="ctr">
              <a:defRPr sz="540" b="0">
                <a:solidFill>
                  <a:srgbClr val="263442"/>
                </a:solidFill>
                <a:latin typeface="Arial"/>
                <a:ea typeface="Arial"/>
                <a:cs typeface="Arial"/>
              </a:defRPr>
            </a:lvl4pPr>
            <a:lvl5pPr algn="ctr">
              <a:defRPr sz="540" b="0">
                <a:solidFill>
                  <a:srgbClr val="263442"/>
                </a:solidFill>
                <a:latin typeface="Arial"/>
                <a:ea typeface="Arial"/>
                <a:cs typeface="Arial"/>
              </a:defRPr>
            </a:lvl5pPr>
            <a:lvl6pPr algn="ctr">
              <a:defRPr sz="540" b="0">
                <a:solidFill>
                  <a:srgbClr val="263442"/>
                </a:solidFill>
                <a:latin typeface="Arial"/>
                <a:ea typeface="Arial"/>
                <a:cs typeface="Arial"/>
              </a:defRPr>
            </a:lvl6pPr>
            <a:lvl7pPr algn="ctr">
              <a:defRPr sz="540" b="0">
                <a:solidFill>
                  <a:srgbClr val="263442"/>
                </a:solidFill>
                <a:latin typeface="Arial"/>
                <a:ea typeface="Arial"/>
                <a:cs typeface="Arial"/>
              </a:defRPr>
            </a:lvl7pPr>
            <a:lvl8pPr algn="ctr">
              <a:defRPr sz="540" b="0">
                <a:solidFill>
                  <a:srgbClr val="263442"/>
                </a:solidFill>
                <a:latin typeface="Arial"/>
                <a:ea typeface="Arial"/>
                <a:cs typeface="Arial"/>
              </a:defRPr>
            </a:lvl8pPr>
            <a:lvl9pPr algn="ctr">
              <a:defRPr sz="540" b="0">
                <a:solidFill>
                  <a:srgbClr val="263442"/>
                </a:solidFill>
                <a:latin typeface="Arial"/>
                <a:ea typeface="Arial"/>
                <a:cs typeface="Arial"/>
              </a:defRPr>
            </a:lvl9pPr>
          </a:lstStyle>
          <a:p>
            <a:pPr algn="ctr">
              <a:defRPr sz="540" b="0">
                <a:solidFill>
                  <a:srgbClr val="263442"/>
                </a:solidFill>
                <a:latin typeface="Arial"/>
                <a:ea typeface="Arial"/>
                <a:cs typeface="Arial"/>
              </a:defRPr>
            </a:pPr>
            <a:r>
              <a:rPr lang="en-US" sz="460" b="0" dirty="0">
                <a:solidFill>
                  <a:srgbClr val="263442"/>
                </a:solidFill>
                <a:latin typeface="Arial"/>
                <a:ea typeface="Arial"/>
                <a:cs typeface="Arial"/>
              </a:rPr>
              <a:t>E</a:t>
            </a:r>
            <a:r>
              <a:rPr sz="460" b="0" dirty="0">
                <a:solidFill>
                  <a:srgbClr val="263442"/>
                </a:solidFill>
                <a:latin typeface="Arial"/>
                <a:ea typeface="Arial"/>
                <a:cs typeface="Arial"/>
              </a:rPr>
              <a:t>mbedding</a:t>
            </a:r>
            <a:endParaRPr lang="en-US" sz="460" b="0" dirty="0">
              <a:solidFill>
                <a:srgbClr val="263442"/>
              </a:solidFill>
              <a:latin typeface="Arial"/>
              <a:ea typeface="Arial"/>
              <a:cs typeface="Arial"/>
            </a:endParaRPr>
          </a:p>
          <a:p>
            <a:pPr algn="ctr">
              <a:defRPr sz="540" b="0">
                <a:solidFill>
                  <a:srgbClr val="263442"/>
                </a:solidFill>
                <a:latin typeface="Arial"/>
                <a:ea typeface="Arial"/>
                <a:cs typeface="Arial"/>
              </a:defRPr>
            </a:pPr>
            <a:r>
              <a:rPr lang="en-US" altLang="zh-CN" sz="460" b="0" dirty="0">
                <a:solidFill>
                  <a:srgbClr val="263442"/>
                </a:solidFill>
                <a:latin typeface="Arial"/>
                <a:ea typeface="Arial"/>
                <a:cs typeface="Arial"/>
              </a:rPr>
              <a:t>head</a:t>
            </a:r>
            <a:endParaRPr sz="460" b="0" dirty="0">
              <a:solidFill>
                <a:srgbClr val="263442"/>
              </a:solidFill>
              <a:latin typeface="Arial"/>
              <a:ea typeface="Arial"/>
              <a:cs typeface="Arial"/>
            </a:endParaRPr>
          </a:p>
        </p:txBody>
      </p:sp>
      <p:pic>
        <p:nvPicPr>
          <p:cNvPr id="50482" name="图片 50481">
            <a:extLst>
              <a:ext uri="{FF2B5EF4-FFF2-40B4-BE49-F238E27FC236}">
                <a16:creationId xmlns:a16="http://schemas.microsoft.com/office/drawing/2014/main" id="{DB02FA5E-F4E8-4B69-C38F-36DA284FA983}"/>
              </a:ext>
            </a:extLst>
          </p:cNvPr>
          <p:cNvPicPr>
            <a:picLocks noChangeAspect="1"/>
          </p:cNvPicPr>
          <p:nvPr/>
        </p:nvPicPr>
        <p:blipFill>
          <a:blip r:embed="rId8"/>
          <a:stretch/>
        </p:blipFill>
        <p:spPr>
          <a:xfrm>
            <a:off x="622201" y="2943948"/>
            <a:ext cx="414760" cy="342900"/>
          </a:xfrm>
          <a:prstGeom prst="rect">
            <a:avLst/>
          </a:prstGeom>
        </p:spPr>
      </p:pic>
      <p:grpSp>
        <p:nvGrpSpPr>
          <p:cNvPr id="50493" name="Find preview 15">
            <a:extLst>
              <a:ext uri="{FF2B5EF4-FFF2-40B4-BE49-F238E27FC236}">
                <a16:creationId xmlns:a16="http://schemas.microsoft.com/office/drawing/2014/main" id="{F3BC0C3B-3001-9FD3-7A9D-FE6C87CC6D4D}"/>
              </a:ext>
            </a:extLst>
          </p:cNvPr>
          <p:cNvGrpSpPr/>
          <p:nvPr/>
        </p:nvGrpSpPr>
        <p:grpSpPr>
          <a:xfrm>
            <a:off x="582671" y="471488"/>
            <a:ext cx="404812" cy="395288"/>
            <a:chOff x="511635" y="471488"/>
            <a:chExt cx="404812" cy="395288"/>
          </a:xfrm>
        </p:grpSpPr>
        <p:pic>
          <p:nvPicPr>
            <p:cNvPr id="15" name="Find corresponding experimental density" descr="Experimental 9LLG density around chain C1 of the displayed CryoAtom2 receptor, at the original contour level and the identical camera orientation.">
              <a:extLst>
                <a:ext uri="{FF2B5EF4-FFF2-40B4-BE49-F238E27FC236}">
                  <a16:creationId xmlns:a16="http://schemas.microsoft.com/office/drawing/2014/main" id="{7BC1058C-7741-8A63-AE49-76B9DAC22914}"/>
                </a:ext>
              </a:extLst>
            </p:cNvPr>
            <p:cNvPicPr/>
            <p:nvPr/>
          </p:nvPicPr>
          <p:blipFill>
            <a:blip r:embed="rId4"/>
            <a:stretch>
              <a:fillRect/>
            </a:stretch>
          </p:blipFill>
          <p:spPr>
            <a:xfrm>
              <a:off x="511635" y="475859"/>
              <a:ext cx="404812" cy="386544"/>
            </a:xfrm>
            <a:prstGeom prst="rect">
              <a:avLst/>
            </a:prstGeom>
          </p:spPr>
        </p:pic>
        <p:sp>
          <p:nvSpPr>
            <p:cNvPr id="50476" name="crop-cube">
              <a:extLst>
                <a:ext uri="{FF2B5EF4-FFF2-40B4-BE49-F238E27FC236}">
                  <a16:creationId xmlns:a16="http://schemas.microsoft.com/office/drawing/2014/main" id="{2057E3B4-9EA9-CD5E-16B1-B52A9FE53434}"/>
                </a:ext>
              </a:extLst>
            </p:cNvPr>
            <p:cNvSpPr>
              <a:spLocks noGrp="1"/>
            </p:cNvSpPr>
            <p:nvPr/>
          </p:nvSpPr>
          <p:spPr>
            <a:xfrm>
              <a:off x="700088" y="626745"/>
              <a:ext cx="119063" cy="119063"/>
            </a:xfrm>
            <a:custGeom>
              <a:avLst/>
              <a:gdLst/>
              <a:ahLst/>
              <a:cxnLst/>
              <a:rect l="0" t="0" r="0" b="0"/>
              <a:pathLst>
                <a:path w="119063" h="119063">
                  <a:moveTo>
                    <a:pt x="0" y="30956"/>
                  </a:moveTo>
                  <a:lnTo>
                    <a:pt x="88106" y="30956"/>
                  </a:lnTo>
                  <a:lnTo>
                    <a:pt x="88106" y="119063"/>
                  </a:lnTo>
                  <a:lnTo>
                    <a:pt x="0" y="119063"/>
                  </a:lnTo>
                  <a:lnTo>
                    <a:pt x="0" y="30956"/>
                  </a:lnTo>
                  <a:lnTo>
                    <a:pt x="30956" y="0"/>
                  </a:lnTo>
                  <a:lnTo>
                    <a:pt x="119063" y="0"/>
                  </a:lnTo>
                  <a:lnTo>
                    <a:pt x="119063" y="88106"/>
                  </a:lnTo>
                  <a:lnTo>
                    <a:pt x="88106" y="119063"/>
                  </a:lnTo>
                </a:path>
              </a:pathLst>
            </a:custGeom>
            <a:noFill/>
            <a:ln w="8573">
              <a:solidFill>
                <a:srgbClr val="263442"/>
              </a:solidFill>
            </a:ln>
          </p:spPr>
        </p:sp>
        <p:sp>
          <p:nvSpPr>
            <p:cNvPr id="50477" name="crop-cube">
              <a:extLst>
                <a:ext uri="{FF2B5EF4-FFF2-40B4-BE49-F238E27FC236}">
                  <a16:creationId xmlns:a16="http://schemas.microsoft.com/office/drawing/2014/main" id="{144801C9-76A0-DC4D-EA9B-028B9F942E24}"/>
                </a:ext>
              </a:extLst>
            </p:cNvPr>
            <p:cNvSpPr>
              <a:spLocks noGrp="1"/>
            </p:cNvSpPr>
            <p:nvPr/>
          </p:nvSpPr>
          <p:spPr>
            <a:xfrm>
              <a:off x="788194" y="626745"/>
              <a:ext cx="30956" cy="30956"/>
            </a:xfrm>
            <a:custGeom>
              <a:avLst/>
              <a:gdLst/>
              <a:ahLst/>
              <a:cxnLst/>
              <a:rect l="0" t="0" r="0" b="0"/>
              <a:pathLst>
                <a:path w="30956" h="30956">
                  <a:moveTo>
                    <a:pt x="0" y="30956"/>
                  </a:moveTo>
                  <a:lnTo>
                    <a:pt x="30956" y="0"/>
                  </a:lnTo>
                </a:path>
              </a:pathLst>
            </a:custGeom>
            <a:noFill/>
            <a:ln w="8573">
              <a:solidFill>
                <a:srgbClr val="263442"/>
              </a:solidFill>
            </a:ln>
          </p:spPr>
        </p:sp>
        <p:sp>
          <p:nvSpPr>
            <p:cNvPr id="50478" name="F2-density-crop-size">
              <a:extLst>
                <a:ext uri="{FF2B5EF4-FFF2-40B4-BE49-F238E27FC236}">
                  <a16:creationId xmlns:a16="http://schemas.microsoft.com/office/drawing/2014/main" id="{44A96030-48F8-DB5D-8503-46D4555E1F50}"/>
                </a:ext>
              </a:extLst>
            </p:cNvPr>
            <p:cNvSpPr>
              <a:spLocks noGrp="1"/>
            </p:cNvSpPr>
            <p:nvPr/>
          </p:nvSpPr>
          <p:spPr>
            <a:xfrm>
              <a:off x="640556" y="766763"/>
              <a:ext cx="238125" cy="95250"/>
            </a:xfrm>
            <a:prstGeom prst="rect">
              <a:avLst/>
            </a:prstGeom>
            <a:noFill/>
            <a:ln w="0">
              <a:noFill/>
            </a:ln>
          </p:spPr>
          <p:txBody>
            <a:bodyPr wrap="none" lIns="0" tIns="0" rIns="0" bIns="0" anchor="ctr">
              <a:noAutofit/>
            </a:bodyPr>
            <a:lstStyle>
              <a:defPPr algn="ctr">
                <a:defRPr sz="600" b="1">
                  <a:solidFill>
                    <a:srgbClr val="263442"/>
                  </a:solidFill>
                  <a:latin typeface="Arial"/>
                  <a:ea typeface="Arial"/>
                  <a:cs typeface="Arial"/>
                </a:defRPr>
              </a:defPPr>
              <a:lvl1pPr algn="ctr">
                <a:defRPr sz="600" b="1">
                  <a:solidFill>
                    <a:srgbClr val="263442"/>
                  </a:solidFill>
                  <a:latin typeface="Arial"/>
                  <a:ea typeface="Arial"/>
                  <a:cs typeface="Arial"/>
                </a:defRPr>
              </a:lvl1pPr>
              <a:lvl2pPr algn="ctr">
                <a:defRPr sz="600" b="1">
                  <a:solidFill>
                    <a:srgbClr val="263442"/>
                  </a:solidFill>
                  <a:latin typeface="Arial"/>
                  <a:ea typeface="Arial"/>
                  <a:cs typeface="Arial"/>
                </a:defRPr>
              </a:lvl2pPr>
              <a:lvl3pPr algn="ctr">
                <a:defRPr sz="600" b="1">
                  <a:solidFill>
                    <a:srgbClr val="263442"/>
                  </a:solidFill>
                  <a:latin typeface="Arial"/>
                  <a:ea typeface="Arial"/>
                  <a:cs typeface="Arial"/>
                </a:defRPr>
              </a:lvl3pPr>
              <a:lvl4pPr algn="ctr">
                <a:defRPr sz="600" b="1">
                  <a:solidFill>
                    <a:srgbClr val="263442"/>
                  </a:solidFill>
                  <a:latin typeface="Arial"/>
                  <a:ea typeface="Arial"/>
                  <a:cs typeface="Arial"/>
                </a:defRPr>
              </a:lvl4pPr>
              <a:lvl5pPr algn="ctr">
                <a:defRPr sz="600" b="1">
                  <a:solidFill>
                    <a:srgbClr val="263442"/>
                  </a:solidFill>
                  <a:latin typeface="Arial"/>
                  <a:ea typeface="Arial"/>
                  <a:cs typeface="Arial"/>
                </a:defRPr>
              </a:lvl5pPr>
              <a:lvl6pPr algn="ctr">
                <a:defRPr sz="600" b="1">
                  <a:solidFill>
                    <a:srgbClr val="263442"/>
                  </a:solidFill>
                  <a:latin typeface="Arial"/>
                  <a:ea typeface="Arial"/>
                  <a:cs typeface="Arial"/>
                </a:defRPr>
              </a:lvl6pPr>
              <a:lvl7pPr algn="ctr">
                <a:defRPr sz="600" b="1">
                  <a:solidFill>
                    <a:srgbClr val="263442"/>
                  </a:solidFill>
                  <a:latin typeface="Arial"/>
                  <a:ea typeface="Arial"/>
                  <a:cs typeface="Arial"/>
                </a:defRPr>
              </a:lvl7pPr>
              <a:lvl8pPr algn="ctr">
                <a:defRPr sz="600" b="1">
                  <a:solidFill>
                    <a:srgbClr val="263442"/>
                  </a:solidFill>
                  <a:latin typeface="Arial"/>
                  <a:ea typeface="Arial"/>
                  <a:cs typeface="Arial"/>
                </a:defRPr>
              </a:lvl8pPr>
              <a:lvl9pPr algn="ctr">
                <a:defRPr sz="600" b="1">
                  <a:solidFill>
                    <a:srgbClr val="263442"/>
                  </a:solidFill>
                  <a:latin typeface="Arial"/>
                  <a:ea typeface="Arial"/>
                  <a:cs typeface="Arial"/>
                </a:defRPr>
              </a:lvl9pPr>
            </a:lstStyle>
            <a:p>
              <a:pPr algn="ctr">
                <a:defRPr sz="600" b="1">
                  <a:solidFill>
                    <a:srgbClr val="263442"/>
                  </a:solidFill>
                  <a:latin typeface="Arial"/>
                  <a:ea typeface="Arial"/>
                  <a:cs typeface="Arial"/>
                </a:defRPr>
              </a:pPr>
              <a:r>
                <a:rPr sz="600" b="1">
                  <a:solidFill>
                    <a:srgbClr val="263442"/>
                  </a:solidFill>
                  <a:latin typeface="Arial"/>
                  <a:ea typeface="Arial"/>
                  <a:cs typeface="Arial"/>
                </a:rPr>
                <a:t>80³</a:t>
              </a:r>
            </a:p>
          </p:txBody>
        </p:sp>
      </p:grpSp>
      <p:grpSp>
        <p:nvGrpSpPr>
          <p:cNvPr id="50494" name="Find preview 1435">
            <a:extLst>
              <a:ext uri="{FF2B5EF4-FFF2-40B4-BE49-F238E27FC236}">
                <a16:creationId xmlns:a16="http://schemas.microsoft.com/office/drawing/2014/main" id="{6F4B83F2-80F6-71A5-E045-2B1D79E3107D}"/>
              </a:ext>
            </a:extLst>
          </p:cNvPr>
          <p:cNvGrpSpPr/>
          <p:nvPr/>
        </p:nvGrpSpPr>
        <p:grpSpPr>
          <a:xfrm>
            <a:off x="582671" y="1252538"/>
            <a:ext cx="404812" cy="395288"/>
            <a:chOff x="511635" y="1252538"/>
            <a:chExt cx="404812" cy="395288"/>
          </a:xfrm>
        </p:grpSpPr>
        <p:pic>
          <p:nvPicPr>
            <p:cNvPr id="1435" name="Find clear receptor" descr="Receptor cartoon rendered from unchanged local coordinates, chain C1 of the 9LLG CA2 model.">
              <a:extLst>
                <a:ext uri="{FF2B5EF4-FFF2-40B4-BE49-F238E27FC236}">
                  <a16:creationId xmlns:a16="http://schemas.microsoft.com/office/drawing/2014/main" id="{733BACB1-3566-AFEB-8B71-894E650FBBBF}"/>
                </a:ext>
              </a:extLst>
            </p:cNvPr>
            <p:cNvPicPr/>
            <p:nvPr/>
          </p:nvPicPr>
          <p:blipFill>
            <a:blip r:embed="rId7"/>
            <a:srcRect l="16857" t="30389" r="19786" b="22500"/>
            <a:stretch>
              <a:fillRect/>
            </a:stretch>
          </p:blipFill>
          <p:spPr>
            <a:xfrm>
              <a:off x="511635" y="1256674"/>
              <a:ext cx="404812" cy="387014"/>
            </a:xfrm>
            <a:prstGeom prst="rect">
              <a:avLst/>
            </a:prstGeom>
          </p:spPr>
        </p:pic>
        <p:sp>
          <p:nvSpPr>
            <p:cNvPr id="50479" name="crop-cube">
              <a:extLst>
                <a:ext uri="{FF2B5EF4-FFF2-40B4-BE49-F238E27FC236}">
                  <a16:creationId xmlns:a16="http://schemas.microsoft.com/office/drawing/2014/main" id="{9225833E-992F-E1D6-F0E8-22A07580BD49}"/>
                </a:ext>
              </a:extLst>
            </p:cNvPr>
            <p:cNvSpPr>
              <a:spLocks noGrp="1"/>
            </p:cNvSpPr>
            <p:nvPr/>
          </p:nvSpPr>
          <p:spPr>
            <a:xfrm>
              <a:off x="700088" y="1404938"/>
              <a:ext cx="119063" cy="119063"/>
            </a:xfrm>
            <a:custGeom>
              <a:avLst/>
              <a:gdLst/>
              <a:ahLst/>
              <a:cxnLst/>
              <a:rect l="0" t="0" r="0" b="0"/>
              <a:pathLst>
                <a:path w="119063" h="119063">
                  <a:moveTo>
                    <a:pt x="0" y="30956"/>
                  </a:moveTo>
                  <a:lnTo>
                    <a:pt x="88106" y="30956"/>
                  </a:lnTo>
                  <a:lnTo>
                    <a:pt x="88106" y="119063"/>
                  </a:lnTo>
                  <a:lnTo>
                    <a:pt x="0" y="119063"/>
                  </a:lnTo>
                  <a:lnTo>
                    <a:pt x="0" y="30956"/>
                  </a:lnTo>
                  <a:lnTo>
                    <a:pt x="30956" y="0"/>
                  </a:lnTo>
                  <a:lnTo>
                    <a:pt x="119063" y="0"/>
                  </a:lnTo>
                  <a:lnTo>
                    <a:pt x="119063" y="88106"/>
                  </a:lnTo>
                  <a:lnTo>
                    <a:pt x="88106" y="119063"/>
                  </a:lnTo>
                </a:path>
              </a:pathLst>
            </a:custGeom>
            <a:noFill/>
            <a:ln w="8573">
              <a:solidFill>
                <a:srgbClr val="263442"/>
              </a:solidFill>
            </a:ln>
          </p:spPr>
        </p:sp>
        <p:sp>
          <p:nvSpPr>
            <p:cNvPr id="50480" name="crop-cube">
              <a:extLst>
                <a:ext uri="{FF2B5EF4-FFF2-40B4-BE49-F238E27FC236}">
                  <a16:creationId xmlns:a16="http://schemas.microsoft.com/office/drawing/2014/main" id="{D1652D81-52FE-06CC-A982-3882F25F6B1E}"/>
                </a:ext>
              </a:extLst>
            </p:cNvPr>
            <p:cNvSpPr>
              <a:spLocks noGrp="1"/>
            </p:cNvSpPr>
            <p:nvPr/>
          </p:nvSpPr>
          <p:spPr>
            <a:xfrm>
              <a:off x="788194" y="1404938"/>
              <a:ext cx="30956" cy="30956"/>
            </a:xfrm>
            <a:custGeom>
              <a:avLst/>
              <a:gdLst/>
              <a:ahLst/>
              <a:cxnLst/>
              <a:rect l="0" t="0" r="0" b="0"/>
              <a:pathLst>
                <a:path w="30956" h="30956">
                  <a:moveTo>
                    <a:pt x="0" y="30956"/>
                  </a:moveTo>
                  <a:lnTo>
                    <a:pt x="30956" y="0"/>
                  </a:lnTo>
                </a:path>
              </a:pathLst>
            </a:custGeom>
            <a:noFill/>
            <a:ln w="8573">
              <a:solidFill>
                <a:srgbClr val="263442"/>
              </a:solidFill>
            </a:ln>
          </p:spPr>
        </p:sp>
        <p:sp>
          <p:nvSpPr>
            <p:cNvPr id="50481" name="F2-receptor-crop-size">
              <a:extLst>
                <a:ext uri="{FF2B5EF4-FFF2-40B4-BE49-F238E27FC236}">
                  <a16:creationId xmlns:a16="http://schemas.microsoft.com/office/drawing/2014/main" id="{4F1D53FB-C8E1-9752-256B-398E74145282}"/>
                </a:ext>
              </a:extLst>
            </p:cNvPr>
            <p:cNvSpPr>
              <a:spLocks noGrp="1"/>
            </p:cNvSpPr>
            <p:nvPr/>
          </p:nvSpPr>
          <p:spPr>
            <a:xfrm>
              <a:off x="640556" y="1544955"/>
              <a:ext cx="238125" cy="95250"/>
            </a:xfrm>
            <a:prstGeom prst="rect">
              <a:avLst/>
            </a:prstGeom>
            <a:noFill/>
            <a:ln w="0">
              <a:noFill/>
            </a:ln>
          </p:spPr>
          <p:txBody>
            <a:bodyPr wrap="none" lIns="0" tIns="0" rIns="0" bIns="0" anchor="ctr">
              <a:noAutofit/>
            </a:bodyPr>
            <a:lstStyle>
              <a:defPPr algn="ctr">
                <a:defRPr sz="600" b="1">
                  <a:solidFill>
                    <a:srgbClr val="263442"/>
                  </a:solidFill>
                  <a:latin typeface="Arial"/>
                  <a:ea typeface="Arial"/>
                  <a:cs typeface="Arial"/>
                </a:defRPr>
              </a:defPPr>
              <a:lvl1pPr algn="ctr">
                <a:defRPr sz="600" b="1">
                  <a:solidFill>
                    <a:srgbClr val="263442"/>
                  </a:solidFill>
                  <a:latin typeface="Arial"/>
                  <a:ea typeface="Arial"/>
                  <a:cs typeface="Arial"/>
                </a:defRPr>
              </a:lvl1pPr>
              <a:lvl2pPr algn="ctr">
                <a:defRPr sz="600" b="1">
                  <a:solidFill>
                    <a:srgbClr val="263442"/>
                  </a:solidFill>
                  <a:latin typeface="Arial"/>
                  <a:ea typeface="Arial"/>
                  <a:cs typeface="Arial"/>
                </a:defRPr>
              </a:lvl2pPr>
              <a:lvl3pPr algn="ctr">
                <a:defRPr sz="600" b="1">
                  <a:solidFill>
                    <a:srgbClr val="263442"/>
                  </a:solidFill>
                  <a:latin typeface="Arial"/>
                  <a:ea typeface="Arial"/>
                  <a:cs typeface="Arial"/>
                </a:defRPr>
              </a:lvl3pPr>
              <a:lvl4pPr algn="ctr">
                <a:defRPr sz="600" b="1">
                  <a:solidFill>
                    <a:srgbClr val="263442"/>
                  </a:solidFill>
                  <a:latin typeface="Arial"/>
                  <a:ea typeface="Arial"/>
                  <a:cs typeface="Arial"/>
                </a:defRPr>
              </a:lvl4pPr>
              <a:lvl5pPr algn="ctr">
                <a:defRPr sz="600" b="1">
                  <a:solidFill>
                    <a:srgbClr val="263442"/>
                  </a:solidFill>
                  <a:latin typeface="Arial"/>
                  <a:ea typeface="Arial"/>
                  <a:cs typeface="Arial"/>
                </a:defRPr>
              </a:lvl5pPr>
              <a:lvl6pPr algn="ctr">
                <a:defRPr sz="600" b="1">
                  <a:solidFill>
                    <a:srgbClr val="263442"/>
                  </a:solidFill>
                  <a:latin typeface="Arial"/>
                  <a:ea typeface="Arial"/>
                  <a:cs typeface="Arial"/>
                </a:defRPr>
              </a:lvl6pPr>
              <a:lvl7pPr algn="ctr">
                <a:defRPr sz="600" b="1">
                  <a:solidFill>
                    <a:srgbClr val="263442"/>
                  </a:solidFill>
                  <a:latin typeface="Arial"/>
                  <a:ea typeface="Arial"/>
                  <a:cs typeface="Arial"/>
                </a:defRPr>
              </a:lvl7pPr>
              <a:lvl8pPr algn="ctr">
                <a:defRPr sz="600" b="1">
                  <a:solidFill>
                    <a:srgbClr val="263442"/>
                  </a:solidFill>
                  <a:latin typeface="Arial"/>
                  <a:ea typeface="Arial"/>
                  <a:cs typeface="Arial"/>
                </a:defRPr>
              </a:lvl8pPr>
              <a:lvl9pPr algn="ctr">
                <a:defRPr sz="600" b="1">
                  <a:solidFill>
                    <a:srgbClr val="263442"/>
                  </a:solidFill>
                  <a:latin typeface="Arial"/>
                  <a:ea typeface="Arial"/>
                  <a:cs typeface="Arial"/>
                </a:defRPr>
              </a:lvl9pPr>
            </a:lstStyle>
            <a:p>
              <a:pPr algn="ctr">
                <a:defRPr sz="600" b="1">
                  <a:solidFill>
                    <a:srgbClr val="263442"/>
                  </a:solidFill>
                  <a:latin typeface="Arial"/>
                  <a:ea typeface="Arial"/>
                  <a:cs typeface="Arial"/>
                </a:defRPr>
              </a:pPr>
              <a:r>
                <a:rPr sz="600" b="1">
                  <a:solidFill>
                    <a:srgbClr val="263442"/>
                  </a:solidFill>
                  <a:latin typeface="Arial"/>
                  <a:ea typeface="Arial"/>
                  <a:cs typeface="Arial"/>
                </a:rPr>
                <a:t>80³</a:t>
              </a:r>
            </a:p>
          </p:txBody>
        </p:sp>
      </p:grpSp>
      <p:grpSp>
        <p:nvGrpSpPr>
          <p:cNvPr id="50495" name="Find preview 25">
            <a:extLst>
              <a:ext uri="{FF2B5EF4-FFF2-40B4-BE49-F238E27FC236}">
                <a16:creationId xmlns:a16="http://schemas.microsoft.com/office/drawing/2014/main" id="{553018F8-41C4-D891-3CED-00550F7A1BDF}"/>
              </a:ext>
            </a:extLst>
          </p:cNvPr>
          <p:cNvGrpSpPr/>
          <p:nvPr/>
        </p:nvGrpSpPr>
        <p:grpSpPr>
          <a:xfrm>
            <a:off x="4319205" y="499672"/>
            <a:ext cx="404812" cy="386544"/>
            <a:chOff x="4349067" y="499672"/>
            <a:chExt cx="404812" cy="386544"/>
          </a:xfrm>
        </p:grpSpPr>
        <p:pic>
          <p:nvPicPr>
            <p:cNvPr id="25" name="Find corresponding experimental density" descr="Experimental 9LLG density around chain C1 of the displayed CryoAtom2 receptor, at the original contour level and the identical camera orientation.">
              <a:extLst>
                <a:ext uri="{FF2B5EF4-FFF2-40B4-BE49-F238E27FC236}">
                  <a16:creationId xmlns:a16="http://schemas.microsoft.com/office/drawing/2014/main" id="{1D45A6AF-935E-912B-A9BF-D38D2913F558}"/>
                </a:ext>
              </a:extLst>
            </p:cNvPr>
            <p:cNvPicPr/>
            <p:nvPr/>
          </p:nvPicPr>
          <p:blipFill>
            <a:blip r:embed="rId4"/>
            <a:stretch>
              <a:fillRect/>
            </a:stretch>
          </p:blipFill>
          <p:spPr>
            <a:xfrm>
              <a:off x="4349067" y="499672"/>
              <a:ext cx="404812" cy="386544"/>
            </a:xfrm>
            <a:prstGeom prst="rect">
              <a:avLst/>
            </a:prstGeom>
          </p:spPr>
        </p:pic>
        <p:grpSp>
          <p:nvGrpSpPr>
            <p:cNvPr id="50437" name="Global copy of blob 758">
              <a:extLst>
                <a:ext uri="{FF2B5EF4-FFF2-40B4-BE49-F238E27FC236}">
                  <a16:creationId xmlns:a16="http://schemas.microsoft.com/office/drawing/2014/main" id="{95D1209B-32C5-8851-A06E-04F9A500FFD9}"/>
                </a:ext>
              </a:extLst>
            </p:cNvPr>
            <p:cNvGrpSpPr/>
            <p:nvPr/>
          </p:nvGrpSpPr>
          <p:grpSpPr>
            <a:xfrm>
              <a:off x="4445066" y="623158"/>
              <a:ext cx="92055" cy="24054"/>
              <a:chOff x="1980855" y="3559489"/>
              <a:chExt cx="493446" cy="155682"/>
            </a:xfrm>
          </p:grpSpPr>
          <p:sp>
            <p:nvSpPr>
              <p:cNvPr id="50438" name="Candidate blob | editable contour">
                <a:extLst>
                  <a:ext uri="{FF2B5EF4-FFF2-40B4-BE49-F238E27FC236}">
                    <a16:creationId xmlns:a16="http://schemas.microsoft.com/office/drawing/2014/main" id="{1AB5674E-C274-A395-7406-91477C5D8478}"/>
                  </a:ext>
                </a:extLst>
              </p:cNvPr>
              <p:cNvSpPr/>
              <p:nvPr/>
            </p:nvSpPr>
            <p:spPr>
              <a:xfrm>
                <a:off x="2246406" y="3559489"/>
                <a:ext cx="227895" cy="155682"/>
              </a:xfrm>
              <a:custGeom>
                <a:avLst/>
                <a:gdLst/>
                <a:ahLst/>
                <a:cxnLst/>
                <a:rect l="0" t="0" r="w" b="h"/>
                <a:pathLst>
                  <a:path w="227897" h="155682" extrusionOk="0">
                    <a:moveTo>
                      <a:pt x="3521" y="100385"/>
                    </a:moveTo>
                    <a:cubicBezTo>
                      <a:pt x="0" y="80701"/>
                      <a:pt x="26006" y="62787"/>
                      <a:pt x="43453" y="54263"/>
                    </a:cubicBezTo>
                    <a:cubicBezTo>
                      <a:pt x="58843" y="43224"/>
                      <a:pt x="83460" y="52781"/>
                      <a:pt x="99588" y="43358"/>
                    </a:cubicBezTo>
                    <a:cubicBezTo>
                      <a:pt x="112436" y="32945"/>
                      <a:pt x="102548" y="9475"/>
                      <a:pt x="114181" y="4123"/>
                    </a:cubicBezTo>
                    <a:cubicBezTo>
                      <a:pt x="125241" y="0"/>
                      <a:pt x="158214" y="2398"/>
                      <a:pt x="179365" y="5837"/>
                    </a:cubicBezTo>
                    <a:cubicBezTo>
                      <a:pt x="197301" y="9996"/>
                      <a:pt x="210134" y="19340"/>
                      <a:pt x="216909" y="31256"/>
                    </a:cubicBezTo>
                    <a:cubicBezTo>
                      <a:pt x="221237" y="45342"/>
                      <a:pt x="227897" y="67151"/>
                      <a:pt x="224378" y="79920"/>
                    </a:cubicBezTo>
                    <a:cubicBezTo>
                      <a:pt x="219253" y="92918"/>
                      <a:pt x="191986" y="104353"/>
                      <a:pt x="170629" y="115250"/>
                    </a:cubicBezTo>
                    <a:cubicBezTo>
                      <a:pt x="155563" y="129736"/>
                      <a:pt x="143418" y="146104"/>
                      <a:pt x="126157" y="151452"/>
                    </a:cubicBezTo>
                    <a:cubicBezTo>
                      <a:pt x="110048" y="155682"/>
                      <a:pt x="82946" y="155682"/>
                      <a:pt x="52808" y="150002"/>
                    </a:cubicBezTo>
                    <a:cubicBezTo>
                      <a:pt x="28847" y="143645"/>
                      <a:pt x="5675" y="118994"/>
                      <a:pt x="3521" y="100385"/>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50439" name="ellipse_2612">
                <a:extLst>
                  <a:ext uri="{FF2B5EF4-FFF2-40B4-BE49-F238E27FC236}">
                    <a16:creationId xmlns:a16="http://schemas.microsoft.com/office/drawing/2014/main" id="{48460B87-088F-554D-2C65-AE35FFC0A68A}"/>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sp>
          <p:nvSpPr>
            <p:cNvPr id="50442" name="ellipse_2612">
              <a:extLst>
                <a:ext uri="{FF2B5EF4-FFF2-40B4-BE49-F238E27FC236}">
                  <a16:creationId xmlns:a16="http://schemas.microsoft.com/office/drawing/2014/main" id="{424C05E5-7A0B-E891-E25F-87414893C572}"/>
                </a:ext>
              </a:extLst>
            </p:cNvPr>
            <p:cNvSpPr/>
            <p:nvPr/>
          </p:nvSpPr>
          <p:spPr>
            <a:xfrm rot="3197729">
              <a:off x="4608138" y="649456"/>
              <a:ext cx="10571" cy="3071"/>
            </a:xfrm>
            <a:prstGeom prst="ellipse">
              <a:avLst/>
            </a:prstGeom>
            <a:solidFill>
              <a:srgbClr val="FFFFFF">
                <a:alpha val="35000"/>
              </a:srgbClr>
            </a:solidFill>
            <a:ln w="3285" cap="rnd" cmpd="sng" algn="ctr">
              <a:noFill/>
              <a:prstDash val="solid"/>
              <a:round/>
              <a:headEnd type="none" w="med" len="med"/>
              <a:tailEnd type="none" w="med" len="med"/>
            </a:ln>
            <a:effectLst/>
          </p:spPr>
        </p:sp>
        <p:sp>
          <p:nvSpPr>
            <p:cNvPr id="50445" name="ellipse_2612">
              <a:extLst>
                <a:ext uri="{FF2B5EF4-FFF2-40B4-BE49-F238E27FC236}">
                  <a16:creationId xmlns:a16="http://schemas.microsoft.com/office/drawing/2014/main" id="{400C13C7-1BBC-5592-326F-305464635819}"/>
                </a:ext>
              </a:extLst>
            </p:cNvPr>
            <p:cNvSpPr/>
            <p:nvPr/>
          </p:nvSpPr>
          <p:spPr>
            <a:xfrm>
              <a:off x="4430816" y="761249"/>
              <a:ext cx="9540" cy="2671"/>
            </a:xfrm>
            <a:prstGeom prst="ellipse">
              <a:avLst/>
            </a:prstGeom>
            <a:solidFill>
              <a:srgbClr val="FFFFFF">
                <a:alpha val="35000"/>
              </a:srgbClr>
            </a:solidFill>
            <a:ln w="3285" cap="rnd" cmpd="sng" algn="ctr">
              <a:noFill/>
              <a:prstDash val="solid"/>
              <a:round/>
              <a:headEnd type="none" w="med" len="med"/>
              <a:tailEnd type="none" w="med" len="med"/>
            </a:ln>
            <a:effectLst/>
          </p:spPr>
        </p:sp>
        <p:sp>
          <p:nvSpPr>
            <p:cNvPr id="50448" name="ellipse_2612">
              <a:extLst>
                <a:ext uri="{FF2B5EF4-FFF2-40B4-BE49-F238E27FC236}">
                  <a16:creationId xmlns:a16="http://schemas.microsoft.com/office/drawing/2014/main" id="{ADC6E2A3-BB87-EB95-51FC-A7D7C22A6904}"/>
                </a:ext>
              </a:extLst>
            </p:cNvPr>
            <p:cNvSpPr/>
            <p:nvPr/>
          </p:nvSpPr>
          <p:spPr>
            <a:xfrm>
              <a:off x="4542383" y="798587"/>
              <a:ext cx="9428" cy="3307"/>
            </a:xfrm>
            <a:prstGeom prst="ellipse">
              <a:avLst/>
            </a:prstGeom>
            <a:solidFill>
              <a:srgbClr val="FFFFFF">
                <a:alpha val="35000"/>
              </a:srgbClr>
            </a:solidFill>
            <a:ln w="3285" cap="rnd" cmpd="sng" algn="ctr">
              <a:noFill/>
              <a:prstDash val="solid"/>
              <a:round/>
              <a:headEnd type="none" w="med" len="med"/>
              <a:tailEnd type="none" w="med" len="med"/>
            </a:ln>
            <a:effectLst/>
          </p:spPr>
        </p:sp>
      </p:grpSp>
      <p:sp>
        <p:nvSpPr>
          <p:cNvPr id="29" name="V8 density and receptor to voxel">
            <a:extLst>
              <a:ext uri="{FF2B5EF4-FFF2-40B4-BE49-F238E27FC236}">
                <a16:creationId xmlns:a16="http://schemas.microsoft.com/office/drawing/2014/main" id="{A93542CD-DE1A-AC53-FDC3-415AD7948DFA}"/>
              </a:ext>
            </a:extLst>
          </p:cNvPr>
          <p:cNvSpPr/>
          <p:nvPr/>
        </p:nvSpPr>
        <p:spPr>
          <a:xfrm flipV="1">
            <a:off x="1834335" y="790091"/>
            <a:ext cx="77018" cy="45719"/>
          </a:xfrm>
          <a:custGeom>
            <a:avLst/>
            <a:gdLst/>
            <a:ahLst/>
            <a:cxnLst/>
            <a:rect l="l" t="t" r="r" b="b"/>
            <a:pathLst>
              <a:path w="96730" h="1">
                <a:moveTo>
                  <a:pt x="0" y="0"/>
                </a:moveTo>
                <a:lnTo>
                  <a:pt x="96730" y="0"/>
                </a:lnTo>
              </a:path>
            </a:pathLst>
          </a:custGeom>
          <a:noFill/>
          <a:ln w="8509" cap="rnd">
            <a:solidFill>
              <a:srgbClr val="77828C"/>
            </a:solidFill>
            <a:prstDash val="solid"/>
            <a:round/>
          </a:ln>
        </p:spPr>
      </p:sp>
      <p:sp>
        <p:nvSpPr>
          <p:cNvPr id="31" name="V8 density and receptor to voxel head">
            <a:extLst>
              <a:ext uri="{FF2B5EF4-FFF2-40B4-BE49-F238E27FC236}">
                <a16:creationId xmlns:a16="http://schemas.microsoft.com/office/drawing/2014/main" id="{414CA884-9F06-7BC7-8AC3-4D22133896A5}"/>
              </a:ext>
            </a:extLst>
          </p:cNvPr>
          <p:cNvSpPr/>
          <p:nvPr/>
        </p:nvSpPr>
        <p:spPr>
          <a:xfrm>
            <a:off x="1905255" y="822853"/>
            <a:ext cx="28321" cy="24384"/>
          </a:xfrm>
          <a:custGeom>
            <a:avLst/>
            <a:gdLst/>
            <a:ahLst/>
            <a:cxnLst/>
            <a:rect l="l" t="t" r="r" b="b"/>
            <a:pathLst>
              <a:path w="28321" h="24384">
                <a:moveTo>
                  <a:pt x="28321" y="12192"/>
                </a:moveTo>
                <a:lnTo>
                  <a:pt x="0" y="0"/>
                </a:lnTo>
                <a:lnTo>
                  <a:pt x="0" y="24384"/>
                </a:lnTo>
                <a:close/>
              </a:path>
            </a:pathLst>
          </a:custGeom>
          <a:solidFill>
            <a:srgbClr val="77828C"/>
          </a:solidFill>
          <a:ln w="0" cap="rnd">
            <a:noFill/>
          </a:ln>
        </p:spPr>
      </p:sp>
      <p:sp>
        <p:nvSpPr>
          <p:cNvPr id="34" name="文本框 33">
            <a:extLst>
              <a:ext uri="{FF2B5EF4-FFF2-40B4-BE49-F238E27FC236}">
                <a16:creationId xmlns:a16="http://schemas.microsoft.com/office/drawing/2014/main" id="{77E3C4C6-701E-0FF8-F71C-EE10234391FB}"/>
              </a:ext>
            </a:extLst>
          </p:cNvPr>
          <p:cNvSpPr txBox="1"/>
          <p:nvPr/>
        </p:nvSpPr>
        <p:spPr>
          <a:xfrm>
            <a:off x="2776387" y="1439947"/>
            <a:ext cx="502061" cy="197618"/>
          </a:xfrm>
          <a:prstGeom prst="rect">
            <a:avLst/>
          </a:prstGeom>
          <a:noFill/>
        </p:spPr>
        <p:txBody>
          <a:bodyPr wrap="none" rtlCol="0">
            <a:spAutoFit/>
          </a:bodyPr>
          <a:lstStyle/>
          <a:p>
            <a:pPr algn="ctr">
              <a:lnSpc>
                <a:spcPct val="105000"/>
              </a:lnSpc>
            </a:pPr>
            <a:r>
              <a:rPr lang="en-US" altLang="zh-CN" sz="650" i="1" dirty="0">
                <a:solidFill>
                  <a:srgbClr val="263442"/>
                </a:solidFill>
                <a:latin typeface="Arial"/>
              </a:rPr>
              <a:t>Recycle</a:t>
            </a:r>
          </a:p>
        </p:txBody>
      </p:sp>
      <p:grpSp>
        <p:nvGrpSpPr>
          <p:cNvPr id="21" name="Find candidate blob 2">
            <a:extLst>
              <a:ext uri="{FF2B5EF4-FFF2-40B4-BE49-F238E27FC236}">
                <a16:creationId xmlns:a16="http://schemas.microsoft.com/office/drawing/2014/main" id="{6893A416-B448-5604-D0E4-19CCB6D9459E}"/>
              </a:ext>
            </a:extLst>
          </p:cNvPr>
          <p:cNvGrpSpPr/>
          <p:nvPr/>
        </p:nvGrpSpPr>
        <p:grpSpPr>
          <a:xfrm rot="3197729">
            <a:off x="4586768" y="633066"/>
            <a:ext cx="35227" cy="29704"/>
            <a:chOff x="1928706" y="3559489"/>
            <a:chExt cx="227897" cy="155682"/>
          </a:xfrm>
        </p:grpSpPr>
        <p:sp>
          <p:nvSpPr>
            <p:cNvPr id="23" name="Candidate blob | editable contour">
              <a:extLst>
                <a:ext uri="{FF2B5EF4-FFF2-40B4-BE49-F238E27FC236}">
                  <a16:creationId xmlns:a16="http://schemas.microsoft.com/office/drawing/2014/main" id="{066E9D98-5576-EFD8-3BE3-882D383689A5}"/>
                </a:ext>
              </a:extLst>
            </p:cNvPr>
            <p:cNvSpPr/>
            <p:nvPr/>
          </p:nvSpPr>
          <p:spPr>
            <a:xfrm>
              <a:off x="1928706" y="3559489"/>
              <a:ext cx="227897" cy="155682"/>
            </a:xfrm>
            <a:custGeom>
              <a:avLst/>
              <a:gdLst/>
              <a:ahLst/>
              <a:cxnLst/>
              <a:rect l="0" t="0" r="w" b="h"/>
              <a:pathLst>
                <a:path w="227897" h="155682" extrusionOk="0">
                  <a:moveTo>
                    <a:pt x="3521" y="100385"/>
                  </a:moveTo>
                  <a:cubicBezTo>
                    <a:pt x="0" y="80701"/>
                    <a:pt x="26006" y="62787"/>
                    <a:pt x="43453" y="54263"/>
                  </a:cubicBezTo>
                  <a:cubicBezTo>
                    <a:pt x="58843" y="43224"/>
                    <a:pt x="83460" y="52781"/>
                    <a:pt x="99588" y="43358"/>
                  </a:cubicBezTo>
                  <a:cubicBezTo>
                    <a:pt x="112436" y="32945"/>
                    <a:pt x="102548" y="9475"/>
                    <a:pt x="114181" y="4123"/>
                  </a:cubicBezTo>
                  <a:cubicBezTo>
                    <a:pt x="125241" y="0"/>
                    <a:pt x="158214" y="2398"/>
                    <a:pt x="179365" y="5837"/>
                  </a:cubicBezTo>
                  <a:cubicBezTo>
                    <a:pt x="197301" y="9996"/>
                    <a:pt x="210134" y="19340"/>
                    <a:pt x="216909" y="31256"/>
                  </a:cubicBezTo>
                  <a:cubicBezTo>
                    <a:pt x="221237" y="45342"/>
                    <a:pt x="227897" y="67151"/>
                    <a:pt x="224378" y="79920"/>
                  </a:cubicBezTo>
                  <a:cubicBezTo>
                    <a:pt x="219253" y="92918"/>
                    <a:pt x="191986" y="104353"/>
                    <a:pt x="170629" y="115250"/>
                  </a:cubicBezTo>
                  <a:cubicBezTo>
                    <a:pt x="155563" y="129736"/>
                    <a:pt x="143418" y="146104"/>
                    <a:pt x="126157" y="151452"/>
                  </a:cubicBezTo>
                  <a:cubicBezTo>
                    <a:pt x="110048" y="155682"/>
                    <a:pt x="82946" y="155682"/>
                    <a:pt x="52808" y="150002"/>
                  </a:cubicBezTo>
                  <a:cubicBezTo>
                    <a:pt x="28847" y="143645"/>
                    <a:pt x="5675" y="118994"/>
                    <a:pt x="3521" y="100385"/>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28" name="ellipse_2612">
              <a:extLst>
                <a:ext uri="{FF2B5EF4-FFF2-40B4-BE49-F238E27FC236}">
                  <a16:creationId xmlns:a16="http://schemas.microsoft.com/office/drawing/2014/main" id="{4FC35D18-39A7-F780-BC79-340224817D76}"/>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grpSp>
        <p:nvGrpSpPr>
          <p:cNvPr id="30" name="Find candidate blob 3">
            <a:extLst>
              <a:ext uri="{FF2B5EF4-FFF2-40B4-BE49-F238E27FC236}">
                <a16:creationId xmlns:a16="http://schemas.microsoft.com/office/drawing/2014/main" id="{DA5987F2-BC01-CAA3-07FB-D4880302CDFC}"/>
              </a:ext>
            </a:extLst>
          </p:cNvPr>
          <p:cNvGrpSpPr/>
          <p:nvPr/>
        </p:nvGrpSpPr>
        <p:grpSpPr>
          <a:xfrm rot="364243">
            <a:off x="4504977" y="709850"/>
            <a:ext cx="31915" cy="32299"/>
            <a:chOff x="1928706" y="3559489"/>
            <a:chExt cx="227897" cy="155682"/>
          </a:xfrm>
        </p:grpSpPr>
        <p:sp>
          <p:nvSpPr>
            <p:cNvPr id="32" name="Candidate blob | editable contour">
              <a:extLst>
                <a:ext uri="{FF2B5EF4-FFF2-40B4-BE49-F238E27FC236}">
                  <a16:creationId xmlns:a16="http://schemas.microsoft.com/office/drawing/2014/main" id="{4DD391B2-8E26-34FB-CC89-FA9880D550F1}"/>
                </a:ext>
              </a:extLst>
            </p:cNvPr>
            <p:cNvSpPr/>
            <p:nvPr/>
          </p:nvSpPr>
          <p:spPr>
            <a:xfrm>
              <a:off x="1928706" y="3559489"/>
              <a:ext cx="227897" cy="155682"/>
            </a:xfrm>
            <a:custGeom>
              <a:avLst/>
              <a:gdLst/>
              <a:ahLst/>
              <a:cxnLst/>
              <a:rect l="0" t="0" r="w" b="h"/>
              <a:pathLst>
                <a:path w="227897" h="155682" extrusionOk="0">
                  <a:moveTo>
                    <a:pt x="4633" y="103508"/>
                  </a:moveTo>
                  <a:cubicBezTo>
                    <a:pt x="0" y="80701"/>
                    <a:pt x="17781" y="72087"/>
                    <a:pt x="35225" y="64107"/>
                  </a:cubicBezTo>
                  <a:cubicBezTo>
                    <a:pt x="54476" y="49917"/>
                    <a:pt x="72264" y="52549"/>
                    <a:pt x="92778" y="35736"/>
                  </a:cubicBezTo>
                  <a:cubicBezTo>
                    <a:pt x="110195" y="21040"/>
                    <a:pt x="104326" y="5059"/>
                    <a:pt x="115221" y="1753"/>
                  </a:cubicBezTo>
                  <a:cubicBezTo>
                    <a:pt x="125241" y="0"/>
                    <a:pt x="159037" y="3786"/>
                    <a:pt x="180838" y="12966"/>
                  </a:cubicBezTo>
                  <a:cubicBezTo>
                    <a:pt x="198427" y="23372"/>
                    <a:pt x="209170" y="39484"/>
                    <a:pt x="212983" y="52913"/>
                  </a:cubicBezTo>
                  <a:cubicBezTo>
                    <a:pt x="216818" y="61184"/>
                    <a:pt x="227897" y="67151"/>
                    <a:pt x="223406" y="85389"/>
                  </a:cubicBezTo>
                  <a:cubicBezTo>
                    <a:pt x="220211" y="103077"/>
                    <a:pt x="208185" y="131257"/>
                    <a:pt x="201464" y="141174"/>
                  </a:cubicBezTo>
                  <a:cubicBezTo>
                    <a:pt x="189414" y="144450"/>
                    <a:pt x="161966" y="148455"/>
                    <a:pt x="136762" y="150513"/>
                  </a:cubicBezTo>
                  <a:cubicBezTo>
                    <a:pt x="110048" y="155682"/>
                    <a:pt x="82946" y="155682"/>
                    <a:pt x="72733" y="149421"/>
                  </a:cubicBezTo>
                  <a:cubicBezTo>
                    <a:pt x="54091" y="147525"/>
                    <a:pt x="13199" y="123788"/>
                    <a:pt x="4633" y="103508"/>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33" name="ellipse_2612">
              <a:extLst>
                <a:ext uri="{FF2B5EF4-FFF2-40B4-BE49-F238E27FC236}">
                  <a16:creationId xmlns:a16="http://schemas.microsoft.com/office/drawing/2014/main" id="{09AE9E7D-062B-E387-61F4-93EA12E3A369}"/>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grpSp>
        <p:nvGrpSpPr>
          <p:cNvPr id="38" name="Find candidate blob 1">
            <a:extLst>
              <a:ext uri="{FF2B5EF4-FFF2-40B4-BE49-F238E27FC236}">
                <a16:creationId xmlns:a16="http://schemas.microsoft.com/office/drawing/2014/main" id="{E138FCD2-82DE-8DA1-DB55-68E7C983E2D2}"/>
              </a:ext>
            </a:extLst>
          </p:cNvPr>
          <p:cNvGrpSpPr/>
          <p:nvPr/>
        </p:nvGrpSpPr>
        <p:grpSpPr>
          <a:xfrm>
            <a:off x="4398123" y="745957"/>
            <a:ext cx="40973" cy="27988"/>
            <a:chOff x="1928706" y="3559489"/>
            <a:chExt cx="227897" cy="155682"/>
          </a:xfrm>
        </p:grpSpPr>
        <p:sp>
          <p:nvSpPr>
            <p:cNvPr id="39" name="Candidate blob | editable contour">
              <a:extLst>
                <a:ext uri="{FF2B5EF4-FFF2-40B4-BE49-F238E27FC236}">
                  <a16:creationId xmlns:a16="http://schemas.microsoft.com/office/drawing/2014/main" id="{BF6BB820-E5D0-06DB-C047-6204C0536D3F}"/>
                </a:ext>
              </a:extLst>
            </p:cNvPr>
            <p:cNvSpPr/>
            <p:nvPr/>
          </p:nvSpPr>
          <p:spPr>
            <a:xfrm>
              <a:off x="1928706" y="3559489"/>
              <a:ext cx="227897" cy="155682"/>
            </a:xfrm>
            <a:custGeom>
              <a:avLst/>
              <a:gdLst/>
              <a:ahLst/>
              <a:cxnLst/>
              <a:rect l="0" t="0" r="w" b="h"/>
              <a:pathLst>
                <a:path w="227897" h="155682" extrusionOk="0">
                  <a:moveTo>
                    <a:pt x="5338" y="97866"/>
                  </a:moveTo>
                  <a:cubicBezTo>
                    <a:pt x="0" y="80701"/>
                    <a:pt x="18889" y="54504"/>
                    <a:pt x="29976" y="43663"/>
                  </a:cubicBezTo>
                  <a:cubicBezTo>
                    <a:pt x="41062" y="32823"/>
                    <a:pt x="58719" y="39447"/>
                    <a:pt x="71859" y="32823"/>
                  </a:cubicBezTo>
                  <a:cubicBezTo>
                    <a:pt x="84999" y="26198"/>
                    <a:pt x="92391" y="7829"/>
                    <a:pt x="108816" y="3915"/>
                  </a:cubicBezTo>
                  <a:cubicBezTo>
                    <a:pt x="125241" y="0"/>
                    <a:pt x="153984" y="3613"/>
                    <a:pt x="170409" y="9335"/>
                  </a:cubicBezTo>
                  <a:cubicBezTo>
                    <a:pt x="186834" y="15056"/>
                    <a:pt x="198332" y="26198"/>
                    <a:pt x="207366" y="38243"/>
                  </a:cubicBezTo>
                  <a:cubicBezTo>
                    <a:pt x="216399" y="50288"/>
                    <a:pt x="227897" y="67151"/>
                    <a:pt x="224612" y="81605"/>
                  </a:cubicBezTo>
                  <a:cubicBezTo>
                    <a:pt x="221327" y="96059"/>
                    <a:pt x="203259" y="113223"/>
                    <a:pt x="187656" y="124967"/>
                  </a:cubicBezTo>
                  <a:cubicBezTo>
                    <a:pt x="172052" y="136711"/>
                    <a:pt x="151931" y="148455"/>
                    <a:pt x="130989" y="152068"/>
                  </a:cubicBezTo>
                  <a:cubicBezTo>
                    <a:pt x="110048" y="155682"/>
                    <a:pt x="82946" y="155682"/>
                    <a:pt x="62004" y="146648"/>
                  </a:cubicBezTo>
                  <a:cubicBezTo>
                    <a:pt x="41062" y="137614"/>
                    <a:pt x="10676" y="115030"/>
                    <a:pt x="5338" y="97866"/>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40" name="ellipse_2612">
              <a:extLst>
                <a:ext uri="{FF2B5EF4-FFF2-40B4-BE49-F238E27FC236}">
                  <a16:creationId xmlns:a16="http://schemas.microsoft.com/office/drawing/2014/main" id="{4F108C25-E2E7-4765-578F-AA6CD1C3A868}"/>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sp>
        <p:nvSpPr>
          <p:cNvPr id="4" name="Panel | Build background">
            <a:extLst>
              <a:ext uri="{FF2B5EF4-FFF2-40B4-BE49-F238E27FC236}">
                <a16:creationId xmlns:a16="http://schemas.microsoft.com/office/drawing/2014/main" id="{282B259E-F7F3-261E-1654-5CB945242B20}"/>
              </a:ext>
            </a:extLst>
          </p:cNvPr>
          <p:cNvSpPr/>
          <p:nvPr/>
        </p:nvSpPr>
        <p:spPr>
          <a:xfrm>
            <a:off x="4868797" y="84564"/>
            <a:ext cx="1354615" cy="4331875"/>
          </a:xfrm>
          <a:prstGeom prst="roundRect">
            <a:avLst>
              <a:gd name="adj" fmla="val 2000"/>
            </a:avLst>
          </a:prstGeom>
          <a:solidFill>
            <a:srgbClr val="FAF6EE"/>
          </a:solidFill>
          <a:ln w="9720">
            <a:solidFill>
              <a:srgbClr val="E3D9C6"/>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dirty="0"/>
          </a:p>
        </p:txBody>
      </p:sp>
      <p:sp>
        <p:nvSpPr>
          <p:cNvPr id="11" name="TextBox 8">
            <a:extLst>
              <a:ext uri="{FF2B5EF4-FFF2-40B4-BE49-F238E27FC236}">
                <a16:creationId xmlns:a16="http://schemas.microsoft.com/office/drawing/2014/main" id="{06A31A43-D8A9-A484-0FB0-0545AAA97C7A}"/>
              </a:ext>
            </a:extLst>
          </p:cNvPr>
          <p:cNvSpPr txBox="1"/>
          <p:nvPr/>
        </p:nvSpPr>
        <p:spPr>
          <a:xfrm>
            <a:off x="4902380" y="107125"/>
            <a:ext cx="174028" cy="149656"/>
          </a:xfrm>
          <a:prstGeom prst="rect">
            <a:avLst/>
          </a:prstGeom>
          <a:noFill/>
        </p:spPr>
        <p:txBody>
          <a:bodyPr wrap="square" lIns="0" tIns="0" rIns="0" bIns="0" anchor="ctr">
            <a:spAutoFit/>
          </a:bodyPr>
          <a:lstStyle/>
          <a:p>
            <a:pPr algn="l">
              <a:lnSpc>
                <a:spcPct val="105000"/>
              </a:lnSpc>
            </a:pPr>
            <a:r>
              <a:rPr sz="995" b="1" dirty="0">
                <a:solidFill>
                  <a:srgbClr val="263442"/>
                </a:solidFill>
                <a:latin typeface="Arial"/>
              </a:rPr>
              <a:t>c</a:t>
            </a:r>
          </a:p>
        </p:txBody>
      </p:sp>
      <p:sp>
        <p:nvSpPr>
          <p:cNvPr id="12" name="TextBox 9">
            <a:extLst>
              <a:ext uri="{FF2B5EF4-FFF2-40B4-BE49-F238E27FC236}">
                <a16:creationId xmlns:a16="http://schemas.microsoft.com/office/drawing/2014/main" id="{2872D8BE-A745-9991-D772-4BF1BD692B07}"/>
              </a:ext>
            </a:extLst>
          </p:cNvPr>
          <p:cNvSpPr txBox="1"/>
          <p:nvPr/>
        </p:nvSpPr>
        <p:spPr>
          <a:xfrm>
            <a:off x="5060587" y="120126"/>
            <a:ext cx="1202377" cy="239809"/>
          </a:xfrm>
          <a:prstGeom prst="rect">
            <a:avLst/>
          </a:prstGeom>
          <a:noFill/>
        </p:spPr>
        <p:txBody>
          <a:bodyPr wrap="square" lIns="0" tIns="0" rIns="0" bIns="0" anchor="ctr">
            <a:spAutoFit/>
          </a:bodyPr>
          <a:lstStyle/>
          <a:p>
            <a:pPr algn="l">
              <a:lnSpc>
                <a:spcPct val="98000"/>
              </a:lnSpc>
            </a:pPr>
            <a:r>
              <a:rPr sz="795" dirty="0">
                <a:solidFill>
                  <a:srgbClr val="263442"/>
                </a:solidFill>
                <a:latin typeface="Arial"/>
              </a:rPr>
              <a:t>Build: downstream</a:t>
            </a:r>
          </a:p>
          <a:p>
            <a:pPr algn="l">
              <a:lnSpc>
                <a:spcPct val="98000"/>
              </a:lnSpc>
            </a:pPr>
            <a:r>
              <a:rPr sz="795" dirty="0">
                <a:solidFill>
                  <a:srgbClr val="263442"/>
                </a:solidFill>
                <a:latin typeface="Arial"/>
              </a:rPr>
              <a:t>pose reconstruction</a:t>
            </a:r>
          </a:p>
        </p:txBody>
      </p:sp>
      <p:sp>
        <p:nvSpPr>
          <p:cNvPr id="18" name="Build four inputs">
            <a:extLst>
              <a:ext uri="{FF2B5EF4-FFF2-40B4-BE49-F238E27FC236}">
                <a16:creationId xmlns:a16="http://schemas.microsoft.com/office/drawing/2014/main" id="{B60F5A5C-564F-D5DC-D3C7-64AEE0611D24}"/>
              </a:ext>
            </a:extLst>
          </p:cNvPr>
          <p:cNvSpPr>
            <a:spLocks noGrp="1"/>
          </p:cNvSpPr>
          <p:nvPr/>
        </p:nvSpPr>
        <p:spPr>
          <a:xfrm>
            <a:off x="4963973" y="420252"/>
            <a:ext cx="1158792" cy="1302153"/>
          </a:xfrm>
          <a:prstGeom prst="roundRect">
            <a:avLst>
              <a:gd name="adj" fmla="val 4554"/>
            </a:avLst>
          </a:prstGeom>
          <a:solidFill>
            <a:schemeClr val="bg1"/>
          </a:solidFill>
          <a:ln w="7290">
            <a:solidFill>
              <a:srgbClr val="BEC7CE"/>
            </a:solidFill>
            <a:prstDash val="solid"/>
          </a:ln>
        </p:spPr>
        <p:txBody>
          <a:bodyPr/>
          <a:lstStyle/>
          <a:p>
            <a:endParaRPr lang="zh-CN" altLang="en-US" dirty="0"/>
          </a:p>
        </p:txBody>
      </p:sp>
      <p:sp>
        <p:nvSpPr>
          <p:cNvPr id="19" name="Site label">
            <a:extLst>
              <a:ext uri="{FF2B5EF4-FFF2-40B4-BE49-F238E27FC236}">
                <a16:creationId xmlns:a16="http://schemas.microsoft.com/office/drawing/2014/main" id="{6BC776BF-4E20-63E6-B5A0-359A525F562B}"/>
              </a:ext>
            </a:extLst>
          </p:cNvPr>
          <p:cNvSpPr>
            <a:spLocks noGrp="1"/>
          </p:cNvSpPr>
          <p:nvPr/>
        </p:nvSpPr>
        <p:spPr>
          <a:xfrm>
            <a:off x="4992638" y="834972"/>
            <a:ext cx="514364" cy="101253"/>
          </a:xfrm>
          <a:prstGeom prst="rect">
            <a:avLst/>
          </a:prstGeom>
          <a:noFill/>
          <a:ln w="6885">
            <a:noFill/>
            <a:prstDash val="solid"/>
          </a:ln>
        </p:spPr>
        <p:txBody>
          <a:bodyPr lIns="0" tIns="0" rIns="0" bIns="0" anchor="ctr"/>
          <a:lstStyle>
            <a:defPPr algn="ctr">
              <a:defRPr sz="695" b="1">
                <a:solidFill>
                  <a:srgbClr val="263442"/>
                </a:solidFill>
                <a:latin typeface="Arial"/>
                <a:ea typeface="Arial"/>
                <a:cs typeface="Arial"/>
              </a:defRPr>
            </a:defPPr>
            <a:lvl1pPr algn="ctr">
              <a:defRPr sz="695" b="1">
                <a:solidFill>
                  <a:srgbClr val="263442"/>
                </a:solidFill>
                <a:latin typeface="Arial"/>
                <a:ea typeface="Arial"/>
                <a:cs typeface="Arial"/>
              </a:defRPr>
            </a:lvl1pPr>
            <a:lvl2pPr algn="ctr">
              <a:defRPr sz="695" b="1">
                <a:solidFill>
                  <a:srgbClr val="263442"/>
                </a:solidFill>
                <a:latin typeface="Arial"/>
                <a:ea typeface="Arial"/>
                <a:cs typeface="Arial"/>
              </a:defRPr>
            </a:lvl2pPr>
            <a:lvl3pPr algn="ctr">
              <a:defRPr sz="695" b="1">
                <a:solidFill>
                  <a:srgbClr val="263442"/>
                </a:solidFill>
                <a:latin typeface="Arial"/>
                <a:ea typeface="Arial"/>
                <a:cs typeface="Arial"/>
              </a:defRPr>
            </a:lvl3pPr>
            <a:lvl4pPr algn="ctr">
              <a:defRPr sz="695" b="1">
                <a:solidFill>
                  <a:srgbClr val="263442"/>
                </a:solidFill>
                <a:latin typeface="Arial"/>
                <a:ea typeface="Arial"/>
                <a:cs typeface="Arial"/>
              </a:defRPr>
            </a:lvl4pPr>
            <a:lvl5pPr algn="ctr">
              <a:defRPr sz="695" b="1">
                <a:solidFill>
                  <a:srgbClr val="263442"/>
                </a:solidFill>
                <a:latin typeface="Arial"/>
                <a:ea typeface="Arial"/>
                <a:cs typeface="Arial"/>
              </a:defRPr>
            </a:lvl5pPr>
            <a:lvl6pPr algn="ctr">
              <a:defRPr sz="695" b="1">
                <a:solidFill>
                  <a:srgbClr val="263442"/>
                </a:solidFill>
                <a:latin typeface="Arial"/>
                <a:ea typeface="Arial"/>
                <a:cs typeface="Arial"/>
              </a:defRPr>
            </a:lvl6pPr>
            <a:lvl7pPr algn="ctr">
              <a:defRPr sz="695" b="1">
                <a:solidFill>
                  <a:srgbClr val="263442"/>
                </a:solidFill>
                <a:latin typeface="Arial"/>
                <a:ea typeface="Arial"/>
                <a:cs typeface="Arial"/>
              </a:defRPr>
            </a:lvl7pPr>
            <a:lvl8pPr algn="ctr">
              <a:defRPr sz="695" b="1">
                <a:solidFill>
                  <a:srgbClr val="263442"/>
                </a:solidFill>
                <a:latin typeface="Arial"/>
                <a:ea typeface="Arial"/>
                <a:cs typeface="Arial"/>
              </a:defRPr>
            </a:lvl8pPr>
            <a:lvl9pPr algn="ctr">
              <a:defRPr sz="695" b="1">
                <a:solidFill>
                  <a:srgbClr val="263442"/>
                </a:solidFill>
                <a:latin typeface="Arial"/>
                <a:ea typeface="Arial"/>
                <a:cs typeface="Arial"/>
              </a:defRPr>
            </a:lvl9pPr>
          </a:lstStyle>
          <a:p>
            <a:pPr algn="ctr">
              <a:defRPr sz="695" b="1">
                <a:solidFill>
                  <a:srgbClr val="263442"/>
                </a:solidFill>
                <a:latin typeface="Arial"/>
                <a:ea typeface="Arial"/>
                <a:cs typeface="Arial"/>
              </a:defRPr>
            </a:pPr>
            <a:r>
              <a:rPr sz="695" b="0" dirty="0">
                <a:solidFill>
                  <a:srgbClr val="263442"/>
                </a:solidFill>
                <a:latin typeface="Arial"/>
                <a:ea typeface="Arial"/>
                <a:cs typeface="Arial"/>
              </a:rPr>
              <a:t>Site</a:t>
            </a:r>
          </a:p>
        </p:txBody>
      </p:sp>
      <p:sp>
        <p:nvSpPr>
          <p:cNvPr id="20" name="Site provenance">
            <a:extLst>
              <a:ext uri="{FF2B5EF4-FFF2-40B4-BE49-F238E27FC236}">
                <a16:creationId xmlns:a16="http://schemas.microsoft.com/office/drawing/2014/main" id="{739B6A03-AEFF-F69E-C9CF-167002B43D58}"/>
              </a:ext>
            </a:extLst>
          </p:cNvPr>
          <p:cNvSpPr>
            <a:spLocks noGrp="1"/>
          </p:cNvSpPr>
          <p:nvPr/>
        </p:nvSpPr>
        <p:spPr>
          <a:xfrm>
            <a:off x="4999032" y="921461"/>
            <a:ext cx="514364" cy="85052"/>
          </a:xfrm>
          <a:prstGeom prst="rect">
            <a:avLst/>
          </a:prstGeom>
          <a:noFill/>
          <a:ln w="6885">
            <a:noFill/>
            <a:prstDash val="solid"/>
          </a:ln>
        </p:spPr>
        <p:txBody>
          <a:bodyPr lIns="0" tIns="0" rIns="0" bIns="0" anchor="ctr"/>
          <a:lstStyle>
            <a:defPPr algn="ctr">
              <a:defRPr sz="590" b="0">
                <a:solidFill>
                  <a:srgbClr val="263442"/>
                </a:solidFill>
                <a:latin typeface="Arial"/>
                <a:ea typeface="Arial"/>
                <a:cs typeface="Arial"/>
              </a:defRPr>
            </a:defPPr>
            <a:lvl1pPr algn="ctr">
              <a:defRPr sz="590" b="0">
                <a:solidFill>
                  <a:srgbClr val="263442"/>
                </a:solidFill>
                <a:latin typeface="Arial"/>
                <a:ea typeface="Arial"/>
                <a:cs typeface="Arial"/>
              </a:defRPr>
            </a:lvl1pPr>
            <a:lvl2pPr algn="ctr">
              <a:defRPr sz="590" b="0">
                <a:solidFill>
                  <a:srgbClr val="263442"/>
                </a:solidFill>
                <a:latin typeface="Arial"/>
                <a:ea typeface="Arial"/>
                <a:cs typeface="Arial"/>
              </a:defRPr>
            </a:lvl2pPr>
            <a:lvl3pPr algn="ctr">
              <a:defRPr sz="590" b="0">
                <a:solidFill>
                  <a:srgbClr val="263442"/>
                </a:solidFill>
                <a:latin typeface="Arial"/>
                <a:ea typeface="Arial"/>
                <a:cs typeface="Arial"/>
              </a:defRPr>
            </a:lvl3pPr>
            <a:lvl4pPr algn="ctr">
              <a:defRPr sz="590" b="0">
                <a:solidFill>
                  <a:srgbClr val="263442"/>
                </a:solidFill>
                <a:latin typeface="Arial"/>
                <a:ea typeface="Arial"/>
                <a:cs typeface="Arial"/>
              </a:defRPr>
            </a:lvl4pPr>
            <a:lvl5pPr algn="ctr">
              <a:defRPr sz="590" b="0">
                <a:solidFill>
                  <a:srgbClr val="263442"/>
                </a:solidFill>
                <a:latin typeface="Arial"/>
                <a:ea typeface="Arial"/>
                <a:cs typeface="Arial"/>
              </a:defRPr>
            </a:lvl5pPr>
            <a:lvl6pPr algn="ctr">
              <a:defRPr sz="590" b="0">
                <a:solidFill>
                  <a:srgbClr val="263442"/>
                </a:solidFill>
                <a:latin typeface="Arial"/>
                <a:ea typeface="Arial"/>
                <a:cs typeface="Arial"/>
              </a:defRPr>
            </a:lvl6pPr>
            <a:lvl7pPr algn="ctr">
              <a:defRPr sz="590" b="0">
                <a:solidFill>
                  <a:srgbClr val="263442"/>
                </a:solidFill>
                <a:latin typeface="Arial"/>
                <a:ea typeface="Arial"/>
                <a:cs typeface="Arial"/>
              </a:defRPr>
            </a:lvl7pPr>
            <a:lvl8pPr algn="ctr">
              <a:defRPr sz="590" b="0">
                <a:solidFill>
                  <a:srgbClr val="263442"/>
                </a:solidFill>
                <a:latin typeface="Arial"/>
                <a:ea typeface="Arial"/>
                <a:cs typeface="Arial"/>
              </a:defRPr>
            </a:lvl8pPr>
            <a:lvl9pPr algn="ctr">
              <a:defRPr sz="590" b="0">
                <a:solidFill>
                  <a:srgbClr val="263442"/>
                </a:solidFill>
                <a:latin typeface="Arial"/>
                <a:ea typeface="Arial"/>
                <a:cs typeface="Arial"/>
              </a:defRPr>
            </a:lvl9pPr>
          </a:lstStyle>
          <a:p>
            <a:pPr algn="ctr">
              <a:defRPr sz="590" b="0">
                <a:solidFill>
                  <a:srgbClr val="263442"/>
                </a:solidFill>
                <a:latin typeface="Arial"/>
                <a:ea typeface="Arial"/>
                <a:cs typeface="Arial"/>
              </a:defRPr>
            </a:pPr>
            <a:r>
              <a:rPr sz="550" dirty="0">
                <a:solidFill>
                  <a:srgbClr val="263442"/>
                </a:solidFill>
                <a:latin typeface="Arial"/>
                <a:ea typeface="Arial"/>
                <a:cs typeface="Arial"/>
              </a:rPr>
              <a:t>from Find</a:t>
            </a:r>
          </a:p>
        </p:txBody>
      </p:sp>
      <p:sp>
        <p:nvSpPr>
          <p:cNvPr id="22" name="Pocket label">
            <a:extLst>
              <a:ext uri="{FF2B5EF4-FFF2-40B4-BE49-F238E27FC236}">
                <a16:creationId xmlns:a16="http://schemas.microsoft.com/office/drawing/2014/main" id="{68D76741-6170-4D31-0639-95790678027F}"/>
              </a:ext>
            </a:extLst>
          </p:cNvPr>
          <p:cNvSpPr>
            <a:spLocks noGrp="1"/>
          </p:cNvSpPr>
          <p:nvPr/>
        </p:nvSpPr>
        <p:spPr>
          <a:xfrm>
            <a:off x="5581260" y="854408"/>
            <a:ext cx="514364" cy="101253"/>
          </a:xfrm>
          <a:prstGeom prst="rect">
            <a:avLst/>
          </a:prstGeom>
          <a:noFill/>
          <a:ln w="6885">
            <a:noFill/>
            <a:prstDash val="solid"/>
          </a:ln>
        </p:spPr>
        <p:txBody>
          <a:bodyPr lIns="0" tIns="0" rIns="0" bIns="0" anchor="ctr"/>
          <a:lstStyle>
            <a:defPPr algn="ctr">
              <a:defRPr sz="695" b="1">
                <a:solidFill>
                  <a:srgbClr val="263442"/>
                </a:solidFill>
                <a:latin typeface="Arial"/>
                <a:ea typeface="Arial"/>
                <a:cs typeface="Arial"/>
              </a:defRPr>
            </a:defPPr>
            <a:lvl1pPr algn="ctr">
              <a:defRPr sz="695" b="1">
                <a:solidFill>
                  <a:srgbClr val="263442"/>
                </a:solidFill>
                <a:latin typeface="Arial"/>
                <a:ea typeface="Arial"/>
                <a:cs typeface="Arial"/>
              </a:defRPr>
            </a:lvl1pPr>
            <a:lvl2pPr algn="ctr">
              <a:defRPr sz="695" b="1">
                <a:solidFill>
                  <a:srgbClr val="263442"/>
                </a:solidFill>
                <a:latin typeface="Arial"/>
                <a:ea typeface="Arial"/>
                <a:cs typeface="Arial"/>
              </a:defRPr>
            </a:lvl2pPr>
            <a:lvl3pPr algn="ctr">
              <a:defRPr sz="695" b="1">
                <a:solidFill>
                  <a:srgbClr val="263442"/>
                </a:solidFill>
                <a:latin typeface="Arial"/>
                <a:ea typeface="Arial"/>
                <a:cs typeface="Arial"/>
              </a:defRPr>
            </a:lvl3pPr>
            <a:lvl4pPr algn="ctr">
              <a:defRPr sz="695" b="1">
                <a:solidFill>
                  <a:srgbClr val="263442"/>
                </a:solidFill>
                <a:latin typeface="Arial"/>
                <a:ea typeface="Arial"/>
                <a:cs typeface="Arial"/>
              </a:defRPr>
            </a:lvl4pPr>
            <a:lvl5pPr algn="ctr">
              <a:defRPr sz="695" b="1">
                <a:solidFill>
                  <a:srgbClr val="263442"/>
                </a:solidFill>
                <a:latin typeface="Arial"/>
                <a:ea typeface="Arial"/>
                <a:cs typeface="Arial"/>
              </a:defRPr>
            </a:lvl5pPr>
            <a:lvl6pPr algn="ctr">
              <a:defRPr sz="695" b="1">
                <a:solidFill>
                  <a:srgbClr val="263442"/>
                </a:solidFill>
                <a:latin typeface="Arial"/>
                <a:ea typeface="Arial"/>
                <a:cs typeface="Arial"/>
              </a:defRPr>
            </a:lvl6pPr>
            <a:lvl7pPr algn="ctr">
              <a:defRPr sz="695" b="1">
                <a:solidFill>
                  <a:srgbClr val="263442"/>
                </a:solidFill>
                <a:latin typeface="Arial"/>
                <a:ea typeface="Arial"/>
                <a:cs typeface="Arial"/>
              </a:defRPr>
            </a:lvl7pPr>
            <a:lvl8pPr algn="ctr">
              <a:defRPr sz="695" b="1">
                <a:solidFill>
                  <a:srgbClr val="263442"/>
                </a:solidFill>
                <a:latin typeface="Arial"/>
                <a:ea typeface="Arial"/>
                <a:cs typeface="Arial"/>
              </a:defRPr>
            </a:lvl8pPr>
            <a:lvl9pPr algn="ctr">
              <a:defRPr sz="695" b="1">
                <a:solidFill>
                  <a:srgbClr val="263442"/>
                </a:solidFill>
                <a:latin typeface="Arial"/>
                <a:ea typeface="Arial"/>
                <a:cs typeface="Arial"/>
              </a:defRPr>
            </a:lvl9pPr>
          </a:lstStyle>
          <a:p>
            <a:pPr algn="ctr">
              <a:defRPr sz="695" b="1">
                <a:solidFill>
                  <a:srgbClr val="263442"/>
                </a:solidFill>
                <a:latin typeface="Arial"/>
                <a:ea typeface="Arial"/>
                <a:cs typeface="Arial"/>
              </a:defRPr>
            </a:pPr>
            <a:r>
              <a:rPr sz="695" b="0" dirty="0">
                <a:solidFill>
                  <a:srgbClr val="263442"/>
                </a:solidFill>
                <a:latin typeface="Arial"/>
                <a:ea typeface="Arial"/>
                <a:cs typeface="Arial"/>
              </a:rPr>
              <a:t>Pocket</a:t>
            </a:r>
          </a:p>
        </p:txBody>
      </p:sp>
      <p:sp>
        <p:nvSpPr>
          <p:cNvPr id="24" name="SMILES label">
            <a:extLst>
              <a:ext uri="{FF2B5EF4-FFF2-40B4-BE49-F238E27FC236}">
                <a16:creationId xmlns:a16="http://schemas.microsoft.com/office/drawing/2014/main" id="{BBDC15CA-C0BB-50B2-A152-4EF4E8C4C484}"/>
              </a:ext>
            </a:extLst>
          </p:cNvPr>
          <p:cNvSpPr>
            <a:spLocks noGrp="1"/>
          </p:cNvSpPr>
          <p:nvPr/>
        </p:nvSpPr>
        <p:spPr>
          <a:xfrm>
            <a:off x="4999664" y="1480722"/>
            <a:ext cx="514364" cy="101253"/>
          </a:xfrm>
          <a:prstGeom prst="rect">
            <a:avLst/>
          </a:prstGeom>
          <a:noFill/>
          <a:ln w="6885">
            <a:noFill/>
            <a:prstDash val="solid"/>
          </a:ln>
        </p:spPr>
        <p:txBody>
          <a:bodyPr lIns="0" tIns="0" rIns="0" bIns="0" anchor="ctr"/>
          <a:lstStyle>
            <a:defPPr algn="ctr">
              <a:defRPr sz="695" b="1">
                <a:solidFill>
                  <a:srgbClr val="263442"/>
                </a:solidFill>
                <a:latin typeface="Arial"/>
                <a:ea typeface="Arial"/>
                <a:cs typeface="Arial"/>
              </a:defRPr>
            </a:defPPr>
            <a:lvl1pPr algn="ctr">
              <a:defRPr sz="695" b="1">
                <a:solidFill>
                  <a:srgbClr val="263442"/>
                </a:solidFill>
                <a:latin typeface="Arial"/>
                <a:ea typeface="Arial"/>
                <a:cs typeface="Arial"/>
              </a:defRPr>
            </a:lvl1pPr>
            <a:lvl2pPr algn="ctr">
              <a:defRPr sz="695" b="1">
                <a:solidFill>
                  <a:srgbClr val="263442"/>
                </a:solidFill>
                <a:latin typeface="Arial"/>
                <a:ea typeface="Arial"/>
                <a:cs typeface="Arial"/>
              </a:defRPr>
            </a:lvl2pPr>
            <a:lvl3pPr algn="ctr">
              <a:defRPr sz="695" b="1">
                <a:solidFill>
                  <a:srgbClr val="263442"/>
                </a:solidFill>
                <a:latin typeface="Arial"/>
                <a:ea typeface="Arial"/>
                <a:cs typeface="Arial"/>
              </a:defRPr>
            </a:lvl3pPr>
            <a:lvl4pPr algn="ctr">
              <a:defRPr sz="695" b="1">
                <a:solidFill>
                  <a:srgbClr val="263442"/>
                </a:solidFill>
                <a:latin typeface="Arial"/>
                <a:ea typeface="Arial"/>
                <a:cs typeface="Arial"/>
              </a:defRPr>
            </a:lvl4pPr>
            <a:lvl5pPr algn="ctr">
              <a:defRPr sz="695" b="1">
                <a:solidFill>
                  <a:srgbClr val="263442"/>
                </a:solidFill>
                <a:latin typeface="Arial"/>
                <a:ea typeface="Arial"/>
                <a:cs typeface="Arial"/>
              </a:defRPr>
            </a:lvl5pPr>
            <a:lvl6pPr algn="ctr">
              <a:defRPr sz="695" b="1">
                <a:solidFill>
                  <a:srgbClr val="263442"/>
                </a:solidFill>
                <a:latin typeface="Arial"/>
                <a:ea typeface="Arial"/>
                <a:cs typeface="Arial"/>
              </a:defRPr>
            </a:lvl6pPr>
            <a:lvl7pPr algn="ctr">
              <a:defRPr sz="695" b="1">
                <a:solidFill>
                  <a:srgbClr val="263442"/>
                </a:solidFill>
                <a:latin typeface="Arial"/>
                <a:ea typeface="Arial"/>
                <a:cs typeface="Arial"/>
              </a:defRPr>
            </a:lvl7pPr>
            <a:lvl8pPr algn="ctr">
              <a:defRPr sz="695" b="1">
                <a:solidFill>
                  <a:srgbClr val="263442"/>
                </a:solidFill>
                <a:latin typeface="Arial"/>
                <a:ea typeface="Arial"/>
                <a:cs typeface="Arial"/>
              </a:defRPr>
            </a:lvl8pPr>
            <a:lvl9pPr algn="ctr">
              <a:defRPr sz="695" b="1">
                <a:solidFill>
                  <a:srgbClr val="263442"/>
                </a:solidFill>
                <a:latin typeface="Arial"/>
                <a:ea typeface="Arial"/>
                <a:cs typeface="Arial"/>
              </a:defRPr>
            </a:lvl9pPr>
          </a:lstStyle>
          <a:p>
            <a:pPr algn="ctr">
              <a:defRPr sz="695" b="1">
                <a:solidFill>
                  <a:srgbClr val="263442"/>
                </a:solidFill>
                <a:latin typeface="Arial"/>
                <a:ea typeface="Arial"/>
                <a:cs typeface="Arial"/>
              </a:defRPr>
            </a:pPr>
            <a:r>
              <a:rPr sz="695" b="0" dirty="0">
                <a:solidFill>
                  <a:srgbClr val="263442"/>
                </a:solidFill>
                <a:latin typeface="Arial"/>
                <a:ea typeface="Arial"/>
                <a:cs typeface="Arial"/>
              </a:rPr>
              <a:t>SMILES</a:t>
            </a:r>
          </a:p>
        </p:txBody>
      </p:sp>
      <p:sp>
        <p:nvSpPr>
          <p:cNvPr id="26" name="SMILES provenance">
            <a:extLst>
              <a:ext uri="{FF2B5EF4-FFF2-40B4-BE49-F238E27FC236}">
                <a16:creationId xmlns:a16="http://schemas.microsoft.com/office/drawing/2014/main" id="{7C12D5FF-69D3-BD2F-D2D9-878359E2651B}"/>
              </a:ext>
            </a:extLst>
          </p:cNvPr>
          <p:cNvSpPr>
            <a:spLocks noGrp="1"/>
          </p:cNvSpPr>
          <p:nvPr/>
        </p:nvSpPr>
        <p:spPr>
          <a:xfrm>
            <a:off x="5005380" y="1568821"/>
            <a:ext cx="514364" cy="85052"/>
          </a:xfrm>
          <a:prstGeom prst="rect">
            <a:avLst/>
          </a:prstGeom>
          <a:noFill/>
          <a:ln w="6885">
            <a:noFill/>
            <a:prstDash val="solid"/>
          </a:ln>
        </p:spPr>
        <p:txBody>
          <a:bodyPr lIns="0" tIns="0" rIns="0" bIns="0" anchor="ctr"/>
          <a:lstStyle>
            <a:defPPr algn="ctr">
              <a:defRPr sz="590" b="0">
                <a:solidFill>
                  <a:srgbClr val="263442"/>
                </a:solidFill>
                <a:latin typeface="Arial"/>
                <a:ea typeface="Arial"/>
                <a:cs typeface="Arial"/>
              </a:defRPr>
            </a:defPPr>
            <a:lvl1pPr algn="ctr">
              <a:defRPr sz="590" b="0">
                <a:solidFill>
                  <a:srgbClr val="263442"/>
                </a:solidFill>
                <a:latin typeface="Arial"/>
                <a:ea typeface="Arial"/>
                <a:cs typeface="Arial"/>
              </a:defRPr>
            </a:lvl1pPr>
            <a:lvl2pPr algn="ctr">
              <a:defRPr sz="590" b="0">
                <a:solidFill>
                  <a:srgbClr val="263442"/>
                </a:solidFill>
                <a:latin typeface="Arial"/>
                <a:ea typeface="Arial"/>
                <a:cs typeface="Arial"/>
              </a:defRPr>
            </a:lvl2pPr>
            <a:lvl3pPr algn="ctr">
              <a:defRPr sz="590" b="0">
                <a:solidFill>
                  <a:srgbClr val="263442"/>
                </a:solidFill>
                <a:latin typeface="Arial"/>
                <a:ea typeface="Arial"/>
                <a:cs typeface="Arial"/>
              </a:defRPr>
            </a:lvl3pPr>
            <a:lvl4pPr algn="ctr">
              <a:defRPr sz="590" b="0">
                <a:solidFill>
                  <a:srgbClr val="263442"/>
                </a:solidFill>
                <a:latin typeface="Arial"/>
                <a:ea typeface="Arial"/>
                <a:cs typeface="Arial"/>
              </a:defRPr>
            </a:lvl4pPr>
            <a:lvl5pPr algn="ctr">
              <a:defRPr sz="590" b="0">
                <a:solidFill>
                  <a:srgbClr val="263442"/>
                </a:solidFill>
                <a:latin typeface="Arial"/>
                <a:ea typeface="Arial"/>
                <a:cs typeface="Arial"/>
              </a:defRPr>
            </a:lvl5pPr>
            <a:lvl6pPr algn="ctr">
              <a:defRPr sz="590" b="0">
                <a:solidFill>
                  <a:srgbClr val="263442"/>
                </a:solidFill>
                <a:latin typeface="Arial"/>
                <a:ea typeface="Arial"/>
                <a:cs typeface="Arial"/>
              </a:defRPr>
            </a:lvl6pPr>
            <a:lvl7pPr algn="ctr">
              <a:defRPr sz="590" b="0">
                <a:solidFill>
                  <a:srgbClr val="263442"/>
                </a:solidFill>
                <a:latin typeface="Arial"/>
                <a:ea typeface="Arial"/>
                <a:cs typeface="Arial"/>
              </a:defRPr>
            </a:lvl7pPr>
            <a:lvl8pPr algn="ctr">
              <a:defRPr sz="590" b="0">
                <a:solidFill>
                  <a:srgbClr val="263442"/>
                </a:solidFill>
                <a:latin typeface="Arial"/>
                <a:ea typeface="Arial"/>
                <a:cs typeface="Arial"/>
              </a:defRPr>
            </a:lvl8pPr>
            <a:lvl9pPr algn="ctr">
              <a:defRPr sz="590" b="0">
                <a:solidFill>
                  <a:srgbClr val="263442"/>
                </a:solidFill>
                <a:latin typeface="Arial"/>
                <a:ea typeface="Arial"/>
                <a:cs typeface="Arial"/>
              </a:defRPr>
            </a:lvl9pPr>
          </a:lstStyle>
          <a:p>
            <a:pPr algn="ctr">
              <a:defRPr sz="590" b="0">
                <a:solidFill>
                  <a:srgbClr val="263442"/>
                </a:solidFill>
                <a:latin typeface="Arial"/>
                <a:ea typeface="Arial"/>
                <a:cs typeface="Arial"/>
              </a:defRPr>
            </a:pPr>
            <a:r>
              <a:rPr sz="550" dirty="0">
                <a:solidFill>
                  <a:srgbClr val="263442"/>
                </a:solidFill>
                <a:latin typeface="Arial"/>
                <a:ea typeface="Arial"/>
                <a:cs typeface="Arial"/>
              </a:rPr>
              <a:t>from Match</a:t>
            </a:r>
          </a:p>
        </p:txBody>
      </p:sp>
      <p:sp>
        <p:nvSpPr>
          <p:cNvPr id="27" name="Density input label">
            <a:extLst>
              <a:ext uri="{FF2B5EF4-FFF2-40B4-BE49-F238E27FC236}">
                <a16:creationId xmlns:a16="http://schemas.microsoft.com/office/drawing/2014/main" id="{6D16E49F-E0BD-960B-1183-2E7966D0A4D5}"/>
              </a:ext>
            </a:extLst>
          </p:cNvPr>
          <p:cNvSpPr>
            <a:spLocks noGrp="1"/>
          </p:cNvSpPr>
          <p:nvPr/>
        </p:nvSpPr>
        <p:spPr>
          <a:xfrm>
            <a:off x="5574918" y="1480706"/>
            <a:ext cx="514364" cy="101253"/>
          </a:xfrm>
          <a:prstGeom prst="rect">
            <a:avLst/>
          </a:prstGeom>
          <a:noFill/>
          <a:ln w="6885">
            <a:noFill/>
            <a:prstDash val="solid"/>
          </a:ln>
        </p:spPr>
        <p:txBody>
          <a:bodyPr lIns="0" tIns="0" rIns="0" bIns="0" anchor="ctr"/>
          <a:lstStyle>
            <a:defPPr algn="ctr">
              <a:defRPr sz="695" b="1">
                <a:solidFill>
                  <a:srgbClr val="263442"/>
                </a:solidFill>
                <a:latin typeface="Arial"/>
                <a:ea typeface="Arial"/>
                <a:cs typeface="Arial"/>
              </a:defRPr>
            </a:defPPr>
            <a:lvl1pPr algn="ctr">
              <a:defRPr sz="695" b="1">
                <a:solidFill>
                  <a:srgbClr val="263442"/>
                </a:solidFill>
                <a:latin typeface="Arial"/>
                <a:ea typeface="Arial"/>
                <a:cs typeface="Arial"/>
              </a:defRPr>
            </a:lvl1pPr>
            <a:lvl2pPr algn="ctr">
              <a:defRPr sz="695" b="1">
                <a:solidFill>
                  <a:srgbClr val="263442"/>
                </a:solidFill>
                <a:latin typeface="Arial"/>
                <a:ea typeface="Arial"/>
                <a:cs typeface="Arial"/>
              </a:defRPr>
            </a:lvl2pPr>
            <a:lvl3pPr algn="ctr">
              <a:defRPr sz="695" b="1">
                <a:solidFill>
                  <a:srgbClr val="263442"/>
                </a:solidFill>
                <a:latin typeface="Arial"/>
                <a:ea typeface="Arial"/>
                <a:cs typeface="Arial"/>
              </a:defRPr>
            </a:lvl3pPr>
            <a:lvl4pPr algn="ctr">
              <a:defRPr sz="695" b="1">
                <a:solidFill>
                  <a:srgbClr val="263442"/>
                </a:solidFill>
                <a:latin typeface="Arial"/>
                <a:ea typeface="Arial"/>
                <a:cs typeface="Arial"/>
              </a:defRPr>
            </a:lvl4pPr>
            <a:lvl5pPr algn="ctr">
              <a:defRPr sz="695" b="1">
                <a:solidFill>
                  <a:srgbClr val="263442"/>
                </a:solidFill>
                <a:latin typeface="Arial"/>
                <a:ea typeface="Arial"/>
                <a:cs typeface="Arial"/>
              </a:defRPr>
            </a:lvl5pPr>
            <a:lvl6pPr algn="ctr">
              <a:defRPr sz="695" b="1">
                <a:solidFill>
                  <a:srgbClr val="263442"/>
                </a:solidFill>
                <a:latin typeface="Arial"/>
                <a:ea typeface="Arial"/>
                <a:cs typeface="Arial"/>
              </a:defRPr>
            </a:lvl6pPr>
            <a:lvl7pPr algn="ctr">
              <a:defRPr sz="695" b="1">
                <a:solidFill>
                  <a:srgbClr val="263442"/>
                </a:solidFill>
                <a:latin typeface="Arial"/>
                <a:ea typeface="Arial"/>
                <a:cs typeface="Arial"/>
              </a:defRPr>
            </a:lvl7pPr>
            <a:lvl8pPr algn="ctr">
              <a:defRPr sz="695" b="1">
                <a:solidFill>
                  <a:srgbClr val="263442"/>
                </a:solidFill>
                <a:latin typeface="Arial"/>
                <a:ea typeface="Arial"/>
                <a:cs typeface="Arial"/>
              </a:defRPr>
            </a:lvl8pPr>
            <a:lvl9pPr algn="ctr">
              <a:defRPr sz="695" b="1">
                <a:solidFill>
                  <a:srgbClr val="263442"/>
                </a:solidFill>
                <a:latin typeface="Arial"/>
                <a:ea typeface="Arial"/>
                <a:cs typeface="Arial"/>
              </a:defRPr>
            </a:lvl9pPr>
          </a:lstStyle>
          <a:p>
            <a:pPr algn="ctr">
              <a:defRPr sz="695" b="1">
                <a:solidFill>
                  <a:srgbClr val="263442"/>
                </a:solidFill>
                <a:latin typeface="Arial"/>
                <a:ea typeface="Arial"/>
                <a:cs typeface="Arial"/>
              </a:defRPr>
            </a:pPr>
            <a:r>
              <a:rPr sz="695" b="0" dirty="0">
                <a:solidFill>
                  <a:srgbClr val="263442"/>
                </a:solidFill>
                <a:latin typeface="Arial"/>
                <a:ea typeface="Arial"/>
                <a:cs typeface="Arial"/>
              </a:rPr>
              <a:t>Density</a:t>
            </a:r>
          </a:p>
        </p:txBody>
      </p:sp>
      <p:pic>
        <p:nvPicPr>
          <p:cNvPr id="35" name="Build corresponding experimental density" descr="Experimental 9LLG density around chain C1 of the displayed CryoAtom2 receptor, at the original contour level and the identical camera orientation.">
            <a:extLst>
              <a:ext uri="{FF2B5EF4-FFF2-40B4-BE49-F238E27FC236}">
                <a16:creationId xmlns:a16="http://schemas.microsoft.com/office/drawing/2014/main" id="{5092F78F-651C-E8E7-D35E-B0FCC02EA96A}"/>
              </a:ext>
            </a:extLst>
          </p:cNvPr>
          <p:cNvPicPr/>
          <p:nvPr/>
        </p:nvPicPr>
        <p:blipFill>
          <a:blip r:embed="rId4"/>
          <a:stretch>
            <a:fillRect/>
          </a:stretch>
        </p:blipFill>
        <p:spPr>
          <a:xfrm>
            <a:off x="5657542" y="1104265"/>
            <a:ext cx="361766" cy="345440"/>
          </a:xfrm>
          <a:prstGeom prst="rect">
            <a:avLst/>
          </a:prstGeom>
        </p:spPr>
      </p:pic>
      <p:sp>
        <p:nvSpPr>
          <p:cNvPr id="36" name="V8 Build site and identity frame">
            <a:extLst>
              <a:ext uri="{FF2B5EF4-FFF2-40B4-BE49-F238E27FC236}">
                <a16:creationId xmlns:a16="http://schemas.microsoft.com/office/drawing/2014/main" id="{B140029D-42AF-9872-78BD-48C601C4D552}"/>
              </a:ext>
            </a:extLst>
          </p:cNvPr>
          <p:cNvSpPr/>
          <p:nvPr/>
        </p:nvSpPr>
        <p:spPr>
          <a:xfrm>
            <a:off x="4996634" y="457662"/>
            <a:ext cx="519754" cy="1228090"/>
          </a:xfrm>
          <a:prstGeom prst="roundRect">
            <a:avLst>
              <a:gd name="adj" fmla="val 5556"/>
            </a:avLst>
          </a:prstGeom>
          <a:noFill/>
          <a:ln w="6985" cap="rnd">
            <a:solidFill>
              <a:srgbClr val="BEC7CE"/>
            </a:solidFill>
            <a:prstDash val="dash"/>
            <a:round/>
          </a:ln>
        </p:spPr>
      </p:sp>
      <p:sp>
        <p:nvSpPr>
          <p:cNvPr id="37" name="V8 Build pocket and density frame">
            <a:extLst>
              <a:ext uri="{FF2B5EF4-FFF2-40B4-BE49-F238E27FC236}">
                <a16:creationId xmlns:a16="http://schemas.microsoft.com/office/drawing/2014/main" id="{4B79A1AA-B056-2C2D-6591-A7B6A1557CBE}"/>
              </a:ext>
            </a:extLst>
          </p:cNvPr>
          <p:cNvSpPr/>
          <p:nvPr/>
        </p:nvSpPr>
        <p:spPr>
          <a:xfrm>
            <a:off x="5564187" y="456353"/>
            <a:ext cx="527685" cy="1228090"/>
          </a:xfrm>
          <a:prstGeom prst="roundRect">
            <a:avLst>
              <a:gd name="adj" fmla="val 6477"/>
            </a:avLst>
          </a:prstGeom>
          <a:noFill/>
          <a:ln w="6985" cap="rnd">
            <a:solidFill>
              <a:srgbClr val="BEC7CE"/>
            </a:solidFill>
            <a:prstDash val="dash"/>
            <a:round/>
          </a:ln>
        </p:spPr>
      </p:sp>
      <p:grpSp>
        <p:nvGrpSpPr>
          <p:cNvPr id="41" name="Match | Blob contour">
            <a:extLst>
              <a:ext uri="{FF2B5EF4-FFF2-40B4-BE49-F238E27FC236}">
                <a16:creationId xmlns:a16="http://schemas.microsoft.com/office/drawing/2014/main" id="{E88657EE-13AB-6CC8-A0B7-AC9105978471}"/>
              </a:ext>
            </a:extLst>
          </p:cNvPr>
          <p:cNvGrpSpPr/>
          <p:nvPr/>
        </p:nvGrpSpPr>
        <p:grpSpPr>
          <a:xfrm>
            <a:off x="5095498" y="565131"/>
            <a:ext cx="291608" cy="199265"/>
            <a:chOff x="1928706" y="3559489"/>
            <a:chExt cx="227897" cy="155682"/>
          </a:xfrm>
        </p:grpSpPr>
        <p:sp>
          <p:nvSpPr>
            <p:cNvPr id="42" name="Candidate blob | editable contour">
              <a:extLst>
                <a:ext uri="{FF2B5EF4-FFF2-40B4-BE49-F238E27FC236}">
                  <a16:creationId xmlns:a16="http://schemas.microsoft.com/office/drawing/2014/main" id="{731FD5BB-CB91-48DE-A56A-9F0703309F16}"/>
                </a:ext>
              </a:extLst>
            </p:cNvPr>
            <p:cNvSpPr/>
            <p:nvPr/>
          </p:nvSpPr>
          <p:spPr>
            <a:xfrm>
              <a:off x="1928706" y="3559489"/>
              <a:ext cx="227897" cy="155682"/>
            </a:xfrm>
            <a:custGeom>
              <a:avLst/>
              <a:gdLst/>
              <a:ahLst/>
              <a:cxnLst/>
              <a:rect l="0" t="0" r="w" b="h"/>
              <a:pathLst>
                <a:path w="227897" h="155682" extrusionOk="0">
                  <a:moveTo>
                    <a:pt x="5338" y="97866"/>
                  </a:moveTo>
                  <a:cubicBezTo>
                    <a:pt x="0" y="80701"/>
                    <a:pt x="18889" y="54504"/>
                    <a:pt x="29976" y="43663"/>
                  </a:cubicBezTo>
                  <a:cubicBezTo>
                    <a:pt x="41062" y="32823"/>
                    <a:pt x="58719" y="39447"/>
                    <a:pt x="71859" y="32823"/>
                  </a:cubicBezTo>
                  <a:cubicBezTo>
                    <a:pt x="84999" y="26198"/>
                    <a:pt x="92391" y="7829"/>
                    <a:pt x="108816" y="3915"/>
                  </a:cubicBezTo>
                  <a:cubicBezTo>
                    <a:pt x="125241" y="0"/>
                    <a:pt x="153984" y="3613"/>
                    <a:pt x="170409" y="9335"/>
                  </a:cubicBezTo>
                  <a:cubicBezTo>
                    <a:pt x="186834" y="15056"/>
                    <a:pt x="198332" y="26198"/>
                    <a:pt x="207366" y="38243"/>
                  </a:cubicBezTo>
                  <a:cubicBezTo>
                    <a:pt x="216399" y="50288"/>
                    <a:pt x="227897" y="67151"/>
                    <a:pt x="224612" y="81605"/>
                  </a:cubicBezTo>
                  <a:cubicBezTo>
                    <a:pt x="221327" y="96059"/>
                    <a:pt x="203259" y="113223"/>
                    <a:pt x="187656" y="124967"/>
                  </a:cubicBezTo>
                  <a:cubicBezTo>
                    <a:pt x="172052" y="136711"/>
                    <a:pt x="151931" y="148455"/>
                    <a:pt x="130989" y="152068"/>
                  </a:cubicBezTo>
                  <a:cubicBezTo>
                    <a:pt x="110048" y="155682"/>
                    <a:pt x="82946" y="155682"/>
                    <a:pt x="62004" y="146648"/>
                  </a:cubicBezTo>
                  <a:cubicBezTo>
                    <a:pt x="41062" y="137614"/>
                    <a:pt x="10676" y="115030"/>
                    <a:pt x="5338" y="97866"/>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43" name="ellipse_2612">
              <a:extLst>
                <a:ext uri="{FF2B5EF4-FFF2-40B4-BE49-F238E27FC236}">
                  <a16:creationId xmlns:a16="http://schemas.microsoft.com/office/drawing/2014/main" id="{9D8A7E2C-A978-3786-FA0E-40434CAE171A}"/>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sp>
        <p:nvSpPr>
          <p:cNvPr id="44" name="Oval 12178">
            <a:extLst>
              <a:ext uri="{FF2B5EF4-FFF2-40B4-BE49-F238E27FC236}">
                <a16:creationId xmlns:a16="http://schemas.microsoft.com/office/drawing/2014/main" id="{809A9EB6-79F7-9928-8A75-8907E1DB7101}"/>
              </a:ext>
            </a:extLst>
          </p:cNvPr>
          <p:cNvSpPr/>
          <p:nvPr/>
        </p:nvSpPr>
        <p:spPr>
          <a:xfrm>
            <a:off x="5224292" y="648563"/>
            <a:ext cx="34426" cy="34426"/>
          </a:xfrm>
          <a:prstGeom prst="ellipse">
            <a:avLst/>
          </a:prstGeom>
          <a:solidFill>
            <a:srgbClr val="1D4ED8"/>
          </a:solidFill>
          <a:ln w="635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pic>
        <p:nvPicPr>
          <p:cNvPr id="45" name="图片 44">
            <a:extLst>
              <a:ext uri="{FF2B5EF4-FFF2-40B4-BE49-F238E27FC236}">
                <a16:creationId xmlns:a16="http://schemas.microsoft.com/office/drawing/2014/main" id="{57EB3DAC-E71A-4C36-C0C8-E3D97B33FF18}"/>
              </a:ext>
            </a:extLst>
          </p:cNvPr>
          <p:cNvPicPr>
            <a:picLocks noChangeAspect="1"/>
          </p:cNvPicPr>
          <p:nvPr/>
        </p:nvPicPr>
        <p:blipFill>
          <a:blip r:embed="rId9"/>
          <a:stretch/>
        </p:blipFill>
        <p:spPr>
          <a:xfrm>
            <a:off x="5631445" y="485775"/>
            <a:ext cx="414760" cy="342900"/>
          </a:xfrm>
          <a:prstGeom prst="rect">
            <a:avLst/>
          </a:prstGeom>
        </p:spPr>
      </p:pic>
      <p:sp>
        <p:nvSpPr>
          <p:cNvPr id="46" name="F2-Build-selected">
            <a:extLst>
              <a:ext uri="{FF2B5EF4-FFF2-40B4-BE49-F238E27FC236}">
                <a16:creationId xmlns:a16="http://schemas.microsoft.com/office/drawing/2014/main" id="{0B94B093-3F4F-DB63-AEF6-24ABBCBED563}"/>
              </a:ext>
            </a:extLst>
          </p:cNvPr>
          <p:cNvSpPr>
            <a:spLocks noGrp="1"/>
          </p:cNvSpPr>
          <p:nvPr/>
        </p:nvSpPr>
        <p:spPr>
          <a:xfrm>
            <a:off x="5054601" y="1283549"/>
            <a:ext cx="390525" cy="81915"/>
          </a:xfrm>
          <a:prstGeom prst="roundRect">
            <a:avLst>
              <a:gd name="adj" fmla="val 50000"/>
            </a:avLst>
          </a:prstGeom>
          <a:solidFill>
            <a:srgbClr val="DCF8EB"/>
          </a:solidFill>
          <a:ln w="7144">
            <a:solidFill>
              <a:srgbClr val="499D86"/>
            </a:solidFill>
          </a:ln>
        </p:spPr>
      </p:sp>
      <p:sp>
        <p:nvSpPr>
          <p:cNvPr id="47" name="F2-Build-SMILES-0">
            <a:extLst>
              <a:ext uri="{FF2B5EF4-FFF2-40B4-BE49-F238E27FC236}">
                <a16:creationId xmlns:a16="http://schemas.microsoft.com/office/drawing/2014/main" id="{B1697B9B-64AA-6542-4390-320CA0C1FF86}"/>
              </a:ext>
            </a:extLst>
          </p:cNvPr>
          <p:cNvSpPr>
            <a:spLocks noGrp="1"/>
          </p:cNvSpPr>
          <p:nvPr/>
        </p:nvSpPr>
        <p:spPr>
          <a:xfrm>
            <a:off x="5101503" y="1136660"/>
            <a:ext cx="361950" cy="74295"/>
          </a:xfrm>
          <a:prstGeom prst="rect">
            <a:avLst/>
          </a:prstGeom>
          <a:noFill/>
          <a:ln w="0">
            <a:noFill/>
          </a:ln>
        </p:spPr>
        <p:txBody>
          <a:bodyPr wrap="none" lIns="0" tIns="0" rIns="0" bIns="0" anchor="ctr">
            <a:noAutofit/>
          </a:bodyPr>
          <a:lstStyle>
            <a:defPPr algn="l">
              <a:defRPr sz="540" b="0">
                <a:solidFill>
                  <a:srgbClr val="263442"/>
                </a:solidFill>
                <a:latin typeface="Arial"/>
                <a:ea typeface="Arial"/>
                <a:cs typeface="Arial"/>
              </a:defRPr>
            </a:defPPr>
            <a:lvl1pPr algn="l">
              <a:defRPr sz="540" b="0">
                <a:solidFill>
                  <a:srgbClr val="263442"/>
                </a:solidFill>
                <a:latin typeface="Arial"/>
                <a:ea typeface="Arial"/>
                <a:cs typeface="Arial"/>
              </a:defRPr>
            </a:lvl1pPr>
            <a:lvl2pPr algn="l">
              <a:defRPr sz="540" b="0">
                <a:solidFill>
                  <a:srgbClr val="263442"/>
                </a:solidFill>
                <a:latin typeface="Arial"/>
                <a:ea typeface="Arial"/>
                <a:cs typeface="Arial"/>
              </a:defRPr>
            </a:lvl2pPr>
            <a:lvl3pPr algn="l">
              <a:defRPr sz="540" b="0">
                <a:solidFill>
                  <a:srgbClr val="263442"/>
                </a:solidFill>
                <a:latin typeface="Arial"/>
                <a:ea typeface="Arial"/>
                <a:cs typeface="Arial"/>
              </a:defRPr>
            </a:lvl3pPr>
            <a:lvl4pPr algn="l">
              <a:defRPr sz="540" b="0">
                <a:solidFill>
                  <a:srgbClr val="263442"/>
                </a:solidFill>
                <a:latin typeface="Arial"/>
                <a:ea typeface="Arial"/>
                <a:cs typeface="Arial"/>
              </a:defRPr>
            </a:lvl4pPr>
            <a:lvl5pPr algn="l">
              <a:defRPr sz="540" b="0">
                <a:solidFill>
                  <a:srgbClr val="263442"/>
                </a:solidFill>
                <a:latin typeface="Arial"/>
                <a:ea typeface="Arial"/>
                <a:cs typeface="Arial"/>
              </a:defRPr>
            </a:lvl5pPr>
            <a:lvl6pPr algn="l">
              <a:defRPr sz="540" b="0">
                <a:solidFill>
                  <a:srgbClr val="263442"/>
                </a:solidFill>
                <a:latin typeface="Arial"/>
                <a:ea typeface="Arial"/>
                <a:cs typeface="Arial"/>
              </a:defRPr>
            </a:lvl6pPr>
            <a:lvl7pPr algn="l">
              <a:defRPr sz="540" b="0">
                <a:solidFill>
                  <a:srgbClr val="263442"/>
                </a:solidFill>
                <a:latin typeface="Arial"/>
                <a:ea typeface="Arial"/>
                <a:cs typeface="Arial"/>
              </a:defRPr>
            </a:lvl7pPr>
            <a:lvl8pPr algn="l">
              <a:defRPr sz="540" b="0">
                <a:solidFill>
                  <a:srgbClr val="263442"/>
                </a:solidFill>
                <a:latin typeface="Arial"/>
                <a:ea typeface="Arial"/>
                <a:cs typeface="Arial"/>
              </a:defRPr>
            </a:lvl8pPr>
            <a:lvl9pPr algn="l">
              <a:defRPr sz="540" b="0">
                <a:solidFill>
                  <a:srgbClr val="263442"/>
                </a:solidFill>
                <a:latin typeface="Arial"/>
                <a:ea typeface="Arial"/>
                <a:cs typeface="Arial"/>
              </a:defRPr>
            </a:lvl9pPr>
          </a:lstStyle>
          <a:p>
            <a:pPr algn="l">
              <a:defRPr sz="540" b="0">
                <a:solidFill>
                  <a:srgbClr val="263442"/>
                </a:solidFill>
                <a:latin typeface="Arial"/>
                <a:ea typeface="Arial"/>
                <a:cs typeface="Arial"/>
              </a:defRPr>
            </a:pPr>
            <a:r>
              <a:rPr sz="480" b="0" dirty="0">
                <a:solidFill>
                  <a:srgbClr val="263442"/>
                </a:solidFill>
                <a:latin typeface="Arial"/>
                <a:ea typeface="Arial"/>
                <a:cs typeface="Arial"/>
              </a:rPr>
              <a:t>CCO</a:t>
            </a:r>
          </a:p>
        </p:txBody>
      </p:sp>
      <p:sp>
        <p:nvSpPr>
          <p:cNvPr id="48" name="F2-Build-SMILES-7.8">
            <a:extLst>
              <a:ext uri="{FF2B5EF4-FFF2-40B4-BE49-F238E27FC236}">
                <a16:creationId xmlns:a16="http://schemas.microsoft.com/office/drawing/2014/main" id="{EA39A873-78E2-5B70-5FB9-033182976E3C}"/>
              </a:ext>
            </a:extLst>
          </p:cNvPr>
          <p:cNvSpPr>
            <a:spLocks noGrp="1"/>
          </p:cNvSpPr>
          <p:nvPr/>
        </p:nvSpPr>
        <p:spPr>
          <a:xfrm>
            <a:off x="5101503" y="1199841"/>
            <a:ext cx="361950" cy="74295"/>
          </a:xfrm>
          <a:prstGeom prst="rect">
            <a:avLst/>
          </a:prstGeom>
          <a:noFill/>
          <a:ln w="0">
            <a:noFill/>
          </a:ln>
        </p:spPr>
        <p:txBody>
          <a:bodyPr wrap="none" lIns="0" tIns="0" rIns="0" bIns="0" anchor="ctr">
            <a:noAutofit/>
          </a:bodyPr>
          <a:lstStyle>
            <a:defPPr algn="l">
              <a:defRPr sz="540" b="0">
                <a:solidFill>
                  <a:srgbClr val="263442"/>
                </a:solidFill>
                <a:latin typeface="Arial"/>
                <a:ea typeface="Arial"/>
                <a:cs typeface="Arial"/>
              </a:defRPr>
            </a:defPPr>
            <a:lvl1pPr algn="l">
              <a:defRPr sz="540" b="0">
                <a:solidFill>
                  <a:srgbClr val="263442"/>
                </a:solidFill>
                <a:latin typeface="Arial"/>
                <a:ea typeface="Arial"/>
                <a:cs typeface="Arial"/>
              </a:defRPr>
            </a:lvl1pPr>
            <a:lvl2pPr algn="l">
              <a:defRPr sz="540" b="0">
                <a:solidFill>
                  <a:srgbClr val="263442"/>
                </a:solidFill>
                <a:latin typeface="Arial"/>
                <a:ea typeface="Arial"/>
                <a:cs typeface="Arial"/>
              </a:defRPr>
            </a:lvl2pPr>
            <a:lvl3pPr algn="l">
              <a:defRPr sz="540" b="0">
                <a:solidFill>
                  <a:srgbClr val="263442"/>
                </a:solidFill>
                <a:latin typeface="Arial"/>
                <a:ea typeface="Arial"/>
                <a:cs typeface="Arial"/>
              </a:defRPr>
            </a:lvl3pPr>
            <a:lvl4pPr algn="l">
              <a:defRPr sz="540" b="0">
                <a:solidFill>
                  <a:srgbClr val="263442"/>
                </a:solidFill>
                <a:latin typeface="Arial"/>
                <a:ea typeface="Arial"/>
                <a:cs typeface="Arial"/>
              </a:defRPr>
            </a:lvl4pPr>
            <a:lvl5pPr algn="l">
              <a:defRPr sz="540" b="0">
                <a:solidFill>
                  <a:srgbClr val="263442"/>
                </a:solidFill>
                <a:latin typeface="Arial"/>
                <a:ea typeface="Arial"/>
                <a:cs typeface="Arial"/>
              </a:defRPr>
            </a:lvl5pPr>
            <a:lvl6pPr algn="l">
              <a:defRPr sz="540" b="0">
                <a:solidFill>
                  <a:srgbClr val="263442"/>
                </a:solidFill>
                <a:latin typeface="Arial"/>
                <a:ea typeface="Arial"/>
                <a:cs typeface="Arial"/>
              </a:defRPr>
            </a:lvl6pPr>
            <a:lvl7pPr algn="l">
              <a:defRPr sz="540" b="0">
                <a:solidFill>
                  <a:srgbClr val="263442"/>
                </a:solidFill>
                <a:latin typeface="Arial"/>
                <a:ea typeface="Arial"/>
                <a:cs typeface="Arial"/>
              </a:defRPr>
            </a:lvl7pPr>
            <a:lvl8pPr algn="l">
              <a:defRPr sz="540" b="0">
                <a:solidFill>
                  <a:srgbClr val="263442"/>
                </a:solidFill>
                <a:latin typeface="Arial"/>
                <a:ea typeface="Arial"/>
                <a:cs typeface="Arial"/>
              </a:defRPr>
            </a:lvl8pPr>
            <a:lvl9pPr algn="l">
              <a:defRPr sz="540" b="0">
                <a:solidFill>
                  <a:srgbClr val="263442"/>
                </a:solidFill>
                <a:latin typeface="Arial"/>
                <a:ea typeface="Arial"/>
                <a:cs typeface="Arial"/>
              </a:defRPr>
            </a:lvl9pPr>
          </a:lstStyle>
          <a:p>
            <a:pPr>
              <a:defRPr sz="540" b="0">
                <a:solidFill>
                  <a:srgbClr val="263442"/>
                </a:solidFill>
                <a:latin typeface="Arial"/>
                <a:ea typeface="Arial"/>
                <a:cs typeface="Arial"/>
              </a:defRPr>
            </a:pPr>
            <a:r>
              <a:rPr sz="480" dirty="0"/>
              <a:t>CC(=O)O</a:t>
            </a:r>
          </a:p>
        </p:txBody>
      </p:sp>
      <p:sp>
        <p:nvSpPr>
          <p:cNvPr id="49" name="F2-Build-continuation">
            <a:extLst>
              <a:ext uri="{FF2B5EF4-FFF2-40B4-BE49-F238E27FC236}">
                <a16:creationId xmlns:a16="http://schemas.microsoft.com/office/drawing/2014/main" id="{2F8B0C35-E7DA-65DA-8718-485A161F3342}"/>
              </a:ext>
            </a:extLst>
          </p:cNvPr>
          <p:cNvSpPr>
            <a:spLocks noGrp="1"/>
          </p:cNvSpPr>
          <p:nvPr/>
        </p:nvSpPr>
        <p:spPr>
          <a:xfrm>
            <a:off x="5106267" y="1268735"/>
            <a:ext cx="6668" cy="6668"/>
          </a:xfrm>
          <a:prstGeom prst="ellipse">
            <a:avLst/>
          </a:prstGeom>
          <a:solidFill>
            <a:srgbClr val="687780"/>
          </a:solidFill>
          <a:ln w="0">
            <a:noFill/>
          </a:ln>
        </p:spPr>
      </p:sp>
      <p:sp>
        <p:nvSpPr>
          <p:cNvPr id="50" name="F2-Build-continuation">
            <a:extLst>
              <a:ext uri="{FF2B5EF4-FFF2-40B4-BE49-F238E27FC236}">
                <a16:creationId xmlns:a16="http://schemas.microsoft.com/office/drawing/2014/main" id="{A48EAF0A-6189-C467-906A-BC006B0E0544}"/>
              </a:ext>
            </a:extLst>
          </p:cNvPr>
          <p:cNvSpPr>
            <a:spLocks noGrp="1"/>
          </p:cNvSpPr>
          <p:nvPr/>
        </p:nvSpPr>
        <p:spPr>
          <a:xfrm>
            <a:off x="5119918" y="1268735"/>
            <a:ext cx="6668" cy="6668"/>
          </a:xfrm>
          <a:prstGeom prst="ellipse">
            <a:avLst/>
          </a:prstGeom>
          <a:solidFill>
            <a:srgbClr val="687780"/>
          </a:solidFill>
          <a:ln w="0">
            <a:noFill/>
          </a:ln>
        </p:spPr>
      </p:sp>
      <p:sp>
        <p:nvSpPr>
          <p:cNvPr id="51" name="F2-Build-continuation">
            <a:extLst>
              <a:ext uri="{FF2B5EF4-FFF2-40B4-BE49-F238E27FC236}">
                <a16:creationId xmlns:a16="http://schemas.microsoft.com/office/drawing/2014/main" id="{929A43F7-9B42-BF91-A242-4A1A7F5C532C}"/>
              </a:ext>
            </a:extLst>
          </p:cNvPr>
          <p:cNvSpPr>
            <a:spLocks noGrp="1"/>
          </p:cNvSpPr>
          <p:nvPr/>
        </p:nvSpPr>
        <p:spPr>
          <a:xfrm>
            <a:off x="5135157" y="1268735"/>
            <a:ext cx="6668" cy="6668"/>
          </a:xfrm>
          <a:prstGeom prst="ellipse">
            <a:avLst/>
          </a:prstGeom>
          <a:solidFill>
            <a:srgbClr val="687780"/>
          </a:solidFill>
          <a:ln w="0">
            <a:noFill/>
          </a:ln>
        </p:spPr>
      </p:sp>
      <p:sp>
        <p:nvSpPr>
          <p:cNvPr id="52" name="F2-Build-SMILES-19.8">
            <a:extLst>
              <a:ext uri="{FF2B5EF4-FFF2-40B4-BE49-F238E27FC236}">
                <a16:creationId xmlns:a16="http://schemas.microsoft.com/office/drawing/2014/main" id="{9D04D088-A5A5-17ED-5B8A-455476980B5D}"/>
              </a:ext>
            </a:extLst>
          </p:cNvPr>
          <p:cNvSpPr>
            <a:spLocks noGrp="1"/>
          </p:cNvSpPr>
          <p:nvPr/>
        </p:nvSpPr>
        <p:spPr>
          <a:xfrm>
            <a:off x="5101503" y="1285559"/>
            <a:ext cx="361950" cy="74295"/>
          </a:xfrm>
          <a:prstGeom prst="rect">
            <a:avLst/>
          </a:prstGeom>
          <a:noFill/>
          <a:ln w="0">
            <a:noFill/>
          </a:ln>
        </p:spPr>
        <p:txBody>
          <a:bodyPr wrap="none" lIns="0" tIns="0" rIns="0" bIns="0" anchor="ctr">
            <a:noAutofit/>
          </a:bodyPr>
          <a:lstStyle>
            <a:defPPr algn="l">
              <a:defRPr sz="540" b="0">
                <a:solidFill>
                  <a:srgbClr val="24634E"/>
                </a:solidFill>
                <a:latin typeface="Arial"/>
                <a:ea typeface="Arial"/>
                <a:cs typeface="Arial"/>
              </a:defRPr>
            </a:defPPr>
            <a:lvl1pPr algn="l">
              <a:defRPr sz="540" b="0">
                <a:solidFill>
                  <a:srgbClr val="24634E"/>
                </a:solidFill>
                <a:latin typeface="Arial"/>
                <a:ea typeface="Arial"/>
                <a:cs typeface="Arial"/>
              </a:defRPr>
            </a:lvl1pPr>
            <a:lvl2pPr algn="l">
              <a:defRPr sz="540" b="0">
                <a:solidFill>
                  <a:srgbClr val="24634E"/>
                </a:solidFill>
                <a:latin typeface="Arial"/>
                <a:ea typeface="Arial"/>
                <a:cs typeface="Arial"/>
              </a:defRPr>
            </a:lvl2pPr>
            <a:lvl3pPr algn="l">
              <a:defRPr sz="540" b="0">
                <a:solidFill>
                  <a:srgbClr val="24634E"/>
                </a:solidFill>
                <a:latin typeface="Arial"/>
                <a:ea typeface="Arial"/>
                <a:cs typeface="Arial"/>
              </a:defRPr>
            </a:lvl3pPr>
            <a:lvl4pPr algn="l">
              <a:defRPr sz="540" b="0">
                <a:solidFill>
                  <a:srgbClr val="24634E"/>
                </a:solidFill>
                <a:latin typeface="Arial"/>
                <a:ea typeface="Arial"/>
                <a:cs typeface="Arial"/>
              </a:defRPr>
            </a:lvl4pPr>
            <a:lvl5pPr algn="l">
              <a:defRPr sz="540" b="0">
                <a:solidFill>
                  <a:srgbClr val="24634E"/>
                </a:solidFill>
                <a:latin typeface="Arial"/>
                <a:ea typeface="Arial"/>
                <a:cs typeface="Arial"/>
              </a:defRPr>
            </a:lvl5pPr>
            <a:lvl6pPr algn="l">
              <a:defRPr sz="540" b="0">
                <a:solidFill>
                  <a:srgbClr val="24634E"/>
                </a:solidFill>
                <a:latin typeface="Arial"/>
                <a:ea typeface="Arial"/>
                <a:cs typeface="Arial"/>
              </a:defRPr>
            </a:lvl6pPr>
            <a:lvl7pPr algn="l">
              <a:defRPr sz="540" b="0">
                <a:solidFill>
                  <a:srgbClr val="24634E"/>
                </a:solidFill>
                <a:latin typeface="Arial"/>
                <a:ea typeface="Arial"/>
                <a:cs typeface="Arial"/>
              </a:defRPr>
            </a:lvl7pPr>
            <a:lvl8pPr algn="l">
              <a:defRPr sz="540" b="0">
                <a:solidFill>
                  <a:srgbClr val="24634E"/>
                </a:solidFill>
                <a:latin typeface="Arial"/>
                <a:ea typeface="Arial"/>
                <a:cs typeface="Arial"/>
              </a:defRPr>
            </a:lvl8pPr>
            <a:lvl9pPr algn="l">
              <a:defRPr sz="540" b="0">
                <a:solidFill>
                  <a:srgbClr val="24634E"/>
                </a:solidFill>
                <a:latin typeface="Arial"/>
                <a:ea typeface="Arial"/>
                <a:cs typeface="Arial"/>
              </a:defRPr>
            </a:lvl9pPr>
          </a:lstStyle>
          <a:p>
            <a:pPr>
              <a:defRPr sz="540" b="0">
                <a:solidFill>
                  <a:srgbClr val="263442"/>
                </a:solidFill>
                <a:latin typeface="Arial"/>
                <a:ea typeface="Arial"/>
                <a:cs typeface="Arial"/>
              </a:defRPr>
            </a:pPr>
            <a:r>
              <a:rPr sz="480" dirty="0">
                <a:solidFill>
                  <a:srgbClr val="263442"/>
                </a:solidFill>
              </a:rPr>
              <a:t>Cc1ccccc1</a:t>
            </a:r>
          </a:p>
        </p:txBody>
      </p:sp>
      <p:sp>
        <p:nvSpPr>
          <p:cNvPr id="53" name="F2-Build-SMILES-27.599999999999998">
            <a:extLst>
              <a:ext uri="{FF2B5EF4-FFF2-40B4-BE49-F238E27FC236}">
                <a16:creationId xmlns:a16="http://schemas.microsoft.com/office/drawing/2014/main" id="{E0CEA4A7-5DEF-B648-8F19-946A8E522A7D}"/>
              </a:ext>
            </a:extLst>
          </p:cNvPr>
          <p:cNvSpPr>
            <a:spLocks noGrp="1"/>
          </p:cNvSpPr>
          <p:nvPr/>
        </p:nvSpPr>
        <p:spPr>
          <a:xfrm>
            <a:off x="5101503" y="1359854"/>
            <a:ext cx="361950" cy="74295"/>
          </a:xfrm>
          <a:prstGeom prst="rect">
            <a:avLst/>
          </a:prstGeom>
          <a:noFill/>
          <a:ln w="0">
            <a:noFill/>
          </a:ln>
        </p:spPr>
        <p:txBody>
          <a:bodyPr wrap="none" lIns="0" tIns="0" rIns="0" bIns="0" anchor="ctr">
            <a:noAutofit/>
          </a:bodyPr>
          <a:lstStyle>
            <a:defPPr algn="l">
              <a:defRPr sz="540" b="0">
                <a:solidFill>
                  <a:srgbClr val="263442"/>
                </a:solidFill>
                <a:latin typeface="Arial"/>
                <a:ea typeface="Arial"/>
                <a:cs typeface="Arial"/>
              </a:defRPr>
            </a:defPPr>
            <a:lvl1pPr algn="l">
              <a:defRPr sz="540" b="0">
                <a:solidFill>
                  <a:srgbClr val="263442"/>
                </a:solidFill>
                <a:latin typeface="Arial"/>
                <a:ea typeface="Arial"/>
                <a:cs typeface="Arial"/>
              </a:defRPr>
            </a:lvl1pPr>
            <a:lvl2pPr algn="l">
              <a:defRPr sz="540" b="0">
                <a:solidFill>
                  <a:srgbClr val="263442"/>
                </a:solidFill>
                <a:latin typeface="Arial"/>
                <a:ea typeface="Arial"/>
                <a:cs typeface="Arial"/>
              </a:defRPr>
            </a:lvl2pPr>
            <a:lvl3pPr algn="l">
              <a:defRPr sz="540" b="0">
                <a:solidFill>
                  <a:srgbClr val="263442"/>
                </a:solidFill>
                <a:latin typeface="Arial"/>
                <a:ea typeface="Arial"/>
                <a:cs typeface="Arial"/>
              </a:defRPr>
            </a:lvl3pPr>
            <a:lvl4pPr algn="l">
              <a:defRPr sz="540" b="0">
                <a:solidFill>
                  <a:srgbClr val="263442"/>
                </a:solidFill>
                <a:latin typeface="Arial"/>
                <a:ea typeface="Arial"/>
                <a:cs typeface="Arial"/>
              </a:defRPr>
            </a:lvl4pPr>
            <a:lvl5pPr algn="l">
              <a:defRPr sz="540" b="0">
                <a:solidFill>
                  <a:srgbClr val="263442"/>
                </a:solidFill>
                <a:latin typeface="Arial"/>
                <a:ea typeface="Arial"/>
                <a:cs typeface="Arial"/>
              </a:defRPr>
            </a:lvl5pPr>
            <a:lvl6pPr algn="l">
              <a:defRPr sz="540" b="0">
                <a:solidFill>
                  <a:srgbClr val="263442"/>
                </a:solidFill>
                <a:latin typeface="Arial"/>
                <a:ea typeface="Arial"/>
                <a:cs typeface="Arial"/>
              </a:defRPr>
            </a:lvl6pPr>
            <a:lvl7pPr algn="l">
              <a:defRPr sz="540" b="0">
                <a:solidFill>
                  <a:srgbClr val="263442"/>
                </a:solidFill>
                <a:latin typeface="Arial"/>
                <a:ea typeface="Arial"/>
                <a:cs typeface="Arial"/>
              </a:defRPr>
            </a:lvl7pPr>
            <a:lvl8pPr algn="l">
              <a:defRPr sz="540" b="0">
                <a:solidFill>
                  <a:srgbClr val="263442"/>
                </a:solidFill>
                <a:latin typeface="Arial"/>
                <a:ea typeface="Arial"/>
                <a:cs typeface="Arial"/>
              </a:defRPr>
            </a:lvl8pPr>
            <a:lvl9pPr algn="l">
              <a:defRPr sz="540" b="0">
                <a:solidFill>
                  <a:srgbClr val="263442"/>
                </a:solidFill>
                <a:latin typeface="Arial"/>
                <a:ea typeface="Arial"/>
                <a:cs typeface="Arial"/>
              </a:defRPr>
            </a:lvl9pPr>
          </a:lstStyle>
          <a:p>
            <a:pPr>
              <a:defRPr sz="540" b="0">
                <a:solidFill>
                  <a:srgbClr val="263442"/>
                </a:solidFill>
                <a:latin typeface="Arial"/>
                <a:ea typeface="Arial"/>
                <a:cs typeface="Arial"/>
              </a:defRPr>
            </a:pPr>
            <a:r>
              <a:rPr sz="480" dirty="0"/>
              <a:t>CC(N)=O</a:t>
            </a:r>
          </a:p>
        </p:txBody>
      </p:sp>
      <p:sp>
        <p:nvSpPr>
          <p:cNvPr id="54" name="Build | inputs to iterative denoising">
            <a:extLst>
              <a:ext uri="{FF2B5EF4-FFF2-40B4-BE49-F238E27FC236}">
                <a16:creationId xmlns:a16="http://schemas.microsoft.com/office/drawing/2014/main" id="{73CD30FF-B90B-E8EF-7FE6-3B1B46A2F143}"/>
              </a:ext>
            </a:extLst>
          </p:cNvPr>
          <p:cNvSpPr>
            <a:spLocks noGrp="1"/>
          </p:cNvSpPr>
          <p:nvPr/>
        </p:nvSpPr>
        <p:spPr>
          <a:xfrm>
            <a:off x="5547600" y="1774677"/>
            <a:ext cx="95" cy="100800"/>
          </a:xfrm>
          <a:custGeom>
            <a:avLst/>
            <a:gdLst/>
            <a:ahLst/>
            <a:cxnLst/>
            <a:rect l="0" t="0" r="0" b="0"/>
            <a:pathLst>
              <a:path w="95" h="100800">
                <a:moveTo>
                  <a:pt x="0" y="0"/>
                </a:moveTo>
                <a:lnTo>
                  <a:pt x="0" y="100800"/>
                </a:lnTo>
              </a:path>
            </a:pathLst>
          </a:custGeom>
          <a:noFill/>
          <a:ln w="8255">
            <a:solidFill>
              <a:srgbClr val="77828C"/>
            </a:solidFill>
          </a:ln>
        </p:spPr>
      </p:sp>
      <p:sp>
        <p:nvSpPr>
          <p:cNvPr id="55" name="Build | inputs to iterative denoising head">
            <a:extLst>
              <a:ext uri="{FF2B5EF4-FFF2-40B4-BE49-F238E27FC236}">
                <a16:creationId xmlns:a16="http://schemas.microsoft.com/office/drawing/2014/main" id="{D07455BA-E377-986D-70A6-CBB64075B322}"/>
              </a:ext>
            </a:extLst>
          </p:cNvPr>
          <p:cNvSpPr>
            <a:spLocks noGrp="1"/>
          </p:cNvSpPr>
          <p:nvPr/>
        </p:nvSpPr>
        <p:spPr>
          <a:xfrm>
            <a:off x="5533470" y="1848335"/>
            <a:ext cx="28261" cy="27142"/>
          </a:xfrm>
          <a:custGeom>
            <a:avLst/>
            <a:gdLst/>
            <a:ahLst/>
            <a:cxnLst/>
            <a:rect l="0" t="0" r="0" b="0"/>
            <a:pathLst>
              <a:path w="28261" h="27142">
                <a:moveTo>
                  <a:pt x="0" y="0"/>
                </a:moveTo>
                <a:lnTo>
                  <a:pt x="14130" y="27142"/>
                </a:lnTo>
                <a:lnTo>
                  <a:pt x="28261" y="0"/>
                </a:lnTo>
              </a:path>
            </a:pathLst>
          </a:custGeom>
          <a:noFill/>
          <a:ln w="8255">
            <a:solidFill>
              <a:srgbClr val="77828C"/>
            </a:solidFill>
          </a:ln>
        </p:spPr>
      </p:sp>
      <p:sp>
        <p:nvSpPr>
          <p:cNvPr id="56" name="Build | denoising stage 0">
            <a:extLst>
              <a:ext uri="{FF2B5EF4-FFF2-40B4-BE49-F238E27FC236}">
                <a16:creationId xmlns:a16="http://schemas.microsoft.com/office/drawing/2014/main" id="{D8B799E3-E60F-C322-34E0-E47BE1F8ED72}"/>
              </a:ext>
            </a:extLst>
          </p:cNvPr>
          <p:cNvSpPr>
            <a:spLocks noGrp="1"/>
          </p:cNvSpPr>
          <p:nvPr/>
        </p:nvSpPr>
        <p:spPr>
          <a:xfrm>
            <a:off x="5014346" y="2490900"/>
            <a:ext cx="324000" cy="187200"/>
          </a:xfrm>
          <a:prstGeom prst="rect">
            <a:avLst/>
          </a:prstGeom>
          <a:noFill/>
          <a:ln w="0">
            <a:noFill/>
          </a:ln>
        </p:spPr>
        <p:txBody>
          <a:bodyPr wrap="none" lIns="0" tIns="0" rIns="0" bIns="0" anchor="ctr">
            <a:noAutofit/>
          </a:bodyPr>
          <a:lstStyle>
            <a:defPPr algn="ctr">
              <a:defRPr sz="580" b="0">
                <a:solidFill>
                  <a:srgbClr val="596873"/>
                </a:solidFill>
                <a:latin typeface="Arial"/>
                <a:ea typeface="Arial"/>
                <a:cs typeface="Arial"/>
              </a:defRPr>
            </a:defPPr>
            <a:lvl1pPr algn="ctr">
              <a:defRPr sz="580" b="0">
                <a:solidFill>
                  <a:srgbClr val="596873"/>
                </a:solidFill>
                <a:latin typeface="Arial"/>
                <a:ea typeface="Arial"/>
                <a:cs typeface="Arial"/>
              </a:defRPr>
            </a:lvl1pPr>
            <a:lvl2pPr algn="ctr">
              <a:defRPr sz="580" b="0">
                <a:solidFill>
                  <a:srgbClr val="596873"/>
                </a:solidFill>
                <a:latin typeface="Arial"/>
                <a:ea typeface="Arial"/>
                <a:cs typeface="Arial"/>
              </a:defRPr>
            </a:lvl2pPr>
            <a:lvl3pPr algn="ctr">
              <a:defRPr sz="580" b="0">
                <a:solidFill>
                  <a:srgbClr val="596873"/>
                </a:solidFill>
                <a:latin typeface="Arial"/>
                <a:ea typeface="Arial"/>
                <a:cs typeface="Arial"/>
              </a:defRPr>
            </a:lvl3pPr>
            <a:lvl4pPr algn="ctr">
              <a:defRPr sz="580" b="0">
                <a:solidFill>
                  <a:srgbClr val="596873"/>
                </a:solidFill>
                <a:latin typeface="Arial"/>
                <a:ea typeface="Arial"/>
                <a:cs typeface="Arial"/>
              </a:defRPr>
            </a:lvl4pPr>
            <a:lvl5pPr algn="ctr">
              <a:defRPr sz="580" b="0">
                <a:solidFill>
                  <a:srgbClr val="596873"/>
                </a:solidFill>
                <a:latin typeface="Arial"/>
                <a:ea typeface="Arial"/>
                <a:cs typeface="Arial"/>
              </a:defRPr>
            </a:lvl5pPr>
            <a:lvl6pPr algn="ctr">
              <a:defRPr sz="580" b="0">
                <a:solidFill>
                  <a:srgbClr val="596873"/>
                </a:solidFill>
                <a:latin typeface="Arial"/>
                <a:ea typeface="Arial"/>
                <a:cs typeface="Arial"/>
              </a:defRPr>
            </a:lvl6pPr>
            <a:lvl7pPr algn="ctr">
              <a:defRPr sz="580" b="0">
                <a:solidFill>
                  <a:srgbClr val="596873"/>
                </a:solidFill>
                <a:latin typeface="Arial"/>
                <a:ea typeface="Arial"/>
                <a:cs typeface="Arial"/>
              </a:defRPr>
            </a:lvl7pPr>
            <a:lvl8pPr algn="ctr">
              <a:defRPr sz="580" b="0">
                <a:solidFill>
                  <a:srgbClr val="596873"/>
                </a:solidFill>
                <a:latin typeface="Arial"/>
                <a:ea typeface="Arial"/>
                <a:cs typeface="Arial"/>
              </a:defRPr>
            </a:lvl8pPr>
            <a:lvl9pPr algn="ctr">
              <a:defRPr sz="580" b="0">
                <a:solidFill>
                  <a:srgbClr val="596873"/>
                </a:solidFill>
                <a:latin typeface="Arial"/>
                <a:ea typeface="Arial"/>
                <a:cs typeface="Arial"/>
              </a:defRPr>
            </a:lvl9pPr>
          </a:lstStyle>
          <a:p>
            <a:pPr algn="ctr">
              <a:defRPr sz="580" b="0">
                <a:solidFill>
                  <a:srgbClr val="596873"/>
                </a:solidFill>
                <a:latin typeface="Arial"/>
                <a:ea typeface="Arial"/>
                <a:cs typeface="Arial"/>
              </a:defRPr>
            </a:pPr>
            <a:r>
              <a:rPr sz="580" b="0" dirty="0">
                <a:solidFill>
                  <a:srgbClr val="596873"/>
                </a:solidFill>
                <a:latin typeface="Arial"/>
                <a:ea typeface="Arial"/>
                <a:cs typeface="Arial"/>
              </a:rPr>
              <a:t>Gaussian</a:t>
            </a:r>
          </a:p>
          <a:p>
            <a:pPr algn="ctr">
              <a:defRPr sz="580" b="0">
                <a:solidFill>
                  <a:srgbClr val="596873"/>
                </a:solidFill>
                <a:latin typeface="Arial"/>
                <a:ea typeface="Arial"/>
                <a:cs typeface="Arial"/>
              </a:defRPr>
            </a:pPr>
            <a:r>
              <a:rPr sz="580" b="0" dirty="0">
                <a:solidFill>
                  <a:srgbClr val="596873"/>
                </a:solidFill>
                <a:latin typeface="Arial"/>
                <a:ea typeface="Arial"/>
                <a:cs typeface="Arial"/>
              </a:rPr>
              <a:t>noise</a:t>
            </a:r>
          </a:p>
        </p:txBody>
      </p:sp>
      <p:pic>
        <p:nvPicPr>
          <p:cNvPr id="57" name="图片 56">
            <a:extLst>
              <a:ext uri="{FF2B5EF4-FFF2-40B4-BE49-F238E27FC236}">
                <a16:creationId xmlns:a16="http://schemas.microsoft.com/office/drawing/2014/main" id="{80FE1079-B8B9-F615-F9EA-A09176BD76EA}"/>
              </a:ext>
            </a:extLst>
          </p:cNvPr>
          <p:cNvPicPr>
            <a:picLocks noChangeAspect="1"/>
          </p:cNvPicPr>
          <p:nvPr/>
        </p:nvPicPr>
        <p:blipFill>
          <a:blip r:embed="rId10"/>
          <a:stretch/>
        </p:blipFill>
        <p:spPr>
          <a:xfrm>
            <a:off x="5473551" y="2422737"/>
            <a:ext cx="477349" cy="344752"/>
          </a:xfrm>
          <a:prstGeom prst="rect">
            <a:avLst/>
          </a:prstGeom>
        </p:spPr>
      </p:pic>
      <p:pic>
        <p:nvPicPr>
          <p:cNvPr id="58" name="图片 57">
            <a:extLst>
              <a:ext uri="{FF2B5EF4-FFF2-40B4-BE49-F238E27FC236}">
                <a16:creationId xmlns:a16="http://schemas.microsoft.com/office/drawing/2014/main" id="{3F22F57C-CD6A-8B02-A92D-D4204E6F0241}"/>
              </a:ext>
            </a:extLst>
          </p:cNvPr>
          <p:cNvPicPr>
            <a:picLocks noChangeAspect="1"/>
          </p:cNvPicPr>
          <p:nvPr/>
        </p:nvPicPr>
        <p:blipFill>
          <a:blip r:embed="rId11"/>
          <a:stretch/>
        </p:blipFill>
        <p:spPr>
          <a:xfrm>
            <a:off x="5483229" y="2791467"/>
            <a:ext cx="478523" cy="345600"/>
          </a:xfrm>
          <a:prstGeom prst="rect">
            <a:avLst/>
          </a:prstGeom>
        </p:spPr>
      </p:pic>
      <p:sp>
        <p:nvSpPr>
          <p:cNvPr id="59" name="Build | denoising stage 2">
            <a:extLst>
              <a:ext uri="{FF2B5EF4-FFF2-40B4-BE49-F238E27FC236}">
                <a16:creationId xmlns:a16="http://schemas.microsoft.com/office/drawing/2014/main" id="{D89A4D7C-4E30-903B-F4AB-89412C2E41AF}"/>
              </a:ext>
            </a:extLst>
          </p:cNvPr>
          <p:cNvSpPr>
            <a:spLocks noGrp="1"/>
          </p:cNvSpPr>
          <p:nvPr/>
        </p:nvSpPr>
        <p:spPr>
          <a:xfrm>
            <a:off x="5008587" y="2974840"/>
            <a:ext cx="324000" cy="118800"/>
          </a:xfrm>
          <a:prstGeom prst="rect">
            <a:avLst/>
          </a:prstGeom>
          <a:noFill/>
          <a:ln w="0">
            <a:noFill/>
          </a:ln>
        </p:spPr>
        <p:txBody>
          <a:bodyPr wrap="none" lIns="0" tIns="0" rIns="0" bIns="0" anchor="ctr">
            <a:noAutofit/>
          </a:bodyPr>
          <a:lstStyle>
            <a:defPPr algn="ctr">
              <a:defRPr sz="580" b="0">
                <a:solidFill>
                  <a:srgbClr val="596873"/>
                </a:solidFill>
                <a:latin typeface="Arial"/>
                <a:ea typeface="Arial"/>
                <a:cs typeface="Arial"/>
              </a:defRPr>
            </a:defPPr>
            <a:lvl1pPr algn="ctr">
              <a:defRPr sz="580" b="0">
                <a:solidFill>
                  <a:srgbClr val="596873"/>
                </a:solidFill>
                <a:latin typeface="Arial"/>
                <a:ea typeface="Arial"/>
                <a:cs typeface="Arial"/>
              </a:defRPr>
            </a:lvl1pPr>
            <a:lvl2pPr algn="ctr">
              <a:defRPr sz="580" b="0">
                <a:solidFill>
                  <a:srgbClr val="596873"/>
                </a:solidFill>
                <a:latin typeface="Arial"/>
                <a:ea typeface="Arial"/>
                <a:cs typeface="Arial"/>
              </a:defRPr>
            </a:lvl2pPr>
            <a:lvl3pPr algn="ctr">
              <a:defRPr sz="580" b="0">
                <a:solidFill>
                  <a:srgbClr val="596873"/>
                </a:solidFill>
                <a:latin typeface="Arial"/>
                <a:ea typeface="Arial"/>
                <a:cs typeface="Arial"/>
              </a:defRPr>
            </a:lvl3pPr>
            <a:lvl4pPr algn="ctr">
              <a:defRPr sz="580" b="0">
                <a:solidFill>
                  <a:srgbClr val="596873"/>
                </a:solidFill>
                <a:latin typeface="Arial"/>
                <a:ea typeface="Arial"/>
                <a:cs typeface="Arial"/>
              </a:defRPr>
            </a:lvl4pPr>
            <a:lvl5pPr algn="ctr">
              <a:defRPr sz="580" b="0">
                <a:solidFill>
                  <a:srgbClr val="596873"/>
                </a:solidFill>
                <a:latin typeface="Arial"/>
                <a:ea typeface="Arial"/>
                <a:cs typeface="Arial"/>
              </a:defRPr>
            </a:lvl5pPr>
            <a:lvl6pPr algn="ctr">
              <a:defRPr sz="580" b="0">
                <a:solidFill>
                  <a:srgbClr val="596873"/>
                </a:solidFill>
                <a:latin typeface="Arial"/>
                <a:ea typeface="Arial"/>
                <a:cs typeface="Arial"/>
              </a:defRPr>
            </a:lvl6pPr>
            <a:lvl7pPr algn="ctr">
              <a:defRPr sz="580" b="0">
                <a:solidFill>
                  <a:srgbClr val="596873"/>
                </a:solidFill>
                <a:latin typeface="Arial"/>
                <a:ea typeface="Arial"/>
                <a:cs typeface="Arial"/>
              </a:defRPr>
            </a:lvl7pPr>
            <a:lvl8pPr algn="ctr">
              <a:defRPr sz="580" b="0">
                <a:solidFill>
                  <a:srgbClr val="596873"/>
                </a:solidFill>
                <a:latin typeface="Arial"/>
                <a:ea typeface="Arial"/>
                <a:cs typeface="Arial"/>
              </a:defRPr>
            </a:lvl8pPr>
            <a:lvl9pPr algn="ctr">
              <a:defRPr sz="580" b="0">
                <a:solidFill>
                  <a:srgbClr val="596873"/>
                </a:solidFill>
                <a:latin typeface="Arial"/>
                <a:ea typeface="Arial"/>
                <a:cs typeface="Arial"/>
              </a:defRPr>
            </a:lvl9pPr>
          </a:lstStyle>
          <a:p>
            <a:pPr algn="ctr">
              <a:defRPr sz="580" b="0">
                <a:solidFill>
                  <a:srgbClr val="596873"/>
                </a:solidFill>
                <a:latin typeface="Arial"/>
                <a:ea typeface="Arial"/>
                <a:cs typeface="Arial"/>
              </a:defRPr>
            </a:pPr>
            <a:r>
              <a:rPr lang="en-US" sz="580" b="0" dirty="0">
                <a:solidFill>
                  <a:srgbClr val="596873"/>
                </a:solidFill>
                <a:latin typeface="Arial"/>
                <a:ea typeface="Arial"/>
                <a:cs typeface="Arial"/>
              </a:rPr>
              <a:t>D</a:t>
            </a:r>
            <a:r>
              <a:rPr lang="en-US" altLang="zh-CN" sz="580" b="0" dirty="0">
                <a:solidFill>
                  <a:srgbClr val="596873"/>
                </a:solidFill>
                <a:latin typeface="Arial"/>
                <a:ea typeface="Arial"/>
                <a:cs typeface="Arial"/>
              </a:rPr>
              <a:t>enoising</a:t>
            </a:r>
            <a:endParaRPr sz="580" b="0" dirty="0">
              <a:solidFill>
                <a:srgbClr val="596873"/>
              </a:solidFill>
              <a:latin typeface="Arial"/>
              <a:ea typeface="Arial"/>
              <a:cs typeface="Arial"/>
            </a:endParaRPr>
          </a:p>
        </p:txBody>
      </p:sp>
      <p:pic>
        <p:nvPicPr>
          <p:cNvPr id="60" name="图片 59">
            <a:extLst>
              <a:ext uri="{FF2B5EF4-FFF2-40B4-BE49-F238E27FC236}">
                <a16:creationId xmlns:a16="http://schemas.microsoft.com/office/drawing/2014/main" id="{1553B156-0DF0-8366-FF97-AEE5807F4951}"/>
              </a:ext>
            </a:extLst>
          </p:cNvPr>
          <p:cNvPicPr>
            <a:picLocks noChangeAspect="1"/>
          </p:cNvPicPr>
          <p:nvPr/>
        </p:nvPicPr>
        <p:blipFill>
          <a:blip r:embed="rId12"/>
          <a:stretch/>
        </p:blipFill>
        <p:spPr>
          <a:xfrm>
            <a:off x="5472963" y="3164962"/>
            <a:ext cx="478523" cy="345600"/>
          </a:xfrm>
          <a:prstGeom prst="rect">
            <a:avLst/>
          </a:prstGeom>
        </p:spPr>
      </p:pic>
      <p:sp>
        <p:nvSpPr>
          <p:cNvPr id="61" name="Build | local structure viewport">
            <a:extLst>
              <a:ext uri="{FF2B5EF4-FFF2-40B4-BE49-F238E27FC236}">
                <a16:creationId xmlns:a16="http://schemas.microsoft.com/office/drawing/2014/main" id="{77CE7F55-4C45-3B0C-7F1C-0FBD74512919}"/>
              </a:ext>
            </a:extLst>
          </p:cNvPr>
          <p:cNvSpPr>
            <a:spLocks noGrp="1"/>
          </p:cNvSpPr>
          <p:nvPr/>
        </p:nvSpPr>
        <p:spPr>
          <a:xfrm>
            <a:off x="5034655" y="3612697"/>
            <a:ext cx="1012331" cy="735989"/>
          </a:xfrm>
          <a:prstGeom prst="roundRect">
            <a:avLst>
              <a:gd name="adj" fmla="val 8894"/>
            </a:avLst>
          </a:prstGeom>
          <a:solidFill>
            <a:srgbClr val="FFFFFF"/>
          </a:solidFill>
          <a:ln w="7620">
            <a:solidFill>
              <a:srgbClr val="C8CFD4"/>
            </a:solidFill>
          </a:ln>
        </p:spPr>
      </p:sp>
      <p:sp>
        <p:nvSpPr>
          <p:cNvPr id="62" name="Build | label">
            <a:extLst>
              <a:ext uri="{FF2B5EF4-FFF2-40B4-BE49-F238E27FC236}">
                <a16:creationId xmlns:a16="http://schemas.microsoft.com/office/drawing/2014/main" id="{1CCE2EA1-5E60-FC8A-07D6-31D904064330}"/>
              </a:ext>
            </a:extLst>
          </p:cNvPr>
          <p:cNvSpPr>
            <a:spLocks noGrp="1"/>
          </p:cNvSpPr>
          <p:nvPr/>
        </p:nvSpPr>
        <p:spPr>
          <a:xfrm>
            <a:off x="5009487" y="4217257"/>
            <a:ext cx="1090800" cy="100800"/>
          </a:xfrm>
          <a:prstGeom prst="rect">
            <a:avLst/>
          </a:prstGeom>
          <a:noFill/>
          <a:ln w="0">
            <a:noFill/>
          </a:ln>
        </p:spPr>
        <p:txBody>
          <a:bodyPr wrap="none" lIns="0" tIns="0" rIns="0" bIns="0" anchor="ctr">
            <a:noAutofit/>
          </a:bodyPr>
          <a:lstStyle>
            <a:defPPr algn="ctr">
              <a:defRPr sz="670" b="0">
                <a:solidFill>
                  <a:srgbClr val="263442"/>
                </a:solidFill>
                <a:latin typeface="Arial"/>
                <a:ea typeface="Arial"/>
                <a:cs typeface="Arial"/>
              </a:defRPr>
            </a:defPPr>
            <a:lvl1pPr algn="ctr">
              <a:defRPr sz="670" b="0">
                <a:solidFill>
                  <a:srgbClr val="263442"/>
                </a:solidFill>
                <a:latin typeface="Arial"/>
                <a:ea typeface="Arial"/>
                <a:cs typeface="Arial"/>
              </a:defRPr>
            </a:lvl1pPr>
            <a:lvl2pPr algn="ctr">
              <a:defRPr sz="670" b="0">
                <a:solidFill>
                  <a:srgbClr val="263442"/>
                </a:solidFill>
                <a:latin typeface="Arial"/>
                <a:ea typeface="Arial"/>
                <a:cs typeface="Arial"/>
              </a:defRPr>
            </a:lvl2pPr>
            <a:lvl3pPr algn="ctr">
              <a:defRPr sz="670" b="0">
                <a:solidFill>
                  <a:srgbClr val="263442"/>
                </a:solidFill>
                <a:latin typeface="Arial"/>
                <a:ea typeface="Arial"/>
                <a:cs typeface="Arial"/>
              </a:defRPr>
            </a:lvl3pPr>
            <a:lvl4pPr algn="ctr">
              <a:defRPr sz="670" b="0">
                <a:solidFill>
                  <a:srgbClr val="263442"/>
                </a:solidFill>
                <a:latin typeface="Arial"/>
                <a:ea typeface="Arial"/>
                <a:cs typeface="Arial"/>
              </a:defRPr>
            </a:lvl4pPr>
            <a:lvl5pPr algn="ctr">
              <a:defRPr sz="670" b="0">
                <a:solidFill>
                  <a:srgbClr val="263442"/>
                </a:solidFill>
                <a:latin typeface="Arial"/>
                <a:ea typeface="Arial"/>
                <a:cs typeface="Arial"/>
              </a:defRPr>
            </a:lvl5pPr>
            <a:lvl6pPr algn="ctr">
              <a:defRPr sz="670" b="0">
                <a:solidFill>
                  <a:srgbClr val="263442"/>
                </a:solidFill>
                <a:latin typeface="Arial"/>
                <a:ea typeface="Arial"/>
                <a:cs typeface="Arial"/>
              </a:defRPr>
            </a:lvl6pPr>
            <a:lvl7pPr algn="ctr">
              <a:defRPr sz="670" b="0">
                <a:solidFill>
                  <a:srgbClr val="263442"/>
                </a:solidFill>
                <a:latin typeface="Arial"/>
                <a:ea typeface="Arial"/>
                <a:cs typeface="Arial"/>
              </a:defRPr>
            </a:lvl7pPr>
            <a:lvl8pPr algn="ctr">
              <a:defRPr sz="670" b="0">
                <a:solidFill>
                  <a:srgbClr val="263442"/>
                </a:solidFill>
                <a:latin typeface="Arial"/>
                <a:ea typeface="Arial"/>
                <a:cs typeface="Arial"/>
              </a:defRPr>
            </a:lvl8pPr>
            <a:lvl9pPr algn="ctr">
              <a:defRPr sz="670" b="0">
                <a:solidFill>
                  <a:srgbClr val="263442"/>
                </a:solidFill>
                <a:latin typeface="Arial"/>
                <a:ea typeface="Arial"/>
                <a:cs typeface="Arial"/>
              </a:defRPr>
            </a:lvl9pPr>
          </a:lstStyle>
          <a:p>
            <a:pPr algn="ctr">
              <a:defRPr sz="670" b="0">
                <a:solidFill>
                  <a:srgbClr val="263442"/>
                </a:solidFill>
                <a:latin typeface="Arial"/>
                <a:ea typeface="Arial"/>
                <a:cs typeface="Arial"/>
              </a:defRPr>
            </a:pPr>
            <a:r>
              <a:rPr sz="670" b="0" dirty="0">
                <a:solidFill>
                  <a:srgbClr val="263442"/>
                </a:solidFill>
                <a:latin typeface="Arial"/>
                <a:ea typeface="Arial"/>
                <a:cs typeface="Arial"/>
              </a:rPr>
              <a:t>All-atom ligand pose</a:t>
            </a:r>
            <a:r>
              <a:rPr lang="en-US" sz="670" b="0" dirty="0">
                <a:solidFill>
                  <a:srgbClr val="263442"/>
                </a:solidFill>
                <a:latin typeface="Arial"/>
                <a:ea typeface="Arial"/>
                <a:cs typeface="Arial"/>
              </a:rPr>
              <a:t>(s)</a:t>
            </a:r>
            <a:endParaRPr sz="670" b="0" dirty="0">
              <a:solidFill>
                <a:srgbClr val="263442"/>
              </a:solidFill>
              <a:latin typeface="Arial"/>
              <a:ea typeface="Arial"/>
              <a:cs typeface="Arial"/>
            </a:endParaRPr>
          </a:p>
        </p:txBody>
      </p:sp>
      <p:sp>
        <p:nvSpPr>
          <p:cNvPr id="63" name="Build | inputs to iterative denoising">
            <a:extLst>
              <a:ext uri="{FF2B5EF4-FFF2-40B4-BE49-F238E27FC236}">
                <a16:creationId xmlns:a16="http://schemas.microsoft.com/office/drawing/2014/main" id="{7CB06DA1-293D-F163-1C1E-2B41D71FC486}"/>
              </a:ext>
            </a:extLst>
          </p:cNvPr>
          <p:cNvSpPr>
            <a:spLocks noGrp="1"/>
          </p:cNvSpPr>
          <p:nvPr/>
        </p:nvSpPr>
        <p:spPr>
          <a:xfrm flipH="1">
            <a:off x="5300905" y="2502829"/>
            <a:ext cx="69223" cy="1043423"/>
          </a:xfrm>
          <a:custGeom>
            <a:avLst/>
            <a:gdLst/>
            <a:ahLst/>
            <a:cxnLst/>
            <a:rect l="0" t="0" r="0" b="0"/>
            <a:pathLst>
              <a:path w="95" h="100800">
                <a:moveTo>
                  <a:pt x="0" y="0"/>
                </a:moveTo>
                <a:lnTo>
                  <a:pt x="0" y="100800"/>
                </a:lnTo>
              </a:path>
            </a:pathLst>
          </a:custGeom>
          <a:noFill/>
          <a:ln w="8255">
            <a:solidFill>
              <a:srgbClr val="77828C"/>
            </a:solidFill>
          </a:ln>
        </p:spPr>
      </p:sp>
      <p:sp>
        <p:nvSpPr>
          <p:cNvPr id="192" name="Build | inputs to iterative denoising head">
            <a:extLst>
              <a:ext uri="{FF2B5EF4-FFF2-40B4-BE49-F238E27FC236}">
                <a16:creationId xmlns:a16="http://schemas.microsoft.com/office/drawing/2014/main" id="{85803F23-0221-2DDE-9099-982A31280CED}"/>
              </a:ext>
            </a:extLst>
          </p:cNvPr>
          <p:cNvSpPr>
            <a:spLocks noGrp="1"/>
          </p:cNvSpPr>
          <p:nvPr/>
        </p:nvSpPr>
        <p:spPr>
          <a:xfrm>
            <a:off x="5354208" y="3525770"/>
            <a:ext cx="28261" cy="27142"/>
          </a:xfrm>
          <a:custGeom>
            <a:avLst/>
            <a:gdLst/>
            <a:ahLst/>
            <a:cxnLst/>
            <a:rect l="0" t="0" r="0" b="0"/>
            <a:pathLst>
              <a:path w="28261" h="27142">
                <a:moveTo>
                  <a:pt x="0" y="0"/>
                </a:moveTo>
                <a:lnTo>
                  <a:pt x="14130" y="27142"/>
                </a:lnTo>
                <a:lnTo>
                  <a:pt x="28261" y="0"/>
                </a:lnTo>
              </a:path>
            </a:pathLst>
          </a:custGeom>
          <a:noFill/>
          <a:ln w="8255">
            <a:solidFill>
              <a:srgbClr val="77828C"/>
            </a:solidFill>
          </a:ln>
        </p:spPr>
      </p:sp>
      <p:sp>
        <p:nvSpPr>
          <p:cNvPr id="193" name="Build | Default PocketXMol card">
            <a:extLst>
              <a:ext uri="{FF2B5EF4-FFF2-40B4-BE49-F238E27FC236}">
                <a16:creationId xmlns:a16="http://schemas.microsoft.com/office/drawing/2014/main" id="{87BA09CC-4BA6-5A52-F91B-1E7D1A90AE4F}"/>
              </a:ext>
            </a:extLst>
          </p:cNvPr>
          <p:cNvSpPr/>
          <p:nvPr/>
        </p:nvSpPr>
        <p:spPr>
          <a:xfrm>
            <a:off x="4999032" y="1900178"/>
            <a:ext cx="1106490" cy="456341"/>
          </a:xfrm>
          <a:prstGeom prst="roundRect">
            <a:avLst>
              <a:gd name="adj" fmla="val 8000"/>
            </a:avLst>
          </a:prstGeom>
          <a:solidFill>
            <a:schemeClr val="bg1"/>
          </a:solidFill>
          <a:ln w="7290">
            <a:solidFill>
              <a:srgbClr val="BEC7C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grpSp>
        <p:nvGrpSpPr>
          <p:cNvPr id="194" name="Build | Density cube icon">
            <a:extLst>
              <a:ext uri="{FF2B5EF4-FFF2-40B4-BE49-F238E27FC236}">
                <a16:creationId xmlns:a16="http://schemas.microsoft.com/office/drawing/2014/main" id="{C78908A4-8B7B-D718-4DC3-5388D27D5E7E}"/>
              </a:ext>
            </a:extLst>
          </p:cNvPr>
          <p:cNvGrpSpPr/>
          <p:nvPr/>
        </p:nvGrpSpPr>
        <p:grpSpPr>
          <a:xfrm>
            <a:off x="5031164" y="1982142"/>
            <a:ext cx="213580" cy="227238"/>
            <a:chOff x="2187720" y="5635440"/>
            <a:chExt cx="154440" cy="131400"/>
          </a:xfrm>
        </p:grpSpPr>
        <p:sp>
          <p:nvSpPr>
            <p:cNvPr id="195" name="asset_3169_0">
              <a:extLst>
                <a:ext uri="{FF2B5EF4-FFF2-40B4-BE49-F238E27FC236}">
                  <a16:creationId xmlns:a16="http://schemas.microsoft.com/office/drawing/2014/main" id="{6FB8999E-1FD4-B898-6988-4EF1C9E80BD8}"/>
                </a:ext>
              </a:extLst>
            </p:cNvPr>
            <p:cNvSpPr>
              <a:spLocks noGrp="1"/>
            </p:cNvSpPr>
            <p:nvPr/>
          </p:nvSpPr>
          <p:spPr>
            <a:xfrm>
              <a:off x="2187720" y="5635440"/>
              <a:ext cx="154440" cy="22338"/>
            </a:xfrm>
            <a:custGeom>
              <a:avLst/>
              <a:gdLst/>
              <a:ahLst/>
              <a:cxnLst/>
              <a:rect l="0" t="0" r="0" b="0"/>
              <a:pathLst>
                <a:path w="154440" h="22338">
                  <a:moveTo>
                    <a:pt x="0" y="22338"/>
                  </a:moveTo>
                  <a:lnTo>
                    <a:pt x="29344" y="0"/>
                  </a:lnTo>
                  <a:lnTo>
                    <a:pt x="154440" y="0"/>
                  </a:lnTo>
                  <a:lnTo>
                    <a:pt x="125096" y="22338"/>
                  </a:lnTo>
                  <a:close/>
                </a:path>
              </a:pathLst>
            </a:custGeom>
            <a:gradFill>
              <a:gsLst>
                <a:gs pos="0">
                  <a:srgbClr val="FAFDFF">
                    <a:alpha val="65000"/>
                  </a:srgbClr>
                </a:gs>
                <a:gs pos="100000">
                  <a:srgbClr val="D9EAFA">
                    <a:alpha val="45000"/>
                  </a:srgbClr>
                </a:gs>
              </a:gsLst>
              <a:lin ang="5400000"/>
            </a:gradFill>
            <a:ln w="2700">
              <a:solidFill>
                <a:srgbClr val="A3C3E2"/>
              </a:solidFill>
            </a:ln>
          </p:spPr>
        </p:sp>
        <p:sp>
          <p:nvSpPr>
            <p:cNvPr id="196" name="asset_3169_1">
              <a:extLst>
                <a:ext uri="{FF2B5EF4-FFF2-40B4-BE49-F238E27FC236}">
                  <a16:creationId xmlns:a16="http://schemas.microsoft.com/office/drawing/2014/main" id="{0568C7BD-45D3-8D8B-1C31-DBAFFB5A8EE1}"/>
                </a:ext>
              </a:extLst>
            </p:cNvPr>
            <p:cNvSpPr>
              <a:spLocks noGrp="1"/>
            </p:cNvSpPr>
            <p:nvPr/>
          </p:nvSpPr>
          <p:spPr>
            <a:xfrm>
              <a:off x="2312816" y="5635440"/>
              <a:ext cx="29344" cy="131400"/>
            </a:xfrm>
            <a:custGeom>
              <a:avLst/>
              <a:gdLst/>
              <a:ahLst/>
              <a:cxnLst/>
              <a:rect l="0" t="0" r="0" b="0"/>
              <a:pathLst>
                <a:path w="29344" h="131400">
                  <a:moveTo>
                    <a:pt x="0" y="22338"/>
                  </a:moveTo>
                  <a:lnTo>
                    <a:pt x="29344" y="0"/>
                  </a:lnTo>
                  <a:lnTo>
                    <a:pt x="29344" y="109062"/>
                  </a:lnTo>
                  <a:lnTo>
                    <a:pt x="0" y="131400"/>
                  </a:lnTo>
                  <a:close/>
                </a:path>
              </a:pathLst>
            </a:custGeom>
            <a:solidFill>
              <a:srgbClr val="C9DFF3">
                <a:alpha val="22000"/>
              </a:srgbClr>
            </a:solidFill>
            <a:ln w="2700">
              <a:solidFill>
                <a:srgbClr val="A3C3E2"/>
              </a:solidFill>
            </a:ln>
          </p:spPr>
        </p:sp>
        <p:sp>
          <p:nvSpPr>
            <p:cNvPr id="197" name="asset_3169_2">
              <a:extLst>
                <a:ext uri="{FF2B5EF4-FFF2-40B4-BE49-F238E27FC236}">
                  <a16:creationId xmlns:a16="http://schemas.microsoft.com/office/drawing/2014/main" id="{A809A216-F4DC-6BAE-04BA-2DF0FA2DF929}"/>
                </a:ext>
              </a:extLst>
            </p:cNvPr>
            <p:cNvSpPr>
              <a:spLocks noGrp="1"/>
            </p:cNvSpPr>
            <p:nvPr/>
          </p:nvSpPr>
          <p:spPr>
            <a:xfrm>
              <a:off x="2187720" y="5657778"/>
              <a:ext cx="125096" cy="109062"/>
            </a:xfrm>
            <a:prstGeom prst="rect">
              <a:avLst/>
            </a:prstGeom>
            <a:solidFill>
              <a:srgbClr val="E7F1FC">
                <a:alpha val="20000"/>
              </a:srgbClr>
            </a:solidFill>
            <a:ln w="2700">
              <a:solidFill>
                <a:srgbClr val="ABC9E7"/>
              </a:solidFill>
            </a:ln>
          </p:spPr>
        </p:sp>
        <p:sp>
          <p:nvSpPr>
            <p:cNvPr id="198" name="asset_3169_3">
              <a:extLst>
                <a:ext uri="{FF2B5EF4-FFF2-40B4-BE49-F238E27FC236}">
                  <a16:creationId xmlns:a16="http://schemas.microsoft.com/office/drawing/2014/main" id="{249C290B-E1A6-35D0-9DF9-D2113ECF0EE4}"/>
                </a:ext>
              </a:extLst>
            </p:cNvPr>
            <p:cNvSpPr>
              <a:spLocks noGrp="1"/>
            </p:cNvSpPr>
            <p:nvPr/>
          </p:nvSpPr>
          <p:spPr>
            <a:xfrm>
              <a:off x="2218994" y="5657778"/>
              <a:ext cx="4" cy="109062"/>
            </a:xfrm>
            <a:prstGeom prst="line">
              <a:avLst/>
            </a:prstGeom>
            <a:noFill/>
            <a:ln w="1980">
              <a:solidFill>
                <a:srgbClr val="B8D2EB">
                  <a:alpha val="33000"/>
                </a:srgbClr>
              </a:solidFill>
            </a:ln>
          </p:spPr>
        </p:sp>
        <p:sp>
          <p:nvSpPr>
            <p:cNvPr id="199" name="asset_3169_4">
              <a:extLst>
                <a:ext uri="{FF2B5EF4-FFF2-40B4-BE49-F238E27FC236}">
                  <a16:creationId xmlns:a16="http://schemas.microsoft.com/office/drawing/2014/main" id="{02B965B1-CBA1-280D-6168-1C239A58E0A2}"/>
                </a:ext>
              </a:extLst>
            </p:cNvPr>
            <p:cNvSpPr>
              <a:spLocks noGrp="1"/>
            </p:cNvSpPr>
            <p:nvPr/>
          </p:nvSpPr>
          <p:spPr>
            <a:xfrm>
              <a:off x="2187720" y="5685044"/>
              <a:ext cx="125096" cy="4"/>
            </a:xfrm>
            <a:prstGeom prst="line">
              <a:avLst/>
            </a:prstGeom>
            <a:noFill/>
            <a:ln w="1980">
              <a:solidFill>
                <a:srgbClr val="B8D2EB">
                  <a:alpha val="33000"/>
                </a:srgbClr>
              </a:solidFill>
            </a:ln>
          </p:spPr>
        </p:sp>
        <p:sp>
          <p:nvSpPr>
            <p:cNvPr id="200" name="asset_3169_5">
              <a:extLst>
                <a:ext uri="{FF2B5EF4-FFF2-40B4-BE49-F238E27FC236}">
                  <a16:creationId xmlns:a16="http://schemas.microsoft.com/office/drawing/2014/main" id="{00A46E3E-5C2E-8088-5603-C5FAACCDC845}"/>
                </a:ext>
              </a:extLst>
            </p:cNvPr>
            <p:cNvSpPr>
              <a:spLocks noGrp="1"/>
            </p:cNvSpPr>
            <p:nvPr/>
          </p:nvSpPr>
          <p:spPr>
            <a:xfrm>
              <a:off x="2250268" y="5657778"/>
              <a:ext cx="4" cy="109062"/>
            </a:xfrm>
            <a:prstGeom prst="line">
              <a:avLst/>
            </a:prstGeom>
            <a:noFill/>
            <a:ln w="1980">
              <a:solidFill>
                <a:srgbClr val="B8D2EB">
                  <a:alpha val="33000"/>
                </a:srgbClr>
              </a:solidFill>
            </a:ln>
          </p:spPr>
        </p:sp>
        <p:sp>
          <p:nvSpPr>
            <p:cNvPr id="201" name="asset_3169_6">
              <a:extLst>
                <a:ext uri="{FF2B5EF4-FFF2-40B4-BE49-F238E27FC236}">
                  <a16:creationId xmlns:a16="http://schemas.microsoft.com/office/drawing/2014/main" id="{FA59ED97-239F-2300-553F-AADA13DD7890}"/>
                </a:ext>
              </a:extLst>
            </p:cNvPr>
            <p:cNvSpPr>
              <a:spLocks noGrp="1"/>
            </p:cNvSpPr>
            <p:nvPr/>
          </p:nvSpPr>
          <p:spPr>
            <a:xfrm>
              <a:off x="2187720" y="5712309"/>
              <a:ext cx="125096" cy="4"/>
            </a:xfrm>
            <a:prstGeom prst="line">
              <a:avLst/>
            </a:prstGeom>
            <a:noFill/>
            <a:ln w="1980">
              <a:solidFill>
                <a:srgbClr val="B8D2EB">
                  <a:alpha val="33000"/>
                </a:srgbClr>
              </a:solidFill>
            </a:ln>
          </p:spPr>
        </p:sp>
        <p:sp>
          <p:nvSpPr>
            <p:cNvPr id="202" name="asset_3169_7">
              <a:extLst>
                <a:ext uri="{FF2B5EF4-FFF2-40B4-BE49-F238E27FC236}">
                  <a16:creationId xmlns:a16="http://schemas.microsoft.com/office/drawing/2014/main" id="{113B2015-6A14-86A5-8F40-0EAA0B4007BE}"/>
                </a:ext>
              </a:extLst>
            </p:cNvPr>
            <p:cNvSpPr>
              <a:spLocks noGrp="1"/>
            </p:cNvSpPr>
            <p:nvPr/>
          </p:nvSpPr>
          <p:spPr>
            <a:xfrm>
              <a:off x="2281542" y="5657778"/>
              <a:ext cx="4" cy="109062"/>
            </a:xfrm>
            <a:prstGeom prst="line">
              <a:avLst/>
            </a:prstGeom>
            <a:noFill/>
            <a:ln w="1980">
              <a:solidFill>
                <a:srgbClr val="B8D2EB">
                  <a:alpha val="33000"/>
                </a:srgbClr>
              </a:solidFill>
            </a:ln>
          </p:spPr>
        </p:sp>
        <p:sp>
          <p:nvSpPr>
            <p:cNvPr id="203" name="asset_3169_8">
              <a:extLst>
                <a:ext uri="{FF2B5EF4-FFF2-40B4-BE49-F238E27FC236}">
                  <a16:creationId xmlns:a16="http://schemas.microsoft.com/office/drawing/2014/main" id="{0D73B211-DFC9-1D39-0499-DF116B51AC19}"/>
                </a:ext>
              </a:extLst>
            </p:cNvPr>
            <p:cNvSpPr>
              <a:spLocks noGrp="1"/>
            </p:cNvSpPr>
            <p:nvPr/>
          </p:nvSpPr>
          <p:spPr>
            <a:xfrm>
              <a:off x="2187720" y="5739574"/>
              <a:ext cx="125096" cy="4"/>
            </a:xfrm>
            <a:prstGeom prst="line">
              <a:avLst/>
            </a:prstGeom>
            <a:noFill/>
            <a:ln w="1980">
              <a:solidFill>
                <a:srgbClr val="B8D2EB">
                  <a:alpha val="33000"/>
                </a:srgbClr>
              </a:solidFill>
            </a:ln>
          </p:spPr>
        </p:sp>
        <p:sp>
          <p:nvSpPr>
            <p:cNvPr id="204" name="asset_3169_9">
              <a:extLst>
                <a:ext uri="{FF2B5EF4-FFF2-40B4-BE49-F238E27FC236}">
                  <a16:creationId xmlns:a16="http://schemas.microsoft.com/office/drawing/2014/main" id="{4281A8F5-0A24-CA8F-6C83-7779B3829DB0}"/>
                </a:ext>
              </a:extLst>
            </p:cNvPr>
            <p:cNvSpPr>
              <a:spLocks noGrp="1"/>
            </p:cNvSpPr>
            <p:nvPr/>
          </p:nvSpPr>
          <p:spPr>
            <a:xfrm>
              <a:off x="2198791" y="5672574"/>
              <a:ext cx="58245" cy="50256"/>
            </a:xfrm>
            <a:prstGeom prst="ellipse">
              <a:avLst/>
            </a:prstGeom>
            <a:gradFill>
              <a:gsLst>
                <a:gs pos="0">
                  <a:srgbClr val="E5F0FF">
                    <a:alpha val="55000"/>
                  </a:srgbClr>
                </a:gs>
                <a:gs pos="48000">
                  <a:srgbClr val="7DA9DB">
                    <a:alpha val="60000"/>
                  </a:srgbClr>
                </a:gs>
                <a:gs pos="100000">
                  <a:srgbClr val="7DA9DB">
                    <a:alpha val="35000"/>
                  </a:srgbClr>
                </a:gs>
              </a:gsLst>
              <a:lin ang="8400000"/>
            </a:gradFill>
            <a:ln w="3600">
              <a:noFill/>
            </a:ln>
            <a:effectLst>
              <a:softEdge rad="4320"/>
            </a:effectLst>
          </p:spPr>
        </p:sp>
        <p:sp>
          <p:nvSpPr>
            <p:cNvPr id="205" name="asset_3169_10">
              <a:extLst>
                <a:ext uri="{FF2B5EF4-FFF2-40B4-BE49-F238E27FC236}">
                  <a16:creationId xmlns:a16="http://schemas.microsoft.com/office/drawing/2014/main" id="{390E4ECD-6B7A-BE11-C959-7318E2A67BF3}"/>
                </a:ext>
              </a:extLst>
            </p:cNvPr>
            <p:cNvSpPr>
              <a:spLocks noGrp="1"/>
            </p:cNvSpPr>
            <p:nvPr/>
          </p:nvSpPr>
          <p:spPr>
            <a:xfrm>
              <a:off x="2225487" y="5687232"/>
              <a:ext cx="63099" cy="54444"/>
            </a:xfrm>
            <a:prstGeom prst="ellipse">
              <a:avLst/>
            </a:prstGeom>
            <a:gradFill>
              <a:gsLst>
                <a:gs pos="0">
                  <a:srgbClr val="E5F0FF">
                    <a:alpha val="55000"/>
                  </a:srgbClr>
                </a:gs>
                <a:gs pos="48000">
                  <a:srgbClr val="7DA9DB">
                    <a:alpha val="60000"/>
                  </a:srgbClr>
                </a:gs>
                <a:gs pos="100000">
                  <a:srgbClr val="7DA9DB">
                    <a:alpha val="35000"/>
                  </a:srgbClr>
                </a:gs>
              </a:gsLst>
              <a:lin ang="8400000"/>
            </a:gradFill>
            <a:ln w="3600">
              <a:noFill/>
            </a:ln>
            <a:effectLst>
              <a:softEdge rad="4320"/>
            </a:effectLst>
          </p:spPr>
        </p:sp>
        <p:sp>
          <p:nvSpPr>
            <p:cNvPr id="206" name="asset_3169_11">
              <a:extLst>
                <a:ext uri="{FF2B5EF4-FFF2-40B4-BE49-F238E27FC236}">
                  <a16:creationId xmlns:a16="http://schemas.microsoft.com/office/drawing/2014/main" id="{0CC07613-0D1D-7AFE-64B3-2E063E7DBFFA}"/>
                </a:ext>
              </a:extLst>
            </p:cNvPr>
            <p:cNvSpPr>
              <a:spLocks noGrp="1"/>
            </p:cNvSpPr>
            <p:nvPr/>
          </p:nvSpPr>
          <p:spPr>
            <a:xfrm>
              <a:off x="2248542" y="5660010"/>
              <a:ext cx="55818" cy="48162"/>
            </a:xfrm>
            <a:prstGeom prst="ellipse">
              <a:avLst/>
            </a:prstGeom>
            <a:gradFill>
              <a:gsLst>
                <a:gs pos="0">
                  <a:srgbClr val="E5F0FF">
                    <a:alpha val="55000"/>
                  </a:srgbClr>
                </a:gs>
                <a:gs pos="48000">
                  <a:srgbClr val="7DA9DB">
                    <a:alpha val="60000"/>
                  </a:srgbClr>
                </a:gs>
                <a:gs pos="100000">
                  <a:srgbClr val="7DA9DB">
                    <a:alpha val="35000"/>
                  </a:srgbClr>
                </a:gs>
              </a:gsLst>
              <a:lin ang="8400000"/>
            </a:gradFill>
            <a:ln w="3600">
              <a:noFill/>
            </a:ln>
            <a:effectLst>
              <a:softEdge rad="4320"/>
            </a:effectLst>
          </p:spPr>
        </p:sp>
        <p:sp>
          <p:nvSpPr>
            <p:cNvPr id="207" name="asset_3169_12">
              <a:extLst>
                <a:ext uri="{FF2B5EF4-FFF2-40B4-BE49-F238E27FC236}">
                  <a16:creationId xmlns:a16="http://schemas.microsoft.com/office/drawing/2014/main" id="{42EED7F4-86D3-D9AB-9137-DE181E85CCB2}"/>
                </a:ext>
              </a:extLst>
            </p:cNvPr>
            <p:cNvSpPr>
              <a:spLocks noGrp="1"/>
            </p:cNvSpPr>
            <p:nvPr/>
          </p:nvSpPr>
          <p:spPr>
            <a:xfrm>
              <a:off x="2223060" y="5652681"/>
              <a:ext cx="53391" cy="46068"/>
            </a:xfrm>
            <a:prstGeom prst="ellipse">
              <a:avLst/>
            </a:prstGeom>
            <a:gradFill>
              <a:gsLst>
                <a:gs pos="0">
                  <a:srgbClr val="E5F0FF">
                    <a:alpha val="55000"/>
                  </a:srgbClr>
                </a:gs>
                <a:gs pos="48000">
                  <a:srgbClr val="7DA9DB">
                    <a:alpha val="60000"/>
                  </a:srgbClr>
                </a:gs>
                <a:gs pos="100000">
                  <a:srgbClr val="7DA9DB">
                    <a:alpha val="35000"/>
                  </a:srgbClr>
                </a:gs>
              </a:gsLst>
              <a:lin ang="8400000"/>
            </a:gradFill>
            <a:ln w="3600">
              <a:noFill/>
            </a:ln>
            <a:effectLst>
              <a:softEdge rad="4320"/>
            </a:effectLst>
          </p:spPr>
        </p:sp>
        <p:sp>
          <p:nvSpPr>
            <p:cNvPr id="208" name="asset_3169_13">
              <a:extLst>
                <a:ext uri="{FF2B5EF4-FFF2-40B4-BE49-F238E27FC236}">
                  <a16:creationId xmlns:a16="http://schemas.microsoft.com/office/drawing/2014/main" id="{BDD5EC2D-96A1-5591-0422-7CA095430CF4}"/>
                </a:ext>
              </a:extLst>
            </p:cNvPr>
            <p:cNvSpPr>
              <a:spLocks noGrp="1"/>
            </p:cNvSpPr>
            <p:nvPr/>
          </p:nvSpPr>
          <p:spPr>
            <a:xfrm>
              <a:off x="2207281" y="5693871"/>
              <a:ext cx="30911" cy="26671"/>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09" name="asset_3169_14">
              <a:extLst>
                <a:ext uri="{FF2B5EF4-FFF2-40B4-BE49-F238E27FC236}">
                  <a16:creationId xmlns:a16="http://schemas.microsoft.com/office/drawing/2014/main" id="{05B48C9E-4EC1-94BF-ABDB-F1B26EB24C66}"/>
                </a:ext>
              </a:extLst>
            </p:cNvPr>
            <p:cNvSpPr>
              <a:spLocks noGrp="1"/>
            </p:cNvSpPr>
            <p:nvPr/>
          </p:nvSpPr>
          <p:spPr>
            <a:xfrm>
              <a:off x="2253557" y="5697302"/>
              <a:ext cx="21556" cy="18600"/>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10" name="asset_3169_15">
              <a:extLst>
                <a:ext uri="{FF2B5EF4-FFF2-40B4-BE49-F238E27FC236}">
                  <a16:creationId xmlns:a16="http://schemas.microsoft.com/office/drawing/2014/main" id="{CBB706D7-8F72-E573-A0ED-0E1F01D00476}"/>
                </a:ext>
              </a:extLst>
            </p:cNvPr>
            <p:cNvSpPr>
              <a:spLocks noGrp="1"/>
            </p:cNvSpPr>
            <p:nvPr/>
          </p:nvSpPr>
          <p:spPr>
            <a:xfrm>
              <a:off x="2278359" y="5672317"/>
              <a:ext cx="20931" cy="18060"/>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11" name="asset_3169_16">
              <a:extLst>
                <a:ext uri="{FF2B5EF4-FFF2-40B4-BE49-F238E27FC236}">
                  <a16:creationId xmlns:a16="http://schemas.microsoft.com/office/drawing/2014/main" id="{FE45827B-E61F-5126-7A78-D3A9183D5E26}"/>
                </a:ext>
              </a:extLst>
            </p:cNvPr>
            <p:cNvSpPr>
              <a:spLocks noGrp="1"/>
            </p:cNvSpPr>
            <p:nvPr/>
          </p:nvSpPr>
          <p:spPr>
            <a:xfrm>
              <a:off x="2235959" y="5649092"/>
              <a:ext cx="26179" cy="22588"/>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12" name="asset_3169_17">
              <a:extLst>
                <a:ext uri="{FF2B5EF4-FFF2-40B4-BE49-F238E27FC236}">
                  <a16:creationId xmlns:a16="http://schemas.microsoft.com/office/drawing/2014/main" id="{1EAA4A14-7DAA-DAD1-CF83-3D9152E571B2}"/>
                </a:ext>
              </a:extLst>
            </p:cNvPr>
            <p:cNvSpPr>
              <a:spLocks noGrp="1"/>
            </p:cNvSpPr>
            <p:nvPr/>
          </p:nvSpPr>
          <p:spPr>
            <a:xfrm>
              <a:off x="2230057" y="5690206"/>
              <a:ext cx="17158" cy="14805"/>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13" name="asset_3169_18">
              <a:extLst>
                <a:ext uri="{FF2B5EF4-FFF2-40B4-BE49-F238E27FC236}">
                  <a16:creationId xmlns:a16="http://schemas.microsoft.com/office/drawing/2014/main" id="{A79BFB5D-D9A2-4590-9DD6-158F2812D123}"/>
                </a:ext>
              </a:extLst>
            </p:cNvPr>
            <p:cNvSpPr>
              <a:spLocks noGrp="1"/>
            </p:cNvSpPr>
            <p:nvPr/>
          </p:nvSpPr>
          <p:spPr>
            <a:xfrm>
              <a:off x="2228799" y="5700798"/>
              <a:ext cx="17470" cy="15073"/>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14" name="asset_3169_19">
              <a:extLst>
                <a:ext uri="{FF2B5EF4-FFF2-40B4-BE49-F238E27FC236}">
                  <a16:creationId xmlns:a16="http://schemas.microsoft.com/office/drawing/2014/main" id="{917A8693-BB73-A8AA-FCD4-93FD36EFB6DE}"/>
                </a:ext>
              </a:extLst>
            </p:cNvPr>
            <p:cNvSpPr>
              <a:spLocks noGrp="1"/>
            </p:cNvSpPr>
            <p:nvPr/>
          </p:nvSpPr>
          <p:spPr>
            <a:xfrm>
              <a:off x="2264745" y="5672793"/>
              <a:ext cx="22335" cy="19272"/>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15" name="asset_3169_20">
              <a:extLst>
                <a:ext uri="{FF2B5EF4-FFF2-40B4-BE49-F238E27FC236}">
                  <a16:creationId xmlns:a16="http://schemas.microsoft.com/office/drawing/2014/main" id="{286D345E-1863-B0A3-E5A7-F93B31653858}"/>
                </a:ext>
              </a:extLst>
            </p:cNvPr>
            <p:cNvSpPr>
              <a:spLocks noGrp="1"/>
            </p:cNvSpPr>
            <p:nvPr/>
          </p:nvSpPr>
          <p:spPr>
            <a:xfrm>
              <a:off x="2247802" y="5671816"/>
              <a:ext cx="29288" cy="25271"/>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16" name="asset_3169_21">
              <a:extLst>
                <a:ext uri="{FF2B5EF4-FFF2-40B4-BE49-F238E27FC236}">
                  <a16:creationId xmlns:a16="http://schemas.microsoft.com/office/drawing/2014/main" id="{7D00AF7B-3D76-8E5A-C288-CB42958910E0}"/>
                </a:ext>
              </a:extLst>
            </p:cNvPr>
            <p:cNvSpPr>
              <a:spLocks noGrp="1"/>
            </p:cNvSpPr>
            <p:nvPr/>
          </p:nvSpPr>
          <p:spPr>
            <a:xfrm>
              <a:off x="2221472" y="5673188"/>
              <a:ext cx="24803" cy="21401"/>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17" name="asset_3169_22">
              <a:extLst>
                <a:ext uri="{FF2B5EF4-FFF2-40B4-BE49-F238E27FC236}">
                  <a16:creationId xmlns:a16="http://schemas.microsoft.com/office/drawing/2014/main" id="{BA66BF56-F06E-1A9B-2E4C-BE0E276D80CA}"/>
                </a:ext>
              </a:extLst>
            </p:cNvPr>
            <p:cNvSpPr>
              <a:spLocks noGrp="1"/>
            </p:cNvSpPr>
            <p:nvPr/>
          </p:nvSpPr>
          <p:spPr>
            <a:xfrm>
              <a:off x="2231057" y="5701581"/>
              <a:ext cx="27548" cy="23769"/>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18" name="asset_3169_23">
              <a:extLst>
                <a:ext uri="{FF2B5EF4-FFF2-40B4-BE49-F238E27FC236}">
                  <a16:creationId xmlns:a16="http://schemas.microsoft.com/office/drawing/2014/main" id="{C0D35A31-EF54-C2F5-C016-F8D845C57827}"/>
                </a:ext>
              </a:extLst>
            </p:cNvPr>
            <p:cNvSpPr>
              <a:spLocks noGrp="1"/>
            </p:cNvSpPr>
            <p:nvPr/>
          </p:nvSpPr>
          <p:spPr>
            <a:xfrm>
              <a:off x="2264932" y="5667506"/>
              <a:ext cx="28421" cy="24522"/>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19" name="asset_3169_24">
              <a:extLst>
                <a:ext uri="{FF2B5EF4-FFF2-40B4-BE49-F238E27FC236}">
                  <a16:creationId xmlns:a16="http://schemas.microsoft.com/office/drawing/2014/main" id="{B6624D75-554B-0973-D4B8-C894F6C372AC}"/>
                </a:ext>
              </a:extLst>
            </p:cNvPr>
            <p:cNvSpPr>
              <a:spLocks noGrp="1"/>
            </p:cNvSpPr>
            <p:nvPr/>
          </p:nvSpPr>
          <p:spPr>
            <a:xfrm>
              <a:off x="2231286" y="5661727"/>
              <a:ext cx="25293" cy="21823"/>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20" name="asset_3169_25">
              <a:extLst>
                <a:ext uri="{FF2B5EF4-FFF2-40B4-BE49-F238E27FC236}">
                  <a16:creationId xmlns:a16="http://schemas.microsoft.com/office/drawing/2014/main" id="{E22930A5-3291-B3C0-C98F-07A6D1813DC4}"/>
                </a:ext>
              </a:extLst>
            </p:cNvPr>
            <p:cNvSpPr>
              <a:spLocks noGrp="1"/>
            </p:cNvSpPr>
            <p:nvPr/>
          </p:nvSpPr>
          <p:spPr>
            <a:xfrm>
              <a:off x="2203520" y="5678934"/>
              <a:ext cx="26056" cy="22482"/>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21" name="asset_3169_26">
              <a:extLst>
                <a:ext uri="{FF2B5EF4-FFF2-40B4-BE49-F238E27FC236}">
                  <a16:creationId xmlns:a16="http://schemas.microsoft.com/office/drawing/2014/main" id="{F7CDBBF3-A4ED-2D45-C0B9-43F7E61CB7A4}"/>
                </a:ext>
              </a:extLst>
            </p:cNvPr>
            <p:cNvSpPr>
              <a:spLocks noGrp="1"/>
            </p:cNvSpPr>
            <p:nvPr/>
          </p:nvSpPr>
          <p:spPr>
            <a:xfrm>
              <a:off x="2258761" y="5717055"/>
              <a:ext cx="20939" cy="18067"/>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22" name="asset_3169_27">
              <a:extLst>
                <a:ext uri="{FF2B5EF4-FFF2-40B4-BE49-F238E27FC236}">
                  <a16:creationId xmlns:a16="http://schemas.microsoft.com/office/drawing/2014/main" id="{998E5926-AE57-FA19-4764-08122E1BE09C}"/>
                </a:ext>
              </a:extLst>
            </p:cNvPr>
            <p:cNvSpPr>
              <a:spLocks noGrp="1"/>
            </p:cNvSpPr>
            <p:nvPr/>
          </p:nvSpPr>
          <p:spPr>
            <a:xfrm>
              <a:off x="2262469" y="5681666"/>
              <a:ext cx="24125" cy="20816"/>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23" name="asset_3169_28">
              <a:extLst>
                <a:ext uri="{FF2B5EF4-FFF2-40B4-BE49-F238E27FC236}">
                  <a16:creationId xmlns:a16="http://schemas.microsoft.com/office/drawing/2014/main" id="{6BB342F9-D2A6-3FD7-1DD7-6808FE9DDD03}"/>
                </a:ext>
              </a:extLst>
            </p:cNvPr>
            <p:cNvSpPr>
              <a:spLocks noGrp="1"/>
            </p:cNvSpPr>
            <p:nvPr/>
          </p:nvSpPr>
          <p:spPr>
            <a:xfrm>
              <a:off x="2238082" y="5671347"/>
              <a:ext cx="27389" cy="23632"/>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24" name="asset_3169_29">
              <a:extLst>
                <a:ext uri="{FF2B5EF4-FFF2-40B4-BE49-F238E27FC236}">
                  <a16:creationId xmlns:a16="http://schemas.microsoft.com/office/drawing/2014/main" id="{A99A18E1-05DC-5DA9-AD05-57443600EA13}"/>
                </a:ext>
              </a:extLst>
            </p:cNvPr>
            <p:cNvSpPr>
              <a:spLocks noGrp="1"/>
            </p:cNvSpPr>
            <p:nvPr/>
          </p:nvSpPr>
          <p:spPr>
            <a:xfrm>
              <a:off x="2220795" y="5698579"/>
              <a:ext cx="25648" cy="22130"/>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25" name="asset_3169_30">
              <a:extLst>
                <a:ext uri="{FF2B5EF4-FFF2-40B4-BE49-F238E27FC236}">
                  <a16:creationId xmlns:a16="http://schemas.microsoft.com/office/drawing/2014/main" id="{74BFD68E-FE28-430D-1709-35E993C127BE}"/>
                </a:ext>
              </a:extLst>
            </p:cNvPr>
            <p:cNvSpPr>
              <a:spLocks noGrp="1"/>
            </p:cNvSpPr>
            <p:nvPr/>
          </p:nvSpPr>
          <p:spPr>
            <a:xfrm>
              <a:off x="2243067" y="5723084"/>
              <a:ext cx="17688" cy="15262"/>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26" name="asset_3169_31">
              <a:extLst>
                <a:ext uri="{FF2B5EF4-FFF2-40B4-BE49-F238E27FC236}">
                  <a16:creationId xmlns:a16="http://schemas.microsoft.com/office/drawing/2014/main" id="{0820516B-44F5-69CF-ADFE-D0545540796B}"/>
                </a:ext>
              </a:extLst>
            </p:cNvPr>
            <p:cNvSpPr>
              <a:spLocks noGrp="1"/>
            </p:cNvSpPr>
            <p:nvPr/>
          </p:nvSpPr>
          <p:spPr>
            <a:xfrm>
              <a:off x="2257337" y="5659622"/>
              <a:ext cx="26336" cy="22723"/>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27" name="asset_3169_32">
              <a:extLst>
                <a:ext uri="{FF2B5EF4-FFF2-40B4-BE49-F238E27FC236}">
                  <a16:creationId xmlns:a16="http://schemas.microsoft.com/office/drawing/2014/main" id="{31292AF8-99FB-DCAB-3C2F-0DE06840B0D3}"/>
                </a:ext>
              </a:extLst>
            </p:cNvPr>
            <p:cNvSpPr>
              <a:spLocks noGrp="1"/>
            </p:cNvSpPr>
            <p:nvPr/>
          </p:nvSpPr>
          <p:spPr>
            <a:xfrm>
              <a:off x="2256492" y="5666095"/>
              <a:ext cx="23460" cy="20242"/>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28" name="asset_3169_33">
              <a:extLst>
                <a:ext uri="{FF2B5EF4-FFF2-40B4-BE49-F238E27FC236}">
                  <a16:creationId xmlns:a16="http://schemas.microsoft.com/office/drawing/2014/main" id="{350EF9BD-9B8B-8306-90D0-651AA6E1CC35}"/>
                </a:ext>
              </a:extLst>
            </p:cNvPr>
            <p:cNvSpPr>
              <a:spLocks noGrp="1"/>
            </p:cNvSpPr>
            <p:nvPr/>
          </p:nvSpPr>
          <p:spPr>
            <a:xfrm>
              <a:off x="2210503" y="5688799"/>
              <a:ext cx="30840" cy="26610"/>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29" name="asset_3169_34">
              <a:extLst>
                <a:ext uri="{FF2B5EF4-FFF2-40B4-BE49-F238E27FC236}">
                  <a16:creationId xmlns:a16="http://schemas.microsoft.com/office/drawing/2014/main" id="{0FD3CDF8-91DA-5D74-040F-D5C51B3249DC}"/>
                </a:ext>
              </a:extLst>
            </p:cNvPr>
            <p:cNvSpPr>
              <a:spLocks noGrp="1"/>
            </p:cNvSpPr>
            <p:nvPr/>
          </p:nvSpPr>
          <p:spPr>
            <a:xfrm>
              <a:off x="2236186" y="5705144"/>
              <a:ext cx="22611" cy="19510"/>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30" name="asset_3169_35">
              <a:extLst>
                <a:ext uri="{FF2B5EF4-FFF2-40B4-BE49-F238E27FC236}">
                  <a16:creationId xmlns:a16="http://schemas.microsoft.com/office/drawing/2014/main" id="{EF04DBE5-A0B1-557F-54F2-B81DAC6E804E}"/>
                </a:ext>
              </a:extLst>
            </p:cNvPr>
            <p:cNvSpPr>
              <a:spLocks noGrp="1"/>
            </p:cNvSpPr>
            <p:nvPr/>
          </p:nvSpPr>
          <p:spPr>
            <a:xfrm>
              <a:off x="2260671" y="5685042"/>
              <a:ext cx="19267" cy="16624"/>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31" name="asset_3169_36">
              <a:extLst>
                <a:ext uri="{FF2B5EF4-FFF2-40B4-BE49-F238E27FC236}">
                  <a16:creationId xmlns:a16="http://schemas.microsoft.com/office/drawing/2014/main" id="{7FBAA090-5D87-D5E5-7BB7-4D05EAA4AB5D}"/>
                </a:ext>
              </a:extLst>
            </p:cNvPr>
            <p:cNvSpPr>
              <a:spLocks noGrp="1"/>
            </p:cNvSpPr>
            <p:nvPr/>
          </p:nvSpPr>
          <p:spPr>
            <a:xfrm>
              <a:off x="2255827" y="5658297"/>
              <a:ext cx="24486" cy="21128"/>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32" name="asset_3169_37">
              <a:extLst>
                <a:ext uri="{FF2B5EF4-FFF2-40B4-BE49-F238E27FC236}">
                  <a16:creationId xmlns:a16="http://schemas.microsoft.com/office/drawing/2014/main" id="{63E248CC-CBFB-793A-4F6D-287617A74C2A}"/>
                </a:ext>
              </a:extLst>
            </p:cNvPr>
            <p:cNvSpPr>
              <a:spLocks noGrp="1"/>
            </p:cNvSpPr>
            <p:nvPr/>
          </p:nvSpPr>
          <p:spPr>
            <a:xfrm>
              <a:off x="2212444" y="5679829"/>
              <a:ext cx="19456" cy="16787"/>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33" name="asset_3169_38">
              <a:extLst>
                <a:ext uri="{FF2B5EF4-FFF2-40B4-BE49-F238E27FC236}">
                  <a16:creationId xmlns:a16="http://schemas.microsoft.com/office/drawing/2014/main" id="{0F2DCCE6-1114-AD9E-B618-42BDE1F77BC0}"/>
                </a:ext>
              </a:extLst>
            </p:cNvPr>
            <p:cNvSpPr>
              <a:spLocks noGrp="1"/>
            </p:cNvSpPr>
            <p:nvPr/>
          </p:nvSpPr>
          <p:spPr>
            <a:xfrm>
              <a:off x="2240936" y="5686210"/>
              <a:ext cx="21405" cy="18469"/>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34" name="asset_3169_39">
              <a:extLst>
                <a:ext uri="{FF2B5EF4-FFF2-40B4-BE49-F238E27FC236}">
                  <a16:creationId xmlns:a16="http://schemas.microsoft.com/office/drawing/2014/main" id="{8291E166-BB82-6470-CC6C-7AE58EF5AA94}"/>
                </a:ext>
              </a:extLst>
            </p:cNvPr>
            <p:cNvSpPr>
              <a:spLocks noGrp="1"/>
            </p:cNvSpPr>
            <p:nvPr/>
          </p:nvSpPr>
          <p:spPr>
            <a:xfrm>
              <a:off x="2265093" y="5678881"/>
              <a:ext cx="26532" cy="22893"/>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95" name="asset_3169_40">
              <a:extLst>
                <a:ext uri="{FF2B5EF4-FFF2-40B4-BE49-F238E27FC236}">
                  <a16:creationId xmlns:a16="http://schemas.microsoft.com/office/drawing/2014/main" id="{00CC15A4-8812-467B-B8CA-FC08B9CB118F}"/>
                </a:ext>
              </a:extLst>
            </p:cNvPr>
            <p:cNvSpPr>
              <a:spLocks noGrp="1"/>
            </p:cNvSpPr>
            <p:nvPr/>
          </p:nvSpPr>
          <p:spPr>
            <a:xfrm>
              <a:off x="2229701" y="5665168"/>
              <a:ext cx="29465" cy="25424"/>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96" name="asset_3169_41">
              <a:extLst>
                <a:ext uri="{FF2B5EF4-FFF2-40B4-BE49-F238E27FC236}">
                  <a16:creationId xmlns:a16="http://schemas.microsoft.com/office/drawing/2014/main" id="{936CC734-B73F-820A-39B1-ECB50EC9167D}"/>
                </a:ext>
              </a:extLst>
            </p:cNvPr>
            <p:cNvSpPr>
              <a:spLocks noGrp="1"/>
            </p:cNvSpPr>
            <p:nvPr/>
          </p:nvSpPr>
          <p:spPr>
            <a:xfrm>
              <a:off x="2222658" y="5680582"/>
              <a:ext cx="27660" cy="23866"/>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307" name="asset_3169_42">
              <a:extLst>
                <a:ext uri="{FF2B5EF4-FFF2-40B4-BE49-F238E27FC236}">
                  <a16:creationId xmlns:a16="http://schemas.microsoft.com/office/drawing/2014/main" id="{87D73A47-1C94-6D21-6A49-A614BEF4177A}"/>
                </a:ext>
              </a:extLst>
            </p:cNvPr>
            <p:cNvSpPr>
              <a:spLocks noGrp="1"/>
            </p:cNvSpPr>
            <p:nvPr/>
          </p:nvSpPr>
          <p:spPr>
            <a:xfrm>
              <a:off x="2243804" y="5697201"/>
              <a:ext cx="17846" cy="15398"/>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308" name="asset_3169_43">
              <a:extLst>
                <a:ext uri="{FF2B5EF4-FFF2-40B4-BE49-F238E27FC236}">
                  <a16:creationId xmlns:a16="http://schemas.microsoft.com/office/drawing/2014/main" id="{F2B22E49-F425-E445-C8B9-C1547BA7168A}"/>
                </a:ext>
              </a:extLst>
            </p:cNvPr>
            <p:cNvSpPr>
              <a:spLocks noGrp="1"/>
            </p:cNvSpPr>
            <p:nvPr/>
          </p:nvSpPr>
          <p:spPr>
            <a:xfrm>
              <a:off x="2262800" y="5690235"/>
              <a:ext cx="21180" cy="18275"/>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309" name="asset_3169_44">
              <a:extLst>
                <a:ext uri="{FF2B5EF4-FFF2-40B4-BE49-F238E27FC236}">
                  <a16:creationId xmlns:a16="http://schemas.microsoft.com/office/drawing/2014/main" id="{504BF96E-560C-8928-7469-DE4C8E2ACAAC}"/>
                </a:ext>
              </a:extLst>
            </p:cNvPr>
            <p:cNvSpPr>
              <a:spLocks noGrp="1"/>
            </p:cNvSpPr>
            <p:nvPr/>
          </p:nvSpPr>
          <p:spPr>
            <a:xfrm>
              <a:off x="2235058" y="5658630"/>
              <a:ext cx="25840" cy="22296"/>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310" name="asset_3169_45">
              <a:extLst>
                <a:ext uri="{FF2B5EF4-FFF2-40B4-BE49-F238E27FC236}">
                  <a16:creationId xmlns:a16="http://schemas.microsoft.com/office/drawing/2014/main" id="{69848E14-777A-09B1-92C4-DD7DFC02FFA0}"/>
                </a:ext>
              </a:extLst>
            </p:cNvPr>
            <p:cNvSpPr>
              <a:spLocks noGrp="1"/>
            </p:cNvSpPr>
            <p:nvPr/>
          </p:nvSpPr>
          <p:spPr>
            <a:xfrm>
              <a:off x="2211228" y="5681493"/>
              <a:ext cx="31451" cy="27137"/>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311" name="asset_3169_46">
              <a:extLst>
                <a:ext uri="{FF2B5EF4-FFF2-40B4-BE49-F238E27FC236}">
                  <a16:creationId xmlns:a16="http://schemas.microsoft.com/office/drawing/2014/main" id="{D53839EA-2821-8C0E-3778-7058F5741515}"/>
                </a:ext>
              </a:extLst>
            </p:cNvPr>
            <p:cNvSpPr>
              <a:spLocks noGrp="1"/>
            </p:cNvSpPr>
            <p:nvPr/>
          </p:nvSpPr>
          <p:spPr>
            <a:xfrm>
              <a:off x="2234524" y="5703451"/>
              <a:ext cx="21739" cy="18757"/>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312" name="asset_3169_47">
              <a:extLst>
                <a:ext uri="{FF2B5EF4-FFF2-40B4-BE49-F238E27FC236}">
                  <a16:creationId xmlns:a16="http://schemas.microsoft.com/office/drawing/2014/main" id="{63F1E76F-28CE-9932-2199-BC0FF40D7BE4}"/>
                </a:ext>
              </a:extLst>
            </p:cNvPr>
            <p:cNvSpPr>
              <a:spLocks noGrp="1"/>
            </p:cNvSpPr>
            <p:nvPr/>
          </p:nvSpPr>
          <p:spPr>
            <a:xfrm>
              <a:off x="2269639" y="5693556"/>
              <a:ext cx="19299" cy="16652"/>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313" name="asset_3169_48">
              <a:extLst>
                <a:ext uri="{FF2B5EF4-FFF2-40B4-BE49-F238E27FC236}">
                  <a16:creationId xmlns:a16="http://schemas.microsoft.com/office/drawing/2014/main" id="{C6E64BD5-E2B0-91E9-00C0-7D0051E9D58E}"/>
                </a:ext>
              </a:extLst>
            </p:cNvPr>
            <p:cNvSpPr>
              <a:spLocks noGrp="1"/>
            </p:cNvSpPr>
            <p:nvPr/>
          </p:nvSpPr>
          <p:spPr>
            <a:xfrm>
              <a:off x="2221813" y="5667367"/>
              <a:ext cx="17021" cy="14686"/>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314" name="asset_3169_49">
              <a:extLst>
                <a:ext uri="{FF2B5EF4-FFF2-40B4-BE49-F238E27FC236}">
                  <a16:creationId xmlns:a16="http://schemas.microsoft.com/office/drawing/2014/main" id="{12382973-5875-7ADC-FFAD-7DD775B01552}"/>
                </a:ext>
              </a:extLst>
            </p:cNvPr>
            <p:cNvSpPr>
              <a:spLocks noGrp="1"/>
            </p:cNvSpPr>
            <p:nvPr/>
          </p:nvSpPr>
          <p:spPr>
            <a:xfrm>
              <a:off x="2208530" y="5668919"/>
              <a:ext cx="27524" cy="23749"/>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315" name="asset_3169_50">
              <a:extLst>
                <a:ext uri="{FF2B5EF4-FFF2-40B4-BE49-F238E27FC236}">
                  <a16:creationId xmlns:a16="http://schemas.microsoft.com/office/drawing/2014/main" id="{7DDC10DB-C444-F5CD-0129-35B9AD9D884A}"/>
                </a:ext>
              </a:extLst>
            </p:cNvPr>
            <p:cNvSpPr>
              <a:spLocks noGrp="1"/>
            </p:cNvSpPr>
            <p:nvPr/>
          </p:nvSpPr>
          <p:spPr>
            <a:xfrm>
              <a:off x="2251433" y="5689815"/>
              <a:ext cx="17431" cy="15040"/>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316" name="asset_3169_51">
              <a:extLst>
                <a:ext uri="{FF2B5EF4-FFF2-40B4-BE49-F238E27FC236}">
                  <a16:creationId xmlns:a16="http://schemas.microsoft.com/office/drawing/2014/main" id="{94705187-375C-25D8-C64A-F40078E941FA}"/>
                </a:ext>
              </a:extLst>
            </p:cNvPr>
            <p:cNvSpPr>
              <a:spLocks noGrp="1"/>
            </p:cNvSpPr>
            <p:nvPr/>
          </p:nvSpPr>
          <p:spPr>
            <a:xfrm>
              <a:off x="2187720" y="5657778"/>
              <a:ext cx="125096" cy="109062"/>
            </a:xfrm>
            <a:custGeom>
              <a:avLst/>
              <a:gdLst/>
              <a:ahLst/>
              <a:cxnLst/>
              <a:rect l="0" t="0" r="0" b="0"/>
              <a:pathLst>
                <a:path w="125096" h="109062">
                  <a:moveTo>
                    <a:pt x="0" y="0"/>
                  </a:moveTo>
                  <a:lnTo>
                    <a:pt x="125096" y="0"/>
                  </a:lnTo>
                  <a:lnTo>
                    <a:pt x="125096" y="109062"/>
                  </a:lnTo>
                  <a:lnTo>
                    <a:pt x="0" y="109062"/>
                  </a:lnTo>
                  <a:close/>
                </a:path>
              </a:pathLst>
            </a:custGeom>
            <a:noFill/>
            <a:ln w="3600">
              <a:solidFill>
                <a:srgbClr val="8AB3D9"/>
              </a:solidFill>
            </a:ln>
          </p:spPr>
        </p:sp>
      </p:grpSp>
      <p:sp>
        <p:nvSpPr>
          <p:cNvPr id="317" name="TextBox 12306">
            <a:extLst>
              <a:ext uri="{FF2B5EF4-FFF2-40B4-BE49-F238E27FC236}">
                <a16:creationId xmlns:a16="http://schemas.microsoft.com/office/drawing/2014/main" id="{A9A2FE46-9DB2-C394-A335-B77AF065D042}"/>
              </a:ext>
            </a:extLst>
          </p:cNvPr>
          <p:cNvSpPr txBox="1"/>
          <p:nvPr/>
        </p:nvSpPr>
        <p:spPr>
          <a:xfrm>
            <a:off x="5276711" y="1960854"/>
            <a:ext cx="819150" cy="93744"/>
          </a:xfrm>
          <a:prstGeom prst="rect">
            <a:avLst/>
          </a:prstGeom>
          <a:solidFill>
            <a:schemeClr val="bg1"/>
          </a:solidFill>
        </p:spPr>
        <p:txBody>
          <a:bodyPr wrap="square" lIns="0" tIns="0" rIns="0" bIns="0" anchor="ctr">
            <a:spAutoFit/>
          </a:bodyPr>
          <a:lstStyle/>
          <a:p>
            <a:pPr algn="l">
              <a:lnSpc>
                <a:spcPct val="105000"/>
              </a:lnSpc>
            </a:pPr>
            <a:r>
              <a:rPr sz="623" b="1" dirty="0" err="1">
                <a:solidFill>
                  <a:srgbClr val="263442"/>
                </a:solidFill>
                <a:latin typeface="Arial"/>
              </a:rPr>
              <a:t>DG-PocketXMol</a:t>
            </a:r>
            <a:endParaRPr sz="623" b="1" dirty="0">
              <a:solidFill>
                <a:srgbClr val="263442"/>
              </a:solidFill>
              <a:latin typeface="Arial"/>
            </a:endParaRPr>
          </a:p>
        </p:txBody>
      </p:sp>
      <p:sp>
        <p:nvSpPr>
          <p:cNvPr id="318" name="TextBox 12307">
            <a:extLst>
              <a:ext uri="{FF2B5EF4-FFF2-40B4-BE49-F238E27FC236}">
                <a16:creationId xmlns:a16="http://schemas.microsoft.com/office/drawing/2014/main" id="{3755CE78-F54B-ED16-5395-122A19B01D25}"/>
              </a:ext>
            </a:extLst>
          </p:cNvPr>
          <p:cNvSpPr txBox="1"/>
          <p:nvPr/>
        </p:nvSpPr>
        <p:spPr>
          <a:xfrm>
            <a:off x="5277204" y="2115727"/>
            <a:ext cx="819150" cy="163763"/>
          </a:xfrm>
          <a:prstGeom prst="rect">
            <a:avLst/>
          </a:prstGeom>
          <a:solidFill>
            <a:schemeClr val="bg1"/>
          </a:solidFill>
        </p:spPr>
        <p:txBody>
          <a:bodyPr wrap="square" lIns="0" tIns="0" rIns="0" bIns="0" anchor="ctr">
            <a:spAutoFit/>
          </a:bodyPr>
          <a:lstStyle/>
          <a:p>
            <a:pPr algn="l">
              <a:lnSpc>
                <a:spcPct val="96000"/>
              </a:lnSpc>
            </a:pPr>
            <a:r>
              <a:rPr sz="554" dirty="0">
                <a:solidFill>
                  <a:srgbClr val="263442"/>
                </a:solidFill>
                <a:latin typeface="Arial"/>
              </a:rPr>
              <a:t>Density-conditioned</a:t>
            </a:r>
            <a:endParaRPr lang="en-US" sz="554" dirty="0">
              <a:solidFill>
                <a:srgbClr val="263442"/>
              </a:solidFill>
              <a:latin typeface="Arial"/>
            </a:endParaRPr>
          </a:p>
          <a:p>
            <a:pPr algn="l">
              <a:lnSpc>
                <a:spcPct val="96000"/>
              </a:lnSpc>
            </a:pPr>
            <a:r>
              <a:rPr sz="554" dirty="0">
                <a:solidFill>
                  <a:srgbClr val="263442"/>
                </a:solidFill>
                <a:latin typeface="Arial"/>
              </a:rPr>
              <a:t>fine-tuning</a:t>
            </a:r>
          </a:p>
        </p:txBody>
      </p:sp>
      <p:sp>
        <p:nvSpPr>
          <p:cNvPr id="319" name="文本框 318">
            <a:extLst>
              <a:ext uri="{FF2B5EF4-FFF2-40B4-BE49-F238E27FC236}">
                <a16:creationId xmlns:a16="http://schemas.microsoft.com/office/drawing/2014/main" id="{F28D520A-1C58-6B18-FD54-EF16C83E921D}"/>
              </a:ext>
            </a:extLst>
          </p:cNvPr>
          <p:cNvSpPr txBox="1"/>
          <p:nvPr/>
        </p:nvSpPr>
        <p:spPr>
          <a:xfrm>
            <a:off x="5541145" y="3396595"/>
            <a:ext cx="369012" cy="246221"/>
          </a:xfrm>
          <a:prstGeom prst="rect">
            <a:avLst/>
          </a:prstGeom>
          <a:noFill/>
        </p:spPr>
        <p:txBody>
          <a:bodyPr wrap="none" rtlCol="0">
            <a:spAutoFit/>
          </a:bodyPr>
          <a:lstStyle/>
          <a:p>
            <a:r>
              <a:rPr lang="en-US" altLang="zh-CN" sz="1000" dirty="0"/>
              <a:t>……</a:t>
            </a:r>
            <a:endParaRPr lang="zh-CN" altLang="en-US" sz="1000" dirty="0"/>
          </a:p>
        </p:txBody>
      </p:sp>
      <p:pic>
        <p:nvPicPr>
          <p:cNvPr id="50432" name="图片 50431">
            <a:extLst>
              <a:ext uri="{FF2B5EF4-FFF2-40B4-BE49-F238E27FC236}">
                <a16:creationId xmlns:a16="http://schemas.microsoft.com/office/drawing/2014/main" id="{010BC5E9-89E5-40CB-9E7F-2CF9D5CEFA7F}"/>
              </a:ext>
            </a:extLst>
          </p:cNvPr>
          <p:cNvPicPr>
            <a:picLocks noChangeAspect="1"/>
          </p:cNvPicPr>
          <p:nvPr/>
        </p:nvPicPr>
        <p:blipFill>
          <a:blip r:embed="rId13"/>
          <a:stretch/>
        </p:blipFill>
        <p:spPr>
          <a:xfrm>
            <a:off x="5109601" y="3645105"/>
            <a:ext cx="814847" cy="588501"/>
          </a:xfrm>
          <a:prstGeom prst="rect">
            <a:avLst/>
          </a:prstGeom>
        </p:spPr>
      </p:pic>
    </p:spTree>
    <p:extLst>
      <p:ext uri="{BB962C8B-B14F-4D97-AF65-F5344CB8AC3E}">
        <p14:creationId xmlns:p14="http://schemas.microsoft.com/office/powerpoint/2010/main" val="2839968219"/>
      </p:ext>
    </p:extLst>
  </p:cSld>
  <p:clrMapOvr>
    <a:masterClrMapping/>
  </p:clrMapOvr>
  <p:extLst>
    <p:ext uri="{6950BFC3-D8DA-4A85-94F7-54DA5524770B}">
      <p188:commentRel xmlns:p188="http://schemas.microsoft.com/office/powerpoint/2018/8/main" r:id="rId3"/>
    </p:ext>
  </p:extLst>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2007</TotalTime>
  <Words>3193</Words>
  <Application>Microsoft Office PowerPoint</Application>
  <DocSecurity>0</DocSecurity>
  <PresentationFormat>自定义</PresentationFormat>
  <Paragraphs>668</Paragraphs>
  <Slides>11</Slides>
  <Notes>11</Notes>
  <HiddenSlides>0</HiddenSlides>
  <MMClips>0</MMClips>
  <ScaleCrop>false</ScaleCrop>
  <HeadingPairs>
    <vt:vector size="6" baseType="variant">
      <vt:variant>
        <vt:lpstr>已用的字体</vt:lpstr>
      </vt:variant>
      <vt:variant>
        <vt:i4>3</vt:i4>
      </vt:variant>
      <vt:variant>
        <vt:lpstr>主题</vt:lpstr>
      </vt:variant>
      <vt:variant>
        <vt:i4>1</vt:i4>
      </vt:variant>
      <vt:variant>
        <vt:lpstr>幻灯片标题</vt:lpstr>
      </vt:variant>
      <vt:variant>
        <vt:i4>11</vt:i4>
      </vt:variant>
    </vt:vector>
  </HeadingPairs>
  <TitlesOfParts>
    <vt:vector size="15" baseType="lpstr">
      <vt:lpstr>Arial</vt:lpstr>
      <vt:lpstr>Calibri</vt:lpstr>
      <vt:lpstr>Times New Roman</vt:lpstr>
      <vt:lpstr>ChatGPT</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Hongen Peng</cp:lastModifiedBy>
  <cp:revision>201</cp:revision>
  <dcterms:created xsi:type="dcterms:W3CDTF">2026-10-01T15:00:20Z</dcterms:created>
  <dcterms:modified xsi:type="dcterms:W3CDTF">2026-10-29T13:58:14Z</dcterms:modified>
</cp:coreProperties>
</file>