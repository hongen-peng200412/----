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5946" autoAdjust="0"/>
  </p:normalViewPr>
  <p:slideViewPr>
    <p:cSldViewPr snapToGrid="0">
      <p:cViewPr varScale="1">
        <p:scale>
          <a:sx n="76" d="100"/>
          <a:sy n="76" d="100"/>
        </p:scale>
        <p:origin x="600"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pPr marL="0" algn="l" defTabSz="914400" rtl="0" eaLnBrk="1" latinLnBrk="0" hangingPunct="1"/>
            <a:r>
              <a:rPr lang="en-US" altLang="zh-CN" sz="1200" kern="1200" dirty="0"/>
              <a:t>Find–Match–Build </a:t>
            </a:r>
            <a:r>
              <a:rPr lang="zh-CN" altLang="en-US" sz="1200" kern="1200" dirty="0"/>
              <a:t>框架的网络架构与数据流。</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kern="1200" dirty="0"/>
              <a:t>a</a:t>
            </a:r>
            <a:r>
              <a:rPr lang="zh-CN" altLang="en-US" sz="1200" b="1" kern="1200" dirty="0"/>
              <a:t>，</a:t>
            </a:r>
            <a:r>
              <a:rPr lang="zh-CN" altLang="en-US" sz="1200" kern="1200" dirty="0"/>
              <a:t>共享输入表示。密度信息首先表示为实验冷冻电镜密度 </a:t>
            </a:r>
            <a:r>
              <a:rPr lang="en-US" altLang="zh-CN" sz="1200" kern="1200" dirty="0" err="1"/>
              <a:t>M_exp</a:t>
            </a:r>
            <a:r>
              <a:rPr lang="zh-CN" altLang="en-US" sz="1200" kern="1200" dirty="0"/>
              <a:t>、受体结构模拟密度 </a:t>
            </a:r>
            <a:r>
              <a:rPr lang="en-US" altLang="zh-CN" sz="1200" kern="1200" dirty="0" err="1"/>
              <a:t>M_sim</a:t>
            </a:r>
            <a:r>
              <a:rPr lang="zh-CN" altLang="en-US" sz="1200" kern="1200" dirty="0"/>
              <a:t>、差密度 </a:t>
            </a:r>
            <a:r>
              <a:rPr lang="en-US" altLang="zh-CN" sz="1200" kern="1200" dirty="0" err="1"/>
              <a:t>M_diff</a:t>
            </a:r>
            <a:r>
              <a:rPr lang="en-US" altLang="zh-CN" sz="1200" kern="1200" dirty="0"/>
              <a:t> </a:t>
            </a:r>
            <a:r>
              <a:rPr lang="zh-CN" altLang="en-US" sz="1200" kern="1200" dirty="0"/>
              <a:t>以及正差密度 </a:t>
            </a:r>
            <a:r>
              <a:rPr lang="en-US" altLang="zh-CN" sz="1200" kern="1200" dirty="0" err="1"/>
              <a:t>M_diff</a:t>
            </a:r>
            <a:r>
              <a:rPr lang="en-US" altLang="zh-CN" sz="1200" kern="1200" dirty="0"/>
              <a:t>⁺ </a:t>
            </a:r>
            <a:r>
              <a:rPr lang="zh-CN" altLang="en-US" sz="1200" kern="1200" dirty="0"/>
              <a:t>四个基础密度场。各密度场</a:t>
            </a:r>
            <a:r>
              <a:rPr lang="zh-CN" altLang="en-US" sz="1200" b="0" kern="1200" dirty="0">
                <a:effectLst/>
              </a:rPr>
              <a:t>同</a:t>
            </a:r>
            <a:r>
              <a:rPr lang="zh-CN" altLang="zh-CN" sz="1200" b="0" kern="1200" dirty="0">
                <a:effectLst/>
              </a:rPr>
              <a:t>时保留未归一化表示和 Z-score 归一化表示</a:t>
            </a:r>
            <a:r>
              <a:rPr lang="zh-CN" altLang="en-US" sz="1200" kern="1200" dirty="0"/>
              <a:t>，并结合恒等映射、三维高斯平滑、差分高斯（</a:t>
            </a:r>
            <a:r>
              <a:rPr lang="en-US" altLang="zh-CN" sz="1200" kern="1200" dirty="0" err="1"/>
              <a:t>DoG</a:t>
            </a:r>
            <a:r>
              <a:rPr lang="zh-CN" altLang="en-US" sz="1200" kern="1200" dirty="0"/>
              <a:t>）滤波与受体邻域抑制等七种确定性空间变换，构建出覆盖多尺度几何与局部背景的 </a:t>
            </a:r>
            <a:r>
              <a:rPr lang="en-US" altLang="zh-CN" sz="1200" kern="1200" dirty="0"/>
              <a:t>56 </a:t>
            </a:r>
            <a:r>
              <a:rPr lang="zh-CN" altLang="en-US" sz="1200" kern="1200" dirty="0"/>
              <a:t>通道密度通道库。蛋白核酸受体原子统一采用 </a:t>
            </a:r>
            <a:r>
              <a:rPr lang="en-US" altLang="zh-CN" sz="1200" kern="1200" dirty="0"/>
              <a:t>50 </a:t>
            </a:r>
            <a:r>
              <a:rPr lang="zh-CN" altLang="en-US" sz="1200" kern="1200" dirty="0"/>
              <a:t>维特征向量表示，包含元素种类、残基类别、理化性质、相对质量、同心壳层局部堆积密度及主链标记。</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kern="1200" dirty="0"/>
              <a:t>b</a:t>
            </a:r>
            <a:r>
              <a:rPr lang="zh-CN" altLang="en-US" sz="1200" b="1" kern="1200" dirty="0"/>
              <a:t>，</a:t>
            </a:r>
            <a:r>
              <a:rPr lang="en-US" altLang="zh-CN" sz="1200" kern="1200" dirty="0"/>
              <a:t>Find </a:t>
            </a:r>
            <a:r>
              <a:rPr lang="zh-CN" altLang="en-US" sz="1200" kern="1200" dirty="0"/>
              <a:t>阶段体素</a:t>
            </a:r>
            <a:r>
              <a:rPr lang="en-US" altLang="zh-CN" sz="1200" kern="1200" dirty="0"/>
              <a:t>–</a:t>
            </a:r>
            <a:r>
              <a:rPr lang="zh-CN" altLang="en-US" sz="1200" kern="1200" dirty="0"/>
              <a:t>点云联合定位网络。体素分支通过 </a:t>
            </a:r>
            <a:r>
              <a:rPr lang="en-US" altLang="zh-CN" sz="1200" kern="1200" dirty="0"/>
              <a:t>3D</a:t>
            </a:r>
            <a:r>
              <a:rPr lang="zh-CN" altLang="en-US" sz="1200" kern="1200" dirty="0"/>
              <a:t> </a:t>
            </a:r>
            <a:r>
              <a:rPr lang="en-US" altLang="zh-CN" sz="1200" kern="1200" dirty="0"/>
              <a:t>U-Net </a:t>
            </a:r>
            <a:r>
              <a:rPr lang="zh-CN" altLang="en-US" sz="1200" kern="1200" dirty="0"/>
              <a:t>来融合 </a:t>
            </a:r>
            <a:r>
              <a:rPr lang="en-US" altLang="zh-CN" sz="1200" kern="1200" dirty="0"/>
              <a:t>56 </a:t>
            </a:r>
            <a:r>
              <a:rPr lang="zh-CN" altLang="en-US" sz="1200" kern="1200" dirty="0"/>
              <a:t>通道密度特征以及经过编码的受体原子特征，并低分辨率瓶颈层执行自注意力运算建立长程依赖，主解码头预测逐体素配体区域概率。点云分支采用 </a:t>
            </a:r>
            <a:r>
              <a:rPr lang="en-US" altLang="zh-CN" sz="1200" kern="1200" dirty="0"/>
              <a:t>Point Transformer V3</a:t>
            </a:r>
            <a:r>
              <a:rPr lang="zh-CN" altLang="en-US" sz="1200" kern="1200" dirty="0"/>
              <a:t>，对受体原子与从结合区域高概率区采样的伪原子进行几何与化学编码，并通过多尺度特征采样感知体素分支的信息，输出的受体原子结合概率被用于推理时候选 </a:t>
            </a:r>
            <a:r>
              <a:rPr lang="en-US" altLang="zh-CN" sz="1200" kern="1200" dirty="0"/>
              <a:t>blob </a:t>
            </a:r>
            <a:r>
              <a:rPr lang="zh-CN" altLang="en-US" sz="1200" kern="1200" dirty="0"/>
              <a:t>的打分。体素分支和点云分支通过 </a:t>
            </a:r>
            <a:r>
              <a:rPr lang="en-US" altLang="zh-CN" sz="1200" kern="1200" dirty="0"/>
              <a:t>AlphaFold3 </a:t>
            </a:r>
            <a:r>
              <a:rPr lang="zh-CN" altLang="en-US" sz="1200" kern="1200" dirty="0"/>
              <a:t>风格的 </a:t>
            </a:r>
            <a:r>
              <a:rPr lang="en-US" altLang="zh-CN" sz="1200" kern="1200" dirty="0"/>
              <a:t>Recycle</a:t>
            </a:r>
            <a:r>
              <a:rPr lang="zh-CN" altLang="en-US" sz="1200" kern="1200" dirty="0"/>
              <a:t> 机制预测效果的迭代改进。</a:t>
            </a:r>
            <a:r>
              <a:rPr lang="zh-CN" altLang="zh-CN" dirty="0"/>
              <a:t>候选区域（blob）和伪原子为</a:t>
            </a:r>
            <a:r>
              <a:rPr lang="zh-CN" altLang="en-US" dirty="0"/>
              <a:t>后续的</a:t>
            </a:r>
            <a:r>
              <a:rPr lang="zh-CN" altLang="zh-CN" dirty="0"/>
              <a:t> Match 提供局部线索。</a:t>
            </a:r>
            <a:endParaRPr lang="zh-CN" altLang="en-US" sz="1200" kern="1200" dirty="0"/>
          </a:p>
          <a:p>
            <a:pPr marL="0" algn="l" defTabSz="914400" rtl="0" eaLnBrk="1" latinLnBrk="0" hangingPunct="1"/>
            <a:r>
              <a:rPr lang="en-US" altLang="zh-CN" sz="1200" b="1" kern="1200" dirty="0"/>
              <a:t>c</a:t>
            </a:r>
            <a:r>
              <a:rPr lang="zh-CN" altLang="en-US" sz="1200" b="1" kern="1200" dirty="0"/>
              <a:t>，</a:t>
            </a:r>
            <a:r>
              <a:rPr lang="en-US" altLang="zh-CN" sz="1200" kern="1200" dirty="0"/>
              <a:t>Match </a:t>
            </a:r>
            <a:r>
              <a:rPr lang="zh-CN" altLang="en-US" sz="1200" kern="1200" dirty="0"/>
              <a:t>阶段候选区域的前景判别与配体身份指派。候选编码器以预测 </a:t>
            </a:r>
            <a:r>
              <a:rPr lang="en-US" altLang="zh-CN" sz="1200" kern="1200" dirty="0"/>
              <a:t>blob </a:t>
            </a:r>
            <a:r>
              <a:rPr lang="zh-CN" altLang="en-US" sz="1200" kern="1200" dirty="0"/>
              <a:t>的几何中心向外截取 </a:t>
            </a:r>
            <a:r>
              <a:rPr lang="en-US" altLang="zh-CN" sz="1200" kern="1200" dirty="0"/>
              <a:t>48³ </a:t>
            </a:r>
            <a:r>
              <a:rPr lang="zh-CN" altLang="en-US" sz="1200" kern="1200" dirty="0"/>
              <a:t>局部网格，经 </a:t>
            </a:r>
            <a:r>
              <a:rPr lang="en-US" altLang="zh-CN" sz="1200" kern="1200" dirty="0"/>
              <a:t>U-Net </a:t>
            </a:r>
            <a:r>
              <a:rPr lang="zh-CN" altLang="en-US" sz="1200" kern="1200" dirty="0"/>
              <a:t>提取体素基础摘要向量 </a:t>
            </a:r>
            <a:r>
              <a:rPr lang="en-US" altLang="zh-CN" sz="1200" kern="1200" dirty="0" err="1"/>
              <a:t>h_j^vox</a:t>
            </a:r>
            <a:r>
              <a:rPr lang="zh-CN" altLang="en-US" sz="1200" kern="1200" dirty="0"/>
              <a:t>；来自 </a:t>
            </a:r>
            <a:r>
              <a:rPr lang="en-US" altLang="zh-CN" sz="1200" kern="1200" dirty="0"/>
              <a:t>Find </a:t>
            </a:r>
            <a:r>
              <a:rPr lang="zh-CN" altLang="en-US" sz="1200" kern="1200" dirty="0"/>
              <a:t>阶段的候选 </a:t>
            </a:r>
            <a:r>
              <a:rPr lang="en-US" altLang="zh-CN" sz="1200" kern="1200" dirty="0"/>
              <a:t>blob </a:t>
            </a:r>
            <a:r>
              <a:rPr lang="zh-CN" altLang="en-US" sz="1200" kern="1200" dirty="0"/>
              <a:t>特征、局部结合口袋以及伪原子特征，经双重池化与交叉注意力汇总后，通过特征线性调制（</a:t>
            </a:r>
            <a:r>
              <a:rPr lang="en-US" altLang="zh-CN" sz="1200" kern="1200" dirty="0" err="1"/>
              <a:t>FiLM</a:t>
            </a:r>
            <a:r>
              <a:rPr lang="zh-CN" altLang="en-US" sz="1200" kern="1200" dirty="0"/>
              <a:t>）自适应增强 </a:t>
            </a:r>
            <a:r>
              <a:rPr lang="en-US" altLang="zh-CN" sz="1200" kern="1200" dirty="0" err="1"/>
              <a:t>h_j^vox</a:t>
            </a:r>
            <a:r>
              <a:rPr lang="zh-CN" altLang="en-US" sz="1200" kern="1200" dirty="0"/>
              <a:t>，得到候选表征 </a:t>
            </a:r>
            <a:r>
              <a:rPr lang="en-US" altLang="zh-CN" sz="1200" kern="1200" dirty="0" err="1"/>
              <a:t>h_j</a:t>
            </a:r>
            <a:r>
              <a:rPr lang="zh-CN" altLang="en-US" sz="1200" kern="1200" dirty="0"/>
              <a:t>。身份编码器以配体语言模型 </a:t>
            </a:r>
            <a:r>
              <a:rPr lang="en-US" altLang="zh-CN" sz="1200" kern="1200" dirty="0"/>
              <a:t>SMI-TED </a:t>
            </a:r>
            <a:r>
              <a:rPr lang="zh-CN" altLang="en-US" sz="1200" kern="1200" dirty="0"/>
              <a:t>的嵌入为</a:t>
            </a:r>
            <a:r>
              <a:rPr lang="en-US" altLang="zh-CN" sz="1200" kern="1200" dirty="0"/>
              <a:t>query</a:t>
            </a:r>
            <a:r>
              <a:rPr lang="zh-CN" altLang="en-US" sz="1200" kern="1200" dirty="0"/>
              <a:t>，一方面通过图注意力，融合经过 </a:t>
            </a:r>
            <a:r>
              <a:rPr lang="en-US" altLang="zh-CN" sz="1200" kern="1200" dirty="0" err="1"/>
              <a:t>RDKit</a:t>
            </a:r>
            <a:r>
              <a:rPr lang="en-US" altLang="zh-CN" sz="1200" kern="1200" dirty="0"/>
              <a:t> </a:t>
            </a:r>
            <a:r>
              <a:rPr lang="zh-CN" altLang="en-US" sz="1200" kern="1200" dirty="0"/>
              <a:t>构建、</a:t>
            </a:r>
            <a:r>
              <a:rPr lang="en-US" altLang="zh-CN" sz="1200" kern="1200" dirty="0"/>
              <a:t>GNN</a:t>
            </a:r>
            <a:r>
              <a:rPr lang="zh-CN" altLang="en-US" sz="1200" kern="1200" dirty="0"/>
              <a:t>编码的自身分子图特征，另一方面通过背景注意力融合同一 </a:t>
            </a:r>
            <a:r>
              <a:rPr lang="en-US" altLang="zh-CN" sz="1200" kern="1200" dirty="0"/>
              <a:t>PDB </a:t>
            </a:r>
            <a:r>
              <a:rPr lang="zh-CN" altLang="en-US" sz="1200" kern="1200" dirty="0"/>
              <a:t>内其余配体身份的上下文信息，得到身份表征 </a:t>
            </a:r>
            <a:r>
              <a:rPr lang="en-US" altLang="zh-CN" sz="1200" kern="1200" dirty="0" err="1"/>
              <a:t>g_k</a:t>
            </a:r>
            <a:r>
              <a:rPr lang="zh-CN" altLang="en-US" sz="1200" kern="1200" dirty="0"/>
              <a:t>。最后，前景头根据候选表征 </a:t>
            </a:r>
            <a:r>
              <a:rPr lang="en-US" altLang="zh-CN" sz="1200" kern="1200" dirty="0" err="1"/>
              <a:t>h_j</a:t>
            </a:r>
            <a:r>
              <a:rPr lang="en-US" altLang="zh-CN" sz="1200" kern="1200" dirty="0"/>
              <a:t> </a:t>
            </a:r>
            <a:r>
              <a:rPr lang="zh-CN" altLang="en-US" sz="1200" kern="1200" dirty="0"/>
              <a:t>输出候选的前景概率 </a:t>
            </a:r>
            <a:r>
              <a:rPr lang="en-US" altLang="zh-CN" sz="1200" kern="1200" dirty="0" err="1"/>
              <a:t>p_j^fg</a:t>
            </a:r>
            <a:r>
              <a:rPr lang="zh-CN" altLang="en-US" sz="1200" kern="1200" dirty="0"/>
              <a:t>，同时候选表征 </a:t>
            </a:r>
            <a:r>
              <a:rPr lang="en-US" altLang="zh-CN" sz="1200" kern="1200" dirty="0" err="1"/>
              <a:t>h_j</a:t>
            </a:r>
            <a:r>
              <a:rPr lang="zh-CN" altLang="en-US" sz="1200" kern="1200" dirty="0"/>
              <a:t>和身份表征 </a:t>
            </a:r>
            <a:r>
              <a:rPr lang="en-US" altLang="zh-CN" sz="1200" kern="1200" dirty="0" err="1"/>
              <a:t>g_k</a:t>
            </a:r>
            <a:r>
              <a:rPr lang="zh-CN" altLang="en-US" sz="1200" kern="1200" dirty="0"/>
              <a:t>经过可学习的线性投影与余弦相似度计算，生成 </a:t>
            </a:r>
            <a:r>
              <a:rPr lang="en-US" altLang="zh-CN" sz="1200" kern="1200" dirty="0"/>
              <a:t>J × K </a:t>
            </a:r>
            <a:r>
              <a:rPr lang="zh-CN" altLang="en-US" sz="1200" kern="1200" dirty="0"/>
              <a:t>维配体分配分数矩阵 </a:t>
            </a:r>
            <a:r>
              <a:rPr lang="en-US" altLang="zh-CN" sz="1200" kern="1200" dirty="0" err="1"/>
              <a:t>s_j,k</a:t>
            </a:r>
            <a:r>
              <a:rPr lang="zh-CN" altLang="en-US" sz="1200" kern="1200" dirty="0"/>
              <a:t>。</a:t>
            </a:r>
          </a:p>
          <a:p>
            <a:pPr marL="0" algn="l" defTabSz="914400" rtl="0" eaLnBrk="1" latinLnBrk="0" hangingPunct="1"/>
            <a:r>
              <a:rPr lang="en-US" altLang="zh-CN" sz="1200" b="1" kern="1200" dirty="0"/>
              <a:t>d</a:t>
            </a:r>
            <a:r>
              <a:rPr lang="zh-CN" altLang="en-US" sz="1200" b="1" kern="1200" dirty="0"/>
              <a:t>，</a:t>
            </a:r>
            <a:r>
              <a:rPr lang="en-US" altLang="zh-CN" sz="1200" kern="1200" dirty="0"/>
              <a:t>Build </a:t>
            </a:r>
            <a:r>
              <a:rPr lang="zh-CN" altLang="en-US" sz="1200" kern="1200" dirty="0"/>
              <a:t>阶段的构象重建。将 </a:t>
            </a:r>
            <a:r>
              <a:rPr lang="en-US" altLang="zh-CN" sz="1200" kern="1200" dirty="0"/>
              <a:t>Find </a:t>
            </a:r>
            <a:r>
              <a:rPr lang="zh-CN" altLang="en-US" sz="1200" kern="1200" dirty="0"/>
              <a:t>预测的候选结合位点 </a:t>
            </a:r>
            <a:r>
              <a:rPr lang="en-US" altLang="zh-CN" sz="1200" kern="1200" dirty="0"/>
              <a:t>p</a:t>
            </a:r>
            <a:r>
              <a:rPr lang="zh-CN" altLang="en-US" sz="1200" kern="1200" dirty="0"/>
              <a:t>（</a:t>
            </a:r>
            <a:r>
              <a:rPr lang="en-US" altLang="zh-CN" sz="1200" kern="1200" dirty="0"/>
              <a:t>blob </a:t>
            </a:r>
            <a:r>
              <a:rPr lang="zh-CN" altLang="en-US" sz="1200" kern="1200" dirty="0"/>
              <a:t>几何中心）、</a:t>
            </a:r>
            <a:r>
              <a:rPr lang="en-US" altLang="zh-CN" sz="1200" kern="1200" dirty="0"/>
              <a:t>Match </a:t>
            </a:r>
            <a:r>
              <a:rPr lang="zh-CN" altLang="en-US" sz="1200" kern="1200" dirty="0"/>
              <a:t>赋予的配体身份，以及受体口袋环境传入下游分子对接工具，输出配体的全原子三维构象。默认采用密度引导微调的 </a:t>
            </a:r>
            <a:r>
              <a:rPr lang="en-US" altLang="zh-CN" sz="1200" kern="1200" dirty="0" err="1"/>
              <a:t>PocketXMol</a:t>
            </a:r>
            <a:r>
              <a:rPr lang="zh-CN" altLang="en-US" sz="1200" kern="1200" dirty="0"/>
              <a:t>，同时也可以使用 </a:t>
            </a:r>
            <a:r>
              <a:rPr lang="en-US" altLang="zh-CN" sz="1200" kern="1200" dirty="0"/>
              <a:t>Vina</a:t>
            </a:r>
            <a:r>
              <a:rPr lang="zh-CN" altLang="en-US" sz="1200" kern="1200" dirty="0"/>
              <a:t>、</a:t>
            </a:r>
            <a:r>
              <a:rPr lang="en-US" altLang="zh-CN" sz="1200" kern="1200" dirty="0" err="1"/>
              <a:t>DiffDock</a:t>
            </a:r>
            <a:r>
              <a:rPr lang="en-US" altLang="zh-CN" sz="1200" kern="1200" dirty="0"/>
              <a:t> </a:t>
            </a:r>
            <a:r>
              <a:rPr lang="zh-CN" altLang="en-US" sz="1200" kern="1200" dirty="0"/>
              <a:t>及 </a:t>
            </a:r>
            <a:r>
              <a:rPr lang="en-US" altLang="zh-CN" sz="1200" kern="1200" dirty="0"/>
              <a:t>EMERALD </a:t>
            </a:r>
            <a:r>
              <a:rPr lang="zh-CN" altLang="en-US" sz="1200" kern="1200" dirty="0"/>
              <a:t>等其他分子对接工具。</a:t>
            </a:r>
          </a:p>
          <a:p>
            <a:r>
              <a:t>ENGLISH：</a:t>
            </a:r>
          </a:p>
          <a:p>
            <a:r>
              <a:t>Network architecture and data flow of the Find–Match–Build framework.</a:t>
            </a:r>
          </a:p>
          <a:p>
            <a:r>
              <a:t>a, Shared input representation. Density information is represented by four base density fields: experimental cryo-EM density $M_{\mathrm{exp}}$, simulated receptor density $M_{\mathrm{sim}}$, difference density $M_{\mathrm{diff}}$ and positive difference density $M_{\mathrm{diff}}^{+}$. Each field retains both an unnormalised representation and a z-score-normalised representation. Seven deterministic spatial transformations comprise identity mapping, three-dimensional Gaussian smoothing, difference-of-Gaussians (DoG) filtering and receptor-neighbourhood suppression. These representations and transformations form a 56-channel multi-view density bank that captures multiscale geometry and local background. Protein and nucleic acid receptor atoms are represented by 50-dimensional feature vectors. These encode element type, residue category, physicochemical properties, relative mass, local packing density within concentric shells and backbone indicators.</a:t>
            </a:r>
          </a:p>
          <a:p>
            <a:r>
              <a:t>b, Joint voxel and point-cloud localisation in Find. The voxel branch uses a 3D U-Net to fuse the 56-channel density features with encoded receptor-atom features. Self-attention at the low-resolution bottleneck establishes long-range dependencies, and the main decoder head predicts voxelwise ligand-region probabilities. The point-cloud branch uses Point Transformer V3 to encode the geometry and chemistry of receptor atoms and pseudo-atoms sampled from high-probability binding regions. Multiscale feature sampling incorporates information from the voxel branch. Predicted receptor-atom binding probabilities are used to score candidate ligand regions (blobs) during inference. An AlphaFold3-style recycling mechanism iteratively improves predictions across the voxel and point-cloud branches. Blobs and pseudo-atoms provide local cues for Match.</a:t>
            </a:r>
          </a:p>
          <a:p>
            <a:r>
              <a:t>c, Foreground classification and ligand identity assignment in Match. The candidate encoder extracts a 48³ local grid centred on the geometric centre of each predicted blob. A U-Net produces the base voxel summary vector $h_j^{\mathrm{vox}}$. Find-derived blob features, the local binding pocket and pseudo-atom features are summarised by dual pooling and cross-attention. Feature-wise linear modulation (FiLM) adaptively enhances $h_j^{\mathrm{vox}}$ to produce the candidate representation $h_j$. The identity encoder uses embeddings from the ligand language model SMI-TED as queries. Graph attention integrates features of the ligand's own molecular graph, constructed with RDKit and encoded by a graph neural network (GNN). Context attention incorporates information from other ligand identities in the same PDB entry to produce the identity representation $g_k$. The foreground head predicts the foreground probability $p_j^{\mathrm{fg}}$ from $h_j$. Learned linear projections and cosine similarity between $h_j$ and $g_k$ yield the $J \times K$ identity-assignment score matrix $s_{j,k}$. $J$ denotes the number of candidate regions, and $K$ denotes the number of ligand identities.</a:t>
            </a:r>
          </a:p>
          <a:p>
            <a:r>
              <a:t>d, Pose reconstruction in Build. The predicted binding site $p$, defined as the blob geometric centre, the Match-assigned ligand identity and the receptor pocket environment are supplied to downstream docking tools. These tools generate all-atom three-dimensional ligand poses. The default tool is PocketXMol fine-tuned with density guidance; Vina, DiffDock and EMERALD are also supported.</a:t>
            </a:r>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normalisations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regions</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Ligand-region</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TotalTime>
  <Words>2227</Words>
  <Application>Microsoft Office PowerPoint</Application>
  <DocSecurity>0</DocSecurity>
  <PresentationFormat>自定义</PresentationFormat>
  <Paragraphs>323</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51</cp:revision>
  <dcterms:created xsi:type="dcterms:W3CDTF">2026-10-01T15:00:20Z</dcterms:created>
  <dcterms:modified xsi:type="dcterms:W3CDTF">2026-10-04T08:00:10Z</dcterms:modified>
</cp:coreProperties>
</file>