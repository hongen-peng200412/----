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10_E04F3CE8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6480175" cy="44688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46" autoAdjust="0"/>
  </p:normalViewPr>
  <p:slideViewPr>
    <p:cSldViewPr snapToGrid="0">
      <p:cViewPr varScale="1">
        <p:scale>
          <a:sx n="125" d="100"/>
          <a:sy n="125" d="100"/>
        </p:scale>
        <p:origin x="72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10_E04F3CE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77152-ECE0-4451-BE2C-7417B3884E7F}" authorId="{D3F71A66-0C34-DF1A-5236-FECDBC820DCB}" created="2026-10-22T02:42:32.147">
    <pc:sldMkLst xmlns:pc="http://schemas.microsoft.com/office/powerpoint/2013/main/command">
      <pc:docMk/>
      <pc:sldMk cId="0" sldId="269"/>
    </pc:sldMkLst>
    <p188:txBody>
      <a:bodyPr/>
      <a:lstStyle/>
      <a:p>
        <a:r>
          <a:rPr lang="zh-CN" altLang="en-US"/>
          <a:t>@@fig-method-v9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4FE49-5DA4-F327-2341-5C6C9A47D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E64168-A7DD-66D7-17F1-61CBA01325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D1279-D9F3-0200-5439-F3BEE5F15F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err="1"/>
              <a:t>LigandSeek</a:t>
            </a:r>
            <a:r>
              <a:rPr lang="en-US" altLang="zh-CN" dirty="0"/>
              <a:t> Find–Match–Build </a:t>
            </a:r>
            <a:r>
              <a:rPr lang="zh-CN" altLang="en-US" dirty="0"/>
              <a:t>框架的网络架构和数据流。</a:t>
            </a:r>
          </a:p>
          <a:p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Find </a:t>
            </a:r>
            <a:r>
              <a:rPr lang="zh-CN" altLang="en-US" dirty="0"/>
              <a:t>部分对密度和受体信息进行编码，生成候选配体区域（</a:t>
            </a:r>
            <a:r>
              <a:rPr lang="en-US" altLang="zh-CN" dirty="0"/>
              <a:t>$\</a:t>
            </a:r>
            <a:r>
              <a:rPr lang="en-US" altLang="zh-CN" dirty="0" err="1"/>
              <a:t>mathbb</a:t>
            </a:r>
            <a:r>
              <a:rPr lang="en-US" altLang="zh-CN" dirty="0"/>
              <a:t>{R}^3$ </a:t>
            </a:r>
            <a:r>
              <a:rPr lang="zh-CN" altLang="en-US" dirty="0"/>
              <a:t>中的 </a:t>
            </a:r>
            <a:r>
              <a:rPr lang="en-US" altLang="zh-CN" dirty="0"/>
              <a:t>blob</a:t>
            </a:r>
            <a:r>
              <a:rPr lang="zh-CN" altLang="en-US" dirty="0"/>
              <a:t>）和辅助特征。受体嵌入头对原子表示进行编码并提供它。</a:t>
            </a:r>
            <a:r>
              <a:rPr lang="en-US" altLang="zh-CN" dirty="0"/>
              <a:t>3D </a:t>
            </a:r>
            <a:r>
              <a:rPr lang="zh-CN" altLang="en-US" dirty="0"/>
              <a:t>体素 </a:t>
            </a:r>
            <a:r>
              <a:rPr lang="en-US" altLang="zh-CN" dirty="0"/>
              <a:t>U-Net </a:t>
            </a:r>
            <a:r>
              <a:rPr lang="zh-CN" altLang="en-US" dirty="0"/>
              <a:t>和 </a:t>
            </a:r>
            <a:r>
              <a:rPr lang="en-US" altLang="zh-CN" dirty="0"/>
              <a:t>Point Transformer V3 </a:t>
            </a:r>
            <a:r>
              <a:rPr lang="zh-CN" altLang="en-US" dirty="0"/>
              <a:t>结合密度和受体原子特征，并对其进行进一步编码。</a:t>
            </a:r>
            <a:r>
              <a:rPr lang="en-US" altLang="zh-CN" dirty="0"/>
              <a:t>AlphaFold3 </a:t>
            </a:r>
            <a:r>
              <a:rPr lang="zh-CN" altLang="en-US" dirty="0"/>
              <a:t>式的循环机制迭代地优化两个分支的预测结果。</a:t>
            </a:r>
          </a:p>
          <a:p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Match </a:t>
            </a:r>
            <a:r>
              <a:rPr lang="zh-CN" altLang="en-US" dirty="0"/>
              <a:t>部分将候选配体分类为前景或背景，并分配配体身份。</a:t>
            </a:r>
            <a:r>
              <a:rPr lang="en-US" altLang="zh-CN" dirty="0"/>
              <a:t>3D U-Net </a:t>
            </a:r>
            <a:r>
              <a:rPr lang="zh-CN" altLang="en-US" dirty="0"/>
              <a:t>对局部体素区域进行编码。池化、交叉注意力机制和 </a:t>
            </a:r>
            <a:r>
              <a:rPr lang="en-US" altLang="zh-CN" dirty="0" err="1"/>
              <a:t>FiLM</a:t>
            </a:r>
            <a:r>
              <a:rPr lang="en-US" altLang="zh-CN" dirty="0"/>
              <a:t> </a:t>
            </a:r>
            <a:r>
              <a:rPr lang="zh-CN" altLang="en-US" dirty="0"/>
              <a:t>将口袋和 </a:t>
            </a:r>
            <a:r>
              <a:rPr lang="en-US" altLang="zh-CN" dirty="0"/>
              <a:t>blob </a:t>
            </a:r>
            <a:r>
              <a:rPr lang="zh-CN" altLang="en-US" dirty="0"/>
              <a:t>信息与 </a:t>
            </a:r>
            <a:r>
              <a:rPr lang="en-US" altLang="zh-CN" dirty="0"/>
              <a:t>Find </a:t>
            </a:r>
            <a:r>
              <a:rPr lang="zh-CN" altLang="en-US" dirty="0"/>
              <a:t>部分的辅助特征整合到候选配体表示中。身份编码器将分子图特征、</a:t>
            </a:r>
            <a:r>
              <a:rPr lang="en-US" altLang="zh-CN" dirty="0"/>
              <a:t>SMI-TED </a:t>
            </a:r>
            <a:r>
              <a:rPr lang="zh-CN" altLang="en-US" dirty="0"/>
              <a:t>语言表示和身份上下文整合到同一个 </a:t>
            </a:r>
            <a:r>
              <a:rPr lang="en-US" altLang="zh-CN" dirty="0"/>
              <a:t>PDB </a:t>
            </a:r>
            <a:r>
              <a:rPr lang="zh-CN" altLang="en-US" dirty="0"/>
              <a:t>条目中。前景头部预测前景概率，余弦评分生成候选配体与身份匹配分数。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，构建过程利用结合位点、</a:t>
            </a:r>
            <a:r>
              <a:rPr lang="en-US" altLang="zh-CN" dirty="0"/>
              <a:t>SMILES </a:t>
            </a:r>
            <a:r>
              <a:rPr lang="zh-CN" altLang="en-US" dirty="0"/>
              <a:t>标识符、口袋和密度信息以及下游对接工具，重建全原子配体姿态。默认选项为 </a:t>
            </a:r>
            <a:r>
              <a:rPr lang="en-US" altLang="zh-CN" dirty="0" err="1"/>
              <a:t>PocketXMol</a:t>
            </a:r>
            <a:r>
              <a:rPr lang="en-US" altLang="zh-CN" dirty="0"/>
              <a:t>-tuned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dirty="0"/>
          </a:p>
          <a:p>
            <a:r>
              <a:rPr b="1" dirty="0"/>
              <a:t>ENGLISH:</a:t>
            </a:r>
            <a:endParaRPr lang="en-US" b="1" dirty="0"/>
          </a:p>
          <a:p>
            <a:r>
              <a:rPr lang="en-US" dirty="0"/>
              <a:t>Network architecture and data flow of the </a:t>
            </a:r>
            <a:r>
              <a:rPr lang="en-US" dirty="0" err="1"/>
              <a:t>LigandSeek</a:t>
            </a:r>
            <a:r>
              <a:rPr lang="en-US" dirty="0"/>
              <a:t> Find–Match–Build framework.</a:t>
            </a:r>
          </a:p>
          <a:p>
            <a:r>
              <a:rPr lang="en-US" b="1" dirty="0"/>
              <a:t>a, </a:t>
            </a:r>
            <a:r>
              <a:rPr lang="en-US" dirty="0"/>
              <a:t>Find encodes density and receptor information to produce candidate ligand regions (blobs in $\</a:t>
            </a:r>
            <a:r>
              <a:rPr lang="en-US" dirty="0" err="1"/>
              <a:t>mathbb</a:t>
            </a:r>
            <a:r>
              <a:rPr lang="en-US" dirty="0"/>
              <a:t>{R}^3$) and auxiliary features. The receptor embedding head encodes and supplies atom representations. A 3D voxel U-Net and Point Transformer V3 combine density and receptor-atom features and further encode them. An AlphaFold3-style recycling mechanism iteratively refines predictions across both branches.</a:t>
            </a:r>
          </a:p>
          <a:p>
            <a:r>
              <a:rPr lang="en-US" sz="1200" b="1" kern="1200" dirty="0"/>
              <a:t>b, </a:t>
            </a:r>
            <a:r>
              <a:rPr lang="en-US" dirty="0"/>
              <a:t>Match classifies candidates as foreground or background and assigns ligand identities. A 3D U-Net encodes a local voxel crop. </a:t>
            </a:r>
            <a:r>
              <a:rPr lang="zh-CN" altLang="zh-CN" dirty="0"/>
              <a:t>Pooling, cross-attention and FiLM integrate pocket and blob information with auxiliary features from Find into the candidate representation.</a:t>
            </a:r>
            <a:r>
              <a:rPr lang="en-US" altLang="zh-CN" dirty="0"/>
              <a:t> </a:t>
            </a:r>
            <a:r>
              <a:rPr lang="en-US" dirty="0"/>
              <a:t>The identity encoder combines molecular graph features, SMI-TED language representations and identity context within the same PDB entry. A foreground head predicts foreground probability, and cosine scoring produces candidate-to-identity matching scores.</a:t>
            </a:r>
          </a:p>
          <a:p>
            <a:r>
              <a:rPr lang="en-US" sz="1200" b="1" kern="1200" dirty="0"/>
              <a:t>c, </a:t>
            </a:r>
            <a:r>
              <a:rPr lang="en-US" dirty="0"/>
              <a:t>Build uses the binding site, SMILES identity, pocket and density information with downstream docking tools to reconstruct an all-atom ligand pose. </a:t>
            </a:r>
            <a:r>
              <a:rPr lang="en-US" dirty="0" err="1"/>
              <a:t>PocketXMol</a:t>
            </a:r>
            <a:r>
              <a:rPr lang="en-US" dirty="0"/>
              <a:t>-tuned is the default option.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967F6-10B3-385E-E2B8-A13B6962F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88232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1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8/10/relationships/comments" Target="../comments/modernComment_110_E04F3CE8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A6E18-01F8-B0BA-F43F-91B3A30C3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| Find background">
            <a:extLst>
              <a:ext uri="{FF2B5EF4-FFF2-40B4-BE49-F238E27FC236}">
                <a16:creationId xmlns:a16="http://schemas.microsoft.com/office/drawing/2014/main" id="{A9090686-8929-C0A0-CCD3-B88878102309}"/>
              </a:ext>
            </a:extLst>
          </p:cNvPr>
          <p:cNvSpPr/>
          <p:nvPr/>
        </p:nvSpPr>
        <p:spPr>
          <a:xfrm>
            <a:off x="450985" y="85589"/>
            <a:ext cx="4096180" cy="1756103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9720">
            <a:solidFill>
              <a:srgbClr val="CF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sp>
        <p:nvSpPr>
          <p:cNvPr id="3" name="Panel | Match background">
            <a:extLst>
              <a:ext uri="{FF2B5EF4-FFF2-40B4-BE49-F238E27FC236}">
                <a16:creationId xmlns:a16="http://schemas.microsoft.com/office/drawing/2014/main" id="{28703D02-0EE9-C5A6-609C-08019DDE7E4E}"/>
              </a:ext>
            </a:extLst>
          </p:cNvPr>
          <p:cNvSpPr/>
          <p:nvPr/>
        </p:nvSpPr>
        <p:spPr>
          <a:xfrm>
            <a:off x="450985" y="1885270"/>
            <a:ext cx="4096180" cy="2532204"/>
          </a:xfrm>
          <a:prstGeom prst="roundRect">
            <a:avLst>
              <a:gd name="adj" fmla="val 2000"/>
            </a:avLst>
          </a:prstGeom>
          <a:solidFill>
            <a:srgbClr val="F2F9F6"/>
          </a:solidFill>
          <a:ln w="9720">
            <a:solidFill>
              <a:srgbClr val="C8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sp>
        <p:nvSpPr>
          <p:cNvPr id="4" name="Panel | Build background">
            <a:extLst>
              <a:ext uri="{FF2B5EF4-FFF2-40B4-BE49-F238E27FC236}">
                <a16:creationId xmlns:a16="http://schemas.microsoft.com/office/drawing/2014/main" id="{ED204BA4-647E-6284-03F8-632FC35FBD82}"/>
              </a:ext>
            </a:extLst>
          </p:cNvPr>
          <p:cNvSpPr/>
          <p:nvPr/>
        </p:nvSpPr>
        <p:spPr>
          <a:xfrm>
            <a:off x="4583047" y="81744"/>
            <a:ext cx="1354615" cy="4335730"/>
          </a:xfrm>
          <a:prstGeom prst="roundRect">
            <a:avLst>
              <a:gd name="adj" fmla="val 2000"/>
            </a:avLst>
          </a:prstGeom>
          <a:solidFill>
            <a:srgbClr val="FAF6EE"/>
          </a:solidFill>
          <a:ln w="972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grpSp>
        <p:nvGrpSpPr>
          <p:cNvPr id="5" name="Input boundary layer">
            <a:extLst>
              <a:ext uri="{FF2B5EF4-FFF2-40B4-BE49-F238E27FC236}">
                <a16:creationId xmlns:a16="http://schemas.microsoft.com/office/drawing/2014/main" id="{DDB8823C-1C5D-EC2B-D97C-140C79222FB0}"/>
              </a:ext>
            </a:extLst>
          </p:cNvPr>
          <p:cNvGrpSpPr/>
          <p:nvPr/>
        </p:nvGrpSpPr>
        <p:grpSpPr>
          <a:xfrm>
            <a:off x="0" y="0"/>
            <a:ext cx="6480175" cy="4468813"/>
            <a:chOff x="0" y="0"/>
            <a:chExt cx="15240000" cy="10509702"/>
          </a:xfrm>
        </p:grpSpPr>
        <p:sp>
          <p:nvSpPr>
            <p:cNvPr id="1478" name="V8 Match input boundary">
              <a:extLst>
                <a:ext uri="{FF2B5EF4-FFF2-40B4-BE49-F238E27FC236}">
                  <a16:creationId xmlns:a16="http://schemas.microsoft.com/office/drawing/2014/main" id="{7D0554F4-AE1C-63F1-A885-352F5424EDA9}"/>
                </a:ext>
              </a:extLst>
            </p:cNvPr>
            <p:cNvSpPr/>
            <p:nvPr/>
          </p:nvSpPr>
          <p:spPr>
            <a:xfrm>
              <a:off x="1246829" y="5281627"/>
              <a:ext cx="3163259" cy="2511755"/>
            </a:xfrm>
            <a:custGeom>
              <a:avLst/>
              <a:gdLst/>
              <a:ahLst/>
              <a:cxnLst/>
              <a:rect l="l" t="t" r="r" b="b"/>
              <a:pathLst>
                <a:path w="1345044" h="1068019">
                  <a:moveTo>
                    <a:pt x="31750" y="0"/>
                  </a:moveTo>
                  <a:lnTo>
                    <a:pt x="893699" y="0"/>
                  </a:lnTo>
                  <a:cubicBezTo>
                    <a:pt x="911162" y="0"/>
                    <a:pt x="925449" y="14288"/>
                    <a:pt x="925449" y="31750"/>
                  </a:cubicBezTo>
                  <a:lnTo>
                    <a:pt x="925449" y="489521"/>
                  </a:lnTo>
                  <a:cubicBezTo>
                    <a:pt x="925449" y="506984"/>
                    <a:pt x="939736" y="521271"/>
                    <a:pt x="957199" y="521271"/>
                  </a:cubicBezTo>
                  <a:lnTo>
                    <a:pt x="1313294" y="521271"/>
                  </a:lnTo>
                  <a:cubicBezTo>
                    <a:pt x="1330757" y="521271"/>
                    <a:pt x="1345044" y="535559"/>
                    <a:pt x="1345044" y="553021"/>
                  </a:cubicBezTo>
                  <a:lnTo>
                    <a:pt x="1345044" y="1036269"/>
                  </a:lnTo>
                  <a:cubicBezTo>
                    <a:pt x="1345044" y="1053732"/>
                    <a:pt x="1330757" y="1068019"/>
                    <a:pt x="1313294" y="1068019"/>
                  </a:cubicBezTo>
                  <a:lnTo>
                    <a:pt x="31750" y="1068019"/>
                  </a:lnTo>
                  <a:cubicBezTo>
                    <a:pt x="14288" y="1068019"/>
                    <a:pt x="0" y="1053732"/>
                    <a:pt x="0" y="1036269"/>
                  </a:cubicBezTo>
                  <a:lnTo>
                    <a:pt x="0" y="31750"/>
                  </a:lnTo>
                  <a:cubicBezTo>
                    <a:pt x="0" y="14288"/>
                    <a:pt x="14288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  <a:ln w="7290" cap="rnd">
              <a:solidFill>
                <a:srgbClr val="B6CEC5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7" name="TextBox 4">
            <a:extLst>
              <a:ext uri="{FF2B5EF4-FFF2-40B4-BE49-F238E27FC236}">
                <a16:creationId xmlns:a16="http://schemas.microsoft.com/office/drawing/2014/main" id="{ADBC3EDA-5434-B072-0369-64F7979021C5}"/>
              </a:ext>
            </a:extLst>
          </p:cNvPr>
          <p:cNvSpPr txBox="1"/>
          <p:nvPr/>
        </p:nvSpPr>
        <p:spPr>
          <a:xfrm>
            <a:off x="519056" y="107111"/>
            <a:ext cx="174028" cy="149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95" b="1" dirty="0">
                <a:solidFill>
                  <a:srgbClr val="1E293B"/>
                </a:solidFill>
                <a:latin typeface="Arial"/>
              </a:rPr>
              <a:t>a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BDE65E3A-EB06-F9D8-4F70-55D863BF89FB}"/>
              </a:ext>
            </a:extLst>
          </p:cNvPr>
          <p:cNvSpPr txBox="1"/>
          <p:nvPr/>
        </p:nvSpPr>
        <p:spPr>
          <a:xfrm>
            <a:off x="677263" y="120127"/>
            <a:ext cx="2531320" cy="123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22">
                <a:solidFill>
                  <a:srgbClr val="1E293B"/>
                </a:solidFill>
                <a:latin typeface="Arial"/>
              </a:rPr>
              <a:t>Find: locate ligand regions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3FF857A-DE19-FC06-9455-89983F39C003}"/>
              </a:ext>
            </a:extLst>
          </p:cNvPr>
          <p:cNvSpPr txBox="1"/>
          <p:nvPr/>
        </p:nvSpPr>
        <p:spPr>
          <a:xfrm>
            <a:off x="519056" y="1909702"/>
            <a:ext cx="174028" cy="149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995" b="1" dirty="0">
                <a:solidFill>
                  <a:srgbClr val="1E293B"/>
                </a:solidFill>
                <a:latin typeface="Arial"/>
              </a:rPr>
              <a:t>b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70ECA487-21BB-6209-C18F-3026009B4E59}"/>
              </a:ext>
            </a:extLst>
          </p:cNvPr>
          <p:cNvSpPr txBox="1"/>
          <p:nvPr/>
        </p:nvSpPr>
        <p:spPr>
          <a:xfrm>
            <a:off x="667104" y="1931954"/>
            <a:ext cx="2847735" cy="123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22" dirty="0">
                <a:solidFill>
                  <a:srgbClr val="1E293B"/>
                </a:solidFill>
                <a:latin typeface="Arial"/>
              </a:rPr>
              <a:t>Match: candidate-to-identity assignment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C99C17F0-6544-6BC0-1417-555389742DB7}"/>
              </a:ext>
            </a:extLst>
          </p:cNvPr>
          <p:cNvSpPr txBox="1"/>
          <p:nvPr/>
        </p:nvSpPr>
        <p:spPr>
          <a:xfrm>
            <a:off x="4616630" y="107125"/>
            <a:ext cx="174028" cy="149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95" b="1" dirty="0">
                <a:solidFill>
                  <a:srgbClr val="1E293B"/>
                </a:solidFill>
                <a:latin typeface="Arial"/>
              </a:rPr>
              <a:t>c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7A43A7E7-A060-03F0-5B05-9A1425584A88}"/>
              </a:ext>
            </a:extLst>
          </p:cNvPr>
          <p:cNvSpPr txBox="1"/>
          <p:nvPr/>
        </p:nvSpPr>
        <p:spPr>
          <a:xfrm>
            <a:off x="4774837" y="120126"/>
            <a:ext cx="1202377" cy="239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795" dirty="0">
                <a:solidFill>
                  <a:srgbClr val="1E293B"/>
                </a:solidFill>
                <a:latin typeface="Arial"/>
              </a:rPr>
              <a:t>Build: downstream</a:t>
            </a:r>
          </a:p>
          <a:p>
            <a:pPr algn="l">
              <a:lnSpc>
                <a:spcPct val="98000"/>
              </a:lnSpc>
            </a:pPr>
            <a:r>
              <a:rPr sz="795" dirty="0">
                <a:solidFill>
                  <a:srgbClr val="1E293B"/>
                </a:solidFill>
                <a:latin typeface="Arial"/>
              </a:rPr>
              <a:t>pose reconstruction</a:t>
            </a:r>
          </a:p>
        </p:txBody>
      </p:sp>
      <p:sp>
        <p:nvSpPr>
          <p:cNvPr id="13" name="Find | Density card">
            <a:extLst>
              <a:ext uri="{FF2B5EF4-FFF2-40B4-BE49-F238E27FC236}">
                <a16:creationId xmlns:a16="http://schemas.microsoft.com/office/drawing/2014/main" id="{CAB7453E-57E4-6069-E17B-BEBD584DE9C5}"/>
              </a:ext>
            </a:extLst>
          </p:cNvPr>
          <p:cNvSpPr/>
          <p:nvPr/>
        </p:nvSpPr>
        <p:spPr>
          <a:xfrm>
            <a:off x="526967" y="284774"/>
            <a:ext cx="488504" cy="6802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E13F9DB9-2915-4D37-1A15-4DD879957FE6}"/>
              </a:ext>
            </a:extLst>
          </p:cNvPr>
          <p:cNvSpPr txBox="1"/>
          <p:nvPr/>
        </p:nvSpPr>
        <p:spPr>
          <a:xfrm>
            <a:off x="459742" y="318294"/>
            <a:ext cx="664471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75" dirty="0">
                <a:solidFill>
                  <a:srgbClr val="1E293B"/>
                </a:solidFill>
                <a:latin typeface="Arial"/>
              </a:rPr>
              <a:t>Density</a:t>
            </a:r>
          </a:p>
        </p:txBody>
      </p:sp>
      <p:pic>
        <p:nvPicPr>
          <p:cNvPr id="15" name="Find corresponding experimental density" descr="Experimental 9LLG density around chain C1 of the displayed CryoAtom2 receptor, at the original contour level and the identical camera orientation.">
            <a:extLst>
              <a:ext uri="{FF2B5EF4-FFF2-40B4-BE49-F238E27FC236}">
                <a16:creationId xmlns:a16="http://schemas.microsoft.com/office/drawing/2014/main" id="{8CF1199C-6488-C5B6-B489-1131732B4FB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96351" y="440507"/>
            <a:ext cx="501650" cy="479011"/>
          </a:xfrm>
          <a:prstGeom prst="rect">
            <a:avLst/>
          </a:prstGeom>
        </p:spPr>
      </p:pic>
      <p:sp>
        <p:nvSpPr>
          <p:cNvPr id="235" name="Find | Receptor card">
            <a:extLst>
              <a:ext uri="{FF2B5EF4-FFF2-40B4-BE49-F238E27FC236}">
                <a16:creationId xmlns:a16="http://schemas.microsoft.com/office/drawing/2014/main" id="{C39711EA-1578-1FDC-F7E5-415822DEC84F}"/>
              </a:ext>
            </a:extLst>
          </p:cNvPr>
          <p:cNvSpPr/>
          <p:nvPr/>
        </p:nvSpPr>
        <p:spPr>
          <a:xfrm>
            <a:off x="526966" y="1028349"/>
            <a:ext cx="489611" cy="7277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236" name="TextBox 6212">
            <a:extLst>
              <a:ext uri="{FF2B5EF4-FFF2-40B4-BE49-F238E27FC236}">
                <a16:creationId xmlns:a16="http://schemas.microsoft.com/office/drawing/2014/main" id="{4566817F-CA11-3CA5-4ED5-534E4B65A1C1}"/>
              </a:ext>
            </a:extLst>
          </p:cNvPr>
          <p:cNvSpPr txBox="1"/>
          <p:nvPr/>
        </p:nvSpPr>
        <p:spPr>
          <a:xfrm>
            <a:off x="433516" y="1053973"/>
            <a:ext cx="664471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75" dirty="0">
                <a:solidFill>
                  <a:srgbClr val="1E293B"/>
                </a:solidFill>
                <a:latin typeface="Arial"/>
              </a:rPr>
              <a:t>Receptor</a:t>
            </a:r>
          </a:p>
        </p:txBody>
      </p:sp>
      <p:sp>
        <p:nvSpPr>
          <p:cNvPr id="237" name="Find | 3D voxel U-Net box">
            <a:extLst>
              <a:ext uri="{FF2B5EF4-FFF2-40B4-BE49-F238E27FC236}">
                <a16:creationId xmlns:a16="http://schemas.microsoft.com/office/drawing/2014/main" id="{84C31B5C-DB46-3102-A094-A625CBC3795B}"/>
              </a:ext>
            </a:extLst>
          </p:cNvPr>
          <p:cNvSpPr/>
          <p:nvPr/>
        </p:nvSpPr>
        <p:spPr>
          <a:xfrm>
            <a:off x="1743636" y="284774"/>
            <a:ext cx="2183263" cy="743575"/>
          </a:xfrm>
          <a:prstGeom prst="roundRect">
            <a:avLst>
              <a:gd name="adj" fmla="val 5000"/>
            </a:avLst>
          </a:prstGeom>
          <a:solidFill>
            <a:srgbClr val="EDF3FA"/>
          </a:solidFill>
          <a:ln w="7290">
            <a:solidFill>
              <a:srgbClr val="C3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238" name="TextBox 6223">
            <a:extLst>
              <a:ext uri="{FF2B5EF4-FFF2-40B4-BE49-F238E27FC236}">
                <a16:creationId xmlns:a16="http://schemas.microsoft.com/office/drawing/2014/main" id="{D0BEE622-6A06-FAEC-A1B9-E12DAFA59B95}"/>
              </a:ext>
            </a:extLst>
          </p:cNvPr>
          <p:cNvSpPr txBox="1"/>
          <p:nvPr/>
        </p:nvSpPr>
        <p:spPr>
          <a:xfrm>
            <a:off x="1743636" y="310561"/>
            <a:ext cx="2183263" cy="106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9">
                <a:solidFill>
                  <a:srgbClr val="1E293B"/>
                </a:solidFill>
                <a:latin typeface="Arial"/>
              </a:rPr>
              <a:t>3D voxel U-Net</a:t>
            </a:r>
          </a:p>
        </p:txBody>
      </p:sp>
      <p:sp>
        <p:nvSpPr>
          <p:cNvPr id="239" name="TextBox 6224">
            <a:extLst>
              <a:ext uri="{FF2B5EF4-FFF2-40B4-BE49-F238E27FC236}">
                <a16:creationId xmlns:a16="http://schemas.microsoft.com/office/drawing/2014/main" id="{6162AD09-868A-9802-DD3F-493AE18E658B}"/>
              </a:ext>
            </a:extLst>
          </p:cNvPr>
          <p:cNvSpPr txBox="1"/>
          <p:nvPr/>
        </p:nvSpPr>
        <p:spPr>
          <a:xfrm>
            <a:off x="1743491" y="415407"/>
            <a:ext cx="2183414" cy="845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62" dirty="0">
                <a:solidFill>
                  <a:srgbClr val="5A6B7C"/>
                </a:solidFill>
                <a:latin typeface="Arial"/>
              </a:rPr>
              <a:t>Skip connections</a:t>
            </a:r>
          </a:p>
        </p:txBody>
      </p:sp>
      <p:sp>
        <p:nvSpPr>
          <p:cNvPr id="240" name="TextBox 10003">
            <a:extLst>
              <a:ext uri="{FF2B5EF4-FFF2-40B4-BE49-F238E27FC236}">
                <a16:creationId xmlns:a16="http://schemas.microsoft.com/office/drawing/2014/main" id="{09C48FDC-7786-8263-4A08-E75021FC8287}"/>
              </a:ext>
            </a:extLst>
          </p:cNvPr>
          <p:cNvSpPr txBox="1"/>
          <p:nvPr/>
        </p:nvSpPr>
        <p:spPr>
          <a:xfrm>
            <a:off x="1909753" y="905035"/>
            <a:ext cx="55372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3B78A8"/>
                </a:solidFill>
                <a:latin typeface="Arial"/>
              </a:rPr>
              <a:t>Encoder</a:t>
            </a:r>
          </a:p>
        </p:txBody>
      </p:sp>
      <p:sp>
        <p:nvSpPr>
          <p:cNvPr id="241" name="TextBox 10004">
            <a:extLst>
              <a:ext uri="{FF2B5EF4-FFF2-40B4-BE49-F238E27FC236}">
                <a16:creationId xmlns:a16="http://schemas.microsoft.com/office/drawing/2014/main" id="{5D7C6AF6-28C5-C78C-2A6D-53148E9C5409}"/>
              </a:ext>
            </a:extLst>
          </p:cNvPr>
          <p:cNvSpPr txBox="1"/>
          <p:nvPr/>
        </p:nvSpPr>
        <p:spPr>
          <a:xfrm>
            <a:off x="2558404" y="905035"/>
            <a:ext cx="55372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7E63A8"/>
                </a:solidFill>
                <a:latin typeface="Arial"/>
              </a:rPr>
              <a:t>Bottleneck</a:t>
            </a:r>
          </a:p>
        </p:txBody>
      </p:sp>
      <p:sp>
        <p:nvSpPr>
          <p:cNvPr id="242" name="TextBox 10005">
            <a:extLst>
              <a:ext uri="{FF2B5EF4-FFF2-40B4-BE49-F238E27FC236}">
                <a16:creationId xmlns:a16="http://schemas.microsoft.com/office/drawing/2014/main" id="{7CC49EB1-DBD1-A7E7-516D-CECCC1D041F1}"/>
              </a:ext>
            </a:extLst>
          </p:cNvPr>
          <p:cNvSpPr txBox="1"/>
          <p:nvPr/>
        </p:nvSpPr>
        <p:spPr>
          <a:xfrm>
            <a:off x="3207055" y="905035"/>
            <a:ext cx="55372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368274"/>
                </a:solidFill>
                <a:latin typeface="Arial"/>
              </a:rPr>
              <a:t>Decoder</a:t>
            </a:r>
          </a:p>
        </p:txBody>
      </p:sp>
      <p:sp>
        <p:nvSpPr>
          <p:cNvPr id="243" name="Find | Point Transformer V3 box">
            <a:extLst>
              <a:ext uri="{FF2B5EF4-FFF2-40B4-BE49-F238E27FC236}">
                <a16:creationId xmlns:a16="http://schemas.microsoft.com/office/drawing/2014/main" id="{E6BB0EBE-E97F-0460-89AE-378626BAD4D7}"/>
              </a:ext>
            </a:extLst>
          </p:cNvPr>
          <p:cNvSpPr/>
          <p:nvPr/>
        </p:nvSpPr>
        <p:spPr>
          <a:xfrm>
            <a:off x="1743636" y="1170736"/>
            <a:ext cx="2183263" cy="585368"/>
          </a:xfrm>
          <a:prstGeom prst="roundRect">
            <a:avLst>
              <a:gd name="adj" fmla="val 5000"/>
            </a:avLst>
          </a:prstGeom>
          <a:solidFill>
            <a:srgbClr val="F2EEF8"/>
          </a:solidFill>
          <a:ln w="7290">
            <a:solidFill>
              <a:srgbClr val="D3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grpSp>
        <p:nvGrpSpPr>
          <p:cNvPr id="244" name="Find | PTV3 stage 1 (no pseudo)">
            <a:extLst>
              <a:ext uri="{FF2B5EF4-FFF2-40B4-BE49-F238E27FC236}">
                <a16:creationId xmlns:a16="http://schemas.microsoft.com/office/drawing/2014/main" id="{B4F71929-AC06-8CA3-B3DD-0D60585A9033}"/>
              </a:ext>
            </a:extLst>
          </p:cNvPr>
          <p:cNvGrpSpPr/>
          <p:nvPr/>
        </p:nvGrpSpPr>
        <p:grpSpPr>
          <a:xfrm>
            <a:off x="1834605" y="1222153"/>
            <a:ext cx="276863" cy="197759"/>
            <a:chOff x="1837958" y="1438830"/>
            <a:chExt cx="279225" cy="243090"/>
          </a:xfrm>
        </p:grpSpPr>
        <p:sp>
          <p:nvSpPr>
            <p:cNvPr id="245" name="rect_1844">
              <a:extLst>
                <a:ext uri="{FF2B5EF4-FFF2-40B4-BE49-F238E27FC236}">
                  <a16:creationId xmlns:a16="http://schemas.microsoft.com/office/drawing/2014/main" id="{660AA888-4092-6DA6-78D3-4B888E2B2DA3}"/>
                </a:ext>
              </a:extLst>
            </p:cNvPr>
            <p:cNvSpPr/>
            <p:nvPr/>
          </p:nvSpPr>
          <p:spPr>
            <a:xfrm>
              <a:off x="1837958" y="1438830"/>
              <a:ext cx="279225" cy="243090"/>
            </a:xfrm>
            <a:prstGeom prst="roundRect">
              <a:avLst>
                <a:gd name="adj" fmla="val 6757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6" name="ellipse_1845">
              <a:extLst>
                <a:ext uri="{FF2B5EF4-FFF2-40B4-BE49-F238E27FC236}">
                  <a16:creationId xmlns:a16="http://schemas.microsoft.com/office/drawing/2014/main" id="{8ED69D04-8A29-A5B5-FEDE-87DBF5A86A21}"/>
                </a:ext>
              </a:extLst>
            </p:cNvPr>
            <p:cNvSpPr/>
            <p:nvPr/>
          </p:nvSpPr>
          <p:spPr>
            <a:xfrm>
              <a:off x="1911179" y="154988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7" name="ellipse_1846">
              <a:extLst>
                <a:ext uri="{FF2B5EF4-FFF2-40B4-BE49-F238E27FC236}">
                  <a16:creationId xmlns:a16="http://schemas.microsoft.com/office/drawing/2014/main" id="{2F757B70-05BB-1D52-EAD7-99F943EE0786}"/>
                </a:ext>
              </a:extLst>
            </p:cNvPr>
            <p:cNvSpPr/>
            <p:nvPr/>
          </p:nvSpPr>
          <p:spPr>
            <a:xfrm>
              <a:off x="2016057" y="156917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8" name="ellipse_1847">
              <a:extLst>
                <a:ext uri="{FF2B5EF4-FFF2-40B4-BE49-F238E27FC236}">
                  <a16:creationId xmlns:a16="http://schemas.microsoft.com/office/drawing/2014/main" id="{33900347-5FB5-F6C0-81F6-93C079B537C5}"/>
                </a:ext>
              </a:extLst>
            </p:cNvPr>
            <p:cNvSpPr/>
            <p:nvPr/>
          </p:nvSpPr>
          <p:spPr>
            <a:xfrm>
              <a:off x="1901005" y="146322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9" name="ellipse_1848">
              <a:extLst>
                <a:ext uri="{FF2B5EF4-FFF2-40B4-BE49-F238E27FC236}">
                  <a16:creationId xmlns:a16="http://schemas.microsoft.com/office/drawing/2014/main" id="{D9E3B372-BB0F-C9A4-3974-A8E7AF7737B7}"/>
                </a:ext>
              </a:extLst>
            </p:cNvPr>
            <p:cNvSpPr/>
            <p:nvPr/>
          </p:nvSpPr>
          <p:spPr>
            <a:xfrm>
              <a:off x="1966917" y="1491223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0" name="ellipse_1849">
              <a:extLst>
                <a:ext uri="{FF2B5EF4-FFF2-40B4-BE49-F238E27FC236}">
                  <a16:creationId xmlns:a16="http://schemas.microsoft.com/office/drawing/2014/main" id="{65731899-DB97-2E91-5665-E8C978110F71}"/>
                </a:ext>
              </a:extLst>
            </p:cNvPr>
            <p:cNvSpPr/>
            <p:nvPr/>
          </p:nvSpPr>
          <p:spPr>
            <a:xfrm>
              <a:off x="1981202" y="146197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1" name="ellipse_1850">
              <a:extLst>
                <a:ext uri="{FF2B5EF4-FFF2-40B4-BE49-F238E27FC236}">
                  <a16:creationId xmlns:a16="http://schemas.microsoft.com/office/drawing/2014/main" id="{FB870BF7-7DC4-B374-8AD0-46EC506BB29E}"/>
                </a:ext>
              </a:extLst>
            </p:cNvPr>
            <p:cNvSpPr/>
            <p:nvPr/>
          </p:nvSpPr>
          <p:spPr>
            <a:xfrm>
              <a:off x="2025801" y="152278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2" name="ellipse_1851">
              <a:extLst>
                <a:ext uri="{FF2B5EF4-FFF2-40B4-BE49-F238E27FC236}">
                  <a16:creationId xmlns:a16="http://schemas.microsoft.com/office/drawing/2014/main" id="{FB5210B2-4DAF-5841-3925-445BB6BA8E65}"/>
                </a:ext>
              </a:extLst>
            </p:cNvPr>
            <p:cNvSpPr/>
            <p:nvPr/>
          </p:nvSpPr>
          <p:spPr>
            <a:xfrm>
              <a:off x="1923657" y="157409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3" name="ellipse_1852">
              <a:extLst>
                <a:ext uri="{FF2B5EF4-FFF2-40B4-BE49-F238E27FC236}">
                  <a16:creationId xmlns:a16="http://schemas.microsoft.com/office/drawing/2014/main" id="{5E297BB0-4B0B-7393-6335-0A8D413997FE}"/>
                </a:ext>
              </a:extLst>
            </p:cNvPr>
            <p:cNvSpPr/>
            <p:nvPr/>
          </p:nvSpPr>
          <p:spPr>
            <a:xfrm>
              <a:off x="2046951" y="1492683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4" name="ellipse_1853">
              <a:extLst>
                <a:ext uri="{FF2B5EF4-FFF2-40B4-BE49-F238E27FC236}">
                  <a16:creationId xmlns:a16="http://schemas.microsoft.com/office/drawing/2014/main" id="{3460EDB7-F270-4A51-230E-76F07C518E5B}"/>
                </a:ext>
              </a:extLst>
            </p:cNvPr>
            <p:cNvSpPr/>
            <p:nvPr/>
          </p:nvSpPr>
          <p:spPr>
            <a:xfrm>
              <a:off x="1971403" y="162122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5" name="ellipse_1854">
              <a:extLst>
                <a:ext uri="{FF2B5EF4-FFF2-40B4-BE49-F238E27FC236}">
                  <a16:creationId xmlns:a16="http://schemas.microsoft.com/office/drawing/2014/main" id="{D7F22E2B-29AF-AAFC-9390-4763B76AC824}"/>
                </a:ext>
              </a:extLst>
            </p:cNvPr>
            <p:cNvSpPr/>
            <p:nvPr/>
          </p:nvSpPr>
          <p:spPr>
            <a:xfrm>
              <a:off x="1916632" y="1483703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56" name="Find | PTV3 stage 2 (no pseudo)">
            <a:extLst>
              <a:ext uri="{FF2B5EF4-FFF2-40B4-BE49-F238E27FC236}">
                <a16:creationId xmlns:a16="http://schemas.microsoft.com/office/drawing/2014/main" id="{F4A044B8-F6CD-9A28-3075-23E9F1427BD6}"/>
              </a:ext>
            </a:extLst>
          </p:cNvPr>
          <p:cNvGrpSpPr/>
          <p:nvPr/>
        </p:nvGrpSpPr>
        <p:grpSpPr>
          <a:xfrm>
            <a:off x="2265368" y="1218198"/>
            <a:ext cx="269656" cy="205670"/>
            <a:chOff x="2276505" y="1465110"/>
            <a:chExt cx="243090" cy="190530"/>
          </a:xfrm>
        </p:grpSpPr>
        <p:sp>
          <p:nvSpPr>
            <p:cNvPr id="257" name="rect_1860">
              <a:extLst>
                <a:ext uri="{FF2B5EF4-FFF2-40B4-BE49-F238E27FC236}">
                  <a16:creationId xmlns:a16="http://schemas.microsoft.com/office/drawing/2014/main" id="{2A2BC9FE-9931-3C68-E213-012D2334D100}"/>
                </a:ext>
              </a:extLst>
            </p:cNvPr>
            <p:cNvSpPr/>
            <p:nvPr/>
          </p:nvSpPr>
          <p:spPr>
            <a:xfrm>
              <a:off x="2276505" y="1465110"/>
              <a:ext cx="243090" cy="190530"/>
            </a:xfrm>
            <a:prstGeom prst="roundRect">
              <a:avLst>
                <a:gd name="adj" fmla="val 8621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8" name="ellipse_1861">
              <a:extLst>
                <a:ext uri="{FF2B5EF4-FFF2-40B4-BE49-F238E27FC236}">
                  <a16:creationId xmlns:a16="http://schemas.microsoft.com/office/drawing/2014/main" id="{0D3FC1DA-E4D9-46A0-549F-86D3BA55D6FD}"/>
                </a:ext>
              </a:extLst>
            </p:cNvPr>
            <p:cNvSpPr/>
            <p:nvPr/>
          </p:nvSpPr>
          <p:spPr>
            <a:xfrm>
              <a:off x="2443383" y="147538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9" name="ellipse_1862">
              <a:extLst>
                <a:ext uri="{FF2B5EF4-FFF2-40B4-BE49-F238E27FC236}">
                  <a16:creationId xmlns:a16="http://schemas.microsoft.com/office/drawing/2014/main" id="{2E76A36E-124A-FF28-5F0C-9D8A556CAB6E}"/>
                </a:ext>
              </a:extLst>
            </p:cNvPr>
            <p:cNvSpPr/>
            <p:nvPr/>
          </p:nvSpPr>
          <p:spPr>
            <a:xfrm>
              <a:off x="2334302" y="149054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0" name="ellipse_1863">
              <a:extLst>
                <a:ext uri="{FF2B5EF4-FFF2-40B4-BE49-F238E27FC236}">
                  <a16:creationId xmlns:a16="http://schemas.microsoft.com/office/drawing/2014/main" id="{D535EE24-6485-F339-2CB7-F9EF085CB943}"/>
                </a:ext>
              </a:extLst>
            </p:cNvPr>
            <p:cNvSpPr/>
            <p:nvPr/>
          </p:nvSpPr>
          <p:spPr>
            <a:xfrm>
              <a:off x="2421391" y="151821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1" name="ellipse_1864">
              <a:extLst>
                <a:ext uri="{FF2B5EF4-FFF2-40B4-BE49-F238E27FC236}">
                  <a16:creationId xmlns:a16="http://schemas.microsoft.com/office/drawing/2014/main" id="{3E3B8E8E-0D51-B463-1AC5-8ABBD0D94E5F}"/>
                </a:ext>
              </a:extLst>
            </p:cNvPr>
            <p:cNvSpPr/>
            <p:nvPr/>
          </p:nvSpPr>
          <p:spPr>
            <a:xfrm>
              <a:off x="2395798" y="148175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2" name="ellipse_1865">
              <a:extLst>
                <a:ext uri="{FF2B5EF4-FFF2-40B4-BE49-F238E27FC236}">
                  <a16:creationId xmlns:a16="http://schemas.microsoft.com/office/drawing/2014/main" id="{A78CC97C-CF00-B4B4-232A-6540F415567F}"/>
                </a:ext>
              </a:extLst>
            </p:cNvPr>
            <p:cNvSpPr/>
            <p:nvPr/>
          </p:nvSpPr>
          <p:spPr>
            <a:xfrm>
              <a:off x="2345071" y="1608888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3" name="ellipse_1866">
              <a:extLst>
                <a:ext uri="{FF2B5EF4-FFF2-40B4-BE49-F238E27FC236}">
                  <a16:creationId xmlns:a16="http://schemas.microsoft.com/office/drawing/2014/main" id="{1C7DD56E-5535-8B2E-615C-21EEB3FC0B60}"/>
                </a:ext>
              </a:extLst>
            </p:cNvPr>
            <p:cNvSpPr/>
            <p:nvPr/>
          </p:nvSpPr>
          <p:spPr>
            <a:xfrm>
              <a:off x="2455927" y="1523542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4" name="ellipse_1867">
              <a:extLst>
                <a:ext uri="{FF2B5EF4-FFF2-40B4-BE49-F238E27FC236}">
                  <a16:creationId xmlns:a16="http://schemas.microsoft.com/office/drawing/2014/main" id="{53E5DFEF-A738-E1E2-6D82-562898867479}"/>
                </a:ext>
              </a:extLst>
            </p:cNvPr>
            <p:cNvSpPr/>
            <p:nvPr/>
          </p:nvSpPr>
          <p:spPr>
            <a:xfrm>
              <a:off x="2415612" y="153827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5" name="ellipse_1868">
              <a:extLst>
                <a:ext uri="{FF2B5EF4-FFF2-40B4-BE49-F238E27FC236}">
                  <a16:creationId xmlns:a16="http://schemas.microsoft.com/office/drawing/2014/main" id="{9F15DB89-4578-E9D4-B66C-9772D337DE92}"/>
                </a:ext>
              </a:extLst>
            </p:cNvPr>
            <p:cNvSpPr/>
            <p:nvPr/>
          </p:nvSpPr>
          <p:spPr>
            <a:xfrm>
              <a:off x="2384162" y="155385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66" name="Find | PTV3 stage 3 (no pseudo)">
            <a:extLst>
              <a:ext uri="{FF2B5EF4-FFF2-40B4-BE49-F238E27FC236}">
                <a16:creationId xmlns:a16="http://schemas.microsoft.com/office/drawing/2014/main" id="{8E5AF76E-A5D2-A1C4-1196-A1FB989CBECC}"/>
              </a:ext>
            </a:extLst>
          </p:cNvPr>
          <p:cNvGrpSpPr/>
          <p:nvPr/>
        </p:nvGrpSpPr>
        <p:grpSpPr>
          <a:xfrm>
            <a:off x="2713208" y="1230063"/>
            <a:ext cx="244120" cy="181939"/>
            <a:chOff x="2703555" y="1491390"/>
            <a:chExt cx="190530" cy="137970"/>
          </a:xfrm>
        </p:grpSpPr>
        <p:sp>
          <p:nvSpPr>
            <p:cNvPr id="267" name="rect_1874">
              <a:extLst>
                <a:ext uri="{FF2B5EF4-FFF2-40B4-BE49-F238E27FC236}">
                  <a16:creationId xmlns:a16="http://schemas.microsoft.com/office/drawing/2014/main" id="{75101B77-5988-FEB7-22BD-46F0384ADBC8}"/>
                </a:ext>
              </a:extLst>
            </p:cNvPr>
            <p:cNvSpPr/>
            <p:nvPr/>
          </p:nvSpPr>
          <p:spPr>
            <a:xfrm>
              <a:off x="2703555" y="1491390"/>
              <a:ext cx="190530" cy="137970"/>
            </a:xfrm>
            <a:prstGeom prst="roundRect">
              <a:avLst>
                <a:gd name="adj" fmla="val 11905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8" name="ellipse_1875">
              <a:extLst>
                <a:ext uri="{FF2B5EF4-FFF2-40B4-BE49-F238E27FC236}">
                  <a16:creationId xmlns:a16="http://schemas.microsoft.com/office/drawing/2014/main" id="{0F3768B9-45DC-D239-6ECE-6B199905A0E6}"/>
                </a:ext>
              </a:extLst>
            </p:cNvPr>
            <p:cNvSpPr/>
            <p:nvPr/>
          </p:nvSpPr>
          <p:spPr>
            <a:xfrm>
              <a:off x="2782342" y="152486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9" name="ellipse_1876">
              <a:extLst>
                <a:ext uri="{FF2B5EF4-FFF2-40B4-BE49-F238E27FC236}">
                  <a16:creationId xmlns:a16="http://schemas.microsoft.com/office/drawing/2014/main" id="{9AC2E9D9-EA81-CB60-9668-376E55C3B65A}"/>
                </a:ext>
              </a:extLst>
            </p:cNvPr>
            <p:cNvSpPr/>
            <p:nvPr/>
          </p:nvSpPr>
          <p:spPr>
            <a:xfrm>
              <a:off x="2750750" y="159446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0" name="ellipse_1877">
              <a:extLst>
                <a:ext uri="{FF2B5EF4-FFF2-40B4-BE49-F238E27FC236}">
                  <a16:creationId xmlns:a16="http://schemas.microsoft.com/office/drawing/2014/main" id="{193512C0-B984-BF26-53B2-A4C133832B19}"/>
                </a:ext>
              </a:extLst>
            </p:cNvPr>
            <p:cNvSpPr/>
            <p:nvPr/>
          </p:nvSpPr>
          <p:spPr>
            <a:xfrm>
              <a:off x="2743887" y="149715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1" name="ellipse_1878">
              <a:extLst>
                <a:ext uri="{FF2B5EF4-FFF2-40B4-BE49-F238E27FC236}">
                  <a16:creationId xmlns:a16="http://schemas.microsoft.com/office/drawing/2014/main" id="{010957FC-182F-1FF9-1554-385555C7E5BB}"/>
                </a:ext>
              </a:extLst>
            </p:cNvPr>
            <p:cNvSpPr/>
            <p:nvPr/>
          </p:nvSpPr>
          <p:spPr>
            <a:xfrm>
              <a:off x="2833390" y="151132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2" name="ellipse_1879">
              <a:extLst>
                <a:ext uri="{FF2B5EF4-FFF2-40B4-BE49-F238E27FC236}">
                  <a16:creationId xmlns:a16="http://schemas.microsoft.com/office/drawing/2014/main" id="{D3BED3D3-6945-FBFB-0ADC-29AB3D61D264}"/>
                </a:ext>
              </a:extLst>
            </p:cNvPr>
            <p:cNvSpPr/>
            <p:nvPr/>
          </p:nvSpPr>
          <p:spPr>
            <a:xfrm>
              <a:off x="2831792" y="1567728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73" name="Find | PTV3 stage 4 (no pseudo)">
            <a:extLst>
              <a:ext uri="{FF2B5EF4-FFF2-40B4-BE49-F238E27FC236}">
                <a16:creationId xmlns:a16="http://schemas.microsoft.com/office/drawing/2014/main" id="{6152C243-7C11-72B4-655A-F6C20103F058}"/>
              </a:ext>
            </a:extLst>
          </p:cNvPr>
          <p:cNvGrpSpPr/>
          <p:nvPr/>
        </p:nvGrpSpPr>
        <p:grpSpPr>
          <a:xfrm>
            <a:off x="3135511" y="1218198"/>
            <a:ext cx="269656" cy="205670"/>
            <a:chOff x="3097755" y="1465110"/>
            <a:chExt cx="243090" cy="190530"/>
          </a:xfrm>
        </p:grpSpPr>
        <p:sp>
          <p:nvSpPr>
            <p:cNvPr id="274" name="rect_1885">
              <a:extLst>
                <a:ext uri="{FF2B5EF4-FFF2-40B4-BE49-F238E27FC236}">
                  <a16:creationId xmlns:a16="http://schemas.microsoft.com/office/drawing/2014/main" id="{02A84936-E0C4-22EE-AB39-B8147866C1E6}"/>
                </a:ext>
              </a:extLst>
            </p:cNvPr>
            <p:cNvSpPr/>
            <p:nvPr/>
          </p:nvSpPr>
          <p:spPr>
            <a:xfrm>
              <a:off x="3097755" y="1465110"/>
              <a:ext cx="243090" cy="190530"/>
            </a:xfrm>
            <a:prstGeom prst="roundRect">
              <a:avLst>
                <a:gd name="adj" fmla="val 8621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5" name="ellipse_1886">
              <a:extLst>
                <a:ext uri="{FF2B5EF4-FFF2-40B4-BE49-F238E27FC236}">
                  <a16:creationId xmlns:a16="http://schemas.microsoft.com/office/drawing/2014/main" id="{28C5B77C-D4DA-25CA-7F5E-FFB406D4948B}"/>
                </a:ext>
              </a:extLst>
            </p:cNvPr>
            <p:cNvSpPr/>
            <p:nvPr/>
          </p:nvSpPr>
          <p:spPr>
            <a:xfrm>
              <a:off x="3274804" y="154785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6" name="ellipse_1887">
              <a:extLst>
                <a:ext uri="{FF2B5EF4-FFF2-40B4-BE49-F238E27FC236}">
                  <a16:creationId xmlns:a16="http://schemas.microsoft.com/office/drawing/2014/main" id="{4B9C2CC8-3618-CEA6-223F-481DE7645A74}"/>
                </a:ext>
              </a:extLst>
            </p:cNvPr>
            <p:cNvSpPr/>
            <p:nvPr/>
          </p:nvSpPr>
          <p:spPr>
            <a:xfrm>
              <a:off x="3235593" y="156879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7" name="ellipse_1888">
              <a:extLst>
                <a:ext uri="{FF2B5EF4-FFF2-40B4-BE49-F238E27FC236}">
                  <a16:creationId xmlns:a16="http://schemas.microsoft.com/office/drawing/2014/main" id="{116AA07D-1658-6583-2048-22DAA979C713}"/>
                </a:ext>
              </a:extLst>
            </p:cNvPr>
            <p:cNvSpPr/>
            <p:nvPr/>
          </p:nvSpPr>
          <p:spPr>
            <a:xfrm>
              <a:off x="3215524" y="154839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8" name="ellipse_1889">
              <a:extLst>
                <a:ext uri="{FF2B5EF4-FFF2-40B4-BE49-F238E27FC236}">
                  <a16:creationId xmlns:a16="http://schemas.microsoft.com/office/drawing/2014/main" id="{B9996B1C-4365-A5B2-A0FA-BEEE1AE3580D}"/>
                </a:ext>
              </a:extLst>
            </p:cNvPr>
            <p:cNvSpPr/>
            <p:nvPr/>
          </p:nvSpPr>
          <p:spPr>
            <a:xfrm>
              <a:off x="3114632" y="157995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9" name="ellipse_1890">
              <a:extLst>
                <a:ext uri="{FF2B5EF4-FFF2-40B4-BE49-F238E27FC236}">
                  <a16:creationId xmlns:a16="http://schemas.microsoft.com/office/drawing/2014/main" id="{B24EA66B-C475-FD74-3653-99240EA2FC7D}"/>
                </a:ext>
              </a:extLst>
            </p:cNvPr>
            <p:cNvSpPr/>
            <p:nvPr/>
          </p:nvSpPr>
          <p:spPr>
            <a:xfrm>
              <a:off x="3288227" y="158414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0" name="ellipse_1891">
              <a:extLst>
                <a:ext uri="{FF2B5EF4-FFF2-40B4-BE49-F238E27FC236}">
                  <a16:creationId xmlns:a16="http://schemas.microsoft.com/office/drawing/2014/main" id="{7C05A257-A858-E4EC-CE72-2E262BB52B07}"/>
                </a:ext>
              </a:extLst>
            </p:cNvPr>
            <p:cNvSpPr/>
            <p:nvPr/>
          </p:nvSpPr>
          <p:spPr>
            <a:xfrm>
              <a:off x="3206468" y="161007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1" name="ellipse_1892">
              <a:extLst>
                <a:ext uri="{FF2B5EF4-FFF2-40B4-BE49-F238E27FC236}">
                  <a16:creationId xmlns:a16="http://schemas.microsoft.com/office/drawing/2014/main" id="{5029BF78-C694-94BA-2390-D6FC0A6BFD81}"/>
                </a:ext>
              </a:extLst>
            </p:cNvPr>
            <p:cNvSpPr/>
            <p:nvPr/>
          </p:nvSpPr>
          <p:spPr>
            <a:xfrm>
              <a:off x="3224851" y="161218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2" name="ellipse_1893">
              <a:extLst>
                <a:ext uri="{FF2B5EF4-FFF2-40B4-BE49-F238E27FC236}">
                  <a16:creationId xmlns:a16="http://schemas.microsoft.com/office/drawing/2014/main" id="{B400169A-5E49-FEE5-1915-FCB9E751F312}"/>
                </a:ext>
              </a:extLst>
            </p:cNvPr>
            <p:cNvSpPr/>
            <p:nvPr/>
          </p:nvSpPr>
          <p:spPr>
            <a:xfrm>
              <a:off x="3255857" y="1477242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83" name="Find | PTV3 stage 5 (no pseudo)">
            <a:extLst>
              <a:ext uri="{FF2B5EF4-FFF2-40B4-BE49-F238E27FC236}">
                <a16:creationId xmlns:a16="http://schemas.microsoft.com/office/drawing/2014/main" id="{FE5D4BB8-AE08-CFDC-14F9-58D62B643799}"/>
              </a:ext>
            </a:extLst>
          </p:cNvPr>
          <p:cNvGrpSpPr/>
          <p:nvPr/>
        </p:nvGrpSpPr>
        <p:grpSpPr>
          <a:xfrm>
            <a:off x="3559066" y="1222153"/>
            <a:ext cx="276863" cy="197759"/>
            <a:chOff x="3473888" y="1438830"/>
            <a:chExt cx="279225" cy="243090"/>
          </a:xfrm>
        </p:grpSpPr>
        <p:sp>
          <p:nvSpPr>
            <p:cNvPr id="284" name="rect_1899">
              <a:extLst>
                <a:ext uri="{FF2B5EF4-FFF2-40B4-BE49-F238E27FC236}">
                  <a16:creationId xmlns:a16="http://schemas.microsoft.com/office/drawing/2014/main" id="{3C966A44-931E-3C61-C3E2-9910BF785D0E}"/>
                </a:ext>
              </a:extLst>
            </p:cNvPr>
            <p:cNvSpPr/>
            <p:nvPr/>
          </p:nvSpPr>
          <p:spPr>
            <a:xfrm>
              <a:off x="3473888" y="1438830"/>
              <a:ext cx="279225" cy="243090"/>
            </a:xfrm>
            <a:prstGeom prst="roundRect">
              <a:avLst>
                <a:gd name="adj" fmla="val 6757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" name="ellipse_1900">
              <a:extLst>
                <a:ext uri="{FF2B5EF4-FFF2-40B4-BE49-F238E27FC236}">
                  <a16:creationId xmlns:a16="http://schemas.microsoft.com/office/drawing/2014/main" id="{0734BB70-ADDB-68EE-E4C9-F1E9F19AF6E7}"/>
                </a:ext>
              </a:extLst>
            </p:cNvPr>
            <p:cNvSpPr/>
            <p:nvPr/>
          </p:nvSpPr>
          <p:spPr>
            <a:xfrm>
              <a:off x="3538819" y="1482538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6" name="ellipse_1901">
              <a:extLst>
                <a:ext uri="{FF2B5EF4-FFF2-40B4-BE49-F238E27FC236}">
                  <a16:creationId xmlns:a16="http://schemas.microsoft.com/office/drawing/2014/main" id="{50CDA3FC-9E47-A0FF-54FE-0B291B80C55E}"/>
                </a:ext>
              </a:extLst>
            </p:cNvPr>
            <p:cNvSpPr/>
            <p:nvPr/>
          </p:nvSpPr>
          <p:spPr>
            <a:xfrm>
              <a:off x="3631999" y="1578094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7" name="ellipse_1902">
              <a:extLst>
                <a:ext uri="{FF2B5EF4-FFF2-40B4-BE49-F238E27FC236}">
                  <a16:creationId xmlns:a16="http://schemas.microsoft.com/office/drawing/2014/main" id="{FDEE2D57-7D4E-037C-452C-66A797AB07C9}"/>
                </a:ext>
              </a:extLst>
            </p:cNvPr>
            <p:cNvSpPr/>
            <p:nvPr/>
          </p:nvSpPr>
          <p:spPr>
            <a:xfrm>
              <a:off x="3687564" y="159017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" name="ellipse_1903">
              <a:extLst>
                <a:ext uri="{FF2B5EF4-FFF2-40B4-BE49-F238E27FC236}">
                  <a16:creationId xmlns:a16="http://schemas.microsoft.com/office/drawing/2014/main" id="{B2C7060E-B2BB-F02D-5B6F-B7D323B087B4}"/>
                </a:ext>
              </a:extLst>
            </p:cNvPr>
            <p:cNvSpPr/>
            <p:nvPr/>
          </p:nvSpPr>
          <p:spPr>
            <a:xfrm>
              <a:off x="3686262" y="162539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9" name="ellipse_1904">
              <a:extLst>
                <a:ext uri="{FF2B5EF4-FFF2-40B4-BE49-F238E27FC236}">
                  <a16:creationId xmlns:a16="http://schemas.microsoft.com/office/drawing/2014/main" id="{7DE1C447-AFD4-DD7C-5DE0-0E96E8153D12}"/>
                </a:ext>
              </a:extLst>
            </p:cNvPr>
            <p:cNvSpPr/>
            <p:nvPr/>
          </p:nvSpPr>
          <p:spPr>
            <a:xfrm>
              <a:off x="3673847" y="145725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0" name="ellipse_1905">
              <a:extLst>
                <a:ext uri="{FF2B5EF4-FFF2-40B4-BE49-F238E27FC236}">
                  <a16:creationId xmlns:a16="http://schemas.microsoft.com/office/drawing/2014/main" id="{536BBD44-5D8E-E642-7EFE-DC301B9D3F7F}"/>
                </a:ext>
              </a:extLst>
            </p:cNvPr>
            <p:cNvSpPr/>
            <p:nvPr/>
          </p:nvSpPr>
          <p:spPr>
            <a:xfrm>
              <a:off x="3580150" y="160304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1" name="ellipse_1906">
              <a:extLst>
                <a:ext uri="{FF2B5EF4-FFF2-40B4-BE49-F238E27FC236}">
                  <a16:creationId xmlns:a16="http://schemas.microsoft.com/office/drawing/2014/main" id="{2D018CC6-8BB4-0573-830A-62F9771BB455}"/>
                </a:ext>
              </a:extLst>
            </p:cNvPr>
            <p:cNvSpPr/>
            <p:nvPr/>
          </p:nvSpPr>
          <p:spPr>
            <a:xfrm>
              <a:off x="3499431" y="147999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2" name="ellipse_1907">
              <a:extLst>
                <a:ext uri="{FF2B5EF4-FFF2-40B4-BE49-F238E27FC236}">
                  <a16:creationId xmlns:a16="http://schemas.microsoft.com/office/drawing/2014/main" id="{3D9BABC9-7179-80DF-931B-76C5D153BFA2}"/>
                </a:ext>
              </a:extLst>
            </p:cNvPr>
            <p:cNvSpPr/>
            <p:nvPr/>
          </p:nvSpPr>
          <p:spPr>
            <a:xfrm>
              <a:off x="3698498" y="1633754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3" name="ellipse_1908">
              <a:extLst>
                <a:ext uri="{FF2B5EF4-FFF2-40B4-BE49-F238E27FC236}">
                  <a16:creationId xmlns:a16="http://schemas.microsoft.com/office/drawing/2014/main" id="{BF41BEF8-8F67-637A-F426-1015DD3C37FC}"/>
                </a:ext>
              </a:extLst>
            </p:cNvPr>
            <p:cNvSpPr/>
            <p:nvPr/>
          </p:nvSpPr>
          <p:spPr>
            <a:xfrm>
              <a:off x="3664475" y="160668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4" name="ellipse_1909">
              <a:extLst>
                <a:ext uri="{FF2B5EF4-FFF2-40B4-BE49-F238E27FC236}">
                  <a16:creationId xmlns:a16="http://schemas.microsoft.com/office/drawing/2014/main" id="{E57407DB-12F2-A10B-73ED-904E74E89684}"/>
                </a:ext>
              </a:extLst>
            </p:cNvPr>
            <p:cNvSpPr/>
            <p:nvPr/>
          </p:nvSpPr>
          <p:spPr>
            <a:xfrm>
              <a:off x="3577670" y="157500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295" name="Rectangle 12150">
            <a:extLst>
              <a:ext uri="{FF2B5EF4-FFF2-40B4-BE49-F238E27FC236}">
                <a16:creationId xmlns:a16="http://schemas.microsoft.com/office/drawing/2014/main" id="{8BB2EAEF-8D89-55B5-F883-4E54E99BD78E}"/>
              </a:ext>
            </a:extLst>
          </p:cNvPr>
          <p:cNvSpPr/>
          <p:nvPr/>
        </p:nvSpPr>
        <p:spPr>
          <a:xfrm>
            <a:off x="2629598" y="1487151"/>
            <a:ext cx="411339" cy="102835"/>
          </a:xfrm>
          <a:prstGeom prst="rect">
            <a:avLst/>
          </a:prstGeom>
          <a:solidFill>
            <a:srgbClr val="F2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296" name="TextBox 12151">
            <a:extLst>
              <a:ext uri="{FF2B5EF4-FFF2-40B4-BE49-F238E27FC236}">
                <a16:creationId xmlns:a16="http://schemas.microsoft.com/office/drawing/2014/main" id="{EF55ECE2-C6C0-8216-6F8B-11F814326338}"/>
              </a:ext>
            </a:extLst>
          </p:cNvPr>
          <p:cNvSpPr txBox="1"/>
          <p:nvPr/>
        </p:nvSpPr>
        <p:spPr>
          <a:xfrm>
            <a:off x="2613777" y="1495608"/>
            <a:ext cx="442981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71" i="1">
                <a:solidFill>
                  <a:srgbClr val="3B7DB5"/>
                </a:solidFill>
                <a:latin typeface="Arial"/>
              </a:rPr>
              <a:t>Recycle</a:t>
            </a:r>
          </a:p>
        </p:txBody>
      </p:sp>
      <p:sp>
        <p:nvSpPr>
          <p:cNvPr id="297" name="TextBox 12152">
            <a:extLst>
              <a:ext uri="{FF2B5EF4-FFF2-40B4-BE49-F238E27FC236}">
                <a16:creationId xmlns:a16="http://schemas.microsoft.com/office/drawing/2014/main" id="{DA95DC65-9861-CC7E-7EFC-4B9E07722C91}"/>
              </a:ext>
            </a:extLst>
          </p:cNvPr>
          <p:cNvSpPr txBox="1"/>
          <p:nvPr/>
        </p:nvSpPr>
        <p:spPr>
          <a:xfrm>
            <a:off x="1743636" y="1615773"/>
            <a:ext cx="2183263" cy="106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9">
                <a:solidFill>
                  <a:srgbClr val="1E293B"/>
                </a:solidFill>
                <a:latin typeface="Arial"/>
              </a:rPr>
              <a:t>Point Transformer V3</a:t>
            </a:r>
          </a:p>
        </p:txBody>
      </p:sp>
      <p:sp>
        <p:nvSpPr>
          <p:cNvPr id="298" name="TextBox 12153">
            <a:extLst>
              <a:ext uri="{FF2B5EF4-FFF2-40B4-BE49-F238E27FC236}">
                <a16:creationId xmlns:a16="http://schemas.microsoft.com/office/drawing/2014/main" id="{522E41DD-5F6E-76BD-E92F-5CBA886A651B}"/>
              </a:ext>
            </a:extLst>
          </p:cNvPr>
          <p:cNvSpPr txBox="1"/>
          <p:nvPr/>
        </p:nvSpPr>
        <p:spPr>
          <a:xfrm>
            <a:off x="2590045" y="1058360"/>
            <a:ext cx="76730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588" dirty="0">
                <a:solidFill>
                  <a:srgbClr val="2B6CB0"/>
                </a:solidFill>
                <a:latin typeface="Arial"/>
              </a:rPr>
              <a:t>F</a:t>
            </a:r>
            <a:r>
              <a:rPr sz="588" dirty="0">
                <a:solidFill>
                  <a:srgbClr val="2B6CB0"/>
                </a:solidFill>
                <a:latin typeface="Arial"/>
              </a:rPr>
              <a:t>usion</a:t>
            </a:r>
          </a:p>
        </p:txBody>
      </p:sp>
      <p:sp>
        <p:nvSpPr>
          <p:cNvPr id="299" name="Find | Blobs output card">
            <a:extLst>
              <a:ext uri="{FF2B5EF4-FFF2-40B4-BE49-F238E27FC236}">
                <a16:creationId xmlns:a16="http://schemas.microsoft.com/office/drawing/2014/main" id="{6A602B9B-DE58-7AA0-FDBA-741F60C78A9B}"/>
              </a:ext>
            </a:extLst>
          </p:cNvPr>
          <p:cNvSpPr/>
          <p:nvPr/>
        </p:nvSpPr>
        <p:spPr>
          <a:xfrm>
            <a:off x="4044180" y="284775"/>
            <a:ext cx="442980" cy="147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300" name="TextBox 12155">
            <a:extLst>
              <a:ext uri="{FF2B5EF4-FFF2-40B4-BE49-F238E27FC236}">
                <a16:creationId xmlns:a16="http://schemas.microsoft.com/office/drawing/2014/main" id="{1F7C0F6F-D082-C8AA-DE11-4286EF42AADB}"/>
              </a:ext>
            </a:extLst>
          </p:cNvPr>
          <p:cNvSpPr txBox="1"/>
          <p:nvPr/>
        </p:nvSpPr>
        <p:spPr>
          <a:xfrm>
            <a:off x="3920517" y="307007"/>
            <a:ext cx="696113" cy="1119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44" dirty="0">
                <a:solidFill>
                  <a:srgbClr val="1E293B"/>
                </a:solidFill>
                <a:latin typeface="Arial"/>
              </a:rPr>
              <a:t>Blobs</a:t>
            </a:r>
          </a:p>
        </p:txBody>
      </p:sp>
      <p:sp>
        <p:nvSpPr>
          <p:cNvPr id="301" name="TextBox 12160">
            <a:extLst>
              <a:ext uri="{FF2B5EF4-FFF2-40B4-BE49-F238E27FC236}">
                <a16:creationId xmlns:a16="http://schemas.microsoft.com/office/drawing/2014/main" id="{EBF2AA16-9B52-B84F-43EE-03BA82B2D4CA}"/>
              </a:ext>
            </a:extLst>
          </p:cNvPr>
          <p:cNvSpPr txBox="1"/>
          <p:nvPr/>
        </p:nvSpPr>
        <p:spPr>
          <a:xfrm>
            <a:off x="534876" y="2090304"/>
            <a:ext cx="1186556" cy="1079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18" dirty="0">
                <a:solidFill>
                  <a:srgbClr val="1E293B"/>
                </a:solidFill>
                <a:latin typeface="Arial"/>
              </a:rPr>
              <a:t>Candidate encoder</a:t>
            </a:r>
          </a:p>
        </p:txBody>
      </p:sp>
      <p:sp>
        <p:nvSpPr>
          <p:cNvPr id="302" name="TextBox 12161">
            <a:extLst>
              <a:ext uri="{FF2B5EF4-FFF2-40B4-BE49-F238E27FC236}">
                <a16:creationId xmlns:a16="http://schemas.microsoft.com/office/drawing/2014/main" id="{1FD101AA-9130-CD96-6414-B193E6D36851}"/>
              </a:ext>
            </a:extLst>
          </p:cNvPr>
          <p:cNvSpPr txBox="1"/>
          <p:nvPr/>
        </p:nvSpPr>
        <p:spPr>
          <a:xfrm>
            <a:off x="2563797" y="2090304"/>
            <a:ext cx="1186556" cy="1079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18" dirty="0">
                <a:solidFill>
                  <a:srgbClr val="1E293B"/>
                </a:solidFill>
                <a:latin typeface="Arial"/>
              </a:rPr>
              <a:t>Identity encoder</a:t>
            </a:r>
          </a:p>
        </p:txBody>
      </p:sp>
      <p:sp>
        <p:nvSpPr>
          <p:cNvPr id="303" name="Match | Center divider">
            <a:extLst>
              <a:ext uri="{FF2B5EF4-FFF2-40B4-BE49-F238E27FC236}">
                <a16:creationId xmlns:a16="http://schemas.microsoft.com/office/drawing/2014/main" id="{5A593D05-94F5-C55B-C8C6-B8F9E86B08C6}"/>
              </a:ext>
            </a:extLst>
          </p:cNvPr>
          <p:cNvSpPr/>
          <p:nvPr/>
        </p:nvSpPr>
        <p:spPr>
          <a:xfrm>
            <a:off x="2474533" y="2119981"/>
            <a:ext cx="1" cy="1945952"/>
          </a:xfrm>
          <a:custGeom>
            <a:avLst/>
            <a:gdLst/>
            <a:ahLst/>
            <a:cxnLst/>
            <a:rect l="0" t="0" r="w" b="h"/>
            <a:pathLst>
              <a:path w="1" h="2249424">
                <a:moveTo>
                  <a:pt x="0" y="0"/>
                </a:moveTo>
                <a:lnTo>
                  <a:pt x="0" y="2249424"/>
                </a:lnTo>
              </a:path>
            </a:pathLst>
          </a:custGeom>
          <a:noFill/>
          <a:ln w="9525" cap="rnd" cmpd="sng" algn="ctr">
            <a:solidFill>
              <a:srgbClr val="D0E2DA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4" name="TextBox 12164">
            <a:extLst>
              <a:ext uri="{FF2B5EF4-FFF2-40B4-BE49-F238E27FC236}">
                <a16:creationId xmlns:a16="http://schemas.microsoft.com/office/drawing/2014/main" id="{DA6D9C81-D325-B373-1580-DEE13789E3EE}"/>
              </a:ext>
            </a:extLst>
          </p:cNvPr>
          <p:cNvSpPr txBox="1"/>
          <p:nvPr/>
        </p:nvSpPr>
        <p:spPr>
          <a:xfrm>
            <a:off x="526966" y="2270869"/>
            <a:ext cx="442981" cy="9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>
                <a:solidFill>
                  <a:srgbClr val="1E293B"/>
                </a:solidFill>
                <a:latin typeface="Arial"/>
              </a:rPr>
              <a:t>Receptor</a:t>
            </a:r>
          </a:p>
        </p:txBody>
      </p:sp>
      <p:sp>
        <p:nvSpPr>
          <p:cNvPr id="305" name="TextBox 12166">
            <a:extLst>
              <a:ext uri="{FF2B5EF4-FFF2-40B4-BE49-F238E27FC236}">
                <a16:creationId xmlns:a16="http://schemas.microsoft.com/office/drawing/2014/main" id="{6E830D7E-FC74-3019-18B2-DDE04B6E60D0}"/>
              </a:ext>
            </a:extLst>
          </p:cNvPr>
          <p:cNvSpPr txBox="1"/>
          <p:nvPr/>
        </p:nvSpPr>
        <p:spPr>
          <a:xfrm>
            <a:off x="1009499" y="2270869"/>
            <a:ext cx="442981" cy="9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 dirty="0">
                <a:solidFill>
                  <a:srgbClr val="1E293B"/>
                </a:solidFill>
                <a:latin typeface="Arial"/>
              </a:rPr>
              <a:t>Density</a:t>
            </a:r>
          </a:p>
        </p:txBody>
      </p:sp>
      <p:pic>
        <p:nvPicPr>
          <p:cNvPr id="306" name="Match corresponding experimental density" descr="Experimental 9LLG density around chain C1 of the displayed CryoAtom2 receptor, at the original contour level and the identical camera orientation.">
            <a:extLst>
              <a:ext uri="{FF2B5EF4-FFF2-40B4-BE49-F238E27FC236}">
                <a16:creationId xmlns:a16="http://schemas.microsoft.com/office/drawing/2014/main" id="{7A47CBDC-2732-4D0F-C4FF-972DA2F1AA3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56983" y="2380847"/>
            <a:ext cx="347980" cy="332276"/>
          </a:xfrm>
          <a:prstGeom prst="rect">
            <a:avLst/>
          </a:prstGeom>
        </p:spPr>
      </p:pic>
      <p:sp>
        <p:nvSpPr>
          <p:cNvPr id="526" name="TextBox 12168">
            <a:extLst>
              <a:ext uri="{FF2B5EF4-FFF2-40B4-BE49-F238E27FC236}">
                <a16:creationId xmlns:a16="http://schemas.microsoft.com/office/drawing/2014/main" id="{50BD09F1-2D4A-FA0A-7AF2-981DD7585F3A}"/>
              </a:ext>
            </a:extLst>
          </p:cNvPr>
          <p:cNvSpPr txBox="1"/>
          <p:nvPr/>
        </p:nvSpPr>
        <p:spPr>
          <a:xfrm>
            <a:off x="567015" y="2851277"/>
            <a:ext cx="340209" cy="972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>
                <a:solidFill>
                  <a:srgbClr val="1E293B"/>
                </a:solidFill>
                <a:latin typeface="Arial"/>
              </a:rPr>
              <a:t>Pocket</a:t>
            </a:r>
          </a:p>
        </p:txBody>
      </p:sp>
      <p:sp>
        <p:nvSpPr>
          <p:cNvPr id="613" name="TextBox 12177">
            <a:extLst>
              <a:ext uri="{FF2B5EF4-FFF2-40B4-BE49-F238E27FC236}">
                <a16:creationId xmlns:a16="http://schemas.microsoft.com/office/drawing/2014/main" id="{086F717F-C0B1-CD04-AFB8-166092CD717F}"/>
              </a:ext>
            </a:extLst>
          </p:cNvPr>
          <p:cNvSpPr txBox="1"/>
          <p:nvPr/>
        </p:nvSpPr>
        <p:spPr>
          <a:xfrm>
            <a:off x="1016577" y="2851277"/>
            <a:ext cx="340209" cy="972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>
                <a:solidFill>
                  <a:srgbClr val="1E293B"/>
                </a:solidFill>
                <a:latin typeface="Arial"/>
              </a:rPr>
              <a:t>Blob</a:t>
            </a:r>
          </a:p>
        </p:txBody>
      </p:sp>
      <p:grpSp>
        <p:nvGrpSpPr>
          <p:cNvPr id="614" name="Match | Blob contour">
            <a:extLst>
              <a:ext uri="{FF2B5EF4-FFF2-40B4-BE49-F238E27FC236}">
                <a16:creationId xmlns:a16="http://schemas.microsoft.com/office/drawing/2014/main" id="{ECF83E2A-3199-B09F-F90E-31DC9848C382}"/>
              </a:ext>
            </a:extLst>
          </p:cNvPr>
          <p:cNvGrpSpPr/>
          <p:nvPr/>
        </p:nvGrpSpPr>
        <p:grpSpPr>
          <a:xfrm>
            <a:off x="1044928" y="3041632"/>
            <a:ext cx="291608" cy="199265"/>
            <a:chOff x="1928706" y="3559489"/>
            <a:chExt cx="227897" cy="155682"/>
          </a:xfrm>
        </p:grpSpPr>
        <p:sp>
          <p:nvSpPr>
            <p:cNvPr id="615" name="Candidate blob | editable contour">
              <a:extLst>
                <a:ext uri="{FF2B5EF4-FFF2-40B4-BE49-F238E27FC236}">
                  <a16:creationId xmlns:a16="http://schemas.microsoft.com/office/drawing/2014/main" id="{513F782E-E1DE-1B64-68A9-FB54BE71715F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16" name="ellipse_2612">
              <a:extLst>
                <a:ext uri="{FF2B5EF4-FFF2-40B4-BE49-F238E27FC236}">
                  <a16:creationId xmlns:a16="http://schemas.microsoft.com/office/drawing/2014/main" id="{12A4650A-7359-9456-1843-A3C9E08B2497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618" name="TextBox 12186">
            <a:extLst>
              <a:ext uri="{FF2B5EF4-FFF2-40B4-BE49-F238E27FC236}">
                <a16:creationId xmlns:a16="http://schemas.microsoft.com/office/drawing/2014/main" id="{88505915-A113-7FAA-6C15-3F2B10F6D7CB}"/>
              </a:ext>
            </a:extLst>
          </p:cNvPr>
          <p:cNvSpPr txBox="1"/>
          <p:nvPr/>
        </p:nvSpPr>
        <p:spPr>
          <a:xfrm>
            <a:off x="1558387" y="2259965"/>
            <a:ext cx="286938" cy="923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14">
                <a:solidFill>
                  <a:srgbClr val="27364B"/>
                </a:solidFill>
                <a:latin typeface="Arial"/>
              </a:rPr>
              <a:t>48³ crop</a:t>
            </a:r>
          </a:p>
        </p:txBody>
      </p:sp>
      <p:grpSp>
        <p:nvGrpSpPr>
          <p:cNvPr id="619" name="48^3 crop 3D cube">
            <a:extLst>
              <a:ext uri="{FF2B5EF4-FFF2-40B4-BE49-F238E27FC236}">
                <a16:creationId xmlns:a16="http://schemas.microsoft.com/office/drawing/2014/main" id="{50441A72-5112-E010-1BBD-72FFF87A8B6E}"/>
              </a:ext>
            </a:extLst>
          </p:cNvPr>
          <p:cNvGrpSpPr/>
          <p:nvPr/>
        </p:nvGrpSpPr>
        <p:grpSpPr>
          <a:xfrm>
            <a:off x="1575493" y="2353114"/>
            <a:ext cx="251107" cy="197645"/>
            <a:chOff x="4043880" y="489960"/>
            <a:chExt cx="571680" cy="450000"/>
          </a:xfrm>
        </p:grpSpPr>
        <p:sp>
          <p:nvSpPr>
            <p:cNvPr id="620" name="asset_2027_0">
              <a:extLst>
                <a:ext uri="{FF2B5EF4-FFF2-40B4-BE49-F238E27FC236}">
                  <a16:creationId xmlns:a16="http://schemas.microsoft.com/office/drawing/2014/main" id="{2C26482F-D7D7-E3F6-FBCD-22AC82315E62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489960"/>
              <a:ext cx="571680" cy="76500"/>
            </a:xfrm>
            <a:custGeom>
              <a:avLst/>
              <a:gdLst/>
              <a:ahLst/>
              <a:cxnLst/>
              <a:rect l="0" t="0" r="0" b="0"/>
              <a:pathLst>
                <a:path w="571680" h="76500">
                  <a:moveTo>
                    <a:pt x="0" y="76500"/>
                  </a:moveTo>
                  <a:lnTo>
                    <a:pt x="108619" y="0"/>
                  </a:lnTo>
                  <a:lnTo>
                    <a:pt x="571680" y="0"/>
                  </a:lnTo>
                  <a:lnTo>
                    <a:pt x="463061" y="76500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621" name="asset_2027_1">
              <a:extLst>
                <a:ext uri="{FF2B5EF4-FFF2-40B4-BE49-F238E27FC236}">
                  <a16:creationId xmlns:a16="http://schemas.microsoft.com/office/drawing/2014/main" id="{F28AFBA7-0A71-99DE-9FF9-EBD0ADC1144C}"/>
                </a:ext>
              </a:extLst>
            </p:cNvPr>
            <p:cNvSpPr>
              <a:spLocks noGrp="1"/>
            </p:cNvSpPr>
            <p:nvPr/>
          </p:nvSpPr>
          <p:spPr>
            <a:xfrm>
              <a:off x="4506941" y="489960"/>
              <a:ext cx="108619" cy="450000"/>
            </a:xfrm>
            <a:custGeom>
              <a:avLst/>
              <a:gdLst/>
              <a:ahLst/>
              <a:cxnLst/>
              <a:rect l="0" t="0" r="0" b="0"/>
              <a:pathLst>
                <a:path w="108619" h="450000">
                  <a:moveTo>
                    <a:pt x="0" y="76500"/>
                  </a:moveTo>
                  <a:lnTo>
                    <a:pt x="108619" y="0"/>
                  </a:lnTo>
                  <a:lnTo>
                    <a:pt x="108619" y="373500"/>
                  </a:lnTo>
                  <a:lnTo>
                    <a:pt x="0" y="45000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622" name="asset_2027_2">
              <a:extLst>
                <a:ext uri="{FF2B5EF4-FFF2-40B4-BE49-F238E27FC236}">
                  <a16:creationId xmlns:a16="http://schemas.microsoft.com/office/drawing/2014/main" id="{97E064B3-0050-239C-C963-C5E4E31B84D2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566460"/>
              <a:ext cx="463061" cy="373500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623" name="asset_2027_3">
              <a:extLst>
                <a:ext uri="{FF2B5EF4-FFF2-40B4-BE49-F238E27FC236}">
                  <a16:creationId xmlns:a16="http://schemas.microsoft.com/office/drawing/2014/main" id="{A2C54284-938E-B40D-7CE6-20A987BE1447}"/>
                </a:ext>
              </a:extLst>
            </p:cNvPr>
            <p:cNvSpPr>
              <a:spLocks noGrp="1"/>
            </p:cNvSpPr>
            <p:nvPr/>
          </p:nvSpPr>
          <p:spPr>
            <a:xfrm>
              <a:off x="4159645" y="566460"/>
              <a:ext cx="4" cy="373500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4" name="asset_2027_4">
              <a:extLst>
                <a:ext uri="{FF2B5EF4-FFF2-40B4-BE49-F238E27FC236}">
                  <a16:creationId xmlns:a16="http://schemas.microsoft.com/office/drawing/2014/main" id="{0F8960CE-A059-8D07-91FB-C97F3078BCD9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659835"/>
              <a:ext cx="463061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5" name="asset_2027_5">
              <a:extLst>
                <a:ext uri="{FF2B5EF4-FFF2-40B4-BE49-F238E27FC236}">
                  <a16:creationId xmlns:a16="http://schemas.microsoft.com/office/drawing/2014/main" id="{A5646F3B-E3B0-7C1C-2E27-F9E967647A65}"/>
                </a:ext>
              </a:extLst>
            </p:cNvPr>
            <p:cNvSpPr>
              <a:spLocks noGrp="1"/>
            </p:cNvSpPr>
            <p:nvPr/>
          </p:nvSpPr>
          <p:spPr>
            <a:xfrm>
              <a:off x="4275410" y="566460"/>
              <a:ext cx="4" cy="373500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6" name="asset_2027_6">
              <a:extLst>
                <a:ext uri="{FF2B5EF4-FFF2-40B4-BE49-F238E27FC236}">
                  <a16:creationId xmlns:a16="http://schemas.microsoft.com/office/drawing/2014/main" id="{49CF1756-587C-D73A-CFD0-CE93821E4BC5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753210"/>
              <a:ext cx="463061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7" name="asset_2027_7">
              <a:extLst>
                <a:ext uri="{FF2B5EF4-FFF2-40B4-BE49-F238E27FC236}">
                  <a16:creationId xmlns:a16="http://schemas.microsoft.com/office/drawing/2014/main" id="{617A40D8-F985-CF5E-C184-9CEE010688B0}"/>
                </a:ext>
              </a:extLst>
            </p:cNvPr>
            <p:cNvSpPr>
              <a:spLocks noGrp="1"/>
            </p:cNvSpPr>
            <p:nvPr/>
          </p:nvSpPr>
          <p:spPr>
            <a:xfrm>
              <a:off x="4391176" y="566460"/>
              <a:ext cx="4" cy="373500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8" name="asset_2027_8">
              <a:extLst>
                <a:ext uri="{FF2B5EF4-FFF2-40B4-BE49-F238E27FC236}">
                  <a16:creationId xmlns:a16="http://schemas.microsoft.com/office/drawing/2014/main" id="{D74C2F96-9830-4E45-47CF-280DBDF3BBA6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846585"/>
              <a:ext cx="463061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9" name="asset_2027_53">
              <a:extLst>
                <a:ext uri="{FF2B5EF4-FFF2-40B4-BE49-F238E27FC236}">
                  <a16:creationId xmlns:a16="http://schemas.microsoft.com/office/drawing/2014/main" id="{B57D82E4-2BD4-33AA-2164-941D5F47EC2E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566460"/>
              <a:ext cx="463061" cy="373500"/>
            </a:xfrm>
            <a:custGeom>
              <a:avLst/>
              <a:gdLst/>
              <a:ahLst/>
              <a:cxnLst/>
              <a:rect l="0" t="0" r="0" b="0"/>
              <a:pathLst>
                <a:path w="463061" h="373500">
                  <a:moveTo>
                    <a:pt x="0" y="0"/>
                  </a:moveTo>
                  <a:lnTo>
                    <a:pt x="463061" y="0"/>
                  </a:lnTo>
                  <a:lnTo>
                    <a:pt x="463061" y="373500"/>
                  </a:lnTo>
                  <a:lnTo>
                    <a:pt x="0" y="373500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630" name="48^3 crop centered blob">
            <a:extLst>
              <a:ext uri="{FF2B5EF4-FFF2-40B4-BE49-F238E27FC236}">
                <a16:creationId xmlns:a16="http://schemas.microsoft.com/office/drawing/2014/main" id="{05F07842-8C1D-D758-5B6A-3324A46B243F}"/>
              </a:ext>
            </a:extLst>
          </p:cNvPr>
          <p:cNvGrpSpPr/>
          <p:nvPr/>
        </p:nvGrpSpPr>
        <p:grpSpPr>
          <a:xfrm>
            <a:off x="1638269" y="2424395"/>
            <a:ext cx="110568" cy="75332"/>
            <a:chOff x="1928706" y="3559489"/>
            <a:chExt cx="227897" cy="155682"/>
          </a:xfrm>
        </p:grpSpPr>
        <p:sp>
          <p:nvSpPr>
            <p:cNvPr id="631" name="Candidate blob | editable contour">
              <a:extLst>
                <a:ext uri="{FF2B5EF4-FFF2-40B4-BE49-F238E27FC236}">
                  <a16:creationId xmlns:a16="http://schemas.microsoft.com/office/drawing/2014/main" id="{9098312C-2F0E-B28B-B660-F9C51272B948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32" name="ellipse_2612">
              <a:extLst>
                <a:ext uri="{FF2B5EF4-FFF2-40B4-BE49-F238E27FC236}">
                  <a16:creationId xmlns:a16="http://schemas.microsoft.com/office/drawing/2014/main" id="{ACF53CE3-1C37-025F-02A8-70EEA8DCFD7B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633" name="Blob centroid marker">
            <a:extLst>
              <a:ext uri="{FF2B5EF4-FFF2-40B4-BE49-F238E27FC236}">
                <a16:creationId xmlns:a16="http://schemas.microsoft.com/office/drawing/2014/main" id="{EDD959CF-D4D3-5624-F7B2-BF9345634585}"/>
              </a:ext>
            </a:extLst>
          </p:cNvPr>
          <p:cNvSpPr/>
          <p:nvPr/>
        </p:nvSpPr>
        <p:spPr>
          <a:xfrm>
            <a:off x="1681200" y="2450316"/>
            <a:ext cx="24301" cy="24301"/>
          </a:xfrm>
          <a:prstGeom prst="ellipse">
            <a:avLst/>
          </a:prstGeom>
          <a:solidFill>
            <a:srgbClr val="1D4ED8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34" name="TextBox 12188">
            <a:extLst>
              <a:ext uri="{FF2B5EF4-FFF2-40B4-BE49-F238E27FC236}">
                <a16:creationId xmlns:a16="http://schemas.microsoft.com/office/drawing/2014/main" id="{2C0C5B7E-EB59-C12C-034A-66725ABF262F}"/>
              </a:ext>
            </a:extLst>
          </p:cNvPr>
          <p:cNvSpPr txBox="1"/>
          <p:nvPr/>
        </p:nvSpPr>
        <p:spPr>
          <a:xfrm>
            <a:off x="1517029" y="2614551"/>
            <a:ext cx="328616" cy="923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14" dirty="0">
                <a:solidFill>
                  <a:srgbClr val="2B6CB0"/>
                </a:solidFill>
                <a:latin typeface="Arial"/>
              </a:rPr>
              <a:t>3D U-Net</a:t>
            </a:r>
          </a:p>
        </p:txBody>
      </p:sp>
      <p:sp>
        <p:nvSpPr>
          <p:cNvPr id="635" name="TextBox 12189">
            <a:extLst>
              <a:ext uri="{FF2B5EF4-FFF2-40B4-BE49-F238E27FC236}">
                <a16:creationId xmlns:a16="http://schemas.microsoft.com/office/drawing/2014/main" id="{8153BF98-6A0C-0786-710E-3D0EE8987AAA}"/>
              </a:ext>
            </a:extLst>
          </p:cNvPr>
          <p:cNvSpPr txBox="1"/>
          <p:nvPr/>
        </p:nvSpPr>
        <p:spPr>
          <a:xfrm>
            <a:off x="1934248" y="2623546"/>
            <a:ext cx="514564" cy="9021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600" dirty="0">
                <a:solidFill>
                  <a:srgbClr val="1E293B"/>
                </a:solidFill>
                <a:latin typeface="Arial"/>
              </a:rPr>
              <a:t>B</a:t>
            </a:r>
            <a:r>
              <a:rPr lang="en-US" altLang="zh-CN" sz="600" dirty="0">
                <a:solidFill>
                  <a:srgbClr val="1E293B"/>
                </a:solidFill>
                <a:latin typeface="Arial"/>
              </a:rPr>
              <a:t>ase s</a:t>
            </a:r>
            <a:r>
              <a:rPr sz="600" dirty="0">
                <a:solidFill>
                  <a:srgbClr val="1E293B"/>
                </a:solidFill>
                <a:latin typeface="Arial"/>
              </a:rPr>
              <a:t>ummary</a:t>
            </a:r>
          </a:p>
        </p:txBody>
      </p:sp>
      <p:sp>
        <p:nvSpPr>
          <p:cNvPr id="636" name="Math | h_j^vox">
            <a:extLst>
              <a:ext uri="{FF2B5EF4-FFF2-40B4-BE49-F238E27FC236}">
                <a16:creationId xmlns:a16="http://schemas.microsoft.com/office/drawing/2014/main" id="{93EC2205-1821-C3E9-E08B-23B27F07452E}"/>
              </a:ext>
            </a:extLst>
          </p:cNvPr>
          <p:cNvSpPr txBox="1"/>
          <p:nvPr/>
        </p:nvSpPr>
        <p:spPr>
          <a:xfrm>
            <a:off x="2110006" y="2371206"/>
            <a:ext cx="169918" cy="1265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22" i="1">
                <a:solidFill>
                  <a:srgbClr val="1E293B"/>
                </a:solidFill>
                <a:latin typeface="Times New Roman"/>
              </a:rPr>
              <a:t>h</a:t>
            </a:r>
            <a:r>
              <a:rPr sz="750" i="1" baseline="-28000">
                <a:solidFill>
                  <a:srgbClr val="1E293B"/>
                </a:solidFill>
                <a:latin typeface="Times New Roman"/>
              </a:rPr>
              <a:t>j</a:t>
            </a:r>
            <a:r>
              <a:rPr sz="750" baseline="32000">
                <a:solidFill>
                  <a:srgbClr val="1E293B"/>
                </a:solidFill>
                <a:latin typeface="Arial"/>
              </a:rPr>
              <a:t>vox</a:t>
            </a:r>
          </a:p>
        </p:txBody>
      </p:sp>
      <p:sp>
        <p:nvSpPr>
          <p:cNvPr id="637" name="Base summary bar_1">
            <a:extLst>
              <a:ext uri="{FF2B5EF4-FFF2-40B4-BE49-F238E27FC236}">
                <a16:creationId xmlns:a16="http://schemas.microsoft.com/office/drawing/2014/main" id="{99E9D3C4-A8BD-9C93-615E-C771AE07C8E3}"/>
              </a:ext>
            </a:extLst>
          </p:cNvPr>
          <p:cNvSpPr/>
          <p:nvPr/>
        </p:nvSpPr>
        <p:spPr>
          <a:xfrm>
            <a:off x="2013536" y="2549118"/>
            <a:ext cx="44072" cy="59328"/>
          </a:xfrm>
          <a:prstGeom prst="rect">
            <a:avLst/>
          </a:prstGeom>
          <a:solidFill>
            <a:srgbClr val="367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38" name="Base summary bar_2">
            <a:extLst>
              <a:ext uri="{FF2B5EF4-FFF2-40B4-BE49-F238E27FC236}">
                <a16:creationId xmlns:a16="http://schemas.microsoft.com/office/drawing/2014/main" id="{6BC787CE-AF83-7509-7C88-9AB58DB6F66F}"/>
              </a:ext>
            </a:extLst>
          </p:cNvPr>
          <p:cNvSpPr/>
          <p:nvPr/>
        </p:nvSpPr>
        <p:spPr>
          <a:xfrm>
            <a:off x="2061563" y="2549118"/>
            <a:ext cx="44072" cy="59328"/>
          </a:xfrm>
          <a:prstGeom prst="rect">
            <a:avLst/>
          </a:prstGeom>
          <a:solidFill>
            <a:srgbClr val="7EA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39" name="Base summary bar_3">
            <a:extLst>
              <a:ext uri="{FF2B5EF4-FFF2-40B4-BE49-F238E27FC236}">
                <a16:creationId xmlns:a16="http://schemas.microsoft.com/office/drawing/2014/main" id="{269240CC-07F6-8569-D6D0-2E898FDFE671}"/>
              </a:ext>
            </a:extLst>
          </p:cNvPr>
          <p:cNvSpPr/>
          <p:nvPr/>
        </p:nvSpPr>
        <p:spPr>
          <a:xfrm>
            <a:off x="2109590" y="2549118"/>
            <a:ext cx="44072" cy="59328"/>
          </a:xfrm>
          <a:prstGeom prst="rect">
            <a:avLst/>
          </a:prstGeom>
          <a:solidFill>
            <a:srgbClr val="BCD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0" name="Base summary bar_4">
            <a:extLst>
              <a:ext uri="{FF2B5EF4-FFF2-40B4-BE49-F238E27FC236}">
                <a16:creationId xmlns:a16="http://schemas.microsoft.com/office/drawing/2014/main" id="{D027E165-A9E7-E339-F192-6FC69D94CA5E}"/>
              </a:ext>
            </a:extLst>
          </p:cNvPr>
          <p:cNvSpPr/>
          <p:nvPr/>
        </p:nvSpPr>
        <p:spPr>
          <a:xfrm>
            <a:off x="2157618" y="2549118"/>
            <a:ext cx="44072" cy="59328"/>
          </a:xfrm>
          <a:prstGeom prst="rect">
            <a:avLst/>
          </a:prstGeom>
          <a:solidFill>
            <a:srgbClr val="88C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1" name="Base summary bar_5">
            <a:extLst>
              <a:ext uri="{FF2B5EF4-FFF2-40B4-BE49-F238E27FC236}">
                <a16:creationId xmlns:a16="http://schemas.microsoft.com/office/drawing/2014/main" id="{AF544338-D23E-CE3C-A6B8-4FA37DCAD82E}"/>
              </a:ext>
            </a:extLst>
          </p:cNvPr>
          <p:cNvSpPr/>
          <p:nvPr/>
        </p:nvSpPr>
        <p:spPr>
          <a:xfrm>
            <a:off x="2205646" y="2549118"/>
            <a:ext cx="44072" cy="59328"/>
          </a:xfrm>
          <a:prstGeom prst="rect">
            <a:avLst/>
          </a:prstGeom>
          <a:solidFill>
            <a:srgbClr val="238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2" name="Base summary bar_6">
            <a:extLst>
              <a:ext uri="{FF2B5EF4-FFF2-40B4-BE49-F238E27FC236}">
                <a16:creationId xmlns:a16="http://schemas.microsoft.com/office/drawing/2014/main" id="{9F80EB35-B4A7-2FA2-7A0C-B02A9915E4EB}"/>
              </a:ext>
            </a:extLst>
          </p:cNvPr>
          <p:cNvSpPr/>
          <p:nvPr/>
        </p:nvSpPr>
        <p:spPr>
          <a:xfrm>
            <a:off x="2253673" y="2549118"/>
            <a:ext cx="44072" cy="59328"/>
          </a:xfrm>
          <a:prstGeom prst="rect">
            <a:avLst/>
          </a:prstGeom>
          <a:solidFill>
            <a:srgbClr val="B1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3" name="Base summary bar_7">
            <a:extLst>
              <a:ext uri="{FF2B5EF4-FFF2-40B4-BE49-F238E27FC236}">
                <a16:creationId xmlns:a16="http://schemas.microsoft.com/office/drawing/2014/main" id="{763E1301-00D0-44E1-3425-288C0321EC85}"/>
              </a:ext>
            </a:extLst>
          </p:cNvPr>
          <p:cNvSpPr/>
          <p:nvPr/>
        </p:nvSpPr>
        <p:spPr>
          <a:xfrm>
            <a:off x="2301700" y="2549118"/>
            <a:ext cx="44072" cy="59328"/>
          </a:xfrm>
          <a:prstGeom prst="rect">
            <a:avLst/>
          </a:prstGeom>
          <a:solidFill>
            <a:srgbClr val="D4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4" name="Op | Mean/max pool">
            <a:extLst>
              <a:ext uri="{FF2B5EF4-FFF2-40B4-BE49-F238E27FC236}">
                <a16:creationId xmlns:a16="http://schemas.microsoft.com/office/drawing/2014/main" id="{C4850A78-C957-EF45-0669-F1FA2501E311}"/>
              </a:ext>
            </a:extLst>
          </p:cNvPr>
          <p:cNvSpPr/>
          <p:nvPr/>
        </p:nvSpPr>
        <p:spPr>
          <a:xfrm>
            <a:off x="526966" y="3452879"/>
            <a:ext cx="617009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Mean/max pool</a:t>
            </a:r>
          </a:p>
        </p:txBody>
      </p:sp>
      <p:sp>
        <p:nvSpPr>
          <p:cNvPr id="645" name="Op | Cross-attention">
            <a:extLst>
              <a:ext uri="{FF2B5EF4-FFF2-40B4-BE49-F238E27FC236}">
                <a16:creationId xmlns:a16="http://schemas.microsoft.com/office/drawing/2014/main" id="{11FEE5AE-99F9-B083-0D93-CFC8DBD07D63}"/>
              </a:ext>
            </a:extLst>
          </p:cNvPr>
          <p:cNvSpPr/>
          <p:nvPr/>
        </p:nvSpPr>
        <p:spPr>
          <a:xfrm>
            <a:off x="1223079" y="3452879"/>
            <a:ext cx="648651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Cross-attention</a:t>
            </a:r>
          </a:p>
        </p:txBody>
      </p:sp>
      <p:sp>
        <p:nvSpPr>
          <p:cNvPr id="646" name="TextBox 12200">
            <a:extLst>
              <a:ext uri="{FF2B5EF4-FFF2-40B4-BE49-F238E27FC236}">
                <a16:creationId xmlns:a16="http://schemas.microsoft.com/office/drawing/2014/main" id="{884D8F93-171F-A6AB-A603-7E1006874447}"/>
              </a:ext>
            </a:extLst>
          </p:cNvPr>
          <p:cNvSpPr txBox="1"/>
          <p:nvPr/>
        </p:nvSpPr>
        <p:spPr>
          <a:xfrm>
            <a:off x="1592376" y="3370950"/>
            <a:ext cx="134652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>
                <a:solidFill>
                  <a:srgbClr val="1D6D5E"/>
                </a:solidFill>
                <a:latin typeface="Arial"/>
              </a:rPr>
              <a:t>K, V</a:t>
            </a:r>
          </a:p>
        </p:txBody>
      </p:sp>
      <p:sp>
        <p:nvSpPr>
          <p:cNvPr id="647" name="Op | FiLM">
            <a:extLst>
              <a:ext uri="{FF2B5EF4-FFF2-40B4-BE49-F238E27FC236}">
                <a16:creationId xmlns:a16="http://schemas.microsoft.com/office/drawing/2014/main" id="{59F3449A-984C-C7E7-FC02-0C47B43E0DFD}"/>
              </a:ext>
            </a:extLst>
          </p:cNvPr>
          <p:cNvSpPr/>
          <p:nvPr/>
        </p:nvSpPr>
        <p:spPr>
          <a:xfrm>
            <a:off x="2014119" y="3738251"/>
            <a:ext cx="300518" cy="150259"/>
          </a:xfrm>
          <a:prstGeom prst="roundRect">
            <a:avLst>
              <a:gd name="adj" fmla="val 25000"/>
            </a:avLst>
          </a:prstGeom>
          <a:solidFill>
            <a:srgbClr val="EDE7F5"/>
          </a:solidFill>
          <a:ln w="7290">
            <a:solidFill>
              <a:srgbClr val="B8A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23">
                <a:solidFill>
                  <a:srgbClr val="4E3D73"/>
                </a:solidFill>
                <a:latin typeface="Arial"/>
              </a:rPr>
              <a:t>FiLM</a:t>
            </a:r>
          </a:p>
        </p:txBody>
      </p:sp>
      <p:sp>
        <p:nvSpPr>
          <p:cNvPr id="648" name="TextBox 12202">
            <a:extLst>
              <a:ext uri="{FF2B5EF4-FFF2-40B4-BE49-F238E27FC236}">
                <a16:creationId xmlns:a16="http://schemas.microsoft.com/office/drawing/2014/main" id="{6F9F40E0-7819-CEA2-6131-C4ABBC19B945}"/>
              </a:ext>
            </a:extLst>
          </p:cNvPr>
          <p:cNvSpPr txBox="1"/>
          <p:nvPr/>
        </p:nvSpPr>
        <p:spPr>
          <a:xfrm>
            <a:off x="1954789" y="3430400"/>
            <a:ext cx="126566" cy="845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62">
                <a:solidFill>
                  <a:srgbClr val="3B7DB5"/>
                </a:solidFill>
                <a:latin typeface="Arial"/>
              </a:rPr>
              <a:t>Q</a:t>
            </a:r>
          </a:p>
        </p:txBody>
      </p:sp>
      <p:sp>
        <p:nvSpPr>
          <p:cNvPr id="649" name="Op | MLP">
            <a:extLst>
              <a:ext uri="{FF2B5EF4-FFF2-40B4-BE49-F238E27FC236}">
                <a16:creationId xmlns:a16="http://schemas.microsoft.com/office/drawing/2014/main" id="{554F5441-96D3-CFD3-6A6E-CA8C906F4B29}"/>
              </a:ext>
            </a:extLst>
          </p:cNvPr>
          <p:cNvSpPr/>
          <p:nvPr/>
        </p:nvSpPr>
        <p:spPr>
          <a:xfrm>
            <a:off x="1017387" y="3738251"/>
            <a:ext cx="347904" cy="150259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MLP</a:t>
            </a:r>
          </a:p>
        </p:txBody>
      </p:sp>
      <p:sp>
        <p:nvSpPr>
          <p:cNvPr id="650" name="h_j bar_1">
            <a:extLst>
              <a:ext uri="{FF2B5EF4-FFF2-40B4-BE49-F238E27FC236}">
                <a16:creationId xmlns:a16="http://schemas.microsoft.com/office/drawing/2014/main" id="{99BF7016-0AEC-5CA1-43D0-0CC405933ADD}"/>
              </a:ext>
            </a:extLst>
          </p:cNvPr>
          <p:cNvSpPr/>
          <p:nvPr/>
        </p:nvSpPr>
        <p:spPr>
          <a:xfrm>
            <a:off x="1998296" y="3989994"/>
            <a:ext cx="44072" cy="56955"/>
          </a:xfrm>
          <a:prstGeom prst="rect">
            <a:avLst/>
          </a:prstGeom>
          <a:solidFill>
            <a:srgbClr val="367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1" name="h_j bar_2">
            <a:extLst>
              <a:ext uri="{FF2B5EF4-FFF2-40B4-BE49-F238E27FC236}">
                <a16:creationId xmlns:a16="http://schemas.microsoft.com/office/drawing/2014/main" id="{71708831-906F-DB31-D516-DA6520DB6B6E}"/>
              </a:ext>
            </a:extLst>
          </p:cNvPr>
          <p:cNvSpPr/>
          <p:nvPr/>
        </p:nvSpPr>
        <p:spPr>
          <a:xfrm>
            <a:off x="2046323" y="3989994"/>
            <a:ext cx="44072" cy="56955"/>
          </a:xfrm>
          <a:prstGeom prst="rect">
            <a:avLst/>
          </a:prstGeom>
          <a:solidFill>
            <a:srgbClr val="7EA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2" name="h_j bar_3">
            <a:extLst>
              <a:ext uri="{FF2B5EF4-FFF2-40B4-BE49-F238E27FC236}">
                <a16:creationId xmlns:a16="http://schemas.microsoft.com/office/drawing/2014/main" id="{E1CF9CE6-644D-2199-D558-FB2748AF4CA8}"/>
              </a:ext>
            </a:extLst>
          </p:cNvPr>
          <p:cNvSpPr/>
          <p:nvPr/>
        </p:nvSpPr>
        <p:spPr>
          <a:xfrm>
            <a:off x="2094350" y="3989994"/>
            <a:ext cx="44072" cy="56955"/>
          </a:xfrm>
          <a:prstGeom prst="rect">
            <a:avLst/>
          </a:prstGeom>
          <a:solidFill>
            <a:srgbClr val="BCD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3" name="h_j bar_4">
            <a:extLst>
              <a:ext uri="{FF2B5EF4-FFF2-40B4-BE49-F238E27FC236}">
                <a16:creationId xmlns:a16="http://schemas.microsoft.com/office/drawing/2014/main" id="{0B1E11C4-B6B0-8410-69CA-ECA06B016C11}"/>
              </a:ext>
            </a:extLst>
          </p:cNvPr>
          <p:cNvSpPr/>
          <p:nvPr/>
        </p:nvSpPr>
        <p:spPr>
          <a:xfrm>
            <a:off x="2142378" y="3989994"/>
            <a:ext cx="44072" cy="56955"/>
          </a:xfrm>
          <a:prstGeom prst="rect">
            <a:avLst/>
          </a:prstGeom>
          <a:solidFill>
            <a:srgbClr val="88C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4" name="h_j bar_5">
            <a:extLst>
              <a:ext uri="{FF2B5EF4-FFF2-40B4-BE49-F238E27FC236}">
                <a16:creationId xmlns:a16="http://schemas.microsoft.com/office/drawing/2014/main" id="{2A27D763-25D4-1A48-A9AB-8AE10B5867F3}"/>
              </a:ext>
            </a:extLst>
          </p:cNvPr>
          <p:cNvSpPr/>
          <p:nvPr/>
        </p:nvSpPr>
        <p:spPr>
          <a:xfrm>
            <a:off x="2190406" y="3989994"/>
            <a:ext cx="44072" cy="56955"/>
          </a:xfrm>
          <a:prstGeom prst="rect">
            <a:avLst/>
          </a:prstGeom>
          <a:solidFill>
            <a:srgbClr val="238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5" name="h_j bar_6">
            <a:extLst>
              <a:ext uri="{FF2B5EF4-FFF2-40B4-BE49-F238E27FC236}">
                <a16:creationId xmlns:a16="http://schemas.microsoft.com/office/drawing/2014/main" id="{CC2DBA64-D0DF-1160-5FEF-C265BF4EAB35}"/>
              </a:ext>
            </a:extLst>
          </p:cNvPr>
          <p:cNvSpPr/>
          <p:nvPr/>
        </p:nvSpPr>
        <p:spPr>
          <a:xfrm>
            <a:off x="2238433" y="3989994"/>
            <a:ext cx="44072" cy="56955"/>
          </a:xfrm>
          <a:prstGeom prst="rect">
            <a:avLst/>
          </a:prstGeom>
          <a:solidFill>
            <a:srgbClr val="B1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6" name="h_j bar_7">
            <a:extLst>
              <a:ext uri="{FF2B5EF4-FFF2-40B4-BE49-F238E27FC236}">
                <a16:creationId xmlns:a16="http://schemas.microsoft.com/office/drawing/2014/main" id="{3E031F7D-E2D9-9D11-0526-4D352C453584}"/>
              </a:ext>
            </a:extLst>
          </p:cNvPr>
          <p:cNvSpPr/>
          <p:nvPr/>
        </p:nvSpPr>
        <p:spPr>
          <a:xfrm>
            <a:off x="2286460" y="3989994"/>
            <a:ext cx="44072" cy="56955"/>
          </a:xfrm>
          <a:prstGeom prst="rect">
            <a:avLst/>
          </a:prstGeom>
          <a:solidFill>
            <a:srgbClr val="D4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7" name="Math | h_j^">
            <a:extLst>
              <a:ext uri="{FF2B5EF4-FFF2-40B4-BE49-F238E27FC236}">
                <a16:creationId xmlns:a16="http://schemas.microsoft.com/office/drawing/2014/main" id="{9AC920D3-16D2-273E-04D3-53357E82FB0E}"/>
              </a:ext>
            </a:extLst>
          </p:cNvPr>
          <p:cNvSpPr txBox="1"/>
          <p:nvPr/>
        </p:nvSpPr>
        <p:spPr>
          <a:xfrm>
            <a:off x="1883926" y="3947306"/>
            <a:ext cx="70532" cy="1265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22" i="1">
                <a:solidFill>
                  <a:srgbClr val="1E293B"/>
                </a:solidFill>
                <a:latin typeface="Times New Roman"/>
              </a:rPr>
              <a:t>h</a:t>
            </a:r>
            <a:r>
              <a:rPr sz="750" i="1" baseline="-28000">
                <a:solidFill>
                  <a:srgbClr val="1E293B"/>
                </a:solidFill>
                <a:latin typeface="Times New Roman"/>
              </a:rPr>
              <a:t>j</a:t>
            </a:r>
          </a:p>
        </p:txBody>
      </p:sp>
      <p:sp>
        <p:nvSpPr>
          <p:cNvPr id="658" name="Op | Foreground head">
            <a:extLst>
              <a:ext uri="{FF2B5EF4-FFF2-40B4-BE49-F238E27FC236}">
                <a16:creationId xmlns:a16="http://schemas.microsoft.com/office/drawing/2014/main" id="{772C4BD8-070D-6A2C-3C5B-CCE55BD09041}"/>
              </a:ext>
            </a:extLst>
          </p:cNvPr>
          <p:cNvSpPr/>
          <p:nvPr/>
        </p:nvSpPr>
        <p:spPr>
          <a:xfrm>
            <a:off x="613980" y="4181937"/>
            <a:ext cx="696113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Foreground head</a:t>
            </a:r>
          </a:p>
        </p:txBody>
      </p:sp>
      <p:sp>
        <p:nvSpPr>
          <p:cNvPr id="659" name="Math | p_j^fg">
            <a:extLst>
              <a:ext uri="{FF2B5EF4-FFF2-40B4-BE49-F238E27FC236}">
                <a16:creationId xmlns:a16="http://schemas.microsoft.com/office/drawing/2014/main" id="{04752E8A-9FFA-1739-18D7-365FF5D9A529}"/>
              </a:ext>
            </a:extLst>
          </p:cNvPr>
          <p:cNvSpPr txBox="1"/>
          <p:nvPr/>
        </p:nvSpPr>
        <p:spPr>
          <a:xfrm>
            <a:off x="1615425" y="4176444"/>
            <a:ext cx="121828" cy="1223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95" i="1" dirty="0" err="1">
                <a:solidFill>
                  <a:srgbClr val="1E293B"/>
                </a:solidFill>
                <a:latin typeface="Times New Roman"/>
              </a:rPr>
              <a:t>p</a:t>
            </a:r>
            <a:r>
              <a:rPr sz="750" i="1" baseline="-28000" dirty="0" err="1">
                <a:solidFill>
                  <a:srgbClr val="1E293B"/>
                </a:solidFill>
                <a:latin typeface="Times New Roman"/>
              </a:rPr>
              <a:t>j</a:t>
            </a:r>
            <a:r>
              <a:rPr sz="750" baseline="32000" dirty="0" err="1">
                <a:solidFill>
                  <a:srgbClr val="1E293B"/>
                </a:solidFill>
                <a:latin typeface="Arial"/>
              </a:rPr>
              <a:t>fg</a:t>
            </a:r>
            <a:endParaRPr sz="750" baseline="32000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660" name="TextBox 12215">
            <a:extLst>
              <a:ext uri="{FF2B5EF4-FFF2-40B4-BE49-F238E27FC236}">
                <a16:creationId xmlns:a16="http://schemas.microsoft.com/office/drawing/2014/main" id="{C45D4B31-EE62-7047-2BD0-7D7B985DADC4}"/>
              </a:ext>
            </a:extLst>
          </p:cNvPr>
          <p:cNvSpPr txBox="1"/>
          <p:nvPr/>
        </p:nvSpPr>
        <p:spPr>
          <a:xfrm>
            <a:off x="1346687" y="4310121"/>
            <a:ext cx="666849" cy="794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28" dirty="0">
                <a:solidFill>
                  <a:srgbClr val="5A6B7C"/>
                </a:solidFill>
                <a:latin typeface="Arial"/>
              </a:rPr>
              <a:t>Foreground probability</a:t>
            </a:r>
          </a:p>
        </p:txBody>
      </p:sp>
      <p:sp>
        <p:nvSpPr>
          <p:cNvPr id="661" name="TextBox 12216">
            <a:extLst>
              <a:ext uri="{FF2B5EF4-FFF2-40B4-BE49-F238E27FC236}">
                <a16:creationId xmlns:a16="http://schemas.microsoft.com/office/drawing/2014/main" id="{978E7CF5-ACF2-460D-26F2-9B198BAAC63B}"/>
              </a:ext>
            </a:extLst>
          </p:cNvPr>
          <p:cNvSpPr txBox="1"/>
          <p:nvPr/>
        </p:nvSpPr>
        <p:spPr>
          <a:xfrm>
            <a:off x="2883480" y="2206291"/>
            <a:ext cx="1195840" cy="884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5A6B7C"/>
                </a:solidFill>
                <a:latin typeface="Arial"/>
              </a:rPr>
              <a:t>User-provided SMILES · same PDB</a:t>
            </a:r>
          </a:p>
        </p:txBody>
      </p:sp>
      <p:sp>
        <p:nvSpPr>
          <p:cNvPr id="662" name="Identity | SMILES list card">
            <a:extLst>
              <a:ext uri="{FF2B5EF4-FFF2-40B4-BE49-F238E27FC236}">
                <a16:creationId xmlns:a16="http://schemas.microsoft.com/office/drawing/2014/main" id="{7DA7890B-AB79-9717-CAA6-1EEE08F32188}"/>
              </a:ext>
            </a:extLst>
          </p:cNvPr>
          <p:cNvSpPr/>
          <p:nvPr/>
        </p:nvSpPr>
        <p:spPr>
          <a:xfrm>
            <a:off x="3062150" y="2309830"/>
            <a:ext cx="838500" cy="51274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63" name="TextBox 12218">
            <a:extLst>
              <a:ext uri="{FF2B5EF4-FFF2-40B4-BE49-F238E27FC236}">
                <a16:creationId xmlns:a16="http://schemas.microsoft.com/office/drawing/2014/main" id="{86BB59AD-D134-C7C6-AEC0-14F6157A5F0B}"/>
              </a:ext>
            </a:extLst>
          </p:cNvPr>
          <p:cNvSpPr txBox="1"/>
          <p:nvPr/>
        </p:nvSpPr>
        <p:spPr>
          <a:xfrm>
            <a:off x="3117523" y="2338063"/>
            <a:ext cx="72775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4E739E"/>
                </a:solidFill>
                <a:latin typeface="Arial"/>
              </a:rPr>
              <a:t>1   CCO</a:t>
            </a:r>
          </a:p>
        </p:txBody>
      </p:sp>
      <p:sp>
        <p:nvSpPr>
          <p:cNvPr id="664" name="TextBox 12219">
            <a:extLst>
              <a:ext uri="{FF2B5EF4-FFF2-40B4-BE49-F238E27FC236}">
                <a16:creationId xmlns:a16="http://schemas.microsoft.com/office/drawing/2014/main" id="{D5CEF1E2-0003-83A9-6C8B-869DF460C92C}"/>
              </a:ext>
            </a:extLst>
          </p:cNvPr>
          <p:cNvSpPr txBox="1"/>
          <p:nvPr/>
        </p:nvSpPr>
        <p:spPr>
          <a:xfrm>
            <a:off x="3117523" y="2440897"/>
            <a:ext cx="72775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8E6B3E"/>
                </a:solidFill>
                <a:latin typeface="Arial"/>
              </a:rPr>
              <a:t>2   CC(=O)O</a:t>
            </a:r>
          </a:p>
        </p:txBody>
      </p:sp>
      <p:sp>
        <p:nvSpPr>
          <p:cNvPr id="665" name="Identity | Selected k pill">
            <a:extLst>
              <a:ext uri="{FF2B5EF4-FFF2-40B4-BE49-F238E27FC236}">
                <a16:creationId xmlns:a16="http://schemas.microsoft.com/office/drawing/2014/main" id="{484884C0-9180-67EB-D183-0D32CB2F3899}"/>
              </a:ext>
            </a:extLst>
          </p:cNvPr>
          <p:cNvSpPr/>
          <p:nvPr/>
        </p:nvSpPr>
        <p:spPr>
          <a:xfrm>
            <a:off x="3093792" y="2562853"/>
            <a:ext cx="775217" cy="118656"/>
          </a:xfrm>
          <a:prstGeom prst="roundRect">
            <a:avLst>
              <a:gd name="adj" fmla="val 18000"/>
            </a:avLst>
          </a:prstGeom>
          <a:solidFill>
            <a:srgbClr val="DCFCE7"/>
          </a:solidFill>
          <a:ln w="8890">
            <a:solidFill>
              <a:srgbClr val="3E99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66" name="TextBox 12222">
            <a:extLst>
              <a:ext uri="{FF2B5EF4-FFF2-40B4-BE49-F238E27FC236}">
                <a16:creationId xmlns:a16="http://schemas.microsoft.com/office/drawing/2014/main" id="{AF18D027-6125-FBDF-9BCD-9060B5C5E099}"/>
              </a:ext>
            </a:extLst>
          </p:cNvPr>
          <p:cNvSpPr txBox="1"/>
          <p:nvPr/>
        </p:nvSpPr>
        <p:spPr>
          <a:xfrm>
            <a:off x="3125433" y="2585570"/>
            <a:ext cx="71193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14532D"/>
                </a:solidFill>
                <a:latin typeface="Arial"/>
              </a:rPr>
              <a:t>k   Cc1ccccc1</a:t>
            </a:r>
          </a:p>
        </p:txBody>
      </p:sp>
      <p:sp>
        <p:nvSpPr>
          <p:cNvPr id="667" name="TextBox 12224">
            <a:extLst>
              <a:ext uri="{FF2B5EF4-FFF2-40B4-BE49-F238E27FC236}">
                <a16:creationId xmlns:a16="http://schemas.microsoft.com/office/drawing/2014/main" id="{4F02AD2D-3369-26A3-6D2F-44659C880CB7}"/>
              </a:ext>
            </a:extLst>
          </p:cNvPr>
          <p:cNvSpPr txBox="1"/>
          <p:nvPr/>
        </p:nvSpPr>
        <p:spPr>
          <a:xfrm>
            <a:off x="3117523" y="2714369"/>
            <a:ext cx="72775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6D5B97"/>
                </a:solidFill>
                <a:latin typeface="Arial"/>
              </a:rPr>
              <a:t>K   CC(N)=O</a:t>
            </a:r>
          </a:p>
        </p:txBody>
      </p:sp>
      <p:sp>
        <p:nvSpPr>
          <p:cNvPr id="668" name="TextBox 12225">
            <a:extLst>
              <a:ext uri="{FF2B5EF4-FFF2-40B4-BE49-F238E27FC236}">
                <a16:creationId xmlns:a16="http://schemas.microsoft.com/office/drawing/2014/main" id="{3E613D72-90CB-62FD-E861-8FE6E2F065B8}"/>
              </a:ext>
            </a:extLst>
          </p:cNvPr>
          <p:cNvSpPr txBox="1"/>
          <p:nvPr/>
        </p:nvSpPr>
        <p:spPr>
          <a:xfrm>
            <a:off x="2598297" y="2643822"/>
            <a:ext cx="181140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 err="1">
                <a:solidFill>
                  <a:srgbClr val="5A6B7C"/>
                </a:solidFill>
                <a:latin typeface="Arial"/>
              </a:rPr>
              <a:t>RDKit</a:t>
            </a:r>
            <a:endParaRPr sz="536" dirty="0">
              <a:solidFill>
                <a:srgbClr val="5A6B7C"/>
              </a:solidFill>
              <a:latin typeface="Arial"/>
            </a:endParaRPr>
          </a:p>
        </p:txBody>
      </p:sp>
      <p:grpSp>
        <p:nvGrpSpPr>
          <p:cNvPr id="669" name="Identity | Own molecular graph">
            <a:extLst>
              <a:ext uri="{FF2B5EF4-FFF2-40B4-BE49-F238E27FC236}">
                <a16:creationId xmlns:a16="http://schemas.microsoft.com/office/drawing/2014/main" id="{683652C7-CC94-2A9C-935C-36CF7B7EB5E8}"/>
              </a:ext>
            </a:extLst>
          </p:cNvPr>
          <p:cNvGrpSpPr/>
          <p:nvPr/>
        </p:nvGrpSpPr>
        <p:grpSpPr>
          <a:xfrm>
            <a:off x="2674542" y="2888431"/>
            <a:ext cx="284773" cy="171742"/>
            <a:chOff x="3366271" y="3721905"/>
            <a:chExt cx="311024" cy="187573"/>
          </a:xfrm>
        </p:grpSpPr>
        <p:cxnSp>
          <p:nvCxnSpPr>
            <p:cNvPr id="670" name="path_2698">
              <a:extLst>
                <a:ext uri="{FF2B5EF4-FFF2-40B4-BE49-F238E27FC236}">
                  <a16:creationId xmlns:a16="http://schemas.microsoft.com/office/drawing/2014/main" id="{08C9C74A-0B12-2E3C-023F-C3DCDEFB7AF1}"/>
                </a:ext>
              </a:extLst>
            </p:cNvPr>
            <p:cNvCxnSpPr/>
            <p:nvPr/>
          </p:nvCxnSpPr>
          <p:spPr>
            <a:xfrm flipV="1">
              <a:off x="3381053" y="3736688"/>
              <a:ext cx="63663" cy="70463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1" name="path_2699">
              <a:extLst>
                <a:ext uri="{FF2B5EF4-FFF2-40B4-BE49-F238E27FC236}">
                  <a16:creationId xmlns:a16="http://schemas.microsoft.com/office/drawing/2014/main" id="{1CF65ECB-9AC9-C310-5460-0B86FF6B2BC5}"/>
                </a:ext>
              </a:extLst>
            </p:cNvPr>
            <p:cNvCxnSpPr/>
            <p:nvPr/>
          </p:nvCxnSpPr>
          <p:spPr>
            <a:xfrm>
              <a:off x="3444717" y="3736688"/>
              <a:ext cx="113924" cy="1494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2" name="path_2700">
              <a:extLst>
                <a:ext uri="{FF2B5EF4-FFF2-40B4-BE49-F238E27FC236}">
                  <a16:creationId xmlns:a16="http://schemas.microsoft.com/office/drawing/2014/main" id="{47F0AAAA-D782-D4D4-41E7-7304CCE8D568}"/>
                </a:ext>
              </a:extLst>
            </p:cNvPr>
            <p:cNvCxnSpPr/>
            <p:nvPr/>
          </p:nvCxnSpPr>
          <p:spPr>
            <a:xfrm>
              <a:off x="3558640" y="3751634"/>
              <a:ext cx="73715" cy="6405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3" name="path_2701">
              <a:extLst>
                <a:ext uri="{FF2B5EF4-FFF2-40B4-BE49-F238E27FC236}">
                  <a16:creationId xmlns:a16="http://schemas.microsoft.com/office/drawing/2014/main" id="{672DEF92-FEF6-A8B8-A079-671D6D70071E}"/>
                </a:ext>
              </a:extLst>
            </p:cNvPr>
            <p:cNvCxnSpPr/>
            <p:nvPr/>
          </p:nvCxnSpPr>
          <p:spPr>
            <a:xfrm flipH="1">
              <a:off x="3561991" y="3815692"/>
              <a:ext cx="70365" cy="79004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4" name="path_2702">
              <a:extLst>
                <a:ext uri="{FF2B5EF4-FFF2-40B4-BE49-F238E27FC236}">
                  <a16:creationId xmlns:a16="http://schemas.microsoft.com/office/drawing/2014/main" id="{B02A38E3-8AB1-C1CA-A784-7A02E63B2D09}"/>
                </a:ext>
              </a:extLst>
            </p:cNvPr>
            <p:cNvCxnSpPr/>
            <p:nvPr/>
          </p:nvCxnSpPr>
          <p:spPr>
            <a:xfrm flipH="1" flipV="1">
              <a:off x="3444717" y="3875479"/>
              <a:ext cx="117275" cy="1921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5" name="path_2703">
              <a:extLst>
                <a:ext uri="{FF2B5EF4-FFF2-40B4-BE49-F238E27FC236}">
                  <a16:creationId xmlns:a16="http://schemas.microsoft.com/office/drawing/2014/main" id="{5EB27651-D3BE-22CD-39D8-D428781F5F97}"/>
                </a:ext>
              </a:extLst>
            </p:cNvPr>
            <p:cNvCxnSpPr/>
            <p:nvPr/>
          </p:nvCxnSpPr>
          <p:spPr>
            <a:xfrm flipH="1" flipV="1">
              <a:off x="3381053" y="3807151"/>
              <a:ext cx="63663" cy="6832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6" name="path_2704">
              <a:extLst>
                <a:ext uri="{FF2B5EF4-FFF2-40B4-BE49-F238E27FC236}">
                  <a16:creationId xmlns:a16="http://schemas.microsoft.com/office/drawing/2014/main" id="{A3592B63-1411-3F57-5878-96E17C30AD75}"/>
                </a:ext>
              </a:extLst>
            </p:cNvPr>
            <p:cNvCxnSpPr/>
            <p:nvPr/>
          </p:nvCxnSpPr>
          <p:spPr>
            <a:xfrm flipV="1">
              <a:off x="3558640" y="3745228"/>
              <a:ext cx="103872" cy="6406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77" name="ellipse_2705">
              <a:extLst>
                <a:ext uri="{FF2B5EF4-FFF2-40B4-BE49-F238E27FC236}">
                  <a16:creationId xmlns:a16="http://schemas.microsoft.com/office/drawing/2014/main" id="{C3D36D22-8CEB-B663-A605-02E9CFFED0C1}"/>
                </a:ext>
              </a:extLst>
            </p:cNvPr>
            <p:cNvSpPr/>
            <p:nvPr/>
          </p:nvSpPr>
          <p:spPr>
            <a:xfrm>
              <a:off x="3366271" y="3792368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78" name="ellipse_2706">
              <a:extLst>
                <a:ext uri="{FF2B5EF4-FFF2-40B4-BE49-F238E27FC236}">
                  <a16:creationId xmlns:a16="http://schemas.microsoft.com/office/drawing/2014/main" id="{1F86BCBC-B96E-6EC5-AC9B-22A20629DF0F}"/>
                </a:ext>
              </a:extLst>
            </p:cNvPr>
            <p:cNvSpPr/>
            <p:nvPr/>
          </p:nvSpPr>
          <p:spPr>
            <a:xfrm>
              <a:off x="3429934" y="3721905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79" name="ellipse_2707">
              <a:extLst>
                <a:ext uri="{FF2B5EF4-FFF2-40B4-BE49-F238E27FC236}">
                  <a16:creationId xmlns:a16="http://schemas.microsoft.com/office/drawing/2014/main" id="{0D7ED534-2755-74EA-6149-4A7E3A7E8992}"/>
                </a:ext>
              </a:extLst>
            </p:cNvPr>
            <p:cNvSpPr/>
            <p:nvPr/>
          </p:nvSpPr>
          <p:spPr>
            <a:xfrm>
              <a:off x="3543858" y="3736852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0" name="ellipse_2708">
              <a:extLst>
                <a:ext uri="{FF2B5EF4-FFF2-40B4-BE49-F238E27FC236}">
                  <a16:creationId xmlns:a16="http://schemas.microsoft.com/office/drawing/2014/main" id="{01CC7294-C7B5-D1A4-A138-902105284B89}"/>
                </a:ext>
              </a:extLst>
            </p:cNvPr>
            <p:cNvSpPr/>
            <p:nvPr/>
          </p:nvSpPr>
          <p:spPr>
            <a:xfrm>
              <a:off x="3617573" y="3800909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1" name="ellipse_2709">
              <a:extLst>
                <a:ext uri="{FF2B5EF4-FFF2-40B4-BE49-F238E27FC236}">
                  <a16:creationId xmlns:a16="http://schemas.microsoft.com/office/drawing/2014/main" id="{80734E48-9DE8-B4FD-D0D4-D53693BBEADF}"/>
                </a:ext>
              </a:extLst>
            </p:cNvPr>
            <p:cNvSpPr/>
            <p:nvPr/>
          </p:nvSpPr>
          <p:spPr>
            <a:xfrm>
              <a:off x="3547209" y="3879913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2" name="ellipse_2710">
              <a:extLst>
                <a:ext uri="{FF2B5EF4-FFF2-40B4-BE49-F238E27FC236}">
                  <a16:creationId xmlns:a16="http://schemas.microsoft.com/office/drawing/2014/main" id="{3DB6F677-E1A0-2C7D-CADD-FB389865F633}"/>
                </a:ext>
              </a:extLst>
            </p:cNvPr>
            <p:cNvSpPr/>
            <p:nvPr/>
          </p:nvSpPr>
          <p:spPr>
            <a:xfrm>
              <a:off x="3429934" y="386069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3" name="ellipse_2711">
              <a:extLst>
                <a:ext uri="{FF2B5EF4-FFF2-40B4-BE49-F238E27FC236}">
                  <a16:creationId xmlns:a16="http://schemas.microsoft.com/office/drawing/2014/main" id="{D105DBC9-3C6D-0576-1E95-E04BFA9EB1EF}"/>
                </a:ext>
              </a:extLst>
            </p:cNvPr>
            <p:cNvSpPr/>
            <p:nvPr/>
          </p:nvSpPr>
          <p:spPr>
            <a:xfrm>
              <a:off x="3647730" y="373044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684" name="TextBox 12226">
            <a:extLst>
              <a:ext uri="{FF2B5EF4-FFF2-40B4-BE49-F238E27FC236}">
                <a16:creationId xmlns:a16="http://schemas.microsoft.com/office/drawing/2014/main" id="{43DBD103-E22F-DA52-F0ED-122A5CA41D61}"/>
              </a:ext>
            </a:extLst>
          </p:cNvPr>
          <p:cNvSpPr txBox="1"/>
          <p:nvPr/>
        </p:nvSpPr>
        <p:spPr>
          <a:xfrm>
            <a:off x="2648613" y="3080344"/>
            <a:ext cx="336631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36">
                <a:solidFill>
                  <a:srgbClr val="5A6B7C"/>
                </a:solidFill>
                <a:latin typeface="Arial"/>
              </a:rPr>
              <a:t>Own graph</a:t>
            </a:r>
          </a:p>
        </p:txBody>
      </p:sp>
      <p:sp>
        <p:nvSpPr>
          <p:cNvPr id="685" name="Op | GNN">
            <a:extLst>
              <a:ext uri="{FF2B5EF4-FFF2-40B4-BE49-F238E27FC236}">
                <a16:creationId xmlns:a16="http://schemas.microsoft.com/office/drawing/2014/main" id="{98330FF3-2E5A-32C3-D33C-D78225E1943D}"/>
              </a:ext>
            </a:extLst>
          </p:cNvPr>
          <p:cNvSpPr/>
          <p:nvPr/>
        </p:nvSpPr>
        <p:spPr>
          <a:xfrm>
            <a:off x="2634990" y="3239299"/>
            <a:ext cx="363877" cy="134476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GNN</a:t>
            </a:r>
          </a:p>
        </p:txBody>
      </p:sp>
      <p:sp>
        <p:nvSpPr>
          <p:cNvPr id="686" name="TextBox 12228">
            <a:extLst>
              <a:ext uri="{FF2B5EF4-FFF2-40B4-BE49-F238E27FC236}">
                <a16:creationId xmlns:a16="http://schemas.microsoft.com/office/drawing/2014/main" id="{26538413-3AE9-9872-D0A6-0AEA9E6FF809}"/>
              </a:ext>
            </a:extLst>
          </p:cNvPr>
          <p:cNvSpPr txBox="1"/>
          <p:nvPr/>
        </p:nvSpPr>
        <p:spPr>
          <a:xfrm>
            <a:off x="2848570" y="3388848"/>
            <a:ext cx="134652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>
                <a:solidFill>
                  <a:srgbClr val="1D6D5E"/>
                </a:solidFill>
                <a:latin typeface="Arial"/>
              </a:rPr>
              <a:t>K, V</a:t>
            </a:r>
          </a:p>
        </p:txBody>
      </p:sp>
      <p:sp>
        <p:nvSpPr>
          <p:cNvPr id="687" name="Op | Graph attention">
            <a:extLst>
              <a:ext uri="{FF2B5EF4-FFF2-40B4-BE49-F238E27FC236}">
                <a16:creationId xmlns:a16="http://schemas.microsoft.com/office/drawing/2014/main" id="{5F3701CD-DCA3-D9CA-7FA3-D737E8718A60}"/>
              </a:ext>
            </a:extLst>
          </p:cNvPr>
          <p:cNvSpPr/>
          <p:nvPr/>
        </p:nvSpPr>
        <p:spPr>
          <a:xfrm>
            <a:off x="2508424" y="3500341"/>
            <a:ext cx="617009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Graph</a:t>
            </a:r>
            <a:r>
              <a:rPr sz="580" dirty="0">
                <a:solidFill>
                  <a:srgbClr val="1D6D5E"/>
                </a:solidFill>
                <a:latin typeface="Arial"/>
              </a:rPr>
              <a:t> </a:t>
            </a:r>
            <a:r>
              <a:rPr sz="588" dirty="0">
                <a:solidFill>
                  <a:srgbClr val="1D6D5E"/>
                </a:solidFill>
                <a:latin typeface="Arial"/>
              </a:rPr>
              <a:t>attention</a:t>
            </a:r>
          </a:p>
        </p:txBody>
      </p:sp>
      <p:sp>
        <p:nvSpPr>
          <p:cNvPr id="688" name="Op | SMI-TED">
            <a:extLst>
              <a:ext uri="{FF2B5EF4-FFF2-40B4-BE49-F238E27FC236}">
                <a16:creationId xmlns:a16="http://schemas.microsoft.com/office/drawing/2014/main" id="{9F250B16-9768-CC2C-86AF-59769C8EEC4C}"/>
              </a:ext>
            </a:extLst>
          </p:cNvPr>
          <p:cNvSpPr/>
          <p:nvPr/>
        </p:nvSpPr>
        <p:spPr>
          <a:xfrm>
            <a:off x="3270973" y="2971538"/>
            <a:ext cx="427160" cy="134476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SMI-TED</a:t>
            </a:r>
          </a:p>
        </p:txBody>
      </p:sp>
      <p:sp>
        <p:nvSpPr>
          <p:cNvPr id="689" name="Language vector v_k_1">
            <a:extLst>
              <a:ext uri="{FF2B5EF4-FFF2-40B4-BE49-F238E27FC236}">
                <a16:creationId xmlns:a16="http://schemas.microsoft.com/office/drawing/2014/main" id="{E695888D-D925-5392-2451-D7757F2B6BC7}"/>
              </a:ext>
            </a:extLst>
          </p:cNvPr>
          <p:cNvSpPr/>
          <p:nvPr/>
        </p:nvSpPr>
        <p:spPr>
          <a:xfrm>
            <a:off x="3339014" y="3547013"/>
            <a:ext cx="37291" cy="56955"/>
          </a:xfrm>
          <a:prstGeom prst="rect">
            <a:avLst/>
          </a:prstGeom>
          <a:solidFill>
            <a:srgbClr val="3C9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0" name="Language vector v_k_2">
            <a:extLst>
              <a:ext uri="{FF2B5EF4-FFF2-40B4-BE49-F238E27FC236}">
                <a16:creationId xmlns:a16="http://schemas.microsoft.com/office/drawing/2014/main" id="{914284BD-BAB8-4AEA-A1F1-E7FC853BC87F}"/>
              </a:ext>
            </a:extLst>
          </p:cNvPr>
          <p:cNvSpPr/>
          <p:nvPr/>
        </p:nvSpPr>
        <p:spPr>
          <a:xfrm>
            <a:off x="3380261" y="3547013"/>
            <a:ext cx="37291" cy="56955"/>
          </a:xfrm>
          <a:prstGeom prst="rect">
            <a:avLst/>
          </a:prstGeom>
          <a:solidFill>
            <a:srgbClr val="6FB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1" name="Language vector v_k_3">
            <a:extLst>
              <a:ext uri="{FF2B5EF4-FFF2-40B4-BE49-F238E27FC236}">
                <a16:creationId xmlns:a16="http://schemas.microsoft.com/office/drawing/2014/main" id="{A224CED9-3025-4474-CF80-E118B0ACA7AB}"/>
              </a:ext>
            </a:extLst>
          </p:cNvPr>
          <p:cNvSpPr/>
          <p:nvPr/>
        </p:nvSpPr>
        <p:spPr>
          <a:xfrm>
            <a:off x="3421508" y="3547013"/>
            <a:ext cx="37291" cy="56955"/>
          </a:xfrm>
          <a:prstGeom prst="rect">
            <a:avLst/>
          </a:prstGeom>
          <a:solidFill>
            <a:srgbClr val="AD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2" name="Language vector v_k_4">
            <a:extLst>
              <a:ext uri="{FF2B5EF4-FFF2-40B4-BE49-F238E27FC236}">
                <a16:creationId xmlns:a16="http://schemas.microsoft.com/office/drawing/2014/main" id="{3641CBF3-C5A5-2DC2-88CA-B3F2C816508D}"/>
              </a:ext>
            </a:extLst>
          </p:cNvPr>
          <p:cNvSpPr/>
          <p:nvPr/>
        </p:nvSpPr>
        <p:spPr>
          <a:xfrm>
            <a:off x="3462755" y="3547013"/>
            <a:ext cx="37291" cy="56955"/>
          </a:xfrm>
          <a:prstGeom prst="rect">
            <a:avLst/>
          </a:prstGeom>
          <a:solidFill>
            <a:srgbClr val="C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3" name="Language vector v_k_5">
            <a:extLst>
              <a:ext uri="{FF2B5EF4-FFF2-40B4-BE49-F238E27FC236}">
                <a16:creationId xmlns:a16="http://schemas.microsoft.com/office/drawing/2014/main" id="{B6BA4357-39F7-598C-72FA-2FC00B25A10F}"/>
              </a:ext>
            </a:extLst>
          </p:cNvPr>
          <p:cNvSpPr/>
          <p:nvPr/>
        </p:nvSpPr>
        <p:spPr>
          <a:xfrm>
            <a:off x="3504002" y="3547013"/>
            <a:ext cx="37291" cy="56955"/>
          </a:xfrm>
          <a:prstGeom prst="rect">
            <a:avLst/>
          </a:prstGeom>
          <a:solidFill>
            <a:srgbClr val="3C9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4" name="Language vector v_k_6">
            <a:extLst>
              <a:ext uri="{FF2B5EF4-FFF2-40B4-BE49-F238E27FC236}">
                <a16:creationId xmlns:a16="http://schemas.microsoft.com/office/drawing/2014/main" id="{14F9C08B-08C8-5CC8-21F6-EC42430BFA81}"/>
              </a:ext>
            </a:extLst>
          </p:cNvPr>
          <p:cNvSpPr/>
          <p:nvPr/>
        </p:nvSpPr>
        <p:spPr>
          <a:xfrm>
            <a:off x="3545249" y="3547013"/>
            <a:ext cx="37291" cy="56955"/>
          </a:xfrm>
          <a:prstGeom prst="rect">
            <a:avLst/>
          </a:prstGeom>
          <a:solidFill>
            <a:srgbClr val="6FB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5" name="Language vector v_k_7">
            <a:extLst>
              <a:ext uri="{FF2B5EF4-FFF2-40B4-BE49-F238E27FC236}">
                <a16:creationId xmlns:a16="http://schemas.microsoft.com/office/drawing/2014/main" id="{52E0E1B7-31F4-244C-BA32-494F415D5F2F}"/>
              </a:ext>
            </a:extLst>
          </p:cNvPr>
          <p:cNvSpPr/>
          <p:nvPr/>
        </p:nvSpPr>
        <p:spPr>
          <a:xfrm>
            <a:off x="3586496" y="3547013"/>
            <a:ext cx="37291" cy="56955"/>
          </a:xfrm>
          <a:prstGeom prst="rect">
            <a:avLst/>
          </a:prstGeom>
          <a:solidFill>
            <a:srgbClr val="AD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6" name="TextBox 12239">
            <a:extLst>
              <a:ext uri="{FF2B5EF4-FFF2-40B4-BE49-F238E27FC236}">
                <a16:creationId xmlns:a16="http://schemas.microsoft.com/office/drawing/2014/main" id="{DE6BD61F-48C0-C267-E36F-0AC7BC24100D}"/>
              </a:ext>
            </a:extLst>
          </p:cNvPr>
          <p:cNvSpPr txBox="1"/>
          <p:nvPr/>
        </p:nvSpPr>
        <p:spPr>
          <a:xfrm>
            <a:off x="3164985" y="3475189"/>
            <a:ext cx="126566" cy="81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45" dirty="0">
                <a:solidFill>
                  <a:srgbClr val="1D6D5E"/>
                </a:solidFill>
                <a:latin typeface="Arial"/>
              </a:rPr>
              <a:t>Q</a:t>
            </a:r>
          </a:p>
        </p:txBody>
      </p:sp>
      <p:sp>
        <p:nvSpPr>
          <p:cNvPr id="697" name="TextBox 12240">
            <a:extLst>
              <a:ext uri="{FF2B5EF4-FFF2-40B4-BE49-F238E27FC236}">
                <a16:creationId xmlns:a16="http://schemas.microsoft.com/office/drawing/2014/main" id="{2ACBC05C-C556-BA36-3DA9-0D37D9382C06}"/>
              </a:ext>
            </a:extLst>
          </p:cNvPr>
          <p:cNvSpPr txBox="1"/>
          <p:nvPr/>
        </p:nvSpPr>
        <p:spPr>
          <a:xfrm>
            <a:off x="3671249" y="3475189"/>
            <a:ext cx="126566" cy="81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45">
                <a:solidFill>
                  <a:srgbClr val="1D6D5E"/>
                </a:solidFill>
                <a:latin typeface="Arial"/>
              </a:rPr>
              <a:t>Q</a:t>
            </a:r>
          </a:p>
        </p:txBody>
      </p:sp>
      <p:sp>
        <p:nvSpPr>
          <p:cNvPr id="698" name="TextBox 12241">
            <a:extLst>
              <a:ext uri="{FF2B5EF4-FFF2-40B4-BE49-F238E27FC236}">
                <a16:creationId xmlns:a16="http://schemas.microsoft.com/office/drawing/2014/main" id="{0B3A68EF-7CF9-A2EB-24B2-085C5BF1F71F}"/>
              </a:ext>
            </a:extLst>
          </p:cNvPr>
          <p:cNvSpPr txBox="1"/>
          <p:nvPr/>
        </p:nvSpPr>
        <p:spPr>
          <a:xfrm>
            <a:off x="4185423" y="2542416"/>
            <a:ext cx="379698" cy="1518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519" dirty="0">
                <a:solidFill>
                  <a:srgbClr val="5A6B7C"/>
                </a:solidFill>
                <a:latin typeface="Arial"/>
              </a:rPr>
              <a:t>  </a:t>
            </a:r>
            <a:r>
              <a:rPr sz="519" dirty="0">
                <a:solidFill>
                  <a:srgbClr val="5A6B7C"/>
                </a:solidFill>
                <a:latin typeface="Arial"/>
              </a:rPr>
              <a:t>Other</a:t>
            </a:r>
          </a:p>
          <a:p>
            <a:pPr algn="l">
              <a:lnSpc>
                <a:spcPct val="95000"/>
              </a:lnSpc>
            </a:pPr>
            <a:r>
              <a:rPr sz="519" dirty="0">
                <a:solidFill>
                  <a:srgbClr val="5A6B7C"/>
                </a:solidFill>
                <a:latin typeface="Arial"/>
              </a:rPr>
              <a:t>identities</a:t>
            </a:r>
          </a:p>
        </p:txBody>
      </p:sp>
      <p:sp>
        <p:nvSpPr>
          <p:cNvPr id="699" name="Op | SMI-TED">
            <a:extLst>
              <a:ext uri="{FF2B5EF4-FFF2-40B4-BE49-F238E27FC236}">
                <a16:creationId xmlns:a16="http://schemas.microsoft.com/office/drawing/2014/main" id="{6691CF15-5DAD-F305-5973-B1ACEFFF5CBF}"/>
              </a:ext>
            </a:extLst>
          </p:cNvPr>
          <p:cNvSpPr/>
          <p:nvPr/>
        </p:nvSpPr>
        <p:spPr>
          <a:xfrm>
            <a:off x="3952538" y="2967199"/>
            <a:ext cx="427160" cy="134476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SMI-TED</a:t>
            </a:r>
          </a:p>
        </p:txBody>
      </p:sp>
      <p:sp>
        <p:nvSpPr>
          <p:cNvPr id="700" name="TextBox 12244">
            <a:extLst>
              <a:ext uri="{FF2B5EF4-FFF2-40B4-BE49-F238E27FC236}">
                <a16:creationId xmlns:a16="http://schemas.microsoft.com/office/drawing/2014/main" id="{13C55E5C-99C8-F46D-3353-FED4827206EC}"/>
              </a:ext>
            </a:extLst>
          </p:cNvPr>
          <p:cNvSpPr txBox="1"/>
          <p:nvPr/>
        </p:nvSpPr>
        <p:spPr>
          <a:xfrm>
            <a:off x="3940202" y="3207444"/>
            <a:ext cx="79104" cy="677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50" dirty="0">
                <a:solidFill>
                  <a:srgbClr val="4E739E"/>
                </a:solidFill>
                <a:latin typeface="Arial"/>
              </a:rPr>
              <a:t>1</a:t>
            </a:r>
          </a:p>
        </p:txBody>
      </p:sp>
      <p:sp>
        <p:nvSpPr>
          <p:cNvPr id="701" name="Context bar 1_1">
            <a:extLst>
              <a:ext uri="{FF2B5EF4-FFF2-40B4-BE49-F238E27FC236}">
                <a16:creationId xmlns:a16="http://schemas.microsoft.com/office/drawing/2014/main" id="{F675EB2C-E3F4-CF25-F2F9-B217A0C64998}"/>
              </a:ext>
            </a:extLst>
          </p:cNvPr>
          <p:cNvSpPr/>
          <p:nvPr/>
        </p:nvSpPr>
        <p:spPr>
          <a:xfrm>
            <a:off x="4035126" y="3223887"/>
            <a:ext cx="44166" cy="34806"/>
          </a:xfrm>
          <a:prstGeom prst="rect">
            <a:avLst/>
          </a:prstGeom>
          <a:solidFill>
            <a:srgbClr val="5A8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2" name="Context bar 1_2">
            <a:extLst>
              <a:ext uri="{FF2B5EF4-FFF2-40B4-BE49-F238E27FC236}">
                <a16:creationId xmlns:a16="http://schemas.microsoft.com/office/drawing/2014/main" id="{7015B7C2-EE7A-8CD3-BF9A-C8F6C295F2D3}"/>
              </a:ext>
            </a:extLst>
          </p:cNvPr>
          <p:cNvSpPr/>
          <p:nvPr/>
        </p:nvSpPr>
        <p:spPr>
          <a:xfrm>
            <a:off x="4083248" y="3223887"/>
            <a:ext cx="44166" cy="34806"/>
          </a:xfrm>
          <a:prstGeom prst="rect">
            <a:avLst/>
          </a:prstGeom>
          <a:solidFill>
            <a:srgbClr val="8B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3" name="Context bar 1_3">
            <a:extLst>
              <a:ext uri="{FF2B5EF4-FFF2-40B4-BE49-F238E27FC236}">
                <a16:creationId xmlns:a16="http://schemas.microsoft.com/office/drawing/2014/main" id="{0283D963-CC89-9552-BBFA-44417F9A5810}"/>
              </a:ext>
            </a:extLst>
          </p:cNvPr>
          <p:cNvSpPr/>
          <p:nvPr/>
        </p:nvSpPr>
        <p:spPr>
          <a:xfrm>
            <a:off x="4131369" y="3223887"/>
            <a:ext cx="44166" cy="34806"/>
          </a:xfrm>
          <a:prstGeom prst="rect">
            <a:avLst/>
          </a:prstGeom>
          <a:solidFill>
            <a:srgbClr val="BFD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4" name="Context bar 1_4">
            <a:extLst>
              <a:ext uri="{FF2B5EF4-FFF2-40B4-BE49-F238E27FC236}">
                <a16:creationId xmlns:a16="http://schemas.microsoft.com/office/drawing/2014/main" id="{DFE762FA-D62F-609E-23C6-B16577CF789A}"/>
              </a:ext>
            </a:extLst>
          </p:cNvPr>
          <p:cNvSpPr/>
          <p:nvPr/>
        </p:nvSpPr>
        <p:spPr>
          <a:xfrm>
            <a:off x="4179491" y="3223887"/>
            <a:ext cx="44166" cy="34806"/>
          </a:xfrm>
          <a:prstGeom prst="rect">
            <a:avLst/>
          </a:prstGeom>
          <a:solidFill>
            <a:srgbClr val="739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5" name="Context bar 1_5">
            <a:extLst>
              <a:ext uri="{FF2B5EF4-FFF2-40B4-BE49-F238E27FC236}">
                <a16:creationId xmlns:a16="http://schemas.microsoft.com/office/drawing/2014/main" id="{8A2B1ECE-222F-713D-5115-87805A38C6E9}"/>
              </a:ext>
            </a:extLst>
          </p:cNvPr>
          <p:cNvSpPr/>
          <p:nvPr/>
        </p:nvSpPr>
        <p:spPr>
          <a:xfrm>
            <a:off x="4227612" y="3223887"/>
            <a:ext cx="44166" cy="34806"/>
          </a:xfrm>
          <a:prstGeom prst="rect">
            <a:avLst/>
          </a:prstGeom>
          <a:solidFill>
            <a:srgbClr val="5A8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6" name="Context bar 1_6">
            <a:extLst>
              <a:ext uri="{FF2B5EF4-FFF2-40B4-BE49-F238E27FC236}">
                <a16:creationId xmlns:a16="http://schemas.microsoft.com/office/drawing/2014/main" id="{F9202696-646F-1763-9139-E44B52B50C5F}"/>
              </a:ext>
            </a:extLst>
          </p:cNvPr>
          <p:cNvSpPr/>
          <p:nvPr/>
        </p:nvSpPr>
        <p:spPr>
          <a:xfrm>
            <a:off x="4275734" y="3223887"/>
            <a:ext cx="44166" cy="34806"/>
          </a:xfrm>
          <a:prstGeom prst="rect">
            <a:avLst/>
          </a:prstGeom>
          <a:solidFill>
            <a:srgbClr val="8B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7" name="TextBox 12251">
            <a:extLst>
              <a:ext uri="{FF2B5EF4-FFF2-40B4-BE49-F238E27FC236}">
                <a16:creationId xmlns:a16="http://schemas.microsoft.com/office/drawing/2014/main" id="{7BC06DFD-B767-BA41-2B05-2B0A38358B92}"/>
              </a:ext>
            </a:extLst>
          </p:cNvPr>
          <p:cNvSpPr txBox="1"/>
          <p:nvPr/>
        </p:nvSpPr>
        <p:spPr>
          <a:xfrm>
            <a:off x="3940202" y="3270220"/>
            <a:ext cx="79104" cy="677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50" dirty="0">
                <a:solidFill>
                  <a:srgbClr val="8E6B3E"/>
                </a:solidFill>
                <a:latin typeface="Arial"/>
              </a:rPr>
              <a:t>2</a:t>
            </a:r>
          </a:p>
        </p:txBody>
      </p:sp>
      <p:sp>
        <p:nvSpPr>
          <p:cNvPr id="708" name="Context bar 2_1">
            <a:extLst>
              <a:ext uri="{FF2B5EF4-FFF2-40B4-BE49-F238E27FC236}">
                <a16:creationId xmlns:a16="http://schemas.microsoft.com/office/drawing/2014/main" id="{520858ED-2877-9676-9DDD-53EAA8E37558}"/>
              </a:ext>
            </a:extLst>
          </p:cNvPr>
          <p:cNvSpPr/>
          <p:nvPr/>
        </p:nvSpPr>
        <p:spPr>
          <a:xfrm>
            <a:off x="4035126" y="3286664"/>
            <a:ext cx="44166" cy="34806"/>
          </a:xfrm>
          <a:prstGeom prst="rect">
            <a:avLst/>
          </a:prstGeom>
          <a:solidFill>
            <a:srgbClr val="A6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9" name="Context bar 2_2">
            <a:extLst>
              <a:ext uri="{FF2B5EF4-FFF2-40B4-BE49-F238E27FC236}">
                <a16:creationId xmlns:a16="http://schemas.microsoft.com/office/drawing/2014/main" id="{50A3D4F9-D9FE-CC8B-21E7-D32E326D8875}"/>
              </a:ext>
            </a:extLst>
          </p:cNvPr>
          <p:cNvSpPr/>
          <p:nvPr/>
        </p:nvSpPr>
        <p:spPr>
          <a:xfrm>
            <a:off x="4083248" y="3286664"/>
            <a:ext cx="44166" cy="34806"/>
          </a:xfrm>
          <a:prstGeom prst="rect">
            <a:avLst/>
          </a:prstGeom>
          <a:solidFill>
            <a:srgbClr val="C6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0" name="Context bar 2_3">
            <a:extLst>
              <a:ext uri="{FF2B5EF4-FFF2-40B4-BE49-F238E27FC236}">
                <a16:creationId xmlns:a16="http://schemas.microsoft.com/office/drawing/2014/main" id="{4471AA3C-5A9C-CEE5-0418-953EC2227441}"/>
              </a:ext>
            </a:extLst>
          </p:cNvPr>
          <p:cNvSpPr/>
          <p:nvPr/>
        </p:nvSpPr>
        <p:spPr>
          <a:xfrm>
            <a:off x="4131369" y="3286664"/>
            <a:ext cx="44166" cy="34806"/>
          </a:xfrm>
          <a:prstGeom prst="rect">
            <a:avLst/>
          </a:prstGeom>
          <a:solidFill>
            <a:srgbClr val="E0C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1" name="Context bar 2_4">
            <a:extLst>
              <a:ext uri="{FF2B5EF4-FFF2-40B4-BE49-F238E27FC236}">
                <a16:creationId xmlns:a16="http://schemas.microsoft.com/office/drawing/2014/main" id="{B321BB44-18FA-E7F3-2924-BC94493FEA4A}"/>
              </a:ext>
            </a:extLst>
          </p:cNvPr>
          <p:cNvSpPr/>
          <p:nvPr/>
        </p:nvSpPr>
        <p:spPr>
          <a:xfrm>
            <a:off x="4179491" y="3286664"/>
            <a:ext cx="44166" cy="34806"/>
          </a:xfrm>
          <a:prstGeom prst="rect">
            <a:avLst/>
          </a:prstGeom>
          <a:solidFill>
            <a:srgbClr val="B5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2" name="Context bar 2_5">
            <a:extLst>
              <a:ext uri="{FF2B5EF4-FFF2-40B4-BE49-F238E27FC236}">
                <a16:creationId xmlns:a16="http://schemas.microsoft.com/office/drawing/2014/main" id="{BF58521A-8C41-BE24-9704-AEAF70385316}"/>
              </a:ext>
            </a:extLst>
          </p:cNvPr>
          <p:cNvSpPr/>
          <p:nvPr/>
        </p:nvSpPr>
        <p:spPr>
          <a:xfrm>
            <a:off x="4227612" y="3286664"/>
            <a:ext cx="44166" cy="34806"/>
          </a:xfrm>
          <a:prstGeom prst="rect">
            <a:avLst/>
          </a:prstGeom>
          <a:solidFill>
            <a:srgbClr val="A6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3" name="Context bar 2_6">
            <a:extLst>
              <a:ext uri="{FF2B5EF4-FFF2-40B4-BE49-F238E27FC236}">
                <a16:creationId xmlns:a16="http://schemas.microsoft.com/office/drawing/2014/main" id="{4283B810-9FFF-25F8-1960-4F272603052B}"/>
              </a:ext>
            </a:extLst>
          </p:cNvPr>
          <p:cNvSpPr/>
          <p:nvPr/>
        </p:nvSpPr>
        <p:spPr>
          <a:xfrm>
            <a:off x="4275734" y="3286664"/>
            <a:ext cx="44166" cy="34806"/>
          </a:xfrm>
          <a:prstGeom prst="rect">
            <a:avLst/>
          </a:prstGeom>
          <a:solidFill>
            <a:srgbClr val="C6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4" name="TextBox 12258">
            <a:extLst>
              <a:ext uri="{FF2B5EF4-FFF2-40B4-BE49-F238E27FC236}">
                <a16:creationId xmlns:a16="http://schemas.microsoft.com/office/drawing/2014/main" id="{D4C78125-5C89-7F13-017C-2E1C11AE7FDD}"/>
              </a:ext>
            </a:extLst>
          </p:cNvPr>
          <p:cNvSpPr txBox="1"/>
          <p:nvPr/>
        </p:nvSpPr>
        <p:spPr>
          <a:xfrm>
            <a:off x="3940202" y="3332997"/>
            <a:ext cx="79104" cy="677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50" dirty="0">
                <a:solidFill>
                  <a:srgbClr val="6D5B97"/>
                </a:solidFill>
                <a:latin typeface="Arial"/>
              </a:rPr>
              <a:t>K</a:t>
            </a:r>
          </a:p>
        </p:txBody>
      </p:sp>
      <p:sp>
        <p:nvSpPr>
          <p:cNvPr id="715" name="Context bar K_1">
            <a:extLst>
              <a:ext uri="{FF2B5EF4-FFF2-40B4-BE49-F238E27FC236}">
                <a16:creationId xmlns:a16="http://schemas.microsoft.com/office/drawing/2014/main" id="{6C63634F-2307-320B-8E95-2B6ADA84F565}"/>
              </a:ext>
            </a:extLst>
          </p:cNvPr>
          <p:cNvSpPr/>
          <p:nvPr/>
        </p:nvSpPr>
        <p:spPr>
          <a:xfrm>
            <a:off x="4035126" y="3349440"/>
            <a:ext cx="44166" cy="34806"/>
          </a:xfrm>
          <a:prstGeom prst="rect">
            <a:avLst/>
          </a:prstGeom>
          <a:solidFill>
            <a:srgbClr val="7A6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6" name="Context bar K_2">
            <a:extLst>
              <a:ext uri="{FF2B5EF4-FFF2-40B4-BE49-F238E27FC236}">
                <a16:creationId xmlns:a16="http://schemas.microsoft.com/office/drawing/2014/main" id="{582A4CF2-1B99-BCF5-A8D3-EE93D5F5B81F}"/>
              </a:ext>
            </a:extLst>
          </p:cNvPr>
          <p:cNvSpPr/>
          <p:nvPr/>
        </p:nvSpPr>
        <p:spPr>
          <a:xfrm>
            <a:off x="4083248" y="3349440"/>
            <a:ext cx="44166" cy="34806"/>
          </a:xfrm>
          <a:prstGeom prst="rect">
            <a:avLst/>
          </a:prstGeom>
          <a:solidFill>
            <a:srgbClr val="A19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7" name="Context bar K_3">
            <a:extLst>
              <a:ext uri="{FF2B5EF4-FFF2-40B4-BE49-F238E27FC236}">
                <a16:creationId xmlns:a16="http://schemas.microsoft.com/office/drawing/2014/main" id="{607B41B1-A111-8D93-E207-5DF6221B54D2}"/>
              </a:ext>
            </a:extLst>
          </p:cNvPr>
          <p:cNvSpPr/>
          <p:nvPr/>
        </p:nvSpPr>
        <p:spPr>
          <a:xfrm>
            <a:off x="4131369" y="3349440"/>
            <a:ext cx="44166" cy="34806"/>
          </a:xfrm>
          <a:prstGeom prst="rect">
            <a:avLst/>
          </a:prstGeom>
          <a:solidFill>
            <a:srgbClr val="CB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8" name="Context bar K_4">
            <a:extLst>
              <a:ext uri="{FF2B5EF4-FFF2-40B4-BE49-F238E27FC236}">
                <a16:creationId xmlns:a16="http://schemas.microsoft.com/office/drawing/2014/main" id="{9539C2E7-004F-E86E-852E-98E80C399402}"/>
              </a:ext>
            </a:extLst>
          </p:cNvPr>
          <p:cNvSpPr/>
          <p:nvPr/>
        </p:nvSpPr>
        <p:spPr>
          <a:xfrm>
            <a:off x="4179491" y="3349440"/>
            <a:ext cx="44166" cy="34806"/>
          </a:xfrm>
          <a:prstGeom prst="rect">
            <a:avLst/>
          </a:prstGeom>
          <a:solidFill>
            <a:srgbClr val="8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9" name="Context bar K_5">
            <a:extLst>
              <a:ext uri="{FF2B5EF4-FFF2-40B4-BE49-F238E27FC236}">
                <a16:creationId xmlns:a16="http://schemas.microsoft.com/office/drawing/2014/main" id="{2DE0B959-537B-893B-9987-81BBF3647FFD}"/>
              </a:ext>
            </a:extLst>
          </p:cNvPr>
          <p:cNvSpPr/>
          <p:nvPr/>
        </p:nvSpPr>
        <p:spPr>
          <a:xfrm>
            <a:off x="4227612" y="3349440"/>
            <a:ext cx="44166" cy="34806"/>
          </a:xfrm>
          <a:prstGeom prst="rect">
            <a:avLst/>
          </a:prstGeom>
          <a:solidFill>
            <a:srgbClr val="7A6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0" name="Context bar K_6">
            <a:extLst>
              <a:ext uri="{FF2B5EF4-FFF2-40B4-BE49-F238E27FC236}">
                <a16:creationId xmlns:a16="http://schemas.microsoft.com/office/drawing/2014/main" id="{147CE38B-269C-4BBA-77C6-2810C1D11F1C}"/>
              </a:ext>
            </a:extLst>
          </p:cNvPr>
          <p:cNvSpPr/>
          <p:nvPr/>
        </p:nvSpPr>
        <p:spPr>
          <a:xfrm>
            <a:off x="4275734" y="3349440"/>
            <a:ext cx="44166" cy="34806"/>
          </a:xfrm>
          <a:prstGeom prst="rect">
            <a:avLst/>
          </a:prstGeom>
          <a:solidFill>
            <a:srgbClr val="A19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1" name="TextBox 12265">
            <a:extLst>
              <a:ext uri="{FF2B5EF4-FFF2-40B4-BE49-F238E27FC236}">
                <a16:creationId xmlns:a16="http://schemas.microsoft.com/office/drawing/2014/main" id="{979CEBC9-AC70-1276-123A-637171F58084}"/>
              </a:ext>
            </a:extLst>
          </p:cNvPr>
          <p:cNvSpPr txBox="1"/>
          <p:nvPr/>
        </p:nvSpPr>
        <p:spPr>
          <a:xfrm>
            <a:off x="4193334" y="3400472"/>
            <a:ext cx="134652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>
                <a:solidFill>
                  <a:srgbClr val="1D6D5E"/>
                </a:solidFill>
                <a:latin typeface="Arial"/>
              </a:rPr>
              <a:t>K, V</a:t>
            </a:r>
          </a:p>
        </p:txBody>
      </p:sp>
      <p:sp>
        <p:nvSpPr>
          <p:cNvPr id="722" name="Op | Context attention">
            <a:extLst>
              <a:ext uri="{FF2B5EF4-FFF2-40B4-BE49-F238E27FC236}">
                <a16:creationId xmlns:a16="http://schemas.microsoft.com/office/drawing/2014/main" id="{640CE564-549E-0D15-B50A-E392C9DB6304}"/>
              </a:ext>
            </a:extLst>
          </p:cNvPr>
          <p:cNvSpPr/>
          <p:nvPr/>
        </p:nvSpPr>
        <p:spPr>
          <a:xfrm>
            <a:off x="3837367" y="3500341"/>
            <a:ext cx="648651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Context</a:t>
            </a:r>
            <a:r>
              <a:rPr sz="580" dirty="0">
                <a:solidFill>
                  <a:srgbClr val="1D6D5E"/>
                </a:solidFill>
                <a:latin typeface="Arial"/>
              </a:rPr>
              <a:t> attention</a:t>
            </a:r>
          </a:p>
        </p:txBody>
      </p:sp>
      <p:sp>
        <p:nvSpPr>
          <p:cNvPr id="723" name="Op | Fusion">
            <a:extLst>
              <a:ext uri="{FF2B5EF4-FFF2-40B4-BE49-F238E27FC236}">
                <a16:creationId xmlns:a16="http://schemas.microsoft.com/office/drawing/2014/main" id="{FF74A918-BF09-C9F6-6A9B-D421CF97BC33}"/>
              </a:ext>
            </a:extLst>
          </p:cNvPr>
          <p:cNvSpPr/>
          <p:nvPr/>
        </p:nvSpPr>
        <p:spPr>
          <a:xfrm>
            <a:off x="3291551" y="3733697"/>
            <a:ext cx="379698" cy="14238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Fusion</a:t>
            </a:r>
          </a:p>
        </p:txBody>
      </p:sp>
      <p:sp>
        <p:nvSpPr>
          <p:cNvPr id="724" name="g_k bar_1">
            <a:extLst>
              <a:ext uri="{FF2B5EF4-FFF2-40B4-BE49-F238E27FC236}">
                <a16:creationId xmlns:a16="http://schemas.microsoft.com/office/drawing/2014/main" id="{CB9A6A2F-14EE-2004-CB53-FCE391ACED69}"/>
              </a:ext>
            </a:extLst>
          </p:cNvPr>
          <p:cNvSpPr/>
          <p:nvPr/>
        </p:nvSpPr>
        <p:spPr>
          <a:xfrm>
            <a:off x="3315283" y="3989994"/>
            <a:ext cx="44072" cy="56955"/>
          </a:xfrm>
          <a:prstGeom prst="rect">
            <a:avLst/>
          </a:prstGeom>
          <a:solidFill>
            <a:srgbClr val="3E9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5" name="g_k bar_2">
            <a:extLst>
              <a:ext uri="{FF2B5EF4-FFF2-40B4-BE49-F238E27FC236}">
                <a16:creationId xmlns:a16="http://schemas.microsoft.com/office/drawing/2014/main" id="{E39FC69E-11ED-3FA2-32B9-5945059F2213}"/>
              </a:ext>
            </a:extLst>
          </p:cNvPr>
          <p:cNvSpPr/>
          <p:nvPr/>
        </p:nvSpPr>
        <p:spPr>
          <a:xfrm>
            <a:off x="3363310" y="3989994"/>
            <a:ext cx="44072" cy="56955"/>
          </a:xfrm>
          <a:prstGeom prst="rect">
            <a:avLst/>
          </a:prstGeom>
          <a:solidFill>
            <a:srgbClr val="83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6" name="g_k bar_3">
            <a:extLst>
              <a:ext uri="{FF2B5EF4-FFF2-40B4-BE49-F238E27FC236}">
                <a16:creationId xmlns:a16="http://schemas.microsoft.com/office/drawing/2014/main" id="{543C1079-397B-91D4-0D56-9824953F1A51}"/>
              </a:ext>
            </a:extLst>
          </p:cNvPr>
          <p:cNvSpPr/>
          <p:nvPr/>
        </p:nvSpPr>
        <p:spPr>
          <a:xfrm>
            <a:off x="3411337" y="3989994"/>
            <a:ext cx="44072" cy="56955"/>
          </a:xfrm>
          <a:prstGeom prst="rect">
            <a:avLst/>
          </a:prstGeom>
          <a:solidFill>
            <a:srgbClr val="BC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7" name="g_k bar_4">
            <a:extLst>
              <a:ext uri="{FF2B5EF4-FFF2-40B4-BE49-F238E27FC236}">
                <a16:creationId xmlns:a16="http://schemas.microsoft.com/office/drawing/2014/main" id="{72768CF4-9EFB-DF24-7C89-6D351C730BA5}"/>
              </a:ext>
            </a:extLst>
          </p:cNvPr>
          <p:cNvSpPr/>
          <p:nvPr/>
        </p:nvSpPr>
        <p:spPr>
          <a:xfrm>
            <a:off x="3459364" y="3989994"/>
            <a:ext cx="44072" cy="56955"/>
          </a:xfrm>
          <a:prstGeom prst="rect">
            <a:avLst/>
          </a:prstGeom>
          <a:solidFill>
            <a:srgbClr val="68AB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8" name="g_k bar_5">
            <a:extLst>
              <a:ext uri="{FF2B5EF4-FFF2-40B4-BE49-F238E27FC236}">
                <a16:creationId xmlns:a16="http://schemas.microsoft.com/office/drawing/2014/main" id="{4025AE17-AFDD-1F7D-9368-8E976FBC9D73}"/>
              </a:ext>
            </a:extLst>
          </p:cNvPr>
          <p:cNvSpPr/>
          <p:nvPr/>
        </p:nvSpPr>
        <p:spPr>
          <a:xfrm>
            <a:off x="3507392" y="3989994"/>
            <a:ext cx="44072" cy="56955"/>
          </a:xfrm>
          <a:prstGeom prst="rect">
            <a:avLst/>
          </a:prstGeom>
          <a:solidFill>
            <a:srgbClr val="3E9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9" name="g_k bar_6">
            <a:extLst>
              <a:ext uri="{FF2B5EF4-FFF2-40B4-BE49-F238E27FC236}">
                <a16:creationId xmlns:a16="http://schemas.microsoft.com/office/drawing/2014/main" id="{894C2CFF-A654-8C7B-2480-AC98400CE487}"/>
              </a:ext>
            </a:extLst>
          </p:cNvPr>
          <p:cNvSpPr/>
          <p:nvPr/>
        </p:nvSpPr>
        <p:spPr>
          <a:xfrm>
            <a:off x="3555419" y="3989994"/>
            <a:ext cx="44072" cy="56955"/>
          </a:xfrm>
          <a:prstGeom prst="rect">
            <a:avLst/>
          </a:prstGeom>
          <a:solidFill>
            <a:srgbClr val="83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30" name="g_k bar_7">
            <a:extLst>
              <a:ext uri="{FF2B5EF4-FFF2-40B4-BE49-F238E27FC236}">
                <a16:creationId xmlns:a16="http://schemas.microsoft.com/office/drawing/2014/main" id="{DC10EA75-05BB-E415-682D-FAFCD65B7377}"/>
              </a:ext>
            </a:extLst>
          </p:cNvPr>
          <p:cNvSpPr/>
          <p:nvPr/>
        </p:nvSpPr>
        <p:spPr>
          <a:xfrm>
            <a:off x="3603446" y="3989994"/>
            <a:ext cx="44072" cy="56955"/>
          </a:xfrm>
          <a:prstGeom prst="rect">
            <a:avLst/>
          </a:prstGeom>
          <a:solidFill>
            <a:srgbClr val="BC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31" name="Math | g_k^">
            <a:extLst>
              <a:ext uri="{FF2B5EF4-FFF2-40B4-BE49-F238E27FC236}">
                <a16:creationId xmlns:a16="http://schemas.microsoft.com/office/drawing/2014/main" id="{45321F2B-F3FA-58E1-92FE-B69A1AB20949}"/>
              </a:ext>
            </a:extLst>
          </p:cNvPr>
          <p:cNvSpPr txBox="1"/>
          <p:nvPr/>
        </p:nvSpPr>
        <p:spPr>
          <a:xfrm>
            <a:off x="3684143" y="3947306"/>
            <a:ext cx="84960" cy="1265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22" i="1">
                <a:solidFill>
                  <a:srgbClr val="1E293B"/>
                </a:solidFill>
                <a:latin typeface="Times New Roman"/>
              </a:rPr>
              <a:t>g</a:t>
            </a:r>
            <a:r>
              <a:rPr sz="750" i="1" baseline="-28000">
                <a:solidFill>
                  <a:srgbClr val="1E293B"/>
                </a:solidFill>
                <a:latin typeface="Times New Roman"/>
              </a:rPr>
              <a:t>k</a:t>
            </a:r>
          </a:p>
        </p:txBody>
      </p:sp>
      <p:sp>
        <p:nvSpPr>
          <p:cNvPr id="732" name="Op | Cosine score">
            <a:extLst>
              <a:ext uri="{FF2B5EF4-FFF2-40B4-BE49-F238E27FC236}">
                <a16:creationId xmlns:a16="http://schemas.microsoft.com/office/drawing/2014/main" id="{9B88858F-88C1-DA3F-1992-E9C76D0D80AF}"/>
              </a:ext>
            </a:extLst>
          </p:cNvPr>
          <p:cNvSpPr/>
          <p:nvPr/>
        </p:nvSpPr>
        <p:spPr>
          <a:xfrm>
            <a:off x="3085881" y="4164813"/>
            <a:ext cx="569547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>
                <a:solidFill>
                  <a:srgbClr val="1D6D5E"/>
                </a:solidFill>
                <a:latin typeface="Arial"/>
              </a:rPr>
              <a:t>Cosine score</a:t>
            </a:r>
          </a:p>
        </p:txBody>
      </p:sp>
      <p:sp>
        <p:nvSpPr>
          <p:cNvPr id="733" name="TextBox 12277">
            <a:extLst>
              <a:ext uri="{FF2B5EF4-FFF2-40B4-BE49-F238E27FC236}">
                <a16:creationId xmlns:a16="http://schemas.microsoft.com/office/drawing/2014/main" id="{7D6970C3-E7E9-652B-644D-A057CB503545}"/>
              </a:ext>
            </a:extLst>
          </p:cNvPr>
          <p:cNvSpPr txBox="1"/>
          <p:nvPr/>
        </p:nvSpPr>
        <p:spPr>
          <a:xfrm>
            <a:off x="3087003" y="4326634"/>
            <a:ext cx="585097" cy="794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8" dirty="0">
                <a:solidFill>
                  <a:srgbClr val="5A6B7C"/>
                </a:solidFill>
                <a:latin typeface="Arial"/>
              </a:rPr>
              <a:t>Learned projections</a:t>
            </a:r>
          </a:p>
        </p:txBody>
      </p:sp>
      <p:sp>
        <p:nvSpPr>
          <p:cNvPr id="734" name="Math | s_j,k^">
            <a:extLst>
              <a:ext uri="{FF2B5EF4-FFF2-40B4-BE49-F238E27FC236}">
                <a16:creationId xmlns:a16="http://schemas.microsoft.com/office/drawing/2014/main" id="{BD0A37AE-0CF6-77DD-8048-3FF0945F4158}"/>
              </a:ext>
            </a:extLst>
          </p:cNvPr>
          <p:cNvSpPr txBox="1"/>
          <p:nvPr/>
        </p:nvSpPr>
        <p:spPr>
          <a:xfrm>
            <a:off x="3741774" y="4086560"/>
            <a:ext cx="104196" cy="1170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61" i="1" dirty="0" err="1">
                <a:solidFill>
                  <a:srgbClr val="1E293B"/>
                </a:solidFill>
                <a:latin typeface="Times New Roman"/>
              </a:rPr>
              <a:t>s</a:t>
            </a:r>
            <a:r>
              <a:rPr sz="750" i="1" baseline="-28000" dirty="0" err="1">
                <a:solidFill>
                  <a:srgbClr val="1E293B"/>
                </a:solidFill>
                <a:latin typeface="Times New Roman"/>
              </a:rPr>
              <a:t>j,k</a:t>
            </a:r>
            <a:endParaRPr sz="750" i="1" baseline="-28000" dirty="0">
              <a:solidFill>
                <a:srgbClr val="1E293B"/>
              </a:solidFill>
              <a:latin typeface="Times New Roman"/>
            </a:endParaRPr>
          </a:p>
        </p:txBody>
      </p:sp>
      <p:sp>
        <p:nvSpPr>
          <p:cNvPr id="735" name="TextBox 12279">
            <a:extLst>
              <a:ext uri="{FF2B5EF4-FFF2-40B4-BE49-F238E27FC236}">
                <a16:creationId xmlns:a16="http://schemas.microsoft.com/office/drawing/2014/main" id="{C56E8311-ADDA-7C63-9110-2C3006BDD08E}"/>
              </a:ext>
            </a:extLst>
          </p:cNvPr>
          <p:cNvSpPr txBox="1"/>
          <p:nvPr/>
        </p:nvSpPr>
        <p:spPr>
          <a:xfrm>
            <a:off x="4001148" y="3931330"/>
            <a:ext cx="479297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0">
                <a:solidFill>
                  <a:srgbClr val="1E293B"/>
                </a:solidFill>
                <a:latin typeface="Arial"/>
              </a:rPr>
              <a:t>Identity scores</a:t>
            </a:r>
          </a:p>
        </p:txBody>
      </p:sp>
      <p:sp>
        <p:nvSpPr>
          <p:cNvPr id="736" name="TextBox 12280">
            <a:extLst>
              <a:ext uri="{FF2B5EF4-FFF2-40B4-BE49-F238E27FC236}">
                <a16:creationId xmlns:a16="http://schemas.microsoft.com/office/drawing/2014/main" id="{C640A1D5-D4D1-3FBF-0F27-45AD836A7FCE}"/>
              </a:ext>
            </a:extLst>
          </p:cNvPr>
          <p:cNvSpPr txBox="1"/>
          <p:nvPr/>
        </p:nvSpPr>
        <p:spPr>
          <a:xfrm>
            <a:off x="4239652" y="4018471"/>
            <a:ext cx="102835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71" dirty="0">
                <a:solidFill>
                  <a:srgbClr val="1D6D5E"/>
                </a:solidFill>
                <a:latin typeface="Arial"/>
              </a:rPr>
              <a:t>k</a:t>
            </a:r>
          </a:p>
        </p:txBody>
      </p:sp>
      <p:sp>
        <p:nvSpPr>
          <p:cNvPr id="737" name="TextBox 12281">
            <a:extLst>
              <a:ext uri="{FF2B5EF4-FFF2-40B4-BE49-F238E27FC236}">
                <a16:creationId xmlns:a16="http://schemas.microsoft.com/office/drawing/2014/main" id="{F472392A-4724-5EDA-C6D8-557EF063B52F}"/>
              </a:ext>
            </a:extLst>
          </p:cNvPr>
          <p:cNvSpPr txBox="1"/>
          <p:nvPr/>
        </p:nvSpPr>
        <p:spPr>
          <a:xfrm>
            <a:off x="3940202" y="4169314"/>
            <a:ext cx="8701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71">
                <a:solidFill>
                  <a:srgbClr val="1D6D5E"/>
                </a:solidFill>
                <a:latin typeface="Arial"/>
              </a:rPr>
              <a:t>j</a:t>
            </a:r>
          </a:p>
        </p:txBody>
      </p:sp>
      <p:sp>
        <p:nvSpPr>
          <p:cNvPr id="738" name="Matrix cell (0,0)">
            <a:extLst>
              <a:ext uri="{FF2B5EF4-FFF2-40B4-BE49-F238E27FC236}">
                <a16:creationId xmlns:a16="http://schemas.microsoft.com/office/drawing/2014/main" id="{1FAFF817-C1CE-5F45-E950-98E19AE452CF}"/>
              </a:ext>
            </a:extLst>
          </p:cNvPr>
          <p:cNvSpPr/>
          <p:nvPr/>
        </p:nvSpPr>
        <p:spPr>
          <a:xfrm>
            <a:off x="4035126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39" name="Matrix cell (0,1)">
            <a:extLst>
              <a:ext uri="{FF2B5EF4-FFF2-40B4-BE49-F238E27FC236}">
                <a16:creationId xmlns:a16="http://schemas.microsoft.com/office/drawing/2014/main" id="{ED9FACB8-4D6A-044F-997F-E09503AC15AA}"/>
              </a:ext>
            </a:extLst>
          </p:cNvPr>
          <p:cNvSpPr/>
          <p:nvPr/>
        </p:nvSpPr>
        <p:spPr>
          <a:xfrm>
            <a:off x="4137961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0" name="Matrix cell (0,2)">
            <a:extLst>
              <a:ext uri="{FF2B5EF4-FFF2-40B4-BE49-F238E27FC236}">
                <a16:creationId xmlns:a16="http://schemas.microsoft.com/office/drawing/2014/main" id="{DE25E670-FAB3-667C-5777-C71ED9075845}"/>
              </a:ext>
            </a:extLst>
          </p:cNvPr>
          <p:cNvSpPr/>
          <p:nvPr/>
        </p:nvSpPr>
        <p:spPr>
          <a:xfrm>
            <a:off x="4240796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1" name="Matrix cell (0,3)">
            <a:extLst>
              <a:ext uri="{FF2B5EF4-FFF2-40B4-BE49-F238E27FC236}">
                <a16:creationId xmlns:a16="http://schemas.microsoft.com/office/drawing/2014/main" id="{D15A0AB1-9BF7-4E76-6CED-C525DFBAA5F7}"/>
              </a:ext>
            </a:extLst>
          </p:cNvPr>
          <p:cNvSpPr/>
          <p:nvPr/>
        </p:nvSpPr>
        <p:spPr>
          <a:xfrm>
            <a:off x="4343631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2" name="Matrix cell (1,0)">
            <a:extLst>
              <a:ext uri="{FF2B5EF4-FFF2-40B4-BE49-F238E27FC236}">
                <a16:creationId xmlns:a16="http://schemas.microsoft.com/office/drawing/2014/main" id="{5C20FC23-8B30-D896-36CC-91D73273996F}"/>
              </a:ext>
            </a:extLst>
          </p:cNvPr>
          <p:cNvSpPr/>
          <p:nvPr/>
        </p:nvSpPr>
        <p:spPr>
          <a:xfrm>
            <a:off x="4035126" y="4176678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3" name="Matrix cell (1,1)">
            <a:extLst>
              <a:ext uri="{FF2B5EF4-FFF2-40B4-BE49-F238E27FC236}">
                <a16:creationId xmlns:a16="http://schemas.microsoft.com/office/drawing/2014/main" id="{023C0380-7EA8-B629-5738-AD00698F49B6}"/>
              </a:ext>
            </a:extLst>
          </p:cNvPr>
          <p:cNvSpPr/>
          <p:nvPr/>
        </p:nvSpPr>
        <p:spPr>
          <a:xfrm>
            <a:off x="4137961" y="4176678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4" name="Matrix cell (1,2)">
            <a:extLst>
              <a:ext uri="{FF2B5EF4-FFF2-40B4-BE49-F238E27FC236}">
                <a16:creationId xmlns:a16="http://schemas.microsoft.com/office/drawing/2014/main" id="{12FBEABC-63F9-0304-4A97-80811BFE2B66}"/>
              </a:ext>
            </a:extLst>
          </p:cNvPr>
          <p:cNvSpPr/>
          <p:nvPr/>
        </p:nvSpPr>
        <p:spPr>
          <a:xfrm>
            <a:off x="4240796" y="4176678"/>
            <a:ext cx="102835" cy="71193"/>
          </a:xfrm>
          <a:prstGeom prst="rect">
            <a:avLst/>
          </a:prstGeom>
          <a:solidFill>
            <a:srgbClr val="3C9486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5" name="Matrix cell (1,3)">
            <a:extLst>
              <a:ext uri="{FF2B5EF4-FFF2-40B4-BE49-F238E27FC236}">
                <a16:creationId xmlns:a16="http://schemas.microsoft.com/office/drawing/2014/main" id="{90D1E1D0-D1D8-F490-5B4D-27F3093D1ECE}"/>
              </a:ext>
            </a:extLst>
          </p:cNvPr>
          <p:cNvSpPr/>
          <p:nvPr/>
        </p:nvSpPr>
        <p:spPr>
          <a:xfrm>
            <a:off x="4343631" y="4176678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6" name="Matrix cell (2,0)">
            <a:extLst>
              <a:ext uri="{FF2B5EF4-FFF2-40B4-BE49-F238E27FC236}">
                <a16:creationId xmlns:a16="http://schemas.microsoft.com/office/drawing/2014/main" id="{158A66BE-E7B7-0506-657E-0BF13A0E4F5E}"/>
              </a:ext>
            </a:extLst>
          </p:cNvPr>
          <p:cNvSpPr/>
          <p:nvPr/>
        </p:nvSpPr>
        <p:spPr>
          <a:xfrm>
            <a:off x="4035126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7" name="Matrix cell (2,1)">
            <a:extLst>
              <a:ext uri="{FF2B5EF4-FFF2-40B4-BE49-F238E27FC236}">
                <a16:creationId xmlns:a16="http://schemas.microsoft.com/office/drawing/2014/main" id="{3B18D166-F88A-573E-0225-1ACB99CB2512}"/>
              </a:ext>
            </a:extLst>
          </p:cNvPr>
          <p:cNvSpPr/>
          <p:nvPr/>
        </p:nvSpPr>
        <p:spPr>
          <a:xfrm>
            <a:off x="4137961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8" name="Matrix cell (2,2)">
            <a:extLst>
              <a:ext uri="{FF2B5EF4-FFF2-40B4-BE49-F238E27FC236}">
                <a16:creationId xmlns:a16="http://schemas.microsoft.com/office/drawing/2014/main" id="{FC858539-3EA9-E4FE-E803-0C8FFAD3870F}"/>
              </a:ext>
            </a:extLst>
          </p:cNvPr>
          <p:cNvSpPr/>
          <p:nvPr/>
        </p:nvSpPr>
        <p:spPr>
          <a:xfrm>
            <a:off x="4240796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9" name="Matrix cell (2,3)">
            <a:extLst>
              <a:ext uri="{FF2B5EF4-FFF2-40B4-BE49-F238E27FC236}">
                <a16:creationId xmlns:a16="http://schemas.microsoft.com/office/drawing/2014/main" id="{3713326C-75C4-31D8-12F4-1CA18BF652D7}"/>
              </a:ext>
            </a:extLst>
          </p:cNvPr>
          <p:cNvSpPr/>
          <p:nvPr/>
        </p:nvSpPr>
        <p:spPr>
          <a:xfrm>
            <a:off x="4343631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50" name="TextBox 12294">
            <a:extLst>
              <a:ext uri="{FF2B5EF4-FFF2-40B4-BE49-F238E27FC236}">
                <a16:creationId xmlns:a16="http://schemas.microsoft.com/office/drawing/2014/main" id="{E992C05A-634A-6CF2-2936-1480C4EA17F1}"/>
              </a:ext>
            </a:extLst>
          </p:cNvPr>
          <p:cNvSpPr txBox="1"/>
          <p:nvPr/>
        </p:nvSpPr>
        <p:spPr>
          <a:xfrm>
            <a:off x="4035127" y="4312989"/>
            <a:ext cx="411339" cy="825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36">
                <a:solidFill>
                  <a:srgbClr val="5A6B7C"/>
                </a:solidFill>
                <a:latin typeface="Arial"/>
              </a:rPr>
              <a:t>J × K</a:t>
            </a:r>
          </a:p>
        </p:txBody>
      </p:sp>
      <p:grpSp>
        <p:nvGrpSpPr>
          <p:cNvPr id="751" name="组合 13795">
            <a:extLst>
              <a:ext uri="{FF2B5EF4-FFF2-40B4-BE49-F238E27FC236}">
                <a16:creationId xmlns:a16="http://schemas.microsoft.com/office/drawing/2014/main" id="{7EA912CF-516A-2745-A5D0-8704116A4D72}"/>
              </a:ext>
            </a:extLst>
          </p:cNvPr>
          <p:cNvGrpSpPr/>
          <p:nvPr/>
        </p:nvGrpSpPr>
        <p:grpSpPr>
          <a:xfrm>
            <a:off x="1848794" y="554865"/>
            <a:ext cx="1978883" cy="340209"/>
            <a:chOff x="6312668" y="2448732"/>
            <a:chExt cx="1215499" cy="343631"/>
          </a:xfrm>
        </p:grpSpPr>
        <p:pic>
          <p:nvPicPr>
            <p:cNvPr id="752" name="图片 12">
              <a:extLst>
                <a:ext uri="{FF2B5EF4-FFF2-40B4-BE49-F238E27FC236}">
                  <a16:creationId xmlns:a16="http://schemas.microsoft.com/office/drawing/2014/main" id="{521CB8EA-9697-F11D-7107-B4A42B988070}"/>
                </a:ext>
              </a:extLst>
            </p:cNvPr>
            <p:cNvPicPr>
              <a:picLocks/>
            </p:cNvPicPr>
            <p:nvPr/>
          </p:nvPicPr>
          <p:blipFill>
            <a:blip r:embed="rId5"/>
            <a:srcRect l="70243" t="-18171" b="-1"/>
            <a:stretch>
              <a:fillRect/>
            </a:stretch>
          </p:blipFill>
          <p:spPr>
            <a:xfrm>
              <a:off x="7112075" y="2448732"/>
              <a:ext cx="416092" cy="323855"/>
            </a:xfrm>
            <a:prstGeom prst="rect">
              <a:avLst/>
            </a:prstGeom>
          </p:spPr>
        </p:pic>
        <p:pic>
          <p:nvPicPr>
            <p:cNvPr id="753" name="图片 12">
              <a:extLst>
                <a:ext uri="{FF2B5EF4-FFF2-40B4-BE49-F238E27FC236}">
                  <a16:creationId xmlns:a16="http://schemas.microsoft.com/office/drawing/2014/main" id="{546466D8-C7C6-7C8A-3307-95F68FB4F610}"/>
                </a:ext>
              </a:extLst>
            </p:cNvPr>
            <p:cNvPicPr>
              <a:picLocks/>
            </p:cNvPicPr>
            <p:nvPr/>
          </p:nvPicPr>
          <p:blipFill>
            <a:blip r:embed="rId5"/>
            <a:srcRect r="70534" b="-8235"/>
            <a:stretch>
              <a:fillRect/>
            </a:stretch>
          </p:blipFill>
          <p:spPr>
            <a:xfrm>
              <a:off x="6312668" y="2495741"/>
              <a:ext cx="412024" cy="296622"/>
            </a:xfrm>
            <a:prstGeom prst="rect">
              <a:avLst/>
            </a:prstGeom>
          </p:spPr>
        </p:pic>
        <p:pic>
          <p:nvPicPr>
            <p:cNvPr id="754" name="Picture 10000" descr="unet_block_18.png">
              <a:extLst>
                <a:ext uri="{FF2B5EF4-FFF2-40B4-BE49-F238E27FC236}">
                  <a16:creationId xmlns:a16="http://schemas.microsoft.com/office/drawing/2014/main" id="{75A7694C-DEA5-AFE8-E284-0A0D89F84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76851" y="2645026"/>
              <a:ext cx="276863" cy="126566"/>
            </a:xfrm>
            <a:prstGeom prst="rect">
              <a:avLst/>
            </a:prstGeom>
          </p:spPr>
        </p:pic>
      </p:grpSp>
      <p:grpSp>
        <p:nvGrpSpPr>
          <p:cNvPr id="755" name="Find candidate blob 1">
            <a:extLst>
              <a:ext uri="{FF2B5EF4-FFF2-40B4-BE49-F238E27FC236}">
                <a16:creationId xmlns:a16="http://schemas.microsoft.com/office/drawing/2014/main" id="{3B821B97-56A6-DCED-E85F-DBF945F3EA13}"/>
              </a:ext>
            </a:extLst>
          </p:cNvPr>
          <p:cNvGrpSpPr/>
          <p:nvPr/>
        </p:nvGrpSpPr>
        <p:grpSpPr>
          <a:xfrm>
            <a:off x="4284988" y="1142791"/>
            <a:ext cx="187969" cy="128401"/>
            <a:chOff x="1928706" y="3559489"/>
            <a:chExt cx="227897" cy="155682"/>
          </a:xfrm>
        </p:grpSpPr>
        <p:sp>
          <p:nvSpPr>
            <p:cNvPr id="756" name="Candidate blob | editable contour">
              <a:extLst>
                <a:ext uri="{FF2B5EF4-FFF2-40B4-BE49-F238E27FC236}">
                  <a16:creationId xmlns:a16="http://schemas.microsoft.com/office/drawing/2014/main" id="{B3B117DA-D182-38E6-AD16-B4776AD2C7B7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757" name="ellipse_2612">
              <a:extLst>
                <a:ext uri="{FF2B5EF4-FFF2-40B4-BE49-F238E27FC236}">
                  <a16:creationId xmlns:a16="http://schemas.microsoft.com/office/drawing/2014/main" id="{901C6437-E94C-AFDE-D242-E688A89ABBDB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58" name="Find candidate blob 2">
            <a:extLst>
              <a:ext uri="{FF2B5EF4-FFF2-40B4-BE49-F238E27FC236}">
                <a16:creationId xmlns:a16="http://schemas.microsoft.com/office/drawing/2014/main" id="{00C0C92B-D4C8-0994-E860-1581EB873D86}"/>
              </a:ext>
            </a:extLst>
          </p:cNvPr>
          <p:cNvGrpSpPr/>
          <p:nvPr/>
        </p:nvGrpSpPr>
        <p:grpSpPr>
          <a:xfrm>
            <a:off x="4059561" y="1012468"/>
            <a:ext cx="210752" cy="119242"/>
            <a:chOff x="1928706" y="3559489"/>
            <a:chExt cx="227897" cy="155682"/>
          </a:xfrm>
        </p:grpSpPr>
        <p:sp>
          <p:nvSpPr>
            <p:cNvPr id="759" name="Candidate blob | editable contour">
              <a:extLst>
                <a:ext uri="{FF2B5EF4-FFF2-40B4-BE49-F238E27FC236}">
                  <a16:creationId xmlns:a16="http://schemas.microsoft.com/office/drawing/2014/main" id="{A172A8B3-EFA3-33C9-CD2B-307B24D7293D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3521" y="100385"/>
                  </a:moveTo>
                  <a:cubicBezTo>
                    <a:pt x="0" y="80701"/>
                    <a:pt x="26006" y="62787"/>
                    <a:pt x="43453" y="54263"/>
                  </a:cubicBezTo>
                  <a:cubicBezTo>
                    <a:pt x="58843" y="43224"/>
                    <a:pt x="83460" y="52781"/>
                    <a:pt x="99588" y="43358"/>
                  </a:cubicBezTo>
                  <a:cubicBezTo>
                    <a:pt x="112436" y="32945"/>
                    <a:pt x="102548" y="9475"/>
                    <a:pt x="114181" y="4123"/>
                  </a:cubicBezTo>
                  <a:cubicBezTo>
                    <a:pt x="125241" y="0"/>
                    <a:pt x="158214" y="2398"/>
                    <a:pt x="179365" y="5837"/>
                  </a:cubicBezTo>
                  <a:cubicBezTo>
                    <a:pt x="197301" y="9996"/>
                    <a:pt x="210134" y="19340"/>
                    <a:pt x="216909" y="31256"/>
                  </a:cubicBezTo>
                  <a:cubicBezTo>
                    <a:pt x="221237" y="45342"/>
                    <a:pt x="227897" y="67151"/>
                    <a:pt x="224378" y="79920"/>
                  </a:cubicBezTo>
                  <a:cubicBezTo>
                    <a:pt x="219253" y="92918"/>
                    <a:pt x="191986" y="104353"/>
                    <a:pt x="170629" y="115250"/>
                  </a:cubicBezTo>
                  <a:cubicBezTo>
                    <a:pt x="155563" y="129736"/>
                    <a:pt x="143418" y="146104"/>
                    <a:pt x="126157" y="151452"/>
                  </a:cubicBezTo>
                  <a:cubicBezTo>
                    <a:pt x="110048" y="155682"/>
                    <a:pt x="82946" y="155682"/>
                    <a:pt x="52808" y="150002"/>
                  </a:cubicBezTo>
                  <a:cubicBezTo>
                    <a:pt x="28847" y="143645"/>
                    <a:pt x="5675" y="118994"/>
                    <a:pt x="3521" y="10038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760" name="ellipse_2612">
              <a:extLst>
                <a:ext uri="{FF2B5EF4-FFF2-40B4-BE49-F238E27FC236}">
                  <a16:creationId xmlns:a16="http://schemas.microsoft.com/office/drawing/2014/main" id="{CF37E813-914E-4383-9CE9-1C5F4095124F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61" name="Find candidate blob 3">
            <a:extLst>
              <a:ext uri="{FF2B5EF4-FFF2-40B4-BE49-F238E27FC236}">
                <a16:creationId xmlns:a16="http://schemas.microsoft.com/office/drawing/2014/main" id="{D7299A48-8BF0-7050-EF56-14DA3F495CB7}"/>
              </a:ext>
            </a:extLst>
          </p:cNvPr>
          <p:cNvGrpSpPr/>
          <p:nvPr/>
        </p:nvGrpSpPr>
        <p:grpSpPr>
          <a:xfrm>
            <a:off x="4069342" y="1154249"/>
            <a:ext cx="190188" cy="103739"/>
            <a:chOff x="1928706" y="3559489"/>
            <a:chExt cx="227897" cy="155682"/>
          </a:xfrm>
        </p:grpSpPr>
        <p:sp>
          <p:nvSpPr>
            <p:cNvPr id="762" name="Candidate blob | editable contour">
              <a:extLst>
                <a:ext uri="{FF2B5EF4-FFF2-40B4-BE49-F238E27FC236}">
                  <a16:creationId xmlns:a16="http://schemas.microsoft.com/office/drawing/2014/main" id="{8902F596-0D84-3C56-EB93-D63FC7E9041E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4633" y="103508"/>
                  </a:moveTo>
                  <a:cubicBezTo>
                    <a:pt x="0" y="80701"/>
                    <a:pt x="17781" y="72087"/>
                    <a:pt x="35225" y="64107"/>
                  </a:cubicBezTo>
                  <a:cubicBezTo>
                    <a:pt x="54476" y="49917"/>
                    <a:pt x="72264" y="52549"/>
                    <a:pt x="92778" y="35736"/>
                  </a:cubicBezTo>
                  <a:cubicBezTo>
                    <a:pt x="110195" y="21040"/>
                    <a:pt x="104326" y="5059"/>
                    <a:pt x="115221" y="1753"/>
                  </a:cubicBezTo>
                  <a:cubicBezTo>
                    <a:pt x="125241" y="0"/>
                    <a:pt x="159037" y="3786"/>
                    <a:pt x="180838" y="12966"/>
                  </a:cubicBezTo>
                  <a:cubicBezTo>
                    <a:pt x="198427" y="23372"/>
                    <a:pt x="209170" y="39484"/>
                    <a:pt x="212983" y="52913"/>
                  </a:cubicBezTo>
                  <a:cubicBezTo>
                    <a:pt x="216818" y="61184"/>
                    <a:pt x="227897" y="67151"/>
                    <a:pt x="223406" y="85389"/>
                  </a:cubicBezTo>
                  <a:cubicBezTo>
                    <a:pt x="220211" y="103077"/>
                    <a:pt x="208185" y="131257"/>
                    <a:pt x="201464" y="141174"/>
                  </a:cubicBezTo>
                  <a:cubicBezTo>
                    <a:pt x="189414" y="144450"/>
                    <a:pt x="161966" y="148455"/>
                    <a:pt x="136762" y="150513"/>
                  </a:cubicBezTo>
                  <a:cubicBezTo>
                    <a:pt x="110048" y="155682"/>
                    <a:pt x="82946" y="155682"/>
                    <a:pt x="72733" y="149421"/>
                  </a:cubicBezTo>
                  <a:cubicBezTo>
                    <a:pt x="54091" y="147525"/>
                    <a:pt x="13199" y="123788"/>
                    <a:pt x="4633" y="10350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763" name="ellipse_2612">
              <a:extLst>
                <a:ext uri="{FF2B5EF4-FFF2-40B4-BE49-F238E27FC236}">
                  <a16:creationId xmlns:a16="http://schemas.microsoft.com/office/drawing/2014/main" id="{85D74281-2FE6-E2D2-EFBA-AF54A45686E3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765" name="Find auxiliary label">
            <a:extLst>
              <a:ext uri="{FF2B5EF4-FFF2-40B4-BE49-F238E27FC236}">
                <a16:creationId xmlns:a16="http://schemas.microsoft.com/office/drawing/2014/main" id="{CAD88599-B783-720B-B6BD-9F787FCB6CF4}"/>
              </a:ext>
            </a:extLst>
          </p:cNvPr>
          <p:cNvSpPr>
            <a:spLocks noGrp="1"/>
          </p:cNvSpPr>
          <p:nvPr/>
        </p:nvSpPr>
        <p:spPr>
          <a:xfrm>
            <a:off x="4060074" y="1518303"/>
            <a:ext cx="433362" cy="157954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defPPr>
            <a:lvl1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1pPr>
            <a:lvl2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2pPr>
            <a:lvl3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3pPr>
            <a:lvl4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4pPr>
            <a:lvl5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5pPr>
            <a:lvl6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6pPr>
            <a:lvl7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7pPr>
            <a:lvl8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8pPr>
            <a:lvl9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pPr>
            <a:r>
              <a:rPr sz="590" dirty="0">
                <a:solidFill>
                  <a:srgbClr val="71808C"/>
                </a:solidFill>
                <a:latin typeface="Arial"/>
                <a:ea typeface="Arial"/>
                <a:cs typeface="Arial"/>
              </a:rPr>
              <a:t>Auxiliary</a:t>
            </a:r>
          </a:p>
          <a:p>
            <a: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pPr>
            <a:r>
              <a:rPr sz="590" dirty="0">
                <a:solidFill>
                  <a:srgbClr val="71808C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766" name="Match auxiliary label">
            <a:extLst>
              <a:ext uri="{FF2B5EF4-FFF2-40B4-BE49-F238E27FC236}">
                <a16:creationId xmlns:a16="http://schemas.microsoft.com/office/drawing/2014/main" id="{C154BF4F-4214-59BC-DCE1-F9C23194AC63}"/>
              </a:ext>
            </a:extLst>
          </p:cNvPr>
          <p:cNvSpPr>
            <a:spLocks noGrp="1"/>
          </p:cNvSpPr>
          <p:nvPr/>
        </p:nvSpPr>
        <p:spPr>
          <a:xfrm>
            <a:off x="1457164" y="2843177"/>
            <a:ext cx="405011" cy="174155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  <a:lvl1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1pPr>
            <a:lvl2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2pPr>
            <a:lvl3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3pPr>
            <a:lvl4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4pPr>
            <a:lvl5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5pPr>
            <a:lvl6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6pPr>
            <a:lvl7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7pPr>
            <a:lvl8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8pPr>
            <a:lvl9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590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Auxiliary</a:t>
            </a:r>
          </a:p>
          <a:p>
            <a: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590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767" name="Concat label">
            <a:extLst>
              <a:ext uri="{FF2B5EF4-FFF2-40B4-BE49-F238E27FC236}">
                <a16:creationId xmlns:a16="http://schemas.microsoft.com/office/drawing/2014/main" id="{9D20C35C-694E-CDD5-F90A-040BE36EEE21}"/>
              </a:ext>
            </a:extLst>
          </p:cNvPr>
          <p:cNvSpPr>
            <a:spLocks noGrp="1"/>
          </p:cNvSpPr>
          <p:nvPr/>
        </p:nvSpPr>
        <p:spPr>
          <a:xfrm>
            <a:off x="1060070" y="3608830"/>
            <a:ext cx="259207" cy="81002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defPPr>
            <a:lvl1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1pPr>
            <a:lvl2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2pPr>
            <a:lvl3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3pPr>
            <a:lvl4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4pPr>
            <a:lvl5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5pPr>
            <a:lvl6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6pPr>
            <a:lvl7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7pPr>
            <a:lvl8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8pPr>
            <a:lvl9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pPr>
            <a:r>
              <a:rPr sz="568" dirty="0" err="1">
                <a:solidFill>
                  <a:srgbClr val="71808C"/>
                </a:solidFill>
                <a:latin typeface="Arial"/>
                <a:ea typeface="Arial"/>
                <a:cs typeface="Arial"/>
              </a:rPr>
              <a:t>Concat</a:t>
            </a:r>
            <a:endParaRPr sz="568" dirty="0">
              <a:solidFill>
                <a:srgbClr val="7180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8" name="Build four inputs">
            <a:extLst>
              <a:ext uri="{FF2B5EF4-FFF2-40B4-BE49-F238E27FC236}">
                <a16:creationId xmlns:a16="http://schemas.microsoft.com/office/drawing/2014/main" id="{2C9F1979-7AE8-613B-79C6-EE0F3BBB1431}"/>
              </a:ext>
            </a:extLst>
          </p:cNvPr>
          <p:cNvSpPr>
            <a:spLocks noGrp="1"/>
          </p:cNvSpPr>
          <p:nvPr/>
        </p:nvSpPr>
        <p:spPr>
          <a:xfrm>
            <a:off x="4678223" y="415407"/>
            <a:ext cx="1158792" cy="1245003"/>
          </a:xfrm>
          <a:prstGeom prst="roundRect">
            <a:avLst>
              <a:gd name="adj" fmla="val 4554"/>
            </a:avLst>
          </a:prstGeom>
          <a:solidFill>
            <a:srgbClr val="FFFFFF"/>
          </a:solidFill>
          <a:ln w="7290">
            <a:solidFill>
              <a:srgbClr val="DFD6C3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69" name="Site label">
            <a:extLst>
              <a:ext uri="{FF2B5EF4-FFF2-40B4-BE49-F238E27FC236}">
                <a16:creationId xmlns:a16="http://schemas.microsoft.com/office/drawing/2014/main" id="{73F4F6C8-22C1-E29B-D64D-362A1F82C0D7}"/>
              </a:ext>
            </a:extLst>
          </p:cNvPr>
          <p:cNvSpPr>
            <a:spLocks noGrp="1"/>
          </p:cNvSpPr>
          <p:nvPr/>
        </p:nvSpPr>
        <p:spPr>
          <a:xfrm>
            <a:off x="4706888" y="834972"/>
            <a:ext cx="514364" cy="101253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  <a:lvl1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1pPr>
            <a:lvl2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2pPr>
            <a:lvl3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3pPr>
            <a:lvl4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4pPr>
            <a:lvl5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5pPr>
            <a:lvl6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6pPr>
            <a:lvl7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7pPr>
            <a:lvl8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8pPr>
            <a:lvl9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695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Site</a:t>
            </a:r>
          </a:p>
        </p:txBody>
      </p:sp>
      <p:sp>
        <p:nvSpPr>
          <p:cNvPr id="770" name="Site provenance">
            <a:extLst>
              <a:ext uri="{FF2B5EF4-FFF2-40B4-BE49-F238E27FC236}">
                <a16:creationId xmlns:a16="http://schemas.microsoft.com/office/drawing/2014/main" id="{216E0115-FC9F-C0B3-73C6-B6C82BB2F0A8}"/>
              </a:ext>
            </a:extLst>
          </p:cNvPr>
          <p:cNvSpPr>
            <a:spLocks noGrp="1"/>
          </p:cNvSpPr>
          <p:nvPr/>
        </p:nvSpPr>
        <p:spPr>
          <a:xfrm>
            <a:off x="4713282" y="935387"/>
            <a:ext cx="514364" cy="85052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defPPr>
            <a:lvl1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1pPr>
            <a:lvl2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2pPr>
            <a:lvl3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3pPr>
            <a:lvl4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4pPr>
            <a:lvl5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5pPr>
            <a:lvl6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6pPr>
            <a:lvl7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7pPr>
            <a:lvl8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8pPr>
            <a:lvl9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pPr>
            <a:r>
              <a:rPr sz="590" dirty="0">
                <a:solidFill>
                  <a:srgbClr val="71808C"/>
                </a:solidFill>
                <a:latin typeface="Arial"/>
                <a:ea typeface="Arial"/>
                <a:cs typeface="Arial"/>
              </a:rPr>
              <a:t>from Find</a:t>
            </a:r>
          </a:p>
        </p:txBody>
      </p:sp>
      <p:sp>
        <p:nvSpPr>
          <p:cNvPr id="771" name="Pocket label">
            <a:extLst>
              <a:ext uri="{FF2B5EF4-FFF2-40B4-BE49-F238E27FC236}">
                <a16:creationId xmlns:a16="http://schemas.microsoft.com/office/drawing/2014/main" id="{198C300B-4031-D0E7-49A9-F255C1B29665}"/>
              </a:ext>
            </a:extLst>
          </p:cNvPr>
          <p:cNvSpPr>
            <a:spLocks noGrp="1"/>
          </p:cNvSpPr>
          <p:nvPr/>
        </p:nvSpPr>
        <p:spPr>
          <a:xfrm>
            <a:off x="5295510" y="854408"/>
            <a:ext cx="514364" cy="101253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  <a:lvl1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1pPr>
            <a:lvl2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2pPr>
            <a:lvl3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3pPr>
            <a:lvl4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4pPr>
            <a:lvl5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5pPr>
            <a:lvl6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6pPr>
            <a:lvl7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7pPr>
            <a:lvl8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8pPr>
            <a:lvl9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695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Pocket</a:t>
            </a:r>
          </a:p>
        </p:txBody>
      </p:sp>
      <p:sp>
        <p:nvSpPr>
          <p:cNvPr id="773" name="SMILES label">
            <a:extLst>
              <a:ext uri="{FF2B5EF4-FFF2-40B4-BE49-F238E27FC236}">
                <a16:creationId xmlns:a16="http://schemas.microsoft.com/office/drawing/2014/main" id="{B948AB68-3B7B-785F-B6BB-80D92D824C67}"/>
              </a:ext>
            </a:extLst>
          </p:cNvPr>
          <p:cNvSpPr>
            <a:spLocks noGrp="1"/>
          </p:cNvSpPr>
          <p:nvPr/>
        </p:nvSpPr>
        <p:spPr>
          <a:xfrm>
            <a:off x="4713914" y="1433338"/>
            <a:ext cx="514364" cy="101253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  <a:lvl1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1pPr>
            <a:lvl2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2pPr>
            <a:lvl3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3pPr>
            <a:lvl4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4pPr>
            <a:lvl5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5pPr>
            <a:lvl6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6pPr>
            <a:lvl7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7pPr>
            <a:lvl8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8pPr>
            <a:lvl9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695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SMILES</a:t>
            </a:r>
          </a:p>
        </p:txBody>
      </p:sp>
      <p:sp>
        <p:nvSpPr>
          <p:cNvPr id="774" name="SMILES provenance">
            <a:extLst>
              <a:ext uri="{FF2B5EF4-FFF2-40B4-BE49-F238E27FC236}">
                <a16:creationId xmlns:a16="http://schemas.microsoft.com/office/drawing/2014/main" id="{56FEBA1E-DDE0-4487-53DB-DA17479C3D9B}"/>
              </a:ext>
            </a:extLst>
          </p:cNvPr>
          <p:cNvSpPr>
            <a:spLocks noGrp="1"/>
          </p:cNvSpPr>
          <p:nvPr/>
        </p:nvSpPr>
        <p:spPr>
          <a:xfrm>
            <a:off x="4719630" y="1530721"/>
            <a:ext cx="514364" cy="85052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defPPr>
            <a:lvl1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1pPr>
            <a:lvl2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2pPr>
            <a:lvl3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3pPr>
            <a:lvl4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4pPr>
            <a:lvl5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5pPr>
            <a:lvl6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6pPr>
            <a:lvl7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7pPr>
            <a:lvl8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8pPr>
            <a:lvl9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pPr>
            <a:r>
              <a:rPr sz="590" dirty="0">
                <a:solidFill>
                  <a:srgbClr val="71808C"/>
                </a:solidFill>
                <a:latin typeface="Arial"/>
                <a:ea typeface="Arial"/>
                <a:cs typeface="Arial"/>
              </a:rPr>
              <a:t>from Match</a:t>
            </a:r>
          </a:p>
        </p:txBody>
      </p:sp>
      <p:sp>
        <p:nvSpPr>
          <p:cNvPr id="775" name="Density input label">
            <a:extLst>
              <a:ext uri="{FF2B5EF4-FFF2-40B4-BE49-F238E27FC236}">
                <a16:creationId xmlns:a16="http://schemas.microsoft.com/office/drawing/2014/main" id="{E5A68BBB-3BB4-4F45-D8ED-99022E728E69}"/>
              </a:ext>
            </a:extLst>
          </p:cNvPr>
          <p:cNvSpPr>
            <a:spLocks noGrp="1"/>
          </p:cNvSpPr>
          <p:nvPr/>
        </p:nvSpPr>
        <p:spPr>
          <a:xfrm>
            <a:off x="5289168" y="1447545"/>
            <a:ext cx="514364" cy="101253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  <a:lvl1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1pPr>
            <a:lvl2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2pPr>
            <a:lvl3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3pPr>
            <a:lvl4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4pPr>
            <a:lvl5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5pPr>
            <a:lvl6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6pPr>
            <a:lvl7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7pPr>
            <a:lvl8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8pPr>
            <a:lvl9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695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76" name="Docking tools title">
            <a:extLst>
              <a:ext uri="{FF2B5EF4-FFF2-40B4-BE49-F238E27FC236}">
                <a16:creationId xmlns:a16="http://schemas.microsoft.com/office/drawing/2014/main" id="{27E4029E-E39E-E596-2ECC-8620239CB25F}"/>
              </a:ext>
            </a:extLst>
          </p:cNvPr>
          <p:cNvSpPr>
            <a:spLocks noGrp="1"/>
          </p:cNvSpPr>
          <p:nvPr/>
        </p:nvSpPr>
        <p:spPr>
          <a:xfrm>
            <a:off x="4762010" y="1867770"/>
            <a:ext cx="1101630" cy="117453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  <a:lvl1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1pPr>
            <a:lvl2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2pPr>
            <a:lvl3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3pPr>
            <a:lvl4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4pPr>
            <a:lvl5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5pPr>
            <a:lvl6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6pPr>
            <a:lvl7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7pPr>
            <a:lvl8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8pPr>
            <a:lvl9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lang="en-US" sz="702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Downstream </a:t>
            </a:r>
            <a:r>
              <a:rPr lang="en-US" b="0" dirty="0"/>
              <a:t>d</a:t>
            </a:r>
            <a:r>
              <a:rPr sz="702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ocking tools</a:t>
            </a:r>
          </a:p>
        </p:txBody>
      </p:sp>
      <p:sp>
        <p:nvSpPr>
          <p:cNvPr id="777" name="Build pose output">
            <a:extLst>
              <a:ext uri="{FF2B5EF4-FFF2-40B4-BE49-F238E27FC236}">
                <a16:creationId xmlns:a16="http://schemas.microsoft.com/office/drawing/2014/main" id="{0B218F6B-7A76-F3B6-A0A5-E42AE4C10B80}"/>
              </a:ext>
            </a:extLst>
          </p:cNvPr>
          <p:cNvSpPr>
            <a:spLocks noGrp="1"/>
          </p:cNvSpPr>
          <p:nvPr/>
        </p:nvSpPr>
        <p:spPr>
          <a:xfrm>
            <a:off x="4707061" y="3400604"/>
            <a:ext cx="1106489" cy="941449"/>
          </a:xfrm>
          <a:prstGeom prst="roundRect">
            <a:avLst>
              <a:gd name="adj" fmla="val 5395"/>
            </a:avLst>
          </a:prstGeom>
          <a:solidFill>
            <a:srgbClr val="FFFFFF"/>
          </a:solidFill>
          <a:ln w="7290">
            <a:solidFill>
              <a:srgbClr val="DFD6C3"/>
            </a:solidFill>
            <a:prstDash val="solid"/>
          </a:ln>
        </p:spPr>
      </p:sp>
      <p:sp>
        <p:nvSpPr>
          <p:cNvPr id="778" name="All atom pose label">
            <a:extLst>
              <a:ext uri="{FF2B5EF4-FFF2-40B4-BE49-F238E27FC236}">
                <a16:creationId xmlns:a16="http://schemas.microsoft.com/office/drawing/2014/main" id="{8FE77D82-0F62-5049-84A0-FD0D56FCE044}"/>
              </a:ext>
            </a:extLst>
          </p:cNvPr>
          <p:cNvSpPr>
            <a:spLocks noGrp="1"/>
          </p:cNvSpPr>
          <p:nvPr/>
        </p:nvSpPr>
        <p:spPr>
          <a:xfrm>
            <a:off x="4694034" y="4176444"/>
            <a:ext cx="1231233" cy="117453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  <a:lvl1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1pPr>
            <a:lvl2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2pPr>
            <a:lvl3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3pPr>
            <a:lvl4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4pPr>
            <a:lvl5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5pPr>
            <a:lvl6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6pPr>
            <a:lvl7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7pPr>
            <a:lvl8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8pPr>
            <a:lvl9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695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All-atom ligand pose</a:t>
            </a:r>
          </a:p>
        </p:txBody>
      </p:sp>
      <p:pic>
        <p:nvPicPr>
          <p:cNvPr id="967" name="Build corresponding experimental density" descr="Experimental 9LLG density around chain C1 of the displayed CryoAtom2 receptor, at the original contour level and the identical camera orientation.">
            <a:extLst>
              <a:ext uri="{FF2B5EF4-FFF2-40B4-BE49-F238E27FC236}">
                <a16:creationId xmlns:a16="http://schemas.microsoft.com/office/drawing/2014/main" id="{59E3DA4F-BD1F-6AD8-81F5-856ECED6006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371792" y="1104265"/>
            <a:ext cx="361766" cy="345440"/>
          </a:xfrm>
          <a:prstGeom prst="rect">
            <a:avLst/>
          </a:prstGeom>
        </p:spPr>
      </p:pic>
      <p:sp>
        <p:nvSpPr>
          <p:cNvPr id="1187" name="Build | Engines frame">
            <a:extLst>
              <a:ext uri="{FF2B5EF4-FFF2-40B4-BE49-F238E27FC236}">
                <a16:creationId xmlns:a16="http://schemas.microsoft.com/office/drawing/2014/main" id="{79AD4C70-DD41-BB84-7331-69D7E3080E11}"/>
              </a:ext>
            </a:extLst>
          </p:cNvPr>
          <p:cNvSpPr/>
          <p:nvPr/>
        </p:nvSpPr>
        <p:spPr>
          <a:xfrm>
            <a:off x="4653071" y="2032000"/>
            <a:ext cx="1202377" cy="1172634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 w="7290">
            <a:solidFill>
              <a:srgbClr val="D5CC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sp>
        <p:nvSpPr>
          <p:cNvPr id="1188" name="Build | Default PocketXMol card">
            <a:extLst>
              <a:ext uri="{FF2B5EF4-FFF2-40B4-BE49-F238E27FC236}">
                <a16:creationId xmlns:a16="http://schemas.microsoft.com/office/drawing/2014/main" id="{65696164-FF6C-2E64-A27D-E0452D5A76E9}"/>
              </a:ext>
            </a:extLst>
          </p:cNvPr>
          <p:cNvSpPr/>
          <p:nvPr/>
        </p:nvSpPr>
        <p:spPr>
          <a:xfrm>
            <a:off x="4707061" y="2089570"/>
            <a:ext cx="1106490" cy="456341"/>
          </a:xfrm>
          <a:prstGeom prst="roundRect">
            <a:avLst>
              <a:gd name="adj" fmla="val 8000"/>
            </a:avLst>
          </a:prstGeom>
          <a:solidFill>
            <a:srgbClr val="FAF1DE"/>
          </a:solidFill>
          <a:ln w="7290">
            <a:solidFill>
              <a:srgbClr val="D8A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grpSp>
        <p:nvGrpSpPr>
          <p:cNvPr id="1189" name="Build | Density cube icon">
            <a:extLst>
              <a:ext uri="{FF2B5EF4-FFF2-40B4-BE49-F238E27FC236}">
                <a16:creationId xmlns:a16="http://schemas.microsoft.com/office/drawing/2014/main" id="{68B5FCE4-2F36-CAD0-B100-A4A97D0F3451}"/>
              </a:ext>
            </a:extLst>
          </p:cNvPr>
          <p:cNvGrpSpPr/>
          <p:nvPr/>
        </p:nvGrpSpPr>
        <p:grpSpPr>
          <a:xfrm>
            <a:off x="4739193" y="2171534"/>
            <a:ext cx="213580" cy="227238"/>
            <a:chOff x="2187720" y="5635440"/>
            <a:chExt cx="154440" cy="131400"/>
          </a:xfrm>
        </p:grpSpPr>
        <p:sp>
          <p:nvSpPr>
            <p:cNvPr id="1190" name="asset_3169_0">
              <a:extLst>
                <a:ext uri="{FF2B5EF4-FFF2-40B4-BE49-F238E27FC236}">
                  <a16:creationId xmlns:a16="http://schemas.microsoft.com/office/drawing/2014/main" id="{5FFB8783-18B8-9E3F-DF3D-D39890A83D04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35440"/>
              <a:ext cx="154440" cy="22338"/>
            </a:xfrm>
            <a:custGeom>
              <a:avLst/>
              <a:gdLst/>
              <a:ahLst/>
              <a:cxnLst/>
              <a:rect l="0" t="0" r="0" b="0"/>
              <a:pathLst>
                <a:path w="154440" h="22338">
                  <a:moveTo>
                    <a:pt x="0" y="22338"/>
                  </a:moveTo>
                  <a:lnTo>
                    <a:pt x="29344" y="0"/>
                  </a:lnTo>
                  <a:lnTo>
                    <a:pt x="154440" y="0"/>
                  </a:lnTo>
                  <a:lnTo>
                    <a:pt x="125096" y="22338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1191" name="asset_3169_1">
              <a:extLst>
                <a:ext uri="{FF2B5EF4-FFF2-40B4-BE49-F238E27FC236}">
                  <a16:creationId xmlns:a16="http://schemas.microsoft.com/office/drawing/2014/main" id="{1EA12B72-72E8-2312-8F32-52AE6B165E9D}"/>
                </a:ext>
              </a:extLst>
            </p:cNvPr>
            <p:cNvSpPr>
              <a:spLocks noGrp="1"/>
            </p:cNvSpPr>
            <p:nvPr/>
          </p:nvSpPr>
          <p:spPr>
            <a:xfrm>
              <a:off x="2312816" y="5635440"/>
              <a:ext cx="29344" cy="131400"/>
            </a:xfrm>
            <a:custGeom>
              <a:avLst/>
              <a:gdLst/>
              <a:ahLst/>
              <a:cxnLst/>
              <a:rect l="0" t="0" r="0" b="0"/>
              <a:pathLst>
                <a:path w="29344" h="131400">
                  <a:moveTo>
                    <a:pt x="0" y="22338"/>
                  </a:moveTo>
                  <a:lnTo>
                    <a:pt x="29344" y="0"/>
                  </a:lnTo>
                  <a:lnTo>
                    <a:pt x="29344" y="109062"/>
                  </a:lnTo>
                  <a:lnTo>
                    <a:pt x="0" y="13140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1192" name="asset_3169_2">
              <a:extLst>
                <a:ext uri="{FF2B5EF4-FFF2-40B4-BE49-F238E27FC236}">
                  <a16:creationId xmlns:a16="http://schemas.microsoft.com/office/drawing/2014/main" id="{EDE3B5A8-D8FA-9133-41C2-DB6E1E75A6F9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57778"/>
              <a:ext cx="125096" cy="109062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1193" name="asset_3169_3">
              <a:extLst>
                <a:ext uri="{FF2B5EF4-FFF2-40B4-BE49-F238E27FC236}">
                  <a16:creationId xmlns:a16="http://schemas.microsoft.com/office/drawing/2014/main" id="{120BF363-735F-F584-10A8-02A0DD55EE7B}"/>
                </a:ext>
              </a:extLst>
            </p:cNvPr>
            <p:cNvSpPr>
              <a:spLocks noGrp="1"/>
            </p:cNvSpPr>
            <p:nvPr/>
          </p:nvSpPr>
          <p:spPr>
            <a:xfrm>
              <a:off x="2218994" y="5657778"/>
              <a:ext cx="4" cy="109062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4" name="asset_3169_4">
              <a:extLst>
                <a:ext uri="{FF2B5EF4-FFF2-40B4-BE49-F238E27FC236}">
                  <a16:creationId xmlns:a16="http://schemas.microsoft.com/office/drawing/2014/main" id="{E2829B7F-C588-BE5B-8D54-FBE1EBF2B8E5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85044"/>
              <a:ext cx="125096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5" name="asset_3169_5">
              <a:extLst>
                <a:ext uri="{FF2B5EF4-FFF2-40B4-BE49-F238E27FC236}">
                  <a16:creationId xmlns:a16="http://schemas.microsoft.com/office/drawing/2014/main" id="{3DBA365A-AC44-C9B3-7E08-985ECB6E5232}"/>
                </a:ext>
              </a:extLst>
            </p:cNvPr>
            <p:cNvSpPr>
              <a:spLocks noGrp="1"/>
            </p:cNvSpPr>
            <p:nvPr/>
          </p:nvSpPr>
          <p:spPr>
            <a:xfrm>
              <a:off x="2250268" y="5657778"/>
              <a:ext cx="4" cy="109062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6" name="asset_3169_6">
              <a:extLst>
                <a:ext uri="{FF2B5EF4-FFF2-40B4-BE49-F238E27FC236}">
                  <a16:creationId xmlns:a16="http://schemas.microsoft.com/office/drawing/2014/main" id="{9F12D1AD-2ED4-77AF-F2EC-E76A62AE9C53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712309"/>
              <a:ext cx="125096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7" name="asset_3169_7">
              <a:extLst>
                <a:ext uri="{FF2B5EF4-FFF2-40B4-BE49-F238E27FC236}">
                  <a16:creationId xmlns:a16="http://schemas.microsoft.com/office/drawing/2014/main" id="{530FF9D0-E22B-4C58-F523-2AC53D327A6E}"/>
                </a:ext>
              </a:extLst>
            </p:cNvPr>
            <p:cNvSpPr>
              <a:spLocks noGrp="1"/>
            </p:cNvSpPr>
            <p:nvPr/>
          </p:nvSpPr>
          <p:spPr>
            <a:xfrm>
              <a:off x="2281542" y="5657778"/>
              <a:ext cx="4" cy="109062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8" name="asset_3169_8">
              <a:extLst>
                <a:ext uri="{FF2B5EF4-FFF2-40B4-BE49-F238E27FC236}">
                  <a16:creationId xmlns:a16="http://schemas.microsoft.com/office/drawing/2014/main" id="{1E307AA0-A6C4-946A-18FD-30858587578A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739574"/>
              <a:ext cx="125096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9" name="asset_3169_9">
              <a:extLst>
                <a:ext uri="{FF2B5EF4-FFF2-40B4-BE49-F238E27FC236}">
                  <a16:creationId xmlns:a16="http://schemas.microsoft.com/office/drawing/2014/main" id="{2C70D4C3-CC8E-18A5-188C-FB73FB31079A}"/>
                </a:ext>
              </a:extLst>
            </p:cNvPr>
            <p:cNvSpPr>
              <a:spLocks noGrp="1"/>
            </p:cNvSpPr>
            <p:nvPr/>
          </p:nvSpPr>
          <p:spPr>
            <a:xfrm>
              <a:off x="2198791" y="5672574"/>
              <a:ext cx="58245" cy="50256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0" name="asset_3169_10">
              <a:extLst>
                <a:ext uri="{FF2B5EF4-FFF2-40B4-BE49-F238E27FC236}">
                  <a16:creationId xmlns:a16="http://schemas.microsoft.com/office/drawing/2014/main" id="{9530488D-317A-3063-82AF-05EB1F0CA8B9}"/>
                </a:ext>
              </a:extLst>
            </p:cNvPr>
            <p:cNvSpPr>
              <a:spLocks noGrp="1"/>
            </p:cNvSpPr>
            <p:nvPr/>
          </p:nvSpPr>
          <p:spPr>
            <a:xfrm>
              <a:off x="2225487" y="5687232"/>
              <a:ext cx="63099" cy="54444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1" name="asset_3169_11">
              <a:extLst>
                <a:ext uri="{FF2B5EF4-FFF2-40B4-BE49-F238E27FC236}">
                  <a16:creationId xmlns:a16="http://schemas.microsoft.com/office/drawing/2014/main" id="{48323ECB-3BE3-307E-E823-C51C380A8650}"/>
                </a:ext>
              </a:extLst>
            </p:cNvPr>
            <p:cNvSpPr>
              <a:spLocks noGrp="1"/>
            </p:cNvSpPr>
            <p:nvPr/>
          </p:nvSpPr>
          <p:spPr>
            <a:xfrm>
              <a:off x="2248542" y="5660010"/>
              <a:ext cx="55818" cy="48162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2" name="asset_3169_12">
              <a:extLst>
                <a:ext uri="{FF2B5EF4-FFF2-40B4-BE49-F238E27FC236}">
                  <a16:creationId xmlns:a16="http://schemas.microsoft.com/office/drawing/2014/main" id="{C0C8C16B-9DED-677C-6432-EE50B45E7418}"/>
                </a:ext>
              </a:extLst>
            </p:cNvPr>
            <p:cNvSpPr>
              <a:spLocks noGrp="1"/>
            </p:cNvSpPr>
            <p:nvPr/>
          </p:nvSpPr>
          <p:spPr>
            <a:xfrm>
              <a:off x="2223060" y="5652681"/>
              <a:ext cx="53391" cy="46068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3" name="asset_3169_13">
              <a:extLst>
                <a:ext uri="{FF2B5EF4-FFF2-40B4-BE49-F238E27FC236}">
                  <a16:creationId xmlns:a16="http://schemas.microsoft.com/office/drawing/2014/main" id="{060B66F2-4388-65F4-6206-749CACAB0290}"/>
                </a:ext>
              </a:extLst>
            </p:cNvPr>
            <p:cNvSpPr>
              <a:spLocks noGrp="1"/>
            </p:cNvSpPr>
            <p:nvPr/>
          </p:nvSpPr>
          <p:spPr>
            <a:xfrm>
              <a:off x="2207281" y="5693871"/>
              <a:ext cx="30911" cy="2667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4" name="asset_3169_14">
              <a:extLst>
                <a:ext uri="{FF2B5EF4-FFF2-40B4-BE49-F238E27FC236}">
                  <a16:creationId xmlns:a16="http://schemas.microsoft.com/office/drawing/2014/main" id="{13E2CBA3-7C02-4027-03E6-A698CD2EB714}"/>
                </a:ext>
              </a:extLst>
            </p:cNvPr>
            <p:cNvSpPr>
              <a:spLocks noGrp="1"/>
            </p:cNvSpPr>
            <p:nvPr/>
          </p:nvSpPr>
          <p:spPr>
            <a:xfrm>
              <a:off x="2253557" y="5697302"/>
              <a:ext cx="21556" cy="1860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5" name="asset_3169_15">
              <a:extLst>
                <a:ext uri="{FF2B5EF4-FFF2-40B4-BE49-F238E27FC236}">
                  <a16:creationId xmlns:a16="http://schemas.microsoft.com/office/drawing/2014/main" id="{D52AE182-CED9-F191-684F-C02E656634F9}"/>
                </a:ext>
              </a:extLst>
            </p:cNvPr>
            <p:cNvSpPr>
              <a:spLocks noGrp="1"/>
            </p:cNvSpPr>
            <p:nvPr/>
          </p:nvSpPr>
          <p:spPr>
            <a:xfrm>
              <a:off x="2278359" y="5672317"/>
              <a:ext cx="20931" cy="1806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6" name="asset_3169_16">
              <a:extLst>
                <a:ext uri="{FF2B5EF4-FFF2-40B4-BE49-F238E27FC236}">
                  <a16:creationId xmlns:a16="http://schemas.microsoft.com/office/drawing/2014/main" id="{89F2F434-5A13-55C5-50E0-3A863DFD674D}"/>
                </a:ext>
              </a:extLst>
            </p:cNvPr>
            <p:cNvSpPr>
              <a:spLocks noGrp="1"/>
            </p:cNvSpPr>
            <p:nvPr/>
          </p:nvSpPr>
          <p:spPr>
            <a:xfrm>
              <a:off x="2235959" y="5649092"/>
              <a:ext cx="26179" cy="2258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7" name="asset_3169_17">
              <a:extLst>
                <a:ext uri="{FF2B5EF4-FFF2-40B4-BE49-F238E27FC236}">
                  <a16:creationId xmlns:a16="http://schemas.microsoft.com/office/drawing/2014/main" id="{6F30CB2F-3FFE-E2E6-12A8-0C6F6E9862D8}"/>
                </a:ext>
              </a:extLst>
            </p:cNvPr>
            <p:cNvSpPr>
              <a:spLocks noGrp="1"/>
            </p:cNvSpPr>
            <p:nvPr/>
          </p:nvSpPr>
          <p:spPr>
            <a:xfrm>
              <a:off x="2230057" y="5690206"/>
              <a:ext cx="17158" cy="1480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8" name="asset_3169_18">
              <a:extLst>
                <a:ext uri="{FF2B5EF4-FFF2-40B4-BE49-F238E27FC236}">
                  <a16:creationId xmlns:a16="http://schemas.microsoft.com/office/drawing/2014/main" id="{688E0702-ABAA-1F53-2FEE-C044E75816FE}"/>
                </a:ext>
              </a:extLst>
            </p:cNvPr>
            <p:cNvSpPr>
              <a:spLocks noGrp="1"/>
            </p:cNvSpPr>
            <p:nvPr/>
          </p:nvSpPr>
          <p:spPr>
            <a:xfrm>
              <a:off x="2228799" y="5700798"/>
              <a:ext cx="17470" cy="1507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9" name="asset_3169_19">
              <a:extLst>
                <a:ext uri="{FF2B5EF4-FFF2-40B4-BE49-F238E27FC236}">
                  <a16:creationId xmlns:a16="http://schemas.microsoft.com/office/drawing/2014/main" id="{872FD139-9635-FDD4-0722-4E5EEB72AC26}"/>
                </a:ext>
              </a:extLst>
            </p:cNvPr>
            <p:cNvSpPr>
              <a:spLocks noGrp="1"/>
            </p:cNvSpPr>
            <p:nvPr/>
          </p:nvSpPr>
          <p:spPr>
            <a:xfrm>
              <a:off x="2264745" y="5672793"/>
              <a:ext cx="22335" cy="1927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0" name="asset_3169_20">
              <a:extLst>
                <a:ext uri="{FF2B5EF4-FFF2-40B4-BE49-F238E27FC236}">
                  <a16:creationId xmlns:a16="http://schemas.microsoft.com/office/drawing/2014/main" id="{2F589805-2015-0C9E-B861-49E63A36CA16}"/>
                </a:ext>
              </a:extLst>
            </p:cNvPr>
            <p:cNvSpPr>
              <a:spLocks noGrp="1"/>
            </p:cNvSpPr>
            <p:nvPr/>
          </p:nvSpPr>
          <p:spPr>
            <a:xfrm>
              <a:off x="2247802" y="5671816"/>
              <a:ext cx="29288" cy="2527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1" name="asset_3169_21">
              <a:extLst>
                <a:ext uri="{FF2B5EF4-FFF2-40B4-BE49-F238E27FC236}">
                  <a16:creationId xmlns:a16="http://schemas.microsoft.com/office/drawing/2014/main" id="{0ACA986A-AF7E-C441-DA61-138FBBAA71F8}"/>
                </a:ext>
              </a:extLst>
            </p:cNvPr>
            <p:cNvSpPr>
              <a:spLocks noGrp="1"/>
            </p:cNvSpPr>
            <p:nvPr/>
          </p:nvSpPr>
          <p:spPr>
            <a:xfrm>
              <a:off x="2221472" y="5673188"/>
              <a:ext cx="24803" cy="2140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2" name="asset_3169_22">
              <a:extLst>
                <a:ext uri="{FF2B5EF4-FFF2-40B4-BE49-F238E27FC236}">
                  <a16:creationId xmlns:a16="http://schemas.microsoft.com/office/drawing/2014/main" id="{2D9591FC-2B85-F680-E4CA-E6BD7F3D89C9}"/>
                </a:ext>
              </a:extLst>
            </p:cNvPr>
            <p:cNvSpPr>
              <a:spLocks noGrp="1"/>
            </p:cNvSpPr>
            <p:nvPr/>
          </p:nvSpPr>
          <p:spPr>
            <a:xfrm>
              <a:off x="2231057" y="5701581"/>
              <a:ext cx="27548" cy="2376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3" name="asset_3169_23">
              <a:extLst>
                <a:ext uri="{FF2B5EF4-FFF2-40B4-BE49-F238E27FC236}">
                  <a16:creationId xmlns:a16="http://schemas.microsoft.com/office/drawing/2014/main" id="{891DB7BF-9124-5E80-DEA3-AF8496902287}"/>
                </a:ext>
              </a:extLst>
            </p:cNvPr>
            <p:cNvSpPr>
              <a:spLocks noGrp="1"/>
            </p:cNvSpPr>
            <p:nvPr/>
          </p:nvSpPr>
          <p:spPr>
            <a:xfrm>
              <a:off x="2264932" y="5667506"/>
              <a:ext cx="28421" cy="2452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4" name="asset_3169_24">
              <a:extLst>
                <a:ext uri="{FF2B5EF4-FFF2-40B4-BE49-F238E27FC236}">
                  <a16:creationId xmlns:a16="http://schemas.microsoft.com/office/drawing/2014/main" id="{DE52E28A-6354-BE95-3C9A-A2C66025A871}"/>
                </a:ext>
              </a:extLst>
            </p:cNvPr>
            <p:cNvSpPr>
              <a:spLocks noGrp="1"/>
            </p:cNvSpPr>
            <p:nvPr/>
          </p:nvSpPr>
          <p:spPr>
            <a:xfrm>
              <a:off x="2231286" y="5661727"/>
              <a:ext cx="25293" cy="218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5" name="asset_3169_25">
              <a:extLst>
                <a:ext uri="{FF2B5EF4-FFF2-40B4-BE49-F238E27FC236}">
                  <a16:creationId xmlns:a16="http://schemas.microsoft.com/office/drawing/2014/main" id="{7988D7F5-9FD3-DE02-AC43-2C9102A603D8}"/>
                </a:ext>
              </a:extLst>
            </p:cNvPr>
            <p:cNvSpPr>
              <a:spLocks noGrp="1"/>
            </p:cNvSpPr>
            <p:nvPr/>
          </p:nvSpPr>
          <p:spPr>
            <a:xfrm>
              <a:off x="2203520" y="5678934"/>
              <a:ext cx="26056" cy="2248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6" name="asset_3169_26">
              <a:extLst>
                <a:ext uri="{FF2B5EF4-FFF2-40B4-BE49-F238E27FC236}">
                  <a16:creationId xmlns:a16="http://schemas.microsoft.com/office/drawing/2014/main" id="{C7CB8EF7-313A-8E8C-6DD1-7BDC7D92CCB0}"/>
                </a:ext>
              </a:extLst>
            </p:cNvPr>
            <p:cNvSpPr>
              <a:spLocks noGrp="1"/>
            </p:cNvSpPr>
            <p:nvPr/>
          </p:nvSpPr>
          <p:spPr>
            <a:xfrm>
              <a:off x="2258761" y="5717055"/>
              <a:ext cx="20939" cy="1806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7" name="asset_3169_27">
              <a:extLst>
                <a:ext uri="{FF2B5EF4-FFF2-40B4-BE49-F238E27FC236}">
                  <a16:creationId xmlns:a16="http://schemas.microsoft.com/office/drawing/2014/main" id="{73BCC20B-1FDA-F412-4DD8-A25B3302BB21}"/>
                </a:ext>
              </a:extLst>
            </p:cNvPr>
            <p:cNvSpPr>
              <a:spLocks noGrp="1"/>
            </p:cNvSpPr>
            <p:nvPr/>
          </p:nvSpPr>
          <p:spPr>
            <a:xfrm>
              <a:off x="2262469" y="5681666"/>
              <a:ext cx="24125" cy="2081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8" name="asset_3169_28">
              <a:extLst>
                <a:ext uri="{FF2B5EF4-FFF2-40B4-BE49-F238E27FC236}">
                  <a16:creationId xmlns:a16="http://schemas.microsoft.com/office/drawing/2014/main" id="{AF33B019-3B06-5B18-D90B-E00C3F3EDB2C}"/>
                </a:ext>
              </a:extLst>
            </p:cNvPr>
            <p:cNvSpPr>
              <a:spLocks noGrp="1"/>
            </p:cNvSpPr>
            <p:nvPr/>
          </p:nvSpPr>
          <p:spPr>
            <a:xfrm>
              <a:off x="2238082" y="5671347"/>
              <a:ext cx="27389" cy="236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9" name="asset_3169_29">
              <a:extLst>
                <a:ext uri="{FF2B5EF4-FFF2-40B4-BE49-F238E27FC236}">
                  <a16:creationId xmlns:a16="http://schemas.microsoft.com/office/drawing/2014/main" id="{0FB4133A-9D97-E251-1B43-C62FA8130666}"/>
                </a:ext>
              </a:extLst>
            </p:cNvPr>
            <p:cNvSpPr>
              <a:spLocks noGrp="1"/>
            </p:cNvSpPr>
            <p:nvPr/>
          </p:nvSpPr>
          <p:spPr>
            <a:xfrm>
              <a:off x="2220795" y="5698579"/>
              <a:ext cx="25648" cy="2213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0" name="asset_3169_30">
              <a:extLst>
                <a:ext uri="{FF2B5EF4-FFF2-40B4-BE49-F238E27FC236}">
                  <a16:creationId xmlns:a16="http://schemas.microsoft.com/office/drawing/2014/main" id="{69D50226-8CEE-09CA-92F4-EA747B547FF4}"/>
                </a:ext>
              </a:extLst>
            </p:cNvPr>
            <p:cNvSpPr>
              <a:spLocks noGrp="1"/>
            </p:cNvSpPr>
            <p:nvPr/>
          </p:nvSpPr>
          <p:spPr>
            <a:xfrm>
              <a:off x="2243067" y="5723084"/>
              <a:ext cx="17688" cy="1526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1" name="asset_3169_31">
              <a:extLst>
                <a:ext uri="{FF2B5EF4-FFF2-40B4-BE49-F238E27FC236}">
                  <a16:creationId xmlns:a16="http://schemas.microsoft.com/office/drawing/2014/main" id="{8D9ECD96-25F9-4FC6-1C5E-5B500507A23C}"/>
                </a:ext>
              </a:extLst>
            </p:cNvPr>
            <p:cNvSpPr>
              <a:spLocks noGrp="1"/>
            </p:cNvSpPr>
            <p:nvPr/>
          </p:nvSpPr>
          <p:spPr>
            <a:xfrm>
              <a:off x="2257337" y="5659622"/>
              <a:ext cx="26336" cy="227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2" name="asset_3169_32">
              <a:extLst>
                <a:ext uri="{FF2B5EF4-FFF2-40B4-BE49-F238E27FC236}">
                  <a16:creationId xmlns:a16="http://schemas.microsoft.com/office/drawing/2014/main" id="{791FDFAC-6025-C51A-7F75-7437ACC6E354}"/>
                </a:ext>
              </a:extLst>
            </p:cNvPr>
            <p:cNvSpPr>
              <a:spLocks noGrp="1"/>
            </p:cNvSpPr>
            <p:nvPr/>
          </p:nvSpPr>
          <p:spPr>
            <a:xfrm>
              <a:off x="2256492" y="5666095"/>
              <a:ext cx="23460" cy="2024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3" name="asset_3169_33">
              <a:extLst>
                <a:ext uri="{FF2B5EF4-FFF2-40B4-BE49-F238E27FC236}">
                  <a16:creationId xmlns:a16="http://schemas.microsoft.com/office/drawing/2014/main" id="{DA973672-CCD0-6C59-1B34-7C6CC5E48F20}"/>
                </a:ext>
              </a:extLst>
            </p:cNvPr>
            <p:cNvSpPr>
              <a:spLocks noGrp="1"/>
            </p:cNvSpPr>
            <p:nvPr/>
          </p:nvSpPr>
          <p:spPr>
            <a:xfrm>
              <a:off x="2210503" y="5688799"/>
              <a:ext cx="30840" cy="266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4" name="asset_3169_34">
              <a:extLst>
                <a:ext uri="{FF2B5EF4-FFF2-40B4-BE49-F238E27FC236}">
                  <a16:creationId xmlns:a16="http://schemas.microsoft.com/office/drawing/2014/main" id="{43DD86C8-6E09-99CE-6266-42DC4FA64456}"/>
                </a:ext>
              </a:extLst>
            </p:cNvPr>
            <p:cNvSpPr>
              <a:spLocks noGrp="1"/>
            </p:cNvSpPr>
            <p:nvPr/>
          </p:nvSpPr>
          <p:spPr>
            <a:xfrm>
              <a:off x="2236186" y="5705144"/>
              <a:ext cx="22611" cy="195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5" name="asset_3169_35">
              <a:extLst>
                <a:ext uri="{FF2B5EF4-FFF2-40B4-BE49-F238E27FC236}">
                  <a16:creationId xmlns:a16="http://schemas.microsoft.com/office/drawing/2014/main" id="{D769467D-EEAF-B1AF-7AC6-68CC2D0F1288}"/>
                </a:ext>
              </a:extLst>
            </p:cNvPr>
            <p:cNvSpPr>
              <a:spLocks noGrp="1"/>
            </p:cNvSpPr>
            <p:nvPr/>
          </p:nvSpPr>
          <p:spPr>
            <a:xfrm>
              <a:off x="2260671" y="5685042"/>
              <a:ext cx="19267" cy="1662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6" name="asset_3169_36">
              <a:extLst>
                <a:ext uri="{FF2B5EF4-FFF2-40B4-BE49-F238E27FC236}">
                  <a16:creationId xmlns:a16="http://schemas.microsoft.com/office/drawing/2014/main" id="{445AF884-4EC3-E477-DB0C-E7BACF22251A}"/>
                </a:ext>
              </a:extLst>
            </p:cNvPr>
            <p:cNvSpPr>
              <a:spLocks noGrp="1"/>
            </p:cNvSpPr>
            <p:nvPr/>
          </p:nvSpPr>
          <p:spPr>
            <a:xfrm>
              <a:off x="2255827" y="5658297"/>
              <a:ext cx="24486" cy="2112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7" name="asset_3169_37">
              <a:extLst>
                <a:ext uri="{FF2B5EF4-FFF2-40B4-BE49-F238E27FC236}">
                  <a16:creationId xmlns:a16="http://schemas.microsoft.com/office/drawing/2014/main" id="{8548860C-336A-E8E6-C08F-A2EC53A5F6C5}"/>
                </a:ext>
              </a:extLst>
            </p:cNvPr>
            <p:cNvSpPr>
              <a:spLocks noGrp="1"/>
            </p:cNvSpPr>
            <p:nvPr/>
          </p:nvSpPr>
          <p:spPr>
            <a:xfrm>
              <a:off x="2212444" y="5679829"/>
              <a:ext cx="19456" cy="1678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8" name="asset_3169_38">
              <a:extLst>
                <a:ext uri="{FF2B5EF4-FFF2-40B4-BE49-F238E27FC236}">
                  <a16:creationId xmlns:a16="http://schemas.microsoft.com/office/drawing/2014/main" id="{648DC38E-0310-9E0E-37D3-5E74B6EF35F1}"/>
                </a:ext>
              </a:extLst>
            </p:cNvPr>
            <p:cNvSpPr>
              <a:spLocks noGrp="1"/>
            </p:cNvSpPr>
            <p:nvPr/>
          </p:nvSpPr>
          <p:spPr>
            <a:xfrm>
              <a:off x="2240936" y="5686210"/>
              <a:ext cx="21405" cy="1846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9" name="asset_3169_39">
              <a:extLst>
                <a:ext uri="{FF2B5EF4-FFF2-40B4-BE49-F238E27FC236}">
                  <a16:creationId xmlns:a16="http://schemas.microsoft.com/office/drawing/2014/main" id="{ACB0B137-A9B7-8555-0594-4839D4EE1AF5}"/>
                </a:ext>
              </a:extLst>
            </p:cNvPr>
            <p:cNvSpPr>
              <a:spLocks noGrp="1"/>
            </p:cNvSpPr>
            <p:nvPr/>
          </p:nvSpPr>
          <p:spPr>
            <a:xfrm>
              <a:off x="2265093" y="5678881"/>
              <a:ext cx="26532" cy="228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0" name="asset_3169_40">
              <a:extLst>
                <a:ext uri="{FF2B5EF4-FFF2-40B4-BE49-F238E27FC236}">
                  <a16:creationId xmlns:a16="http://schemas.microsoft.com/office/drawing/2014/main" id="{CB82A286-4EA7-C723-174F-A005964CF56B}"/>
                </a:ext>
              </a:extLst>
            </p:cNvPr>
            <p:cNvSpPr>
              <a:spLocks noGrp="1"/>
            </p:cNvSpPr>
            <p:nvPr/>
          </p:nvSpPr>
          <p:spPr>
            <a:xfrm>
              <a:off x="2229701" y="5665168"/>
              <a:ext cx="29465" cy="2542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1" name="asset_3169_41">
              <a:extLst>
                <a:ext uri="{FF2B5EF4-FFF2-40B4-BE49-F238E27FC236}">
                  <a16:creationId xmlns:a16="http://schemas.microsoft.com/office/drawing/2014/main" id="{1E67FB97-244C-14BD-73A9-CA2F9B1E24BA}"/>
                </a:ext>
              </a:extLst>
            </p:cNvPr>
            <p:cNvSpPr>
              <a:spLocks noGrp="1"/>
            </p:cNvSpPr>
            <p:nvPr/>
          </p:nvSpPr>
          <p:spPr>
            <a:xfrm>
              <a:off x="2222658" y="5680582"/>
              <a:ext cx="27660" cy="238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2" name="asset_3169_42">
              <a:extLst>
                <a:ext uri="{FF2B5EF4-FFF2-40B4-BE49-F238E27FC236}">
                  <a16:creationId xmlns:a16="http://schemas.microsoft.com/office/drawing/2014/main" id="{417A6C45-6CB7-5380-B441-87E54399F7F7}"/>
                </a:ext>
              </a:extLst>
            </p:cNvPr>
            <p:cNvSpPr>
              <a:spLocks noGrp="1"/>
            </p:cNvSpPr>
            <p:nvPr/>
          </p:nvSpPr>
          <p:spPr>
            <a:xfrm>
              <a:off x="2243804" y="5697201"/>
              <a:ext cx="17846" cy="1539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3" name="asset_3169_43">
              <a:extLst>
                <a:ext uri="{FF2B5EF4-FFF2-40B4-BE49-F238E27FC236}">
                  <a16:creationId xmlns:a16="http://schemas.microsoft.com/office/drawing/2014/main" id="{5A16B6AC-2250-FE07-B0D3-1B193E4DFACB}"/>
                </a:ext>
              </a:extLst>
            </p:cNvPr>
            <p:cNvSpPr>
              <a:spLocks noGrp="1"/>
            </p:cNvSpPr>
            <p:nvPr/>
          </p:nvSpPr>
          <p:spPr>
            <a:xfrm>
              <a:off x="2262800" y="5690235"/>
              <a:ext cx="21180" cy="1827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4" name="asset_3169_44">
              <a:extLst>
                <a:ext uri="{FF2B5EF4-FFF2-40B4-BE49-F238E27FC236}">
                  <a16:creationId xmlns:a16="http://schemas.microsoft.com/office/drawing/2014/main" id="{081C5E26-7488-869A-618E-1092033F59C2}"/>
                </a:ext>
              </a:extLst>
            </p:cNvPr>
            <p:cNvSpPr>
              <a:spLocks noGrp="1"/>
            </p:cNvSpPr>
            <p:nvPr/>
          </p:nvSpPr>
          <p:spPr>
            <a:xfrm>
              <a:off x="2235058" y="5658630"/>
              <a:ext cx="25840" cy="2229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5" name="asset_3169_45">
              <a:extLst>
                <a:ext uri="{FF2B5EF4-FFF2-40B4-BE49-F238E27FC236}">
                  <a16:creationId xmlns:a16="http://schemas.microsoft.com/office/drawing/2014/main" id="{41A170EA-8B41-0DF1-E7EA-2AB990478A77}"/>
                </a:ext>
              </a:extLst>
            </p:cNvPr>
            <p:cNvSpPr>
              <a:spLocks noGrp="1"/>
            </p:cNvSpPr>
            <p:nvPr/>
          </p:nvSpPr>
          <p:spPr>
            <a:xfrm>
              <a:off x="2211228" y="5681493"/>
              <a:ext cx="31451" cy="2713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6" name="asset_3169_46">
              <a:extLst>
                <a:ext uri="{FF2B5EF4-FFF2-40B4-BE49-F238E27FC236}">
                  <a16:creationId xmlns:a16="http://schemas.microsoft.com/office/drawing/2014/main" id="{32D1B9BF-5325-26AF-BAA9-BBD6B30B328F}"/>
                </a:ext>
              </a:extLst>
            </p:cNvPr>
            <p:cNvSpPr>
              <a:spLocks noGrp="1"/>
            </p:cNvSpPr>
            <p:nvPr/>
          </p:nvSpPr>
          <p:spPr>
            <a:xfrm>
              <a:off x="2234524" y="5703451"/>
              <a:ext cx="21739" cy="1875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7" name="asset_3169_47">
              <a:extLst>
                <a:ext uri="{FF2B5EF4-FFF2-40B4-BE49-F238E27FC236}">
                  <a16:creationId xmlns:a16="http://schemas.microsoft.com/office/drawing/2014/main" id="{19954402-7CDC-A852-CA61-629A3E0C394F}"/>
                </a:ext>
              </a:extLst>
            </p:cNvPr>
            <p:cNvSpPr>
              <a:spLocks noGrp="1"/>
            </p:cNvSpPr>
            <p:nvPr/>
          </p:nvSpPr>
          <p:spPr>
            <a:xfrm>
              <a:off x="2269639" y="5693556"/>
              <a:ext cx="19299" cy="1665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8" name="asset_3169_48">
              <a:extLst>
                <a:ext uri="{FF2B5EF4-FFF2-40B4-BE49-F238E27FC236}">
                  <a16:creationId xmlns:a16="http://schemas.microsoft.com/office/drawing/2014/main" id="{41D1840A-7225-0A6F-EB5F-EF20E870D9CF}"/>
                </a:ext>
              </a:extLst>
            </p:cNvPr>
            <p:cNvSpPr>
              <a:spLocks noGrp="1"/>
            </p:cNvSpPr>
            <p:nvPr/>
          </p:nvSpPr>
          <p:spPr>
            <a:xfrm>
              <a:off x="2221813" y="5667367"/>
              <a:ext cx="17021" cy="1468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9" name="asset_3169_49">
              <a:extLst>
                <a:ext uri="{FF2B5EF4-FFF2-40B4-BE49-F238E27FC236}">
                  <a16:creationId xmlns:a16="http://schemas.microsoft.com/office/drawing/2014/main" id="{FB9EBEA7-2F90-78C6-B9FF-085239FF7530}"/>
                </a:ext>
              </a:extLst>
            </p:cNvPr>
            <p:cNvSpPr>
              <a:spLocks noGrp="1"/>
            </p:cNvSpPr>
            <p:nvPr/>
          </p:nvSpPr>
          <p:spPr>
            <a:xfrm>
              <a:off x="2208530" y="5668919"/>
              <a:ext cx="27524" cy="2374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40" name="asset_3169_50">
              <a:extLst>
                <a:ext uri="{FF2B5EF4-FFF2-40B4-BE49-F238E27FC236}">
                  <a16:creationId xmlns:a16="http://schemas.microsoft.com/office/drawing/2014/main" id="{7ED9E287-6110-2BD8-91C3-3424DDB48479}"/>
                </a:ext>
              </a:extLst>
            </p:cNvPr>
            <p:cNvSpPr>
              <a:spLocks noGrp="1"/>
            </p:cNvSpPr>
            <p:nvPr/>
          </p:nvSpPr>
          <p:spPr>
            <a:xfrm>
              <a:off x="2251433" y="5689815"/>
              <a:ext cx="17431" cy="1504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41" name="asset_3169_51">
              <a:extLst>
                <a:ext uri="{FF2B5EF4-FFF2-40B4-BE49-F238E27FC236}">
                  <a16:creationId xmlns:a16="http://schemas.microsoft.com/office/drawing/2014/main" id="{0A5D16C0-E9EB-7A6D-D123-3915E88A78A9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57778"/>
              <a:ext cx="125096" cy="109062"/>
            </a:xfrm>
            <a:custGeom>
              <a:avLst/>
              <a:gdLst/>
              <a:ahLst/>
              <a:cxnLst/>
              <a:rect l="0" t="0" r="0" b="0"/>
              <a:pathLst>
                <a:path w="125096" h="109062">
                  <a:moveTo>
                    <a:pt x="0" y="0"/>
                  </a:moveTo>
                  <a:lnTo>
                    <a:pt x="125096" y="0"/>
                  </a:lnTo>
                  <a:lnTo>
                    <a:pt x="125096" y="109062"/>
                  </a:lnTo>
                  <a:lnTo>
                    <a:pt x="0" y="109062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sp>
        <p:nvSpPr>
          <p:cNvPr id="1242" name="TextBox 12306">
            <a:extLst>
              <a:ext uri="{FF2B5EF4-FFF2-40B4-BE49-F238E27FC236}">
                <a16:creationId xmlns:a16="http://schemas.microsoft.com/office/drawing/2014/main" id="{B61D0A30-984F-5F1D-C0E3-4ED5D4539DF2}"/>
              </a:ext>
            </a:extLst>
          </p:cNvPr>
          <p:cNvSpPr txBox="1"/>
          <p:nvPr/>
        </p:nvSpPr>
        <p:spPr>
          <a:xfrm>
            <a:off x="4984740" y="2150246"/>
            <a:ext cx="996707" cy="9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623" b="1" dirty="0" err="1">
                <a:solidFill>
                  <a:srgbClr val="8C5818"/>
                </a:solidFill>
                <a:latin typeface="Arial"/>
              </a:rPr>
              <a:t>PocketXMol</a:t>
            </a:r>
            <a:r>
              <a:rPr lang="en-US" sz="623" b="1" dirty="0">
                <a:solidFill>
                  <a:srgbClr val="8C5818"/>
                </a:solidFill>
                <a:latin typeface="Arial"/>
              </a:rPr>
              <a:t>-</a:t>
            </a:r>
            <a:r>
              <a:rPr lang="en-US" altLang="zh-CN" sz="623" b="1" dirty="0">
                <a:solidFill>
                  <a:srgbClr val="8C5818"/>
                </a:solidFill>
                <a:latin typeface="Arial"/>
              </a:rPr>
              <a:t>tuned</a:t>
            </a:r>
            <a:endParaRPr sz="623" b="1" dirty="0">
              <a:solidFill>
                <a:srgbClr val="8C5818"/>
              </a:solidFill>
              <a:latin typeface="Arial"/>
            </a:endParaRPr>
          </a:p>
        </p:txBody>
      </p:sp>
      <p:sp>
        <p:nvSpPr>
          <p:cNvPr id="1243" name="TextBox 12307">
            <a:extLst>
              <a:ext uri="{FF2B5EF4-FFF2-40B4-BE49-F238E27FC236}">
                <a16:creationId xmlns:a16="http://schemas.microsoft.com/office/drawing/2014/main" id="{50E4F9BE-39D5-3572-2B27-7015D0FE756B}"/>
              </a:ext>
            </a:extLst>
          </p:cNvPr>
          <p:cNvSpPr txBox="1"/>
          <p:nvPr/>
        </p:nvSpPr>
        <p:spPr>
          <a:xfrm>
            <a:off x="4985233" y="2305119"/>
            <a:ext cx="1205196" cy="1637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Density-conditioned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 algn="l">
              <a:lnSpc>
                <a:spcPct val="96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fine-tuning</a:t>
            </a:r>
          </a:p>
        </p:txBody>
      </p:sp>
      <p:sp>
        <p:nvSpPr>
          <p:cNvPr id="1244" name="Build | Docking tools card">
            <a:extLst>
              <a:ext uri="{FF2B5EF4-FFF2-40B4-BE49-F238E27FC236}">
                <a16:creationId xmlns:a16="http://schemas.microsoft.com/office/drawing/2014/main" id="{D8820DAD-C856-C828-BB1A-D380253AF157}"/>
              </a:ext>
            </a:extLst>
          </p:cNvPr>
          <p:cNvSpPr/>
          <p:nvPr/>
        </p:nvSpPr>
        <p:spPr>
          <a:xfrm>
            <a:off x="4707061" y="2608447"/>
            <a:ext cx="1106489" cy="516618"/>
          </a:xfrm>
          <a:prstGeom prst="roundRect">
            <a:avLst>
              <a:gd name="adj" fmla="val 8000"/>
            </a:avLst>
          </a:prstGeom>
          <a:solidFill>
            <a:srgbClr val="EFF2F8"/>
          </a:solidFill>
          <a:ln w="7290">
            <a:solidFill>
              <a:srgbClr val="B8C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1245" name="TextBox 12309">
            <a:extLst>
              <a:ext uri="{FF2B5EF4-FFF2-40B4-BE49-F238E27FC236}">
                <a16:creationId xmlns:a16="http://schemas.microsoft.com/office/drawing/2014/main" id="{E61A4066-788B-5B12-50A8-1419E47F2E66}"/>
              </a:ext>
            </a:extLst>
          </p:cNvPr>
          <p:cNvSpPr txBox="1"/>
          <p:nvPr/>
        </p:nvSpPr>
        <p:spPr>
          <a:xfrm>
            <a:off x="4758703" y="2647450"/>
            <a:ext cx="1186556" cy="1019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640" b="1" dirty="0">
                <a:solidFill>
                  <a:srgbClr val="1E293B"/>
                </a:solidFill>
                <a:latin typeface="Arial"/>
              </a:rPr>
              <a:t>O</a:t>
            </a:r>
            <a:r>
              <a:rPr lang="en-US" altLang="zh-CN" sz="640" b="1" dirty="0">
                <a:solidFill>
                  <a:srgbClr val="1E293B"/>
                </a:solidFill>
                <a:latin typeface="Arial"/>
              </a:rPr>
              <a:t>ther d</a:t>
            </a:r>
            <a:r>
              <a:rPr sz="640" b="1" dirty="0">
                <a:solidFill>
                  <a:srgbClr val="1E293B"/>
                </a:solidFill>
                <a:latin typeface="Arial"/>
              </a:rPr>
              <a:t>ocking tools</a:t>
            </a:r>
          </a:p>
        </p:txBody>
      </p:sp>
      <p:sp>
        <p:nvSpPr>
          <p:cNvPr id="1246" name="TextBox 12310">
            <a:extLst>
              <a:ext uri="{FF2B5EF4-FFF2-40B4-BE49-F238E27FC236}">
                <a16:creationId xmlns:a16="http://schemas.microsoft.com/office/drawing/2014/main" id="{C9F46158-59CF-34E8-D872-FBF180C8ECC1}"/>
              </a:ext>
            </a:extLst>
          </p:cNvPr>
          <p:cNvSpPr txBox="1"/>
          <p:nvPr/>
        </p:nvSpPr>
        <p:spPr>
          <a:xfrm>
            <a:off x="4755579" y="2752162"/>
            <a:ext cx="389530" cy="37290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 </a:t>
            </a:r>
            <a:r>
              <a:rPr sz="554" dirty="0">
                <a:solidFill>
                  <a:srgbClr val="5A6B7C"/>
                </a:solidFill>
                <a:latin typeface="Arial"/>
              </a:rPr>
              <a:t>Vina 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· </a:t>
            </a:r>
            <a:r>
              <a:rPr sz="554" dirty="0" err="1">
                <a:solidFill>
                  <a:srgbClr val="5A6B7C"/>
                </a:solidFill>
                <a:latin typeface="Arial"/>
              </a:rPr>
              <a:t>DiffDock</a:t>
            </a:r>
            <a:r>
              <a:rPr sz="554" dirty="0">
                <a:solidFill>
                  <a:srgbClr val="5A6B7C"/>
                </a:solidFill>
                <a:latin typeface="Arial"/>
              </a:rPr>
              <a:t> 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· EMERALD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</a:t>
            </a:r>
            <a:r>
              <a:rPr lang="zh-CN" altLang="en-US" sz="554" dirty="0">
                <a:solidFill>
                  <a:srgbClr val="5A6B7C"/>
                </a:solidFill>
                <a:latin typeface="Arial"/>
              </a:rPr>
              <a:t> </a:t>
            </a: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</a:t>
            </a:r>
            <a:r>
              <a:rPr lang="zh-CN" altLang="en-US" sz="554" dirty="0">
                <a:solidFill>
                  <a:srgbClr val="5A6B7C"/>
                </a:solidFill>
                <a:latin typeface="Arial"/>
              </a:rPr>
              <a:t> </a:t>
            </a: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</a:t>
            </a:r>
            <a:endParaRPr sz="554" dirty="0">
              <a:solidFill>
                <a:srgbClr val="5A6B7C"/>
              </a:solidFill>
              <a:latin typeface="Arial"/>
            </a:endParaRPr>
          </a:p>
        </p:txBody>
      </p:sp>
      <p:pic>
        <p:nvPicPr>
          <p:cNvPr id="1247" name="图片 4899" descr="已检查的图像">
            <a:extLst>
              <a:ext uri="{FF2B5EF4-FFF2-40B4-BE49-F238E27FC236}">
                <a16:creationId xmlns:a16="http://schemas.microsoft.com/office/drawing/2014/main" id="{C81AEC01-9879-5247-5292-925FF171378F}"/>
              </a:ext>
            </a:extLst>
          </p:cNvPr>
          <p:cNvPicPr>
            <a:picLocks/>
          </p:cNvPicPr>
          <p:nvPr/>
        </p:nvPicPr>
        <p:blipFill>
          <a:blip r:embed="rId7"/>
          <a:srcRect l="22277" t="11600" r="20320" b="13721"/>
          <a:stretch>
            <a:fillRect/>
          </a:stretch>
        </p:blipFill>
        <p:spPr>
          <a:xfrm rot="1047317">
            <a:off x="4857383" y="3459221"/>
            <a:ext cx="862283" cy="761214"/>
          </a:xfrm>
          <a:prstGeom prst="rect">
            <a:avLst/>
          </a:prstGeom>
        </p:spPr>
      </p:pic>
      <p:grpSp>
        <p:nvGrpSpPr>
          <p:cNvPr id="1248" name="Unified flow and feature elements">
            <a:extLst>
              <a:ext uri="{FF2B5EF4-FFF2-40B4-BE49-F238E27FC236}">
                <a16:creationId xmlns:a16="http://schemas.microsoft.com/office/drawing/2014/main" id="{DA74696D-FF4F-021F-A459-9CD0851351CF}"/>
              </a:ext>
            </a:extLst>
          </p:cNvPr>
          <p:cNvGrpSpPr/>
          <p:nvPr/>
        </p:nvGrpSpPr>
        <p:grpSpPr>
          <a:xfrm>
            <a:off x="823347" y="284723"/>
            <a:ext cx="3605650" cy="3967446"/>
            <a:chOff x="1936337" y="669608"/>
            <a:chExt cx="8479727" cy="9330594"/>
          </a:xfrm>
        </p:grpSpPr>
        <p:sp>
          <p:nvSpPr>
            <p:cNvPr id="1249" name="Preprocessing refined">
              <a:extLst>
                <a:ext uri="{FF2B5EF4-FFF2-40B4-BE49-F238E27FC236}">
                  <a16:creationId xmlns:a16="http://schemas.microsoft.com/office/drawing/2014/main" id="{A3A31885-181B-CF24-BE30-3ED8DAACE460}"/>
                </a:ext>
              </a:extLst>
            </p:cNvPr>
            <p:cNvSpPr>
              <a:spLocks noGrp="1"/>
            </p:cNvSpPr>
            <p:nvPr/>
          </p:nvSpPr>
          <p:spPr>
            <a:xfrm>
              <a:off x="2814488" y="669608"/>
              <a:ext cx="1028700" cy="3460433"/>
            </a:xfrm>
            <a:prstGeom prst="roundRect">
              <a:avLst>
                <a:gd name="adj" fmla="val 6481"/>
              </a:avLst>
            </a:prstGeom>
            <a:solidFill>
              <a:srgbClr val="E8EFF7"/>
            </a:solidFill>
            <a:ln w="7290">
              <a:solidFill>
                <a:srgbClr val="C4D1E1"/>
              </a:solidFill>
            </a:ln>
          </p:spPr>
        </p:sp>
        <p:sp>
          <p:nvSpPr>
            <p:cNvPr id="1250" name="Preprocessing divider refined">
              <a:extLst>
                <a:ext uri="{FF2B5EF4-FFF2-40B4-BE49-F238E27FC236}">
                  <a16:creationId xmlns:a16="http://schemas.microsoft.com/office/drawing/2014/main" id="{E21BD2F9-92DD-96F0-3AAF-0957638A49FB}"/>
                </a:ext>
              </a:extLst>
            </p:cNvPr>
            <p:cNvSpPr>
              <a:spLocks noGrp="1"/>
            </p:cNvSpPr>
            <p:nvPr/>
          </p:nvSpPr>
          <p:spPr>
            <a:xfrm>
              <a:off x="2911036" y="2418363"/>
              <a:ext cx="800100" cy="190"/>
            </a:xfrm>
            <a:custGeom>
              <a:avLst/>
              <a:gdLst/>
              <a:ahLst/>
              <a:cxnLst/>
              <a:rect l="0" t="0" r="0" b="0"/>
              <a:pathLst>
                <a:path w="800100" h="191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noFill/>
            <a:ln w="6075">
              <a:solidFill>
                <a:srgbClr val="C4D1E1"/>
              </a:solidFill>
              <a:prstDash val="solid"/>
            </a:ln>
          </p:spPr>
        </p:sp>
        <p:sp>
          <p:nvSpPr>
            <p:cNvPr id="1251" name="Density bank refined">
              <a:extLst>
                <a:ext uri="{FF2B5EF4-FFF2-40B4-BE49-F238E27FC236}">
                  <a16:creationId xmlns:a16="http://schemas.microsoft.com/office/drawing/2014/main" id="{1E51E71A-A2BC-0776-E4CA-D30FBB1BE241}"/>
                </a:ext>
              </a:extLst>
            </p:cNvPr>
            <p:cNvSpPr>
              <a:spLocks noGrp="1"/>
            </p:cNvSpPr>
            <p:nvPr/>
          </p:nvSpPr>
          <p:spPr>
            <a:xfrm>
              <a:off x="2823460" y="760105"/>
              <a:ext cx="990599" cy="457199"/>
            </a:xfrm>
            <a:prstGeom prst="rect">
              <a:avLst/>
            </a:prstGeom>
            <a:noFill/>
            <a:ln w="7290">
              <a:noFill/>
            </a:ln>
          </p:spPr>
          <p:txBody>
            <a:bodyPr lIns="0" tIns="0" rIns="0" bIns="0" anchor="ctr"/>
            <a:lstStyle>
              <a:def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Density</a:t>
              </a:r>
            </a:p>
            <a:p>
              <a: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B</a:t>
              </a:r>
              <a:r>
                <a:rPr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ank</a:t>
              </a:r>
            </a:p>
          </p:txBody>
        </p:sp>
        <p:sp>
          <p:nvSpPr>
            <p:cNvPr id="1252" name="Embedding head refined">
              <a:extLst>
                <a:ext uri="{FF2B5EF4-FFF2-40B4-BE49-F238E27FC236}">
                  <a16:creationId xmlns:a16="http://schemas.microsoft.com/office/drawing/2014/main" id="{58C61B38-F8DB-1F98-DEE4-C9D7130E2730}"/>
                </a:ext>
              </a:extLst>
            </p:cNvPr>
            <p:cNvSpPr>
              <a:spLocks noGrp="1"/>
            </p:cNvSpPr>
            <p:nvPr/>
          </p:nvSpPr>
          <p:spPr>
            <a:xfrm>
              <a:off x="2834250" y="2542570"/>
              <a:ext cx="990599" cy="457199"/>
            </a:xfrm>
            <a:prstGeom prst="rect">
              <a:avLst/>
            </a:prstGeom>
            <a:noFill/>
            <a:ln w="7290">
              <a:noFill/>
            </a:ln>
          </p:spPr>
          <p:txBody>
            <a:bodyPr lIns="0" tIns="0" rIns="0" bIns="0" anchor="ctr"/>
            <a:lstStyle>
              <a:def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Atom embeddings</a:t>
              </a:r>
              <a:endParaRPr sz="550" dirty="0">
                <a:solidFill>
                  <a:srgbClr val="1E293B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53" name="Find matrix 0-0">
              <a:extLst>
                <a:ext uri="{FF2B5EF4-FFF2-40B4-BE49-F238E27FC236}">
                  <a16:creationId xmlns:a16="http://schemas.microsoft.com/office/drawing/2014/main" id="{BBF0C328-3AF9-A068-FA92-FBF890856A66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200400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54" name="Find matrix 0-1">
              <a:extLst>
                <a:ext uri="{FF2B5EF4-FFF2-40B4-BE49-F238E27FC236}">
                  <a16:creationId xmlns:a16="http://schemas.microsoft.com/office/drawing/2014/main" id="{3474DD36-B24E-DC42-848D-72CE3DEC2274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200400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55" name="Find matrix 0-2">
              <a:extLst>
                <a:ext uri="{FF2B5EF4-FFF2-40B4-BE49-F238E27FC236}">
                  <a16:creationId xmlns:a16="http://schemas.microsoft.com/office/drawing/2014/main" id="{F807BDD1-EE13-F00C-2E77-C8910F6ACC73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200400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56" name="Find matrix 0-3">
              <a:extLst>
                <a:ext uri="{FF2B5EF4-FFF2-40B4-BE49-F238E27FC236}">
                  <a16:creationId xmlns:a16="http://schemas.microsoft.com/office/drawing/2014/main" id="{DB1A890F-778A-35C9-7AE1-C0AE618D52CF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200400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57" name="Find matrix 0-4">
              <a:extLst>
                <a:ext uri="{FF2B5EF4-FFF2-40B4-BE49-F238E27FC236}">
                  <a16:creationId xmlns:a16="http://schemas.microsoft.com/office/drawing/2014/main" id="{B445D6B3-6FC7-4615-5975-85730846D82F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200400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58" name="Find matrix 0-5">
              <a:extLst>
                <a:ext uri="{FF2B5EF4-FFF2-40B4-BE49-F238E27FC236}">
                  <a16:creationId xmlns:a16="http://schemas.microsoft.com/office/drawing/2014/main" id="{EDF77049-6933-CA1B-21BD-2D261FB460F5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200400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59" name="Find matrix 0-6">
              <a:extLst>
                <a:ext uri="{FF2B5EF4-FFF2-40B4-BE49-F238E27FC236}">
                  <a16:creationId xmlns:a16="http://schemas.microsoft.com/office/drawing/2014/main" id="{F24780FB-09E3-AE39-557B-018C817CABA7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200400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60" name="Find matrix 0-7">
              <a:extLst>
                <a:ext uri="{FF2B5EF4-FFF2-40B4-BE49-F238E27FC236}">
                  <a16:creationId xmlns:a16="http://schemas.microsoft.com/office/drawing/2014/main" id="{69791062-44B8-8426-AAD4-DD68B1FF31BA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200400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61" name="Find matrix 1-0">
              <a:extLst>
                <a:ext uri="{FF2B5EF4-FFF2-40B4-BE49-F238E27FC236}">
                  <a16:creationId xmlns:a16="http://schemas.microsoft.com/office/drawing/2014/main" id="{DAD773D5-9108-C0B7-81D5-AC1CF98B49B0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274695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62" name="Find matrix 1-1">
              <a:extLst>
                <a:ext uri="{FF2B5EF4-FFF2-40B4-BE49-F238E27FC236}">
                  <a16:creationId xmlns:a16="http://schemas.microsoft.com/office/drawing/2014/main" id="{FD6D65E0-3CD4-81C9-A7EC-EE4D1EA03DA1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274695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63" name="Find matrix 1-2">
              <a:extLst>
                <a:ext uri="{FF2B5EF4-FFF2-40B4-BE49-F238E27FC236}">
                  <a16:creationId xmlns:a16="http://schemas.microsoft.com/office/drawing/2014/main" id="{C06E5EF8-D1B9-1DB5-4010-25CDECE16DF3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274695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64" name="Find matrix 1-3">
              <a:extLst>
                <a:ext uri="{FF2B5EF4-FFF2-40B4-BE49-F238E27FC236}">
                  <a16:creationId xmlns:a16="http://schemas.microsoft.com/office/drawing/2014/main" id="{9AD5706A-D366-481E-242D-C3727EE68292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274695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65" name="Find matrix 1-4">
              <a:extLst>
                <a:ext uri="{FF2B5EF4-FFF2-40B4-BE49-F238E27FC236}">
                  <a16:creationId xmlns:a16="http://schemas.microsoft.com/office/drawing/2014/main" id="{6454B603-2435-1F3E-EFE1-9F3ED69FE183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274695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66" name="Find matrix 1-5">
              <a:extLst>
                <a:ext uri="{FF2B5EF4-FFF2-40B4-BE49-F238E27FC236}">
                  <a16:creationId xmlns:a16="http://schemas.microsoft.com/office/drawing/2014/main" id="{BDC3058F-5BB6-EF0A-C0E4-8FFF478A86C2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274695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67" name="Find matrix 1-6">
              <a:extLst>
                <a:ext uri="{FF2B5EF4-FFF2-40B4-BE49-F238E27FC236}">
                  <a16:creationId xmlns:a16="http://schemas.microsoft.com/office/drawing/2014/main" id="{7A6FD57F-2D4A-E860-6015-70841E18A307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274695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68" name="Find matrix 1-7">
              <a:extLst>
                <a:ext uri="{FF2B5EF4-FFF2-40B4-BE49-F238E27FC236}">
                  <a16:creationId xmlns:a16="http://schemas.microsoft.com/office/drawing/2014/main" id="{289EF4F7-DDB6-5545-39F7-5D1B3F86D2D3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274695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69" name="Find matrix 2-0">
              <a:extLst>
                <a:ext uri="{FF2B5EF4-FFF2-40B4-BE49-F238E27FC236}">
                  <a16:creationId xmlns:a16="http://schemas.microsoft.com/office/drawing/2014/main" id="{B1282592-D5D6-9C68-2D42-3D2A0FA6458C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348990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70" name="Find matrix 2-1">
              <a:extLst>
                <a:ext uri="{FF2B5EF4-FFF2-40B4-BE49-F238E27FC236}">
                  <a16:creationId xmlns:a16="http://schemas.microsoft.com/office/drawing/2014/main" id="{390A8337-4744-F454-87FF-4E9BDE799C1D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348990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71" name="Find matrix 2-2">
              <a:extLst>
                <a:ext uri="{FF2B5EF4-FFF2-40B4-BE49-F238E27FC236}">
                  <a16:creationId xmlns:a16="http://schemas.microsoft.com/office/drawing/2014/main" id="{F2F7291B-E14D-7E55-CC39-0366DDE36AB6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348990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72" name="Find matrix 2-3">
              <a:extLst>
                <a:ext uri="{FF2B5EF4-FFF2-40B4-BE49-F238E27FC236}">
                  <a16:creationId xmlns:a16="http://schemas.microsoft.com/office/drawing/2014/main" id="{7DDB5DDB-AA90-B36F-ECCA-B3D87BDEF49C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348990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73" name="Find matrix 2-4">
              <a:extLst>
                <a:ext uri="{FF2B5EF4-FFF2-40B4-BE49-F238E27FC236}">
                  <a16:creationId xmlns:a16="http://schemas.microsoft.com/office/drawing/2014/main" id="{FBF483EB-0895-E2F9-E946-2CE7B0273010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348990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74" name="Find matrix 2-5">
              <a:extLst>
                <a:ext uri="{FF2B5EF4-FFF2-40B4-BE49-F238E27FC236}">
                  <a16:creationId xmlns:a16="http://schemas.microsoft.com/office/drawing/2014/main" id="{235264C0-29EF-D9B8-F0D1-9BEBBAD9D6E8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348990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75" name="Find matrix 2-6">
              <a:extLst>
                <a:ext uri="{FF2B5EF4-FFF2-40B4-BE49-F238E27FC236}">
                  <a16:creationId xmlns:a16="http://schemas.microsoft.com/office/drawing/2014/main" id="{89BB4142-622C-474C-899B-E7C760EA5054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348990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76" name="Find matrix 2-7">
              <a:extLst>
                <a:ext uri="{FF2B5EF4-FFF2-40B4-BE49-F238E27FC236}">
                  <a16:creationId xmlns:a16="http://schemas.microsoft.com/office/drawing/2014/main" id="{6D2284D9-4AE6-02DD-AA99-C88ED825A8F4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348990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77" name="Find matrix 3-0">
              <a:extLst>
                <a:ext uri="{FF2B5EF4-FFF2-40B4-BE49-F238E27FC236}">
                  <a16:creationId xmlns:a16="http://schemas.microsoft.com/office/drawing/2014/main" id="{A354350A-00E7-4344-FF84-5BBF2165CEDA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423285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78" name="Find matrix 3-1">
              <a:extLst>
                <a:ext uri="{FF2B5EF4-FFF2-40B4-BE49-F238E27FC236}">
                  <a16:creationId xmlns:a16="http://schemas.microsoft.com/office/drawing/2014/main" id="{E2EDFAC2-C5CD-2DF8-165C-4DBC9D98B449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423285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79" name="Find matrix 3-2">
              <a:extLst>
                <a:ext uri="{FF2B5EF4-FFF2-40B4-BE49-F238E27FC236}">
                  <a16:creationId xmlns:a16="http://schemas.microsoft.com/office/drawing/2014/main" id="{4D088869-EB59-E1B3-59B4-C3C92C8170BA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423285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80" name="Find matrix 3-3">
              <a:extLst>
                <a:ext uri="{FF2B5EF4-FFF2-40B4-BE49-F238E27FC236}">
                  <a16:creationId xmlns:a16="http://schemas.microsoft.com/office/drawing/2014/main" id="{119CBCB9-6860-7DCC-AF73-C422647EEF23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423285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81" name="Find matrix 3-4">
              <a:extLst>
                <a:ext uri="{FF2B5EF4-FFF2-40B4-BE49-F238E27FC236}">
                  <a16:creationId xmlns:a16="http://schemas.microsoft.com/office/drawing/2014/main" id="{F0ED964A-EDEB-7D43-69F8-BEFE576D1277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423285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82" name="Find matrix 3-5">
              <a:extLst>
                <a:ext uri="{FF2B5EF4-FFF2-40B4-BE49-F238E27FC236}">
                  <a16:creationId xmlns:a16="http://schemas.microsoft.com/office/drawing/2014/main" id="{A0A2A64A-E67D-3395-0409-F2703179F7EC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423285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83" name="Find matrix 3-6">
              <a:extLst>
                <a:ext uri="{FF2B5EF4-FFF2-40B4-BE49-F238E27FC236}">
                  <a16:creationId xmlns:a16="http://schemas.microsoft.com/office/drawing/2014/main" id="{EA7CE8E7-C1AC-E261-A970-8EC80886D558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423285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84" name="Find matrix 3-7">
              <a:extLst>
                <a:ext uri="{FF2B5EF4-FFF2-40B4-BE49-F238E27FC236}">
                  <a16:creationId xmlns:a16="http://schemas.microsoft.com/office/drawing/2014/main" id="{3CC5802F-96A8-F327-8DCD-5C642BB94DCE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423285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85" name="Match matrix 0-0">
              <a:extLst>
                <a:ext uri="{FF2B5EF4-FFF2-40B4-BE49-F238E27FC236}">
                  <a16:creationId xmlns:a16="http://schemas.microsoft.com/office/drawing/2014/main" id="{1E148E3C-F1D3-F47F-36C6-42E1C579FB78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252039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86" name="Match matrix 0-1">
              <a:extLst>
                <a:ext uri="{FF2B5EF4-FFF2-40B4-BE49-F238E27FC236}">
                  <a16:creationId xmlns:a16="http://schemas.microsoft.com/office/drawing/2014/main" id="{6CE95E95-35B4-AAA3-E629-B7804854BFD1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252039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87" name="Match matrix 0-2">
              <a:extLst>
                <a:ext uri="{FF2B5EF4-FFF2-40B4-BE49-F238E27FC236}">
                  <a16:creationId xmlns:a16="http://schemas.microsoft.com/office/drawing/2014/main" id="{7AA444A0-2B6A-4C23-EFFA-BB0D0814FEA4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252039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88" name="Match matrix 0-3">
              <a:extLst>
                <a:ext uri="{FF2B5EF4-FFF2-40B4-BE49-F238E27FC236}">
                  <a16:creationId xmlns:a16="http://schemas.microsoft.com/office/drawing/2014/main" id="{FA614244-906C-CFFC-1294-6D233D01CB35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252039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89" name="Match matrix 0-4">
              <a:extLst>
                <a:ext uri="{FF2B5EF4-FFF2-40B4-BE49-F238E27FC236}">
                  <a16:creationId xmlns:a16="http://schemas.microsoft.com/office/drawing/2014/main" id="{EE4A1296-1DD3-454F-610D-2BDEB1D0EFA9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252039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90" name="Match matrix 0-5">
              <a:extLst>
                <a:ext uri="{FF2B5EF4-FFF2-40B4-BE49-F238E27FC236}">
                  <a16:creationId xmlns:a16="http://schemas.microsoft.com/office/drawing/2014/main" id="{A27DCA6A-D9A0-89D2-300F-145A0353541B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252039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91" name="Match matrix 0-6">
              <a:extLst>
                <a:ext uri="{FF2B5EF4-FFF2-40B4-BE49-F238E27FC236}">
                  <a16:creationId xmlns:a16="http://schemas.microsoft.com/office/drawing/2014/main" id="{110481AC-0BB3-A98A-15F4-6DA00B6462E6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252039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92" name="Match matrix 0-7">
              <a:extLst>
                <a:ext uri="{FF2B5EF4-FFF2-40B4-BE49-F238E27FC236}">
                  <a16:creationId xmlns:a16="http://schemas.microsoft.com/office/drawing/2014/main" id="{CA0FE5FF-20F8-A515-1575-D2B579C6A384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252039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93" name="Match matrix 1-0">
              <a:extLst>
                <a:ext uri="{FF2B5EF4-FFF2-40B4-BE49-F238E27FC236}">
                  <a16:creationId xmlns:a16="http://schemas.microsoft.com/office/drawing/2014/main" id="{62DD97DC-E1EF-3AC8-77C6-31E750CF1688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326334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94" name="Match matrix 1-1">
              <a:extLst>
                <a:ext uri="{FF2B5EF4-FFF2-40B4-BE49-F238E27FC236}">
                  <a16:creationId xmlns:a16="http://schemas.microsoft.com/office/drawing/2014/main" id="{B545DCC8-F9BD-6322-3BD3-A195D0A92FFB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326334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95" name="Match matrix 1-2">
              <a:extLst>
                <a:ext uri="{FF2B5EF4-FFF2-40B4-BE49-F238E27FC236}">
                  <a16:creationId xmlns:a16="http://schemas.microsoft.com/office/drawing/2014/main" id="{CA362456-65E1-995A-0618-99CCC4184C18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326334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96" name="Match matrix 1-3">
              <a:extLst>
                <a:ext uri="{FF2B5EF4-FFF2-40B4-BE49-F238E27FC236}">
                  <a16:creationId xmlns:a16="http://schemas.microsoft.com/office/drawing/2014/main" id="{A2C35F9E-7361-3F63-4B0D-A98BA11C6FD6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326334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97" name="Match matrix 1-4">
              <a:extLst>
                <a:ext uri="{FF2B5EF4-FFF2-40B4-BE49-F238E27FC236}">
                  <a16:creationId xmlns:a16="http://schemas.microsoft.com/office/drawing/2014/main" id="{FAAA67D0-1522-17CF-8376-8D76753F582D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326334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98" name="Match matrix 1-5">
              <a:extLst>
                <a:ext uri="{FF2B5EF4-FFF2-40B4-BE49-F238E27FC236}">
                  <a16:creationId xmlns:a16="http://schemas.microsoft.com/office/drawing/2014/main" id="{8EFA4585-A006-C810-377D-DBA6C87576CE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326334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99" name="Match matrix 1-6">
              <a:extLst>
                <a:ext uri="{FF2B5EF4-FFF2-40B4-BE49-F238E27FC236}">
                  <a16:creationId xmlns:a16="http://schemas.microsoft.com/office/drawing/2014/main" id="{64D11889-0CF0-CA9A-1917-2BF4C8C70236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326334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300" name="Match matrix 1-7">
              <a:extLst>
                <a:ext uri="{FF2B5EF4-FFF2-40B4-BE49-F238E27FC236}">
                  <a16:creationId xmlns:a16="http://schemas.microsoft.com/office/drawing/2014/main" id="{188B5773-F5C9-7D4C-8152-FA7D9B627789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326334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301" name="Match matrix 2-0">
              <a:extLst>
                <a:ext uri="{FF2B5EF4-FFF2-40B4-BE49-F238E27FC236}">
                  <a16:creationId xmlns:a16="http://schemas.microsoft.com/office/drawing/2014/main" id="{BBF02AFB-8489-0057-17C0-1186E4D7244F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400629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302" name="Match matrix 2-1">
              <a:extLst>
                <a:ext uri="{FF2B5EF4-FFF2-40B4-BE49-F238E27FC236}">
                  <a16:creationId xmlns:a16="http://schemas.microsoft.com/office/drawing/2014/main" id="{4D1F1E41-46E5-997B-A9A2-D4A7E86A821C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400629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303" name="Match matrix 2-2">
              <a:extLst>
                <a:ext uri="{FF2B5EF4-FFF2-40B4-BE49-F238E27FC236}">
                  <a16:creationId xmlns:a16="http://schemas.microsoft.com/office/drawing/2014/main" id="{BDC0B5DB-1FDB-9192-A8A8-9F9E9FC2CF48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400629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304" name="Match matrix 2-3">
              <a:extLst>
                <a:ext uri="{FF2B5EF4-FFF2-40B4-BE49-F238E27FC236}">
                  <a16:creationId xmlns:a16="http://schemas.microsoft.com/office/drawing/2014/main" id="{9C663294-FCA2-F8DE-2AEC-EEF54C48921A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400629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305" name="Match matrix 2-4">
              <a:extLst>
                <a:ext uri="{FF2B5EF4-FFF2-40B4-BE49-F238E27FC236}">
                  <a16:creationId xmlns:a16="http://schemas.microsoft.com/office/drawing/2014/main" id="{28E76182-0A60-4A72-9586-C12459BE0B58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400629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306" name="Match matrix 2-5">
              <a:extLst>
                <a:ext uri="{FF2B5EF4-FFF2-40B4-BE49-F238E27FC236}">
                  <a16:creationId xmlns:a16="http://schemas.microsoft.com/office/drawing/2014/main" id="{29FC68A5-EB54-9596-85EC-EDC1175B056F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400629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307" name="Match matrix 2-6">
              <a:extLst>
                <a:ext uri="{FF2B5EF4-FFF2-40B4-BE49-F238E27FC236}">
                  <a16:creationId xmlns:a16="http://schemas.microsoft.com/office/drawing/2014/main" id="{59C9C8C5-D90A-7A02-93D3-957FE3AE7DC3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400629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308" name="Match matrix 2-7">
              <a:extLst>
                <a:ext uri="{FF2B5EF4-FFF2-40B4-BE49-F238E27FC236}">
                  <a16:creationId xmlns:a16="http://schemas.microsoft.com/office/drawing/2014/main" id="{83DFB888-0521-0863-270C-DBAF169C149A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400629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309" name="Match matrix 3-0">
              <a:extLst>
                <a:ext uri="{FF2B5EF4-FFF2-40B4-BE49-F238E27FC236}">
                  <a16:creationId xmlns:a16="http://schemas.microsoft.com/office/drawing/2014/main" id="{CDAE8F1E-742C-7BA1-EB00-87CA9B9E40A2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474924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310" name="Match matrix 3-1">
              <a:extLst>
                <a:ext uri="{FF2B5EF4-FFF2-40B4-BE49-F238E27FC236}">
                  <a16:creationId xmlns:a16="http://schemas.microsoft.com/office/drawing/2014/main" id="{74117986-6240-D77F-909C-522F6146D289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474924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311" name="Match matrix 3-2">
              <a:extLst>
                <a:ext uri="{FF2B5EF4-FFF2-40B4-BE49-F238E27FC236}">
                  <a16:creationId xmlns:a16="http://schemas.microsoft.com/office/drawing/2014/main" id="{68BD8A38-75EC-BA37-589D-F9C3EBE804E8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474924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312" name="Match matrix 3-3">
              <a:extLst>
                <a:ext uri="{FF2B5EF4-FFF2-40B4-BE49-F238E27FC236}">
                  <a16:creationId xmlns:a16="http://schemas.microsoft.com/office/drawing/2014/main" id="{BA2E6B5A-7074-DCD3-8646-836425ECA4E6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474924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313" name="Match matrix 3-4">
              <a:extLst>
                <a:ext uri="{FF2B5EF4-FFF2-40B4-BE49-F238E27FC236}">
                  <a16:creationId xmlns:a16="http://schemas.microsoft.com/office/drawing/2014/main" id="{E2B9FFDB-87E6-991D-6FE1-3A8ED7934F53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474924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314" name="Match matrix 3-5">
              <a:extLst>
                <a:ext uri="{FF2B5EF4-FFF2-40B4-BE49-F238E27FC236}">
                  <a16:creationId xmlns:a16="http://schemas.microsoft.com/office/drawing/2014/main" id="{93BBAAA9-24B8-1E29-A6DC-8B4D096073B5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474924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315" name="Match matrix 3-6">
              <a:extLst>
                <a:ext uri="{FF2B5EF4-FFF2-40B4-BE49-F238E27FC236}">
                  <a16:creationId xmlns:a16="http://schemas.microsoft.com/office/drawing/2014/main" id="{68A528E6-65EA-9C73-7412-55AD6CD16CE8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474924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316" name="Match matrix 3-7">
              <a:extLst>
                <a:ext uri="{FF2B5EF4-FFF2-40B4-BE49-F238E27FC236}">
                  <a16:creationId xmlns:a16="http://schemas.microsoft.com/office/drawing/2014/main" id="{2EEE91B3-D81D-6257-AECC-400C8A929123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474924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318" name="SMILES continuation 806-628.2">
              <a:extLst>
                <a:ext uri="{FF2B5EF4-FFF2-40B4-BE49-F238E27FC236}">
                  <a16:creationId xmlns:a16="http://schemas.microsoft.com/office/drawing/2014/main" id="{F23A2C65-E88A-BB4F-DB2B-F6BDFE0A90A0}"/>
                </a:ext>
              </a:extLst>
            </p:cNvPr>
            <p:cNvSpPr>
              <a:spLocks noGrp="1"/>
            </p:cNvSpPr>
            <p:nvPr/>
          </p:nvSpPr>
          <p:spPr>
            <a:xfrm>
              <a:off x="7667625" y="597408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19" name="SMILES continuation 812-628.2">
              <a:extLst>
                <a:ext uri="{FF2B5EF4-FFF2-40B4-BE49-F238E27FC236}">
                  <a16:creationId xmlns:a16="http://schemas.microsoft.com/office/drawing/2014/main" id="{3B989565-3BAD-D4AD-9254-F92A9CA55F5F}"/>
                </a:ext>
              </a:extLst>
            </p:cNvPr>
            <p:cNvSpPr>
              <a:spLocks noGrp="1"/>
            </p:cNvSpPr>
            <p:nvPr/>
          </p:nvSpPr>
          <p:spPr>
            <a:xfrm>
              <a:off x="7724775" y="597408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0" name="SMILES continuation 818-628.2">
              <a:extLst>
                <a:ext uri="{FF2B5EF4-FFF2-40B4-BE49-F238E27FC236}">
                  <a16:creationId xmlns:a16="http://schemas.microsoft.com/office/drawing/2014/main" id="{42B8B6C2-B43E-383F-14DE-C418D4494332}"/>
                </a:ext>
              </a:extLst>
            </p:cNvPr>
            <p:cNvSpPr>
              <a:spLocks noGrp="1"/>
            </p:cNvSpPr>
            <p:nvPr/>
          </p:nvSpPr>
          <p:spPr>
            <a:xfrm>
              <a:off x="7781925" y="597408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1" name="SMILES continuation 806-667">
              <a:extLst>
                <a:ext uri="{FF2B5EF4-FFF2-40B4-BE49-F238E27FC236}">
                  <a16:creationId xmlns:a16="http://schemas.microsoft.com/office/drawing/2014/main" id="{39894408-4EFC-1123-4D43-5E7226F5F0C0}"/>
                </a:ext>
              </a:extLst>
            </p:cNvPr>
            <p:cNvSpPr>
              <a:spLocks noGrp="1"/>
            </p:cNvSpPr>
            <p:nvPr/>
          </p:nvSpPr>
          <p:spPr>
            <a:xfrm>
              <a:off x="7667625" y="634365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2" name="SMILES continuation 812-667">
              <a:extLst>
                <a:ext uri="{FF2B5EF4-FFF2-40B4-BE49-F238E27FC236}">
                  <a16:creationId xmlns:a16="http://schemas.microsoft.com/office/drawing/2014/main" id="{B15788D5-8154-0220-0ADD-B84E221B0B6F}"/>
                </a:ext>
              </a:extLst>
            </p:cNvPr>
            <p:cNvSpPr>
              <a:spLocks noGrp="1"/>
            </p:cNvSpPr>
            <p:nvPr/>
          </p:nvSpPr>
          <p:spPr>
            <a:xfrm>
              <a:off x="7724775" y="634365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3" name="SMILES continuation 818-667">
              <a:extLst>
                <a:ext uri="{FF2B5EF4-FFF2-40B4-BE49-F238E27FC236}">
                  <a16:creationId xmlns:a16="http://schemas.microsoft.com/office/drawing/2014/main" id="{06FB727B-1C36-BDAC-BF90-119F79F57919}"/>
                </a:ext>
              </a:extLst>
            </p:cNvPr>
            <p:cNvSpPr>
              <a:spLocks noGrp="1"/>
            </p:cNvSpPr>
            <p:nvPr/>
          </p:nvSpPr>
          <p:spPr>
            <a:xfrm>
              <a:off x="7781925" y="634365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4" name="Find density input">
              <a:extLst>
                <a:ext uri="{FF2B5EF4-FFF2-40B4-BE49-F238E27FC236}">
                  <a16:creationId xmlns:a16="http://schemas.microsoft.com/office/drawing/2014/main" id="{3BB3F16C-BBC6-CEA5-1D5F-BADEC13D0E07}"/>
                </a:ext>
              </a:extLst>
            </p:cNvPr>
            <p:cNvSpPr>
              <a:spLocks noGrp="1"/>
            </p:cNvSpPr>
            <p:nvPr/>
          </p:nvSpPr>
          <p:spPr>
            <a:xfrm>
              <a:off x="2692432" y="1518479"/>
              <a:ext cx="125541" cy="190"/>
            </a:xfrm>
            <a:custGeom>
              <a:avLst/>
              <a:gdLst/>
              <a:ahLst/>
              <a:cxnLst/>
              <a:rect l="0" t="0" r="0" b="0"/>
              <a:pathLst>
                <a:path w="125540" h="191">
                  <a:moveTo>
                    <a:pt x="0" y="0"/>
                  </a:moveTo>
                  <a:lnTo>
                    <a:pt x="125540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25" name="Find density input head">
              <a:extLst>
                <a:ext uri="{FF2B5EF4-FFF2-40B4-BE49-F238E27FC236}">
                  <a16:creationId xmlns:a16="http://schemas.microsoft.com/office/drawing/2014/main" id="{DD01582E-D72F-DC2A-ED51-209065AB4BE2}"/>
                </a:ext>
              </a:extLst>
            </p:cNvPr>
            <p:cNvSpPr>
              <a:spLocks noGrp="1"/>
            </p:cNvSpPr>
            <p:nvPr/>
          </p:nvSpPr>
          <p:spPr>
            <a:xfrm>
              <a:off x="2764675" y="1489808"/>
              <a:ext cx="66676" cy="57339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28" name="Find receptor input">
              <a:extLst>
                <a:ext uri="{FF2B5EF4-FFF2-40B4-BE49-F238E27FC236}">
                  <a16:creationId xmlns:a16="http://schemas.microsoft.com/office/drawing/2014/main" id="{8835B13D-A150-D32A-EA5F-DF6B94803636}"/>
                </a:ext>
              </a:extLst>
            </p:cNvPr>
            <p:cNvSpPr>
              <a:spLocks noGrp="1"/>
            </p:cNvSpPr>
            <p:nvPr/>
          </p:nvSpPr>
          <p:spPr>
            <a:xfrm>
              <a:off x="2692432" y="3260557"/>
              <a:ext cx="125541" cy="190"/>
            </a:xfrm>
            <a:custGeom>
              <a:avLst/>
              <a:gdLst/>
              <a:ahLst/>
              <a:cxnLst/>
              <a:rect l="0" t="0" r="0" b="0"/>
              <a:pathLst>
                <a:path w="125540" h="191">
                  <a:moveTo>
                    <a:pt x="0" y="0"/>
                  </a:moveTo>
                  <a:lnTo>
                    <a:pt x="125540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29" name="Find receptor input head">
              <a:extLst>
                <a:ext uri="{FF2B5EF4-FFF2-40B4-BE49-F238E27FC236}">
                  <a16:creationId xmlns:a16="http://schemas.microsoft.com/office/drawing/2014/main" id="{A5463DF5-F357-C133-4537-3687854104BD}"/>
                </a:ext>
              </a:extLst>
            </p:cNvPr>
            <p:cNvSpPr>
              <a:spLocks noGrp="1"/>
            </p:cNvSpPr>
            <p:nvPr/>
          </p:nvSpPr>
          <p:spPr>
            <a:xfrm>
              <a:off x="2764675" y="3231886"/>
              <a:ext cx="66676" cy="57339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32" name="Find voxel output">
              <a:extLst>
                <a:ext uri="{FF2B5EF4-FFF2-40B4-BE49-F238E27FC236}">
                  <a16:creationId xmlns:a16="http://schemas.microsoft.com/office/drawing/2014/main" id="{A7A050F5-4BBD-83D0-3E56-868138C02A2E}"/>
                </a:ext>
              </a:extLst>
            </p:cNvPr>
            <p:cNvSpPr>
              <a:spLocks noGrp="1"/>
            </p:cNvSpPr>
            <p:nvPr/>
          </p:nvSpPr>
          <p:spPr>
            <a:xfrm>
              <a:off x="9235250" y="1544003"/>
              <a:ext cx="252508" cy="191"/>
            </a:xfrm>
            <a:custGeom>
              <a:avLst/>
              <a:gdLst/>
              <a:ahLst/>
              <a:cxnLst/>
              <a:rect l="0" t="0" r="0" b="0"/>
              <a:pathLst>
                <a:path w="252508" h="191">
                  <a:moveTo>
                    <a:pt x="0" y="0"/>
                  </a:moveTo>
                  <a:lnTo>
                    <a:pt x="252508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33" name="Find voxel output head">
              <a:extLst>
                <a:ext uri="{FF2B5EF4-FFF2-40B4-BE49-F238E27FC236}">
                  <a16:creationId xmlns:a16="http://schemas.microsoft.com/office/drawing/2014/main" id="{375132D2-B1BA-3819-E6E4-408E45D3577A}"/>
                </a:ext>
              </a:extLst>
            </p:cNvPr>
            <p:cNvSpPr>
              <a:spLocks noGrp="1"/>
            </p:cNvSpPr>
            <p:nvPr/>
          </p:nvSpPr>
          <p:spPr>
            <a:xfrm>
              <a:off x="9444419" y="151533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34" name="Find point output">
              <a:extLst>
                <a:ext uri="{FF2B5EF4-FFF2-40B4-BE49-F238E27FC236}">
                  <a16:creationId xmlns:a16="http://schemas.microsoft.com/office/drawing/2014/main" id="{E2AB92F8-FB1A-DF4D-C056-6A909BEA2DE1}"/>
                </a:ext>
              </a:extLst>
            </p:cNvPr>
            <p:cNvSpPr>
              <a:spLocks noGrp="1"/>
            </p:cNvSpPr>
            <p:nvPr/>
          </p:nvSpPr>
          <p:spPr>
            <a:xfrm>
              <a:off x="9235250" y="3107055"/>
              <a:ext cx="252508" cy="191"/>
            </a:xfrm>
            <a:custGeom>
              <a:avLst/>
              <a:gdLst/>
              <a:ahLst/>
              <a:cxnLst/>
              <a:rect l="0" t="0" r="0" b="0"/>
              <a:pathLst>
                <a:path w="252508" h="191">
                  <a:moveTo>
                    <a:pt x="0" y="0"/>
                  </a:moveTo>
                  <a:lnTo>
                    <a:pt x="252508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35" name="Find point output head">
              <a:extLst>
                <a:ext uri="{FF2B5EF4-FFF2-40B4-BE49-F238E27FC236}">
                  <a16:creationId xmlns:a16="http://schemas.microsoft.com/office/drawing/2014/main" id="{28B06725-C3FB-3373-8A56-A66D9CE3ECA7}"/>
                </a:ext>
              </a:extLst>
            </p:cNvPr>
            <p:cNvSpPr>
              <a:spLocks noGrp="1"/>
            </p:cNvSpPr>
            <p:nvPr/>
          </p:nvSpPr>
          <p:spPr>
            <a:xfrm>
              <a:off x="9444419" y="3078385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36" name="U-Net flow refined 1">
              <a:extLst>
                <a:ext uri="{FF2B5EF4-FFF2-40B4-BE49-F238E27FC236}">
                  <a16:creationId xmlns:a16="http://schemas.microsoft.com/office/drawing/2014/main" id="{5BDE2ECB-1CBA-ACB1-3426-F3E9F144A8A7}"/>
                </a:ext>
              </a:extLst>
            </p:cNvPr>
            <p:cNvSpPr>
              <a:spLocks noGrp="1"/>
            </p:cNvSpPr>
            <p:nvPr/>
          </p:nvSpPr>
          <p:spPr>
            <a:xfrm>
              <a:off x="4884420" y="1943100"/>
              <a:ext cx="71390" cy="191"/>
            </a:xfrm>
            <a:custGeom>
              <a:avLst/>
              <a:gdLst/>
              <a:ahLst/>
              <a:cxnLst/>
              <a:rect l="0" t="0" r="0" b="0"/>
              <a:pathLst>
                <a:path w="71390" h="191">
                  <a:moveTo>
                    <a:pt x="0" y="0"/>
                  </a:moveTo>
                  <a:lnTo>
                    <a:pt x="7139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37" name="U-Net flow refined 1 head">
              <a:extLst>
                <a:ext uri="{FF2B5EF4-FFF2-40B4-BE49-F238E27FC236}">
                  <a16:creationId xmlns:a16="http://schemas.microsoft.com/office/drawing/2014/main" id="{94C963B0-6292-D96E-8000-E5176CACF1B1}"/>
                </a:ext>
              </a:extLst>
            </p:cNvPr>
            <p:cNvSpPr>
              <a:spLocks noGrp="1"/>
            </p:cNvSpPr>
            <p:nvPr/>
          </p:nvSpPr>
          <p:spPr>
            <a:xfrm>
              <a:off x="492918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38" name="U-Net flow refined 2">
              <a:extLst>
                <a:ext uri="{FF2B5EF4-FFF2-40B4-BE49-F238E27FC236}">
                  <a16:creationId xmlns:a16="http://schemas.microsoft.com/office/drawing/2014/main" id="{6EDFECDB-834F-45E8-C447-187E68499D36}"/>
                </a:ext>
              </a:extLst>
            </p:cNvPr>
            <p:cNvSpPr>
              <a:spLocks noGrp="1"/>
            </p:cNvSpPr>
            <p:nvPr/>
          </p:nvSpPr>
          <p:spPr>
            <a:xfrm>
              <a:off x="5341620" y="1943100"/>
              <a:ext cx="61865" cy="191"/>
            </a:xfrm>
            <a:custGeom>
              <a:avLst/>
              <a:gdLst/>
              <a:ahLst/>
              <a:cxnLst/>
              <a:rect l="0" t="0" r="0" b="0"/>
              <a:pathLst>
                <a:path w="61865" h="191">
                  <a:moveTo>
                    <a:pt x="0" y="0"/>
                  </a:moveTo>
                  <a:lnTo>
                    <a:pt x="61865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39" name="U-Net flow refined 2 head">
              <a:extLst>
                <a:ext uri="{FF2B5EF4-FFF2-40B4-BE49-F238E27FC236}">
                  <a16:creationId xmlns:a16="http://schemas.microsoft.com/office/drawing/2014/main" id="{147D1FA6-05BE-3A5D-C1FE-78DB516DA9EB}"/>
                </a:ext>
              </a:extLst>
            </p:cNvPr>
            <p:cNvSpPr>
              <a:spLocks noGrp="1"/>
            </p:cNvSpPr>
            <p:nvPr/>
          </p:nvSpPr>
          <p:spPr>
            <a:xfrm>
              <a:off x="5376863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0" name="U-Net flow refined 3">
              <a:extLst>
                <a:ext uri="{FF2B5EF4-FFF2-40B4-BE49-F238E27FC236}">
                  <a16:creationId xmlns:a16="http://schemas.microsoft.com/office/drawing/2014/main" id="{7AF7CF23-54DF-A29D-2F07-D36A3F45EDD2}"/>
                </a:ext>
              </a:extLst>
            </p:cNvPr>
            <p:cNvSpPr>
              <a:spLocks noGrp="1"/>
            </p:cNvSpPr>
            <p:nvPr/>
          </p:nvSpPr>
          <p:spPr>
            <a:xfrm>
              <a:off x="5913120" y="1943100"/>
              <a:ext cx="185690" cy="191"/>
            </a:xfrm>
            <a:custGeom>
              <a:avLst/>
              <a:gdLst/>
              <a:ahLst/>
              <a:cxnLst/>
              <a:rect l="0" t="0" r="0" b="0"/>
              <a:pathLst>
                <a:path w="185690" h="191">
                  <a:moveTo>
                    <a:pt x="0" y="0"/>
                  </a:moveTo>
                  <a:lnTo>
                    <a:pt x="18569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1" name="U-Net flow refined 3 head">
              <a:extLst>
                <a:ext uri="{FF2B5EF4-FFF2-40B4-BE49-F238E27FC236}">
                  <a16:creationId xmlns:a16="http://schemas.microsoft.com/office/drawing/2014/main" id="{99F4C0B1-883D-15E1-DE1D-B9D0B602A47D}"/>
                </a:ext>
              </a:extLst>
            </p:cNvPr>
            <p:cNvSpPr>
              <a:spLocks noGrp="1"/>
            </p:cNvSpPr>
            <p:nvPr/>
          </p:nvSpPr>
          <p:spPr>
            <a:xfrm>
              <a:off x="607218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2" name="U-Net flow refined 4">
              <a:extLst>
                <a:ext uri="{FF2B5EF4-FFF2-40B4-BE49-F238E27FC236}">
                  <a16:creationId xmlns:a16="http://schemas.microsoft.com/office/drawing/2014/main" id="{1AB9AC41-CF99-6B25-72AE-CA5759E07BBC}"/>
                </a:ext>
              </a:extLst>
            </p:cNvPr>
            <p:cNvSpPr>
              <a:spLocks noGrp="1"/>
            </p:cNvSpPr>
            <p:nvPr/>
          </p:nvSpPr>
          <p:spPr>
            <a:xfrm>
              <a:off x="7189470" y="1943100"/>
              <a:ext cx="204740" cy="191"/>
            </a:xfrm>
            <a:custGeom>
              <a:avLst/>
              <a:gdLst/>
              <a:ahLst/>
              <a:cxnLst/>
              <a:rect l="0" t="0" r="0" b="0"/>
              <a:pathLst>
                <a:path w="204740" h="191">
                  <a:moveTo>
                    <a:pt x="0" y="0"/>
                  </a:moveTo>
                  <a:lnTo>
                    <a:pt x="20474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3" name="U-Net flow refined 4 head">
              <a:extLst>
                <a:ext uri="{FF2B5EF4-FFF2-40B4-BE49-F238E27FC236}">
                  <a16:creationId xmlns:a16="http://schemas.microsoft.com/office/drawing/2014/main" id="{8B74AF9E-166C-456E-8C30-81819473FD65}"/>
                </a:ext>
              </a:extLst>
            </p:cNvPr>
            <p:cNvSpPr>
              <a:spLocks noGrp="1"/>
            </p:cNvSpPr>
            <p:nvPr/>
          </p:nvSpPr>
          <p:spPr>
            <a:xfrm>
              <a:off x="736758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4" name="U-Net flow refined 5">
              <a:extLst>
                <a:ext uri="{FF2B5EF4-FFF2-40B4-BE49-F238E27FC236}">
                  <a16:creationId xmlns:a16="http://schemas.microsoft.com/office/drawing/2014/main" id="{1DF9FEC8-127A-C6BF-A242-5459B8B47514}"/>
                </a:ext>
              </a:extLst>
            </p:cNvPr>
            <p:cNvSpPr>
              <a:spLocks noGrp="1"/>
            </p:cNvSpPr>
            <p:nvPr/>
          </p:nvSpPr>
          <p:spPr>
            <a:xfrm>
              <a:off x="7913370" y="1943100"/>
              <a:ext cx="71390" cy="191"/>
            </a:xfrm>
            <a:custGeom>
              <a:avLst/>
              <a:gdLst/>
              <a:ahLst/>
              <a:cxnLst/>
              <a:rect l="0" t="0" r="0" b="0"/>
              <a:pathLst>
                <a:path w="71390" h="191">
                  <a:moveTo>
                    <a:pt x="0" y="0"/>
                  </a:moveTo>
                  <a:lnTo>
                    <a:pt x="7139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5" name="U-Net flow refined 5 head">
              <a:extLst>
                <a:ext uri="{FF2B5EF4-FFF2-40B4-BE49-F238E27FC236}">
                  <a16:creationId xmlns:a16="http://schemas.microsoft.com/office/drawing/2014/main" id="{235A2EBC-75E8-8D72-4A9D-B691D888DD1B}"/>
                </a:ext>
              </a:extLst>
            </p:cNvPr>
            <p:cNvSpPr>
              <a:spLocks noGrp="1"/>
            </p:cNvSpPr>
            <p:nvPr/>
          </p:nvSpPr>
          <p:spPr>
            <a:xfrm>
              <a:off x="795813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6" name="U-Net flow refined 6">
              <a:extLst>
                <a:ext uri="{FF2B5EF4-FFF2-40B4-BE49-F238E27FC236}">
                  <a16:creationId xmlns:a16="http://schemas.microsoft.com/office/drawing/2014/main" id="{E16F5364-FA67-8E77-55DD-31048ACFB369}"/>
                </a:ext>
              </a:extLst>
            </p:cNvPr>
            <p:cNvSpPr>
              <a:spLocks noGrp="1"/>
            </p:cNvSpPr>
            <p:nvPr/>
          </p:nvSpPr>
          <p:spPr>
            <a:xfrm>
              <a:off x="8351520" y="1943100"/>
              <a:ext cx="90440" cy="191"/>
            </a:xfrm>
            <a:custGeom>
              <a:avLst/>
              <a:gdLst/>
              <a:ahLst/>
              <a:cxnLst/>
              <a:rect l="0" t="0" r="0" b="0"/>
              <a:pathLst>
                <a:path w="90440" h="191">
                  <a:moveTo>
                    <a:pt x="0" y="0"/>
                  </a:moveTo>
                  <a:lnTo>
                    <a:pt x="9044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7" name="U-Net flow refined 6 head">
              <a:extLst>
                <a:ext uri="{FF2B5EF4-FFF2-40B4-BE49-F238E27FC236}">
                  <a16:creationId xmlns:a16="http://schemas.microsoft.com/office/drawing/2014/main" id="{CAB8405E-639F-441D-4076-97C5C8079141}"/>
                </a:ext>
              </a:extLst>
            </p:cNvPr>
            <p:cNvSpPr>
              <a:spLocks noGrp="1"/>
            </p:cNvSpPr>
            <p:nvPr/>
          </p:nvSpPr>
          <p:spPr>
            <a:xfrm>
              <a:off x="841533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8" name="Skip outer refined">
              <a:extLst>
                <a:ext uri="{FF2B5EF4-FFF2-40B4-BE49-F238E27FC236}">
                  <a16:creationId xmlns:a16="http://schemas.microsoft.com/office/drawing/2014/main" id="{FCEC7BC5-9C91-5A2D-286F-54CED1B58658}"/>
                </a:ext>
              </a:extLst>
            </p:cNvPr>
            <p:cNvSpPr>
              <a:spLocks noGrp="1"/>
            </p:cNvSpPr>
            <p:nvPr/>
          </p:nvSpPr>
          <p:spPr>
            <a:xfrm>
              <a:off x="4474845" y="1209675"/>
              <a:ext cx="4333875" cy="219075"/>
            </a:xfrm>
            <a:custGeom>
              <a:avLst/>
              <a:gdLst/>
              <a:ahLst/>
              <a:cxnLst/>
              <a:rect l="0" t="0" r="0" b="0"/>
              <a:pathLst>
                <a:path w="4333875" h="219075">
                  <a:moveTo>
                    <a:pt x="0" y="219075"/>
                  </a:moveTo>
                  <a:lnTo>
                    <a:pt x="0" y="0"/>
                  </a:lnTo>
                  <a:lnTo>
                    <a:pt x="4333875" y="0"/>
                  </a:lnTo>
                  <a:lnTo>
                    <a:pt x="4333875" y="204073"/>
                  </a:lnTo>
                </a:path>
              </a:pathLst>
            </a:custGeom>
            <a:noFill/>
            <a:ln w="5468">
              <a:solidFill>
                <a:srgbClr val="85AFCB"/>
              </a:solidFill>
              <a:prstDash val="dash"/>
            </a:ln>
          </p:spPr>
        </p:sp>
        <p:sp>
          <p:nvSpPr>
            <p:cNvPr id="1349" name="Skip outer refined head">
              <a:extLst>
                <a:ext uri="{FF2B5EF4-FFF2-40B4-BE49-F238E27FC236}">
                  <a16:creationId xmlns:a16="http://schemas.microsoft.com/office/drawing/2014/main" id="{D6AAD354-1253-F73A-1F09-0D42951F0AD2}"/>
                </a:ext>
              </a:extLst>
            </p:cNvPr>
            <p:cNvSpPr>
              <a:spLocks noGrp="1"/>
            </p:cNvSpPr>
            <p:nvPr/>
          </p:nvSpPr>
          <p:spPr>
            <a:xfrm>
              <a:off x="8790289" y="1385888"/>
              <a:ext cx="36862" cy="42863"/>
            </a:xfrm>
            <a:custGeom>
              <a:avLst/>
              <a:gdLst/>
              <a:ahLst/>
              <a:cxnLst/>
              <a:rect l="0" t="0" r="0" b="0"/>
              <a:pathLst>
                <a:path w="36862" h="42863">
                  <a:moveTo>
                    <a:pt x="18431" y="42863"/>
                  </a:moveTo>
                  <a:lnTo>
                    <a:pt x="368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FCB"/>
            </a:solidFill>
            <a:ln w="0">
              <a:noFill/>
              <a:prstDash val="solid"/>
            </a:ln>
          </p:spPr>
        </p:sp>
        <p:sp>
          <p:nvSpPr>
            <p:cNvPr id="1350" name="Skip middle refined">
              <a:extLst>
                <a:ext uri="{FF2B5EF4-FFF2-40B4-BE49-F238E27FC236}">
                  <a16:creationId xmlns:a16="http://schemas.microsoft.com/office/drawing/2014/main" id="{E944DD48-0E77-62B4-4E66-FC482D648DB0}"/>
                </a:ext>
              </a:extLst>
            </p:cNvPr>
            <p:cNvSpPr>
              <a:spLocks noGrp="1"/>
            </p:cNvSpPr>
            <p:nvPr/>
          </p:nvSpPr>
          <p:spPr>
            <a:xfrm>
              <a:off x="5113020" y="1295400"/>
              <a:ext cx="3067050" cy="266700"/>
            </a:xfrm>
            <a:custGeom>
              <a:avLst/>
              <a:gdLst/>
              <a:ahLst/>
              <a:cxnLst/>
              <a:rect l="0" t="0" r="0" b="0"/>
              <a:pathLst>
                <a:path w="3067050" h="266700">
                  <a:moveTo>
                    <a:pt x="0" y="266700"/>
                  </a:moveTo>
                  <a:lnTo>
                    <a:pt x="0" y="0"/>
                  </a:lnTo>
                  <a:lnTo>
                    <a:pt x="3067050" y="0"/>
                  </a:lnTo>
                  <a:lnTo>
                    <a:pt x="3067050" y="251698"/>
                  </a:lnTo>
                </a:path>
              </a:pathLst>
            </a:custGeom>
            <a:noFill/>
            <a:ln w="5468">
              <a:solidFill>
                <a:srgbClr val="85AFCB"/>
              </a:solidFill>
              <a:prstDash val="dash"/>
            </a:ln>
          </p:spPr>
        </p:sp>
        <p:sp>
          <p:nvSpPr>
            <p:cNvPr id="1351" name="Skip middle refined head">
              <a:extLst>
                <a:ext uri="{FF2B5EF4-FFF2-40B4-BE49-F238E27FC236}">
                  <a16:creationId xmlns:a16="http://schemas.microsoft.com/office/drawing/2014/main" id="{5D984C66-44F4-6C0C-29FA-C26BCC014DA5}"/>
                </a:ext>
              </a:extLst>
            </p:cNvPr>
            <p:cNvSpPr>
              <a:spLocks noGrp="1"/>
            </p:cNvSpPr>
            <p:nvPr/>
          </p:nvSpPr>
          <p:spPr>
            <a:xfrm>
              <a:off x="8161639" y="1519238"/>
              <a:ext cx="36862" cy="42863"/>
            </a:xfrm>
            <a:custGeom>
              <a:avLst/>
              <a:gdLst/>
              <a:ahLst/>
              <a:cxnLst/>
              <a:rect l="0" t="0" r="0" b="0"/>
              <a:pathLst>
                <a:path w="36862" h="42863">
                  <a:moveTo>
                    <a:pt x="18431" y="42863"/>
                  </a:moveTo>
                  <a:lnTo>
                    <a:pt x="368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FCB"/>
            </a:solidFill>
            <a:ln w="0">
              <a:noFill/>
              <a:prstDash val="solid"/>
            </a:ln>
          </p:spPr>
        </p:sp>
        <p:sp>
          <p:nvSpPr>
            <p:cNvPr id="1352" name="Skip inner refined">
              <a:extLst>
                <a:ext uri="{FF2B5EF4-FFF2-40B4-BE49-F238E27FC236}">
                  <a16:creationId xmlns:a16="http://schemas.microsoft.com/office/drawing/2014/main" id="{796339B7-CA5C-9A6F-F626-7D7B76227D0E}"/>
                </a:ext>
              </a:extLst>
            </p:cNvPr>
            <p:cNvSpPr>
              <a:spLocks noGrp="1"/>
            </p:cNvSpPr>
            <p:nvPr/>
          </p:nvSpPr>
          <p:spPr>
            <a:xfrm>
              <a:off x="5636895" y="1381125"/>
              <a:ext cx="2000250" cy="323850"/>
            </a:xfrm>
            <a:custGeom>
              <a:avLst/>
              <a:gdLst/>
              <a:ahLst/>
              <a:cxnLst/>
              <a:rect l="0" t="0" r="0" b="0"/>
              <a:pathLst>
                <a:path w="2000250" h="323850">
                  <a:moveTo>
                    <a:pt x="0" y="323850"/>
                  </a:moveTo>
                  <a:lnTo>
                    <a:pt x="0" y="0"/>
                  </a:lnTo>
                  <a:lnTo>
                    <a:pt x="2000250" y="0"/>
                  </a:lnTo>
                  <a:lnTo>
                    <a:pt x="2000250" y="308848"/>
                  </a:lnTo>
                </a:path>
              </a:pathLst>
            </a:custGeom>
            <a:noFill/>
            <a:ln w="5468">
              <a:solidFill>
                <a:srgbClr val="85AFCB"/>
              </a:solidFill>
              <a:prstDash val="dash"/>
            </a:ln>
          </p:spPr>
        </p:sp>
        <p:sp>
          <p:nvSpPr>
            <p:cNvPr id="1353" name="Skip inner refined head">
              <a:extLst>
                <a:ext uri="{FF2B5EF4-FFF2-40B4-BE49-F238E27FC236}">
                  <a16:creationId xmlns:a16="http://schemas.microsoft.com/office/drawing/2014/main" id="{5389494F-4196-1B0C-C069-F40391B0419B}"/>
                </a:ext>
              </a:extLst>
            </p:cNvPr>
            <p:cNvSpPr>
              <a:spLocks noGrp="1"/>
            </p:cNvSpPr>
            <p:nvPr/>
          </p:nvSpPr>
          <p:spPr>
            <a:xfrm>
              <a:off x="7618714" y="1662113"/>
              <a:ext cx="36862" cy="42863"/>
            </a:xfrm>
            <a:custGeom>
              <a:avLst/>
              <a:gdLst/>
              <a:ahLst/>
              <a:cxnLst/>
              <a:rect l="0" t="0" r="0" b="0"/>
              <a:pathLst>
                <a:path w="36862" h="42863">
                  <a:moveTo>
                    <a:pt x="18431" y="42863"/>
                  </a:moveTo>
                  <a:lnTo>
                    <a:pt x="368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FCB"/>
            </a:solidFill>
            <a:ln w="0">
              <a:noFill/>
              <a:prstDash val="solid"/>
            </a:ln>
          </p:spPr>
        </p:sp>
        <p:sp>
          <p:nvSpPr>
            <p:cNvPr id="1354" name="PTV3 forward refined 1">
              <a:extLst>
                <a:ext uri="{FF2B5EF4-FFF2-40B4-BE49-F238E27FC236}">
                  <a16:creationId xmlns:a16="http://schemas.microsoft.com/office/drawing/2014/main" id="{B0492619-D665-D0F6-7061-EDCBCE3DDA3A}"/>
                </a:ext>
              </a:extLst>
            </p:cNvPr>
            <p:cNvSpPr>
              <a:spLocks noGrp="1"/>
            </p:cNvSpPr>
            <p:nvPr/>
          </p:nvSpPr>
          <p:spPr>
            <a:xfrm>
              <a:off x="5002911" y="3106769"/>
              <a:ext cx="255746" cy="191"/>
            </a:xfrm>
            <a:custGeom>
              <a:avLst/>
              <a:gdLst/>
              <a:ahLst/>
              <a:cxnLst/>
              <a:rect l="0" t="0" r="0" b="0"/>
              <a:pathLst>
                <a:path w="255746" h="191">
                  <a:moveTo>
                    <a:pt x="0" y="0"/>
                  </a:moveTo>
                  <a:lnTo>
                    <a:pt x="255746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55" name="PTV3 forward refined 1 head">
              <a:extLst>
                <a:ext uri="{FF2B5EF4-FFF2-40B4-BE49-F238E27FC236}">
                  <a16:creationId xmlns:a16="http://schemas.microsoft.com/office/drawing/2014/main" id="{B7BCE76F-C831-1ABC-ADA2-90D7588CB987}"/>
                </a:ext>
              </a:extLst>
            </p:cNvPr>
            <p:cNvSpPr>
              <a:spLocks noGrp="1"/>
            </p:cNvSpPr>
            <p:nvPr/>
          </p:nvSpPr>
          <p:spPr>
            <a:xfrm>
              <a:off x="5215319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56" name="PTV3 forward refined 2">
              <a:extLst>
                <a:ext uri="{FF2B5EF4-FFF2-40B4-BE49-F238E27FC236}">
                  <a16:creationId xmlns:a16="http://schemas.microsoft.com/office/drawing/2014/main" id="{24AE15E3-3B2D-CC4A-618E-E9BB13DA2E16}"/>
                </a:ext>
              </a:extLst>
            </p:cNvPr>
            <p:cNvSpPr>
              <a:spLocks noGrp="1"/>
            </p:cNvSpPr>
            <p:nvPr/>
          </p:nvSpPr>
          <p:spPr>
            <a:xfrm>
              <a:off x="6007513" y="3106769"/>
              <a:ext cx="311563" cy="191"/>
            </a:xfrm>
            <a:custGeom>
              <a:avLst/>
              <a:gdLst/>
              <a:ahLst/>
              <a:cxnLst/>
              <a:rect l="0" t="0" r="0" b="0"/>
              <a:pathLst>
                <a:path w="311563" h="191">
                  <a:moveTo>
                    <a:pt x="0" y="0"/>
                  </a:moveTo>
                  <a:lnTo>
                    <a:pt x="311563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57" name="PTV3 forward refined 2 head">
              <a:extLst>
                <a:ext uri="{FF2B5EF4-FFF2-40B4-BE49-F238E27FC236}">
                  <a16:creationId xmlns:a16="http://schemas.microsoft.com/office/drawing/2014/main" id="{8007E90B-E49B-BC36-45F6-E1B46BA41A6C}"/>
                </a:ext>
              </a:extLst>
            </p:cNvPr>
            <p:cNvSpPr>
              <a:spLocks noGrp="1"/>
            </p:cNvSpPr>
            <p:nvPr/>
          </p:nvSpPr>
          <p:spPr>
            <a:xfrm>
              <a:off x="6275737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58" name="PTV3 forward refined 3">
              <a:extLst>
                <a:ext uri="{FF2B5EF4-FFF2-40B4-BE49-F238E27FC236}">
                  <a16:creationId xmlns:a16="http://schemas.microsoft.com/office/drawing/2014/main" id="{2D087525-2ABD-3A01-10DA-7F65FB2DD09A}"/>
                </a:ext>
              </a:extLst>
            </p:cNvPr>
            <p:cNvSpPr>
              <a:spLocks noGrp="1"/>
            </p:cNvSpPr>
            <p:nvPr/>
          </p:nvSpPr>
          <p:spPr>
            <a:xfrm>
              <a:off x="6993541" y="3106769"/>
              <a:ext cx="311563" cy="191"/>
            </a:xfrm>
            <a:custGeom>
              <a:avLst/>
              <a:gdLst/>
              <a:ahLst/>
              <a:cxnLst/>
              <a:rect l="0" t="0" r="0" b="0"/>
              <a:pathLst>
                <a:path w="311563" h="191">
                  <a:moveTo>
                    <a:pt x="0" y="0"/>
                  </a:moveTo>
                  <a:lnTo>
                    <a:pt x="311563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59" name="PTV3 forward refined 3 head">
              <a:extLst>
                <a:ext uri="{FF2B5EF4-FFF2-40B4-BE49-F238E27FC236}">
                  <a16:creationId xmlns:a16="http://schemas.microsoft.com/office/drawing/2014/main" id="{417DAC3E-DE7D-4EBD-83BF-06F7FB2A8085}"/>
                </a:ext>
              </a:extLst>
            </p:cNvPr>
            <p:cNvSpPr>
              <a:spLocks noGrp="1"/>
            </p:cNvSpPr>
            <p:nvPr/>
          </p:nvSpPr>
          <p:spPr>
            <a:xfrm>
              <a:off x="7261765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60" name="PTV3 forward refined 4">
              <a:extLst>
                <a:ext uri="{FF2B5EF4-FFF2-40B4-BE49-F238E27FC236}">
                  <a16:creationId xmlns:a16="http://schemas.microsoft.com/office/drawing/2014/main" id="{3F66A9B7-F35C-EB4C-B102-3F29A4296978}"/>
                </a:ext>
              </a:extLst>
            </p:cNvPr>
            <p:cNvSpPr>
              <a:spLocks noGrp="1"/>
            </p:cNvSpPr>
            <p:nvPr/>
          </p:nvSpPr>
          <p:spPr>
            <a:xfrm>
              <a:off x="8053864" y="3106769"/>
              <a:ext cx="255746" cy="191"/>
            </a:xfrm>
            <a:custGeom>
              <a:avLst/>
              <a:gdLst/>
              <a:ahLst/>
              <a:cxnLst/>
              <a:rect l="0" t="0" r="0" b="0"/>
              <a:pathLst>
                <a:path w="255746" h="191">
                  <a:moveTo>
                    <a:pt x="0" y="0"/>
                  </a:moveTo>
                  <a:lnTo>
                    <a:pt x="255746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61" name="PTV3 forward refined 4 head">
              <a:extLst>
                <a:ext uri="{FF2B5EF4-FFF2-40B4-BE49-F238E27FC236}">
                  <a16:creationId xmlns:a16="http://schemas.microsoft.com/office/drawing/2014/main" id="{4634E7DB-F8E3-B989-4F8D-785672F195B4}"/>
                </a:ext>
              </a:extLst>
            </p:cNvPr>
            <p:cNvSpPr>
              <a:spLocks noGrp="1"/>
            </p:cNvSpPr>
            <p:nvPr/>
          </p:nvSpPr>
          <p:spPr>
            <a:xfrm>
              <a:off x="8266271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62" name="Fusion refined 487.16">
              <a:extLst>
                <a:ext uri="{FF2B5EF4-FFF2-40B4-BE49-F238E27FC236}">
                  <a16:creationId xmlns:a16="http://schemas.microsoft.com/office/drawing/2014/main" id="{0FF19FA3-F74F-0EF3-2637-6AA25406EF88}"/>
                </a:ext>
              </a:extLst>
            </p:cNvPr>
            <p:cNvSpPr>
              <a:spLocks noGrp="1"/>
            </p:cNvSpPr>
            <p:nvPr/>
          </p:nvSpPr>
          <p:spPr>
            <a:xfrm>
              <a:off x="4640199" y="2418493"/>
              <a:ext cx="191" cy="404527"/>
            </a:xfrm>
            <a:custGeom>
              <a:avLst/>
              <a:gdLst/>
              <a:ahLst/>
              <a:cxnLst/>
              <a:rect l="0" t="0" r="0" b="0"/>
              <a:pathLst>
                <a:path w="191" h="404527">
                  <a:moveTo>
                    <a:pt x="0" y="0"/>
                  </a:moveTo>
                  <a:lnTo>
                    <a:pt x="0" y="404527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3" name="Fusion refined 487.16 head">
              <a:extLst>
                <a:ext uri="{FF2B5EF4-FFF2-40B4-BE49-F238E27FC236}">
                  <a16:creationId xmlns:a16="http://schemas.microsoft.com/office/drawing/2014/main" id="{3D13397A-1EED-4CCF-C88D-62A5EFCF622C}"/>
                </a:ext>
              </a:extLst>
            </p:cNvPr>
            <p:cNvSpPr>
              <a:spLocks noGrp="1"/>
            </p:cNvSpPr>
            <p:nvPr/>
          </p:nvSpPr>
          <p:spPr>
            <a:xfrm>
              <a:off x="4611529" y="277968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64" name="Fusion refined 700.05">
              <a:extLst>
                <a:ext uri="{FF2B5EF4-FFF2-40B4-BE49-F238E27FC236}">
                  <a16:creationId xmlns:a16="http://schemas.microsoft.com/office/drawing/2014/main" id="{F3328C85-8D10-5BAE-F06A-A042F88B4457}"/>
                </a:ext>
              </a:extLst>
            </p:cNvPr>
            <p:cNvSpPr>
              <a:spLocks noGrp="1"/>
            </p:cNvSpPr>
            <p:nvPr/>
          </p:nvSpPr>
          <p:spPr>
            <a:xfrm>
              <a:off x="6667976" y="2418493"/>
              <a:ext cx="191" cy="404527"/>
            </a:xfrm>
            <a:custGeom>
              <a:avLst/>
              <a:gdLst/>
              <a:ahLst/>
              <a:cxnLst/>
              <a:rect l="0" t="0" r="0" b="0"/>
              <a:pathLst>
                <a:path w="191" h="404527">
                  <a:moveTo>
                    <a:pt x="0" y="0"/>
                  </a:moveTo>
                  <a:lnTo>
                    <a:pt x="0" y="404527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5" name="Fusion refined 700.05 head">
              <a:extLst>
                <a:ext uri="{FF2B5EF4-FFF2-40B4-BE49-F238E27FC236}">
                  <a16:creationId xmlns:a16="http://schemas.microsoft.com/office/drawing/2014/main" id="{615DF42F-7A96-D005-2B04-2E5B83AF189A}"/>
                </a:ext>
              </a:extLst>
            </p:cNvPr>
            <p:cNvSpPr>
              <a:spLocks noGrp="1"/>
            </p:cNvSpPr>
            <p:nvPr/>
          </p:nvSpPr>
          <p:spPr>
            <a:xfrm>
              <a:off x="6639306" y="277968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66" name="Fusion refined 912.94">
              <a:extLst>
                <a:ext uri="{FF2B5EF4-FFF2-40B4-BE49-F238E27FC236}">
                  <a16:creationId xmlns:a16="http://schemas.microsoft.com/office/drawing/2014/main" id="{8F954EB4-FAB9-9DC0-DCA1-6E84B625ECD7}"/>
                </a:ext>
              </a:extLst>
            </p:cNvPr>
            <p:cNvSpPr>
              <a:spLocks noGrp="1"/>
            </p:cNvSpPr>
            <p:nvPr/>
          </p:nvSpPr>
          <p:spPr>
            <a:xfrm>
              <a:off x="8695754" y="2418493"/>
              <a:ext cx="191" cy="404527"/>
            </a:xfrm>
            <a:custGeom>
              <a:avLst/>
              <a:gdLst/>
              <a:ahLst/>
              <a:cxnLst/>
              <a:rect l="0" t="0" r="0" b="0"/>
              <a:pathLst>
                <a:path w="191" h="404527">
                  <a:moveTo>
                    <a:pt x="0" y="0"/>
                  </a:moveTo>
                  <a:lnTo>
                    <a:pt x="0" y="404527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7" name="Fusion refined 912.94 head">
              <a:extLst>
                <a:ext uri="{FF2B5EF4-FFF2-40B4-BE49-F238E27FC236}">
                  <a16:creationId xmlns:a16="http://schemas.microsoft.com/office/drawing/2014/main" id="{DDC6F6E8-2600-F9F0-8C4C-DF220F079064}"/>
                </a:ext>
              </a:extLst>
            </p:cNvPr>
            <p:cNvSpPr>
              <a:spLocks noGrp="1"/>
            </p:cNvSpPr>
            <p:nvPr/>
          </p:nvSpPr>
          <p:spPr>
            <a:xfrm>
              <a:off x="8667083" y="277968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68" name="Recycle right refined">
              <a:extLst>
                <a:ext uri="{FF2B5EF4-FFF2-40B4-BE49-F238E27FC236}">
                  <a16:creationId xmlns:a16="http://schemas.microsoft.com/office/drawing/2014/main" id="{D9AFE2A4-7629-8D55-72A2-74513ED16554}"/>
                </a:ext>
              </a:extLst>
            </p:cNvPr>
            <p:cNvSpPr>
              <a:spLocks noGrp="1"/>
            </p:cNvSpPr>
            <p:nvPr/>
          </p:nvSpPr>
          <p:spPr>
            <a:xfrm>
              <a:off x="7151656" y="3385852"/>
              <a:ext cx="1544098" cy="241840"/>
            </a:xfrm>
            <a:custGeom>
              <a:avLst/>
              <a:gdLst/>
              <a:ahLst/>
              <a:cxnLst/>
              <a:rect l="0" t="0" r="0" b="0"/>
              <a:pathLst>
                <a:path w="1544098" h="241840">
                  <a:moveTo>
                    <a:pt x="1544098" y="0"/>
                  </a:moveTo>
                  <a:lnTo>
                    <a:pt x="1544098" y="241840"/>
                  </a:lnTo>
                  <a:lnTo>
                    <a:pt x="0" y="24184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9" name="Recycle left refined">
              <a:extLst>
                <a:ext uri="{FF2B5EF4-FFF2-40B4-BE49-F238E27FC236}">
                  <a16:creationId xmlns:a16="http://schemas.microsoft.com/office/drawing/2014/main" id="{9E9F6AF5-6C88-4D6A-4EB6-AE11098D540D}"/>
                </a:ext>
              </a:extLst>
            </p:cNvPr>
            <p:cNvSpPr>
              <a:spLocks noGrp="1"/>
            </p:cNvSpPr>
            <p:nvPr/>
          </p:nvSpPr>
          <p:spPr>
            <a:xfrm>
              <a:off x="4640199" y="3409188"/>
              <a:ext cx="1544098" cy="218503"/>
            </a:xfrm>
            <a:custGeom>
              <a:avLst/>
              <a:gdLst/>
              <a:ahLst/>
              <a:cxnLst/>
              <a:rect l="0" t="0" r="0" b="0"/>
              <a:pathLst>
                <a:path w="1544098" h="218503">
                  <a:moveTo>
                    <a:pt x="1544098" y="218503"/>
                  </a:moveTo>
                  <a:lnTo>
                    <a:pt x="0" y="218503"/>
                  </a:lnTo>
                  <a:lnTo>
                    <a:pt x="0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70" name="Recycle left refined head">
              <a:extLst>
                <a:ext uri="{FF2B5EF4-FFF2-40B4-BE49-F238E27FC236}">
                  <a16:creationId xmlns:a16="http://schemas.microsoft.com/office/drawing/2014/main" id="{FC70626C-9297-3774-289D-8C74BAB81591}"/>
                </a:ext>
              </a:extLst>
            </p:cNvPr>
            <p:cNvSpPr>
              <a:spLocks noGrp="1"/>
            </p:cNvSpPr>
            <p:nvPr/>
          </p:nvSpPr>
          <p:spPr>
            <a:xfrm>
              <a:off x="4611529" y="338585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0"/>
                  </a:moveTo>
                  <a:lnTo>
                    <a:pt x="0" y="66675"/>
                  </a:lnTo>
                  <a:lnTo>
                    <a:pt x="57340" y="66675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71" name="Crop to summary refined">
              <a:extLst>
                <a:ext uri="{FF2B5EF4-FFF2-40B4-BE49-F238E27FC236}">
                  <a16:creationId xmlns:a16="http://schemas.microsoft.com/office/drawing/2014/main" id="{23964A60-5300-B32A-CC8C-9F9A10909522}"/>
                </a:ext>
              </a:extLst>
            </p:cNvPr>
            <p:cNvSpPr>
              <a:spLocks noGrp="1"/>
            </p:cNvSpPr>
            <p:nvPr/>
          </p:nvSpPr>
          <p:spPr>
            <a:xfrm>
              <a:off x="3471767" y="6064758"/>
              <a:ext cx="1148715" cy="191"/>
            </a:xfrm>
            <a:custGeom>
              <a:avLst/>
              <a:gdLst/>
              <a:ahLst/>
              <a:cxnLst/>
              <a:rect l="0" t="0" r="0" b="0"/>
              <a:pathLst>
                <a:path w="1148715" h="191">
                  <a:moveTo>
                    <a:pt x="0" y="0"/>
                  </a:moveTo>
                  <a:lnTo>
                    <a:pt x="1148715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72" name="Crop to summary refined head">
              <a:extLst>
                <a:ext uri="{FF2B5EF4-FFF2-40B4-BE49-F238E27FC236}">
                  <a16:creationId xmlns:a16="http://schemas.microsoft.com/office/drawing/2014/main" id="{864E15CB-81EF-2FAC-14F2-E25D89F29346}"/>
                </a:ext>
              </a:extLst>
            </p:cNvPr>
            <p:cNvSpPr>
              <a:spLocks noGrp="1"/>
            </p:cNvSpPr>
            <p:nvPr/>
          </p:nvSpPr>
          <p:spPr>
            <a:xfrm>
              <a:off x="4577144" y="6036088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73" name="Input split refined">
              <a:extLst>
                <a:ext uri="{FF2B5EF4-FFF2-40B4-BE49-F238E27FC236}">
                  <a16:creationId xmlns:a16="http://schemas.microsoft.com/office/drawing/2014/main" id="{B4BBBDF4-6774-1D2C-95B2-F3B88AB1C869}"/>
                </a:ext>
              </a:extLst>
            </p:cNvPr>
            <p:cNvSpPr>
              <a:spLocks noGrp="1"/>
            </p:cNvSpPr>
            <p:nvPr/>
          </p:nvSpPr>
          <p:spPr>
            <a:xfrm>
              <a:off x="1965008" y="7793355"/>
              <a:ext cx="846772" cy="160020"/>
            </a:xfrm>
            <a:custGeom>
              <a:avLst/>
              <a:gdLst/>
              <a:ahLst/>
              <a:cxnLst/>
              <a:rect l="0" t="0" r="0" b="0"/>
              <a:pathLst>
                <a:path w="846772" h="160020">
                  <a:moveTo>
                    <a:pt x="846772" y="0"/>
                  </a:moveTo>
                  <a:lnTo>
                    <a:pt x="846772" y="160020"/>
                  </a:lnTo>
                  <a:lnTo>
                    <a:pt x="0" y="16002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4" name="Input split right refined">
              <a:extLst>
                <a:ext uri="{FF2B5EF4-FFF2-40B4-BE49-F238E27FC236}">
                  <a16:creationId xmlns:a16="http://schemas.microsoft.com/office/drawing/2014/main" id="{950F0CCA-2F88-9AFF-22D8-DAA7ACB6176C}"/>
                </a:ext>
              </a:extLst>
            </p:cNvPr>
            <p:cNvSpPr>
              <a:spLocks noGrp="1"/>
            </p:cNvSpPr>
            <p:nvPr/>
          </p:nvSpPr>
          <p:spPr>
            <a:xfrm>
              <a:off x="2811780" y="7953375"/>
              <a:ext cx="827723" cy="191"/>
            </a:xfrm>
            <a:custGeom>
              <a:avLst/>
              <a:gdLst/>
              <a:ahLst/>
              <a:cxnLst/>
              <a:rect l="0" t="0" r="0" b="0"/>
              <a:pathLst>
                <a:path w="827723" h="191">
                  <a:moveTo>
                    <a:pt x="0" y="0"/>
                  </a:moveTo>
                  <a:lnTo>
                    <a:pt x="827723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5" name="Inputs to pool refined">
              <a:extLst>
                <a:ext uri="{FF2B5EF4-FFF2-40B4-BE49-F238E27FC236}">
                  <a16:creationId xmlns:a16="http://schemas.microsoft.com/office/drawing/2014/main" id="{B22E0EF3-FD19-0826-1822-07182CC69FC5}"/>
                </a:ext>
              </a:extLst>
            </p:cNvPr>
            <p:cNvSpPr>
              <a:spLocks noGrp="1"/>
            </p:cNvSpPr>
            <p:nvPr/>
          </p:nvSpPr>
          <p:spPr>
            <a:xfrm>
              <a:off x="1965008" y="7953375"/>
              <a:ext cx="191" cy="143732"/>
            </a:xfrm>
            <a:custGeom>
              <a:avLst/>
              <a:gdLst/>
              <a:ahLst/>
              <a:cxnLst/>
              <a:rect l="0" t="0" r="0" b="0"/>
              <a:pathLst>
                <a:path w="191" h="143732">
                  <a:moveTo>
                    <a:pt x="0" y="0"/>
                  </a:moveTo>
                  <a:lnTo>
                    <a:pt x="0" y="14373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6" name="Inputs to pool refined head">
              <a:extLst>
                <a:ext uri="{FF2B5EF4-FFF2-40B4-BE49-F238E27FC236}">
                  <a16:creationId xmlns:a16="http://schemas.microsoft.com/office/drawing/2014/main" id="{CA70B1F6-4A00-BABC-2972-012866989961}"/>
                </a:ext>
              </a:extLst>
            </p:cNvPr>
            <p:cNvSpPr>
              <a:spLocks noGrp="1"/>
            </p:cNvSpPr>
            <p:nvPr/>
          </p:nvSpPr>
          <p:spPr>
            <a:xfrm>
              <a:off x="1936337" y="8053769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77" name="Inputs to attention refined">
              <a:extLst>
                <a:ext uri="{FF2B5EF4-FFF2-40B4-BE49-F238E27FC236}">
                  <a16:creationId xmlns:a16="http://schemas.microsoft.com/office/drawing/2014/main" id="{08F1A61E-3B0E-8BF6-7F27-5CCE4D22C59A}"/>
                </a:ext>
              </a:extLst>
            </p:cNvPr>
            <p:cNvSpPr>
              <a:spLocks noGrp="1"/>
            </p:cNvSpPr>
            <p:nvPr/>
          </p:nvSpPr>
          <p:spPr>
            <a:xfrm>
              <a:off x="3639503" y="7953375"/>
              <a:ext cx="191" cy="143732"/>
            </a:xfrm>
            <a:custGeom>
              <a:avLst/>
              <a:gdLst/>
              <a:ahLst/>
              <a:cxnLst/>
              <a:rect l="0" t="0" r="0" b="0"/>
              <a:pathLst>
                <a:path w="191" h="143732">
                  <a:moveTo>
                    <a:pt x="0" y="0"/>
                  </a:moveTo>
                  <a:lnTo>
                    <a:pt x="0" y="14373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8" name="Inputs to attention refined head">
              <a:extLst>
                <a:ext uri="{FF2B5EF4-FFF2-40B4-BE49-F238E27FC236}">
                  <a16:creationId xmlns:a16="http://schemas.microsoft.com/office/drawing/2014/main" id="{4A8E2717-7DBF-7A20-898F-8A4B8D99C916}"/>
                </a:ext>
              </a:extLst>
            </p:cNvPr>
            <p:cNvSpPr>
              <a:spLocks noGrp="1"/>
            </p:cNvSpPr>
            <p:nvPr/>
          </p:nvSpPr>
          <p:spPr>
            <a:xfrm>
              <a:off x="3610832" y="8053769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83" name="MLP to FiLM refined">
              <a:extLst>
                <a:ext uri="{FF2B5EF4-FFF2-40B4-BE49-F238E27FC236}">
                  <a16:creationId xmlns:a16="http://schemas.microsoft.com/office/drawing/2014/main" id="{2C7C678A-F3D0-E51D-2CD6-B41E5CBA7774}"/>
                </a:ext>
              </a:extLst>
            </p:cNvPr>
            <p:cNvSpPr>
              <a:spLocks noGrp="1"/>
            </p:cNvSpPr>
            <p:nvPr/>
          </p:nvSpPr>
          <p:spPr>
            <a:xfrm>
              <a:off x="3210878" y="8968264"/>
              <a:ext cx="1502569" cy="191"/>
            </a:xfrm>
            <a:custGeom>
              <a:avLst/>
              <a:gdLst/>
              <a:ahLst/>
              <a:cxnLst/>
              <a:rect l="0" t="0" r="0" b="0"/>
              <a:pathLst>
                <a:path w="1502569" h="191">
                  <a:moveTo>
                    <a:pt x="0" y="0"/>
                  </a:moveTo>
                  <a:lnTo>
                    <a:pt x="1502569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84" name="MLP to FiLM refined head">
              <a:extLst>
                <a:ext uri="{FF2B5EF4-FFF2-40B4-BE49-F238E27FC236}">
                  <a16:creationId xmlns:a16="http://schemas.microsoft.com/office/drawing/2014/main" id="{E62BF4CB-2DFB-E34F-0A43-259454CA6416}"/>
                </a:ext>
              </a:extLst>
            </p:cNvPr>
            <p:cNvSpPr>
              <a:spLocks noGrp="1"/>
            </p:cNvSpPr>
            <p:nvPr/>
          </p:nvSpPr>
          <p:spPr>
            <a:xfrm>
              <a:off x="4670108" y="8939594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85" name="Summary to FiLM refined">
              <a:extLst>
                <a:ext uri="{FF2B5EF4-FFF2-40B4-BE49-F238E27FC236}">
                  <a16:creationId xmlns:a16="http://schemas.microsoft.com/office/drawing/2014/main" id="{4AD6C56A-E9C3-F934-64AC-D936F1D8505E}"/>
                </a:ext>
              </a:extLst>
            </p:cNvPr>
            <p:cNvSpPr>
              <a:spLocks noGrp="1"/>
            </p:cNvSpPr>
            <p:nvPr/>
          </p:nvSpPr>
          <p:spPr>
            <a:xfrm>
              <a:off x="5090160" y="6400800"/>
              <a:ext cx="191" cy="2367439"/>
            </a:xfrm>
            <a:custGeom>
              <a:avLst/>
              <a:gdLst/>
              <a:ahLst/>
              <a:cxnLst/>
              <a:rect l="0" t="0" r="0" b="0"/>
              <a:pathLst>
                <a:path w="191" h="2367439">
                  <a:moveTo>
                    <a:pt x="0" y="0"/>
                  </a:moveTo>
                  <a:lnTo>
                    <a:pt x="0" y="2367439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86" name="Summary to FiLM refined head">
              <a:extLst>
                <a:ext uri="{FF2B5EF4-FFF2-40B4-BE49-F238E27FC236}">
                  <a16:creationId xmlns:a16="http://schemas.microsoft.com/office/drawing/2014/main" id="{EEAEF4BF-5039-6C23-B675-9771749FE17A}"/>
                </a:ext>
              </a:extLst>
            </p:cNvPr>
            <p:cNvSpPr>
              <a:spLocks noGrp="1"/>
            </p:cNvSpPr>
            <p:nvPr/>
          </p:nvSpPr>
          <p:spPr>
            <a:xfrm>
              <a:off x="5061490" y="8724900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87" name="Summary to cross attention refined">
              <a:extLst>
                <a:ext uri="{FF2B5EF4-FFF2-40B4-BE49-F238E27FC236}">
                  <a16:creationId xmlns:a16="http://schemas.microsoft.com/office/drawing/2014/main" id="{EFD90DBF-A222-410E-15F3-D541CA16A8AE}"/>
                </a:ext>
              </a:extLst>
            </p:cNvPr>
            <p:cNvSpPr>
              <a:spLocks noGrp="1"/>
            </p:cNvSpPr>
            <p:nvPr/>
          </p:nvSpPr>
          <p:spPr>
            <a:xfrm>
              <a:off x="4425315" y="8297132"/>
              <a:ext cx="664845" cy="191"/>
            </a:xfrm>
            <a:custGeom>
              <a:avLst/>
              <a:gdLst/>
              <a:ahLst/>
              <a:cxnLst/>
              <a:rect l="0" t="0" r="0" b="0"/>
              <a:pathLst>
                <a:path w="664845" h="191">
                  <a:moveTo>
                    <a:pt x="664845" y="0"/>
                  </a:moveTo>
                  <a:lnTo>
                    <a:pt x="0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88" name="Summary to cross attention refined head">
              <a:extLst>
                <a:ext uri="{FF2B5EF4-FFF2-40B4-BE49-F238E27FC236}">
                  <a16:creationId xmlns:a16="http://schemas.microsoft.com/office/drawing/2014/main" id="{91B08F31-0339-9716-3395-2B3F8970BA82}"/>
                </a:ext>
              </a:extLst>
            </p:cNvPr>
            <p:cNvSpPr>
              <a:spLocks noGrp="1"/>
            </p:cNvSpPr>
            <p:nvPr/>
          </p:nvSpPr>
          <p:spPr>
            <a:xfrm>
              <a:off x="4401979" y="82684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0" y="28670"/>
                  </a:moveTo>
                  <a:lnTo>
                    <a:pt x="66675" y="5734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89" name="FiLM to candidate refined">
              <a:extLst>
                <a:ext uri="{FF2B5EF4-FFF2-40B4-BE49-F238E27FC236}">
                  <a16:creationId xmlns:a16="http://schemas.microsoft.com/office/drawing/2014/main" id="{25FC3F76-C3DD-1537-7837-64B9361AE243}"/>
                </a:ext>
              </a:extLst>
            </p:cNvPr>
            <p:cNvSpPr>
              <a:spLocks noGrp="1"/>
            </p:cNvSpPr>
            <p:nvPr/>
          </p:nvSpPr>
          <p:spPr>
            <a:xfrm>
              <a:off x="5090160" y="9144953"/>
              <a:ext cx="191" cy="215360"/>
            </a:xfrm>
            <a:custGeom>
              <a:avLst/>
              <a:gdLst/>
              <a:ahLst/>
              <a:cxnLst/>
              <a:rect l="0" t="0" r="0" b="0"/>
              <a:pathLst>
                <a:path w="191" h="215360">
                  <a:moveTo>
                    <a:pt x="0" y="0"/>
                  </a:moveTo>
                  <a:lnTo>
                    <a:pt x="0" y="21536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0" name="FiLM to candidate refined head">
              <a:extLst>
                <a:ext uri="{FF2B5EF4-FFF2-40B4-BE49-F238E27FC236}">
                  <a16:creationId xmlns:a16="http://schemas.microsoft.com/office/drawing/2014/main" id="{7A05C2E3-B0E7-7DA8-4847-EC91C004D35D}"/>
                </a:ext>
              </a:extLst>
            </p:cNvPr>
            <p:cNvSpPr>
              <a:spLocks noGrp="1"/>
            </p:cNvSpPr>
            <p:nvPr/>
          </p:nvSpPr>
          <p:spPr>
            <a:xfrm>
              <a:off x="5061490" y="9316974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1" name="Candidate to foreground refined">
              <a:extLst>
                <a:ext uri="{FF2B5EF4-FFF2-40B4-BE49-F238E27FC236}">
                  <a16:creationId xmlns:a16="http://schemas.microsoft.com/office/drawing/2014/main" id="{FE203BD6-3778-87C2-8526-E332B5B380C4}"/>
                </a:ext>
              </a:extLst>
            </p:cNvPr>
            <p:cNvSpPr>
              <a:spLocks noGrp="1"/>
            </p:cNvSpPr>
            <p:nvPr/>
          </p:nvSpPr>
          <p:spPr>
            <a:xfrm>
              <a:off x="2281142" y="9525000"/>
              <a:ext cx="2809018" cy="286702"/>
            </a:xfrm>
            <a:custGeom>
              <a:avLst/>
              <a:gdLst/>
              <a:ahLst/>
              <a:cxnLst/>
              <a:rect l="0" t="0" r="0" b="0"/>
              <a:pathLst>
                <a:path w="2809018" h="286702">
                  <a:moveTo>
                    <a:pt x="2809018" y="0"/>
                  </a:moveTo>
                  <a:lnTo>
                    <a:pt x="2809018" y="95250"/>
                  </a:lnTo>
                  <a:lnTo>
                    <a:pt x="0" y="95250"/>
                  </a:lnTo>
                  <a:lnTo>
                    <a:pt x="0" y="28670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2" name="Candidate to foreground refined head">
              <a:extLst>
                <a:ext uri="{FF2B5EF4-FFF2-40B4-BE49-F238E27FC236}">
                  <a16:creationId xmlns:a16="http://schemas.microsoft.com/office/drawing/2014/main" id="{D2B7433A-243E-C206-1CB1-3F191E6AD029}"/>
                </a:ext>
              </a:extLst>
            </p:cNvPr>
            <p:cNvSpPr>
              <a:spLocks noGrp="1"/>
            </p:cNvSpPr>
            <p:nvPr/>
          </p:nvSpPr>
          <p:spPr>
            <a:xfrm>
              <a:off x="2252472" y="9768364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3" name="Foreground to probability refined">
              <a:extLst>
                <a:ext uri="{FF2B5EF4-FFF2-40B4-BE49-F238E27FC236}">
                  <a16:creationId xmlns:a16="http://schemas.microsoft.com/office/drawing/2014/main" id="{D5A6B998-ADFA-E982-8C35-E6D90114C21C}"/>
                </a:ext>
              </a:extLst>
            </p:cNvPr>
            <p:cNvSpPr>
              <a:spLocks noGrp="1"/>
            </p:cNvSpPr>
            <p:nvPr/>
          </p:nvSpPr>
          <p:spPr>
            <a:xfrm>
              <a:off x="3081147" y="9971532"/>
              <a:ext cx="600742" cy="191"/>
            </a:xfrm>
            <a:custGeom>
              <a:avLst/>
              <a:gdLst/>
              <a:ahLst/>
              <a:cxnLst/>
              <a:rect l="0" t="0" r="0" b="0"/>
              <a:pathLst>
                <a:path w="600742" h="191">
                  <a:moveTo>
                    <a:pt x="0" y="0"/>
                  </a:moveTo>
                  <a:lnTo>
                    <a:pt x="600742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4" name="Foreground to probability refined head">
              <a:extLst>
                <a:ext uri="{FF2B5EF4-FFF2-40B4-BE49-F238E27FC236}">
                  <a16:creationId xmlns:a16="http://schemas.microsoft.com/office/drawing/2014/main" id="{660BE4D6-2608-6E09-7FF4-AD7C50994699}"/>
                </a:ext>
              </a:extLst>
            </p:cNvPr>
            <p:cNvSpPr>
              <a:spLocks noGrp="1"/>
            </p:cNvSpPr>
            <p:nvPr/>
          </p:nvSpPr>
          <p:spPr>
            <a:xfrm>
              <a:off x="3638550" y="99428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5" name="Candidate to cosine refined">
              <a:extLst>
                <a:ext uri="{FF2B5EF4-FFF2-40B4-BE49-F238E27FC236}">
                  <a16:creationId xmlns:a16="http://schemas.microsoft.com/office/drawing/2014/main" id="{22A5040B-9402-AB7D-9094-F4BF5F10ADD2}"/>
                </a:ext>
              </a:extLst>
            </p:cNvPr>
            <p:cNvSpPr>
              <a:spLocks noGrp="1"/>
            </p:cNvSpPr>
            <p:nvPr/>
          </p:nvSpPr>
          <p:spPr>
            <a:xfrm>
              <a:off x="5090160" y="9525000"/>
              <a:ext cx="2143887" cy="446532"/>
            </a:xfrm>
            <a:custGeom>
              <a:avLst/>
              <a:gdLst/>
              <a:ahLst/>
              <a:cxnLst/>
              <a:rect l="0" t="0" r="0" b="0"/>
              <a:pathLst>
                <a:path w="2143887" h="446532">
                  <a:moveTo>
                    <a:pt x="0" y="0"/>
                  </a:moveTo>
                  <a:lnTo>
                    <a:pt x="0" y="446532"/>
                  </a:lnTo>
                  <a:lnTo>
                    <a:pt x="2143887" y="44653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6" name="Candidate to cosine refined head">
              <a:extLst>
                <a:ext uri="{FF2B5EF4-FFF2-40B4-BE49-F238E27FC236}">
                  <a16:creationId xmlns:a16="http://schemas.microsoft.com/office/drawing/2014/main" id="{D0F3AAE9-EBC0-FC07-AF0A-FBDAD938D93E}"/>
                </a:ext>
              </a:extLst>
            </p:cNvPr>
            <p:cNvSpPr>
              <a:spLocks noGrp="1"/>
            </p:cNvSpPr>
            <p:nvPr/>
          </p:nvSpPr>
          <p:spPr>
            <a:xfrm>
              <a:off x="7190708" y="99428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7" name="Selected identity to graph refined">
              <a:extLst>
                <a:ext uri="{FF2B5EF4-FFF2-40B4-BE49-F238E27FC236}">
                  <a16:creationId xmlns:a16="http://schemas.microsoft.com/office/drawing/2014/main" id="{2545D43E-9B8D-BA3E-80CD-880BD63B35AE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6134481"/>
              <a:ext cx="651129" cy="595217"/>
            </a:xfrm>
            <a:custGeom>
              <a:avLst/>
              <a:gdLst/>
              <a:ahLst/>
              <a:cxnLst/>
              <a:rect l="0" t="0" r="0" b="0"/>
              <a:pathLst>
                <a:path w="651129" h="595217">
                  <a:moveTo>
                    <a:pt x="651129" y="0"/>
                  </a:moveTo>
                  <a:lnTo>
                    <a:pt x="0" y="0"/>
                  </a:lnTo>
                  <a:lnTo>
                    <a:pt x="0" y="59521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8" name="Selected identity to graph refined head">
              <a:extLst>
                <a:ext uri="{FF2B5EF4-FFF2-40B4-BE49-F238E27FC236}">
                  <a16:creationId xmlns:a16="http://schemas.microsoft.com/office/drawing/2014/main" id="{2F033F6F-AC85-37DE-479C-D063C3DB8E25}"/>
                </a:ext>
              </a:extLst>
            </p:cNvPr>
            <p:cNvSpPr>
              <a:spLocks noGrp="1"/>
            </p:cNvSpPr>
            <p:nvPr/>
          </p:nvSpPr>
          <p:spPr>
            <a:xfrm>
              <a:off x="6596158" y="6686360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9" name="Graph to GNN refined">
              <a:extLst>
                <a:ext uri="{FF2B5EF4-FFF2-40B4-BE49-F238E27FC236}">
                  <a16:creationId xmlns:a16="http://schemas.microsoft.com/office/drawing/2014/main" id="{7EF864D3-D6E3-5180-82C2-0A0AE886C150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7441406"/>
              <a:ext cx="191" cy="153448"/>
            </a:xfrm>
            <a:custGeom>
              <a:avLst/>
              <a:gdLst/>
              <a:ahLst/>
              <a:cxnLst/>
              <a:rect l="0" t="0" r="0" b="0"/>
              <a:pathLst>
                <a:path w="191" h="153448">
                  <a:moveTo>
                    <a:pt x="0" y="0"/>
                  </a:moveTo>
                  <a:lnTo>
                    <a:pt x="0" y="153448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0" name="Graph to GNN refined head">
              <a:extLst>
                <a:ext uri="{FF2B5EF4-FFF2-40B4-BE49-F238E27FC236}">
                  <a16:creationId xmlns:a16="http://schemas.microsoft.com/office/drawing/2014/main" id="{B23BD653-4893-2671-9B86-7F888A6E5617}"/>
                </a:ext>
              </a:extLst>
            </p:cNvPr>
            <p:cNvSpPr>
              <a:spLocks noGrp="1"/>
            </p:cNvSpPr>
            <p:nvPr/>
          </p:nvSpPr>
          <p:spPr>
            <a:xfrm>
              <a:off x="6596158" y="7551515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1" name="GNN to graph attention refined">
              <a:extLst>
                <a:ext uri="{FF2B5EF4-FFF2-40B4-BE49-F238E27FC236}">
                  <a16:creationId xmlns:a16="http://schemas.microsoft.com/office/drawing/2014/main" id="{B0DCC1B2-7C1A-332C-0127-08382278DBC6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7934420"/>
              <a:ext cx="191" cy="274320"/>
            </a:xfrm>
            <a:custGeom>
              <a:avLst/>
              <a:gdLst/>
              <a:ahLst/>
              <a:cxnLst/>
              <a:rect l="0" t="0" r="0" b="0"/>
              <a:pathLst>
                <a:path w="191" h="274320">
                  <a:moveTo>
                    <a:pt x="0" y="0"/>
                  </a:moveTo>
                  <a:lnTo>
                    <a:pt x="0" y="27432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2" name="GNN to graph attention refined head">
              <a:extLst>
                <a:ext uri="{FF2B5EF4-FFF2-40B4-BE49-F238E27FC236}">
                  <a16:creationId xmlns:a16="http://schemas.microsoft.com/office/drawing/2014/main" id="{F5D1A0D2-1869-EB89-61A3-D3ABFE580C35}"/>
                </a:ext>
              </a:extLst>
            </p:cNvPr>
            <p:cNvSpPr>
              <a:spLocks noGrp="1"/>
            </p:cNvSpPr>
            <p:nvPr/>
          </p:nvSpPr>
          <p:spPr>
            <a:xfrm>
              <a:off x="6596158" y="816540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3" name="Identity to SMI-TED refined">
              <a:extLst>
                <a:ext uri="{FF2B5EF4-FFF2-40B4-BE49-F238E27FC236}">
                  <a16:creationId xmlns:a16="http://schemas.microsoft.com/office/drawing/2014/main" id="{416B661C-118E-CA99-59DC-DA4857A74E2E}"/>
                </a:ext>
              </a:extLst>
            </p:cNvPr>
            <p:cNvSpPr>
              <a:spLocks noGrp="1"/>
            </p:cNvSpPr>
            <p:nvPr/>
          </p:nvSpPr>
          <p:spPr>
            <a:xfrm>
              <a:off x="8194929" y="6638068"/>
              <a:ext cx="191" cy="326993"/>
            </a:xfrm>
            <a:custGeom>
              <a:avLst/>
              <a:gdLst/>
              <a:ahLst/>
              <a:cxnLst/>
              <a:rect l="0" t="0" r="0" b="0"/>
              <a:pathLst>
                <a:path w="191" h="326993">
                  <a:moveTo>
                    <a:pt x="0" y="0"/>
                  </a:moveTo>
                  <a:lnTo>
                    <a:pt x="0" y="326993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4" name="Identity to SMI-TED refined head">
              <a:extLst>
                <a:ext uri="{FF2B5EF4-FFF2-40B4-BE49-F238E27FC236}">
                  <a16:creationId xmlns:a16="http://schemas.microsoft.com/office/drawing/2014/main" id="{0BA2F96A-2AFB-7C00-99C8-78C9DC78B848}"/>
                </a:ext>
              </a:extLst>
            </p:cNvPr>
            <p:cNvSpPr>
              <a:spLocks noGrp="1"/>
            </p:cNvSpPr>
            <p:nvPr/>
          </p:nvSpPr>
          <p:spPr>
            <a:xfrm>
              <a:off x="8166259" y="692172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5" name="SMI-TED to language refined">
              <a:extLst>
                <a:ext uri="{FF2B5EF4-FFF2-40B4-BE49-F238E27FC236}">
                  <a16:creationId xmlns:a16="http://schemas.microsoft.com/office/drawing/2014/main" id="{688B9630-847C-74A2-04EF-D75E08D7E423}"/>
                </a:ext>
              </a:extLst>
            </p:cNvPr>
            <p:cNvSpPr>
              <a:spLocks noGrp="1"/>
            </p:cNvSpPr>
            <p:nvPr/>
          </p:nvSpPr>
          <p:spPr>
            <a:xfrm>
              <a:off x="8194929" y="7304627"/>
              <a:ext cx="191" cy="1013841"/>
            </a:xfrm>
            <a:custGeom>
              <a:avLst/>
              <a:gdLst/>
              <a:ahLst/>
              <a:cxnLst/>
              <a:rect l="0" t="0" r="0" b="0"/>
              <a:pathLst>
                <a:path w="191" h="1013841">
                  <a:moveTo>
                    <a:pt x="0" y="0"/>
                  </a:moveTo>
                  <a:lnTo>
                    <a:pt x="0" y="1013841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6" name="SMI-TED to language refined head">
              <a:extLst>
                <a:ext uri="{FF2B5EF4-FFF2-40B4-BE49-F238E27FC236}">
                  <a16:creationId xmlns:a16="http://schemas.microsoft.com/office/drawing/2014/main" id="{7251A2B8-D12B-A433-6B0D-10AA76953AAB}"/>
                </a:ext>
              </a:extLst>
            </p:cNvPr>
            <p:cNvSpPr>
              <a:spLocks noGrp="1"/>
            </p:cNvSpPr>
            <p:nvPr/>
          </p:nvSpPr>
          <p:spPr>
            <a:xfrm>
              <a:off x="8166259" y="8275130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7" name="Other identities refined">
              <a:extLst>
                <a:ext uri="{FF2B5EF4-FFF2-40B4-BE49-F238E27FC236}">
                  <a16:creationId xmlns:a16="http://schemas.microsoft.com/office/drawing/2014/main" id="{A4787BA6-E950-16B8-B01A-9B4C92E13C7A}"/>
                </a:ext>
              </a:extLst>
            </p:cNvPr>
            <p:cNvSpPr>
              <a:spLocks noGrp="1"/>
            </p:cNvSpPr>
            <p:nvPr/>
          </p:nvSpPr>
          <p:spPr>
            <a:xfrm>
              <a:off x="9173528" y="5581174"/>
              <a:ext cx="613886" cy="1373695"/>
            </a:xfrm>
            <a:custGeom>
              <a:avLst/>
              <a:gdLst/>
              <a:ahLst/>
              <a:cxnLst/>
              <a:rect l="0" t="0" r="0" b="0"/>
              <a:pathLst>
                <a:path w="613886" h="1373695">
                  <a:moveTo>
                    <a:pt x="0" y="0"/>
                  </a:moveTo>
                  <a:lnTo>
                    <a:pt x="613886" y="0"/>
                  </a:lnTo>
                  <a:lnTo>
                    <a:pt x="613886" y="1373695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8" name="Other identities refined head">
              <a:extLst>
                <a:ext uri="{FF2B5EF4-FFF2-40B4-BE49-F238E27FC236}">
                  <a16:creationId xmlns:a16="http://schemas.microsoft.com/office/drawing/2014/main" id="{9D094DDB-3471-ECAC-BCA5-E9612E620328}"/>
                </a:ext>
              </a:extLst>
            </p:cNvPr>
            <p:cNvSpPr>
              <a:spLocks noGrp="1"/>
            </p:cNvSpPr>
            <p:nvPr/>
          </p:nvSpPr>
          <p:spPr>
            <a:xfrm>
              <a:off x="9758744" y="691153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9" name="Other identities middle refined">
              <a:extLst>
                <a:ext uri="{FF2B5EF4-FFF2-40B4-BE49-F238E27FC236}">
                  <a16:creationId xmlns:a16="http://schemas.microsoft.com/office/drawing/2014/main" id="{43A875F1-64CC-3AE0-16D0-832B017C6CB3}"/>
                </a:ext>
              </a:extLst>
            </p:cNvPr>
            <p:cNvSpPr>
              <a:spLocks noGrp="1"/>
            </p:cNvSpPr>
            <p:nvPr/>
          </p:nvSpPr>
          <p:spPr>
            <a:xfrm>
              <a:off x="9173528" y="5851112"/>
              <a:ext cx="613886" cy="191"/>
            </a:xfrm>
            <a:custGeom>
              <a:avLst/>
              <a:gdLst/>
              <a:ahLst/>
              <a:cxnLst/>
              <a:rect l="0" t="0" r="0" b="0"/>
              <a:pathLst>
                <a:path w="613886" h="191">
                  <a:moveTo>
                    <a:pt x="0" y="0"/>
                  </a:moveTo>
                  <a:lnTo>
                    <a:pt x="613886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0" name="Other identities lower refined">
              <a:extLst>
                <a:ext uri="{FF2B5EF4-FFF2-40B4-BE49-F238E27FC236}">
                  <a16:creationId xmlns:a16="http://schemas.microsoft.com/office/drawing/2014/main" id="{D83A070A-E1D1-4067-2310-74DC30F9F921}"/>
                </a:ext>
              </a:extLst>
            </p:cNvPr>
            <p:cNvSpPr>
              <a:spLocks noGrp="1"/>
            </p:cNvSpPr>
            <p:nvPr/>
          </p:nvSpPr>
          <p:spPr>
            <a:xfrm>
              <a:off x="9173528" y="6533293"/>
              <a:ext cx="613886" cy="191"/>
            </a:xfrm>
            <a:custGeom>
              <a:avLst/>
              <a:gdLst/>
              <a:ahLst/>
              <a:cxnLst/>
              <a:rect l="0" t="0" r="0" b="0"/>
              <a:pathLst>
                <a:path w="613886" h="191">
                  <a:moveTo>
                    <a:pt x="0" y="0"/>
                  </a:moveTo>
                  <a:lnTo>
                    <a:pt x="613886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1" name="Context SMI-TED to matrix refined">
              <a:extLst>
                <a:ext uri="{FF2B5EF4-FFF2-40B4-BE49-F238E27FC236}">
                  <a16:creationId xmlns:a16="http://schemas.microsoft.com/office/drawing/2014/main" id="{3BA39657-BA55-8B03-4B42-2E8CA0F2402A}"/>
                </a:ext>
              </a:extLst>
            </p:cNvPr>
            <p:cNvSpPr>
              <a:spLocks noGrp="1"/>
            </p:cNvSpPr>
            <p:nvPr/>
          </p:nvSpPr>
          <p:spPr>
            <a:xfrm>
              <a:off x="9797891" y="7294436"/>
              <a:ext cx="191" cy="264128"/>
            </a:xfrm>
            <a:custGeom>
              <a:avLst/>
              <a:gdLst/>
              <a:ahLst/>
              <a:cxnLst/>
              <a:rect l="0" t="0" r="0" b="0"/>
              <a:pathLst>
                <a:path w="191" h="264128">
                  <a:moveTo>
                    <a:pt x="0" y="0"/>
                  </a:moveTo>
                  <a:lnTo>
                    <a:pt x="0" y="264128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2" name="Context SMI-TED to matrix refined head">
              <a:extLst>
                <a:ext uri="{FF2B5EF4-FFF2-40B4-BE49-F238E27FC236}">
                  <a16:creationId xmlns:a16="http://schemas.microsoft.com/office/drawing/2014/main" id="{46BBCF7E-77B7-430B-5E68-8D5D4D07C9BA}"/>
                </a:ext>
              </a:extLst>
            </p:cNvPr>
            <p:cNvSpPr>
              <a:spLocks noGrp="1"/>
            </p:cNvSpPr>
            <p:nvPr/>
          </p:nvSpPr>
          <p:spPr>
            <a:xfrm>
              <a:off x="9769221" y="7515225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3" name="Context matrix to attention refined">
              <a:extLst>
                <a:ext uri="{FF2B5EF4-FFF2-40B4-BE49-F238E27FC236}">
                  <a16:creationId xmlns:a16="http://schemas.microsoft.com/office/drawing/2014/main" id="{19123C2B-08C0-5942-5974-56E3DB290164}"/>
                </a:ext>
              </a:extLst>
            </p:cNvPr>
            <p:cNvSpPr>
              <a:spLocks noGrp="1"/>
            </p:cNvSpPr>
            <p:nvPr/>
          </p:nvSpPr>
          <p:spPr>
            <a:xfrm>
              <a:off x="9787414" y="7958995"/>
              <a:ext cx="191" cy="249745"/>
            </a:xfrm>
            <a:custGeom>
              <a:avLst/>
              <a:gdLst/>
              <a:ahLst/>
              <a:cxnLst/>
              <a:rect l="0" t="0" r="0" b="0"/>
              <a:pathLst>
                <a:path w="191" h="249745">
                  <a:moveTo>
                    <a:pt x="0" y="0"/>
                  </a:moveTo>
                  <a:lnTo>
                    <a:pt x="0" y="249745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4" name="Context matrix to attention refined head">
              <a:extLst>
                <a:ext uri="{FF2B5EF4-FFF2-40B4-BE49-F238E27FC236}">
                  <a16:creationId xmlns:a16="http://schemas.microsoft.com/office/drawing/2014/main" id="{F6D726DD-707A-38A3-9C89-49061435E2BF}"/>
                </a:ext>
              </a:extLst>
            </p:cNvPr>
            <p:cNvSpPr>
              <a:spLocks noGrp="1"/>
            </p:cNvSpPr>
            <p:nvPr/>
          </p:nvSpPr>
          <p:spPr>
            <a:xfrm>
              <a:off x="9758744" y="816540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5" name="Language query left refined">
              <a:extLst>
                <a:ext uri="{FF2B5EF4-FFF2-40B4-BE49-F238E27FC236}">
                  <a16:creationId xmlns:a16="http://schemas.microsoft.com/office/drawing/2014/main" id="{739AFAAD-E669-E2AC-687E-E59FC6E7FAD2}"/>
                </a:ext>
              </a:extLst>
            </p:cNvPr>
            <p:cNvSpPr>
              <a:spLocks noGrp="1"/>
            </p:cNvSpPr>
            <p:nvPr/>
          </p:nvSpPr>
          <p:spPr>
            <a:xfrm>
              <a:off x="7373684" y="8408765"/>
              <a:ext cx="479012" cy="191"/>
            </a:xfrm>
            <a:custGeom>
              <a:avLst/>
              <a:gdLst/>
              <a:ahLst/>
              <a:cxnLst/>
              <a:rect l="0" t="0" r="0" b="0"/>
              <a:pathLst>
                <a:path w="479012" h="191">
                  <a:moveTo>
                    <a:pt x="479012" y="0"/>
                  </a:moveTo>
                  <a:lnTo>
                    <a:pt x="0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6" name="Language query left refined head">
              <a:extLst>
                <a:ext uri="{FF2B5EF4-FFF2-40B4-BE49-F238E27FC236}">
                  <a16:creationId xmlns:a16="http://schemas.microsoft.com/office/drawing/2014/main" id="{98D92A42-D662-B44C-CD57-583BDD75174C}"/>
                </a:ext>
              </a:extLst>
            </p:cNvPr>
            <p:cNvSpPr>
              <a:spLocks noGrp="1"/>
            </p:cNvSpPr>
            <p:nvPr/>
          </p:nvSpPr>
          <p:spPr>
            <a:xfrm>
              <a:off x="7350347" y="8380095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0" y="28670"/>
                  </a:moveTo>
                  <a:lnTo>
                    <a:pt x="66675" y="5734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7" name="Language query right refined">
              <a:extLst>
                <a:ext uri="{FF2B5EF4-FFF2-40B4-BE49-F238E27FC236}">
                  <a16:creationId xmlns:a16="http://schemas.microsoft.com/office/drawing/2014/main" id="{97C332FD-B4F7-4A69-7F24-BE35ED3CC233}"/>
                </a:ext>
              </a:extLst>
            </p:cNvPr>
            <p:cNvSpPr>
              <a:spLocks noGrp="1"/>
            </p:cNvSpPr>
            <p:nvPr/>
          </p:nvSpPr>
          <p:spPr>
            <a:xfrm>
              <a:off x="8522399" y="8408765"/>
              <a:ext cx="478917" cy="191"/>
            </a:xfrm>
            <a:custGeom>
              <a:avLst/>
              <a:gdLst/>
              <a:ahLst/>
              <a:cxnLst/>
              <a:rect l="0" t="0" r="0" b="0"/>
              <a:pathLst>
                <a:path w="478917" h="191">
                  <a:moveTo>
                    <a:pt x="0" y="0"/>
                  </a:moveTo>
                  <a:lnTo>
                    <a:pt x="478917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8" name="Language query right refined head">
              <a:extLst>
                <a:ext uri="{FF2B5EF4-FFF2-40B4-BE49-F238E27FC236}">
                  <a16:creationId xmlns:a16="http://schemas.microsoft.com/office/drawing/2014/main" id="{4B6A3B32-B3D1-5F9B-FDB9-6517BE3635C2}"/>
                </a:ext>
              </a:extLst>
            </p:cNvPr>
            <p:cNvSpPr>
              <a:spLocks noGrp="1"/>
            </p:cNvSpPr>
            <p:nvPr/>
          </p:nvSpPr>
          <p:spPr>
            <a:xfrm>
              <a:off x="8957977" y="8380095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9" name="Language to fusion refined">
              <a:extLst>
                <a:ext uri="{FF2B5EF4-FFF2-40B4-BE49-F238E27FC236}">
                  <a16:creationId xmlns:a16="http://schemas.microsoft.com/office/drawing/2014/main" id="{CC1BD470-88ED-E459-BC64-3926AF1B81FC}"/>
                </a:ext>
              </a:extLst>
            </p:cNvPr>
            <p:cNvSpPr>
              <a:spLocks noGrp="1"/>
            </p:cNvSpPr>
            <p:nvPr/>
          </p:nvSpPr>
          <p:spPr>
            <a:xfrm>
              <a:off x="8187500" y="8475726"/>
              <a:ext cx="191" cy="281845"/>
            </a:xfrm>
            <a:custGeom>
              <a:avLst/>
              <a:gdLst/>
              <a:ahLst/>
              <a:cxnLst/>
              <a:rect l="0" t="0" r="0" b="0"/>
              <a:pathLst>
                <a:path w="191" h="281845">
                  <a:moveTo>
                    <a:pt x="0" y="0"/>
                  </a:moveTo>
                  <a:lnTo>
                    <a:pt x="0" y="281845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0" name="Language to fusion refined head">
              <a:extLst>
                <a:ext uri="{FF2B5EF4-FFF2-40B4-BE49-F238E27FC236}">
                  <a16:creationId xmlns:a16="http://schemas.microsoft.com/office/drawing/2014/main" id="{7DE28A53-D82C-C158-A00E-484E630E57C6}"/>
                </a:ext>
              </a:extLst>
            </p:cNvPr>
            <p:cNvSpPr>
              <a:spLocks noGrp="1"/>
            </p:cNvSpPr>
            <p:nvPr/>
          </p:nvSpPr>
          <p:spPr>
            <a:xfrm>
              <a:off x="8158829" y="871423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1" name="Graph attention to fusion refined">
              <a:extLst>
                <a:ext uri="{FF2B5EF4-FFF2-40B4-BE49-F238E27FC236}">
                  <a16:creationId xmlns:a16="http://schemas.microsoft.com/office/drawing/2014/main" id="{9DE07E88-6455-6397-3B15-5E2794D66EC1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8585549"/>
              <a:ext cx="1092899" cy="362807"/>
            </a:xfrm>
            <a:custGeom>
              <a:avLst/>
              <a:gdLst/>
              <a:ahLst/>
              <a:cxnLst/>
              <a:rect l="0" t="0" r="0" b="0"/>
              <a:pathLst>
                <a:path w="1092899" h="362807">
                  <a:moveTo>
                    <a:pt x="0" y="0"/>
                  </a:moveTo>
                  <a:lnTo>
                    <a:pt x="0" y="362807"/>
                  </a:lnTo>
                  <a:lnTo>
                    <a:pt x="1092899" y="36280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2" name="Graph attention to fusion refined head">
              <a:extLst>
                <a:ext uri="{FF2B5EF4-FFF2-40B4-BE49-F238E27FC236}">
                  <a16:creationId xmlns:a16="http://schemas.microsoft.com/office/drawing/2014/main" id="{80249588-4991-7EA9-C183-E31DFF970425}"/>
                </a:ext>
              </a:extLst>
            </p:cNvPr>
            <p:cNvSpPr>
              <a:spLocks noGrp="1"/>
            </p:cNvSpPr>
            <p:nvPr/>
          </p:nvSpPr>
          <p:spPr>
            <a:xfrm>
              <a:off x="7674388" y="8919686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3" name="Context attention to fusion refined">
              <a:extLst>
                <a:ext uri="{FF2B5EF4-FFF2-40B4-BE49-F238E27FC236}">
                  <a16:creationId xmlns:a16="http://schemas.microsoft.com/office/drawing/2014/main" id="{EB1CDE84-2AAC-05C7-2AC2-7F0CD69C4010}"/>
                </a:ext>
              </a:extLst>
            </p:cNvPr>
            <p:cNvSpPr>
              <a:spLocks noGrp="1"/>
            </p:cNvSpPr>
            <p:nvPr/>
          </p:nvSpPr>
          <p:spPr>
            <a:xfrm>
              <a:off x="8657368" y="8585549"/>
              <a:ext cx="1130046" cy="362807"/>
            </a:xfrm>
            <a:custGeom>
              <a:avLst/>
              <a:gdLst/>
              <a:ahLst/>
              <a:cxnLst/>
              <a:rect l="0" t="0" r="0" b="0"/>
              <a:pathLst>
                <a:path w="1130046" h="362807">
                  <a:moveTo>
                    <a:pt x="1130046" y="0"/>
                  </a:moveTo>
                  <a:lnTo>
                    <a:pt x="1130046" y="362807"/>
                  </a:lnTo>
                  <a:lnTo>
                    <a:pt x="0" y="36280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4" name="Context attention to fusion refined head">
              <a:extLst>
                <a:ext uri="{FF2B5EF4-FFF2-40B4-BE49-F238E27FC236}">
                  <a16:creationId xmlns:a16="http://schemas.microsoft.com/office/drawing/2014/main" id="{2AAA0335-3D51-EA88-2522-F717A483BF32}"/>
                </a:ext>
              </a:extLst>
            </p:cNvPr>
            <p:cNvSpPr>
              <a:spLocks noGrp="1"/>
            </p:cNvSpPr>
            <p:nvPr/>
          </p:nvSpPr>
          <p:spPr>
            <a:xfrm>
              <a:off x="8634032" y="8919686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0" y="28670"/>
                  </a:moveTo>
                  <a:lnTo>
                    <a:pt x="66675" y="5734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5" name="Fusion to identity vector refined">
              <a:extLst>
                <a:ext uri="{FF2B5EF4-FFF2-40B4-BE49-F238E27FC236}">
                  <a16:creationId xmlns:a16="http://schemas.microsoft.com/office/drawing/2014/main" id="{67958AAC-3FC5-4E94-249E-68F363396C6E}"/>
                </a:ext>
              </a:extLst>
            </p:cNvPr>
            <p:cNvSpPr>
              <a:spLocks noGrp="1"/>
            </p:cNvSpPr>
            <p:nvPr/>
          </p:nvSpPr>
          <p:spPr>
            <a:xfrm>
              <a:off x="8187500" y="9115806"/>
              <a:ext cx="191" cy="244507"/>
            </a:xfrm>
            <a:custGeom>
              <a:avLst/>
              <a:gdLst/>
              <a:ahLst/>
              <a:cxnLst/>
              <a:rect l="0" t="0" r="0" b="0"/>
              <a:pathLst>
                <a:path w="191" h="244507">
                  <a:moveTo>
                    <a:pt x="0" y="0"/>
                  </a:moveTo>
                  <a:lnTo>
                    <a:pt x="0" y="24450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6" name="Fusion to identity vector refined head">
              <a:extLst>
                <a:ext uri="{FF2B5EF4-FFF2-40B4-BE49-F238E27FC236}">
                  <a16:creationId xmlns:a16="http://schemas.microsoft.com/office/drawing/2014/main" id="{5B85A195-1A68-48DC-E553-B1E99915D03B}"/>
                </a:ext>
              </a:extLst>
            </p:cNvPr>
            <p:cNvSpPr>
              <a:spLocks noGrp="1"/>
            </p:cNvSpPr>
            <p:nvPr/>
          </p:nvSpPr>
          <p:spPr>
            <a:xfrm>
              <a:off x="8158829" y="9316974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7" name="Identity vector to cosine refined">
              <a:extLst>
                <a:ext uri="{FF2B5EF4-FFF2-40B4-BE49-F238E27FC236}">
                  <a16:creationId xmlns:a16="http://schemas.microsoft.com/office/drawing/2014/main" id="{DDE80B97-A909-A736-F258-523B74319AC3}"/>
                </a:ext>
              </a:extLst>
            </p:cNvPr>
            <p:cNvSpPr>
              <a:spLocks noGrp="1"/>
            </p:cNvSpPr>
            <p:nvPr/>
          </p:nvSpPr>
          <p:spPr>
            <a:xfrm>
              <a:off x="8187500" y="9517571"/>
              <a:ext cx="191" cy="253841"/>
            </a:xfrm>
            <a:custGeom>
              <a:avLst/>
              <a:gdLst/>
              <a:ahLst/>
              <a:cxnLst/>
              <a:rect l="0" t="0" r="0" b="0"/>
              <a:pathLst>
                <a:path w="191" h="253841">
                  <a:moveTo>
                    <a:pt x="0" y="0"/>
                  </a:moveTo>
                  <a:lnTo>
                    <a:pt x="0" y="253841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8" name="Identity vector to cosine refined head">
              <a:extLst>
                <a:ext uri="{FF2B5EF4-FFF2-40B4-BE49-F238E27FC236}">
                  <a16:creationId xmlns:a16="http://schemas.microsoft.com/office/drawing/2014/main" id="{E490B029-346A-A57E-7B15-889C23CE6281}"/>
                </a:ext>
              </a:extLst>
            </p:cNvPr>
            <p:cNvSpPr>
              <a:spLocks noGrp="1"/>
            </p:cNvSpPr>
            <p:nvPr/>
          </p:nvSpPr>
          <p:spPr>
            <a:xfrm>
              <a:off x="8158829" y="9728073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9" name="Cosine to score matrix refined">
              <a:extLst>
                <a:ext uri="{FF2B5EF4-FFF2-40B4-BE49-F238E27FC236}">
                  <a16:creationId xmlns:a16="http://schemas.microsoft.com/office/drawing/2014/main" id="{B53F289C-77E1-6513-62C8-F939A23BF1B2}"/>
                </a:ext>
              </a:extLst>
            </p:cNvPr>
            <p:cNvSpPr>
              <a:spLocks noGrp="1"/>
            </p:cNvSpPr>
            <p:nvPr/>
          </p:nvSpPr>
          <p:spPr>
            <a:xfrm>
              <a:off x="8596884" y="9971532"/>
              <a:ext cx="619030" cy="191"/>
            </a:xfrm>
            <a:custGeom>
              <a:avLst/>
              <a:gdLst/>
              <a:ahLst/>
              <a:cxnLst/>
              <a:rect l="0" t="0" r="0" b="0"/>
              <a:pathLst>
                <a:path w="619030" h="191">
                  <a:moveTo>
                    <a:pt x="0" y="0"/>
                  </a:moveTo>
                  <a:lnTo>
                    <a:pt x="619030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30" name="Cosine to score matrix refined head">
              <a:extLst>
                <a:ext uri="{FF2B5EF4-FFF2-40B4-BE49-F238E27FC236}">
                  <a16:creationId xmlns:a16="http://schemas.microsoft.com/office/drawing/2014/main" id="{7D1ABF5A-29C9-76A4-1903-E132A41C0C6D}"/>
                </a:ext>
              </a:extLst>
            </p:cNvPr>
            <p:cNvSpPr>
              <a:spLocks noGrp="1"/>
            </p:cNvSpPr>
            <p:nvPr/>
          </p:nvSpPr>
          <p:spPr>
            <a:xfrm>
              <a:off x="9172575" y="99428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</p:grpSp>
      <p:pic>
        <p:nvPicPr>
          <p:cNvPr id="1435" name="Find clear receptor" descr="Receptor cartoon rendered from unchanged local coordinates, chain C1 of the 9LLG CA2 model.">
            <a:extLst>
              <a:ext uri="{FF2B5EF4-FFF2-40B4-BE49-F238E27FC236}">
                <a16:creationId xmlns:a16="http://schemas.microsoft.com/office/drawing/2014/main" id="{24C88AB2-5918-0F4D-EDE6-0D89FC02F100}"/>
              </a:ext>
            </a:extLst>
          </p:cNvPr>
          <p:cNvPicPr/>
          <p:nvPr/>
        </p:nvPicPr>
        <p:blipFill>
          <a:blip r:embed="rId8"/>
          <a:srcRect l="16857" t="30389" r="19786" b="22500"/>
          <a:stretch>
            <a:fillRect/>
          </a:stretch>
        </p:blipFill>
        <p:spPr>
          <a:xfrm>
            <a:off x="546207" y="1226607"/>
            <a:ext cx="477913" cy="456900"/>
          </a:xfrm>
          <a:prstGeom prst="rect">
            <a:avLst/>
          </a:prstGeom>
        </p:spPr>
      </p:pic>
      <p:pic>
        <p:nvPicPr>
          <p:cNvPr id="1436" name="Match clear receptor" descr="Receptor cartoon rendered from unchanged local coordinates, chain C1 of the 9LLG CA2 model.">
            <a:extLst>
              <a:ext uri="{FF2B5EF4-FFF2-40B4-BE49-F238E27FC236}">
                <a16:creationId xmlns:a16="http://schemas.microsoft.com/office/drawing/2014/main" id="{515E1CE9-4EFA-F96B-A08A-C6C2EC64DC6F}"/>
              </a:ext>
            </a:extLst>
          </p:cNvPr>
          <p:cNvPicPr/>
          <p:nvPr/>
        </p:nvPicPr>
        <p:blipFill>
          <a:blip r:embed="rId8"/>
          <a:srcRect l="16857" t="30389" r="19786" b="22500"/>
          <a:stretch>
            <a:fillRect/>
          </a:stretch>
        </p:blipFill>
        <p:spPr>
          <a:xfrm>
            <a:off x="582406" y="2388765"/>
            <a:ext cx="332109" cy="317507"/>
          </a:xfrm>
          <a:prstGeom prst="rect">
            <a:avLst/>
          </a:prstGeom>
        </p:spPr>
      </p:pic>
      <p:pic>
        <p:nvPicPr>
          <p:cNvPr id="1437" name="a | 56-channel tensor stack" descr="Synthetic voxel-grid density schematic">
            <a:extLst>
              <a:ext uri="{FF2B5EF4-FFF2-40B4-BE49-F238E27FC236}">
                <a16:creationId xmlns:a16="http://schemas.microsoft.com/office/drawing/2014/main" id="{64B2259B-4593-C74C-1994-5CCAF189A8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48575" y="566797"/>
            <a:ext cx="343801" cy="237886"/>
          </a:xfrm>
          <a:prstGeom prst="rect">
            <a:avLst/>
          </a:prstGeom>
        </p:spPr>
      </p:pic>
      <p:sp>
        <p:nvSpPr>
          <p:cNvPr id="1442" name="文本框 1441">
            <a:extLst>
              <a:ext uri="{FF2B5EF4-FFF2-40B4-BE49-F238E27FC236}">
                <a16:creationId xmlns:a16="http://schemas.microsoft.com/office/drawing/2014/main" id="{814431DA-F1EE-CFB8-E7E0-CF4D130ECF44}"/>
              </a:ext>
            </a:extLst>
          </p:cNvPr>
          <p:cNvSpPr txBox="1"/>
          <p:nvPr/>
        </p:nvSpPr>
        <p:spPr>
          <a:xfrm>
            <a:off x="1137627" y="775016"/>
            <a:ext cx="559769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50" dirty="0">
                <a:solidFill>
                  <a:srgbClr val="71808C"/>
                </a:solidFill>
                <a:latin typeface="Arial"/>
                <a:cs typeface="Arial"/>
              </a:rPr>
              <a:t>56 channels</a:t>
            </a:r>
            <a:endParaRPr lang="zh-CN" altLang="en-US" sz="550" dirty="0">
              <a:solidFill>
                <a:srgbClr val="71808C"/>
              </a:solidFill>
              <a:latin typeface="Arial"/>
              <a:cs typeface="Arial"/>
            </a:endParaRPr>
          </a:p>
        </p:txBody>
      </p:sp>
      <p:sp>
        <p:nvSpPr>
          <p:cNvPr id="1443" name="V8 embedding computation frame">
            <a:extLst>
              <a:ext uri="{FF2B5EF4-FFF2-40B4-BE49-F238E27FC236}">
                <a16:creationId xmlns:a16="http://schemas.microsoft.com/office/drawing/2014/main" id="{FB41A424-8C9A-2DA8-76B2-57C0C54ECB10}"/>
              </a:ext>
            </a:extLst>
          </p:cNvPr>
          <p:cNvSpPr/>
          <p:nvPr/>
        </p:nvSpPr>
        <p:spPr>
          <a:xfrm>
            <a:off x="1229360" y="1305560"/>
            <a:ext cx="386080" cy="417830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6096" cap="rnd">
            <a:solidFill>
              <a:srgbClr val="C5BDD5"/>
            </a:solidFill>
            <a:prstDash val="solid"/>
            <a:round/>
          </a:ln>
        </p:spPr>
      </p:sp>
      <p:sp>
        <p:nvSpPr>
          <p:cNvPr id="1444" name="V8 embedding neighbor 1 to center">
            <a:extLst>
              <a:ext uri="{FF2B5EF4-FFF2-40B4-BE49-F238E27FC236}">
                <a16:creationId xmlns:a16="http://schemas.microsoft.com/office/drawing/2014/main" id="{3355B015-AF42-20CF-CA69-CEE14894D5E1}"/>
              </a:ext>
            </a:extLst>
          </p:cNvPr>
          <p:cNvSpPr/>
          <p:nvPr/>
        </p:nvSpPr>
        <p:spPr>
          <a:xfrm>
            <a:off x="1285542" y="1388677"/>
            <a:ext cx="84338" cy="113635"/>
          </a:xfrm>
          <a:custGeom>
            <a:avLst/>
            <a:gdLst/>
            <a:ahLst/>
            <a:cxnLst/>
            <a:rect l="l" t="t" r="r" b="b"/>
            <a:pathLst>
              <a:path w="84338" h="113635">
                <a:moveTo>
                  <a:pt x="0" y="0"/>
                </a:moveTo>
                <a:lnTo>
                  <a:pt x="84338" y="113635"/>
                </a:ln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45" name="V8 embedding neighbor 1 to center head">
            <a:extLst>
              <a:ext uri="{FF2B5EF4-FFF2-40B4-BE49-F238E27FC236}">
                <a16:creationId xmlns:a16="http://schemas.microsoft.com/office/drawing/2014/main" id="{27615381-2E0E-2FB6-4DD6-10A8B1F481AB}"/>
              </a:ext>
            </a:extLst>
          </p:cNvPr>
          <p:cNvSpPr/>
          <p:nvPr/>
        </p:nvSpPr>
        <p:spPr>
          <a:xfrm>
            <a:off x="1356289" y="1488319"/>
            <a:ext cx="18870" cy="21105"/>
          </a:xfrm>
          <a:custGeom>
            <a:avLst/>
            <a:gdLst/>
            <a:ahLst/>
            <a:cxnLst/>
            <a:rect l="l" t="t" r="r" b="b"/>
            <a:pathLst>
              <a:path w="18870" h="21105">
                <a:moveTo>
                  <a:pt x="18870" y="21105"/>
                </a:moveTo>
                <a:lnTo>
                  <a:pt x="14277" y="0"/>
                </a:lnTo>
                <a:lnTo>
                  <a:pt x="0" y="10596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46" name="V8 embedding neighbor 1">
            <a:extLst>
              <a:ext uri="{FF2B5EF4-FFF2-40B4-BE49-F238E27FC236}">
                <a16:creationId xmlns:a16="http://schemas.microsoft.com/office/drawing/2014/main" id="{B5E8A971-284C-84D2-C0DB-7EB12E4B5902}"/>
              </a:ext>
            </a:extLst>
          </p:cNvPr>
          <p:cNvSpPr/>
          <p:nvPr/>
        </p:nvSpPr>
        <p:spPr>
          <a:xfrm>
            <a:off x="1259522" y="1358582"/>
            <a:ext cx="28575" cy="28575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47" name="V8 embedding neighbor 2 to center">
            <a:extLst>
              <a:ext uri="{FF2B5EF4-FFF2-40B4-BE49-F238E27FC236}">
                <a16:creationId xmlns:a16="http://schemas.microsoft.com/office/drawing/2014/main" id="{410E19AF-558D-0BA4-4F56-8A43CC949018}"/>
              </a:ext>
            </a:extLst>
          </p:cNvPr>
          <p:cNvSpPr/>
          <p:nvPr/>
        </p:nvSpPr>
        <p:spPr>
          <a:xfrm>
            <a:off x="1415442" y="1384737"/>
            <a:ext cx="68064" cy="115185"/>
          </a:xfrm>
          <a:custGeom>
            <a:avLst/>
            <a:gdLst/>
            <a:ahLst/>
            <a:cxnLst/>
            <a:rect l="l" t="t" r="r" b="b"/>
            <a:pathLst>
              <a:path w="68064" h="115185">
                <a:moveTo>
                  <a:pt x="68064" y="0"/>
                </a:moveTo>
                <a:lnTo>
                  <a:pt x="0" y="115185"/>
                </a:ln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48" name="V8 embedding neighbor 2 to center head">
            <a:extLst>
              <a:ext uri="{FF2B5EF4-FFF2-40B4-BE49-F238E27FC236}">
                <a16:creationId xmlns:a16="http://schemas.microsoft.com/office/drawing/2014/main" id="{50A61875-DCE0-421C-1735-CFE0432F2E90}"/>
              </a:ext>
            </a:extLst>
          </p:cNvPr>
          <p:cNvSpPr/>
          <p:nvPr/>
        </p:nvSpPr>
        <p:spPr>
          <a:xfrm>
            <a:off x="1410935" y="1486079"/>
            <a:ext cx="17668" cy="21470"/>
          </a:xfrm>
          <a:custGeom>
            <a:avLst/>
            <a:gdLst/>
            <a:ahLst/>
            <a:cxnLst/>
            <a:rect l="l" t="t" r="r" b="b"/>
            <a:pathLst>
              <a:path w="17668" h="21470">
                <a:moveTo>
                  <a:pt x="0" y="21470"/>
                </a:moveTo>
                <a:lnTo>
                  <a:pt x="17668" y="9045"/>
                </a:lnTo>
                <a:lnTo>
                  <a:pt x="2361" y="0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49" name="V8 embedding neighbor 2">
            <a:extLst>
              <a:ext uri="{FF2B5EF4-FFF2-40B4-BE49-F238E27FC236}">
                <a16:creationId xmlns:a16="http://schemas.microsoft.com/office/drawing/2014/main" id="{7AEBAFCB-8ED1-BA01-F100-82AD32FAB4F6}"/>
              </a:ext>
            </a:extLst>
          </p:cNvPr>
          <p:cNvSpPr/>
          <p:nvPr/>
        </p:nvSpPr>
        <p:spPr>
          <a:xfrm>
            <a:off x="1477962" y="1352232"/>
            <a:ext cx="31115" cy="31115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50" name="V8 embedding upper curved aggregation">
            <a:extLst>
              <a:ext uri="{FF2B5EF4-FFF2-40B4-BE49-F238E27FC236}">
                <a16:creationId xmlns:a16="http://schemas.microsoft.com/office/drawing/2014/main" id="{1726AB57-DCD6-4DAB-768F-79635F178651}"/>
              </a:ext>
            </a:extLst>
          </p:cNvPr>
          <p:cNvSpPr/>
          <p:nvPr/>
        </p:nvSpPr>
        <p:spPr>
          <a:xfrm>
            <a:off x="1428750" y="1449794"/>
            <a:ext cx="120650" cy="48806"/>
          </a:xfrm>
          <a:custGeom>
            <a:avLst/>
            <a:gdLst/>
            <a:ahLst/>
            <a:cxnLst/>
            <a:rect l="l" t="t" r="r" b="b"/>
            <a:pathLst>
              <a:path w="120650" h="48806">
                <a:moveTo>
                  <a:pt x="118713" y="0"/>
                </a:moveTo>
                <a:cubicBezTo>
                  <a:pt x="120650" y="36106"/>
                  <a:pt x="44450" y="29756"/>
                  <a:pt x="0" y="48806"/>
                </a:cubicBez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51" name="V8 embedding upper curved aggregation tip">
            <a:extLst>
              <a:ext uri="{FF2B5EF4-FFF2-40B4-BE49-F238E27FC236}">
                <a16:creationId xmlns:a16="http://schemas.microsoft.com/office/drawing/2014/main" id="{2B3CEBDA-0E2D-671A-9B26-76F746F7D64B}"/>
              </a:ext>
            </a:extLst>
          </p:cNvPr>
          <p:cNvSpPr/>
          <p:nvPr/>
        </p:nvSpPr>
        <p:spPr>
          <a:xfrm>
            <a:off x="1420039" y="1498600"/>
            <a:ext cx="8711" cy="4690"/>
          </a:xfrm>
          <a:custGeom>
            <a:avLst/>
            <a:gdLst/>
            <a:ahLst/>
            <a:cxnLst/>
            <a:rect l="l" t="t" r="r" b="b"/>
            <a:pathLst>
              <a:path w="8711" h="4690">
                <a:moveTo>
                  <a:pt x="8711" y="0"/>
                </a:moveTo>
                <a:lnTo>
                  <a:pt x="0" y="4690"/>
                </a:ln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52" name="V8 embedding upper curved aggregation tip head">
            <a:extLst>
              <a:ext uri="{FF2B5EF4-FFF2-40B4-BE49-F238E27FC236}">
                <a16:creationId xmlns:a16="http://schemas.microsoft.com/office/drawing/2014/main" id="{EA8590B6-001E-E7FA-C91E-6684CAB2CE42}"/>
              </a:ext>
            </a:extLst>
          </p:cNvPr>
          <p:cNvSpPr/>
          <p:nvPr/>
        </p:nvSpPr>
        <p:spPr>
          <a:xfrm>
            <a:off x="1412240" y="1490330"/>
            <a:ext cx="21547" cy="17160"/>
          </a:xfrm>
          <a:custGeom>
            <a:avLst/>
            <a:gdLst/>
            <a:ahLst/>
            <a:cxnLst/>
            <a:rect l="l" t="t" r="r" b="b"/>
            <a:pathLst>
              <a:path w="21547" h="17160">
                <a:moveTo>
                  <a:pt x="0" y="17160"/>
                </a:moveTo>
                <a:lnTo>
                  <a:pt x="21547" y="15655"/>
                </a:lnTo>
                <a:lnTo>
                  <a:pt x="13117" y="0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53" name="V8 embedding neighbor 3">
            <a:extLst>
              <a:ext uri="{FF2B5EF4-FFF2-40B4-BE49-F238E27FC236}">
                <a16:creationId xmlns:a16="http://schemas.microsoft.com/office/drawing/2014/main" id="{122DFBAE-E742-85F4-F8BE-661BC7410AFC}"/>
              </a:ext>
            </a:extLst>
          </p:cNvPr>
          <p:cNvSpPr/>
          <p:nvPr/>
        </p:nvSpPr>
        <p:spPr>
          <a:xfrm>
            <a:off x="1550670" y="1426210"/>
            <a:ext cx="27940" cy="27940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54" name="V8 embedding curved aggregation">
            <a:extLst>
              <a:ext uri="{FF2B5EF4-FFF2-40B4-BE49-F238E27FC236}">
                <a16:creationId xmlns:a16="http://schemas.microsoft.com/office/drawing/2014/main" id="{90CEAB6E-EBCA-9F13-36DE-C928BA671D5A}"/>
              </a:ext>
            </a:extLst>
          </p:cNvPr>
          <p:cNvSpPr/>
          <p:nvPr/>
        </p:nvSpPr>
        <p:spPr>
          <a:xfrm>
            <a:off x="1270000" y="1503680"/>
            <a:ext cx="77470" cy="107970"/>
          </a:xfrm>
          <a:custGeom>
            <a:avLst/>
            <a:gdLst/>
            <a:ahLst/>
            <a:cxnLst/>
            <a:rect l="l" t="t" r="r" b="b"/>
            <a:pathLst>
              <a:path w="77470" h="107970">
                <a:moveTo>
                  <a:pt x="17311" y="107970"/>
                </a:moveTo>
                <a:cubicBezTo>
                  <a:pt x="0" y="29210"/>
                  <a:pt x="35560" y="0"/>
                  <a:pt x="77470" y="12700"/>
                </a:cubicBezTo>
              </a:path>
            </a:pathLst>
          </a:custGeom>
          <a:noFill/>
          <a:ln w="8890" cap="rnd">
            <a:solidFill>
              <a:srgbClr val="9481B1"/>
            </a:solidFill>
            <a:prstDash val="solid"/>
            <a:round/>
          </a:ln>
        </p:spPr>
      </p:sp>
      <p:sp>
        <p:nvSpPr>
          <p:cNvPr id="1455" name="V8 embedding curved aggregation tip">
            <a:extLst>
              <a:ext uri="{FF2B5EF4-FFF2-40B4-BE49-F238E27FC236}">
                <a16:creationId xmlns:a16="http://schemas.microsoft.com/office/drawing/2014/main" id="{4871021E-0B37-6092-4FB6-FB482931253B}"/>
              </a:ext>
            </a:extLst>
          </p:cNvPr>
          <p:cNvSpPr/>
          <p:nvPr/>
        </p:nvSpPr>
        <p:spPr>
          <a:xfrm>
            <a:off x="1347470" y="1516380"/>
            <a:ext cx="6039" cy="3020"/>
          </a:xfrm>
          <a:custGeom>
            <a:avLst/>
            <a:gdLst/>
            <a:ahLst/>
            <a:cxnLst/>
            <a:rect l="l" t="t" r="r" b="b"/>
            <a:pathLst>
              <a:path w="6039" h="3020">
                <a:moveTo>
                  <a:pt x="0" y="0"/>
                </a:moveTo>
                <a:lnTo>
                  <a:pt x="6039" y="3020"/>
                </a:lnTo>
              </a:path>
            </a:pathLst>
          </a:custGeom>
          <a:noFill/>
          <a:ln w="8890" cap="rnd">
            <a:solidFill>
              <a:srgbClr val="9481B1"/>
            </a:solidFill>
            <a:prstDash val="solid"/>
            <a:round/>
          </a:ln>
        </p:spPr>
      </p:sp>
      <p:sp>
        <p:nvSpPr>
          <p:cNvPr id="1456" name="V8 embedding curved aggregation tip head">
            <a:extLst>
              <a:ext uri="{FF2B5EF4-FFF2-40B4-BE49-F238E27FC236}">
                <a16:creationId xmlns:a16="http://schemas.microsoft.com/office/drawing/2014/main" id="{86BC3798-BFD4-0C2D-6F96-1C5CADB6D7BE}"/>
              </a:ext>
            </a:extLst>
          </p:cNvPr>
          <p:cNvSpPr/>
          <p:nvPr/>
        </p:nvSpPr>
        <p:spPr>
          <a:xfrm>
            <a:off x="1337578" y="1504405"/>
            <a:ext cx="25132" cy="19595"/>
          </a:xfrm>
          <a:custGeom>
            <a:avLst/>
            <a:gdLst/>
            <a:ahLst/>
            <a:cxnLst/>
            <a:rect l="l" t="t" r="r" b="b"/>
            <a:pathLst>
              <a:path w="25132" h="19595">
                <a:moveTo>
                  <a:pt x="25132" y="19595"/>
                </a:moveTo>
                <a:lnTo>
                  <a:pt x="9371" y="0"/>
                </a:lnTo>
                <a:lnTo>
                  <a:pt x="0" y="18743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57" name="V8 embedding neighbor 4">
            <a:extLst>
              <a:ext uri="{FF2B5EF4-FFF2-40B4-BE49-F238E27FC236}">
                <a16:creationId xmlns:a16="http://schemas.microsoft.com/office/drawing/2014/main" id="{AEADE014-9292-2360-C2CE-F8C845E8BCFD}"/>
              </a:ext>
            </a:extLst>
          </p:cNvPr>
          <p:cNvSpPr/>
          <p:nvPr/>
        </p:nvSpPr>
        <p:spPr>
          <a:xfrm>
            <a:off x="1255395" y="1607185"/>
            <a:ext cx="31750" cy="31750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58" name="V8 embedding neighbor 5 to center">
            <a:extLst>
              <a:ext uri="{FF2B5EF4-FFF2-40B4-BE49-F238E27FC236}">
                <a16:creationId xmlns:a16="http://schemas.microsoft.com/office/drawing/2014/main" id="{88F2ECE0-BE4E-6B10-0F14-901F5AD31AE6}"/>
              </a:ext>
            </a:extLst>
          </p:cNvPr>
          <p:cNvSpPr/>
          <p:nvPr/>
        </p:nvSpPr>
        <p:spPr>
          <a:xfrm>
            <a:off x="1385690" y="1576570"/>
            <a:ext cx="5857" cy="82734"/>
          </a:xfrm>
          <a:custGeom>
            <a:avLst/>
            <a:gdLst/>
            <a:ahLst/>
            <a:cxnLst/>
            <a:rect l="l" t="t" r="r" b="b"/>
            <a:pathLst>
              <a:path w="5857" h="82734">
                <a:moveTo>
                  <a:pt x="0" y="82734"/>
                </a:moveTo>
                <a:lnTo>
                  <a:pt x="5857" y="0"/>
                </a:ln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59" name="V8 embedding neighbor 5 to center head">
            <a:extLst>
              <a:ext uri="{FF2B5EF4-FFF2-40B4-BE49-F238E27FC236}">
                <a16:creationId xmlns:a16="http://schemas.microsoft.com/office/drawing/2014/main" id="{4E579011-FEC4-00D3-7546-C5CB388C9A0A}"/>
              </a:ext>
            </a:extLst>
          </p:cNvPr>
          <p:cNvSpPr/>
          <p:nvPr/>
        </p:nvSpPr>
        <p:spPr>
          <a:xfrm>
            <a:off x="1381915" y="1567734"/>
            <a:ext cx="17736" cy="20264"/>
          </a:xfrm>
          <a:custGeom>
            <a:avLst/>
            <a:gdLst/>
            <a:ahLst/>
            <a:cxnLst/>
            <a:rect l="l" t="t" r="r" b="b"/>
            <a:pathLst>
              <a:path w="17736" h="20264">
                <a:moveTo>
                  <a:pt x="10258" y="0"/>
                </a:moveTo>
                <a:lnTo>
                  <a:pt x="0" y="19008"/>
                </a:lnTo>
                <a:lnTo>
                  <a:pt x="17736" y="20264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60" name="V8 embedding neighbor 5">
            <a:extLst>
              <a:ext uri="{FF2B5EF4-FFF2-40B4-BE49-F238E27FC236}">
                <a16:creationId xmlns:a16="http://schemas.microsoft.com/office/drawing/2014/main" id="{80A6CA00-4D1C-000D-C0AF-7F59BA21FF45}"/>
              </a:ext>
            </a:extLst>
          </p:cNvPr>
          <p:cNvSpPr/>
          <p:nvPr/>
        </p:nvSpPr>
        <p:spPr>
          <a:xfrm>
            <a:off x="1369695" y="1664335"/>
            <a:ext cx="29210" cy="29210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61" name="V8 embedding center">
            <a:extLst>
              <a:ext uri="{FF2B5EF4-FFF2-40B4-BE49-F238E27FC236}">
                <a16:creationId xmlns:a16="http://schemas.microsoft.com/office/drawing/2014/main" id="{0973F1A0-63C8-796C-8269-8DC9810E39E1}"/>
              </a:ext>
            </a:extLst>
          </p:cNvPr>
          <p:cNvSpPr/>
          <p:nvPr/>
        </p:nvSpPr>
        <p:spPr>
          <a:xfrm>
            <a:off x="1372235" y="1513205"/>
            <a:ext cx="44450" cy="44450"/>
          </a:xfrm>
          <a:prstGeom prst="ellipse">
            <a:avLst/>
          </a:prstGeom>
          <a:noFill/>
          <a:ln w="9906" cap="rnd">
            <a:solidFill>
              <a:srgbClr val="3B8C80"/>
            </a:solidFill>
            <a:prstDash val="solid"/>
            <a:round/>
          </a:ln>
        </p:spPr>
      </p:sp>
      <p:sp>
        <p:nvSpPr>
          <p:cNvPr id="1462" name="V8 embedding feature 1">
            <a:extLst>
              <a:ext uri="{FF2B5EF4-FFF2-40B4-BE49-F238E27FC236}">
                <a16:creationId xmlns:a16="http://schemas.microsoft.com/office/drawing/2014/main" id="{FE0417EE-6828-F09F-AACE-DE1F76BE3EB6}"/>
              </a:ext>
            </a:extLst>
          </p:cNvPr>
          <p:cNvSpPr/>
          <p:nvPr/>
        </p:nvSpPr>
        <p:spPr>
          <a:xfrm>
            <a:off x="1426210" y="1518285"/>
            <a:ext cx="18415" cy="34290"/>
          </a:xfrm>
          <a:prstGeom prst="rect">
            <a:avLst/>
          </a:prstGeom>
          <a:solidFill>
            <a:srgbClr val="3E8F9A"/>
          </a:solidFill>
          <a:ln w="0" cap="rnd">
            <a:noFill/>
          </a:ln>
        </p:spPr>
      </p:sp>
      <p:sp>
        <p:nvSpPr>
          <p:cNvPr id="1463" name="V8 embedding feature 2">
            <a:extLst>
              <a:ext uri="{FF2B5EF4-FFF2-40B4-BE49-F238E27FC236}">
                <a16:creationId xmlns:a16="http://schemas.microsoft.com/office/drawing/2014/main" id="{28DF18A8-B7D6-40CC-F8D0-1CE005F88971}"/>
              </a:ext>
            </a:extLst>
          </p:cNvPr>
          <p:cNvSpPr/>
          <p:nvPr/>
        </p:nvSpPr>
        <p:spPr>
          <a:xfrm>
            <a:off x="1445895" y="1518285"/>
            <a:ext cx="18415" cy="34290"/>
          </a:xfrm>
          <a:prstGeom prst="rect">
            <a:avLst/>
          </a:prstGeom>
          <a:solidFill>
            <a:srgbClr val="88BEC3"/>
          </a:solidFill>
          <a:ln w="0" cap="rnd">
            <a:noFill/>
          </a:ln>
        </p:spPr>
      </p:sp>
      <p:sp>
        <p:nvSpPr>
          <p:cNvPr id="1464" name="V8 embedding feature 3">
            <a:extLst>
              <a:ext uri="{FF2B5EF4-FFF2-40B4-BE49-F238E27FC236}">
                <a16:creationId xmlns:a16="http://schemas.microsoft.com/office/drawing/2014/main" id="{D8B2548F-FDCB-962F-D116-8194E608D854}"/>
              </a:ext>
            </a:extLst>
          </p:cNvPr>
          <p:cNvSpPr/>
          <p:nvPr/>
        </p:nvSpPr>
        <p:spPr>
          <a:xfrm>
            <a:off x="1465580" y="1518285"/>
            <a:ext cx="18415" cy="34290"/>
          </a:xfrm>
          <a:prstGeom prst="rect">
            <a:avLst/>
          </a:prstGeom>
          <a:solidFill>
            <a:srgbClr val="67AD9F"/>
          </a:solidFill>
          <a:ln w="0" cap="rnd">
            <a:noFill/>
          </a:ln>
        </p:spPr>
      </p:sp>
      <p:sp>
        <p:nvSpPr>
          <p:cNvPr id="1465" name="V8 embedding feature 4">
            <a:extLst>
              <a:ext uri="{FF2B5EF4-FFF2-40B4-BE49-F238E27FC236}">
                <a16:creationId xmlns:a16="http://schemas.microsoft.com/office/drawing/2014/main" id="{4DB56FF7-AE6A-29C2-0D4E-A50B4A01B329}"/>
              </a:ext>
            </a:extLst>
          </p:cNvPr>
          <p:cNvSpPr/>
          <p:nvPr/>
        </p:nvSpPr>
        <p:spPr>
          <a:xfrm>
            <a:off x="1485265" y="1518285"/>
            <a:ext cx="18415" cy="34290"/>
          </a:xfrm>
          <a:prstGeom prst="rect">
            <a:avLst/>
          </a:prstGeom>
          <a:solidFill>
            <a:srgbClr val="B6D8CC"/>
          </a:solidFill>
          <a:ln w="0" cap="rnd">
            <a:noFill/>
          </a:ln>
        </p:spPr>
      </p:sp>
      <p:sp>
        <p:nvSpPr>
          <p:cNvPr id="1466" name="V8 embedding feature 5">
            <a:extLst>
              <a:ext uri="{FF2B5EF4-FFF2-40B4-BE49-F238E27FC236}">
                <a16:creationId xmlns:a16="http://schemas.microsoft.com/office/drawing/2014/main" id="{0834D08B-BC25-2ADC-AF12-5492513577F8}"/>
              </a:ext>
            </a:extLst>
          </p:cNvPr>
          <p:cNvSpPr/>
          <p:nvPr/>
        </p:nvSpPr>
        <p:spPr>
          <a:xfrm>
            <a:off x="1504950" y="1518285"/>
            <a:ext cx="18415" cy="34290"/>
          </a:xfrm>
          <a:prstGeom prst="rect">
            <a:avLst/>
          </a:prstGeom>
          <a:solidFill>
            <a:srgbClr val="3B8C80"/>
          </a:solidFill>
          <a:ln w="0" cap="rnd">
            <a:noFill/>
          </a:ln>
        </p:spPr>
      </p:sp>
      <p:sp>
        <p:nvSpPr>
          <p:cNvPr id="1467" name="V8 embedding feature 6">
            <a:extLst>
              <a:ext uri="{FF2B5EF4-FFF2-40B4-BE49-F238E27FC236}">
                <a16:creationId xmlns:a16="http://schemas.microsoft.com/office/drawing/2014/main" id="{7EDE9E92-6EF0-3023-2F22-6E7EFD9706C6}"/>
              </a:ext>
            </a:extLst>
          </p:cNvPr>
          <p:cNvSpPr/>
          <p:nvPr/>
        </p:nvSpPr>
        <p:spPr>
          <a:xfrm>
            <a:off x="1524635" y="1518285"/>
            <a:ext cx="18415" cy="34290"/>
          </a:xfrm>
          <a:prstGeom prst="rect">
            <a:avLst/>
          </a:prstGeom>
          <a:solidFill>
            <a:srgbClr val="A3CDDA"/>
          </a:solidFill>
          <a:ln w="0" cap="rnd">
            <a:noFill/>
          </a:ln>
        </p:spPr>
      </p:sp>
      <p:sp>
        <p:nvSpPr>
          <p:cNvPr id="1468" name="V8 embedding feature 7">
            <a:extLst>
              <a:ext uri="{FF2B5EF4-FFF2-40B4-BE49-F238E27FC236}">
                <a16:creationId xmlns:a16="http://schemas.microsoft.com/office/drawing/2014/main" id="{3791BD29-2650-00D8-2639-94010AF8036F}"/>
              </a:ext>
            </a:extLst>
          </p:cNvPr>
          <p:cNvSpPr/>
          <p:nvPr/>
        </p:nvSpPr>
        <p:spPr>
          <a:xfrm>
            <a:off x="1544320" y="1518285"/>
            <a:ext cx="18415" cy="34290"/>
          </a:xfrm>
          <a:prstGeom prst="rect">
            <a:avLst/>
          </a:prstGeom>
          <a:solidFill>
            <a:srgbClr val="6CAFA4"/>
          </a:solidFill>
          <a:ln w="0" cap="rnd">
            <a:noFill/>
          </a:ln>
        </p:spPr>
      </p:sp>
      <p:sp>
        <p:nvSpPr>
          <p:cNvPr id="1469" name="V8 embedding feature 8">
            <a:extLst>
              <a:ext uri="{FF2B5EF4-FFF2-40B4-BE49-F238E27FC236}">
                <a16:creationId xmlns:a16="http://schemas.microsoft.com/office/drawing/2014/main" id="{78D40256-09DE-A393-64FC-199BB5DEB767}"/>
              </a:ext>
            </a:extLst>
          </p:cNvPr>
          <p:cNvSpPr/>
          <p:nvPr/>
        </p:nvSpPr>
        <p:spPr>
          <a:xfrm>
            <a:off x="1564005" y="1518285"/>
            <a:ext cx="18415" cy="34290"/>
          </a:xfrm>
          <a:prstGeom prst="rect">
            <a:avLst/>
          </a:prstGeom>
          <a:solidFill>
            <a:srgbClr val="C4DDE0"/>
          </a:solidFill>
          <a:ln w="0" cap="rnd">
            <a:noFill/>
          </a:ln>
        </p:spPr>
      </p:sp>
      <p:sp>
        <p:nvSpPr>
          <p:cNvPr id="1471" name="V8 embedding to point branch">
            <a:extLst>
              <a:ext uri="{FF2B5EF4-FFF2-40B4-BE49-F238E27FC236}">
                <a16:creationId xmlns:a16="http://schemas.microsoft.com/office/drawing/2014/main" id="{CD0EF799-B1E4-C26B-BB25-441BB97890BE}"/>
              </a:ext>
            </a:extLst>
          </p:cNvPr>
          <p:cNvSpPr/>
          <p:nvPr/>
        </p:nvSpPr>
        <p:spPr>
          <a:xfrm flipV="1">
            <a:off x="1639889" y="1489896"/>
            <a:ext cx="95532" cy="45719"/>
          </a:xfrm>
          <a:custGeom>
            <a:avLst/>
            <a:gdLst/>
            <a:ahLst/>
            <a:cxnLst/>
            <a:rect l="l" t="t" r="r" b="b"/>
            <a:pathLst>
              <a:path w="63379" h="1">
                <a:moveTo>
                  <a:pt x="0" y="0"/>
                </a:moveTo>
                <a:lnTo>
                  <a:pt x="63379" y="0"/>
                </a:lnTo>
              </a:path>
            </a:pathLst>
          </a:custGeom>
          <a:noFill/>
          <a:ln w="8509" cap="rnd">
            <a:solidFill>
              <a:srgbClr val="9481B1"/>
            </a:solidFill>
            <a:prstDash val="solid"/>
            <a:round/>
          </a:ln>
        </p:spPr>
      </p:sp>
      <p:sp>
        <p:nvSpPr>
          <p:cNvPr id="1472" name="V8 embedding to point branch head">
            <a:extLst>
              <a:ext uri="{FF2B5EF4-FFF2-40B4-BE49-F238E27FC236}">
                <a16:creationId xmlns:a16="http://schemas.microsoft.com/office/drawing/2014/main" id="{EE5B1593-BB31-DCD1-99C7-141C7B857AF7}"/>
              </a:ext>
            </a:extLst>
          </p:cNvPr>
          <p:cNvSpPr/>
          <p:nvPr/>
        </p:nvSpPr>
        <p:spPr>
          <a:xfrm>
            <a:off x="1719844" y="1523745"/>
            <a:ext cx="28321" cy="24384"/>
          </a:xfrm>
          <a:custGeom>
            <a:avLst/>
            <a:gdLst/>
            <a:ahLst/>
            <a:cxnLst/>
            <a:rect l="l" t="t" r="r" b="b"/>
            <a:pathLst>
              <a:path w="28321" h="24384">
                <a:moveTo>
                  <a:pt x="28321" y="12192"/>
                </a:move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73" name="V8 embedding to voxel branch">
            <a:extLst>
              <a:ext uri="{FF2B5EF4-FFF2-40B4-BE49-F238E27FC236}">
                <a16:creationId xmlns:a16="http://schemas.microsoft.com/office/drawing/2014/main" id="{A9E148F4-6BCA-77FF-AE43-549D2AE883D5}"/>
              </a:ext>
            </a:extLst>
          </p:cNvPr>
          <p:cNvSpPr/>
          <p:nvPr/>
        </p:nvSpPr>
        <p:spPr>
          <a:xfrm>
            <a:off x="1667510" y="669271"/>
            <a:ext cx="1" cy="866159"/>
          </a:xfrm>
          <a:custGeom>
            <a:avLst/>
            <a:gdLst/>
            <a:ahLst/>
            <a:cxnLst/>
            <a:rect l="l" t="t" r="r" b="b"/>
            <a:pathLst>
              <a:path w="1" h="866159">
                <a:moveTo>
                  <a:pt x="0" y="866159"/>
                </a:moveTo>
                <a:lnTo>
                  <a:pt x="0" y="0"/>
                </a:lnTo>
              </a:path>
            </a:pathLst>
          </a:custGeom>
          <a:noFill/>
          <a:ln w="8509" cap="rnd">
            <a:solidFill>
              <a:srgbClr val="9481B1"/>
            </a:solidFill>
            <a:prstDash val="solid"/>
            <a:round/>
          </a:ln>
        </p:spPr>
      </p:sp>
      <p:sp>
        <p:nvSpPr>
          <p:cNvPr id="1474" name="V8 embedding to voxel branch head">
            <a:extLst>
              <a:ext uri="{FF2B5EF4-FFF2-40B4-BE49-F238E27FC236}">
                <a16:creationId xmlns:a16="http://schemas.microsoft.com/office/drawing/2014/main" id="{BAE99500-F0C6-FF9E-5ADA-696300A3926E}"/>
              </a:ext>
            </a:extLst>
          </p:cNvPr>
          <p:cNvSpPr/>
          <p:nvPr/>
        </p:nvSpPr>
        <p:spPr>
          <a:xfrm>
            <a:off x="1655318" y="656526"/>
            <a:ext cx="24384" cy="28321"/>
          </a:xfrm>
          <a:custGeom>
            <a:avLst/>
            <a:gdLst/>
            <a:ahLst/>
            <a:cxnLst/>
            <a:rect l="l" t="t" r="r" b="b"/>
            <a:pathLst>
              <a:path w="24384" h="28321">
                <a:moveTo>
                  <a:pt x="12192" y="0"/>
                </a:moveTo>
                <a:lnTo>
                  <a:pt x="0" y="28321"/>
                </a:lnTo>
                <a:lnTo>
                  <a:pt x="24384" y="28321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75" name="V8 density and receptor to voxel">
            <a:extLst>
              <a:ext uri="{FF2B5EF4-FFF2-40B4-BE49-F238E27FC236}">
                <a16:creationId xmlns:a16="http://schemas.microsoft.com/office/drawing/2014/main" id="{61ECA984-FF9D-A5D0-F819-33661D001ABE}"/>
              </a:ext>
            </a:extLst>
          </p:cNvPr>
          <p:cNvSpPr/>
          <p:nvPr/>
        </p:nvSpPr>
        <p:spPr>
          <a:xfrm>
            <a:off x="1634160" y="656526"/>
            <a:ext cx="96730" cy="1"/>
          </a:xfrm>
          <a:custGeom>
            <a:avLst/>
            <a:gdLst/>
            <a:ahLst/>
            <a:cxnLst/>
            <a:rect l="l" t="t" r="r" b="b"/>
            <a:pathLst>
              <a:path w="96730" h="1">
                <a:moveTo>
                  <a:pt x="0" y="0"/>
                </a:moveTo>
                <a:lnTo>
                  <a:pt x="96730" y="0"/>
                </a:lnTo>
              </a:path>
            </a:pathLst>
          </a:custGeom>
          <a:noFill/>
          <a:ln w="8509" cap="rnd">
            <a:solidFill>
              <a:srgbClr val="4083B4"/>
            </a:solidFill>
            <a:prstDash val="solid"/>
            <a:round/>
          </a:ln>
        </p:spPr>
      </p:sp>
      <p:sp>
        <p:nvSpPr>
          <p:cNvPr id="1476" name="V8 density and receptor to voxel head">
            <a:extLst>
              <a:ext uri="{FF2B5EF4-FFF2-40B4-BE49-F238E27FC236}">
                <a16:creationId xmlns:a16="http://schemas.microsoft.com/office/drawing/2014/main" id="{D6CAD338-44F5-8993-3618-9A1839CB2DBC}"/>
              </a:ext>
            </a:extLst>
          </p:cNvPr>
          <p:cNvSpPr/>
          <p:nvPr/>
        </p:nvSpPr>
        <p:spPr>
          <a:xfrm>
            <a:off x="1715313" y="644334"/>
            <a:ext cx="28321" cy="24384"/>
          </a:xfrm>
          <a:custGeom>
            <a:avLst/>
            <a:gdLst/>
            <a:ahLst/>
            <a:cxnLst/>
            <a:rect l="l" t="t" r="r" b="b"/>
            <a:pathLst>
              <a:path w="28321" h="24384">
                <a:moveTo>
                  <a:pt x="28321" y="12192"/>
                </a:move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4083B4"/>
          </a:solidFill>
          <a:ln w="0" cap="rnd">
            <a:noFill/>
          </a:ln>
        </p:spPr>
      </p:sp>
      <p:sp>
        <p:nvSpPr>
          <p:cNvPr id="1477" name="V8 voxel input junction">
            <a:extLst>
              <a:ext uri="{FF2B5EF4-FFF2-40B4-BE49-F238E27FC236}">
                <a16:creationId xmlns:a16="http://schemas.microsoft.com/office/drawing/2014/main" id="{93F36DE0-10B5-E2A2-60B2-341BCDB28517}"/>
              </a:ext>
            </a:extLst>
          </p:cNvPr>
          <p:cNvSpPr/>
          <p:nvPr/>
        </p:nvSpPr>
        <p:spPr>
          <a:xfrm>
            <a:off x="1659573" y="648589"/>
            <a:ext cx="15875" cy="15875"/>
          </a:xfrm>
          <a:prstGeom prst="ellipse">
            <a:avLst/>
          </a:prstGeom>
          <a:solidFill>
            <a:srgbClr val="4083B4"/>
          </a:solidFill>
          <a:ln w="0" cap="rnd">
            <a:noFill/>
          </a:ln>
        </p:spPr>
      </p:sp>
      <p:sp>
        <p:nvSpPr>
          <p:cNvPr id="1479" name="V8 Match input divider">
            <a:extLst>
              <a:ext uri="{FF2B5EF4-FFF2-40B4-BE49-F238E27FC236}">
                <a16:creationId xmlns:a16="http://schemas.microsoft.com/office/drawing/2014/main" id="{2EDC4EC7-D903-3262-650D-444D37299D28}"/>
              </a:ext>
            </a:extLst>
          </p:cNvPr>
          <p:cNvSpPr/>
          <p:nvPr/>
        </p:nvSpPr>
        <p:spPr>
          <a:xfrm>
            <a:off x="530162" y="2767063"/>
            <a:ext cx="957199" cy="1"/>
          </a:xfrm>
          <a:custGeom>
            <a:avLst/>
            <a:gdLst/>
            <a:ahLst/>
            <a:cxnLst/>
            <a:rect l="l" t="t" r="r" b="b"/>
            <a:pathLst>
              <a:path w="957199" h="1">
                <a:moveTo>
                  <a:pt x="0" y="0"/>
                </a:moveTo>
                <a:lnTo>
                  <a:pt x="957199" y="0"/>
                </a:lnTo>
              </a:path>
            </a:pathLst>
          </a:custGeom>
          <a:noFill/>
          <a:ln w="7290" cap="rnd">
            <a:solidFill>
              <a:srgbClr val="B6CEC5"/>
            </a:solidFill>
            <a:prstDash val="solid"/>
            <a:round/>
          </a:ln>
        </p:spPr>
      </p:sp>
      <p:sp>
        <p:nvSpPr>
          <p:cNvPr id="1480" name="V8 pool to concat">
            <a:extLst>
              <a:ext uri="{FF2B5EF4-FFF2-40B4-BE49-F238E27FC236}">
                <a16:creationId xmlns:a16="http://schemas.microsoft.com/office/drawing/2014/main" id="{3702663D-F294-9B06-B213-0076F82464A6}"/>
              </a:ext>
            </a:extLst>
          </p:cNvPr>
          <p:cNvSpPr/>
          <p:nvPr/>
        </p:nvSpPr>
        <p:spPr>
          <a:xfrm>
            <a:off x="835463" y="3603168"/>
            <a:ext cx="355873" cy="100152"/>
          </a:xfrm>
          <a:custGeom>
            <a:avLst/>
            <a:gdLst/>
            <a:ahLst/>
            <a:cxnLst/>
            <a:rect l="l" t="t" r="r" b="b"/>
            <a:pathLst>
              <a:path w="355873" h="100152">
                <a:moveTo>
                  <a:pt x="0" y="0"/>
                </a:moveTo>
                <a:lnTo>
                  <a:pt x="0" y="100152"/>
                </a:lnTo>
                <a:lnTo>
                  <a:pt x="355873" y="100152"/>
                </a:lnTo>
              </a:path>
            </a:pathLst>
          </a:custGeom>
          <a:noFill/>
          <a:ln w="8509" cap="rnd">
            <a:solidFill>
              <a:srgbClr val="3B8C80"/>
            </a:solidFill>
            <a:prstDash val="solid"/>
            <a:round/>
          </a:ln>
        </p:spPr>
      </p:sp>
      <p:sp>
        <p:nvSpPr>
          <p:cNvPr id="1481" name="V8 attention to concat">
            <a:extLst>
              <a:ext uri="{FF2B5EF4-FFF2-40B4-BE49-F238E27FC236}">
                <a16:creationId xmlns:a16="http://schemas.microsoft.com/office/drawing/2014/main" id="{45C4FCB5-3380-E3A8-B0B1-54A427F52361}"/>
              </a:ext>
            </a:extLst>
          </p:cNvPr>
          <p:cNvSpPr/>
          <p:nvPr/>
        </p:nvSpPr>
        <p:spPr>
          <a:xfrm>
            <a:off x="1191336" y="3603168"/>
            <a:ext cx="356064" cy="100152"/>
          </a:xfrm>
          <a:custGeom>
            <a:avLst/>
            <a:gdLst/>
            <a:ahLst/>
            <a:cxnLst/>
            <a:rect l="l" t="t" r="r" b="b"/>
            <a:pathLst>
              <a:path w="356064" h="100152">
                <a:moveTo>
                  <a:pt x="356064" y="0"/>
                </a:moveTo>
                <a:lnTo>
                  <a:pt x="356064" y="100152"/>
                </a:lnTo>
                <a:lnTo>
                  <a:pt x="0" y="100152"/>
                </a:lnTo>
              </a:path>
            </a:pathLst>
          </a:custGeom>
          <a:noFill/>
          <a:ln w="8509" cap="rnd">
            <a:solidFill>
              <a:srgbClr val="3B8C80"/>
            </a:solidFill>
            <a:prstDash val="solid"/>
            <a:round/>
          </a:ln>
        </p:spPr>
      </p:sp>
      <p:sp>
        <p:nvSpPr>
          <p:cNvPr id="1482" name="V8 concat to MLP">
            <a:extLst>
              <a:ext uri="{FF2B5EF4-FFF2-40B4-BE49-F238E27FC236}">
                <a16:creationId xmlns:a16="http://schemas.microsoft.com/office/drawing/2014/main" id="{366946BB-F669-FC2F-4DBA-809EA592E5E1}"/>
              </a:ext>
            </a:extLst>
          </p:cNvPr>
          <p:cNvSpPr/>
          <p:nvPr/>
        </p:nvSpPr>
        <p:spPr>
          <a:xfrm>
            <a:off x="1191336" y="3703320"/>
            <a:ext cx="1" cy="22181"/>
          </a:xfrm>
          <a:custGeom>
            <a:avLst/>
            <a:gdLst/>
            <a:ahLst/>
            <a:cxnLst/>
            <a:rect l="l" t="t" r="r" b="b"/>
            <a:pathLst>
              <a:path w="1" h="22181">
                <a:moveTo>
                  <a:pt x="0" y="0"/>
                </a:moveTo>
                <a:lnTo>
                  <a:pt x="0" y="22181"/>
                </a:lnTo>
              </a:path>
            </a:pathLst>
          </a:custGeom>
          <a:noFill/>
          <a:ln w="8509" cap="rnd">
            <a:solidFill>
              <a:srgbClr val="3B8C80"/>
            </a:solidFill>
            <a:prstDash val="solid"/>
            <a:round/>
          </a:ln>
        </p:spPr>
      </p:sp>
      <p:sp>
        <p:nvSpPr>
          <p:cNvPr id="1483" name="V8 concat to MLP head">
            <a:extLst>
              <a:ext uri="{FF2B5EF4-FFF2-40B4-BE49-F238E27FC236}">
                <a16:creationId xmlns:a16="http://schemas.microsoft.com/office/drawing/2014/main" id="{234835D4-EF31-832C-586B-712FBD8CEB61}"/>
              </a:ext>
            </a:extLst>
          </p:cNvPr>
          <p:cNvSpPr/>
          <p:nvPr/>
        </p:nvSpPr>
        <p:spPr>
          <a:xfrm>
            <a:off x="1179144" y="3709924"/>
            <a:ext cx="24384" cy="28321"/>
          </a:xfrm>
          <a:custGeom>
            <a:avLst/>
            <a:gdLst/>
            <a:ahLst/>
            <a:cxnLst/>
            <a:rect l="l" t="t" r="r" b="b"/>
            <a:pathLst>
              <a:path w="24384" h="28321">
                <a:moveTo>
                  <a:pt x="12192" y="28321"/>
                </a:moveTo>
                <a:lnTo>
                  <a:pt x="24384" y="0"/>
                </a:lnTo>
                <a:lnTo>
                  <a:pt x="0" y="0"/>
                </a:lnTo>
                <a:close/>
              </a:path>
            </a:pathLst>
          </a:custGeom>
          <a:solidFill>
            <a:srgbClr val="3B8C80"/>
          </a:solidFill>
          <a:ln w="0" cap="rnd">
            <a:noFill/>
          </a:ln>
        </p:spPr>
      </p:sp>
      <p:sp>
        <p:nvSpPr>
          <p:cNvPr id="1484" name="V8 Build site and identity frame">
            <a:extLst>
              <a:ext uri="{FF2B5EF4-FFF2-40B4-BE49-F238E27FC236}">
                <a16:creationId xmlns:a16="http://schemas.microsoft.com/office/drawing/2014/main" id="{B0159410-81AF-A0CB-FD15-D731C54E54D4}"/>
              </a:ext>
            </a:extLst>
          </p:cNvPr>
          <p:cNvSpPr/>
          <p:nvPr/>
        </p:nvSpPr>
        <p:spPr>
          <a:xfrm>
            <a:off x="4712652" y="452120"/>
            <a:ext cx="519754" cy="1170940"/>
          </a:xfrm>
          <a:prstGeom prst="roundRect">
            <a:avLst>
              <a:gd name="adj" fmla="val 5556"/>
            </a:avLst>
          </a:prstGeom>
          <a:noFill/>
          <a:ln w="6985" cap="rnd">
            <a:solidFill>
              <a:srgbClr val="9BB4C8"/>
            </a:solidFill>
            <a:prstDash val="dash"/>
            <a:round/>
          </a:ln>
        </p:spPr>
      </p:sp>
      <p:sp>
        <p:nvSpPr>
          <p:cNvPr id="1485" name="V8 Build pocket and density frame">
            <a:extLst>
              <a:ext uri="{FF2B5EF4-FFF2-40B4-BE49-F238E27FC236}">
                <a16:creationId xmlns:a16="http://schemas.microsoft.com/office/drawing/2014/main" id="{FF6F6920-E776-E473-D444-477FCB823104}"/>
              </a:ext>
            </a:extLst>
          </p:cNvPr>
          <p:cNvSpPr/>
          <p:nvPr/>
        </p:nvSpPr>
        <p:spPr>
          <a:xfrm>
            <a:off x="5278437" y="452120"/>
            <a:ext cx="527685" cy="1170940"/>
          </a:xfrm>
          <a:prstGeom prst="roundRect">
            <a:avLst>
              <a:gd name="adj" fmla="val 6477"/>
            </a:avLst>
          </a:prstGeom>
          <a:noFill/>
          <a:ln w="6985" cap="rnd">
            <a:solidFill>
              <a:srgbClr val="9BB4C8"/>
            </a:solidFill>
            <a:prstDash val="dash"/>
            <a:round/>
          </a:ln>
        </p:spPr>
      </p:sp>
      <p:sp>
        <p:nvSpPr>
          <p:cNvPr id="1486" name="V8 Build inputs to docking">
            <a:extLst>
              <a:ext uri="{FF2B5EF4-FFF2-40B4-BE49-F238E27FC236}">
                <a16:creationId xmlns:a16="http://schemas.microsoft.com/office/drawing/2014/main" id="{25F81FEB-7923-B705-D48C-4F1FE2423027}"/>
              </a:ext>
            </a:extLst>
          </p:cNvPr>
          <p:cNvSpPr/>
          <p:nvPr/>
        </p:nvSpPr>
        <p:spPr>
          <a:xfrm>
            <a:off x="5260340" y="1708155"/>
            <a:ext cx="1" cy="113379"/>
          </a:xfrm>
          <a:custGeom>
            <a:avLst/>
            <a:gdLst/>
            <a:ahLst/>
            <a:cxnLst/>
            <a:rect l="l" t="t" r="r" b="b"/>
            <a:pathLst>
              <a:path w="1" h="113379">
                <a:moveTo>
                  <a:pt x="0" y="0"/>
                </a:moveTo>
                <a:lnTo>
                  <a:pt x="0" y="113379"/>
                </a:lnTo>
              </a:path>
            </a:pathLst>
          </a:custGeom>
          <a:noFill/>
          <a:ln w="13208" cap="rnd">
            <a:solidFill>
              <a:srgbClr val="71808C"/>
            </a:solidFill>
            <a:prstDash val="solid"/>
            <a:round/>
          </a:ln>
        </p:spPr>
      </p:sp>
      <p:sp>
        <p:nvSpPr>
          <p:cNvPr id="1487" name="V8 Build inputs to docking head">
            <a:extLst>
              <a:ext uri="{FF2B5EF4-FFF2-40B4-BE49-F238E27FC236}">
                <a16:creationId xmlns:a16="http://schemas.microsoft.com/office/drawing/2014/main" id="{B51CEB37-F359-D8DB-EED0-BF0289DBA9C3}"/>
              </a:ext>
            </a:extLst>
          </p:cNvPr>
          <p:cNvSpPr/>
          <p:nvPr/>
        </p:nvSpPr>
        <p:spPr>
          <a:xfrm>
            <a:off x="5238432" y="1800230"/>
            <a:ext cx="43815" cy="38735"/>
          </a:xfrm>
          <a:custGeom>
            <a:avLst/>
            <a:gdLst/>
            <a:ahLst/>
            <a:cxnLst/>
            <a:rect l="l" t="t" r="r" b="b"/>
            <a:pathLst>
              <a:path w="43815" h="38735">
                <a:moveTo>
                  <a:pt x="21908" y="38735"/>
                </a:moveTo>
                <a:lnTo>
                  <a:pt x="43815" y="0"/>
                </a:lnTo>
                <a:lnTo>
                  <a:pt x="0" y="0"/>
                </a:lnTo>
                <a:close/>
              </a:path>
            </a:pathLst>
          </a:custGeom>
          <a:solidFill>
            <a:srgbClr val="71808C"/>
          </a:solidFill>
          <a:ln w="0" cap="rnd">
            <a:noFill/>
          </a:ln>
        </p:spPr>
      </p:sp>
      <p:sp>
        <p:nvSpPr>
          <p:cNvPr id="1488" name="V8 Build docking to pose">
            <a:extLst>
              <a:ext uri="{FF2B5EF4-FFF2-40B4-BE49-F238E27FC236}">
                <a16:creationId xmlns:a16="http://schemas.microsoft.com/office/drawing/2014/main" id="{A8390C7D-F4E0-5D67-9352-7A11942FB4C0}"/>
              </a:ext>
            </a:extLst>
          </p:cNvPr>
          <p:cNvSpPr/>
          <p:nvPr/>
        </p:nvSpPr>
        <p:spPr>
          <a:xfrm>
            <a:off x="5260340" y="3237230"/>
            <a:ext cx="1" cy="113379"/>
          </a:xfrm>
          <a:custGeom>
            <a:avLst/>
            <a:gdLst/>
            <a:ahLst/>
            <a:cxnLst/>
            <a:rect l="l" t="t" r="r" b="b"/>
            <a:pathLst>
              <a:path w="1" h="113379">
                <a:moveTo>
                  <a:pt x="0" y="0"/>
                </a:moveTo>
                <a:lnTo>
                  <a:pt x="0" y="113379"/>
                </a:lnTo>
              </a:path>
            </a:pathLst>
          </a:custGeom>
          <a:noFill/>
          <a:ln w="13208" cap="rnd">
            <a:solidFill>
              <a:srgbClr val="71808C"/>
            </a:solidFill>
            <a:prstDash val="solid"/>
            <a:round/>
          </a:ln>
        </p:spPr>
      </p:sp>
      <p:sp>
        <p:nvSpPr>
          <p:cNvPr id="1489" name="V8 Build docking to pose head">
            <a:extLst>
              <a:ext uri="{FF2B5EF4-FFF2-40B4-BE49-F238E27FC236}">
                <a16:creationId xmlns:a16="http://schemas.microsoft.com/office/drawing/2014/main" id="{CB9E0D49-EB6F-EF7F-8A0E-43482900F10A}"/>
              </a:ext>
            </a:extLst>
          </p:cNvPr>
          <p:cNvSpPr/>
          <p:nvPr/>
        </p:nvSpPr>
        <p:spPr>
          <a:xfrm>
            <a:off x="5238432" y="3329305"/>
            <a:ext cx="43815" cy="38735"/>
          </a:xfrm>
          <a:custGeom>
            <a:avLst/>
            <a:gdLst/>
            <a:ahLst/>
            <a:cxnLst/>
            <a:rect l="l" t="t" r="r" b="b"/>
            <a:pathLst>
              <a:path w="43815" h="38735">
                <a:moveTo>
                  <a:pt x="21908" y="38735"/>
                </a:moveTo>
                <a:lnTo>
                  <a:pt x="43815" y="0"/>
                </a:lnTo>
                <a:lnTo>
                  <a:pt x="0" y="0"/>
                </a:lnTo>
                <a:close/>
              </a:path>
            </a:pathLst>
          </a:custGeom>
          <a:solidFill>
            <a:srgbClr val="71808C"/>
          </a:solidFill>
          <a:ln w="0" cap="rnd">
            <a:noFill/>
          </a:ln>
        </p:spPr>
      </p:sp>
      <p:grpSp>
        <p:nvGrpSpPr>
          <p:cNvPr id="6" name="Find candidate blob 2">
            <a:extLst>
              <a:ext uri="{FF2B5EF4-FFF2-40B4-BE49-F238E27FC236}">
                <a16:creationId xmlns:a16="http://schemas.microsoft.com/office/drawing/2014/main" id="{52582F41-8562-EDCF-D547-FEE06D78B091}"/>
              </a:ext>
            </a:extLst>
          </p:cNvPr>
          <p:cNvGrpSpPr/>
          <p:nvPr/>
        </p:nvGrpSpPr>
        <p:grpSpPr>
          <a:xfrm rot="3197729">
            <a:off x="4289700" y="1017496"/>
            <a:ext cx="210752" cy="119242"/>
            <a:chOff x="1928706" y="3559489"/>
            <a:chExt cx="227897" cy="155682"/>
          </a:xfrm>
        </p:grpSpPr>
        <p:sp>
          <p:nvSpPr>
            <p:cNvPr id="16" name="Candidate blob | editable contour">
              <a:extLst>
                <a:ext uri="{FF2B5EF4-FFF2-40B4-BE49-F238E27FC236}">
                  <a16:creationId xmlns:a16="http://schemas.microsoft.com/office/drawing/2014/main" id="{AC599FE5-B7C8-2310-361D-307EF409B159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3521" y="100385"/>
                  </a:moveTo>
                  <a:cubicBezTo>
                    <a:pt x="0" y="80701"/>
                    <a:pt x="26006" y="62787"/>
                    <a:pt x="43453" y="54263"/>
                  </a:cubicBezTo>
                  <a:cubicBezTo>
                    <a:pt x="58843" y="43224"/>
                    <a:pt x="83460" y="52781"/>
                    <a:pt x="99588" y="43358"/>
                  </a:cubicBezTo>
                  <a:cubicBezTo>
                    <a:pt x="112436" y="32945"/>
                    <a:pt x="102548" y="9475"/>
                    <a:pt x="114181" y="4123"/>
                  </a:cubicBezTo>
                  <a:cubicBezTo>
                    <a:pt x="125241" y="0"/>
                    <a:pt x="158214" y="2398"/>
                    <a:pt x="179365" y="5837"/>
                  </a:cubicBezTo>
                  <a:cubicBezTo>
                    <a:pt x="197301" y="9996"/>
                    <a:pt x="210134" y="19340"/>
                    <a:pt x="216909" y="31256"/>
                  </a:cubicBezTo>
                  <a:cubicBezTo>
                    <a:pt x="221237" y="45342"/>
                    <a:pt x="227897" y="67151"/>
                    <a:pt x="224378" y="79920"/>
                  </a:cubicBezTo>
                  <a:cubicBezTo>
                    <a:pt x="219253" y="92918"/>
                    <a:pt x="191986" y="104353"/>
                    <a:pt x="170629" y="115250"/>
                  </a:cubicBezTo>
                  <a:cubicBezTo>
                    <a:pt x="155563" y="129736"/>
                    <a:pt x="143418" y="146104"/>
                    <a:pt x="126157" y="151452"/>
                  </a:cubicBezTo>
                  <a:cubicBezTo>
                    <a:pt x="110048" y="155682"/>
                    <a:pt x="82946" y="155682"/>
                    <a:pt x="52808" y="150002"/>
                  </a:cubicBezTo>
                  <a:cubicBezTo>
                    <a:pt x="28847" y="143645"/>
                    <a:pt x="5675" y="118994"/>
                    <a:pt x="3521" y="10038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" name="ellipse_2612">
              <a:extLst>
                <a:ext uri="{FF2B5EF4-FFF2-40B4-BE49-F238E27FC236}">
                  <a16:creationId xmlns:a16="http://schemas.microsoft.com/office/drawing/2014/main" id="{899D545A-9188-B8A5-5122-F55763321954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8" name="Find candidate blob 2">
            <a:extLst>
              <a:ext uri="{FF2B5EF4-FFF2-40B4-BE49-F238E27FC236}">
                <a16:creationId xmlns:a16="http://schemas.microsoft.com/office/drawing/2014/main" id="{F546CADE-F799-FF54-D901-B1872437A4FD}"/>
              </a:ext>
            </a:extLst>
          </p:cNvPr>
          <p:cNvGrpSpPr/>
          <p:nvPr/>
        </p:nvGrpSpPr>
        <p:grpSpPr>
          <a:xfrm>
            <a:off x="4044174" y="980397"/>
            <a:ext cx="210752" cy="119242"/>
            <a:chOff x="1928706" y="3559489"/>
            <a:chExt cx="227897" cy="155682"/>
          </a:xfrm>
        </p:grpSpPr>
        <p:sp>
          <p:nvSpPr>
            <p:cNvPr id="19" name="Candidate blob | editable contour">
              <a:extLst>
                <a:ext uri="{FF2B5EF4-FFF2-40B4-BE49-F238E27FC236}">
                  <a16:creationId xmlns:a16="http://schemas.microsoft.com/office/drawing/2014/main" id="{D503CF1F-EC12-B63E-8F02-58032E7F13E3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3521" y="100385"/>
                  </a:moveTo>
                  <a:cubicBezTo>
                    <a:pt x="0" y="80701"/>
                    <a:pt x="26006" y="62787"/>
                    <a:pt x="43453" y="54263"/>
                  </a:cubicBezTo>
                  <a:cubicBezTo>
                    <a:pt x="58843" y="43224"/>
                    <a:pt x="83460" y="52781"/>
                    <a:pt x="99588" y="43358"/>
                  </a:cubicBezTo>
                  <a:cubicBezTo>
                    <a:pt x="112436" y="32945"/>
                    <a:pt x="102548" y="9475"/>
                    <a:pt x="114181" y="4123"/>
                  </a:cubicBezTo>
                  <a:cubicBezTo>
                    <a:pt x="125241" y="0"/>
                    <a:pt x="158214" y="2398"/>
                    <a:pt x="179365" y="5837"/>
                  </a:cubicBezTo>
                  <a:cubicBezTo>
                    <a:pt x="197301" y="9996"/>
                    <a:pt x="210134" y="19340"/>
                    <a:pt x="216909" y="31256"/>
                  </a:cubicBezTo>
                  <a:cubicBezTo>
                    <a:pt x="221237" y="45342"/>
                    <a:pt x="227897" y="67151"/>
                    <a:pt x="224378" y="79920"/>
                  </a:cubicBezTo>
                  <a:cubicBezTo>
                    <a:pt x="219253" y="92918"/>
                    <a:pt x="191986" y="104353"/>
                    <a:pt x="170629" y="115250"/>
                  </a:cubicBezTo>
                  <a:cubicBezTo>
                    <a:pt x="155563" y="129736"/>
                    <a:pt x="143418" y="146104"/>
                    <a:pt x="126157" y="151452"/>
                  </a:cubicBezTo>
                  <a:cubicBezTo>
                    <a:pt x="110048" y="155682"/>
                    <a:pt x="82946" y="155682"/>
                    <a:pt x="52808" y="150002"/>
                  </a:cubicBezTo>
                  <a:cubicBezTo>
                    <a:pt x="28847" y="143645"/>
                    <a:pt x="5675" y="118994"/>
                    <a:pt x="3521" y="10038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0" name="ellipse_2612">
              <a:extLst>
                <a:ext uri="{FF2B5EF4-FFF2-40B4-BE49-F238E27FC236}">
                  <a16:creationId xmlns:a16="http://schemas.microsoft.com/office/drawing/2014/main" id="{1A86510C-0316-73F3-76D0-D29503AE7080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pic>
        <p:nvPicPr>
          <p:cNvPr id="25" name="Find corresponding experimental density" descr="Experimental 9LLG density around chain C1 of the displayed CryoAtom2 receptor, at the original contour level and the identical camera orientation.">
            <a:extLst>
              <a:ext uri="{FF2B5EF4-FFF2-40B4-BE49-F238E27FC236}">
                <a16:creationId xmlns:a16="http://schemas.microsoft.com/office/drawing/2014/main" id="{E01FAF0F-7383-AEC3-8192-CE781D4C8B9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014845" y="470235"/>
            <a:ext cx="501650" cy="479011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6B0F837-8383-9660-CCC5-75B454A335E6}"/>
              </a:ext>
            </a:extLst>
          </p:cNvPr>
          <p:cNvSpPr txBox="1"/>
          <p:nvPr/>
        </p:nvSpPr>
        <p:spPr>
          <a:xfrm>
            <a:off x="920814" y="524240"/>
            <a:ext cx="545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00" dirty="0"/>
              <a:t>Space </a:t>
            </a:r>
          </a:p>
          <a:p>
            <a:r>
              <a:rPr lang="en-US" altLang="zh-CN" sz="500" dirty="0"/>
              <a:t>transform(..?)</a:t>
            </a:r>
            <a:endParaRPr lang="zh-CN" altLang="en-US" sz="5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EB13465-5D7F-1961-8F05-CAD7F94CB2EF}"/>
              </a:ext>
            </a:extLst>
          </p:cNvPr>
          <p:cNvSpPr txBox="1"/>
          <p:nvPr/>
        </p:nvSpPr>
        <p:spPr>
          <a:xfrm>
            <a:off x="918917" y="1208041"/>
            <a:ext cx="32400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dirty="0"/>
              <a:t>Embedding </a:t>
            </a:r>
          </a:p>
          <a:p>
            <a:r>
              <a:rPr lang="en-US" altLang="zh-CN" sz="500" dirty="0"/>
              <a:t>head(..?)</a:t>
            </a:r>
            <a:endParaRPr lang="zh-CN" altLang="en-US" sz="500" dirty="0"/>
          </a:p>
        </p:txBody>
      </p:sp>
      <p:grpSp>
        <p:nvGrpSpPr>
          <p:cNvPr id="22" name="Match | Blob contour">
            <a:extLst>
              <a:ext uri="{FF2B5EF4-FFF2-40B4-BE49-F238E27FC236}">
                <a16:creationId xmlns:a16="http://schemas.microsoft.com/office/drawing/2014/main" id="{014BB78B-D7B6-7233-4454-F31E0FFFF761}"/>
              </a:ext>
            </a:extLst>
          </p:cNvPr>
          <p:cNvGrpSpPr/>
          <p:nvPr/>
        </p:nvGrpSpPr>
        <p:grpSpPr>
          <a:xfrm>
            <a:off x="4809748" y="565131"/>
            <a:ext cx="291608" cy="199265"/>
            <a:chOff x="1928706" y="3559489"/>
            <a:chExt cx="227897" cy="155682"/>
          </a:xfrm>
        </p:grpSpPr>
        <p:sp>
          <p:nvSpPr>
            <p:cNvPr id="24" name="Candidate blob | editable contour">
              <a:extLst>
                <a:ext uri="{FF2B5EF4-FFF2-40B4-BE49-F238E27FC236}">
                  <a16:creationId xmlns:a16="http://schemas.microsoft.com/office/drawing/2014/main" id="{A11312CB-4342-9A48-D209-5BB49581DECC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" name="ellipse_2612">
              <a:extLst>
                <a:ext uri="{FF2B5EF4-FFF2-40B4-BE49-F238E27FC236}">
                  <a16:creationId xmlns:a16="http://schemas.microsoft.com/office/drawing/2014/main" id="{A5E3448F-A32E-D77A-4110-EC1F991AAB0A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27" name="Oval 12178">
            <a:extLst>
              <a:ext uri="{FF2B5EF4-FFF2-40B4-BE49-F238E27FC236}">
                <a16:creationId xmlns:a16="http://schemas.microsoft.com/office/drawing/2014/main" id="{FDC707AA-314A-7AA2-186D-A8D0C4B2CC82}"/>
              </a:ext>
            </a:extLst>
          </p:cNvPr>
          <p:cNvSpPr/>
          <p:nvPr/>
        </p:nvSpPr>
        <p:spPr>
          <a:xfrm>
            <a:off x="4938542" y="648563"/>
            <a:ext cx="34426" cy="34426"/>
          </a:xfrm>
          <a:prstGeom prst="ellipse">
            <a:avLst/>
          </a:prstGeom>
          <a:solidFill>
            <a:srgbClr val="1D4ED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</p:spTree>
    <p:extLst>
      <p:ext uri="{BB962C8B-B14F-4D97-AF65-F5344CB8AC3E}">
        <p14:creationId xmlns:p14="http://schemas.microsoft.com/office/powerpoint/2010/main" val="37632893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802</Words>
  <Application>Microsoft Office PowerPoint</Application>
  <DocSecurity>0</DocSecurity>
  <PresentationFormat>自定义</PresentationFormat>
  <Paragraphs>107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Hongen Peng</cp:lastModifiedBy>
  <cp:revision>136</cp:revision>
  <dcterms:created xsi:type="dcterms:W3CDTF">2026-10-01T15:00:20Z</dcterms:created>
  <dcterms:modified xsi:type="dcterms:W3CDTF">2026-10-26T02:38:19Z</dcterms:modified>
</cp:coreProperties>
</file>